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8"/>
  </p:notesMasterIdLst>
  <p:handoutMasterIdLst>
    <p:handoutMasterId r:id="rId39"/>
  </p:handoutMasterIdLst>
  <p:sldIdLst>
    <p:sldId id="331" r:id="rId2"/>
    <p:sldId id="514" r:id="rId3"/>
    <p:sldId id="547" r:id="rId4"/>
    <p:sldId id="515" r:id="rId5"/>
    <p:sldId id="516" r:id="rId6"/>
    <p:sldId id="517" r:id="rId7"/>
    <p:sldId id="545" r:id="rId8"/>
    <p:sldId id="546" r:id="rId9"/>
    <p:sldId id="518" r:id="rId10"/>
    <p:sldId id="519" r:id="rId11"/>
    <p:sldId id="520" r:id="rId12"/>
    <p:sldId id="521" r:id="rId13"/>
    <p:sldId id="522" r:id="rId14"/>
    <p:sldId id="523" r:id="rId15"/>
    <p:sldId id="548" r:id="rId16"/>
    <p:sldId id="524" r:id="rId17"/>
    <p:sldId id="549" r:id="rId18"/>
    <p:sldId id="525" r:id="rId19"/>
    <p:sldId id="526" r:id="rId20"/>
    <p:sldId id="527" r:id="rId21"/>
    <p:sldId id="550" r:id="rId22"/>
    <p:sldId id="528" r:id="rId23"/>
    <p:sldId id="529" r:id="rId24"/>
    <p:sldId id="530" r:id="rId25"/>
    <p:sldId id="531" r:id="rId26"/>
    <p:sldId id="534" r:id="rId27"/>
    <p:sldId id="535" r:id="rId28"/>
    <p:sldId id="551" r:id="rId29"/>
    <p:sldId id="552" r:id="rId30"/>
    <p:sldId id="536" r:id="rId31"/>
    <p:sldId id="539" r:id="rId32"/>
    <p:sldId id="540" r:id="rId33"/>
    <p:sldId id="541" r:id="rId34"/>
    <p:sldId id="542" r:id="rId35"/>
    <p:sldId id="543" r:id="rId36"/>
    <p:sldId id="544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CCECFF"/>
    <a:srgbClr val="FF0000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534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542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72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058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469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832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967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677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4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68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13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19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2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845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38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374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428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112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17E168-3094-4E5B-84D7-5C0153B13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319D073-D867-48CB-B66A-DADB82FB0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7FA871D-7C7C-49FB-B8AC-D03BA6E0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947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5B1C17-66FA-4D85-BCF6-7A91DE02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F9038FE-BD6E-44F1-ACE4-DD73792D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096AB29-C31A-45C0-B5E1-9D36AC04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80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4F2D9B1C-DEA5-4665-B47D-209786DA8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FEDE9AA-CD44-4982-B7AE-FB416BFC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49FDFE4F-372F-44B2-A051-88D045B25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652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2D0BFB-ECA4-4C07-8994-8A88F29A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43AED6-E6E9-43A7-AC93-64E1E999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72FBEB7-042D-4152-8A9C-1370E47C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53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8D453DF-2D5F-4B73-B4AC-B5CF546FD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B0E173E-03EA-4E90-8188-93FE2E0C3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2774992-1B31-4E69-A7C1-2E636C6D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328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EC77DD2-9B86-424C-BB4C-63BF79E10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ACCB673-3231-4E3A-8A17-1FEB8B70B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A63D3B0-42BE-44B8-A3E2-964AF314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249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866CDD-4811-42A2-B280-A13D1C6C0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C26A336E-B0A4-4355-9177-376B28113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2DC4382-E997-4207-A545-B2CB280F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33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Paging and Virtual Memory</a:t>
            </a: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46916" y="6279614"/>
            <a:ext cx="3397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Additional slide courtesy: </a:t>
            </a:r>
            <a:r>
              <a:rPr lang="en-IN" sz="1100" dirty="0" err="1"/>
              <a:t>Prof.</a:t>
            </a:r>
            <a:r>
              <a:rPr lang="en-IN" sz="1100" dirty="0"/>
              <a:t> </a:t>
            </a:r>
            <a:r>
              <a:rPr lang="en-IN" sz="1100" dirty="0" err="1"/>
              <a:t>Mandar</a:t>
            </a:r>
            <a:r>
              <a:rPr lang="en-IN" sz="1100" dirty="0"/>
              <a:t> </a:t>
            </a:r>
            <a:r>
              <a:rPr lang="en-IN" sz="1100" dirty="0" err="1"/>
              <a:t>Mitra</a:t>
            </a:r>
            <a:r>
              <a:rPr lang="en-IN" sz="11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70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Modify / Dirty bit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32" y="1131539"/>
            <a:ext cx="8207925" cy="325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6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928" y="1062454"/>
            <a:ext cx="7887901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475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0" y="5920154"/>
            <a:ext cx="234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Expected </a:t>
            </a:r>
            <a:r>
              <a:rPr lang="en-IN" dirty="0" err="1" smtClean="0"/>
              <a:t>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09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86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Belady’s</a:t>
            </a:r>
            <a:r>
              <a:rPr lang="en-IN" dirty="0" smtClean="0"/>
              <a:t> Anomaly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7346"/>
            <a:ext cx="5391902" cy="924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493464"/>
            <a:ext cx="5391902" cy="2442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980" y="2827174"/>
            <a:ext cx="2584684" cy="1935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1134" y="5566299"/>
            <a:ext cx="2583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No. of page faults: 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61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Belady’s</a:t>
            </a:r>
            <a:r>
              <a:rPr lang="en-IN" dirty="0"/>
              <a:t> Anomaly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0279"/>
            <a:ext cx="5420799" cy="28732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999" y="2592280"/>
            <a:ext cx="2480881" cy="2241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134" y="5566299"/>
            <a:ext cx="2731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No. of page faults: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15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36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1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79" y="1260964"/>
            <a:ext cx="7751989" cy="4835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>
            <a:extLst>
              <a:ext uri="{FF2B5EF4-FFF2-40B4-BE49-F238E27FC236}">
                <a16:creationId xmlns:a16="http://schemas.microsoft.com/office/drawing/2014/main" id="{1C494269-8B4A-4BA9-9CC1-ED6087AC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35545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74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endParaRPr lang="en-US" altLang="en-US" dirty="0"/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  <p:extLst>
      <p:ext uri="{BB962C8B-B14F-4D97-AF65-F5344CB8AC3E}">
        <p14:creationId xmlns:p14="http://schemas.microsoft.com/office/powerpoint/2010/main" val="36382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03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43348" y="4367814"/>
            <a:ext cx="2268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6 pointer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68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LRU implementation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Not feasible</a:t>
            </a:r>
          </a:p>
          <a:p>
            <a:endParaRPr lang="en-IN" dirty="0" smtClean="0"/>
          </a:p>
          <a:p>
            <a:r>
              <a:rPr lang="en-IN" dirty="0" smtClean="0"/>
              <a:t>Timestamp </a:t>
            </a:r>
            <a:r>
              <a:rPr lang="en-IN" dirty="0"/>
              <a:t>is hard to implement (8 bits </a:t>
            </a:r>
            <a:r>
              <a:rPr lang="en-IN" dirty="0">
                <a:sym typeface="Wingdings" panose="05000000000000000000" pitchFamily="2" charset="2"/>
              </a:rPr>
              <a:t> wrap around every 256 memory accesses)</a:t>
            </a:r>
            <a:endParaRPr lang="en-IN" dirty="0"/>
          </a:p>
          <a:p>
            <a:endParaRPr lang="en-IN" dirty="0"/>
          </a:p>
          <a:p>
            <a:r>
              <a:rPr lang="en-IN" dirty="0" smtClean="0"/>
              <a:t>FIFO organizes pages as a FIFO of pages, replace the page at the head of the queue</a:t>
            </a:r>
          </a:p>
          <a:p>
            <a:endParaRPr lang="en-IN" dirty="0"/>
          </a:p>
          <a:p>
            <a:r>
              <a:rPr lang="en-IN" dirty="0" smtClean="0"/>
              <a:t>LRU needs a scan on the entire page table to find the page to be replaced (lowest timestamp)</a:t>
            </a:r>
          </a:p>
          <a:p>
            <a:pPr lvl="1"/>
            <a:r>
              <a:rPr lang="en-IN" dirty="0" smtClean="0"/>
              <a:t>Does not hurt that much since anyway disk I/O</a:t>
            </a:r>
          </a:p>
        </p:txBody>
      </p:sp>
    </p:spTree>
    <p:extLst>
      <p:ext uri="{BB962C8B-B14F-4D97-AF65-F5344CB8AC3E}">
        <p14:creationId xmlns:p14="http://schemas.microsoft.com/office/powerpoint/2010/main" val="143932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9971" y="960656"/>
            <a:ext cx="8460952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</a:t>
            </a:r>
            <a:r>
              <a:rPr lang="en-US" altLang="en-US" dirty="0" smtClean="0"/>
              <a:t>referenced, </a:t>
            </a:r>
            <a:r>
              <a:rPr lang="en-US" altLang="en-US" dirty="0"/>
              <a:t>bit set to 1</a:t>
            </a:r>
          </a:p>
          <a:p>
            <a:pPr lvl="1"/>
            <a:r>
              <a:rPr lang="en-US" altLang="en-US" dirty="0"/>
              <a:t>Replace any with reference bit = 0 (if one exists</a:t>
            </a:r>
            <a:r>
              <a:rPr lang="en-US" altLang="en-US" dirty="0" smtClean="0"/>
              <a:t>)</a:t>
            </a:r>
          </a:p>
          <a:p>
            <a:pPr lvl="2"/>
            <a:endParaRPr lang="en-US" altLang="en-US" dirty="0"/>
          </a:p>
          <a:p>
            <a:r>
              <a:rPr lang="en-US" altLang="en-US" dirty="0"/>
              <a:t>Reference bit tells us </a:t>
            </a:r>
            <a:r>
              <a:rPr lang="en-US" altLang="en-US" dirty="0" smtClean="0"/>
              <a:t>which pages have been accessed, not the order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Reference bits will be reset after every </a:t>
            </a:r>
            <a:r>
              <a:rPr lang="en-US" altLang="en-US" dirty="0" smtClean="0"/>
              <a:t>∆T (typically 1000 memory references)</a:t>
            </a:r>
          </a:p>
          <a:p>
            <a:endParaRPr lang="en-US" altLang="en-US" dirty="0"/>
          </a:p>
          <a:p>
            <a:r>
              <a:rPr lang="en-US" altLang="en-US" dirty="0" smtClean="0"/>
              <a:t>MMU can keep a hardware counter, which is incremented every memory reference happens – reset reference bits when hardware counter overflows</a:t>
            </a:r>
          </a:p>
          <a:p>
            <a:endParaRPr lang="en-US" altLang="en-US" dirty="0"/>
          </a:p>
          <a:p>
            <a:r>
              <a:rPr lang="en-US" altLang="en-US" dirty="0" smtClean="0"/>
              <a:t>FIFO + reference bits (hence, </a:t>
            </a:r>
            <a:r>
              <a:rPr lang="en-US" altLang="en-US" dirty="0" err="1" smtClean="0"/>
              <a:t>Belady</a:t>
            </a:r>
            <a:r>
              <a:rPr lang="en-US" altLang="en-US" dirty="0" smtClean="0"/>
              <a:t>)</a:t>
            </a:r>
            <a:endParaRPr lang="en-US" altLang="en-US" dirty="0"/>
          </a:p>
          <a:p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182792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9971" y="960656"/>
            <a:ext cx="8460952" cy="5146675"/>
          </a:xfrm>
        </p:spPr>
        <p:txBody>
          <a:bodyPr/>
          <a:lstStyle/>
          <a:p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Reference byte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With each page associate a </a:t>
            </a:r>
            <a:r>
              <a:rPr lang="en-US" altLang="en-US" dirty="0" smtClean="0"/>
              <a:t>byte, </a:t>
            </a:r>
            <a:r>
              <a:rPr lang="en-US" altLang="en-US" dirty="0"/>
              <a:t>initially = 0</a:t>
            </a:r>
          </a:p>
          <a:p>
            <a:pPr lvl="1"/>
            <a:r>
              <a:rPr lang="en-US" altLang="en-US" dirty="0"/>
              <a:t>When page is </a:t>
            </a:r>
            <a:r>
              <a:rPr lang="en-US" altLang="en-US" dirty="0" smtClean="0"/>
              <a:t>referenced, set highest order bit to 1</a:t>
            </a:r>
          </a:p>
          <a:p>
            <a:pPr lvl="1"/>
            <a:r>
              <a:rPr lang="en-US" altLang="en-US" dirty="0" smtClean="0"/>
              <a:t>On </a:t>
            </a:r>
            <a:r>
              <a:rPr lang="en-US" altLang="en-US" dirty="0"/>
              <a:t>every ∆</a:t>
            </a:r>
            <a:r>
              <a:rPr lang="en-US" altLang="en-US" dirty="0" smtClean="0"/>
              <a:t>T, shift the pattern to the right</a:t>
            </a:r>
          </a:p>
          <a:p>
            <a:pPr lvl="2"/>
            <a:r>
              <a:rPr lang="en-US" altLang="en-US" dirty="0" smtClean="0"/>
              <a:t>For all page </a:t>
            </a:r>
            <a:r>
              <a:rPr lang="en-US" altLang="en-US" dirty="0"/>
              <a:t>table entries, once every ∆</a:t>
            </a:r>
            <a:r>
              <a:rPr lang="en-US" altLang="en-US" dirty="0" smtClean="0"/>
              <a:t>T </a:t>
            </a:r>
          </a:p>
          <a:p>
            <a:pPr lvl="2"/>
            <a:r>
              <a:rPr lang="en-US" altLang="en-US" dirty="0" smtClean="0"/>
              <a:t>Do this for TLB entries and update memory in case of a TLB miss if the TLB page is to be replaced</a:t>
            </a:r>
            <a:endParaRPr lang="en-US" altLang="en-US" dirty="0"/>
          </a:p>
          <a:p>
            <a:pPr lvl="2"/>
            <a:endParaRPr lang="en-US" altLang="en-US" dirty="0"/>
          </a:p>
          <a:p>
            <a:r>
              <a:rPr lang="en-US" altLang="en-US" dirty="0"/>
              <a:t>Reference </a:t>
            </a:r>
            <a:r>
              <a:rPr lang="en-US" altLang="en-US" dirty="0" smtClean="0"/>
              <a:t>byte stores the history of the last 8 </a:t>
            </a:r>
            <a:r>
              <a:rPr lang="en-US" altLang="en-US" dirty="0"/>
              <a:t>∆</a:t>
            </a:r>
            <a:r>
              <a:rPr lang="en-US" altLang="en-US" dirty="0" smtClean="0"/>
              <a:t>T references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 smtClean="0"/>
              <a:t>Treat this byte as a number, higher number bits set </a:t>
            </a:r>
            <a:r>
              <a:rPr lang="en-US" altLang="en-US" dirty="0" smtClean="0">
                <a:sym typeface="Wingdings" panose="05000000000000000000" pitchFamily="2" charset="2"/>
              </a:rPr>
              <a:t> page accessed relatively recently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 smtClean="0">
                <a:sym typeface="Wingdings" panose="05000000000000000000" pitchFamily="2" charset="2"/>
              </a:rPr>
              <a:t>Multiple things with the same bit pattern  break ties with FIFO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9811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Circular queue </a:t>
            </a:r>
            <a:r>
              <a:rPr lang="en-US" altLang="en-US" dirty="0"/>
              <a:t>and keep track of the head</a:t>
            </a:r>
          </a:p>
          <a:p>
            <a:pPr lvl="1"/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</a:t>
            </a:r>
            <a:r>
              <a:rPr lang="en-US" altLang="en-US" dirty="0" smtClean="0"/>
              <a:t>(brought in long time ago but referenced relatively recently) then</a:t>
            </a:r>
            <a:r>
              <a:rPr lang="en-US" altLang="en-US" dirty="0"/>
              <a:t>:</a:t>
            </a:r>
          </a:p>
          <a:p>
            <a:pPr lvl="3"/>
            <a:r>
              <a:rPr lang="en-US" altLang="en-US" dirty="0"/>
              <a:t>set reference bit 0, leave page in </a:t>
            </a:r>
            <a:r>
              <a:rPr lang="en-US" altLang="en-US" dirty="0" smtClean="0"/>
              <a:t>memory (Gets a second chance before being selected for replacement)</a:t>
            </a:r>
            <a:endParaRPr lang="en-US" altLang="en-US" dirty="0"/>
          </a:p>
          <a:p>
            <a:pPr lvl="3"/>
            <a:r>
              <a:rPr lang="en-US" altLang="en-US" dirty="0"/>
              <a:t>replace next page, subject to same </a:t>
            </a:r>
            <a:r>
              <a:rPr lang="en-US" altLang="en-US" dirty="0" smtClean="0"/>
              <a:t>rules</a:t>
            </a:r>
          </a:p>
          <a:p>
            <a:pPr lvl="3"/>
            <a:endParaRPr lang="en-US" altLang="en-US" dirty="0"/>
          </a:p>
          <a:p>
            <a:r>
              <a:rPr lang="en-US" altLang="en-US" dirty="0" smtClean="0"/>
              <a:t>NOTE: All the approximations suffer from </a:t>
            </a:r>
            <a:r>
              <a:rPr lang="en-US" altLang="en-US" dirty="0" err="1" smtClean="0"/>
              <a:t>Belady’s</a:t>
            </a:r>
            <a:r>
              <a:rPr lang="en-US" altLang="en-US" dirty="0" smtClean="0"/>
              <a:t> anomaly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37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98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endParaRPr lang="en-US" altLang="en-US" dirty="0"/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endParaRPr lang="en-US" altLang="en-US" dirty="0"/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</p:spTree>
    <p:extLst>
      <p:ext uri="{BB962C8B-B14F-4D97-AF65-F5344CB8AC3E}">
        <p14:creationId xmlns:p14="http://schemas.microsoft.com/office/powerpoint/2010/main" val="277867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Page Fault Handling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 victim is selected only when the free frame list is empty</a:t>
            </a:r>
          </a:p>
          <a:p>
            <a:endParaRPr lang="en-IN" dirty="0"/>
          </a:p>
          <a:p>
            <a:r>
              <a:rPr lang="en-IN" dirty="0" smtClean="0"/>
              <a:t>A small trick: </a:t>
            </a:r>
            <a:r>
              <a:rPr lang="en-IN" dirty="0"/>
              <a:t>Kernel maintains small reserve pool of free </a:t>
            </a:r>
            <a:r>
              <a:rPr lang="en-IN" dirty="0" smtClean="0"/>
              <a:t>frames</a:t>
            </a:r>
          </a:p>
          <a:p>
            <a:pPr lvl="1"/>
            <a:r>
              <a:rPr lang="en-IN" dirty="0" smtClean="0"/>
              <a:t>Page buffering</a:t>
            </a:r>
          </a:p>
          <a:p>
            <a:endParaRPr lang="en-IN" dirty="0"/>
          </a:p>
          <a:p>
            <a:r>
              <a:rPr lang="en-IN" dirty="0" smtClean="0"/>
              <a:t>While free frames exists in the pool, start looking for a victim</a:t>
            </a:r>
          </a:p>
          <a:p>
            <a:endParaRPr lang="en-IN" dirty="0"/>
          </a:p>
          <a:p>
            <a:r>
              <a:rPr lang="en-IN" dirty="0" smtClean="0"/>
              <a:t>When a process encounters a page fault, select a frame from the free reserve pool, and schedule writing back of the dirty victim page</a:t>
            </a:r>
          </a:p>
          <a:p>
            <a:pPr lvl="1"/>
            <a:r>
              <a:rPr lang="en-IN" dirty="0" smtClean="0"/>
              <a:t>Page fault restart can happen earlier</a:t>
            </a:r>
          </a:p>
          <a:p>
            <a:pPr lvl="1"/>
            <a:r>
              <a:rPr lang="en-IN" dirty="0" smtClean="0"/>
              <a:t>On completion of write to disk, add the frame to reserve pool</a:t>
            </a:r>
          </a:p>
        </p:txBody>
      </p:sp>
    </p:spTree>
    <p:extLst>
      <p:ext uri="{BB962C8B-B14F-4D97-AF65-F5344CB8AC3E}">
        <p14:creationId xmlns:p14="http://schemas.microsoft.com/office/powerpoint/2010/main" val="4660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 smtClean="0"/>
              <a:t>Replaces </a:t>
            </a:r>
            <a:r>
              <a:rPr lang="en-US" altLang="en-US" dirty="0"/>
              <a:t>page with smallest </a:t>
            </a:r>
            <a:r>
              <a:rPr lang="en-US" altLang="en-US" dirty="0" smtClean="0"/>
              <a:t>count</a:t>
            </a:r>
          </a:p>
          <a:p>
            <a:pPr lvl="1"/>
            <a:r>
              <a:rPr lang="en-US" altLang="en-US" dirty="0" smtClean="0"/>
              <a:t>Argument against: bring in a code just now, will have low frequency </a:t>
            </a:r>
            <a:r>
              <a:rPr lang="en-US" altLang="en-US" dirty="0" smtClean="0">
                <a:sym typeface="Wingdings" panose="05000000000000000000" pitchFamily="2" charset="2"/>
              </a:rPr>
              <a:t> but replacing it means bring back again</a:t>
            </a:r>
            <a:endParaRPr lang="en-US" altLang="en-US" dirty="0"/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</a:p>
        </p:txBody>
      </p:sp>
    </p:spTree>
    <p:extLst>
      <p:ext uri="{BB962C8B-B14F-4D97-AF65-F5344CB8AC3E}">
        <p14:creationId xmlns:p14="http://schemas.microsoft.com/office/powerpoint/2010/main" val="19933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2AB2CE-BAAA-4052-BCA8-703C3DC6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00FB4A8-565F-4B3F-9EE9-D1D1028D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129" y="996487"/>
            <a:ext cx="7735078" cy="4483100"/>
          </a:xfrm>
        </p:spPr>
        <p:txBody>
          <a:bodyPr/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</a:p>
          <a:p>
            <a:endParaRPr lang="en-US" altLang="en-US" dirty="0"/>
          </a:p>
          <a:p>
            <a:r>
              <a:rPr lang="en-US" altLang="en-US" dirty="0"/>
              <a:t>Example:  IBM 370 – 6 pages to handle SS MOVE instruction:</a:t>
            </a:r>
          </a:p>
          <a:p>
            <a:pPr lvl="1"/>
            <a:r>
              <a:rPr lang="en-US" altLang="en-US" dirty="0"/>
              <a:t>instruction is 6 bytes, might span 2 pages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</a:p>
          <a:p>
            <a:endParaRPr lang="en-US" altLang="en-US" b="1" i="1" dirty="0"/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</a:p>
          <a:p>
            <a:endParaRPr lang="en-US" altLang="en-US" dirty="0"/>
          </a:p>
          <a:p>
            <a:r>
              <a:rPr lang="en-US" altLang="en-US" dirty="0"/>
              <a:t>Two major allocation schemes</a:t>
            </a:r>
          </a:p>
          <a:p>
            <a:pPr lvl="1"/>
            <a:r>
              <a:rPr lang="en-US" altLang="en-US" dirty="0"/>
              <a:t>fixed allocation</a:t>
            </a:r>
          </a:p>
          <a:p>
            <a:pPr lvl="1"/>
            <a:r>
              <a:rPr lang="en-US" altLang="en-US" dirty="0"/>
              <a:t>priority allocation</a:t>
            </a:r>
          </a:p>
          <a:p>
            <a:endParaRPr lang="en-US" altLang="en-US" dirty="0"/>
          </a:p>
          <a:p>
            <a:r>
              <a:rPr lang="en-US" altLang="en-US" dirty="0"/>
              <a:t>Many variations</a:t>
            </a:r>
          </a:p>
        </p:txBody>
      </p:sp>
    </p:spTree>
    <p:extLst>
      <p:ext uri="{BB962C8B-B14F-4D97-AF65-F5344CB8AC3E}">
        <p14:creationId xmlns:p14="http://schemas.microsoft.com/office/powerpoint/2010/main" val="375760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70E5B077-B145-42CF-B6DE-2F59CC899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0FF48B9C-0D56-4D18-919D-070428F3B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044" y="1119999"/>
            <a:ext cx="7969359" cy="4645025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</a:p>
          <a:p>
            <a:endParaRPr lang="en-US" altLang="en-US" sz="800" dirty="0"/>
          </a:p>
          <a:p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</a:p>
          <a:p>
            <a:pPr lvl="1"/>
            <a:r>
              <a:rPr lang="en-US" altLang="en-US" dirty="0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60101F45-DE12-4B60-9040-E3AC5E8C5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4" imgW="2857500" imgH="1612900" progId="Equation.3">
                  <p:embed/>
                </p:oleObj>
              </mc:Choice>
              <mc:Fallback>
                <p:oleObj name="Equation" r:id="rId4" imgW="2857500" imgH="1612900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60101F45-DE12-4B60-9040-E3AC5E8C5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8888DB1A-25C9-4D76-AE59-B4B5C1E6F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ECC2003F-96B6-47ED-AF4F-07170847D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847D2CD-ECAD-4BC8-86B1-C8CE5E343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B1B7ADDF-04E5-45DA-B979-4FC4DE3E1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533965" y="392393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= 62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836" y="4813745"/>
            <a:ext cx="2461964" cy="64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2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01C6E52-51B6-4080-B3CB-DA269501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DEEC50-DE5B-4191-A4E4-940F9E96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/>
              <a:t>But then process execution time can vary greatly</a:t>
            </a:r>
          </a:p>
          <a:p>
            <a:pPr lvl="1"/>
            <a:r>
              <a:rPr lang="en-US" altLang="en-US" dirty="0"/>
              <a:t>But greater throughput so more </a:t>
            </a:r>
            <a:r>
              <a:rPr lang="en-US" altLang="en-US" dirty="0" smtClean="0"/>
              <a:t>common</a:t>
            </a:r>
          </a:p>
          <a:p>
            <a:pPr lvl="1"/>
            <a:r>
              <a:rPr lang="en-US" altLang="en-US" dirty="0" smtClean="0"/>
              <a:t>Need to look at all Page Tables</a:t>
            </a:r>
            <a:endParaRPr lang="en-US" altLang="en-US" dirty="0"/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</a:p>
          <a:p>
            <a:pPr lvl="1"/>
            <a:r>
              <a:rPr lang="en-US" altLang="en-US" dirty="0"/>
              <a:t>More consistent per-process performance</a:t>
            </a:r>
          </a:p>
          <a:p>
            <a:pPr lvl="1"/>
            <a:r>
              <a:rPr lang="en-US" altLang="en-US" dirty="0"/>
              <a:t>But possibly underutilized memory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074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F731FD3-D4BB-4495-AA41-BEE2A772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BFB067A-221A-4384-BE53-811322B7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23511"/>
            <a:ext cx="8358554" cy="4483100"/>
          </a:xfrm>
        </p:spPr>
        <p:txBody>
          <a:bodyPr/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</a:p>
          <a:p>
            <a:pPr lvl="1"/>
            <a:r>
              <a:rPr lang="en-US" altLang="en-US" dirty="0"/>
              <a:t>Page fault to get page</a:t>
            </a:r>
          </a:p>
          <a:p>
            <a:pPr lvl="1"/>
            <a:r>
              <a:rPr lang="en-US" altLang="en-US" dirty="0"/>
              <a:t>Replace existing frame</a:t>
            </a:r>
          </a:p>
          <a:p>
            <a:pPr lvl="1"/>
            <a:r>
              <a:rPr lang="en-US" altLang="en-US" dirty="0"/>
              <a:t>But quickly need replaced frame back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Local replacement makes thrashing contagious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Swap device becomes a bottleneck</a:t>
            </a:r>
          </a:p>
          <a:p>
            <a:pPr lvl="1"/>
            <a:r>
              <a:rPr lang="en-US" altLang="en-US" dirty="0" smtClean="0"/>
              <a:t>Most processes are doing I/O due to page faults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This leads to:</a:t>
            </a:r>
          </a:p>
          <a:p>
            <a:pPr lvl="1"/>
            <a:r>
              <a:rPr lang="en-US" altLang="en-US" dirty="0"/>
              <a:t>Low CPU utilization</a:t>
            </a:r>
          </a:p>
          <a:p>
            <a:pPr lvl="1"/>
            <a:r>
              <a:rPr lang="en-US" altLang="en-US" dirty="0"/>
              <a:t>Operating system thinking that it needs to increase the degree of multiprogramming</a:t>
            </a:r>
          </a:p>
          <a:p>
            <a:pPr lvl="1"/>
            <a:r>
              <a:rPr lang="en-US" altLang="en-US" dirty="0"/>
              <a:t>Another process added to the </a:t>
            </a:r>
            <a:r>
              <a:rPr lang="en-US" altLang="en-US" dirty="0" smtClean="0"/>
              <a:t>system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190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37029F3-575E-45E9-8727-29B42A6C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466EF36-C0B0-44EF-8514-5525DA5E5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dirty="0">
                <a:solidFill>
                  <a:srgbClr val="3366FF"/>
                </a:solidFill>
              </a:rPr>
              <a:t>. </a:t>
            </a:r>
            <a:r>
              <a:rPr lang="en-US" altLang="en-US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dirty="0"/>
          </a:p>
        </p:txBody>
      </p:sp>
      <p:pic>
        <p:nvPicPr>
          <p:cNvPr id="58372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48688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333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Thrashing: remedies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Local/priority page replacement: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+ </a:t>
            </a:r>
            <a:r>
              <a:rPr lang="en-US" dirty="0"/>
              <a:t>If one process starts thrashing, it cannot cause other </a:t>
            </a:r>
            <a:r>
              <a:rPr lang="en-US" dirty="0" smtClean="0"/>
              <a:t>processes </a:t>
            </a:r>
          </a:p>
          <a:p>
            <a:pPr marL="0" indent="0">
              <a:buNone/>
            </a:pPr>
            <a:r>
              <a:rPr lang="en-US" dirty="0" smtClean="0"/>
              <a:t>	   to </a:t>
            </a:r>
            <a:r>
              <a:rPr lang="en-IN" dirty="0" smtClean="0"/>
              <a:t>start </a:t>
            </a:r>
            <a:r>
              <a:rPr lang="en-IN" dirty="0"/>
              <a:t>thrashing</a:t>
            </a:r>
          </a:p>
          <a:p>
            <a:pPr marL="0" indent="0">
              <a:buNone/>
            </a:pPr>
            <a:r>
              <a:rPr lang="en-US" dirty="0" smtClean="0"/>
              <a:t>	- Thrashing </a:t>
            </a:r>
            <a:r>
              <a:rPr lang="en-US" dirty="0"/>
              <a:t>processes use paging device </a:t>
            </a:r>
            <a:r>
              <a:rPr lang="en-US" dirty="0" smtClean="0"/>
              <a:t>heavily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Average </a:t>
            </a:r>
            <a:r>
              <a:rPr lang="en-US" dirty="0"/>
              <a:t>service time for page fault increases for </a:t>
            </a:r>
            <a:r>
              <a:rPr lang="en-US" dirty="0" smtClean="0"/>
              <a:t>non-thrashing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</a:t>
            </a:r>
            <a:r>
              <a:rPr lang="en-IN" dirty="0" smtClean="0"/>
              <a:t>processes </a:t>
            </a:r>
            <a:r>
              <a:rPr lang="en-IN" dirty="0"/>
              <a:t>also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3885617"/>
            <a:ext cx="7817841" cy="244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9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Thrashing: Remedies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025" y="1088874"/>
            <a:ext cx="7727950" cy="19829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" y="3350601"/>
            <a:ext cx="7978775" cy="28098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8989" y="6069879"/>
            <a:ext cx="560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Also include parts of the page table (TLB Miss)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35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2F1A281-A3F7-478D-8F22-6700032B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CE61BF-9E24-439E-BBC6-87B0D25B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0257" y="1093788"/>
            <a:ext cx="8476173" cy="4530725"/>
          </a:xfrm>
        </p:spPr>
        <p:txBody>
          <a:bodyPr/>
          <a:lstStyle/>
          <a:p>
            <a:r>
              <a:rPr lang="en-US" altLang="en-US" sz="2400" dirty="0"/>
              <a:t>Treated differently from user memory</a:t>
            </a:r>
          </a:p>
          <a:p>
            <a:endParaRPr lang="en-US" altLang="en-US" sz="2400" dirty="0"/>
          </a:p>
          <a:p>
            <a:r>
              <a:rPr lang="en-US" altLang="en-US" sz="2400" dirty="0"/>
              <a:t>Often allocated from a free-memory pool</a:t>
            </a:r>
          </a:p>
          <a:p>
            <a:pPr lvl="1"/>
            <a:r>
              <a:rPr lang="en-US" altLang="en-US" sz="2400" dirty="0"/>
              <a:t>Kernel requests memory for structures of varying sizes</a:t>
            </a:r>
          </a:p>
          <a:p>
            <a:pPr lvl="1"/>
            <a:r>
              <a:rPr lang="en-US" altLang="en-US" sz="2400" dirty="0"/>
              <a:t>Some kernel memory needs to be contiguous</a:t>
            </a:r>
          </a:p>
          <a:p>
            <a:pPr lvl="2"/>
            <a:r>
              <a:rPr lang="en-US" altLang="en-US" sz="2400" dirty="0"/>
              <a:t>i.e., for device I/O</a:t>
            </a:r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41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C91CD0-BB6D-4937-B73B-85F51EAE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9508830-6713-4F82-846C-6E4BBB6AC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7" y="1104900"/>
            <a:ext cx="8017537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structure, Assume pages are 128 words in size, 1 </a:t>
            </a:r>
            <a:r>
              <a:rPr lang="en-US" altLang="en-US" dirty="0" err="1"/>
              <a:t>int</a:t>
            </a:r>
            <a:r>
              <a:rPr lang="en-US" altLang="en-US" dirty="0"/>
              <a:t> = 1 word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   for (j = 0; j &lt;128; </a:t>
            </a:r>
            <a:r>
              <a:rPr lang="en-US" altLang="en-US" dirty="0" err="1">
                <a:latin typeface="Courier New" panose="02070309020205020404" pitchFamily="49" charset="0"/>
              </a:rPr>
              <a:t>j++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128;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      data[</a:t>
            </a:r>
            <a:r>
              <a:rPr lang="en-US" altLang="en-US" dirty="0" err="1">
                <a:latin typeface="Courier New" panose="02070309020205020404" pitchFamily="49" charset="0"/>
              </a:rPr>
              <a:t>i,j</a:t>
            </a:r>
            <a:r>
              <a:rPr lang="en-US" altLang="en-US" dirty="0">
                <a:latin typeface="Courier New" panose="02070309020205020404" pitchFamily="49" charset="0"/>
              </a:rPr>
              <a:t>] = 0;</a:t>
            </a:r>
            <a:br>
              <a:rPr lang="en-US" altLang="en-US" dirty="0">
                <a:latin typeface="Courier New" panose="02070309020205020404" pitchFamily="49" charset="0"/>
              </a:rPr>
            </a:b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/>
              <a:t>     128 x 128 = 16,384 page faults 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128;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for (j = 0; j &lt; 128; </a:t>
            </a:r>
            <a:r>
              <a:rPr lang="en-US" altLang="en-US" dirty="0" err="1">
                <a:latin typeface="Courier New" panose="02070309020205020404" pitchFamily="49" charset="0"/>
              </a:rPr>
              <a:t>j++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   data[</a:t>
            </a:r>
            <a:r>
              <a:rPr lang="en-US" altLang="en-US" dirty="0" err="1">
                <a:latin typeface="Courier New" panose="02070309020205020404" pitchFamily="49" charset="0"/>
              </a:rPr>
              <a:t>i,j</a:t>
            </a:r>
            <a:r>
              <a:rPr lang="en-US" altLang="en-US" dirty="0">
                <a:latin typeface="Courier New" panose="02070309020205020404" pitchFamily="49" charset="0"/>
              </a:rPr>
              <a:t>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128 page faults</a:t>
            </a:r>
          </a:p>
        </p:txBody>
      </p:sp>
    </p:spTree>
    <p:extLst>
      <p:ext uri="{BB962C8B-B14F-4D97-AF65-F5344CB8AC3E}">
        <p14:creationId xmlns:p14="http://schemas.microsoft.com/office/powerpoint/2010/main" val="315417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85" y="997527"/>
            <a:ext cx="6372711" cy="168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3930732"/>
            <a:ext cx="675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IN" dirty="0"/>
              <a:t>n</a:t>
            </a:r>
          </a:p>
          <a:p>
            <a:pPr marL="342900" indent="-342900">
              <a:buFont typeface="+mj-lt"/>
              <a:buAutoNum type="alphaLcParenR"/>
            </a:pPr>
            <a:endParaRPr lang="en-IN" dirty="0"/>
          </a:p>
          <a:p>
            <a:pPr marL="342900" indent="-342900">
              <a:buFont typeface="+mj-lt"/>
              <a:buAutoNum type="alphaLcParenR"/>
            </a:pPr>
            <a:r>
              <a:rPr lang="en-IN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33738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11" y="985652"/>
            <a:ext cx="6427932" cy="2055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85" y="3721709"/>
            <a:ext cx="5875558" cy="18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982" y="3180269"/>
            <a:ext cx="6334457" cy="22739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982" y="954811"/>
            <a:ext cx="7132418" cy="9689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82" y="1923803"/>
            <a:ext cx="6478847" cy="1424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7" y="4317223"/>
            <a:ext cx="2201827" cy="1359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8769" y="5830784"/>
            <a:ext cx="4914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b) Every 200</a:t>
            </a:r>
            <a:r>
              <a:rPr lang="en-IN" baseline="30000" dirty="0"/>
              <a:t>th</a:t>
            </a:r>
            <a:r>
              <a:rPr lang="en-IN" dirty="0"/>
              <a:t> element gets a page fault</a:t>
            </a:r>
          </a:p>
          <a:p>
            <a:r>
              <a:rPr lang="en-IN" dirty="0"/>
              <a:t>a) Every alternate gets a page fault</a:t>
            </a:r>
          </a:p>
        </p:txBody>
      </p:sp>
    </p:spTree>
    <p:extLst>
      <p:ext uri="{BB962C8B-B14F-4D97-AF65-F5344CB8AC3E}">
        <p14:creationId xmlns:p14="http://schemas.microsoft.com/office/powerpoint/2010/main" val="252861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33" y="934537"/>
            <a:ext cx="8128783" cy="9439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5106"/>
            <a:ext cx="8485984" cy="214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7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STUDY the concept of </a:t>
            </a:r>
            <a:r>
              <a:rPr lang="en-IN" dirty="0" smtClean="0"/>
              <a:t>Segmentation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50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19267</TotalTime>
  <Words>1460</Words>
  <Application>Microsoft Office PowerPoint</Application>
  <PresentationFormat>On-screen Show (4:3)</PresentationFormat>
  <Paragraphs>265</Paragraphs>
  <Slides>36</Slides>
  <Notes>24</Notes>
  <HiddenSlides>1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MS PGothic</vt:lpstr>
      <vt:lpstr>MS PGothic</vt:lpstr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Equation</vt:lpstr>
      <vt:lpstr>Paging and Virtual Memory</vt:lpstr>
      <vt:lpstr>Page Replacement</vt:lpstr>
      <vt:lpstr>Modify / Dirty bit</vt:lpstr>
      <vt:lpstr>Page and Frame Replacement Algorithms</vt:lpstr>
      <vt:lpstr>Graph of Page Faults Versus the Number of Frames</vt:lpstr>
      <vt:lpstr>First-In-First-Out (FIFO) Algorithm</vt:lpstr>
      <vt:lpstr>Belady’s Anomaly</vt:lpstr>
      <vt:lpstr>Belady’s Anomaly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Algorithm (Cont.)</vt:lpstr>
      <vt:lpstr>LRU implementation</vt:lpstr>
      <vt:lpstr>LRU Approximation Algorithms</vt:lpstr>
      <vt:lpstr>LRU Approximation Algorithms</vt:lpstr>
      <vt:lpstr>LRU Approximation Algorithms (cont.)</vt:lpstr>
      <vt:lpstr> Second-chance Algorithm</vt:lpstr>
      <vt:lpstr>Enhanced Second-Chance Algorithm</vt:lpstr>
      <vt:lpstr>Page Fault Handling</vt:lpstr>
      <vt:lpstr>Counting Algorithms</vt:lpstr>
      <vt:lpstr>Allocation of Frames</vt:lpstr>
      <vt:lpstr>Fixed Allocation</vt:lpstr>
      <vt:lpstr>Global vs. Local Allocation</vt:lpstr>
      <vt:lpstr>Thrashing</vt:lpstr>
      <vt:lpstr>Thrashing (Cont.)</vt:lpstr>
      <vt:lpstr>Thrashing: remedies</vt:lpstr>
      <vt:lpstr>Thrashing: Remedies</vt:lpstr>
      <vt:lpstr>Allocating Kernel Memory</vt:lpstr>
      <vt:lpstr>Program Structure</vt:lpstr>
      <vt:lpstr>Exercises</vt:lpstr>
      <vt:lpstr>PowerPoint Presentation</vt:lpstr>
      <vt:lpstr>PowerPoint Presentation</vt:lpstr>
      <vt:lpstr>PowerPoint Presentation</vt:lpstr>
      <vt:lpstr>HOMEWORK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483</cp:revision>
  <cp:lastPrinted>2013-09-30T19:34:56Z</cp:lastPrinted>
  <dcterms:created xsi:type="dcterms:W3CDTF">2011-01-13T23:43:38Z</dcterms:created>
  <dcterms:modified xsi:type="dcterms:W3CDTF">2026-03-27T02:00:05Z</dcterms:modified>
</cp:coreProperties>
</file>