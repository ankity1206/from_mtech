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68" r:id="rId2"/>
    <p:sldId id="404" r:id="rId3"/>
    <p:sldId id="325" r:id="rId4"/>
    <p:sldId id="326" r:id="rId5"/>
    <p:sldId id="377" r:id="rId6"/>
    <p:sldId id="327" r:id="rId7"/>
    <p:sldId id="378" r:id="rId8"/>
    <p:sldId id="379" r:id="rId9"/>
    <p:sldId id="380" r:id="rId10"/>
    <p:sldId id="381" r:id="rId11"/>
    <p:sldId id="382" r:id="rId12"/>
    <p:sldId id="328" r:id="rId13"/>
    <p:sldId id="329" r:id="rId14"/>
    <p:sldId id="369" r:id="rId15"/>
    <p:sldId id="330" r:id="rId16"/>
    <p:sldId id="331" r:id="rId17"/>
    <p:sldId id="348" r:id="rId18"/>
    <p:sldId id="371" r:id="rId19"/>
    <p:sldId id="385" r:id="rId20"/>
    <p:sldId id="383" r:id="rId21"/>
    <p:sldId id="384" r:id="rId22"/>
    <p:sldId id="334" r:id="rId23"/>
    <p:sldId id="336" r:id="rId24"/>
    <p:sldId id="335" r:id="rId25"/>
    <p:sldId id="337" r:id="rId26"/>
    <p:sldId id="391" r:id="rId27"/>
    <p:sldId id="390" r:id="rId28"/>
    <p:sldId id="394" r:id="rId29"/>
    <p:sldId id="387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9933"/>
    <a:srgbClr val="00CC00"/>
    <a:srgbClr val="0066FF"/>
    <a:srgbClr val="DA5F46"/>
    <a:srgbClr val="0000CC"/>
    <a:srgbClr val="F7C2B7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9043" autoAdjust="0"/>
  </p:normalViewPr>
  <p:slideViewPr>
    <p:cSldViewPr>
      <p:cViewPr varScale="1">
        <p:scale>
          <a:sx n="115" d="100"/>
          <a:sy n="115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FBDD3881-29A5-3643-B3FD-D1E8632720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42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13D15D-8D0B-4810-A028-EF323651BDF6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45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27584D-A40D-4273-B8B8-CFD3CC16F285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133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A26E2F-D287-44C5-A3EB-45A362B4A574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96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45863D-3FCC-475C-A7AD-11A59927D78D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3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BCA162-D0EA-45E7-9536-77E7033717D4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337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38DD31-2D87-4784-9A3F-661BDD0970CF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617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BCA162-D0EA-45E7-9536-77E7033717D4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628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38DD31-2D87-4784-9A3F-661BDD0970CF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562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243E1D-FE98-4EE6-BCB0-8EAA3D81596A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49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4A1CCE91-54AD-7846-BE4E-91946BF99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5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63FC7515-6AAC-2A41-A7F6-9E7D4AA01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1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4952363A-BAA6-A14B-92D2-3421AC10D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1618A173-8515-7440-92F5-F8FD955B8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0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F882ABE0-B07A-8142-9E9D-EA15BA2A5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1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4568A685-02C0-5E4C-943D-A611612D7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525A5D8-6C4F-7542-B5E3-DD943D8AB9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BFF51D8-B761-CF4F-9205-666B27D5CE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13126816-0B07-D846-818E-2A381A7A8D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1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A5D0AB53-7F71-464D-B729-7E9058FC70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5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5C3E321-7B86-3C4A-BEC8-CED041B157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0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7010400" y="6553200"/>
            <a:ext cx="2133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831ACDFA-0ED7-E84F-98BA-431AB5AE1280}" type="slidenum">
              <a:rPr lang="en-US" sz="1400">
                <a:solidFill>
                  <a:schemeClr val="bg2"/>
                </a:solidFill>
              </a:rPr>
              <a:pPr algn="r"/>
              <a:t>‹#›</a:t>
            </a:fld>
            <a:endParaRPr lang="en-US" sz="1400">
              <a:solidFill>
                <a:schemeClr val="bg2"/>
              </a:solidFill>
            </a:endParaRPr>
          </a:p>
        </p:txBody>
      </p:sp>
      <p:pic>
        <p:nvPicPr>
          <p:cNvPr id="1029" name="Picture 8"/>
          <p:cNvPicPr>
            <a:picLocks noChangeAspect="1" noChangeArrowheads="1"/>
          </p:cNvPicPr>
          <p:nvPr userDrawn="1"/>
        </p:nvPicPr>
        <p:blipFill>
          <a:blip r:embed="rId13" cstate="email">
            <a:lum brigh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75413"/>
            <a:ext cx="6477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CC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>
                <a:latin typeface="Arial" charset="0"/>
              </a:rPr>
              <a:t>Deadlocks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361462" y="382953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Dining Philosopher</a:t>
            </a:r>
            <a:endParaRPr lang="en-IN" dirty="0"/>
          </a:p>
        </p:txBody>
      </p:sp>
      <p:sp>
        <p:nvSpPr>
          <p:cNvPr id="4" name="object 9"/>
          <p:cNvSpPr>
            <a:spLocks noGrp="1"/>
          </p:cNvSpPr>
          <p:nvPr>
            <p:ph idx="1"/>
          </p:nvPr>
        </p:nvSpPr>
        <p:spPr>
          <a:xfrm>
            <a:off x="5562600" y="1524000"/>
            <a:ext cx="3276600" cy="2925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752600"/>
            <a:ext cx="6471708" cy="3344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marR="2123440">
              <a:lnSpc>
                <a:spcPct val="184500"/>
              </a:lnSpc>
            </a:pPr>
            <a:r>
              <a:rPr lang="en-IN" spc="30" dirty="0">
                <a:latin typeface="Times New Roman"/>
                <a:cs typeface="Times New Roman"/>
              </a:rPr>
              <a:t>semaphore </a:t>
            </a:r>
            <a:r>
              <a:rPr lang="en-IN" spc="15" dirty="0">
                <a:latin typeface="Times New Roman"/>
                <a:cs typeface="Times New Roman"/>
              </a:rPr>
              <a:t> </a:t>
            </a:r>
            <a:r>
              <a:rPr lang="en-IN" spc="90" dirty="0">
                <a:latin typeface="Times New Roman"/>
                <a:cs typeface="Times New Roman"/>
              </a:rPr>
              <a:t>chopstick[5]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-45" dirty="0">
                <a:latin typeface="Times New Roman"/>
                <a:cs typeface="Times New Roman"/>
              </a:rPr>
              <a:t>=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110" dirty="0">
                <a:latin typeface="Cambria"/>
                <a:cs typeface="Cambria"/>
              </a:rPr>
              <a:t>{</a:t>
            </a:r>
            <a:r>
              <a:rPr lang="en-IN" spc="110" dirty="0">
                <a:latin typeface="Times New Roman"/>
                <a:cs typeface="Times New Roman"/>
              </a:rPr>
              <a:t>1,1,1,1,</a:t>
            </a:r>
            <a:r>
              <a:rPr lang="en-IN" spc="145" dirty="0">
                <a:latin typeface="Times New Roman"/>
                <a:cs typeface="Times New Roman"/>
              </a:rPr>
              <a:t>1</a:t>
            </a:r>
            <a:r>
              <a:rPr lang="en-IN" spc="110" dirty="0">
                <a:latin typeface="Cambria"/>
                <a:cs typeface="Cambria"/>
              </a:rPr>
              <a:t>}</a:t>
            </a:r>
            <a:r>
              <a:rPr lang="en-IN" spc="204" dirty="0">
                <a:latin typeface="Times New Roman"/>
                <a:cs typeface="Times New Roman"/>
              </a:rPr>
              <a:t>; </a:t>
            </a:r>
          </a:p>
          <a:p>
            <a:pPr marL="12700" marR="2123440">
              <a:lnSpc>
                <a:spcPct val="184500"/>
              </a:lnSpc>
            </a:pPr>
            <a:r>
              <a:rPr lang="en-IN" spc="65" dirty="0">
                <a:latin typeface="Times New Roman"/>
                <a:cs typeface="Times New Roman"/>
              </a:rPr>
              <a:t>while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15" dirty="0">
                <a:latin typeface="Times New Roman"/>
                <a:cs typeface="Times New Roman"/>
              </a:rPr>
              <a:t> </a:t>
            </a:r>
            <a:r>
              <a:rPr lang="en-IN" spc="114" dirty="0">
                <a:latin typeface="Times New Roman"/>
                <a:cs typeface="Times New Roman"/>
              </a:rPr>
              <a:t>(1)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30" dirty="0">
                <a:latin typeface="Times New Roman"/>
                <a:cs typeface="Times New Roman"/>
              </a:rPr>
              <a:t>{</a:t>
            </a:r>
            <a:endParaRPr lang="en-IN" dirty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lang="en-IN" spc="100" dirty="0">
                <a:latin typeface="Times New Roman"/>
                <a:cs typeface="Times New Roman"/>
              </a:rPr>
              <a:t>wait(chopstick[(i-1)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-285" dirty="0">
                <a:latin typeface="Times New Roman"/>
                <a:cs typeface="Times New Roman"/>
              </a:rPr>
              <a:t>%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140" dirty="0">
                <a:latin typeface="Times New Roman"/>
                <a:cs typeface="Times New Roman"/>
              </a:rPr>
              <a:t>5]);</a:t>
            </a:r>
            <a:r>
              <a:rPr lang="en-IN" spc="95" dirty="0">
                <a:latin typeface="Times New Roman"/>
                <a:cs typeface="Times New Roman"/>
              </a:rPr>
              <a:t> </a:t>
            </a:r>
          </a:p>
          <a:p>
            <a:pPr marL="132080" marR="2599055">
              <a:lnSpc>
                <a:spcPct val="101499"/>
              </a:lnSpc>
            </a:pPr>
            <a:r>
              <a:rPr lang="en-IN" spc="114" dirty="0">
                <a:latin typeface="Times New Roman"/>
                <a:cs typeface="Times New Roman"/>
              </a:rPr>
              <a:t>wait(chopstick[</a:t>
            </a:r>
            <a:r>
              <a:rPr lang="en-IN" spc="114" dirty="0" err="1">
                <a:latin typeface="Times New Roman"/>
                <a:cs typeface="Times New Roman"/>
              </a:rPr>
              <a:t>i</a:t>
            </a:r>
            <a:r>
              <a:rPr lang="en-IN" spc="114" dirty="0">
                <a:latin typeface="Times New Roman"/>
                <a:cs typeface="Times New Roman"/>
              </a:rPr>
              <a:t>]);</a:t>
            </a:r>
            <a:endParaRPr lang="en-IN" spc="95" dirty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lang="en-IN" spc="150" dirty="0">
                <a:latin typeface="Times New Roman"/>
                <a:cs typeface="Times New Roman"/>
              </a:rPr>
              <a:t>eat();</a:t>
            </a:r>
            <a:r>
              <a:rPr lang="en-IN" spc="105" dirty="0">
                <a:latin typeface="Times New Roman"/>
                <a:cs typeface="Times New Roman"/>
              </a:rPr>
              <a:t> </a:t>
            </a:r>
          </a:p>
          <a:p>
            <a:pPr marL="132080" marR="2599055">
              <a:lnSpc>
                <a:spcPct val="101499"/>
              </a:lnSpc>
            </a:pPr>
            <a:r>
              <a:rPr lang="en-IN" spc="120" dirty="0">
                <a:latin typeface="Times New Roman"/>
                <a:cs typeface="Times New Roman"/>
              </a:rPr>
              <a:t>signal(chopstick[</a:t>
            </a:r>
            <a:r>
              <a:rPr lang="en-IN" spc="120" dirty="0" err="1">
                <a:latin typeface="Times New Roman"/>
                <a:cs typeface="Times New Roman"/>
              </a:rPr>
              <a:t>i</a:t>
            </a:r>
            <a:r>
              <a:rPr lang="en-IN" spc="120" dirty="0">
                <a:latin typeface="Times New Roman"/>
                <a:cs typeface="Times New Roman"/>
              </a:rPr>
              <a:t>]);</a:t>
            </a:r>
            <a:endParaRPr lang="en-IN" dirty="0">
              <a:latin typeface="Times New Roman"/>
              <a:cs typeface="Times New Roman"/>
            </a:endParaRPr>
          </a:p>
          <a:p>
            <a:pPr marL="132080">
              <a:spcBef>
                <a:spcPts val="15"/>
              </a:spcBef>
            </a:pPr>
            <a:r>
              <a:rPr lang="en-IN" spc="105" dirty="0">
                <a:latin typeface="Times New Roman"/>
                <a:cs typeface="Times New Roman"/>
              </a:rPr>
              <a:t>signal(chopstick[(i-1)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-285" dirty="0">
                <a:latin typeface="Times New Roman"/>
                <a:cs typeface="Times New Roman"/>
              </a:rPr>
              <a:t>%</a:t>
            </a: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spc="20" dirty="0">
                <a:latin typeface="Times New Roman"/>
                <a:cs typeface="Times New Roman"/>
              </a:rPr>
              <a:t> </a:t>
            </a:r>
            <a:r>
              <a:rPr lang="en-IN" spc="140" dirty="0">
                <a:latin typeface="Times New Roman"/>
                <a:cs typeface="Times New Roman"/>
              </a:rPr>
              <a:t>5]);</a:t>
            </a:r>
          </a:p>
          <a:p>
            <a:pPr marL="132080">
              <a:lnSpc>
                <a:spcPct val="100000"/>
              </a:lnSpc>
              <a:spcBef>
                <a:spcPts val="15"/>
              </a:spcBef>
            </a:pPr>
            <a:r>
              <a:rPr lang="en-IN" spc="125" dirty="0">
                <a:latin typeface="Times New Roman"/>
                <a:cs typeface="Times New Roman"/>
              </a:rPr>
              <a:t>think();</a:t>
            </a:r>
            <a:endParaRPr lang="en-IN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pc="30" dirty="0">
                <a:latin typeface="Times New Roman"/>
                <a:cs typeface="Times New Roman"/>
              </a:rPr>
              <a:t>}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40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Deadlocks</a:t>
            </a:r>
          </a:p>
        </p:txBody>
      </p:sp>
      <p:sp>
        <p:nvSpPr>
          <p:cNvPr id="1085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pPr>
              <a:buFontTx/>
              <a:buNone/>
            </a:pPr>
            <a:r>
              <a:rPr lang="en-US" sz="2000">
                <a:latin typeface="Arial" charset="0"/>
              </a:rPr>
              <a:t>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8600" y="16002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R1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40386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R2</a:t>
            </a:r>
          </a:p>
        </p:txBody>
      </p:sp>
      <p:sp>
        <p:nvSpPr>
          <p:cNvPr id="6" name="Oval 5"/>
          <p:cNvSpPr/>
          <p:nvPr/>
        </p:nvSpPr>
        <p:spPr>
          <a:xfrm>
            <a:off x="2159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5715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/>
          <p:cNvCxnSpPr>
            <a:endCxn id="6" idx="7"/>
          </p:cNvCxnSpPr>
          <p:nvPr/>
        </p:nvCxnSpPr>
        <p:spPr>
          <a:xfrm rot="10800000" flipV="1">
            <a:off x="2679700" y="2057400"/>
            <a:ext cx="1358900" cy="981075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  <a:endCxn id="5" idx="3"/>
          </p:cNvCxnSpPr>
          <p:nvPr/>
        </p:nvCxnSpPr>
        <p:spPr>
          <a:xfrm rot="5400000">
            <a:off x="4735512" y="3198813"/>
            <a:ext cx="904875" cy="1231900"/>
          </a:xfrm>
          <a:prstGeom prst="straightConnector1">
            <a:avLst/>
          </a:prstGeom>
          <a:ln w="38100">
            <a:solidFill>
              <a:srgbClr val="0000CC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53" name="TextBox 17"/>
          <p:cNvSpPr txBox="1">
            <a:spLocks noChangeArrowheads="1"/>
          </p:cNvSpPr>
          <p:nvPr/>
        </p:nvSpPr>
        <p:spPr bwMode="auto">
          <a:xfrm rot="-2219589">
            <a:off x="2471738" y="1957388"/>
            <a:ext cx="1441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A holds </a:t>
            </a:r>
          </a:p>
          <a:p>
            <a:pPr algn="ctr" eaLnBrk="1" hangingPunct="1"/>
            <a:r>
              <a:rPr lang="en-US" sz="1800"/>
              <a:t>resource R1</a:t>
            </a:r>
          </a:p>
        </p:txBody>
      </p:sp>
      <p:sp>
        <p:nvSpPr>
          <p:cNvPr id="108554" name="TextBox 19"/>
          <p:cNvSpPr txBox="1">
            <a:spLocks noChangeArrowheads="1"/>
          </p:cNvSpPr>
          <p:nvPr/>
        </p:nvSpPr>
        <p:spPr bwMode="auto">
          <a:xfrm rot="-2219589">
            <a:off x="4621213" y="3797300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B holds </a:t>
            </a:r>
          </a:p>
          <a:p>
            <a:pPr algn="ctr" eaLnBrk="1" hangingPunct="1"/>
            <a:r>
              <a:rPr lang="en-US" sz="1800"/>
              <a:t>resource R2</a:t>
            </a:r>
          </a:p>
        </p:txBody>
      </p:sp>
      <p:sp>
        <p:nvSpPr>
          <p:cNvPr id="108555" name="TextBox 22"/>
          <p:cNvSpPr txBox="1">
            <a:spLocks noChangeArrowheads="1"/>
          </p:cNvSpPr>
          <p:nvPr/>
        </p:nvSpPr>
        <p:spPr bwMode="auto">
          <a:xfrm>
            <a:off x="838200" y="5257800"/>
            <a:ext cx="2519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Consider this situation: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Deadlocks</a:t>
            </a:r>
          </a:p>
        </p:txBody>
      </p:sp>
      <p:sp>
        <p:nvSpPr>
          <p:cNvPr id="1095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pPr>
              <a:buFontTx/>
              <a:buNone/>
            </a:pPr>
            <a:r>
              <a:rPr lang="en-US" sz="2000" b="1">
                <a:latin typeface="Arial" charset="0"/>
              </a:rPr>
              <a:t>A Deadlock Arises:   </a:t>
            </a:r>
          </a:p>
          <a:p>
            <a:pPr>
              <a:buFontTx/>
              <a:buNone/>
            </a:pPr>
            <a:r>
              <a:rPr lang="en-US" sz="2000">
                <a:latin typeface="Arial" charset="0"/>
              </a:rPr>
              <a:t>Deadlock :  A set of processes is deadlocked if each process in the set is waiting for an event that only another process in the set can cause.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8600" y="16002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R1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40386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R2</a:t>
            </a:r>
          </a:p>
        </p:txBody>
      </p:sp>
      <p:sp>
        <p:nvSpPr>
          <p:cNvPr id="6" name="Oval 5"/>
          <p:cNvSpPr/>
          <p:nvPr/>
        </p:nvSpPr>
        <p:spPr>
          <a:xfrm>
            <a:off x="2159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5715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/>
          <p:cNvCxnSpPr>
            <a:endCxn id="6" idx="7"/>
          </p:cNvCxnSpPr>
          <p:nvPr/>
        </p:nvCxnSpPr>
        <p:spPr>
          <a:xfrm rot="10800000" flipV="1">
            <a:off x="2679700" y="2057400"/>
            <a:ext cx="1358900" cy="981075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  <a:endCxn id="5" idx="3"/>
          </p:cNvCxnSpPr>
          <p:nvPr/>
        </p:nvCxnSpPr>
        <p:spPr>
          <a:xfrm rot="5400000">
            <a:off x="4735512" y="3198813"/>
            <a:ext cx="904875" cy="1231900"/>
          </a:xfrm>
          <a:prstGeom prst="straightConnector1">
            <a:avLst/>
          </a:prstGeom>
          <a:ln w="38100">
            <a:solidFill>
              <a:srgbClr val="0000CC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5" idx="1"/>
          </p:cNvCxnSpPr>
          <p:nvPr/>
        </p:nvCxnSpPr>
        <p:spPr>
          <a:xfrm rot="16200000" flipH="1">
            <a:off x="2906712" y="3135313"/>
            <a:ext cx="904875" cy="13589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>
            <a:off x="4799012" y="1830388"/>
            <a:ext cx="904875" cy="13589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579" name="TextBox 17"/>
          <p:cNvSpPr txBox="1">
            <a:spLocks noChangeArrowheads="1"/>
          </p:cNvSpPr>
          <p:nvPr/>
        </p:nvSpPr>
        <p:spPr bwMode="auto">
          <a:xfrm rot="-2219589">
            <a:off x="2471738" y="1957388"/>
            <a:ext cx="1441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A holds </a:t>
            </a:r>
          </a:p>
          <a:p>
            <a:pPr algn="ctr" eaLnBrk="1" hangingPunct="1"/>
            <a:r>
              <a:rPr lang="en-US" sz="1800"/>
              <a:t>resource R1</a:t>
            </a:r>
          </a:p>
        </p:txBody>
      </p:sp>
      <p:sp>
        <p:nvSpPr>
          <p:cNvPr id="109580" name="TextBox 19"/>
          <p:cNvSpPr txBox="1">
            <a:spLocks noChangeArrowheads="1"/>
          </p:cNvSpPr>
          <p:nvPr/>
        </p:nvSpPr>
        <p:spPr bwMode="auto">
          <a:xfrm rot="-2219589">
            <a:off x="4621213" y="3797300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B holds </a:t>
            </a:r>
          </a:p>
          <a:p>
            <a:pPr algn="ctr" eaLnBrk="1" hangingPunct="1"/>
            <a:r>
              <a:rPr lang="en-US" sz="1800"/>
              <a:t>resource R2</a:t>
            </a:r>
          </a:p>
        </p:txBody>
      </p:sp>
      <p:sp>
        <p:nvSpPr>
          <p:cNvPr id="109581" name="TextBox 20"/>
          <p:cNvSpPr txBox="1">
            <a:spLocks noChangeArrowheads="1"/>
          </p:cNvSpPr>
          <p:nvPr/>
        </p:nvSpPr>
        <p:spPr bwMode="auto">
          <a:xfrm rot="1975675">
            <a:off x="4699000" y="1965325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B waits for</a:t>
            </a:r>
          </a:p>
          <a:p>
            <a:pPr algn="ctr" eaLnBrk="1" hangingPunct="1"/>
            <a:r>
              <a:rPr lang="en-US" sz="1800"/>
              <a:t>resource R1</a:t>
            </a:r>
          </a:p>
        </p:txBody>
      </p:sp>
      <p:sp>
        <p:nvSpPr>
          <p:cNvPr id="109582" name="TextBox 21"/>
          <p:cNvSpPr txBox="1">
            <a:spLocks noChangeArrowheads="1"/>
          </p:cNvSpPr>
          <p:nvPr/>
        </p:nvSpPr>
        <p:spPr bwMode="auto">
          <a:xfrm rot="1975675">
            <a:off x="2422525" y="3692525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A waits for</a:t>
            </a:r>
          </a:p>
          <a:p>
            <a:pPr algn="ctr" eaLnBrk="1" hangingPunct="1"/>
            <a:r>
              <a:rPr lang="en-US" sz="1800"/>
              <a:t>resource R2</a:t>
            </a:r>
          </a:p>
        </p:txBody>
      </p:sp>
      <p:sp>
        <p:nvSpPr>
          <p:cNvPr id="109583" name="TextBox 18"/>
          <p:cNvSpPr txBox="1">
            <a:spLocks noChangeArrowheads="1"/>
          </p:cNvSpPr>
          <p:nvPr/>
        </p:nvSpPr>
        <p:spPr bwMode="auto">
          <a:xfrm>
            <a:off x="6096000" y="1447800"/>
            <a:ext cx="293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Resource Allocation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System Model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974012" cy="4483100"/>
          </a:xfrm>
        </p:spPr>
        <p:txBody>
          <a:bodyPr/>
          <a:lstStyle/>
          <a:p>
            <a:r>
              <a:rPr lang="en-US" altLang="en-US" sz="2800" dirty="0" smtClean="0"/>
              <a:t>System consists of resources</a:t>
            </a:r>
          </a:p>
          <a:p>
            <a:endParaRPr lang="en-US" altLang="en-US" sz="1800" dirty="0" smtClean="0"/>
          </a:p>
          <a:p>
            <a:r>
              <a:rPr lang="en-US" altLang="en-US" sz="2800" dirty="0" smtClean="0"/>
              <a:t>Resource types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,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, . . .,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z="2000" i="1" dirty="0" smtClean="0"/>
              <a:t>CPU cycles, memory space, I/O devices</a:t>
            </a:r>
          </a:p>
          <a:p>
            <a:pPr lvl="2">
              <a:buFont typeface="Webdings" panose="05030102010509060703" pitchFamily="18" charset="2"/>
              <a:buNone/>
            </a:pPr>
            <a:endParaRPr lang="en-US" altLang="en-US" sz="2800" i="1" dirty="0" smtClean="0"/>
          </a:p>
          <a:p>
            <a:r>
              <a:rPr lang="en-US" altLang="en-US" sz="2800" dirty="0" smtClean="0"/>
              <a:t>Each resource type </a:t>
            </a:r>
            <a:r>
              <a:rPr lang="en-US" altLang="en-US" sz="2800" i="1" dirty="0" err="1" smtClean="0"/>
              <a:t>R</a:t>
            </a:r>
            <a:r>
              <a:rPr lang="en-US" altLang="en-US" sz="2800" baseline="-25000" dirty="0" err="1" smtClean="0"/>
              <a:t>i</a:t>
            </a:r>
            <a:r>
              <a:rPr lang="en-US" altLang="en-US" sz="2800" dirty="0" smtClean="0"/>
              <a:t> has </a:t>
            </a:r>
            <a:r>
              <a:rPr lang="en-US" altLang="en-US" sz="2800" i="1" dirty="0" smtClean="0"/>
              <a:t>W</a:t>
            </a:r>
            <a:r>
              <a:rPr lang="en-US" altLang="en-US" sz="2800" baseline="-25000" dirty="0" smtClean="0"/>
              <a:t>i</a:t>
            </a:r>
            <a:r>
              <a:rPr lang="en-US" altLang="en-US" sz="2800" dirty="0" smtClean="0"/>
              <a:t> instances.</a:t>
            </a:r>
          </a:p>
          <a:p>
            <a:endParaRPr lang="en-US" altLang="en-US" sz="1600" dirty="0" smtClean="0"/>
          </a:p>
          <a:p>
            <a:r>
              <a:rPr lang="en-US" altLang="en-US" sz="2800" dirty="0" smtClean="0"/>
              <a:t>Each process utilizes a resource as follows:</a:t>
            </a:r>
          </a:p>
          <a:p>
            <a:pPr lvl="1"/>
            <a:r>
              <a:rPr lang="en-US" altLang="en-US" sz="2000" dirty="0" smtClean="0"/>
              <a:t>request </a:t>
            </a:r>
          </a:p>
          <a:p>
            <a:pPr lvl="1"/>
            <a:r>
              <a:rPr lang="en-US" altLang="en-US" sz="2000" dirty="0" smtClean="0"/>
              <a:t>use </a:t>
            </a:r>
          </a:p>
          <a:p>
            <a:pPr lvl="1"/>
            <a:r>
              <a:rPr lang="en-US" altLang="en-US" sz="2000" dirty="0" smtClean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335912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Conditions for Resource Deadlocks</a:t>
            </a:r>
          </a:p>
        </p:txBody>
      </p:sp>
      <p:sp>
        <p:nvSpPr>
          <p:cNvPr id="1105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14350">
              <a:buFontTx/>
              <a:buAutoNum type="arabicPeriod"/>
            </a:pPr>
            <a:r>
              <a:rPr lang="en-US" sz="2000" b="1">
                <a:solidFill>
                  <a:srgbClr val="0066FF"/>
                </a:solidFill>
                <a:latin typeface="Arial" charset="0"/>
              </a:rPr>
              <a:t>Mutual Exclusion </a:t>
            </a:r>
          </a:p>
          <a:p>
            <a:pPr marL="971550" lvl="1" indent="-514350"/>
            <a:r>
              <a:rPr lang="en-US" sz="1800">
                <a:latin typeface="Arial" charset="0"/>
                <a:cs typeface="Arial" charset="0"/>
              </a:rPr>
              <a:t>Each resource is either available or currently assigned to exactly one process</a:t>
            </a:r>
          </a:p>
          <a:p>
            <a:pPr marL="571500" indent="-514350">
              <a:buFontTx/>
              <a:buAutoNum type="arabicPeriod"/>
            </a:pPr>
            <a:r>
              <a:rPr lang="en-US" sz="2000" b="1">
                <a:solidFill>
                  <a:srgbClr val="0066FF"/>
                </a:solidFill>
                <a:latin typeface="Arial" charset="0"/>
              </a:rPr>
              <a:t>Hold and wait</a:t>
            </a:r>
          </a:p>
          <a:p>
            <a:pPr marL="971550" lvl="1" indent="-514350"/>
            <a:r>
              <a:rPr lang="en-US" sz="1800">
                <a:latin typeface="Arial" charset="0"/>
                <a:cs typeface="Arial" charset="0"/>
              </a:rPr>
              <a:t>A process holding a resource, can request another resource</a:t>
            </a:r>
          </a:p>
          <a:p>
            <a:pPr marL="571500" indent="-514350">
              <a:buFontTx/>
              <a:buAutoNum type="arabicPeriod"/>
            </a:pPr>
            <a:r>
              <a:rPr lang="en-US" sz="2000" b="1">
                <a:solidFill>
                  <a:srgbClr val="0066FF"/>
                </a:solidFill>
                <a:latin typeface="Arial" charset="0"/>
              </a:rPr>
              <a:t>No preemption</a:t>
            </a:r>
          </a:p>
          <a:p>
            <a:pPr marL="971550" lvl="1" indent="-514350"/>
            <a:r>
              <a:rPr lang="en-US" sz="1800">
                <a:latin typeface="Arial" charset="0"/>
                <a:cs typeface="Arial" charset="0"/>
              </a:rPr>
              <a:t>Resources previously granted cannot be forcibly taken away from a process</a:t>
            </a:r>
          </a:p>
          <a:p>
            <a:pPr marL="571500" indent="-514350">
              <a:buFontTx/>
              <a:buAutoNum type="arabicPeriod"/>
            </a:pPr>
            <a:r>
              <a:rPr lang="en-US" sz="2000" b="1">
                <a:solidFill>
                  <a:srgbClr val="0066FF"/>
                </a:solidFill>
                <a:latin typeface="Arial" charset="0"/>
              </a:rPr>
              <a:t>Circular wait</a:t>
            </a:r>
          </a:p>
          <a:p>
            <a:pPr marL="971550" lvl="1" indent="-514350"/>
            <a:r>
              <a:rPr lang="en-US" sz="1800">
                <a:latin typeface="Arial" charset="0"/>
                <a:cs typeface="Arial" charset="0"/>
              </a:rPr>
              <a:t>There must be a circular chain of two or more processes, each of which is waiting for a resouce held by the next member of the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600" y="5638800"/>
            <a:ext cx="72390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66FF"/>
                </a:solidFill>
              </a:rPr>
              <a:t>All four of these conditions must be present for a resource deadlock to occur!!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Resource-Allocation Graph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676" y="1828800"/>
            <a:ext cx="7654925" cy="4019550"/>
          </a:xfrm>
        </p:spPr>
        <p:txBody>
          <a:bodyPr/>
          <a:lstStyle/>
          <a:p>
            <a:r>
              <a:rPr lang="en-US" altLang="en-US" sz="2800" dirty="0" smtClean="0"/>
              <a:t>V is partitioned into two types:</a:t>
            </a:r>
          </a:p>
          <a:p>
            <a:pPr lvl="1"/>
            <a:r>
              <a:rPr lang="en-US" altLang="en-US" sz="2400" i="1" dirty="0" smtClean="0"/>
              <a:t>P</a:t>
            </a:r>
            <a:r>
              <a:rPr lang="en-US" altLang="en-US" sz="2400" dirty="0" smtClean="0"/>
              <a:t> = {</a:t>
            </a:r>
            <a:r>
              <a:rPr lang="en-US" altLang="en-US" sz="2400" i="1" dirty="0" smtClean="0"/>
              <a:t>P</a:t>
            </a:r>
            <a:r>
              <a:rPr lang="en-US" altLang="en-US" sz="2400" baseline="-25000" dirty="0" smtClean="0"/>
              <a:t>1</a:t>
            </a:r>
            <a:r>
              <a:rPr lang="en-US" altLang="en-US" sz="2400" dirty="0" smtClean="0"/>
              <a:t>, </a:t>
            </a:r>
            <a:r>
              <a:rPr lang="en-US" altLang="en-US" sz="2400" i="1" dirty="0" smtClean="0"/>
              <a:t>P</a:t>
            </a:r>
            <a:r>
              <a:rPr lang="en-US" altLang="en-US" sz="2400" baseline="-25000" dirty="0" smtClean="0"/>
              <a:t>2</a:t>
            </a:r>
            <a:r>
              <a:rPr lang="en-US" altLang="en-US" sz="2400" dirty="0" smtClean="0"/>
              <a:t>, …, </a:t>
            </a:r>
            <a:r>
              <a:rPr lang="en-US" altLang="en-US" sz="2400" i="1" dirty="0" err="1" smtClean="0"/>
              <a:t>P</a:t>
            </a:r>
            <a:r>
              <a:rPr lang="en-US" altLang="en-US" sz="2400" i="1" baseline="-25000" dirty="0" err="1" smtClean="0"/>
              <a:t>n</a:t>
            </a:r>
            <a:r>
              <a:rPr lang="en-US" altLang="en-US" sz="2400" dirty="0" smtClean="0"/>
              <a:t>}, the set consisting of all the processes in the system</a:t>
            </a:r>
            <a:br>
              <a:rPr lang="en-US" altLang="en-US" sz="2400" dirty="0" smtClean="0"/>
            </a:br>
            <a:endParaRPr lang="en-US" altLang="en-US" sz="2400" dirty="0" smtClean="0"/>
          </a:p>
          <a:p>
            <a:pPr lvl="1"/>
            <a:r>
              <a:rPr lang="en-US" altLang="en-US" sz="2400" i="1" dirty="0" smtClean="0"/>
              <a:t>R</a:t>
            </a:r>
            <a:r>
              <a:rPr lang="en-US" altLang="en-US" sz="2400" dirty="0" smtClean="0"/>
              <a:t> = {</a:t>
            </a:r>
            <a:r>
              <a:rPr lang="en-US" altLang="en-US" sz="2400" i="1" dirty="0" smtClean="0"/>
              <a:t>R</a:t>
            </a:r>
            <a:r>
              <a:rPr lang="en-US" altLang="en-US" sz="2400" baseline="-25000" dirty="0" smtClean="0"/>
              <a:t>1</a:t>
            </a:r>
            <a:r>
              <a:rPr lang="en-US" altLang="en-US" sz="2400" dirty="0" smtClean="0"/>
              <a:t>, </a:t>
            </a:r>
            <a:r>
              <a:rPr lang="en-US" altLang="en-US" sz="2400" i="1" dirty="0" smtClean="0"/>
              <a:t>R</a:t>
            </a:r>
            <a:r>
              <a:rPr lang="en-US" altLang="en-US" sz="2400" baseline="-25000" dirty="0" smtClean="0"/>
              <a:t>2</a:t>
            </a:r>
            <a:r>
              <a:rPr lang="en-US" altLang="en-US" sz="2400" dirty="0" smtClean="0"/>
              <a:t>, …, </a:t>
            </a:r>
            <a:r>
              <a:rPr lang="en-US" altLang="en-US" sz="2400" i="1" dirty="0" smtClean="0"/>
              <a:t>R</a:t>
            </a:r>
            <a:r>
              <a:rPr lang="en-US" altLang="en-US" sz="2400" i="1" baseline="-25000" dirty="0" smtClean="0"/>
              <a:t>m</a:t>
            </a:r>
            <a:r>
              <a:rPr lang="en-US" altLang="en-US" sz="2400" dirty="0" smtClean="0"/>
              <a:t>}, the set consisting of all resource types in the system</a:t>
            </a:r>
          </a:p>
          <a:p>
            <a:pPr lvl="1"/>
            <a:endParaRPr lang="en-US" altLang="en-US" sz="800" dirty="0" smtClean="0"/>
          </a:p>
          <a:p>
            <a:r>
              <a:rPr lang="en-US" altLang="en-US" sz="2800" dirty="0" smtClean="0">
                <a:solidFill>
                  <a:srgbClr val="3366FF"/>
                </a:solidFill>
              </a:rPr>
              <a:t>request edge </a:t>
            </a:r>
            <a:r>
              <a:rPr lang="en-US" altLang="en-US" sz="2800" dirty="0" smtClean="0"/>
              <a:t>– directed edge </a:t>
            </a:r>
            <a:r>
              <a:rPr lang="en-US" altLang="en-US" sz="2800" i="1" dirty="0" smtClean="0"/>
              <a:t>P</a:t>
            </a:r>
            <a:r>
              <a:rPr lang="en-US" altLang="en-US" sz="2800" i="1" baseline="-25000" dirty="0" smtClean="0"/>
              <a:t>i </a:t>
            </a:r>
            <a:r>
              <a:rPr lang="en-US" altLang="en-US" sz="2800" dirty="0" smtClean="0">
                <a:sym typeface="Symbol" panose="05050102010706020507" pitchFamily="18" charset="2"/>
              </a:rPr>
              <a:t> </a:t>
            </a:r>
            <a:r>
              <a:rPr lang="en-US" altLang="en-US" sz="2800" i="1" dirty="0" err="1" smtClean="0">
                <a:sym typeface="Symbol" panose="05050102010706020507" pitchFamily="18" charset="2"/>
              </a:rPr>
              <a:t>R</a:t>
            </a:r>
            <a:r>
              <a:rPr lang="en-US" altLang="en-US" sz="2800" i="1" baseline="-25000" dirty="0" err="1" smtClean="0">
                <a:sym typeface="Symbol" panose="05050102010706020507" pitchFamily="18" charset="2"/>
              </a:rPr>
              <a:t>j</a:t>
            </a:r>
            <a:endParaRPr lang="en-US" altLang="en-US" sz="2800" i="1" baseline="-25000" dirty="0" smtClean="0">
              <a:sym typeface="Symbol" panose="05050102010706020507" pitchFamily="18" charset="2"/>
            </a:endParaRPr>
          </a:p>
          <a:p>
            <a:endParaRPr lang="en-US" altLang="en-US" sz="700" i="1" baseline="-25000" dirty="0" smtClean="0">
              <a:sym typeface="Symbol" panose="05050102010706020507" pitchFamily="18" charset="2"/>
            </a:endParaRPr>
          </a:p>
          <a:p>
            <a:r>
              <a:rPr lang="en-US" altLang="en-US" sz="2800" dirty="0" smtClean="0">
                <a:solidFill>
                  <a:srgbClr val="3366FF"/>
                </a:solidFill>
                <a:sym typeface="Symbol" panose="05050102010706020507" pitchFamily="18" charset="2"/>
              </a:rPr>
              <a:t>assignment edge </a:t>
            </a:r>
            <a:r>
              <a:rPr lang="en-US" altLang="en-US" sz="2800" dirty="0" smtClean="0"/>
              <a:t>– directed edge </a:t>
            </a:r>
            <a:r>
              <a:rPr lang="en-US" altLang="en-US" sz="2800" i="1" dirty="0" err="1" smtClean="0"/>
              <a:t>R</a:t>
            </a:r>
            <a:r>
              <a:rPr lang="en-US" altLang="en-US" sz="2800" i="1" baseline="-25000" dirty="0" err="1" smtClean="0"/>
              <a:t>j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>
                <a:sym typeface="Symbol" panose="05050102010706020507" pitchFamily="18" charset="2"/>
              </a:rPr>
              <a:t> </a:t>
            </a:r>
            <a:r>
              <a:rPr lang="en-US" altLang="en-US" sz="2800" i="1" dirty="0" smtClean="0">
                <a:sym typeface="Symbol" panose="05050102010706020507" pitchFamily="18" charset="2"/>
              </a:rPr>
              <a:t>P</a:t>
            </a:r>
            <a:r>
              <a:rPr lang="en-US" altLang="en-US" sz="2800" i="1" baseline="-25000" dirty="0" smtClean="0">
                <a:sym typeface="Symbol" panose="05050102010706020507" pitchFamily="18" charset="2"/>
              </a:rPr>
              <a:t>i</a:t>
            </a:r>
            <a:endParaRPr lang="en-US" altLang="en-US" sz="2800" dirty="0" smtClean="0">
              <a:sym typeface="Symbol" panose="05050102010706020507" pitchFamily="18" charset="2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49289" y="1002655"/>
            <a:ext cx="56387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A set of vertices </a:t>
            </a:r>
            <a:r>
              <a:rPr kumimoji="0" lang="en-US" altLang="en-US" sz="2400" i="1" dirty="0"/>
              <a:t>V</a:t>
            </a:r>
            <a:r>
              <a:rPr kumimoji="0" lang="en-US" altLang="en-US" sz="2400" dirty="0"/>
              <a:t> and a set of edges </a:t>
            </a:r>
            <a:r>
              <a:rPr kumimoji="0" lang="en-US" altLang="en-US" sz="2400" i="1" dirty="0"/>
              <a:t>E</a:t>
            </a:r>
            <a:r>
              <a:rPr kumimoji="0"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367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18256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Resource-Allocation Graph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343775" cy="4530725"/>
          </a:xfrm>
        </p:spPr>
        <p:txBody>
          <a:bodyPr/>
          <a:lstStyle/>
          <a:p>
            <a:r>
              <a:rPr lang="en-US" altLang="en-US" sz="1800" dirty="0" smtClean="0"/>
              <a:t>Process</a:t>
            </a:r>
            <a:br>
              <a:rPr lang="en-US" altLang="en-US" sz="1800" dirty="0" smtClean="0"/>
            </a:b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endParaRPr lang="en-US" altLang="en-US" sz="1800" dirty="0" smtClean="0"/>
          </a:p>
          <a:p>
            <a:r>
              <a:rPr lang="en-US" altLang="en-US" sz="1800" dirty="0" smtClean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sz="1800" dirty="0" smtClean="0"/>
          </a:p>
          <a:p>
            <a:endParaRPr lang="en-US" altLang="en-US" sz="1800" dirty="0" smtClean="0"/>
          </a:p>
          <a:p>
            <a:r>
              <a:rPr lang="en-US" altLang="en-US" sz="1800" i="1" dirty="0" smtClean="0"/>
              <a:t>P</a:t>
            </a:r>
            <a:r>
              <a:rPr lang="en-US" altLang="en-US" sz="1800" i="1" baseline="-25000" dirty="0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requests instance of </a:t>
            </a:r>
            <a:r>
              <a:rPr lang="en-US" altLang="en-US" sz="1800" i="1" dirty="0" err="1" smtClean="0"/>
              <a:t>R</a:t>
            </a:r>
            <a:r>
              <a:rPr lang="en-US" altLang="en-US" sz="1800" i="1" baseline="-25000" dirty="0" err="1" smtClean="0"/>
              <a:t>j</a:t>
            </a:r>
            <a:endParaRPr lang="en-US" altLang="en-US" sz="1800" dirty="0" smtClean="0"/>
          </a:p>
          <a:p>
            <a:endParaRPr lang="en-US" altLang="en-US" sz="1800" dirty="0" smtClean="0"/>
          </a:p>
          <a:p>
            <a:pPr>
              <a:buFont typeface="Monotype Sorts" pitchFamily="-84" charset="2"/>
              <a:buNone/>
            </a:pPr>
            <a:endParaRPr lang="en-US" altLang="en-US" sz="1800" dirty="0" smtClean="0"/>
          </a:p>
          <a:p>
            <a:endParaRPr lang="en-US" altLang="en-US" sz="1800" i="1" dirty="0" smtClean="0"/>
          </a:p>
          <a:p>
            <a:r>
              <a:rPr lang="en-US" altLang="en-US" sz="1800" i="1" dirty="0" smtClean="0"/>
              <a:t>P</a:t>
            </a:r>
            <a:r>
              <a:rPr lang="en-US" altLang="en-US" sz="1800" i="1" baseline="-25000" dirty="0" smtClean="0"/>
              <a:t>i</a:t>
            </a:r>
            <a:r>
              <a:rPr lang="en-US" altLang="en-US" sz="1800" dirty="0" smtClean="0"/>
              <a:t> is holding an instance of </a:t>
            </a:r>
            <a:r>
              <a:rPr lang="en-US" altLang="en-US" sz="1800" i="1" dirty="0" err="1" smtClean="0"/>
              <a:t>R</a:t>
            </a:r>
            <a:r>
              <a:rPr lang="en-US" altLang="en-US" sz="1800" i="1" baseline="-25000" dirty="0" err="1" smtClean="0"/>
              <a:t>j</a:t>
            </a:r>
            <a:endParaRPr lang="en-US" altLang="en-US" sz="1800" i="1" dirty="0" smtClean="0"/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143375" y="14938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latin typeface="Verdana" panose="020B0604030504040204" pitchFamily="34" charset="0"/>
            </a:endParaRP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3876675" y="53165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/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3860800" y="3914775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 i="1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232275" y="2862263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64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5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6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7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8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92650" y="3978275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9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0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1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2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3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5369" name="Line 19"/>
          <p:cNvSpPr>
            <a:spLocks noChangeShapeType="1"/>
          </p:cNvSpPr>
          <p:nvPr/>
        </p:nvSpPr>
        <p:spPr bwMode="auto">
          <a:xfrm>
            <a:off x="4365625" y="41814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0" name="Text Box 20"/>
          <p:cNvSpPr txBox="1">
            <a:spLocks noChangeArrowheads="1"/>
          </p:cNvSpPr>
          <p:nvPr/>
        </p:nvSpPr>
        <p:spPr bwMode="auto">
          <a:xfrm>
            <a:off x="4752975" y="4395788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/>
              <a:t>R</a:t>
            </a:r>
            <a:r>
              <a:rPr kumimoji="0" lang="en-US" altLang="en-US" sz="1400" i="1" baseline="-25000"/>
              <a:t>j</a:t>
            </a:r>
            <a:endParaRPr kumimoji="0" lang="en-US" altLang="en-US" sz="1400" i="1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70425" y="5380038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4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5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6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7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8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5372" name="Line 27"/>
          <p:cNvSpPr>
            <a:spLocks noChangeShapeType="1"/>
          </p:cNvSpPr>
          <p:nvPr/>
        </p:nvSpPr>
        <p:spPr bwMode="auto">
          <a:xfrm flipH="1">
            <a:off x="4343400" y="5526088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3" name="Text Box 28"/>
          <p:cNvSpPr txBox="1">
            <a:spLocks noChangeArrowheads="1"/>
          </p:cNvSpPr>
          <p:nvPr/>
        </p:nvSpPr>
        <p:spPr bwMode="auto">
          <a:xfrm>
            <a:off x="4721225" y="5768975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/>
              <a:t>R</a:t>
            </a:r>
            <a:r>
              <a:rPr kumimoji="0" lang="en-US" altLang="en-US" sz="1400" i="1" baseline="-25000"/>
              <a:t>j</a:t>
            </a:r>
            <a:endParaRPr kumimoji="0" lang="en-US" altLang="en-US" sz="1400" i="1"/>
          </a:p>
        </p:txBody>
      </p:sp>
    </p:spTree>
    <p:extLst>
      <p:ext uri="{BB962C8B-B14F-4D97-AF65-F5344CB8AC3E}">
        <p14:creationId xmlns:p14="http://schemas.microsoft.com/office/powerpoint/2010/main" val="389449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150225" cy="5127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Example of a Resource Allocation Graph</a:t>
            </a:r>
          </a:p>
        </p:txBody>
      </p:sp>
      <p:pic>
        <p:nvPicPr>
          <p:cNvPr id="17411" name="Picture 103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2941638" y="1316038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914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pic>
        <p:nvPicPr>
          <p:cNvPr id="19459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1212850"/>
            <a:ext cx="27813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97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15168" y="304800"/>
            <a:ext cx="7954963" cy="457200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Graph With A Cycle But No Deadlock</a:t>
            </a:r>
          </a:p>
        </p:txBody>
      </p:sp>
      <p:pic>
        <p:nvPicPr>
          <p:cNvPr id="21507" name="Picture 4" descr="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208088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030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Deadlocks :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(A Chanced Event)</a:t>
            </a:r>
          </a:p>
        </p:txBody>
      </p:sp>
      <p:sp>
        <p:nvSpPr>
          <p:cNvPr id="1116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>
                <a:latin typeface="Arial" charset="0"/>
              </a:rPr>
              <a:t>Ordering of resource requests and allocations are probabilistic, thus deadlock occurrence is also probabilistic</a:t>
            </a:r>
          </a:p>
          <a:p>
            <a:endParaRPr lang="en-US" sz="2000">
              <a:latin typeface="Arial" charset="0"/>
            </a:endParaRPr>
          </a:p>
        </p:txBody>
      </p:sp>
      <p:pic>
        <p:nvPicPr>
          <p:cNvPr id="111619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5305425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38400" y="2362200"/>
            <a:ext cx="32766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1621" name="TextBox 6"/>
          <p:cNvSpPr txBox="1">
            <a:spLocks noChangeArrowheads="1"/>
          </p:cNvSpPr>
          <p:nvPr/>
        </p:nvSpPr>
        <p:spPr bwMode="auto">
          <a:xfrm>
            <a:off x="6553200" y="3505200"/>
            <a:ext cx="18907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Deadlock occurs</a:t>
            </a:r>
          </a:p>
          <a:p>
            <a:pPr eaLnBrk="1" hangingPunct="1"/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1126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charset="0"/>
            </a:endParaRPr>
          </a:p>
        </p:txBody>
      </p:sp>
      <p:pic>
        <p:nvPicPr>
          <p:cNvPr id="1126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90800"/>
            <a:ext cx="576262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3514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5" name="TextBox 5"/>
          <p:cNvSpPr txBox="1">
            <a:spLocks noChangeArrowheads="1"/>
          </p:cNvSpPr>
          <p:nvPr/>
        </p:nvSpPr>
        <p:spPr bwMode="auto">
          <a:xfrm>
            <a:off x="6248400" y="1676400"/>
            <a:ext cx="27384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No dead lock occurrence</a:t>
            </a:r>
          </a:p>
          <a:p>
            <a:pPr eaLnBrk="1" hangingPunct="1"/>
            <a:r>
              <a:rPr lang="en-US" sz="1800"/>
              <a:t>(B can be granted S </a:t>
            </a:r>
          </a:p>
          <a:p>
            <a:pPr eaLnBrk="1" hangingPunct="1"/>
            <a:r>
              <a:rPr lang="en-US" sz="1800"/>
              <a:t>  after step q)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Multiple Resources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16" y="1417638"/>
            <a:ext cx="7782967" cy="475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5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Should Deadlocks be handled?</a:t>
            </a:r>
          </a:p>
        </p:txBody>
      </p:sp>
      <p:sp>
        <p:nvSpPr>
          <p:cNvPr id="113666" name="Content Placeholder 2"/>
          <p:cNvSpPr>
            <a:spLocks noGrp="1"/>
          </p:cNvSpPr>
          <p:nvPr>
            <p:ph idx="1"/>
          </p:nvPr>
        </p:nvSpPr>
        <p:spPr>
          <a:xfrm>
            <a:off x="304800" y="1417638"/>
            <a:ext cx="8534400" cy="4525963"/>
          </a:xfrm>
        </p:spPr>
        <p:txBody>
          <a:bodyPr/>
          <a:lstStyle/>
          <a:p>
            <a:r>
              <a:rPr lang="en-US" sz="2800" dirty="0">
                <a:latin typeface="Arial" charset="0"/>
              </a:rPr>
              <a:t>Preventing / detecting deadlocks could be </a:t>
            </a:r>
            <a:r>
              <a:rPr lang="en-US" sz="2800" dirty="0" smtClean="0">
                <a:latin typeface="Arial" charset="0"/>
              </a:rPr>
              <a:t>tedious</a:t>
            </a:r>
          </a:p>
          <a:p>
            <a:pPr marL="0" indent="0">
              <a:buNone/>
            </a:pPr>
            <a:endParaRPr lang="en-US" sz="2800" dirty="0">
              <a:latin typeface="Arial" charset="0"/>
            </a:endParaRPr>
          </a:p>
          <a:p>
            <a:r>
              <a:rPr lang="en-US" sz="2800" dirty="0">
                <a:latin typeface="Arial" charset="0"/>
              </a:rPr>
              <a:t>Can we </a:t>
            </a:r>
            <a:r>
              <a:rPr lang="en-US" sz="2800" dirty="0" smtClean="0">
                <a:latin typeface="Arial" charset="0"/>
              </a:rPr>
              <a:t>ignore deadlocks? </a:t>
            </a:r>
          </a:p>
          <a:p>
            <a:pPr lvl="1"/>
            <a:r>
              <a:rPr lang="en-US" sz="2400" dirty="0" smtClean="0">
                <a:latin typeface="Arial" charset="0"/>
              </a:rPr>
              <a:t>Do not detect </a:t>
            </a:r>
            <a:r>
              <a:rPr lang="en-US" sz="2400" dirty="0">
                <a:latin typeface="Arial" charset="0"/>
              </a:rPr>
              <a:t>/ </a:t>
            </a:r>
            <a:r>
              <a:rPr lang="en-US" sz="2400" dirty="0" smtClean="0">
                <a:latin typeface="Arial" charset="0"/>
              </a:rPr>
              <a:t>prevent </a:t>
            </a:r>
            <a:r>
              <a:rPr lang="en-US" sz="2400" dirty="0">
                <a:latin typeface="Arial" charset="0"/>
              </a:rPr>
              <a:t>deadlocks?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What is the probability of occurrence? </a:t>
            </a:r>
            <a:endParaRPr lang="en-US" sz="1800" dirty="0">
              <a:latin typeface="Arial" charset="0"/>
              <a:cs typeface="Arial" charset="0"/>
            </a:endParaRP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What are the consequences of a deadlock? </a:t>
            </a:r>
            <a:endParaRPr lang="en-US" sz="2400" dirty="0" smtClean="0">
              <a:latin typeface="Arial" charset="0"/>
              <a:cs typeface="Arial" charset="0"/>
            </a:endParaRPr>
          </a:p>
          <a:p>
            <a:pPr lvl="1"/>
            <a:r>
              <a:rPr lang="en-US" sz="2400" dirty="0" smtClean="0">
                <a:latin typeface="Arial" charset="0"/>
                <a:cs typeface="Arial" charset="0"/>
              </a:rPr>
              <a:t>How </a:t>
            </a:r>
            <a:r>
              <a:rPr lang="en-US" sz="2400" dirty="0">
                <a:latin typeface="Arial" charset="0"/>
                <a:cs typeface="Arial" charset="0"/>
              </a:rPr>
              <a:t>critical is a deadlock</a:t>
            </a:r>
            <a:r>
              <a:rPr lang="en-US" sz="2400" dirty="0" smtClean="0">
                <a:latin typeface="Arial" charset="0"/>
                <a:cs typeface="Arial" charset="0"/>
              </a:rPr>
              <a:t>?</a:t>
            </a:r>
          </a:p>
          <a:p>
            <a:pPr lvl="2"/>
            <a:r>
              <a:rPr lang="en-US" sz="2000" dirty="0" smtClean="0">
                <a:latin typeface="Arial" charset="0"/>
                <a:cs typeface="Arial" charset="0"/>
              </a:rPr>
              <a:t>Can we just reboot the system? </a:t>
            </a:r>
          </a:p>
          <a:p>
            <a:pPr lvl="2"/>
            <a:r>
              <a:rPr lang="en-US" sz="2000" dirty="0" smtClean="0">
                <a:latin typeface="Arial" charset="0"/>
                <a:cs typeface="Arial" charset="0"/>
              </a:rPr>
              <a:t>Can we do that always?</a:t>
            </a:r>
          </a:p>
          <a:p>
            <a:pPr lvl="1"/>
            <a:endParaRPr lang="en-US" sz="2400" dirty="0">
              <a:latin typeface="Arial" charset="0"/>
              <a:cs typeface="Arial" charset="0"/>
            </a:endParaRPr>
          </a:p>
          <a:p>
            <a:pPr lvl="1"/>
            <a:endParaRPr lang="en-US" sz="32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Handling Deadlocks</a:t>
            </a:r>
          </a:p>
        </p:txBody>
      </p:sp>
      <p:sp>
        <p:nvSpPr>
          <p:cNvPr id="1146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latin typeface="Arial" charset="0"/>
              </a:rPr>
              <a:t>Detection and </a:t>
            </a:r>
            <a:r>
              <a:rPr lang="en-US" u="sng" dirty="0" smtClean="0">
                <a:latin typeface="Arial" charset="0"/>
              </a:rPr>
              <a:t>Recovery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Prevention</a:t>
            </a:r>
          </a:p>
          <a:p>
            <a:endParaRPr lang="en-US" dirty="0" smtClean="0">
              <a:latin typeface="Arial" charset="0"/>
            </a:endParaRPr>
          </a:p>
          <a:p>
            <a:r>
              <a:rPr lang="en-US" dirty="0" smtClean="0">
                <a:latin typeface="Arial" charset="0"/>
              </a:rPr>
              <a:t>Avoidance</a:t>
            </a:r>
            <a:endParaRPr lang="en-US" dirty="0">
              <a:latin typeface="Arial" charset="0"/>
            </a:endParaRPr>
          </a:p>
          <a:p>
            <a:endParaRPr lang="en-US" dirty="0" smtClean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 detection</a:t>
            </a:r>
          </a:p>
        </p:txBody>
      </p:sp>
      <p:sp>
        <p:nvSpPr>
          <p:cNvPr id="1157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How can an OS detect when there is a deadlock?</a:t>
            </a:r>
          </a:p>
          <a:p>
            <a:r>
              <a:rPr lang="en-US">
                <a:latin typeface="Arial" charset="0"/>
              </a:rPr>
              <a:t>OS needs to keep track of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Current resource allocation </a:t>
            </a:r>
          </a:p>
          <a:p>
            <a:pPr lvl="2"/>
            <a:r>
              <a:rPr lang="en-US">
                <a:latin typeface="Arial" charset="0"/>
                <a:cs typeface="Arial" charset="0"/>
              </a:rPr>
              <a:t>Which process has which resource</a:t>
            </a:r>
          </a:p>
          <a:p>
            <a:pPr lvl="1"/>
            <a:r>
              <a:rPr lang="en-US">
                <a:latin typeface="Arial" charset="0"/>
                <a:cs typeface="Arial" charset="0"/>
              </a:rPr>
              <a:t>Current request allocation</a:t>
            </a:r>
          </a:p>
          <a:p>
            <a:pPr lvl="2"/>
            <a:r>
              <a:rPr lang="en-US">
                <a:latin typeface="Arial" charset="0"/>
                <a:cs typeface="Arial" charset="0"/>
              </a:rPr>
              <a:t>Which process is waiting for which resource</a:t>
            </a:r>
          </a:p>
          <a:p>
            <a:r>
              <a:rPr lang="en-US">
                <a:latin typeface="Arial" charset="0"/>
              </a:rPr>
              <a:t>Use this informaiton to detect deadlocks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Deadlock Detection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IN" sz="2800" dirty="0" smtClean="0"/>
              <a:t>For systems </a:t>
            </a:r>
            <a:r>
              <a:rPr lang="en-US" sz="2800" dirty="0" smtClean="0">
                <a:latin typeface="Arial" charset="0"/>
              </a:rPr>
              <a:t>with </a:t>
            </a:r>
            <a:r>
              <a:rPr lang="en-US" sz="2800" b="1" dirty="0">
                <a:latin typeface="Arial" charset="0"/>
              </a:rPr>
              <a:t>one resource of each </a:t>
            </a:r>
            <a:r>
              <a:rPr lang="en-US" sz="2800" b="1" dirty="0" smtClean="0">
                <a:latin typeface="Arial" charset="0"/>
              </a:rPr>
              <a:t>type, </a:t>
            </a:r>
            <a:r>
              <a:rPr lang="en-US" sz="2800" dirty="0" smtClean="0">
                <a:latin typeface="Arial" charset="0"/>
              </a:rPr>
              <a:t>presence of a cycle in the resource allocation graph is both a necessary and sufficient condition for deadlock to happen</a:t>
            </a: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 smtClean="0">
                <a:latin typeface="Arial" charset="0"/>
              </a:rPr>
              <a:t>For systems with multiple resource instances of a type, </a:t>
            </a:r>
            <a:r>
              <a:rPr lang="en-US" sz="2800" u="sng" dirty="0" smtClean="0">
                <a:latin typeface="Arial" charset="0"/>
              </a:rPr>
              <a:t>possibility</a:t>
            </a:r>
            <a:r>
              <a:rPr lang="en-US" sz="2800" dirty="0" smtClean="0">
                <a:latin typeface="Arial" charset="0"/>
              </a:rPr>
              <a:t> of a deadlock</a:t>
            </a: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 smtClean="0">
                <a:latin typeface="Arial" charset="0"/>
              </a:rPr>
              <a:t>Different algorithm necessary</a:t>
            </a:r>
            <a:endParaRPr lang="en-US" sz="2800" dirty="0">
              <a:latin typeface="Arial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487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Deadlocks</a:t>
            </a:r>
          </a:p>
        </p:txBody>
      </p:sp>
      <p:sp>
        <p:nvSpPr>
          <p:cNvPr id="1095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pPr marL="0" indent="0">
              <a:buNone/>
            </a:pPr>
            <a:endParaRPr lang="en-US" dirty="0" smtClean="0">
              <a:latin typeface="Arial" charset="0"/>
            </a:endParaRPr>
          </a:p>
          <a:p>
            <a:pPr marL="0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38600" y="16002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R1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40386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R2</a:t>
            </a:r>
          </a:p>
        </p:txBody>
      </p:sp>
      <p:sp>
        <p:nvSpPr>
          <p:cNvPr id="6" name="Oval 5"/>
          <p:cNvSpPr/>
          <p:nvPr/>
        </p:nvSpPr>
        <p:spPr>
          <a:xfrm>
            <a:off x="2159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5715000" y="2971800"/>
            <a:ext cx="609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/>
          <p:cNvCxnSpPr>
            <a:endCxn id="6" idx="7"/>
          </p:cNvCxnSpPr>
          <p:nvPr/>
        </p:nvCxnSpPr>
        <p:spPr>
          <a:xfrm rot="10800000" flipV="1">
            <a:off x="2679700" y="2057400"/>
            <a:ext cx="1358900" cy="981075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  <a:endCxn id="5" idx="3"/>
          </p:cNvCxnSpPr>
          <p:nvPr/>
        </p:nvCxnSpPr>
        <p:spPr>
          <a:xfrm rot="5400000">
            <a:off x="4735512" y="3198813"/>
            <a:ext cx="904875" cy="1231900"/>
          </a:xfrm>
          <a:prstGeom prst="straightConnector1">
            <a:avLst/>
          </a:prstGeom>
          <a:ln w="38100">
            <a:solidFill>
              <a:srgbClr val="0000CC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5" idx="1"/>
          </p:cNvCxnSpPr>
          <p:nvPr/>
        </p:nvCxnSpPr>
        <p:spPr>
          <a:xfrm rot="16200000" flipH="1">
            <a:off x="2906712" y="3135313"/>
            <a:ext cx="904875" cy="13589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H="1">
            <a:off x="4799012" y="1830388"/>
            <a:ext cx="904875" cy="13589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579" name="TextBox 17"/>
          <p:cNvSpPr txBox="1">
            <a:spLocks noChangeArrowheads="1"/>
          </p:cNvSpPr>
          <p:nvPr/>
        </p:nvSpPr>
        <p:spPr bwMode="auto">
          <a:xfrm rot="-2219589">
            <a:off x="2471738" y="1957388"/>
            <a:ext cx="1441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A holds </a:t>
            </a:r>
          </a:p>
          <a:p>
            <a:pPr algn="ctr" eaLnBrk="1" hangingPunct="1"/>
            <a:r>
              <a:rPr lang="en-US" sz="1800"/>
              <a:t>resource R1</a:t>
            </a:r>
          </a:p>
        </p:txBody>
      </p:sp>
      <p:sp>
        <p:nvSpPr>
          <p:cNvPr id="109580" name="TextBox 19"/>
          <p:cNvSpPr txBox="1">
            <a:spLocks noChangeArrowheads="1"/>
          </p:cNvSpPr>
          <p:nvPr/>
        </p:nvSpPr>
        <p:spPr bwMode="auto">
          <a:xfrm rot="-2219589">
            <a:off x="4621213" y="3797300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B holds </a:t>
            </a:r>
          </a:p>
          <a:p>
            <a:pPr algn="ctr" eaLnBrk="1" hangingPunct="1"/>
            <a:r>
              <a:rPr lang="en-US" sz="1800"/>
              <a:t>resource R2</a:t>
            </a:r>
          </a:p>
        </p:txBody>
      </p:sp>
      <p:sp>
        <p:nvSpPr>
          <p:cNvPr id="109581" name="TextBox 20"/>
          <p:cNvSpPr txBox="1">
            <a:spLocks noChangeArrowheads="1"/>
          </p:cNvSpPr>
          <p:nvPr/>
        </p:nvSpPr>
        <p:spPr bwMode="auto">
          <a:xfrm rot="1975675">
            <a:off x="4699000" y="1965325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B waits for</a:t>
            </a:r>
          </a:p>
          <a:p>
            <a:pPr algn="ctr" eaLnBrk="1" hangingPunct="1"/>
            <a:r>
              <a:rPr lang="en-US" sz="1800"/>
              <a:t>resource R1</a:t>
            </a:r>
          </a:p>
        </p:txBody>
      </p:sp>
      <p:sp>
        <p:nvSpPr>
          <p:cNvPr id="109582" name="TextBox 21"/>
          <p:cNvSpPr txBox="1">
            <a:spLocks noChangeArrowheads="1"/>
          </p:cNvSpPr>
          <p:nvPr/>
        </p:nvSpPr>
        <p:spPr bwMode="auto">
          <a:xfrm rot="1975675">
            <a:off x="2422525" y="3692525"/>
            <a:ext cx="1441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A waits for</a:t>
            </a:r>
          </a:p>
          <a:p>
            <a:pPr algn="ctr" eaLnBrk="1" hangingPunct="1"/>
            <a:r>
              <a:rPr lang="en-US" sz="1800"/>
              <a:t>resource R2</a:t>
            </a:r>
          </a:p>
        </p:txBody>
      </p:sp>
      <p:sp>
        <p:nvSpPr>
          <p:cNvPr id="109583" name="TextBox 18"/>
          <p:cNvSpPr txBox="1">
            <a:spLocks noChangeArrowheads="1"/>
          </p:cNvSpPr>
          <p:nvPr/>
        </p:nvSpPr>
        <p:spPr bwMode="auto">
          <a:xfrm>
            <a:off x="6096000" y="1447800"/>
            <a:ext cx="293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Resource Allocation Graph</a:t>
            </a:r>
          </a:p>
        </p:txBody>
      </p:sp>
      <p:sp>
        <p:nvSpPr>
          <p:cNvPr id="2" name="Rectangle 1"/>
          <p:cNvSpPr/>
          <p:nvPr/>
        </p:nvSpPr>
        <p:spPr>
          <a:xfrm>
            <a:off x="2463800" y="525088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For systems </a:t>
            </a:r>
            <a:r>
              <a:rPr lang="en-US" dirty="0"/>
              <a:t>with </a:t>
            </a:r>
            <a:r>
              <a:rPr lang="en-US" b="1" dirty="0"/>
              <a:t>one resource of each type, </a:t>
            </a:r>
            <a:r>
              <a:rPr lang="en-US" dirty="0"/>
              <a:t>presence of a cycle in the resource allocation graph is both a necessary and sufficient condition for deadlock to happen</a:t>
            </a:r>
          </a:p>
        </p:txBody>
      </p:sp>
    </p:spTree>
    <p:extLst>
      <p:ext uri="{BB962C8B-B14F-4D97-AF65-F5344CB8AC3E}">
        <p14:creationId xmlns:p14="http://schemas.microsoft.com/office/powerpoint/2010/main" val="401786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pic>
        <p:nvPicPr>
          <p:cNvPr id="19459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1212850"/>
            <a:ext cx="27813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0" y="5486400"/>
            <a:ext cx="533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systems with multiple resource instances of a type, </a:t>
            </a:r>
            <a:r>
              <a:rPr lang="en-US" u="sng" dirty="0"/>
              <a:t>possibility</a:t>
            </a:r>
            <a:r>
              <a:rPr lang="en-US" dirty="0"/>
              <a:t> of a deadlock</a:t>
            </a:r>
          </a:p>
        </p:txBody>
      </p:sp>
    </p:spTree>
    <p:extLst>
      <p:ext uri="{BB962C8B-B14F-4D97-AF65-F5344CB8AC3E}">
        <p14:creationId xmlns:p14="http://schemas.microsoft.com/office/powerpoint/2010/main" val="65248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15168" y="304800"/>
            <a:ext cx="7954963" cy="457200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Graph With A Cycle But No Deadlock</a:t>
            </a:r>
          </a:p>
        </p:txBody>
      </p:sp>
      <p:pic>
        <p:nvPicPr>
          <p:cNvPr id="21507" name="Picture 4" descr="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208088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09800" y="5638800"/>
            <a:ext cx="563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systems with multiple resource instances of a type, </a:t>
            </a:r>
            <a:r>
              <a:rPr lang="en-US" u="sng" dirty="0"/>
              <a:t>possibility</a:t>
            </a:r>
            <a:r>
              <a:rPr lang="en-US" dirty="0"/>
              <a:t> of a deadlock</a:t>
            </a:r>
          </a:p>
        </p:txBody>
      </p:sp>
    </p:spTree>
    <p:extLst>
      <p:ext uri="{BB962C8B-B14F-4D97-AF65-F5344CB8AC3E}">
        <p14:creationId xmlns:p14="http://schemas.microsoft.com/office/powerpoint/2010/main" val="361546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 Detection</a:t>
            </a:r>
          </a:p>
        </p:txBody>
      </p:sp>
      <p:sp>
        <p:nvSpPr>
          <p:cNvPr id="1187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Deadlock detection with multiple resources of each type</a:t>
            </a:r>
          </a:p>
        </p:txBody>
      </p:sp>
      <p:pic>
        <p:nvPicPr>
          <p:cNvPr id="1187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49164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Box 4"/>
          <p:cNvSpPr txBox="1">
            <a:spLocks noChangeArrowheads="1"/>
          </p:cNvSpPr>
          <p:nvPr/>
        </p:nvSpPr>
        <p:spPr bwMode="auto">
          <a:xfrm>
            <a:off x="801688" y="2938463"/>
            <a:ext cx="26590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Existing Resource Vector</a:t>
            </a:r>
          </a:p>
        </p:txBody>
      </p:sp>
      <p:sp>
        <p:nvSpPr>
          <p:cNvPr id="118789" name="TextBox 5"/>
          <p:cNvSpPr txBox="1">
            <a:spLocks noChangeArrowheads="1"/>
          </p:cNvSpPr>
          <p:nvPr/>
        </p:nvSpPr>
        <p:spPr bwMode="auto">
          <a:xfrm>
            <a:off x="3819525" y="2938463"/>
            <a:ext cx="2176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Resources Available</a:t>
            </a:r>
          </a:p>
        </p:txBody>
      </p:sp>
      <p:sp>
        <p:nvSpPr>
          <p:cNvPr id="118790" name="TextBox 6"/>
          <p:cNvSpPr txBox="1">
            <a:spLocks noChangeArrowheads="1"/>
          </p:cNvSpPr>
          <p:nvPr/>
        </p:nvSpPr>
        <p:spPr bwMode="auto">
          <a:xfrm>
            <a:off x="990600" y="5072063"/>
            <a:ext cx="26336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Current Allocation Matrix</a:t>
            </a:r>
          </a:p>
        </p:txBody>
      </p:sp>
      <p:sp>
        <p:nvSpPr>
          <p:cNvPr id="118791" name="TextBox 7"/>
          <p:cNvSpPr txBox="1">
            <a:spLocks noChangeArrowheads="1"/>
          </p:cNvSpPr>
          <p:nvPr/>
        </p:nvSpPr>
        <p:spPr bwMode="auto">
          <a:xfrm>
            <a:off x="4419600" y="5072063"/>
            <a:ext cx="1658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Request Matrix</a:t>
            </a:r>
          </a:p>
        </p:txBody>
      </p:sp>
      <p:sp>
        <p:nvSpPr>
          <p:cNvPr id="118792" name="TextBox 8"/>
          <p:cNvSpPr txBox="1">
            <a:spLocks noChangeArrowheads="1"/>
          </p:cNvSpPr>
          <p:nvPr/>
        </p:nvSpPr>
        <p:spPr bwMode="auto">
          <a:xfrm>
            <a:off x="533400" y="4081463"/>
            <a:ext cx="4238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1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2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3</a:t>
            </a:r>
          </a:p>
        </p:txBody>
      </p:sp>
      <p:sp>
        <p:nvSpPr>
          <p:cNvPr id="118793" name="TextBox 10"/>
          <p:cNvSpPr txBox="1">
            <a:spLocks noChangeArrowheads="1"/>
          </p:cNvSpPr>
          <p:nvPr/>
        </p:nvSpPr>
        <p:spPr bwMode="auto">
          <a:xfrm>
            <a:off x="685800" y="5486400"/>
            <a:ext cx="82296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Process </a:t>
            </a:r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holds </a:t>
            </a:r>
            <a:r>
              <a:rPr lang="en-US" sz="1800">
                <a:solidFill>
                  <a:srgbClr val="0066FF"/>
                </a:solidFill>
              </a:rPr>
              <a:t>C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resources and requests </a:t>
            </a:r>
            <a:r>
              <a:rPr lang="en-US" sz="1800">
                <a:solidFill>
                  <a:srgbClr val="0066FF"/>
                </a:solidFill>
              </a:rPr>
              <a:t>R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resources,  where </a:t>
            </a:r>
            <a:r>
              <a:rPr lang="en-US" sz="1800">
                <a:solidFill>
                  <a:srgbClr val="0066FF"/>
                </a:solidFill>
              </a:rPr>
              <a:t>i = 1 to 3</a:t>
            </a:r>
          </a:p>
          <a:p>
            <a:pPr eaLnBrk="1" hangingPunct="1"/>
            <a:endParaRPr lang="en-US" sz="1800">
              <a:solidFill>
                <a:srgbClr val="0066FF"/>
              </a:solidFill>
            </a:endParaRPr>
          </a:p>
        </p:txBody>
      </p:sp>
      <p:pic>
        <p:nvPicPr>
          <p:cNvPr id="11879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514600"/>
            <a:ext cx="2133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 flipV="1">
            <a:off x="5715000" y="4191000"/>
            <a:ext cx="11430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6" name="TextBox 13"/>
          <p:cNvSpPr txBox="1">
            <a:spLocks noChangeArrowheads="1"/>
          </p:cNvSpPr>
          <p:nvPr/>
        </p:nvSpPr>
        <p:spPr bwMode="auto">
          <a:xfrm>
            <a:off x="6781800" y="3962400"/>
            <a:ext cx="241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1</a:t>
            </a:r>
            <a:r>
              <a:rPr lang="en-US" sz="1800"/>
              <a:t> cannot be satisfied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5715000" y="4572000"/>
            <a:ext cx="11430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98" name="TextBox 15"/>
          <p:cNvSpPr txBox="1">
            <a:spLocks noChangeArrowheads="1"/>
          </p:cNvSpPr>
          <p:nvPr/>
        </p:nvSpPr>
        <p:spPr bwMode="auto">
          <a:xfrm>
            <a:off x="6781800" y="4343400"/>
            <a:ext cx="241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2</a:t>
            </a:r>
            <a:r>
              <a:rPr lang="en-US" sz="1800"/>
              <a:t> cannot be satisfied</a:t>
            </a:r>
          </a:p>
        </p:txBody>
      </p:sp>
      <p:sp>
        <p:nvSpPr>
          <p:cNvPr id="118799" name="TextBox 17"/>
          <p:cNvSpPr txBox="1">
            <a:spLocks noChangeArrowheads="1"/>
          </p:cNvSpPr>
          <p:nvPr/>
        </p:nvSpPr>
        <p:spPr bwMode="auto">
          <a:xfrm>
            <a:off x="6781800" y="4887913"/>
            <a:ext cx="2092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3</a:t>
            </a:r>
            <a:r>
              <a:rPr lang="en-US" sz="1800"/>
              <a:t> can be satisfied</a:t>
            </a:r>
          </a:p>
        </p:txBody>
      </p:sp>
      <p:cxnSp>
        <p:nvCxnSpPr>
          <p:cNvPr id="20" name="Straight Connector 19"/>
          <p:cNvCxnSpPr>
            <a:endCxn id="118799" idx="1"/>
          </p:cNvCxnSpPr>
          <p:nvPr/>
        </p:nvCxnSpPr>
        <p:spPr>
          <a:xfrm>
            <a:off x="5715000" y="5029200"/>
            <a:ext cx="1066800" cy="428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 Detection</a:t>
            </a:r>
          </a:p>
        </p:txBody>
      </p:sp>
      <p:sp>
        <p:nvSpPr>
          <p:cNvPr id="1198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Deadlock detection with multiple resources of each type</a:t>
            </a:r>
          </a:p>
        </p:txBody>
      </p:sp>
      <p:pic>
        <p:nvPicPr>
          <p:cNvPr id="1198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981200"/>
            <a:ext cx="491648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2" name="TextBox 4"/>
          <p:cNvSpPr txBox="1">
            <a:spLocks noChangeArrowheads="1"/>
          </p:cNvSpPr>
          <p:nvPr/>
        </p:nvSpPr>
        <p:spPr bwMode="auto">
          <a:xfrm>
            <a:off x="1447800" y="2938463"/>
            <a:ext cx="26590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Existing Resource Vector</a:t>
            </a:r>
          </a:p>
        </p:txBody>
      </p:sp>
      <p:sp>
        <p:nvSpPr>
          <p:cNvPr id="119813" name="TextBox 5"/>
          <p:cNvSpPr txBox="1">
            <a:spLocks noChangeArrowheads="1"/>
          </p:cNvSpPr>
          <p:nvPr/>
        </p:nvSpPr>
        <p:spPr bwMode="auto">
          <a:xfrm>
            <a:off x="4465638" y="2938463"/>
            <a:ext cx="21764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Resources Available</a:t>
            </a:r>
          </a:p>
        </p:txBody>
      </p:sp>
      <p:sp>
        <p:nvSpPr>
          <p:cNvPr id="119814" name="TextBox 6"/>
          <p:cNvSpPr txBox="1">
            <a:spLocks noChangeArrowheads="1"/>
          </p:cNvSpPr>
          <p:nvPr/>
        </p:nvSpPr>
        <p:spPr bwMode="auto">
          <a:xfrm>
            <a:off x="1636713" y="5072063"/>
            <a:ext cx="26336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Current Allocation Matrix</a:t>
            </a:r>
          </a:p>
        </p:txBody>
      </p:sp>
      <p:sp>
        <p:nvSpPr>
          <p:cNvPr id="119815" name="TextBox 7"/>
          <p:cNvSpPr txBox="1">
            <a:spLocks noChangeArrowheads="1"/>
          </p:cNvSpPr>
          <p:nvPr/>
        </p:nvSpPr>
        <p:spPr bwMode="auto">
          <a:xfrm>
            <a:off x="5065713" y="5072063"/>
            <a:ext cx="16589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Request Matrix</a:t>
            </a:r>
          </a:p>
        </p:txBody>
      </p:sp>
      <p:sp>
        <p:nvSpPr>
          <p:cNvPr id="119816" name="TextBox 8"/>
          <p:cNvSpPr txBox="1">
            <a:spLocks noChangeArrowheads="1"/>
          </p:cNvSpPr>
          <p:nvPr/>
        </p:nvSpPr>
        <p:spPr bwMode="auto">
          <a:xfrm>
            <a:off x="1524000" y="3886200"/>
            <a:ext cx="4238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1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2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3</a:t>
            </a:r>
          </a:p>
        </p:txBody>
      </p:sp>
      <p:sp>
        <p:nvSpPr>
          <p:cNvPr id="119817" name="TextBox 17"/>
          <p:cNvSpPr txBox="1">
            <a:spLocks noChangeArrowheads="1"/>
          </p:cNvSpPr>
          <p:nvPr/>
        </p:nvSpPr>
        <p:spPr bwMode="auto">
          <a:xfrm>
            <a:off x="914400" y="5602288"/>
            <a:ext cx="68580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P</a:t>
            </a:r>
            <a:r>
              <a:rPr lang="en-US" sz="1800" baseline="-25000" dirty="0"/>
              <a:t>3</a:t>
            </a:r>
            <a:r>
              <a:rPr lang="en-US" sz="1800" dirty="0"/>
              <a:t> runs and its allocation is (2, 2, 2, 0)</a:t>
            </a:r>
          </a:p>
          <a:p>
            <a:pPr eaLnBrk="1" hangingPunct="1"/>
            <a:r>
              <a:rPr lang="en-US" sz="1800" dirty="0"/>
              <a:t>On completion it returns the available resources </a:t>
            </a:r>
            <a:r>
              <a:rPr lang="en-US" sz="1800" dirty="0" smtClean="0"/>
              <a:t>A </a:t>
            </a:r>
            <a:r>
              <a:rPr lang="en-US" sz="1800" dirty="0"/>
              <a:t>= </a:t>
            </a:r>
            <a:r>
              <a:rPr lang="en-US" sz="1800" dirty="0" smtClean="0"/>
              <a:t>(2 </a:t>
            </a:r>
            <a:r>
              <a:rPr lang="en-US" sz="1800" dirty="0"/>
              <a:t>2 2 </a:t>
            </a:r>
            <a:r>
              <a:rPr lang="en-US" sz="1800" dirty="0" smtClean="0"/>
              <a:t>0)</a:t>
            </a:r>
            <a:endParaRPr lang="en-US" sz="1800" dirty="0"/>
          </a:p>
          <a:p>
            <a:pPr eaLnBrk="1" hangingPunct="1"/>
            <a:r>
              <a:rPr lang="en-US" sz="1800" dirty="0" smtClean="0"/>
              <a:t>P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</a:t>
            </a:r>
            <a:r>
              <a:rPr lang="en-US" sz="1800" dirty="0"/>
              <a:t>can now run.</a:t>
            </a:r>
          </a:p>
          <a:p>
            <a:pPr eaLnBrk="1" hangingPunct="1"/>
            <a:r>
              <a:rPr lang="en-US" sz="1800" b="1" dirty="0">
                <a:solidFill>
                  <a:srgbClr val="FF0000"/>
                </a:solidFill>
              </a:rPr>
              <a:t>NO Deadlock!!!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 Detection</a:t>
            </a:r>
          </a:p>
        </p:txBody>
      </p:sp>
      <p:sp>
        <p:nvSpPr>
          <p:cNvPr id="1208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Deadlock detection with multiple resources of each type</a:t>
            </a:r>
          </a:p>
        </p:txBody>
      </p:sp>
      <p:pic>
        <p:nvPicPr>
          <p:cNvPr id="1208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49164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TextBox 4"/>
          <p:cNvSpPr txBox="1">
            <a:spLocks noChangeArrowheads="1"/>
          </p:cNvSpPr>
          <p:nvPr/>
        </p:nvSpPr>
        <p:spPr bwMode="auto">
          <a:xfrm>
            <a:off x="801688" y="2938463"/>
            <a:ext cx="26590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Existing Resource Vector</a:t>
            </a:r>
          </a:p>
        </p:txBody>
      </p:sp>
      <p:sp>
        <p:nvSpPr>
          <p:cNvPr id="120837" name="TextBox 5"/>
          <p:cNvSpPr txBox="1">
            <a:spLocks noChangeArrowheads="1"/>
          </p:cNvSpPr>
          <p:nvPr/>
        </p:nvSpPr>
        <p:spPr bwMode="auto">
          <a:xfrm>
            <a:off x="3819525" y="2938463"/>
            <a:ext cx="21764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Resources Available</a:t>
            </a:r>
          </a:p>
        </p:txBody>
      </p:sp>
      <p:sp>
        <p:nvSpPr>
          <p:cNvPr id="120838" name="TextBox 6"/>
          <p:cNvSpPr txBox="1">
            <a:spLocks noChangeArrowheads="1"/>
          </p:cNvSpPr>
          <p:nvPr/>
        </p:nvSpPr>
        <p:spPr bwMode="auto">
          <a:xfrm>
            <a:off x="990600" y="5072063"/>
            <a:ext cx="26336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Current Allocation Matrix</a:t>
            </a:r>
          </a:p>
        </p:txBody>
      </p:sp>
      <p:sp>
        <p:nvSpPr>
          <p:cNvPr id="120839" name="TextBox 7"/>
          <p:cNvSpPr txBox="1">
            <a:spLocks noChangeArrowheads="1"/>
          </p:cNvSpPr>
          <p:nvPr/>
        </p:nvSpPr>
        <p:spPr bwMode="auto">
          <a:xfrm>
            <a:off x="4419600" y="5072063"/>
            <a:ext cx="1658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66FF"/>
                </a:solidFill>
              </a:rPr>
              <a:t>Request Matrix</a:t>
            </a:r>
          </a:p>
        </p:txBody>
      </p:sp>
      <p:sp>
        <p:nvSpPr>
          <p:cNvPr id="120840" name="TextBox 8"/>
          <p:cNvSpPr txBox="1">
            <a:spLocks noChangeArrowheads="1"/>
          </p:cNvSpPr>
          <p:nvPr/>
        </p:nvSpPr>
        <p:spPr bwMode="auto">
          <a:xfrm>
            <a:off x="533400" y="4081463"/>
            <a:ext cx="4238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1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2</a:t>
            </a:r>
          </a:p>
          <a:p>
            <a:pPr eaLnBrk="1" hangingPunct="1"/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3</a:t>
            </a:r>
          </a:p>
        </p:txBody>
      </p:sp>
      <p:sp>
        <p:nvSpPr>
          <p:cNvPr id="120841" name="TextBox 10"/>
          <p:cNvSpPr txBox="1">
            <a:spLocks noChangeArrowheads="1"/>
          </p:cNvSpPr>
          <p:nvPr/>
        </p:nvSpPr>
        <p:spPr bwMode="auto">
          <a:xfrm>
            <a:off x="685800" y="5486400"/>
            <a:ext cx="822960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Process </a:t>
            </a:r>
            <a:r>
              <a:rPr lang="en-US" sz="1800">
                <a:solidFill>
                  <a:srgbClr val="0066FF"/>
                </a:solidFill>
              </a:rPr>
              <a:t>P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holds </a:t>
            </a:r>
            <a:r>
              <a:rPr lang="en-US" sz="1800">
                <a:solidFill>
                  <a:srgbClr val="0066FF"/>
                </a:solidFill>
              </a:rPr>
              <a:t>C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resources and requests </a:t>
            </a:r>
            <a:r>
              <a:rPr lang="en-US" sz="1800">
                <a:solidFill>
                  <a:srgbClr val="0066FF"/>
                </a:solidFill>
              </a:rPr>
              <a:t>R</a:t>
            </a:r>
            <a:r>
              <a:rPr lang="en-US" sz="1800" baseline="-25000">
                <a:solidFill>
                  <a:srgbClr val="0066FF"/>
                </a:solidFill>
              </a:rPr>
              <a:t>i</a:t>
            </a:r>
            <a:r>
              <a:rPr lang="en-US" sz="1800"/>
              <a:t> resources,  where </a:t>
            </a:r>
            <a:r>
              <a:rPr lang="en-US" sz="1800">
                <a:solidFill>
                  <a:srgbClr val="0066FF"/>
                </a:solidFill>
              </a:rPr>
              <a:t>i = 1 to 3</a:t>
            </a:r>
          </a:p>
          <a:p>
            <a:pPr eaLnBrk="1" hangingPunct="1"/>
            <a:r>
              <a:rPr lang="en-US" sz="1800">
                <a:solidFill>
                  <a:srgbClr val="FF0000"/>
                </a:solidFill>
              </a:rPr>
              <a:t>Deadlock detected as none of the requests can be satisfied</a:t>
            </a:r>
          </a:p>
        </p:txBody>
      </p:sp>
      <p:pic>
        <p:nvPicPr>
          <p:cNvPr id="12084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514600"/>
            <a:ext cx="21336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 flipV="1">
            <a:off x="5715000" y="4191000"/>
            <a:ext cx="11430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44" name="TextBox 13"/>
          <p:cNvSpPr txBox="1">
            <a:spLocks noChangeArrowheads="1"/>
          </p:cNvSpPr>
          <p:nvPr/>
        </p:nvSpPr>
        <p:spPr bwMode="auto">
          <a:xfrm>
            <a:off x="6781800" y="3962400"/>
            <a:ext cx="241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1</a:t>
            </a:r>
            <a:r>
              <a:rPr lang="en-US" sz="1800"/>
              <a:t> cannot be satisfied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5715000" y="4572000"/>
            <a:ext cx="11430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46" name="TextBox 15"/>
          <p:cNvSpPr txBox="1">
            <a:spLocks noChangeArrowheads="1"/>
          </p:cNvSpPr>
          <p:nvPr/>
        </p:nvSpPr>
        <p:spPr bwMode="auto">
          <a:xfrm>
            <a:off x="6781800" y="4343400"/>
            <a:ext cx="241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2</a:t>
            </a:r>
            <a:r>
              <a:rPr lang="en-US" sz="1800"/>
              <a:t> cannot be satisfied</a:t>
            </a:r>
          </a:p>
        </p:txBody>
      </p:sp>
      <p:sp>
        <p:nvSpPr>
          <p:cNvPr id="120847" name="TextBox 17"/>
          <p:cNvSpPr txBox="1">
            <a:spLocks noChangeArrowheads="1"/>
          </p:cNvSpPr>
          <p:nvPr/>
        </p:nvSpPr>
        <p:spPr bwMode="auto">
          <a:xfrm>
            <a:off x="6781800" y="4887913"/>
            <a:ext cx="2413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P</a:t>
            </a:r>
            <a:r>
              <a:rPr lang="en-US" sz="1800" baseline="-25000"/>
              <a:t>3</a:t>
            </a:r>
            <a:r>
              <a:rPr lang="en-US" sz="1800"/>
              <a:t> cannot be satisfied</a:t>
            </a:r>
          </a:p>
          <a:p>
            <a:pPr eaLnBrk="1" hangingPunct="1"/>
            <a:r>
              <a:rPr lang="en-US" sz="1800" b="1"/>
              <a:t>deadlock</a:t>
            </a:r>
          </a:p>
        </p:txBody>
      </p:sp>
      <p:cxnSp>
        <p:nvCxnSpPr>
          <p:cNvPr id="20" name="Straight Connector 19"/>
          <p:cNvCxnSpPr>
            <a:endCxn id="120847" idx="1"/>
          </p:cNvCxnSpPr>
          <p:nvPr/>
        </p:nvCxnSpPr>
        <p:spPr>
          <a:xfrm>
            <a:off x="5715000" y="5029200"/>
            <a:ext cx="1066800" cy="18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97425" y="4884738"/>
            <a:ext cx="898525" cy="215900"/>
          </a:xfrm>
          <a:prstGeom prst="rect">
            <a:avLst/>
          </a:prstGeom>
          <a:solidFill>
            <a:schemeClr val="accent3"/>
          </a:solidFill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400" dirty="0">
                <a:ea typeface="+mn-ea"/>
                <a:cs typeface="Arial" charset="0"/>
              </a:rPr>
              <a:t>2   1    1   0</a:t>
            </a:r>
            <a:endParaRPr lang="en-US" dirty="0"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Deadlock Recovery</a:t>
            </a:r>
          </a:p>
        </p:txBody>
      </p:sp>
      <p:sp>
        <p:nvSpPr>
          <p:cNvPr id="1218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>
                <a:solidFill>
                  <a:srgbClr val="0000CC"/>
                </a:solidFill>
                <a:latin typeface="Arial" charset="0"/>
              </a:rPr>
              <a:t>What should the OS do when it detects a deadlock?</a:t>
            </a:r>
          </a:p>
          <a:p>
            <a:r>
              <a:rPr lang="en-US" sz="2400" dirty="0">
                <a:solidFill>
                  <a:srgbClr val="0000CC"/>
                </a:solidFill>
                <a:latin typeface="Arial" charset="0"/>
              </a:rPr>
              <a:t>Raise an alarm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Tell users and administrator</a:t>
            </a:r>
          </a:p>
          <a:p>
            <a:r>
              <a:rPr lang="en-US" sz="2400" dirty="0">
                <a:solidFill>
                  <a:srgbClr val="3333FF"/>
                </a:solidFill>
                <a:latin typeface="Arial" charset="0"/>
              </a:rPr>
              <a:t>Preemption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Take away a resource temporarily (frequently not possible)</a:t>
            </a:r>
          </a:p>
          <a:p>
            <a:r>
              <a:rPr lang="en-US" sz="2400" dirty="0">
                <a:solidFill>
                  <a:srgbClr val="0000CC"/>
                </a:solidFill>
                <a:latin typeface="Arial" charset="0"/>
              </a:rPr>
              <a:t>Rollback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Checkpoint states and then rollback</a:t>
            </a:r>
          </a:p>
          <a:p>
            <a:r>
              <a:rPr lang="en-US" sz="2400" dirty="0">
                <a:solidFill>
                  <a:srgbClr val="0000CC"/>
                </a:solidFill>
                <a:latin typeface="Arial" charset="0"/>
              </a:rPr>
              <a:t>Kill low priority process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Keep killing processes until deadlock </a:t>
            </a:r>
            <a:endParaRPr lang="en-US" sz="2000" dirty="0" smtClean="0">
              <a:latin typeface="Arial" charset="0"/>
              <a:cs typeface="Arial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Arial" charset="0"/>
                <a:cs typeface="Arial" charset="0"/>
              </a:rPr>
              <a:t> </a:t>
            </a:r>
            <a:r>
              <a:rPr lang="en-US" sz="2000" dirty="0" smtClean="0">
                <a:latin typeface="Arial" charset="0"/>
                <a:cs typeface="Arial" charset="0"/>
              </a:rPr>
              <a:t>    is </a:t>
            </a:r>
            <a:r>
              <a:rPr lang="en-US" sz="2000" dirty="0">
                <a:latin typeface="Arial" charset="0"/>
                <a:cs typeface="Arial" charset="0"/>
              </a:rPr>
              <a:t>broken</a:t>
            </a:r>
          </a:p>
          <a:p>
            <a:pPr lvl="1"/>
            <a:r>
              <a:rPr lang="en-US" sz="2000" dirty="0">
                <a:latin typeface="Arial" charset="0"/>
                <a:cs typeface="Arial" charset="0"/>
              </a:rPr>
              <a:t>(or reset the entire system)</a:t>
            </a:r>
          </a:p>
          <a:p>
            <a:pPr lvl="1"/>
            <a:endParaRPr lang="en-US" sz="2000" dirty="0">
              <a:latin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708037"/>
            <a:ext cx="2857899" cy="2600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Handling Deadlocks</a:t>
            </a:r>
          </a:p>
        </p:txBody>
      </p:sp>
      <p:sp>
        <p:nvSpPr>
          <p:cNvPr id="1146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Detection and </a:t>
            </a:r>
            <a:r>
              <a:rPr lang="en-US" dirty="0" smtClean="0">
                <a:latin typeface="Arial" charset="0"/>
              </a:rPr>
              <a:t>Recovery</a:t>
            </a:r>
          </a:p>
          <a:p>
            <a:endParaRPr lang="en-US" dirty="0">
              <a:latin typeface="Arial" charset="0"/>
            </a:endParaRPr>
          </a:p>
          <a:p>
            <a:r>
              <a:rPr lang="en-US" u="sng" dirty="0">
                <a:latin typeface="Arial" charset="0"/>
              </a:rPr>
              <a:t>Prevention</a:t>
            </a:r>
          </a:p>
          <a:p>
            <a:endParaRPr lang="en-US" dirty="0" smtClean="0">
              <a:latin typeface="Arial" charset="0"/>
            </a:endParaRPr>
          </a:p>
          <a:p>
            <a:r>
              <a:rPr lang="en-US" dirty="0" smtClean="0">
                <a:latin typeface="Arial" charset="0"/>
              </a:rPr>
              <a:t>Avoidance</a:t>
            </a:r>
            <a:endParaRPr lang="en-US" dirty="0">
              <a:latin typeface="Arial" charset="0"/>
            </a:endParaRPr>
          </a:p>
          <a:p>
            <a:endParaRPr lang="en-US" dirty="0" smtClean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24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4" y="1219200"/>
            <a:ext cx="8655485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Ensure(s</a:t>
            </a:r>
            <a:r>
              <a:rPr lang="en-US" sz="2400" dirty="0"/>
              <a:t>) that at least one </a:t>
            </a:r>
            <a:r>
              <a:rPr lang="en-US" sz="2400" dirty="0" smtClean="0"/>
              <a:t>of the </a:t>
            </a:r>
            <a:r>
              <a:rPr lang="en-US" sz="2400" dirty="0"/>
              <a:t>necessary conditions does not </a:t>
            </a:r>
            <a:r>
              <a:rPr lang="en-US" sz="2400" dirty="0" smtClean="0"/>
              <a:t>hold</a:t>
            </a:r>
          </a:p>
          <a:p>
            <a:pPr marL="0" indent="0">
              <a:buNone/>
            </a:pPr>
            <a:endParaRPr lang="en-US" sz="1600" b="1" dirty="0" smtClean="0">
              <a:solidFill>
                <a:srgbClr val="0066FF"/>
              </a:solidFill>
              <a:ea typeface="+mn-ea"/>
            </a:endParaRPr>
          </a:p>
          <a:p>
            <a:pPr marL="571500" indent="-514350">
              <a:buFontTx/>
              <a:buAutoNum type="arabicPeriod"/>
              <a:defRPr/>
            </a:pPr>
            <a:r>
              <a:rPr lang="en-US" sz="2400" b="1" dirty="0" smtClean="0">
                <a:solidFill>
                  <a:srgbClr val="0066FF"/>
                </a:solidFill>
                <a:ea typeface="+mn-ea"/>
              </a:rPr>
              <a:t>Preventing Mutual Exclusion </a:t>
            </a:r>
          </a:p>
          <a:p>
            <a:pPr marL="971550" lvl="1" indent="-514350">
              <a:defRPr/>
            </a:pPr>
            <a:r>
              <a:rPr lang="en-US" sz="1800" dirty="0" smtClean="0"/>
              <a:t>Not feasible in practice</a:t>
            </a:r>
          </a:p>
          <a:p>
            <a:pPr marL="971550" lvl="1" indent="-514350">
              <a:defRPr/>
            </a:pPr>
            <a:r>
              <a:rPr lang="en-US" sz="1800" dirty="0" smtClean="0"/>
              <a:t>But OS can ensure that resources are optimally allocated</a:t>
            </a:r>
          </a:p>
          <a:p>
            <a:pPr marL="457200" lvl="1" indent="0">
              <a:buNone/>
              <a:defRPr/>
            </a:pPr>
            <a:endParaRPr lang="en-US" sz="1800" dirty="0" smtClean="0"/>
          </a:p>
          <a:p>
            <a:pPr marL="571500" indent="-514350">
              <a:buFontTx/>
              <a:buAutoNum type="arabicPeriod"/>
              <a:defRPr/>
            </a:pPr>
            <a:r>
              <a:rPr lang="en-US" sz="2400" b="1" dirty="0" smtClean="0">
                <a:solidFill>
                  <a:srgbClr val="0066FF"/>
                </a:solidFill>
                <a:ea typeface="+mn-ea"/>
              </a:rPr>
              <a:t>Hold and wait</a:t>
            </a:r>
          </a:p>
          <a:p>
            <a:pPr marL="971550" lvl="1" indent="-514350">
              <a:defRPr/>
            </a:pPr>
            <a:r>
              <a:rPr lang="en-US" sz="2000" dirty="0" smtClean="0"/>
              <a:t>One way is to achieve this is to require all processes to request resources before starting execution</a:t>
            </a:r>
          </a:p>
          <a:p>
            <a:pPr marL="971550" lvl="1" indent="-514350">
              <a:defRPr/>
            </a:pPr>
            <a:r>
              <a:rPr lang="en-US" altLang="en-US" sz="2000" dirty="0" smtClean="0"/>
              <a:t>Alternative: </a:t>
            </a:r>
            <a:r>
              <a:rPr lang="en-US" altLang="en-US" sz="2400" dirty="0" smtClean="0"/>
              <a:t>whenever </a:t>
            </a:r>
            <a:r>
              <a:rPr lang="en-US" altLang="en-US" sz="2400" dirty="0"/>
              <a:t>a process requests a resource, it does not hold any other </a:t>
            </a:r>
            <a:r>
              <a:rPr lang="en-US" altLang="en-US" sz="2400" dirty="0" smtClean="0"/>
              <a:t>resources</a:t>
            </a:r>
          </a:p>
          <a:p>
            <a:pPr marL="971550" lvl="1" indent="-514350">
              <a:defRPr/>
            </a:pPr>
            <a:r>
              <a:rPr lang="en-US" altLang="en-US" sz="2000" dirty="0" smtClean="0"/>
              <a:t>Require </a:t>
            </a:r>
            <a:r>
              <a:rPr lang="en-US" altLang="en-US" sz="2000" dirty="0"/>
              <a:t>process to request and be allocated all its resources before it begins execution, or allow process to request resources only when the process has none allocated to it.</a:t>
            </a:r>
          </a:p>
          <a:p>
            <a:pPr marL="971550" lvl="1" indent="-514350"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135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655485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Ensure(s</a:t>
            </a:r>
            <a:r>
              <a:rPr lang="en-US" sz="2400" dirty="0"/>
              <a:t>) that at least one </a:t>
            </a:r>
            <a:r>
              <a:rPr lang="en-US" sz="2400" dirty="0" smtClean="0"/>
              <a:t>of the </a:t>
            </a:r>
            <a:r>
              <a:rPr lang="en-US" sz="2400" dirty="0"/>
              <a:t>necessary conditions does not hold</a:t>
            </a:r>
            <a:endParaRPr lang="en-US" sz="1600" b="1" dirty="0" smtClean="0">
              <a:solidFill>
                <a:srgbClr val="0066FF"/>
              </a:solidFill>
              <a:ea typeface="+mn-ea"/>
            </a:endParaRPr>
          </a:p>
          <a:p>
            <a:pPr marL="571500" indent="-514350">
              <a:buFontTx/>
              <a:buAutoNum type="arabicPeriod"/>
              <a:defRPr/>
            </a:pPr>
            <a:endParaRPr lang="en-US" sz="2000" b="1" dirty="0" smtClean="0">
              <a:solidFill>
                <a:srgbClr val="0066FF"/>
              </a:solidFill>
              <a:ea typeface="+mn-ea"/>
            </a:endParaRPr>
          </a:p>
          <a:p>
            <a:pPr marL="571500" indent="-514350">
              <a:buFont typeface="+mj-lt"/>
              <a:buAutoNum type="arabicPeriod" startAt="3"/>
              <a:defRPr/>
            </a:pPr>
            <a:r>
              <a:rPr lang="en-US" sz="2000" b="1" dirty="0" smtClean="0">
                <a:solidFill>
                  <a:srgbClr val="0066FF"/>
                </a:solidFill>
                <a:ea typeface="+mn-ea"/>
              </a:rPr>
              <a:t>No preemption</a:t>
            </a:r>
          </a:p>
          <a:p>
            <a:pPr marL="971550" lvl="1" indent="-514350">
              <a:defRPr/>
            </a:pPr>
            <a:r>
              <a:rPr lang="en-US" sz="2000" dirty="0" smtClean="0"/>
              <a:t>Pre-empt the processes, such as by virtualization of resources</a:t>
            </a:r>
          </a:p>
          <a:p>
            <a:pPr marL="971550" lvl="1" indent="-514350">
              <a:defRPr/>
            </a:pPr>
            <a:r>
              <a:rPr lang="en-US" altLang="en-US" sz="2000" dirty="0" smtClean="0"/>
              <a:t>Resources held by Preempted processes </a:t>
            </a:r>
            <a:r>
              <a:rPr lang="en-US" altLang="en-US" sz="2000" dirty="0"/>
              <a:t>are added to the list of resources for which the process is </a:t>
            </a:r>
            <a:r>
              <a:rPr lang="en-US" altLang="en-US" sz="2000" dirty="0" smtClean="0"/>
              <a:t>waiting</a:t>
            </a:r>
            <a:endParaRPr lang="en-US" sz="2000" dirty="0" smtClean="0"/>
          </a:p>
          <a:p>
            <a:pPr marL="571500" indent="-514350">
              <a:buFontTx/>
              <a:buAutoNum type="arabicPeriod" startAt="3"/>
              <a:defRPr/>
            </a:pPr>
            <a:endParaRPr lang="en-US" sz="2000" b="1" dirty="0" smtClean="0">
              <a:solidFill>
                <a:srgbClr val="0066FF"/>
              </a:solidFill>
              <a:ea typeface="+mn-ea"/>
            </a:endParaRPr>
          </a:p>
          <a:p>
            <a:pPr marL="571500" indent="-514350">
              <a:buFontTx/>
              <a:buAutoNum type="arabicPeriod" startAt="3"/>
              <a:defRPr/>
            </a:pPr>
            <a:r>
              <a:rPr lang="en-US" sz="2000" b="1" dirty="0" smtClean="0">
                <a:solidFill>
                  <a:srgbClr val="0066FF"/>
                </a:solidFill>
                <a:ea typeface="+mn-ea"/>
              </a:rPr>
              <a:t>Circular wait</a:t>
            </a:r>
          </a:p>
          <a:p>
            <a:pPr marL="971550" lvl="1" indent="-514350">
              <a:defRPr/>
            </a:pPr>
            <a:r>
              <a:rPr lang="en-US" sz="2000" dirty="0" smtClean="0"/>
              <a:t>One way, process holding a resource cannot hold a resource and request for another one</a:t>
            </a:r>
          </a:p>
          <a:p>
            <a:pPr marL="971550" lvl="1" indent="-514350">
              <a:defRPr/>
            </a:pPr>
            <a:r>
              <a:rPr lang="en-US" sz="2000" dirty="0" smtClean="0"/>
              <a:t>Alternative: Resources types are ordered. Processes </a:t>
            </a:r>
            <a:r>
              <a:rPr lang="en-US" sz="2000" dirty="0"/>
              <a:t>must </a:t>
            </a:r>
            <a:r>
              <a:rPr lang="en-US" sz="2000" dirty="0" smtClean="0"/>
              <a:t>request </a:t>
            </a:r>
            <a:r>
              <a:rPr lang="en-US" sz="2000" dirty="0"/>
              <a:t>resources in increasing order</a:t>
            </a:r>
          </a:p>
        </p:txBody>
      </p:sp>
    </p:spTree>
    <p:extLst>
      <p:ext uri="{BB962C8B-B14F-4D97-AF65-F5344CB8AC3E}">
        <p14:creationId xmlns:p14="http://schemas.microsoft.com/office/powerpoint/2010/main" val="17492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6938962" cy="3822700"/>
          </a:xfrm>
        </p:spPr>
        <p:txBody>
          <a:bodyPr/>
          <a:lstStyle/>
          <a:p>
            <a:r>
              <a:rPr lang="en-US" altLang="en-US" sz="2400" b="1" dirty="0" smtClean="0"/>
              <a:t>Hold and Wait</a:t>
            </a:r>
            <a:r>
              <a:rPr lang="en-US" altLang="en-US" sz="2400" dirty="0" smtClean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sz="2400" dirty="0" smtClean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sz="2400" dirty="0" smtClean="0"/>
              <a:t>Low resource utilization; starvation possible</a:t>
            </a:r>
          </a:p>
        </p:txBody>
      </p:sp>
      <p:sp>
        <p:nvSpPr>
          <p:cNvPr id="29700" name="Text Box 1028"/>
          <p:cNvSpPr txBox="1">
            <a:spLocks noChangeArrowheads="1"/>
          </p:cNvSpPr>
          <p:nvPr/>
        </p:nvSpPr>
        <p:spPr bwMode="auto">
          <a:xfrm>
            <a:off x="152400" y="1021060"/>
            <a:ext cx="56108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Restrain the ways request can be made</a:t>
            </a:r>
          </a:p>
        </p:txBody>
      </p:sp>
      <p:pic>
        <p:nvPicPr>
          <p:cNvPr id="29701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175" y="2465388"/>
            <a:ext cx="1927225" cy="284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01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34374</TotalTime>
  <Words>1092</Words>
  <Application>Microsoft Office PowerPoint</Application>
  <PresentationFormat>On-screen Show (4:3)</PresentationFormat>
  <Paragraphs>254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MS PGothic</vt:lpstr>
      <vt:lpstr>MS PGothic</vt:lpstr>
      <vt:lpstr>Arial</vt:lpstr>
      <vt:lpstr>Cambria</vt:lpstr>
      <vt:lpstr>Helvetica</vt:lpstr>
      <vt:lpstr>Monotype Sorts</vt:lpstr>
      <vt:lpstr>Symbol</vt:lpstr>
      <vt:lpstr>Times New Roman</vt:lpstr>
      <vt:lpstr>Verdana</vt:lpstr>
      <vt:lpstr>Webdings</vt:lpstr>
      <vt:lpstr>Default Design</vt:lpstr>
      <vt:lpstr>Deadlocks</vt:lpstr>
      <vt:lpstr>Dining Philosopher</vt:lpstr>
      <vt:lpstr>Deadlocks</vt:lpstr>
      <vt:lpstr>Deadlocks</vt:lpstr>
      <vt:lpstr>System Model</vt:lpstr>
      <vt:lpstr>Conditions for Resource Deadlocks</vt:lpstr>
      <vt:lpstr>Resource-Allocation Graph</vt:lpstr>
      <vt:lpstr>Resource-Allocation Graph</vt:lpstr>
      <vt:lpstr>Example of a Resource Allocation Graph</vt:lpstr>
      <vt:lpstr>Resource Allocation Graph With A Deadlock</vt:lpstr>
      <vt:lpstr>Graph With A Cycle But No Deadlock</vt:lpstr>
      <vt:lpstr>Deadlocks : (A Chanced Event)</vt:lpstr>
      <vt:lpstr>PowerPoint Presentation</vt:lpstr>
      <vt:lpstr>Multiple Resources</vt:lpstr>
      <vt:lpstr>Should Deadlocks be handled?</vt:lpstr>
      <vt:lpstr>Handling Deadlocks</vt:lpstr>
      <vt:lpstr>Deadlock detection</vt:lpstr>
      <vt:lpstr>Deadlock Detection</vt:lpstr>
      <vt:lpstr>Deadlocks</vt:lpstr>
      <vt:lpstr>Resource Allocation Graph With A Deadlock</vt:lpstr>
      <vt:lpstr>Graph With A Cycle But No Deadlock</vt:lpstr>
      <vt:lpstr>Deadlock Detection</vt:lpstr>
      <vt:lpstr>Deadlock Detection</vt:lpstr>
      <vt:lpstr>Deadlock Detection</vt:lpstr>
      <vt:lpstr>Deadlock Recovery</vt:lpstr>
      <vt:lpstr>Handling Deadlocks</vt:lpstr>
      <vt:lpstr>Prevention</vt:lpstr>
      <vt:lpstr>Prevention</vt:lpstr>
      <vt:lpstr>Deadlock Prevention</vt:lpstr>
    </vt:vector>
  </TitlesOfParts>
  <Company>IITM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: IPCs and Synchronization</dc:title>
  <dc:creator>Chester Rebeiro</dc:creator>
  <cp:lastModifiedBy>PC</cp:lastModifiedBy>
  <cp:revision>1435</cp:revision>
  <dcterms:created xsi:type="dcterms:W3CDTF">2015-06-10T11:04:16Z</dcterms:created>
  <dcterms:modified xsi:type="dcterms:W3CDTF">2026-02-14T03:36:50Z</dcterms:modified>
</cp:coreProperties>
</file>