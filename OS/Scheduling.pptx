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6" r:id="rId5"/>
    <p:sldId id="271" r:id="rId6"/>
    <p:sldId id="283" r:id="rId7"/>
    <p:sldId id="284" r:id="rId8"/>
    <p:sldId id="285" r:id="rId9"/>
    <p:sldId id="287" r:id="rId10"/>
    <p:sldId id="301" r:id="rId11"/>
    <p:sldId id="300" r:id="rId12"/>
    <p:sldId id="289" r:id="rId13"/>
    <p:sldId id="286" r:id="rId14"/>
    <p:sldId id="288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290" r:id="rId24"/>
    <p:sldId id="29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1"/>
          </p14:sldIdLst>
        </p14:section>
        <p14:section name="GATE" id="{B9B51309-D148-4332-87C2-07BE32FBCA3B}">
          <p14:sldIdLst>
            <p14:sldId id="283"/>
            <p14:sldId id="284"/>
            <p14:sldId id="285"/>
            <p14:sldId id="287"/>
            <p14:sldId id="301"/>
            <p14:sldId id="300"/>
          </p14:sldIdLst>
        </p14:section>
        <p14:section name="Galvin" id="{2CC34DB2-6590-42C0-AD4B-A04C6060184E}">
          <p14:sldIdLst>
            <p14:sldId id="289"/>
            <p14:sldId id="286"/>
            <p14:sldId id="288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1" autoAdjust="0"/>
  </p:normalViewPr>
  <p:slideViewPr>
    <p:cSldViewPr snapToGrid="0">
      <p:cViewPr varScale="1">
        <p:scale>
          <a:sx n="73" d="100"/>
          <a:sy n="73" d="100"/>
        </p:scale>
        <p:origin x="509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235200"/>
            <a:ext cx="10515600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11030280" cy="5012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 Time (AT):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Time when a process enters the ready state</a:t>
            </a:r>
          </a:p>
          <a:p>
            <a:pPr lvl="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Burst Time (BT):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Total CPU time required for process completion </a:t>
            </a:r>
          </a:p>
          <a:p>
            <a:pPr lvl="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Time (CT):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Time when a process completes execution</a:t>
            </a:r>
          </a:p>
          <a:p>
            <a:pPr lvl="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 time (TT):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Total time taken to complete a process		</a:t>
            </a:r>
          </a:p>
          <a:p>
            <a:pPr marL="914400" lvl="2" indent="0">
              <a:lnSpc>
                <a:spcPct val="120000"/>
              </a:lnSpc>
              <a:spcAft>
                <a:spcPts val="300"/>
              </a:spcAft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(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  -  AT)     </a:t>
            </a:r>
          </a:p>
          <a:p>
            <a:pPr marL="2743200" lvl="6" indent="0">
              <a:lnSpc>
                <a:spcPct val="120000"/>
              </a:lnSpc>
              <a:spcAft>
                <a:spcPts val="300"/>
              </a:spcAft>
              <a:buNone/>
              <a:defRPr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	       	       or     </a:t>
            </a:r>
          </a:p>
          <a:p>
            <a:pPr marL="2743200" lvl="6" indent="0">
              <a:lnSpc>
                <a:spcPct val="120000"/>
              </a:lnSpc>
              <a:spcAft>
                <a:spcPts val="300"/>
              </a:spcAft>
              <a:buNone/>
              <a:defRPr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(BT  +  WT)</a:t>
            </a:r>
          </a:p>
          <a:p>
            <a:pPr lvl="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(WT):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Total time the process spends in the ready queue	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(TT  -  BT)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(RT):	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from when the process is created to the time it first gets the CPU</a:t>
            </a:r>
          </a:p>
          <a:p>
            <a:pPr lvl="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:		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processes completed per unit time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254BD6-18FE-DFDE-360D-08963E554E69}"/>
              </a:ext>
            </a:extLst>
          </p:cNvPr>
          <p:cNvSpPr/>
          <p:nvPr/>
        </p:nvSpPr>
        <p:spPr>
          <a:xfrm>
            <a:off x="9806152" y="3429000"/>
            <a:ext cx="1534510" cy="56493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6223E0-A580-D38F-A4A5-C006B3B06827}"/>
              </a:ext>
            </a:extLst>
          </p:cNvPr>
          <p:cNvSpPr/>
          <p:nvPr/>
        </p:nvSpPr>
        <p:spPr>
          <a:xfrm>
            <a:off x="9806152" y="5824045"/>
            <a:ext cx="1534510" cy="56493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AB830D-50D1-9B20-11F8-3DB972D371E7}"/>
              </a:ext>
            </a:extLst>
          </p:cNvPr>
          <p:cNvCxnSpPr>
            <a:stCxn id="2" idx="1"/>
          </p:cNvCxnSpPr>
          <p:nvPr/>
        </p:nvCxnSpPr>
        <p:spPr>
          <a:xfrm flipH="1" flipV="1">
            <a:off x="8008883" y="3237186"/>
            <a:ext cx="1797269" cy="4742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275CBA-3958-5A5A-FB9A-AC2EF61032FF}"/>
              </a:ext>
            </a:extLst>
          </p:cNvPr>
          <p:cNvCxnSpPr>
            <a:stCxn id="2" idx="1"/>
          </p:cNvCxnSpPr>
          <p:nvPr/>
        </p:nvCxnSpPr>
        <p:spPr>
          <a:xfrm flipH="1">
            <a:off x="8366234" y="3711466"/>
            <a:ext cx="1439918" cy="11863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236223-828A-9495-5B13-BBB2830D2A67}"/>
              </a:ext>
            </a:extLst>
          </p:cNvPr>
          <p:cNvCxnSpPr>
            <a:stCxn id="2" idx="1"/>
          </p:cNvCxnSpPr>
          <p:nvPr/>
        </p:nvCxnSpPr>
        <p:spPr>
          <a:xfrm flipH="1">
            <a:off x="8907517" y="3711466"/>
            <a:ext cx="898635" cy="1722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6F9EA6-77AE-E59F-4E3E-ACB23723506E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8755117" y="6106510"/>
            <a:ext cx="105103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E145A-6ADB-F7A5-0725-D643A7A3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246687D-77E4-2CE4-77D2-915EDF49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1 (GATE 2025)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17">
                <a:extLst>
                  <a:ext uri="{FF2B5EF4-FFF2-40B4-BE49-F238E27FC236}">
                    <a16:creationId xmlns:a16="http://schemas.microsoft.com/office/drawing/2014/main" id="{2E99716C-1DFD-92EF-1404-223AE5F67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207" y="1166659"/>
                <a:ext cx="11166914" cy="19962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ts val="1800"/>
                  </a:lnSpc>
                  <a:spcBef>
                    <a:spcPts val="100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lang="en-US" sz="12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ts val="1800"/>
                  </a:lnSpc>
                  <a:spcBef>
                    <a:spcPts val="100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lang="en-US" sz="12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ts val="1800"/>
                  </a:lnSpc>
                  <a:spcBef>
                    <a:spcPts val="100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lang="en-US" sz="12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ts val="1800"/>
                  </a:lnSpc>
                  <a:spcBef>
                    <a:spcPts val="100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lang="en-US" sz="1200" kern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ts val="1800"/>
                  </a:lnSpc>
                  <a:spcBef>
                    <a:spcPts val="100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lang="en-US"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ct val="3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lnSpc>
                    <a:spcPct val="150000"/>
                  </a:lnSpc>
                  <a:spcAft>
                    <a:spcPts val="600"/>
                  </a:spcAft>
                  <a:buNone/>
                  <a:defRPr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Processes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N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N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N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sz="2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IN" sz="20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arrive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that order at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times 0, 1, 2 and 8 milliseconds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respectively, and have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execution times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 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10, 13, 6 and 9 milliseconds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respectively.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Shortest Remaining Time First (SRTF)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is used as the CPU scheduling policy. Ignore context switching times. What is </a:t>
                </a:r>
                <a:r>
                  <a:rPr lang="en-US" dirty="0"/>
                  <a:t> 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turnaround time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four processes in milliseconds?</a:t>
                </a:r>
              </a:p>
            </p:txBody>
          </p:sp>
        </mc:Choice>
        <mc:Fallback xmlns="">
          <p:sp>
            <p:nvSpPr>
              <p:cNvPr id="38" name="Content Placeholder 17">
                <a:extLst>
                  <a:ext uri="{FF2B5EF4-FFF2-40B4-BE49-F238E27FC236}">
                    <a16:creationId xmlns:a16="http://schemas.microsoft.com/office/drawing/2014/main" id="{2E99716C-1DFD-92EF-1404-223AE5F67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7" y="1166659"/>
                <a:ext cx="11166914" cy="1996258"/>
              </a:xfrm>
              <a:prstGeom prst="rect">
                <a:avLst/>
              </a:prstGeom>
              <a:blipFill>
                <a:blip r:embed="rId2"/>
                <a:stretch>
                  <a:fillRect l="-5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A0868C-328D-05E7-0051-90C32078F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86743"/>
              </p:ext>
            </p:extLst>
          </p:nvPr>
        </p:nvGraphicFramePr>
        <p:xfrm>
          <a:off x="609600" y="3162917"/>
          <a:ext cx="1090974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124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211258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2007475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55249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 (TT = CT - AT)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69C1AE4-1CE4-F1AF-D31C-9A04E59117F6}"/>
              </a:ext>
            </a:extLst>
          </p:cNvPr>
          <p:cNvSpPr/>
          <p:nvPr/>
        </p:nvSpPr>
        <p:spPr>
          <a:xfrm>
            <a:off x="1301436" y="5454858"/>
            <a:ext cx="9606455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7D07F-38D9-6106-AE1F-E7D3DE351CF1}"/>
              </a:ext>
            </a:extLst>
          </p:cNvPr>
          <p:cNvSpPr txBox="1"/>
          <p:nvPr/>
        </p:nvSpPr>
        <p:spPr>
          <a:xfrm>
            <a:off x="1146586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B9A97-FBED-A0DD-0461-C5FEDB717F93}"/>
              </a:ext>
            </a:extLst>
          </p:cNvPr>
          <p:cNvSpPr txBox="1"/>
          <p:nvPr/>
        </p:nvSpPr>
        <p:spPr>
          <a:xfrm>
            <a:off x="1677257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89BB74-0009-6BA9-DF5C-C3A63E72B9B0}"/>
              </a:ext>
            </a:extLst>
          </p:cNvPr>
          <p:cNvCxnSpPr/>
          <p:nvPr/>
        </p:nvCxnSpPr>
        <p:spPr>
          <a:xfrm>
            <a:off x="2481400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74A3D4-56BF-02A6-D7DD-9D426F851C30}"/>
              </a:ext>
            </a:extLst>
          </p:cNvPr>
          <p:cNvSpPr txBox="1"/>
          <p:nvPr/>
        </p:nvSpPr>
        <p:spPr>
          <a:xfrm>
            <a:off x="2326550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86893-228B-D3A1-8AE7-8C457DE6C597}"/>
              </a:ext>
            </a:extLst>
          </p:cNvPr>
          <p:cNvSpPr txBox="1"/>
          <p:nvPr/>
        </p:nvSpPr>
        <p:spPr>
          <a:xfrm>
            <a:off x="3341922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383707-85A7-6FE8-7233-8C6E169E9B40}"/>
              </a:ext>
            </a:extLst>
          </p:cNvPr>
          <p:cNvSpPr txBox="1"/>
          <p:nvPr/>
        </p:nvSpPr>
        <p:spPr>
          <a:xfrm>
            <a:off x="5087007" y="35360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AFA72C-0D80-814F-CF41-F0A37486A214}"/>
              </a:ext>
            </a:extLst>
          </p:cNvPr>
          <p:cNvCxnSpPr>
            <a:cxnSpLocks/>
          </p:cNvCxnSpPr>
          <p:nvPr/>
        </p:nvCxnSpPr>
        <p:spPr>
          <a:xfrm flipV="1">
            <a:off x="4876800" y="3599509"/>
            <a:ext cx="210207" cy="257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5C797C-CE58-C4EF-4BB8-F0F2E81BB673}"/>
              </a:ext>
            </a:extLst>
          </p:cNvPr>
          <p:cNvCxnSpPr/>
          <p:nvPr/>
        </p:nvCxnSpPr>
        <p:spPr>
          <a:xfrm>
            <a:off x="4630766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182FAEC-D2B3-B6FB-6732-68A4117C888A}"/>
              </a:ext>
            </a:extLst>
          </p:cNvPr>
          <p:cNvSpPr txBox="1"/>
          <p:nvPr/>
        </p:nvSpPr>
        <p:spPr>
          <a:xfrm>
            <a:off x="4475916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576CEF-025D-6646-9AC8-BD34C02ACB36}"/>
              </a:ext>
            </a:extLst>
          </p:cNvPr>
          <p:cNvSpPr txBox="1"/>
          <p:nvPr/>
        </p:nvSpPr>
        <p:spPr>
          <a:xfrm>
            <a:off x="5061268" y="42765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0DE82D-D5DD-9F9F-9A65-3446F99FBFC5}"/>
              </a:ext>
            </a:extLst>
          </p:cNvPr>
          <p:cNvCxnSpPr>
            <a:cxnSpLocks/>
          </p:cNvCxnSpPr>
          <p:nvPr/>
        </p:nvCxnSpPr>
        <p:spPr>
          <a:xfrm flipV="1">
            <a:off x="4851061" y="4340058"/>
            <a:ext cx="210207" cy="257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070A133-CDC7-E413-CA77-FD2F8A4F6989}"/>
              </a:ext>
            </a:extLst>
          </p:cNvPr>
          <p:cNvCxnSpPr/>
          <p:nvPr/>
        </p:nvCxnSpPr>
        <p:spPr>
          <a:xfrm>
            <a:off x="6934981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B304A26-46C9-CBB3-3B25-BBB0AF449F31}"/>
              </a:ext>
            </a:extLst>
          </p:cNvPr>
          <p:cNvSpPr txBox="1"/>
          <p:nvPr/>
        </p:nvSpPr>
        <p:spPr>
          <a:xfrm>
            <a:off x="6780131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4A2E89-FBF2-C397-2D55-DA122BA6DAE0}"/>
              </a:ext>
            </a:extLst>
          </p:cNvPr>
          <p:cNvCxnSpPr/>
          <p:nvPr/>
        </p:nvCxnSpPr>
        <p:spPr>
          <a:xfrm>
            <a:off x="9111225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499E076-B7F9-533D-52A2-9A28704A800E}"/>
              </a:ext>
            </a:extLst>
          </p:cNvPr>
          <p:cNvSpPr txBox="1"/>
          <p:nvPr/>
        </p:nvSpPr>
        <p:spPr>
          <a:xfrm>
            <a:off x="8956375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26B832-9B5A-E691-172C-6A52D59B06D1}"/>
              </a:ext>
            </a:extLst>
          </p:cNvPr>
          <p:cNvSpPr txBox="1"/>
          <p:nvPr/>
        </p:nvSpPr>
        <p:spPr>
          <a:xfrm>
            <a:off x="10822919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ABCA3B-979E-BD0C-3547-98215779CA25}"/>
              </a:ext>
            </a:extLst>
          </p:cNvPr>
          <p:cNvSpPr txBox="1"/>
          <p:nvPr/>
        </p:nvSpPr>
        <p:spPr>
          <a:xfrm>
            <a:off x="5568713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57D4EF-CCA1-05E4-156A-7783C3CABFD5}"/>
              </a:ext>
            </a:extLst>
          </p:cNvPr>
          <p:cNvSpPr txBox="1"/>
          <p:nvPr/>
        </p:nvSpPr>
        <p:spPr>
          <a:xfrm>
            <a:off x="5361350" y="35360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2C26E2-8C7D-739F-5CB1-4A3F91F571B6}"/>
              </a:ext>
            </a:extLst>
          </p:cNvPr>
          <p:cNvCxnSpPr>
            <a:cxnSpLocks/>
          </p:cNvCxnSpPr>
          <p:nvPr/>
        </p:nvCxnSpPr>
        <p:spPr>
          <a:xfrm flipV="1">
            <a:off x="5151143" y="3599509"/>
            <a:ext cx="210207" cy="257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0250CB5-4FD1-4B9F-15DE-C9089E0C1502}"/>
              </a:ext>
            </a:extLst>
          </p:cNvPr>
          <p:cNvSpPr txBox="1"/>
          <p:nvPr/>
        </p:nvSpPr>
        <p:spPr>
          <a:xfrm>
            <a:off x="7808942" y="55802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056156-15FE-9AB9-5FF8-CC4476208F3D}"/>
              </a:ext>
            </a:extLst>
          </p:cNvPr>
          <p:cNvSpPr txBox="1"/>
          <p:nvPr/>
        </p:nvSpPr>
        <p:spPr>
          <a:xfrm>
            <a:off x="5061268" y="46459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378B83-EAB1-8491-6EC7-B3372769A62E}"/>
              </a:ext>
            </a:extLst>
          </p:cNvPr>
          <p:cNvCxnSpPr>
            <a:cxnSpLocks/>
          </p:cNvCxnSpPr>
          <p:nvPr/>
        </p:nvCxnSpPr>
        <p:spPr>
          <a:xfrm flipV="1">
            <a:off x="4851061" y="4709390"/>
            <a:ext cx="210207" cy="257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6CC3D2C-731C-0377-A6C2-49D023413A76}"/>
              </a:ext>
            </a:extLst>
          </p:cNvPr>
          <p:cNvSpPr txBox="1"/>
          <p:nvPr/>
        </p:nvSpPr>
        <p:spPr>
          <a:xfrm>
            <a:off x="5087007" y="39365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E7DA977-DF1C-A624-7D1E-C80C11D1E969}"/>
              </a:ext>
            </a:extLst>
          </p:cNvPr>
          <p:cNvCxnSpPr>
            <a:cxnSpLocks/>
          </p:cNvCxnSpPr>
          <p:nvPr/>
        </p:nvCxnSpPr>
        <p:spPr>
          <a:xfrm flipV="1">
            <a:off x="4876800" y="4000012"/>
            <a:ext cx="210207" cy="257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F7F36A-F16B-8869-0490-A19408DB78D1}"/>
              </a:ext>
            </a:extLst>
          </p:cNvPr>
          <p:cNvSpPr txBox="1"/>
          <p:nvPr/>
        </p:nvSpPr>
        <p:spPr>
          <a:xfrm>
            <a:off x="9795397" y="55802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A8A2DE1-E317-468B-CB1F-E55DB44F0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314503"/>
              </p:ext>
            </p:extLst>
          </p:nvPr>
        </p:nvGraphicFramePr>
        <p:xfrm>
          <a:off x="609600" y="3161032"/>
          <a:ext cx="1090974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124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211258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2007475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55249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 (TT = CT - AT)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(16 - 0) = 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(38 – 1) = 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 – 2) =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(25 - 8) = 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9850A1-0B76-D6B2-0BFA-8851FC28DE34}"/>
                  </a:ext>
                </a:extLst>
              </p:cNvPr>
              <p:cNvSpPr txBox="1"/>
              <p:nvPr/>
            </p:nvSpPr>
            <p:spPr>
              <a:xfrm>
                <a:off x="2520777" y="5434941"/>
                <a:ext cx="6823535" cy="7016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Turnaround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16+37+6+17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19ms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9850A1-0B76-D6B2-0BFA-8851FC28D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777" y="5434941"/>
                <a:ext cx="6823535" cy="701602"/>
              </a:xfrm>
              <a:prstGeom prst="rect">
                <a:avLst/>
              </a:prstGeom>
              <a:blipFill>
                <a:blip r:embed="rId3"/>
                <a:stretch>
                  <a:fillRect l="-1430" r="-357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82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  <p:bldP spid="4" grpId="1"/>
      <p:bldP spid="6" grpId="0"/>
      <p:bldP spid="6" grpId="1"/>
      <p:bldP spid="10" grpId="0"/>
      <p:bldP spid="10" grpId="1"/>
      <p:bldP spid="11" grpId="0"/>
      <p:bldP spid="11" grpId="1"/>
      <p:bldP spid="12" grpId="0"/>
      <p:bldP spid="17" grpId="0"/>
      <p:bldP spid="17" grpId="1"/>
      <p:bldP spid="18" grpId="0"/>
      <p:bldP spid="21" grpId="0"/>
      <p:bldP spid="21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8" grpId="0"/>
      <p:bldP spid="28" grpId="1"/>
      <p:bldP spid="29" grpId="0"/>
      <p:bldP spid="31" grpId="0"/>
      <p:bldP spid="35" grpId="0"/>
      <p:bldP spid="35" grpId="1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B989-3E44-B000-6A8B-B9FE1902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6341568-C99A-FA48-BB48-ED5C0A54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2 (GATE 2025)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9FF252ED-A0B5-A441-36B2-4DE1BD371263}"/>
              </a:ext>
            </a:extLst>
          </p:cNvPr>
          <p:cNvSpPr txBox="1">
            <a:spLocks/>
          </p:cNvSpPr>
          <p:nvPr/>
        </p:nvSpPr>
        <p:spPr>
          <a:xfrm>
            <a:off x="521207" y="1166659"/>
            <a:ext cx="11166914" cy="19962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in a multiprogramming environment, the following C program segment is executed. A process goes into I/O queue whenever an I/O related operation is performed. Assume that there will always be a context switch whenever a process requests for an I/O, and also whenever the process returns from an I/O. The number of times the process will enter the ready queue during its lifetime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 counting the time the process enters the ready queue when it is run initially)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___________ 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C4289E-8A42-15A6-C2AB-A2C826FC6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0" y="3241440"/>
            <a:ext cx="2700870" cy="346416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DB7E3A1-0442-C4DC-C8B6-88BDD46DBC08}"/>
              </a:ext>
            </a:extLst>
          </p:cNvPr>
          <p:cNvCxnSpPr/>
          <p:nvPr/>
        </p:nvCxnSpPr>
        <p:spPr>
          <a:xfrm flipH="1">
            <a:off x="2973830" y="4393324"/>
            <a:ext cx="694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88360D3-3108-F2F6-93D0-D71D340D60FF}"/>
              </a:ext>
            </a:extLst>
          </p:cNvPr>
          <p:cNvSpPr txBox="1"/>
          <p:nvPr/>
        </p:nvSpPr>
        <p:spPr>
          <a:xfrm>
            <a:off x="3799634" y="4208658"/>
            <a:ext cx="1651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Executed once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A6974FF-51F6-77F9-7DE2-D70C8B872674}"/>
              </a:ext>
            </a:extLst>
          </p:cNvPr>
          <p:cNvCxnSpPr/>
          <p:nvPr/>
        </p:nvCxnSpPr>
        <p:spPr>
          <a:xfrm flipH="1">
            <a:off x="2973830" y="5506675"/>
            <a:ext cx="694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A0E92A0-6002-0DC3-D608-E2E5FC6C49CC}"/>
              </a:ext>
            </a:extLst>
          </p:cNvPr>
          <p:cNvSpPr txBox="1"/>
          <p:nvPr/>
        </p:nvSpPr>
        <p:spPr>
          <a:xfrm>
            <a:off x="3799634" y="5322009"/>
            <a:ext cx="2022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Executed 20 times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BEF428-3BE8-F043-EB3D-D498DEE97C58}"/>
              </a:ext>
            </a:extLst>
          </p:cNvPr>
          <p:cNvSpPr/>
          <p:nvPr/>
        </p:nvSpPr>
        <p:spPr>
          <a:xfrm>
            <a:off x="5822560" y="3251950"/>
            <a:ext cx="1376855" cy="59483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57CE439-0366-B18D-EBB3-C3C66C21B715}"/>
              </a:ext>
            </a:extLst>
          </p:cNvPr>
          <p:cNvSpPr/>
          <p:nvPr/>
        </p:nvSpPr>
        <p:spPr>
          <a:xfrm>
            <a:off x="7398326" y="4208658"/>
            <a:ext cx="1376855" cy="59483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1647ED8-0ECF-84CE-743E-8C89A80F4399}"/>
              </a:ext>
            </a:extLst>
          </p:cNvPr>
          <p:cNvSpPr/>
          <p:nvPr/>
        </p:nvSpPr>
        <p:spPr>
          <a:xfrm>
            <a:off x="9332230" y="4208658"/>
            <a:ext cx="1376855" cy="59483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703E426-4257-594E-1C8A-4C712E7AA157}"/>
              </a:ext>
            </a:extLst>
          </p:cNvPr>
          <p:cNvSpPr/>
          <p:nvPr/>
        </p:nvSpPr>
        <p:spPr>
          <a:xfrm>
            <a:off x="10416209" y="3251950"/>
            <a:ext cx="1755609" cy="59483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terminated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5415102-4D23-A4CC-E9EC-DBCFF25CA30D}"/>
              </a:ext>
            </a:extLst>
          </p:cNvPr>
          <p:cNvSpPr/>
          <p:nvPr/>
        </p:nvSpPr>
        <p:spPr>
          <a:xfrm>
            <a:off x="8455402" y="5551817"/>
            <a:ext cx="1376855" cy="59483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4D0B191-703F-3641-9174-D18A3C655758}"/>
              </a:ext>
            </a:extLst>
          </p:cNvPr>
          <p:cNvSpPr/>
          <p:nvPr/>
        </p:nvSpPr>
        <p:spPr>
          <a:xfrm>
            <a:off x="6674069" y="3836276"/>
            <a:ext cx="746234" cy="578069"/>
          </a:xfrm>
          <a:custGeom>
            <a:avLst/>
            <a:gdLst>
              <a:gd name="csX0" fmla="*/ 0 w 746234"/>
              <a:gd name="csY0" fmla="*/ 0 h 578069"/>
              <a:gd name="csX1" fmla="*/ 220717 w 746234"/>
              <a:gd name="csY1" fmla="*/ 283779 h 578069"/>
              <a:gd name="csX2" fmla="*/ 746234 w 746234"/>
              <a:gd name="csY2" fmla="*/ 578069 h 5780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6234" h="578069">
                <a:moveTo>
                  <a:pt x="0" y="0"/>
                </a:moveTo>
                <a:cubicBezTo>
                  <a:pt x="48172" y="93717"/>
                  <a:pt x="96345" y="187434"/>
                  <a:pt x="220717" y="283779"/>
                </a:cubicBezTo>
                <a:cubicBezTo>
                  <a:pt x="345089" y="380124"/>
                  <a:pt x="545661" y="479096"/>
                  <a:pt x="746234" y="578069"/>
                </a:cubicBezTo>
              </a:path>
            </a:pathLst>
          </a:custGeom>
          <a:ln>
            <a:tailEnd type="stealt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E40AF0F-612B-AE53-EA51-FE7F24DB3A68}"/>
              </a:ext>
            </a:extLst>
          </p:cNvPr>
          <p:cNvSpPr/>
          <p:nvPr/>
        </p:nvSpPr>
        <p:spPr>
          <a:xfrm>
            <a:off x="8597462" y="4151586"/>
            <a:ext cx="956441" cy="136635"/>
          </a:xfrm>
          <a:custGeom>
            <a:avLst/>
            <a:gdLst>
              <a:gd name="csX0" fmla="*/ 0 w 956441"/>
              <a:gd name="csY0" fmla="*/ 136635 h 136635"/>
              <a:gd name="csX1" fmla="*/ 399393 w 956441"/>
              <a:gd name="csY1" fmla="*/ 0 h 136635"/>
              <a:gd name="csX2" fmla="*/ 956441 w 956441"/>
              <a:gd name="csY2" fmla="*/ 136635 h 136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56441" h="136635">
                <a:moveTo>
                  <a:pt x="0" y="136635"/>
                </a:moveTo>
                <a:cubicBezTo>
                  <a:pt x="119993" y="68317"/>
                  <a:pt x="239986" y="0"/>
                  <a:pt x="399393" y="0"/>
                </a:cubicBezTo>
                <a:cubicBezTo>
                  <a:pt x="558800" y="0"/>
                  <a:pt x="757620" y="68317"/>
                  <a:pt x="956441" y="136635"/>
                </a:cubicBezTo>
              </a:path>
            </a:pathLst>
          </a:custGeom>
          <a:ln>
            <a:tailEnd type="stealt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B9D860F-934B-F5F1-AC90-2A2CBC5D0298}"/>
              </a:ext>
            </a:extLst>
          </p:cNvPr>
          <p:cNvSpPr/>
          <p:nvPr/>
        </p:nvSpPr>
        <p:spPr>
          <a:xfrm>
            <a:off x="8586952" y="4729655"/>
            <a:ext cx="1040524" cy="157781"/>
          </a:xfrm>
          <a:custGeom>
            <a:avLst/>
            <a:gdLst>
              <a:gd name="csX0" fmla="*/ 1040524 w 1040524"/>
              <a:gd name="csY0" fmla="*/ 21021 h 157781"/>
              <a:gd name="csX1" fmla="*/ 515007 w 1040524"/>
              <a:gd name="csY1" fmla="*/ 157655 h 157781"/>
              <a:gd name="csX2" fmla="*/ 0 w 1040524"/>
              <a:gd name="csY2" fmla="*/ 0 h 157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0524" h="157781">
                <a:moveTo>
                  <a:pt x="1040524" y="21021"/>
                </a:moveTo>
                <a:cubicBezTo>
                  <a:pt x="864476" y="91090"/>
                  <a:pt x="688428" y="161159"/>
                  <a:pt x="515007" y="157655"/>
                </a:cubicBezTo>
                <a:cubicBezTo>
                  <a:pt x="341586" y="154152"/>
                  <a:pt x="170793" y="77076"/>
                  <a:pt x="0" y="0"/>
                </a:cubicBezTo>
              </a:path>
            </a:pathLst>
          </a:custGeom>
          <a:ln>
            <a:tailEnd type="stealt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76BE731-98EA-AFE6-5455-C23F7F634E70}"/>
              </a:ext>
            </a:extLst>
          </p:cNvPr>
          <p:cNvSpPr/>
          <p:nvPr/>
        </p:nvSpPr>
        <p:spPr>
          <a:xfrm>
            <a:off x="9711559" y="4792717"/>
            <a:ext cx="392486" cy="893380"/>
          </a:xfrm>
          <a:custGeom>
            <a:avLst/>
            <a:gdLst>
              <a:gd name="csX0" fmla="*/ 388882 w 392486"/>
              <a:gd name="csY0" fmla="*/ 0 h 893380"/>
              <a:gd name="csX1" fmla="*/ 336331 w 392486"/>
              <a:gd name="csY1" fmla="*/ 441435 h 893380"/>
              <a:gd name="csX2" fmla="*/ 0 w 392486"/>
              <a:gd name="csY2" fmla="*/ 893380 h 893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2486" h="893380">
                <a:moveTo>
                  <a:pt x="388882" y="0"/>
                </a:moveTo>
                <a:cubicBezTo>
                  <a:pt x="395013" y="146269"/>
                  <a:pt x="401145" y="292538"/>
                  <a:pt x="336331" y="441435"/>
                </a:cubicBezTo>
                <a:cubicBezTo>
                  <a:pt x="271517" y="590332"/>
                  <a:pt x="135758" y="741856"/>
                  <a:pt x="0" y="893380"/>
                </a:cubicBezTo>
              </a:path>
            </a:pathLst>
          </a:custGeom>
          <a:ln>
            <a:tailEnd type="stealt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864AF16-8ED0-8BEC-2E39-E2BD9E32FF6C}"/>
              </a:ext>
            </a:extLst>
          </p:cNvPr>
          <p:cNvSpPr/>
          <p:nvPr/>
        </p:nvSpPr>
        <p:spPr>
          <a:xfrm>
            <a:off x="7977352" y="4803228"/>
            <a:ext cx="620110" cy="840827"/>
          </a:xfrm>
          <a:custGeom>
            <a:avLst/>
            <a:gdLst>
              <a:gd name="csX0" fmla="*/ 620110 w 620110"/>
              <a:gd name="csY0" fmla="*/ 840827 h 840827"/>
              <a:gd name="csX1" fmla="*/ 262758 w 620110"/>
              <a:gd name="csY1" fmla="*/ 599089 h 840827"/>
              <a:gd name="csX2" fmla="*/ 0 w 620110"/>
              <a:gd name="csY2" fmla="*/ 0 h 840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0110" h="840827">
                <a:moveTo>
                  <a:pt x="620110" y="840827"/>
                </a:moveTo>
                <a:cubicBezTo>
                  <a:pt x="493110" y="790027"/>
                  <a:pt x="366110" y="739227"/>
                  <a:pt x="262758" y="599089"/>
                </a:cubicBezTo>
                <a:cubicBezTo>
                  <a:pt x="159406" y="458951"/>
                  <a:pt x="79703" y="229475"/>
                  <a:pt x="0" y="0"/>
                </a:cubicBezTo>
              </a:path>
            </a:pathLst>
          </a:custGeom>
          <a:ln>
            <a:tailEnd type="stealt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373DC14-AD3A-0E05-30D7-86BE23C32C45}"/>
              </a:ext>
            </a:extLst>
          </p:cNvPr>
          <p:cNvSpPr/>
          <p:nvPr/>
        </p:nvSpPr>
        <p:spPr>
          <a:xfrm>
            <a:off x="10625959" y="3857297"/>
            <a:ext cx="599089" cy="483475"/>
          </a:xfrm>
          <a:custGeom>
            <a:avLst/>
            <a:gdLst>
              <a:gd name="csX0" fmla="*/ 0 w 599089"/>
              <a:gd name="csY0" fmla="*/ 483475 h 483475"/>
              <a:gd name="csX1" fmla="*/ 336331 w 599089"/>
              <a:gd name="csY1" fmla="*/ 336331 h 483475"/>
              <a:gd name="csX2" fmla="*/ 599089 w 599089"/>
              <a:gd name="csY2" fmla="*/ 0 h 483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9089" h="483475">
                <a:moveTo>
                  <a:pt x="0" y="483475"/>
                </a:moveTo>
                <a:cubicBezTo>
                  <a:pt x="118241" y="450192"/>
                  <a:pt x="236483" y="416910"/>
                  <a:pt x="336331" y="336331"/>
                </a:cubicBezTo>
                <a:cubicBezTo>
                  <a:pt x="436179" y="255752"/>
                  <a:pt x="517634" y="127876"/>
                  <a:pt x="599089" y="0"/>
                </a:cubicBezTo>
              </a:path>
            </a:pathLst>
          </a:custGeom>
          <a:ln>
            <a:tailEnd type="stealt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AAED25-2B59-CADF-5DB2-3D2416645D01}"/>
              </a:ext>
            </a:extLst>
          </p:cNvPr>
          <p:cNvSpPr txBox="1"/>
          <p:nvPr/>
        </p:nvSpPr>
        <p:spPr>
          <a:xfrm>
            <a:off x="6830069" y="384389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admitted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08E012-C5FE-63C3-7BA9-9B50A73B0470}"/>
              </a:ext>
            </a:extLst>
          </p:cNvPr>
          <p:cNvSpPr txBox="1"/>
          <p:nvPr/>
        </p:nvSpPr>
        <p:spPr>
          <a:xfrm>
            <a:off x="8484954" y="381079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dispatched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048D96-B168-5295-805C-1B3E0F9CA553}"/>
              </a:ext>
            </a:extLst>
          </p:cNvPr>
          <p:cNvSpPr txBox="1"/>
          <p:nvPr/>
        </p:nvSpPr>
        <p:spPr>
          <a:xfrm>
            <a:off x="8614199" y="4870075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475141-1345-5DF7-0A32-BDEFDA53BFFA}"/>
              </a:ext>
            </a:extLst>
          </p:cNvPr>
          <p:cNvSpPr txBox="1"/>
          <p:nvPr/>
        </p:nvSpPr>
        <p:spPr>
          <a:xfrm>
            <a:off x="10104045" y="5137343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or event wait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ACD86B-2130-4BF9-023E-9DC492C86950}"/>
              </a:ext>
            </a:extLst>
          </p:cNvPr>
          <p:cNvSpPr txBox="1"/>
          <p:nvPr/>
        </p:nvSpPr>
        <p:spPr>
          <a:xfrm>
            <a:off x="6625854" y="5114773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completion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DD791A-16FC-194F-A602-852A904BECE1}"/>
              </a:ext>
            </a:extLst>
          </p:cNvPr>
          <p:cNvSpPr txBox="1"/>
          <p:nvPr/>
        </p:nvSpPr>
        <p:spPr>
          <a:xfrm>
            <a:off x="10950799" y="401813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88D168-0E8A-84A5-5D8E-964E1DCCED49}"/>
              </a:ext>
            </a:extLst>
          </p:cNvPr>
          <p:cNvSpPr txBox="1"/>
          <p:nvPr/>
        </p:nvSpPr>
        <p:spPr>
          <a:xfrm>
            <a:off x="1650720" y="2637798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times</a:t>
            </a:r>
          </a:p>
        </p:txBody>
      </p:sp>
    </p:spTree>
    <p:extLst>
      <p:ext uri="{BB962C8B-B14F-4D97-AF65-F5344CB8AC3E}">
        <p14:creationId xmlns:p14="http://schemas.microsoft.com/office/powerpoint/2010/main" val="238470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C80CF-66FF-27EC-1930-0C49CC7EE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CD8181-8327-D3D5-9EDC-9EB5FBF9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3 (GATE 2025)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D0FE38BC-2392-0BF8-8E5B-0AF49BD08E41}"/>
              </a:ext>
            </a:extLst>
          </p:cNvPr>
          <p:cNvSpPr txBox="1">
            <a:spLocks/>
          </p:cNvSpPr>
          <p:nvPr/>
        </p:nvSpPr>
        <p:spPr>
          <a:xfrm>
            <a:off x="521207" y="1166659"/>
            <a:ext cx="11166914" cy="1996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has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processors, M1 and M2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Four processes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P1, P2, P3 and P4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CPU bursts of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20, 16, 25 and 10 milliseconds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respectively, arrive at the same time and these are the only processes in the system. The scheduler uses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non-preemptive priority scheduling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priorities decided as follows: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M1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priority of execution for the processes as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P1 &gt; P3 &gt; P2 &gt; P4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P1 and P4 have highest and lowest priorities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priority of execution for the processes as,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 &gt; P3 &gt; P4 &gt; P1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 and P1 have highest and lowest priorities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  is scheduled to a processor Mk, if the processor is free and no other process 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waiting with higher priority. At any given point of time, a process can be allocated to any one of the free processors without violating the execution priority rules. Ignore the context switch time. What will be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processes in milliseconds?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AD377D-D2B3-0D1C-AB61-22CBA8603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82615"/>
              </p:ext>
            </p:extLst>
          </p:nvPr>
        </p:nvGraphicFramePr>
        <p:xfrm>
          <a:off x="220716" y="3473410"/>
          <a:ext cx="3867808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5760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1466024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466024">
                  <a:extLst>
                    <a:ext uri="{9D8B030D-6E8A-4147-A177-3AD203B41FA5}">
                      <a16:colId xmlns:a16="http://schemas.microsoft.com/office/drawing/2014/main" val="105758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597D49A-631F-AA5F-20F9-D5230F2950F3}"/>
              </a:ext>
            </a:extLst>
          </p:cNvPr>
          <p:cNvSpPr/>
          <p:nvPr/>
        </p:nvSpPr>
        <p:spPr>
          <a:xfrm>
            <a:off x="4486071" y="3440208"/>
            <a:ext cx="7064798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E96A81-43C9-F4C8-B80C-06FF02597C25}"/>
              </a:ext>
            </a:extLst>
          </p:cNvPr>
          <p:cNvSpPr txBox="1"/>
          <p:nvPr/>
        </p:nvSpPr>
        <p:spPr>
          <a:xfrm>
            <a:off x="4331221" y="4060318"/>
            <a:ext cx="22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485F89-2B55-3065-4269-683A7BE9015C}"/>
              </a:ext>
            </a:extLst>
          </p:cNvPr>
          <p:cNvSpPr/>
          <p:nvPr/>
        </p:nvSpPr>
        <p:spPr>
          <a:xfrm>
            <a:off x="4486071" y="5016996"/>
            <a:ext cx="7064798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6C1072-45BA-9E0C-3F23-C59F2A8EE27C}"/>
              </a:ext>
            </a:extLst>
          </p:cNvPr>
          <p:cNvSpPr txBox="1"/>
          <p:nvPr/>
        </p:nvSpPr>
        <p:spPr>
          <a:xfrm>
            <a:off x="4331221" y="5637106"/>
            <a:ext cx="22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9B846C-F0D7-0541-85DB-18B9207F43B9}"/>
              </a:ext>
            </a:extLst>
          </p:cNvPr>
          <p:cNvSpPr txBox="1"/>
          <p:nvPr/>
        </p:nvSpPr>
        <p:spPr>
          <a:xfrm>
            <a:off x="11591839" y="3561076"/>
            <a:ext cx="50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375E4A-C316-8DB0-1E24-9205AEC5FABF}"/>
              </a:ext>
            </a:extLst>
          </p:cNvPr>
          <p:cNvSpPr txBox="1"/>
          <p:nvPr/>
        </p:nvSpPr>
        <p:spPr>
          <a:xfrm>
            <a:off x="11591838" y="5137864"/>
            <a:ext cx="505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333FBAA-201C-78D3-7917-DF859B77AF22}"/>
              </a:ext>
            </a:extLst>
          </p:cNvPr>
          <p:cNvCxnSpPr/>
          <p:nvPr/>
        </p:nvCxnSpPr>
        <p:spPr>
          <a:xfrm>
            <a:off x="7429618" y="344020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D2671CD-8E9C-B037-DDE2-8E13D9FFA9D4}"/>
              </a:ext>
            </a:extLst>
          </p:cNvPr>
          <p:cNvSpPr txBox="1"/>
          <p:nvPr/>
        </p:nvSpPr>
        <p:spPr>
          <a:xfrm>
            <a:off x="7274768" y="40603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948E2B-54CC-9933-50C2-BB39B8C8FFD3}"/>
              </a:ext>
            </a:extLst>
          </p:cNvPr>
          <p:cNvCxnSpPr/>
          <p:nvPr/>
        </p:nvCxnSpPr>
        <p:spPr>
          <a:xfrm>
            <a:off x="6895745" y="5016996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22E5887-6F17-C98E-36FE-541F12E659EB}"/>
              </a:ext>
            </a:extLst>
          </p:cNvPr>
          <p:cNvSpPr txBox="1"/>
          <p:nvPr/>
        </p:nvSpPr>
        <p:spPr>
          <a:xfrm>
            <a:off x="6740895" y="563710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921693-C5D9-B2FF-8C8B-80CA55430780}"/>
              </a:ext>
            </a:extLst>
          </p:cNvPr>
          <p:cNvSpPr txBox="1"/>
          <p:nvPr/>
        </p:nvSpPr>
        <p:spPr>
          <a:xfrm>
            <a:off x="5695193" y="3535497"/>
            <a:ext cx="47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82014A-347E-6E95-96F3-093961260844}"/>
              </a:ext>
            </a:extLst>
          </p:cNvPr>
          <p:cNvSpPr txBox="1"/>
          <p:nvPr/>
        </p:nvSpPr>
        <p:spPr>
          <a:xfrm>
            <a:off x="5490173" y="5137864"/>
            <a:ext cx="47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8D570B-E4C7-9B69-C3D8-58D93BB4A6E5}"/>
              </a:ext>
            </a:extLst>
          </p:cNvPr>
          <p:cNvSpPr txBox="1"/>
          <p:nvPr/>
        </p:nvSpPr>
        <p:spPr>
          <a:xfrm>
            <a:off x="8762161" y="5128219"/>
            <a:ext cx="47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831FC4-9AB5-1F4A-0C13-F7038B06FDD7}"/>
              </a:ext>
            </a:extLst>
          </p:cNvPr>
          <p:cNvSpPr txBox="1"/>
          <p:nvPr/>
        </p:nvSpPr>
        <p:spPr>
          <a:xfrm>
            <a:off x="8244035" y="3530478"/>
            <a:ext cx="47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9E59473-F9E8-41E7-E58F-7A8F5A24CEA4}"/>
              </a:ext>
            </a:extLst>
          </p:cNvPr>
          <p:cNvCxnSpPr/>
          <p:nvPr/>
        </p:nvCxnSpPr>
        <p:spPr>
          <a:xfrm>
            <a:off x="9532831" y="344020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14745CA-E166-A195-3B4F-5F2FCB2B5F6C}"/>
              </a:ext>
            </a:extLst>
          </p:cNvPr>
          <p:cNvSpPr txBox="1"/>
          <p:nvPr/>
        </p:nvSpPr>
        <p:spPr>
          <a:xfrm>
            <a:off x="9377981" y="40603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6B22622-4F0D-0779-68A4-8E89EEE9A194}"/>
              </a:ext>
            </a:extLst>
          </p:cNvPr>
          <p:cNvCxnSpPr/>
          <p:nvPr/>
        </p:nvCxnSpPr>
        <p:spPr>
          <a:xfrm>
            <a:off x="11102957" y="50028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6024187-FECD-9792-2ECB-CDF71E36C434}"/>
              </a:ext>
            </a:extLst>
          </p:cNvPr>
          <p:cNvSpPr txBox="1"/>
          <p:nvPr/>
        </p:nvSpPr>
        <p:spPr>
          <a:xfrm>
            <a:off x="10948107" y="56229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2AA1129-4F86-4A4C-AC19-8EA87E46F322}"/>
                  </a:ext>
                </a:extLst>
              </p:cNvPr>
              <p:cNvSpPr txBox="1"/>
              <p:nvPr/>
            </p:nvSpPr>
            <p:spPr>
              <a:xfrm>
                <a:off x="220716" y="5979129"/>
                <a:ext cx="5328318" cy="6146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waiting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0+0+16+20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9ms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2AA1129-4F86-4A4C-AC19-8EA87E46F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16" y="5979129"/>
                <a:ext cx="5328318" cy="614655"/>
              </a:xfrm>
              <a:prstGeom prst="rect">
                <a:avLst/>
              </a:prstGeom>
              <a:blipFill>
                <a:blip r:embed="rId2"/>
                <a:stretch>
                  <a:fillRect l="-1716" r="-572" b="-89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7265DB6-0870-451A-7C02-48CF66145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423878"/>
              </p:ext>
            </p:extLst>
          </p:nvPr>
        </p:nvGraphicFramePr>
        <p:xfrm>
          <a:off x="211055" y="3473410"/>
          <a:ext cx="3867808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35760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1466024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466024">
                  <a:extLst>
                    <a:ext uri="{9D8B030D-6E8A-4147-A177-3AD203B41FA5}">
                      <a16:colId xmlns:a16="http://schemas.microsoft.com/office/drawing/2014/main" val="105758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31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5" grpId="0" animBg="1"/>
      <p:bldP spid="33" grpId="0"/>
      <p:bldP spid="34" grpId="0"/>
      <p:bldP spid="39" grpId="0"/>
      <p:bldP spid="41" grpId="0"/>
      <p:bldP spid="43" grpId="0"/>
      <p:bldP spid="44" grpId="0"/>
      <p:bldP spid="48" grpId="0"/>
      <p:bldP spid="49" grpId="0"/>
      <p:bldP spid="50" grpId="0"/>
      <p:bldP spid="52" grpId="0"/>
      <p:bldP spid="54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0133-7DD4-13E3-FA59-5D6A2649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6BD89A-CFFF-5C2F-5EFD-A016821D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4 (GATE 2024)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003748A9-815C-D6B4-1015-43A4066638E3}"/>
              </a:ext>
            </a:extLst>
          </p:cNvPr>
          <p:cNvSpPr txBox="1">
            <a:spLocks/>
          </p:cNvSpPr>
          <p:nvPr/>
        </p:nvSpPr>
        <p:spPr>
          <a:xfrm>
            <a:off x="521207" y="1274484"/>
            <a:ext cx="11166914" cy="5691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​​​​Consider a single processor system with four processes A, B, C and D. Find the average waiting time for SRTF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46626A-287F-A145-B9D1-9D1C98F22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447534"/>
              </p:ext>
            </p:extLst>
          </p:nvPr>
        </p:nvGraphicFramePr>
        <p:xfrm>
          <a:off x="521207" y="2029973"/>
          <a:ext cx="10909740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124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211258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559841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4000133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CT – AT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979E98D-D1E5-7FF4-4699-448075E37B99}"/>
              </a:ext>
            </a:extLst>
          </p:cNvPr>
          <p:cNvSpPr/>
          <p:nvPr/>
        </p:nvSpPr>
        <p:spPr>
          <a:xfrm>
            <a:off x="1301437" y="5454858"/>
            <a:ext cx="8157874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8CB45-97B2-F55A-2690-2FC4159E1F62}"/>
              </a:ext>
            </a:extLst>
          </p:cNvPr>
          <p:cNvSpPr txBox="1"/>
          <p:nvPr/>
        </p:nvSpPr>
        <p:spPr>
          <a:xfrm>
            <a:off x="1146586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E417E-77C4-157D-D79F-006037A59C6A}"/>
              </a:ext>
            </a:extLst>
          </p:cNvPr>
          <p:cNvSpPr txBox="1"/>
          <p:nvPr/>
        </p:nvSpPr>
        <p:spPr>
          <a:xfrm>
            <a:off x="2441717" y="558024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629E77-5417-9126-A177-822308971218}"/>
              </a:ext>
            </a:extLst>
          </p:cNvPr>
          <p:cNvCxnSpPr/>
          <p:nvPr/>
        </p:nvCxnSpPr>
        <p:spPr>
          <a:xfrm>
            <a:off x="3837234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AEC061E-BE9C-F197-6A99-1119FC7A15FC}"/>
              </a:ext>
            </a:extLst>
          </p:cNvPr>
          <p:cNvSpPr txBox="1"/>
          <p:nvPr/>
        </p:nvSpPr>
        <p:spPr>
          <a:xfrm>
            <a:off x="3629485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0530F-295B-092D-86CD-E030B7B87B0C}"/>
              </a:ext>
            </a:extLst>
          </p:cNvPr>
          <p:cNvSpPr txBox="1"/>
          <p:nvPr/>
        </p:nvSpPr>
        <p:spPr>
          <a:xfrm>
            <a:off x="4357571" y="55795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80CEE14-FFEB-B1C7-E935-9BC268607B37}"/>
              </a:ext>
            </a:extLst>
          </p:cNvPr>
          <p:cNvCxnSpPr/>
          <p:nvPr/>
        </p:nvCxnSpPr>
        <p:spPr>
          <a:xfrm>
            <a:off x="5277942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F465DB7-4EBD-5F3A-174D-263AC5F80B1B}"/>
              </a:ext>
            </a:extLst>
          </p:cNvPr>
          <p:cNvSpPr txBox="1"/>
          <p:nvPr/>
        </p:nvSpPr>
        <p:spPr>
          <a:xfrm>
            <a:off x="5123092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C001E5-DB82-2BE2-0CFA-E1BDDD783D5C}"/>
              </a:ext>
            </a:extLst>
          </p:cNvPr>
          <p:cNvCxnSpPr/>
          <p:nvPr/>
        </p:nvCxnSpPr>
        <p:spPr>
          <a:xfrm>
            <a:off x="6934981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7840BA0-472E-F6C6-CA27-31DE222FEC95}"/>
              </a:ext>
            </a:extLst>
          </p:cNvPr>
          <p:cNvSpPr txBox="1"/>
          <p:nvPr/>
        </p:nvSpPr>
        <p:spPr>
          <a:xfrm>
            <a:off x="6780131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B61CCA-7379-AD76-EBA1-AD2BC73090C9}"/>
              </a:ext>
            </a:extLst>
          </p:cNvPr>
          <p:cNvSpPr txBox="1"/>
          <p:nvPr/>
        </p:nvSpPr>
        <p:spPr>
          <a:xfrm>
            <a:off x="9355436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3078C0-24A4-D7E9-CF2A-7FB12E50B92B}"/>
              </a:ext>
            </a:extLst>
          </p:cNvPr>
          <p:cNvSpPr txBox="1"/>
          <p:nvPr/>
        </p:nvSpPr>
        <p:spPr>
          <a:xfrm>
            <a:off x="5937185" y="55795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C78017-ABEC-EA05-E354-D070CD478A32}"/>
              </a:ext>
            </a:extLst>
          </p:cNvPr>
          <p:cNvSpPr txBox="1"/>
          <p:nvPr/>
        </p:nvSpPr>
        <p:spPr>
          <a:xfrm>
            <a:off x="8086504" y="557950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7697D47-3ECE-69A6-FD13-F1FFF2F8C8E0}"/>
                  </a:ext>
                </a:extLst>
              </p:cNvPr>
              <p:cNvSpPr txBox="1"/>
              <p:nvPr/>
            </p:nvSpPr>
            <p:spPr>
              <a:xfrm>
                <a:off x="2499451" y="4339761"/>
                <a:ext cx="6348084" cy="7016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Waiting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0+11+6+13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7.5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7697D47-3ECE-69A6-FD13-F1FFF2F8C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451" y="4339761"/>
                <a:ext cx="6348084" cy="701602"/>
              </a:xfrm>
              <a:prstGeom prst="rect">
                <a:avLst/>
              </a:prstGeom>
              <a:blipFill>
                <a:blip r:embed="rId2"/>
                <a:stretch>
                  <a:fillRect l="-1441" b="-4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E9325F-6E17-0893-4B00-AFC0CA2E8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28787"/>
              </p:ext>
            </p:extLst>
          </p:nvPr>
        </p:nvGraphicFramePr>
        <p:xfrm>
          <a:off x="521207" y="2040869"/>
          <a:ext cx="10909740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124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211258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559841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4000133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CT – AT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– 10 – 0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 – 6 – 2 = 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– 3 – 4 =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– 7 – 6 = 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00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7" grpId="0"/>
      <p:bldP spid="21" grpId="0"/>
      <p:bldP spid="24" grpId="0"/>
      <p:bldP spid="25" grpId="0"/>
      <p:bldP spid="28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93687-BF2F-9DED-0B41-CE9D4C0B5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D32D13C-8720-DB7A-9740-1C137F77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4 (GATE 2024)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B992C1BF-9F10-1722-48E0-B58FDC075D76}"/>
              </a:ext>
            </a:extLst>
          </p:cNvPr>
          <p:cNvSpPr txBox="1">
            <a:spLocks/>
          </p:cNvSpPr>
          <p:nvPr/>
        </p:nvSpPr>
        <p:spPr>
          <a:xfrm>
            <a:off x="521207" y="1274484"/>
            <a:ext cx="11166914" cy="5691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​​​​Consider a single processor system with four processes A, B, C and D. Find the average waiting time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SJF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B38E99-A5EB-A55B-E749-BD3F9042DF4D}"/>
              </a:ext>
            </a:extLst>
          </p:cNvPr>
          <p:cNvGraphicFramePr>
            <a:graphicFrameLocks noGrp="1"/>
          </p:cNvGraphicFramePr>
          <p:nvPr/>
        </p:nvGraphicFramePr>
        <p:xfrm>
          <a:off x="521207" y="2029973"/>
          <a:ext cx="10909740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124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211258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559841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4000133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CT – AT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FA6A9D0-EB49-1DCB-1C10-9A732EA5D976}"/>
              </a:ext>
            </a:extLst>
          </p:cNvPr>
          <p:cNvSpPr/>
          <p:nvPr/>
        </p:nvSpPr>
        <p:spPr>
          <a:xfrm>
            <a:off x="1301437" y="5454858"/>
            <a:ext cx="8157874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59448-51E7-321F-5A2A-28DF10409E4D}"/>
              </a:ext>
            </a:extLst>
          </p:cNvPr>
          <p:cNvSpPr txBox="1"/>
          <p:nvPr/>
        </p:nvSpPr>
        <p:spPr>
          <a:xfrm>
            <a:off x="1146586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19FC9-D958-FAFE-BEC4-B27F4BBAE077}"/>
              </a:ext>
            </a:extLst>
          </p:cNvPr>
          <p:cNvSpPr txBox="1"/>
          <p:nvPr/>
        </p:nvSpPr>
        <p:spPr>
          <a:xfrm>
            <a:off x="1878336" y="562152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AFEBE8-B10F-2A31-4CA6-4AC708410279}"/>
              </a:ext>
            </a:extLst>
          </p:cNvPr>
          <p:cNvCxnSpPr/>
          <p:nvPr/>
        </p:nvCxnSpPr>
        <p:spPr>
          <a:xfrm>
            <a:off x="2852677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179633-F501-0013-44DB-42A76B600596}"/>
              </a:ext>
            </a:extLst>
          </p:cNvPr>
          <p:cNvSpPr txBox="1"/>
          <p:nvPr/>
        </p:nvSpPr>
        <p:spPr>
          <a:xfrm>
            <a:off x="2644928" y="6074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739C33-995C-83D5-E4FB-AA0ADD880A51}"/>
              </a:ext>
            </a:extLst>
          </p:cNvPr>
          <p:cNvSpPr txBox="1"/>
          <p:nvPr/>
        </p:nvSpPr>
        <p:spPr>
          <a:xfrm>
            <a:off x="4576230" y="55795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EF3448-6C89-47E1-BC64-FC80AA36E249}"/>
              </a:ext>
            </a:extLst>
          </p:cNvPr>
          <p:cNvCxnSpPr/>
          <p:nvPr/>
        </p:nvCxnSpPr>
        <p:spPr>
          <a:xfrm>
            <a:off x="5277942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CBECDAB-A9D7-5F53-808B-FC1F6A45012F}"/>
              </a:ext>
            </a:extLst>
          </p:cNvPr>
          <p:cNvSpPr txBox="1"/>
          <p:nvPr/>
        </p:nvSpPr>
        <p:spPr>
          <a:xfrm>
            <a:off x="5123092" y="6074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D25CD7-5D7F-3A9E-7EB9-AB7295C5A616}"/>
              </a:ext>
            </a:extLst>
          </p:cNvPr>
          <p:cNvCxnSpPr/>
          <p:nvPr/>
        </p:nvCxnSpPr>
        <p:spPr>
          <a:xfrm>
            <a:off x="4213072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7C4E34-7DDA-3B42-5A47-0FAD096412A2}"/>
              </a:ext>
            </a:extLst>
          </p:cNvPr>
          <p:cNvSpPr txBox="1"/>
          <p:nvPr/>
        </p:nvSpPr>
        <p:spPr>
          <a:xfrm>
            <a:off x="4058222" y="6074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581FFF-9C89-076E-7753-7610A0450384}"/>
              </a:ext>
            </a:extLst>
          </p:cNvPr>
          <p:cNvSpPr txBox="1"/>
          <p:nvPr/>
        </p:nvSpPr>
        <p:spPr>
          <a:xfrm>
            <a:off x="9355436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DE2A5C-35C5-5D9A-9378-14DF2B837D3F}"/>
              </a:ext>
            </a:extLst>
          </p:cNvPr>
          <p:cNvSpPr txBox="1"/>
          <p:nvPr/>
        </p:nvSpPr>
        <p:spPr>
          <a:xfrm>
            <a:off x="3287551" y="55795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E0B2FB-3E73-35A3-33E1-C4ABBDC453AF}"/>
              </a:ext>
            </a:extLst>
          </p:cNvPr>
          <p:cNvSpPr txBox="1"/>
          <p:nvPr/>
        </p:nvSpPr>
        <p:spPr>
          <a:xfrm>
            <a:off x="7063175" y="55629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A7F1E5C-3211-8B08-C0D6-3D7C91106B14}"/>
                  </a:ext>
                </a:extLst>
              </p:cNvPr>
              <p:cNvSpPr txBox="1"/>
              <p:nvPr/>
            </p:nvSpPr>
            <p:spPr>
              <a:xfrm>
                <a:off x="2499451" y="4339761"/>
                <a:ext cx="5964966" cy="707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Waiting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16+3+0+5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A7F1E5C-3211-8B08-C0D6-3D7C91106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451" y="4339761"/>
                <a:ext cx="5964966" cy="707758"/>
              </a:xfrm>
              <a:prstGeom prst="rect">
                <a:avLst/>
              </a:prstGeom>
              <a:blipFill>
                <a:blip r:embed="rId2"/>
                <a:stretch>
                  <a:fillRect l="-1532" b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EF6B89-2D95-E078-DED8-AAF00E6AA15F}"/>
              </a:ext>
            </a:extLst>
          </p:cNvPr>
          <p:cNvCxnSpPr/>
          <p:nvPr/>
        </p:nvCxnSpPr>
        <p:spPr>
          <a:xfrm>
            <a:off x="6551887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B645A16-D366-DCC1-BCBB-4BABEAA74E26}"/>
              </a:ext>
            </a:extLst>
          </p:cNvPr>
          <p:cNvSpPr txBox="1"/>
          <p:nvPr/>
        </p:nvSpPr>
        <p:spPr>
          <a:xfrm>
            <a:off x="6397037" y="6116987"/>
            <a:ext cx="40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079F6-0064-AE28-2F95-70353FC40452}"/>
              </a:ext>
            </a:extLst>
          </p:cNvPr>
          <p:cNvSpPr txBox="1"/>
          <p:nvPr/>
        </p:nvSpPr>
        <p:spPr>
          <a:xfrm>
            <a:off x="5626366" y="562152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00C2512-71A5-4324-6F6D-73F68D93E1AF}"/>
              </a:ext>
            </a:extLst>
          </p:cNvPr>
          <p:cNvCxnSpPr/>
          <p:nvPr/>
        </p:nvCxnSpPr>
        <p:spPr>
          <a:xfrm>
            <a:off x="8077868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AA823D-26A9-6521-E579-2127CBC9CF82}"/>
              </a:ext>
            </a:extLst>
          </p:cNvPr>
          <p:cNvSpPr txBox="1"/>
          <p:nvPr/>
        </p:nvSpPr>
        <p:spPr>
          <a:xfrm>
            <a:off x="7923018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14ADEF-9A54-0143-D581-C697A045839D}"/>
              </a:ext>
            </a:extLst>
          </p:cNvPr>
          <p:cNvSpPr txBox="1"/>
          <p:nvPr/>
        </p:nvSpPr>
        <p:spPr>
          <a:xfrm>
            <a:off x="8601979" y="55629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D003B7-716B-E93A-216B-6E3E6B11F239}"/>
              </a:ext>
            </a:extLst>
          </p:cNvPr>
          <p:cNvCxnSpPr/>
          <p:nvPr/>
        </p:nvCxnSpPr>
        <p:spPr>
          <a:xfrm flipV="1">
            <a:off x="4729655" y="2764221"/>
            <a:ext cx="283779" cy="2102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C123D00-A6EE-11E7-9971-4D2258F74B71}"/>
              </a:ext>
            </a:extLst>
          </p:cNvPr>
          <p:cNvSpPr txBox="1"/>
          <p:nvPr/>
        </p:nvSpPr>
        <p:spPr>
          <a:xfrm>
            <a:off x="5009361" y="268465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703F37-E93F-9C8B-AB0A-925567FA940E}"/>
              </a:ext>
            </a:extLst>
          </p:cNvPr>
          <p:cNvCxnSpPr/>
          <p:nvPr/>
        </p:nvCxnSpPr>
        <p:spPr>
          <a:xfrm flipV="1">
            <a:off x="4729655" y="3129266"/>
            <a:ext cx="283779" cy="2102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77BA214-C0D4-C7D8-017D-EB62B7C24C91}"/>
              </a:ext>
            </a:extLst>
          </p:cNvPr>
          <p:cNvSpPr txBox="1"/>
          <p:nvPr/>
        </p:nvSpPr>
        <p:spPr>
          <a:xfrm>
            <a:off x="5009361" y="304970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F577FE-8C8E-B7BA-8A4E-C97289E31F27}"/>
              </a:ext>
            </a:extLst>
          </p:cNvPr>
          <p:cNvCxnSpPr/>
          <p:nvPr/>
        </p:nvCxnSpPr>
        <p:spPr>
          <a:xfrm flipV="1">
            <a:off x="4730413" y="3494311"/>
            <a:ext cx="283779" cy="2102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1E3DB16-4483-24D0-3B69-60BEDFBF7925}"/>
              </a:ext>
            </a:extLst>
          </p:cNvPr>
          <p:cNvSpPr txBox="1"/>
          <p:nvPr/>
        </p:nvSpPr>
        <p:spPr>
          <a:xfrm>
            <a:off x="5010119" y="341474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9E83A1-894D-69BD-2D58-D1090AA68759}"/>
              </a:ext>
            </a:extLst>
          </p:cNvPr>
          <p:cNvCxnSpPr/>
          <p:nvPr/>
        </p:nvCxnSpPr>
        <p:spPr>
          <a:xfrm flipV="1">
            <a:off x="5009361" y="3139231"/>
            <a:ext cx="283779" cy="2102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02E1C40-7CB8-D65E-4320-509AF3C46D92}"/>
              </a:ext>
            </a:extLst>
          </p:cNvPr>
          <p:cNvSpPr txBox="1"/>
          <p:nvPr/>
        </p:nvSpPr>
        <p:spPr>
          <a:xfrm>
            <a:off x="5289067" y="30596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794C1E9-F208-ABD4-F867-3B6AB7C712F0}"/>
              </a:ext>
            </a:extLst>
          </p:cNvPr>
          <p:cNvCxnSpPr/>
          <p:nvPr/>
        </p:nvCxnSpPr>
        <p:spPr>
          <a:xfrm flipV="1">
            <a:off x="4688536" y="3886692"/>
            <a:ext cx="283779" cy="2102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7CD49DC-8089-4F67-FE4C-4AE538963E71}"/>
              </a:ext>
            </a:extLst>
          </p:cNvPr>
          <p:cNvSpPr txBox="1"/>
          <p:nvPr/>
        </p:nvSpPr>
        <p:spPr>
          <a:xfrm>
            <a:off x="4968242" y="380712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EBA8135-6B38-1B2C-7619-17CED11845E5}"/>
              </a:ext>
            </a:extLst>
          </p:cNvPr>
          <p:cNvCxnSpPr/>
          <p:nvPr/>
        </p:nvCxnSpPr>
        <p:spPr>
          <a:xfrm flipV="1">
            <a:off x="5026486" y="2775745"/>
            <a:ext cx="283779" cy="2102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3DBACB6-E88B-E29F-7FFC-B70A2CC590B8}"/>
              </a:ext>
            </a:extLst>
          </p:cNvPr>
          <p:cNvSpPr txBox="1"/>
          <p:nvPr/>
        </p:nvSpPr>
        <p:spPr>
          <a:xfrm>
            <a:off x="5306192" y="269618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828EA39-97E1-2DC6-E70A-B99E2B0E4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634636"/>
              </p:ext>
            </p:extLst>
          </p:nvPr>
        </p:nvGraphicFramePr>
        <p:xfrm>
          <a:off x="528702" y="2041497"/>
          <a:ext cx="10909740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124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211258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559841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4000133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CT – AT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108D6C4-2185-AA55-ACFB-8440168F6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416981"/>
              </p:ext>
            </p:extLst>
          </p:nvPr>
        </p:nvGraphicFramePr>
        <p:xfrm>
          <a:off x="536197" y="2050983"/>
          <a:ext cx="10909740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124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211258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559841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4000133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CT – AT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21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7" grpId="0"/>
      <p:bldP spid="21" grpId="0"/>
      <p:bldP spid="24" grpId="0"/>
      <p:bldP spid="25" grpId="0"/>
      <p:bldP spid="28" grpId="0"/>
      <p:bldP spid="37" grpId="0"/>
      <p:bldP spid="12" grpId="0"/>
      <p:bldP spid="13" grpId="0"/>
      <p:bldP spid="15" grpId="0"/>
      <p:bldP spid="18" grpId="0"/>
      <p:bldP spid="27" grpId="0"/>
      <p:bldP spid="30" grpId="0"/>
      <p:bldP spid="32" grpId="0"/>
      <p:bldP spid="34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E9A7E-DE35-BBC4-B031-73C3FA461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C9F5D5D-B131-47B0-9402-B181DBC1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5 (GATE 1995)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993C277A-344B-88B4-4BDF-B266DC017C49}"/>
              </a:ext>
            </a:extLst>
          </p:cNvPr>
          <p:cNvSpPr txBox="1">
            <a:spLocks/>
          </p:cNvSpPr>
          <p:nvPr/>
        </p:nvSpPr>
        <p:spPr>
          <a:xfrm>
            <a:off x="521207" y="1369887"/>
            <a:ext cx="11166914" cy="1686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scheduling policy is most suitable for a time-shared operating system?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Job First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Come First Serve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A345A35C-DEBE-1BD0-4496-0B2C004F427A}"/>
              </a:ext>
            </a:extLst>
          </p:cNvPr>
          <p:cNvSpPr txBox="1">
            <a:spLocks/>
          </p:cNvSpPr>
          <p:nvPr/>
        </p:nvSpPr>
        <p:spPr>
          <a:xfrm>
            <a:off x="521207" y="3338254"/>
            <a:ext cx="11166914" cy="2946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shared OS: 	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at the same time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context switching between processes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Non-preemptive approaches like FCFS and SJF, a process/user might monopolize the CPU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 is suitable as it gives a turn to execute, to each active process</a:t>
            </a:r>
          </a:p>
        </p:txBody>
      </p:sp>
    </p:spTree>
    <p:extLst>
      <p:ext uri="{BB962C8B-B14F-4D97-AF65-F5344CB8AC3E}">
        <p14:creationId xmlns:p14="http://schemas.microsoft.com/office/powerpoint/2010/main" val="234622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A7EC-87A9-AA75-E319-ECBF6C8D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E553525-EEFF-1ACD-CD08-74BC7439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6 (Galvin 5.2)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87DA6F27-77B5-F65F-FB64-22AE040FD68C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5465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how the following pairs of scheduling criteria conflict in certain settings. 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and response time 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(keeping CPU busy with process execution)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(Time from when the process is created to the time it first gets the CPU)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want to – increase CPU utilization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 response time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increases by reducing CONTEXT SWITCHING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SWITCHING – CPU wastes time in saving state of one process, loading saved state of another process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context switching means processes get CPU for more time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processes will have to wait for CPU for more time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INCERASES</a:t>
            </a:r>
          </a:p>
          <a:p>
            <a:pPr marL="1371600" lvl="3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 and maximum waiting time 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device utilization and CPU utilization</a:t>
            </a:r>
          </a:p>
        </p:txBody>
      </p:sp>
    </p:spTree>
    <p:extLst>
      <p:ext uri="{BB962C8B-B14F-4D97-AF65-F5344CB8AC3E}">
        <p14:creationId xmlns:p14="http://schemas.microsoft.com/office/powerpoint/2010/main" val="275187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4057C-BA38-6EC6-2D96-B862C84B2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4354E1D-78B6-2052-1FD0-F516AF3B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6 (Galvin 5.2)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3DAF6287-A0FE-0BB0-83D7-40A42A7B0792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5465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how the following pairs of scheduling criteria conflict in certain settings. 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and response time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 and maximum waiting time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 time (total time to complete the process)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(time spent in ready queue)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both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TT is reduced by scheduling smaller processes first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starves longer processes 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→ </a:t>
            </a:r>
            <a:r>
              <a:rPr lang="en-US" sz="18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INCREASING THEIR WAITING TIME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device utilization and CPU utilization</a:t>
            </a:r>
          </a:p>
        </p:txBody>
      </p:sp>
    </p:spTree>
    <p:extLst>
      <p:ext uri="{BB962C8B-B14F-4D97-AF65-F5344CB8AC3E}">
        <p14:creationId xmlns:p14="http://schemas.microsoft.com/office/powerpoint/2010/main" val="11740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7DA1-D4DC-97AB-C92A-87A9ADA4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02F951-55A9-7AA2-E647-490D1BE0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6 (Galvin 5.2)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BBA4C9A0-0D64-BA2D-C104-2330A5C38F3A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5465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how the following pairs of scheduling criteria conflict in certain settings. 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and response time 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 and maximum waiting time 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device utilization and CPU utilization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 (keeping CPU busy with process execution)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utilization (prioritizing I/O processes)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process are small, with less burst time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I/O utilization requires prioritizing these small jobs, as and when they come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CPU utilization requires lesser context switches, favoring longer CPU bound processes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contradicts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I/O bound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</a:p>
        </p:txBody>
      </p:sp>
    </p:spTree>
    <p:extLst>
      <p:ext uri="{BB962C8B-B14F-4D97-AF65-F5344CB8AC3E}">
        <p14:creationId xmlns:p14="http://schemas.microsoft.com/office/powerpoint/2010/main" val="110161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67A59-7231-A378-600C-BCA9E982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E7FF35A-98F6-B9CA-EDEB-06CEDBDB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7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7B9DDF08-F4A1-6A27-D586-4474A396E4C0}"/>
              </a:ext>
            </a:extLst>
          </p:cNvPr>
          <p:cNvSpPr txBox="1">
            <a:spLocks/>
          </p:cNvSpPr>
          <p:nvPr/>
        </p:nvSpPr>
        <p:spPr>
          <a:xfrm>
            <a:off x="521207" y="1166660"/>
            <a:ext cx="11166914" cy="1084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set of processes, with the length of the CPU-burst time given in milliseconds. Compute the Average Turnaround Time and Average Waiting Time for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FCFS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b. SJF		c. non-preemptive priority		d. RR (quantum = 1ms)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65808-49F2-2FCF-CD42-A9B43798BEA5}"/>
              </a:ext>
            </a:extLst>
          </p:cNvPr>
          <p:cNvSpPr/>
          <p:nvPr/>
        </p:nvSpPr>
        <p:spPr>
          <a:xfrm>
            <a:off x="1301436" y="5454858"/>
            <a:ext cx="9606455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BDD0D-608A-4886-7654-836F3D3F40C2}"/>
              </a:ext>
            </a:extLst>
          </p:cNvPr>
          <p:cNvSpPr txBox="1"/>
          <p:nvPr/>
        </p:nvSpPr>
        <p:spPr>
          <a:xfrm>
            <a:off x="1146586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E686C-A6EC-3FD7-422B-D86A691B230A}"/>
              </a:ext>
            </a:extLst>
          </p:cNvPr>
          <p:cNvSpPr txBox="1"/>
          <p:nvPr/>
        </p:nvSpPr>
        <p:spPr>
          <a:xfrm>
            <a:off x="1677257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5C7124-5A3C-D148-F39A-B7963F39D84A}"/>
              </a:ext>
            </a:extLst>
          </p:cNvPr>
          <p:cNvCxnSpPr/>
          <p:nvPr/>
        </p:nvCxnSpPr>
        <p:spPr>
          <a:xfrm>
            <a:off x="2481400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AF80EB1-4015-2DC5-D956-3F3F0AA1B7C1}"/>
              </a:ext>
            </a:extLst>
          </p:cNvPr>
          <p:cNvSpPr txBox="1"/>
          <p:nvPr/>
        </p:nvSpPr>
        <p:spPr>
          <a:xfrm>
            <a:off x="2326550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F413B6-3FB6-BC2A-38B2-841485EA5755}"/>
              </a:ext>
            </a:extLst>
          </p:cNvPr>
          <p:cNvSpPr txBox="1"/>
          <p:nvPr/>
        </p:nvSpPr>
        <p:spPr>
          <a:xfrm>
            <a:off x="3341922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5A7F0A-9A40-F7B7-CBE0-8D4A0361A695}"/>
              </a:ext>
            </a:extLst>
          </p:cNvPr>
          <p:cNvCxnSpPr/>
          <p:nvPr/>
        </p:nvCxnSpPr>
        <p:spPr>
          <a:xfrm>
            <a:off x="4630766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1D95CD-83E2-3119-DE1D-435A89E35BC3}"/>
              </a:ext>
            </a:extLst>
          </p:cNvPr>
          <p:cNvSpPr txBox="1"/>
          <p:nvPr/>
        </p:nvSpPr>
        <p:spPr>
          <a:xfrm>
            <a:off x="4475916" y="6074968"/>
            <a:ext cx="40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6CFFB7-1B4F-5304-66B9-0D9C96888023}"/>
              </a:ext>
            </a:extLst>
          </p:cNvPr>
          <p:cNvCxnSpPr/>
          <p:nvPr/>
        </p:nvCxnSpPr>
        <p:spPr>
          <a:xfrm>
            <a:off x="6934981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2DE728F-3CD5-7EE7-33AE-15FAED63D1DF}"/>
              </a:ext>
            </a:extLst>
          </p:cNvPr>
          <p:cNvSpPr txBox="1"/>
          <p:nvPr/>
        </p:nvSpPr>
        <p:spPr>
          <a:xfrm>
            <a:off x="6780131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43D491-4B6E-5DE7-955D-3089BE0CD587}"/>
              </a:ext>
            </a:extLst>
          </p:cNvPr>
          <p:cNvCxnSpPr/>
          <p:nvPr/>
        </p:nvCxnSpPr>
        <p:spPr>
          <a:xfrm>
            <a:off x="9111225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D52D152-BDC6-4D08-6208-43E8396BB06F}"/>
              </a:ext>
            </a:extLst>
          </p:cNvPr>
          <p:cNvSpPr txBox="1"/>
          <p:nvPr/>
        </p:nvSpPr>
        <p:spPr>
          <a:xfrm>
            <a:off x="8956375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58B96E-00B9-FD07-F62E-7D571DDA0D10}"/>
              </a:ext>
            </a:extLst>
          </p:cNvPr>
          <p:cNvSpPr txBox="1"/>
          <p:nvPr/>
        </p:nvSpPr>
        <p:spPr>
          <a:xfrm>
            <a:off x="10822919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5908B2-FC67-5FDF-E5A9-600F5C0D0EE9}"/>
              </a:ext>
            </a:extLst>
          </p:cNvPr>
          <p:cNvSpPr txBox="1"/>
          <p:nvPr/>
        </p:nvSpPr>
        <p:spPr>
          <a:xfrm>
            <a:off x="5568713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5BE9EA-368B-2C4A-2DD1-CB50558ACE21}"/>
              </a:ext>
            </a:extLst>
          </p:cNvPr>
          <p:cNvSpPr txBox="1"/>
          <p:nvPr/>
        </p:nvSpPr>
        <p:spPr>
          <a:xfrm>
            <a:off x="7808942" y="55802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03B36B-2B4B-2FFF-EC28-B3EE7DB68BD9}"/>
              </a:ext>
            </a:extLst>
          </p:cNvPr>
          <p:cNvSpPr txBox="1"/>
          <p:nvPr/>
        </p:nvSpPr>
        <p:spPr>
          <a:xfrm>
            <a:off x="9795397" y="55802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C903D3A-B058-6814-7693-1D95D0EB7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991505"/>
              </p:ext>
            </p:extLst>
          </p:nvPr>
        </p:nvGraphicFramePr>
        <p:xfrm>
          <a:off x="542165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B14B5E-E5FD-AA0B-366B-AD98A1475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461112"/>
              </p:ext>
            </p:extLst>
          </p:nvPr>
        </p:nvGraphicFramePr>
        <p:xfrm>
          <a:off x="542164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CF9DC2-08DD-2312-ED19-FB6212443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088132"/>
              </p:ext>
            </p:extLst>
          </p:nvPr>
        </p:nvGraphicFramePr>
        <p:xfrm>
          <a:off x="542163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– 10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– 1 =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– 2 = 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– 1 = 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 – 5 = 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23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7" grpId="0"/>
      <p:bldP spid="21" grpId="0"/>
      <p:bldP spid="23" grpId="0"/>
      <p:bldP spid="24" grpId="0"/>
      <p:bldP spid="25" grpId="0"/>
      <p:bldP spid="28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0DB7-88BA-3DF0-C504-CB09B027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E34EC8D-C1AC-78B0-492D-4D11FB89F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7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12FD4806-F10D-1B71-CFD9-A4E82DCEBE4B}"/>
              </a:ext>
            </a:extLst>
          </p:cNvPr>
          <p:cNvSpPr txBox="1">
            <a:spLocks/>
          </p:cNvSpPr>
          <p:nvPr/>
        </p:nvSpPr>
        <p:spPr>
          <a:xfrm>
            <a:off x="521207" y="1166660"/>
            <a:ext cx="11166914" cy="1084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set of processes, with the length of the CPU-burst time given in milliseconds. Compute the Average Turnaround Time and Average Waiting Time for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FCFS	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SJF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c. non-preemptive priority		d. RR (quantum = 1ms)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65EEB2-8C16-CD0E-F03C-E8D59FCCAB41}"/>
              </a:ext>
            </a:extLst>
          </p:cNvPr>
          <p:cNvSpPr/>
          <p:nvPr/>
        </p:nvSpPr>
        <p:spPr>
          <a:xfrm>
            <a:off x="1301436" y="5454858"/>
            <a:ext cx="9606455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532A37-5262-EB62-DFF8-ABE18BDF621B}"/>
              </a:ext>
            </a:extLst>
          </p:cNvPr>
          <p:cNvSpPr txBox="1"/>
          <p:nvPr/>
        </p:nvSpPr>
        <p:spPr>
          <a:xfrm>
            <a:off x="1146586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AD6EA-04D2-AFF2-1A3C-FF0456B660AF}"/>
              </a:ext>
            </a:extLst>
          </p:cNvPr>
          <p:cNvSpPr txBox="1"/>
          <p:nvPr/>
        </p:nvSpPr>
        <p:spPr>
          <a:xfrm>
            <a:off x="1677257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3FF208-08B3-9E70-EC6E-75716EB96B72}"/>
              </a:ext>
            </a:extLst>
          </p:cNvPr>
          <p:cNvCxnSpPr/>
          <p:nvPr/>
        </p:nvCxnSpPr>
        <p:spPr>
          <a:xfrm>
            <a:off x="2481400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A678D1-44B6-EBA0-9D80-4D049AC5E63A}"/>
              </a:ext>
            </a:extLst>
          </p:cNvPr>
          <p:cNvSpPr txBox="1"/>
          <p:nvPr/>
        </p:nvSpPr>
        <p:spPr>
          <a:xfrm>
            <a:off x="2326550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CCA0A4-537A-CBAF-63BD-2EB415973440}"/>
              </a:ext>
            </a:extLst>
          </p:cNvPr>
          <p:cNvSpPr txBox="1"/>
          <p:nvPr/>
        </p:nvSpPr>
        <p:spPr>
          <a:xfrm>
            <a:off x="3341922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8B1569-C334-1354-D9B7-CF8A1368747A}"/>
              </a:ext>
            </a:extLst>
          </p:cNvPr>
          <p:cNvCxnSpPr/>
          <p:nvPr/>
        </p:nvCxnSpPr>
        <p:spPr>
          <a:xfrm>
            <a:off x="4630766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77F2887-415B-06E1-494F-156FF406A525}"/>
              </a:ext>
            </a:extLst>
          </p:cNvPr>
          <p:cNvSpPr txBox="1"/>
          <p:nvPr/>
        </p:nvSpPr>
        <p:spPr>
          <a:xfrm>
            <a:off x="4475916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E54409-3C40-264A-46C9-13A6A59E886A}"/>
              </a:ext>
            </a:extLst>
          </p:cNvPr>
          <p:cNvCxnSpPr/>
          <p:nvPr/>
        </p:nvCxnSpPr>
        <p:spPr>
          <a:xfrm>
            <a:off x="6934981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67F3093-744E-3FDD-7DC0-6DAB5A6FDD86}"/>
              </a:ext>
            </a:extLst>
          </p:cNvPr>
          <p:cNvSpPr txBox="1"/>
          <p:nvPr/>
        </p:nvSpPr>
        <p:spPr>
          <a:xfrm>
            <a:off x="6780131" y="6074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47FCC2-777B-4A38-BC8F-3727BAA17B27}"/>
              </a:ext>
            </a:extLst>
          </p:cNvPr>
          <p:cNvCxnSpPr/>
          <p:nvPr/>
        </p:nvCxnSpPr>
        <p:spPr>
          <a:xfrm>
            <a:off x="9111225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E4E4C3F-5519-1FAD-6FA5-DEAC533DE935}"/>
              </a:ext>
            </a:extLst>
          </p:cNvPr>
          <p:cNvSpPr txBox="1"/>
          <p:nvPr/>
        </p:nvSpPr>
        <p:spPr>
          <a:xfrm>
            <a:off x="8956375" y="6074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4A1CD9-31E7-D30C-5737-07790E5618FB}"/>
              </a:ext>
            </a:extLst>
          </p:cNvPr>
          <p:cNvSpPr txBox="1"/>
          <p:nvPr/>
        </p:nvSpPr>
        <p:spPr>
          <a:xfrm>
            <a:off x="10822919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EE9DE5-F8B3-EAB9-2C54-3165C6E4F9CA}"/>
              </a:ext>
            </a:extLst>
          </p:cNvPr>
          <p:cNvSpPr txBox="1"/>
          <p:nvPr/>
        </p:nvSpPr>
        <p:spPr>
          <a:xfrm>
            <a:off x="5568713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40A4C3-3F64-A864-6D28-1C50809396EE}"/>
              </a:ext>
            </a:extLst>
          </p:cNvPr>
          <p:cNvSpPr txBox="1"/>
          <p:nvPr/>
        </p:nvSpPr>
        <p:spPr>
          <a:xfrm>
            <a:off x="7808942" y="55802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8DC218-F228-28AD-E975-0C54CF2D3FE4}"/>
              </a:ext>
            </a:extLst>
          </p:cNvPr>
          <p:cNvSpPr txBox="1"/>
          <p:nvPr/>
        </p:nvSpPr>
        <p:spPr>
          <a:xfrm>
            <a:off x="9795397" y="55802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7016D79-F9F4-FF16-F3BB-AD791B461364}"/>
              </a:ext>
            </a:extLst>
          </p:cNvPr>
          <p:cNvGraphicFramePr>
            <a:graphicFrameLocks noGrp="1"/>
          </p:cNvGraphicFramePr>
          <p:nvPr/>
        </p:nvGraphicFramePr>
        <p:xfrm>
          <a:off x="542165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B21F5A-3EA5-2E70-0280-9FC2060E3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701865"/>
              </p:ext>
            </p:extLst>
          </p:nvPr>
        </p:nvGraphicFramePr>
        <p:xfrm>
          <a:off x="542165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691B5A-EFCC-B5E3-8017-6D438C948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859051"/>
              </p:ext>
            </p:extLst>
          </p:nvPr>
        </p:nvGraphicFramePr>
        <p:xfrm>
          <a:off x="542165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(19 - 10) =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(1 - 1) =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(4 - 2) = 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(2 - 1) = 1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(9 - 5) = 4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1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7" grpId="0"/>
      <p:bldP spid="21" grpId="0"/>
      <p:bldP spid="23" grpId="0"/>
      <p:bldP spid="24" grpId="0"/>
      <p:bldP spid="25" grpId="0"/>
      <p:bldP spid="28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12C94-8D13-36F2-82AF-4001477B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ABEAFBE-82E4-5D84-9ED6-B26807F9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7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651E9B69-E371-97DB-1A62-717DD924B52E}"/>
              </a:ext>
            </a:extLst>
          </p:cNvPr>
          <p:cNvSpPr txBox="1">
            <a:spLocks/>
          </p:cNvSpPr>
          <p:nvPr/>
        </p:nvSpPr>
        <p:spPr>
          <a:xfrm>
            <a:off x="521207" y="1166660"/>
            <a:ext cx="11166914" cy="1084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set of processes, with the length of the CPU-burst time given in milliseconds. Compute the Average Turnaround Time and Average Waiting Time for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FCFS		b. SJF	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non-preemptive priority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d. RR (quantum = 1ms)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3A333F-683D-9B76-A041-14AF7C4A72BE}"/>
              </a:ext>
            </a:extLst>
          </p:cNvPr>
          <p:cNvSpPr/>
          <p:nvPr/>
        </p:nvSpPr>
        <p:spPr>
          <a:xfrm>
            <a:off x="1301436" y="5454858"/>
            <a:ext cx="9606455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1846D3-0A52-856A-1464-5D16166E04B9}"/>
              </a:ext>
            </a:extLst>
          </p:cNvPr>
          <p:cNvSpPr txBox="1"/>
          <p:nvPr/>
        </p:nvSpPr>
        <p:spPr>
          <a:xfrm>
            <a:off x="1146586" y="6074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BFA92F-1C0D-24A6-622A-85D0157ABB6F}"/>
              </a:ext>
            </a:extLst>
          </p:cNvPr>
          <p:cNvSpPr txBox="1"/>
          <p:nvPr/>
        </p:nvSpPr>
        <p:spPr>
          <a:xfrm>
            <a:off x="1677257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6BD082-73F3-7C3C-F4D2-7C3F153FB238}"/>
              </a:ext>
            </a:extLst>
          </p:cNvPr>
          <p:cNvCxnSpPr/>
          <p:nvPr/>
        </p:nvCxnSpPr>
        <p:spPr>
          <a:xfrm>
            <a:off x="2481400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48F97A-3F58-3A7E-1C1C-9B9F9784495E}"/>
              </a:ext>
            </a:extLst>
          </p:cNvPr>
          <p:cNvSpPr txBox="1"/>
          <p:nvPr/>
        </p:nvSpPr>
        <p:spPr>
          <a:xfrm>
            <a:off x="2326550" y="6074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7A117-649B-649A-5FA8-0B131FDDDC42}"/>
              </a:ext>
            </a:extLst>
          </p:cNvPr>
          <p:cNvSpPr txBox="1"/>
          <p:nvPr/>
        </p:nvSpPr>
        <p:spPr>
          <a:xfrm>
            <a:off x="3341922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BDF141-6BEC-DF9A-E70A-4F6C713553F4}"/>
              </a:ext>
            </a:extLst>
          </p:cNvPr>
          <p:cNvCxnSpPr/>
          <p:nvPr/>
        </p:nvCxnSpPr>
        <p:spPr>
          <a:xfrm>
            <a:off x="4630766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159659-E5E5-7357-E603-A23F0177122D}"/>
              </a:ext>
            </a:extLst>
          </p:cNvPr>
          <p:cNvSpPr txBox="1"/>
          <p:nvPr/>
        </p:nvSpPr>
        <p:spPr>
          <a:xfrm>
            <a:off x="4475916" y="60749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7E3815-1012-F9C1-DD02-000F16AEC791}"/>
              </a:ext>
            </a:extLst>
          </p:cNvPr>
          <p:cNvCxnSpPr/>
          <p:nvPr/>
        </p:nvCxnSpPr>
        <p:spPr>
          <a:xfrm>
            <a:off x="6934981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965F34A-8D80-E975-D525-39399CEA12AE}"/>
              </a:ext>
            </a:extLst>
          </p:cNvPr>
          <p:cNvSpPr txBox="1"/>
          <p:nvPr/>
        </p:nvSpPr>
        <p:spPr>
          <a:xfrm>
            <a:off x="6780131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D69A08-E960-A594-CF0E-7A603DC4EB49}"/>
              </a:ext>
            </a:extLst>
          </p:cNvPr>
          <p:cNvCxnSpPr/>
          <p:nvPr/>
        </p:nvCxnSpPr>
        <p:spPr>
          <a:xfrm>
            <a:off x="9111225" y="5454858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096ECE1-1F24-5C7D-8C6A-B903E6EDBFDA}"/>
              </a:ext>
            </a:extLst>
          </p:cNvPr>
          <p:cNvSpPr txBox="1"/>
          <p:nvPr/>
        </p:nvSpPr>
        <p:spPr>
          <a:xfrm>
            <a:off x="8956375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F0AA4E-D3FD-59AA-47FD-0F3C35C7A271}"/>
              </a:ext>
            </a:extLst>
          </p:cNvPr>
          <p:cNvSpPr txBox="1"/>
          <p:nvPr/>
        </p:nvSpPr>
        <p:spPr>
          <a:xfrm>
            <a:off x="10822919" y="60749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FB38A4-C7F5-813C-E8BF-DFEB033462DA}"/>
              </a:ext>
            </a:extLst>
          </p:cNvPr>
          <p:cNvSpPr txBox="1"/>
          <p:nvPr/>
        </p:nvSpPr>
        <p:spPr>
          <a:xfrm>
            <a:off x="5568713" y="558024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7E47DB-C06C-A149-A05C-1287656D9D22}"/>
              </a:ext>
            </a:extLst>
          </p:cNvPr>
          <p:cNvSpPr txBox="1"/>
          <p:nvPr/>
        </p:nvSpPr>
        <p:spPr>
          <a:xfrm>
            <a:off x="7808942" y="55802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CEF58E-DF27-609D-67D5-5FDDFBCA068A}"/>
              </a:ext>
            </a:extLst>
          </p:cNvPr>
          <p:cNvSpPr txBox="1"/>
          <p:nvPr/>
        </p:nvSpPr>
        <p:spPr>
          <a:xfrm>
            <a:off x="9795397" y="55802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8AFE1C4-55FD-D17A-6753-0D65D4552948}"/>
              </a:ext>
            </a:extLst>
          </p:cNvPr>
          <p:cNvGraphicFramePr>
            <a:graphicFrameLocks noGrp="1"/>
          </p:cNvGraphicFramePr>
          <p:nvPr/>
        </p:nvGraphicFramePr>
        <p:xfrm>
          <a:off x="542165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7CC0AA-09F2-A762-625D-5FCE7A201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279972"/>
              </p:ext>
            </p:extLst>
          </p:nvPr>
        </p:nvGraphicFramePr>
        <p:xfrm>
          <a:off x="542165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025257-9E9C-CFA5-957C-53B3F3C6A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701335"/>
              </p:ext>
            </p:extLst>
          </p:nvPr>
        </p:nvGraphicFramePr>
        <p:xfrm>
          <a:off x="542165" y="2376182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22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7" grpId="0"/>
      <p:bldP spid="21" grpId="0"/>
      <p:bldP spid="23" grpId="0"/>
      <p:bldP spid="24" grpId="0"/>
      <p:bldP spid="25" grpId="0"/>
      <p:bldP spid="28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1A82-7A1F-395C-F73F-D726D768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F55A64-1B1A-C2CA-345C-76DDB4E3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7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68A84B08-4462-81BC-6CED-F01C9FDC727E}"/>
              </a:ext>
            </a:extLst>
          </p:cNvPr>
          <p:cNvSpPr txBox="1">
            <a:spLocks/>
          </p:cNvSpPr>
          <p:nvPr/>
        </p:nvSpPr>
        <p:spPr>
          <a:xfrm>
            <a:off x="521207" y="1166660"/>
            <a:ext cx="11166914" cy="1084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set of processes, with the length of the CPU-burst time given in milliseconds. Compute the Average Turnaround Time and Average Waiting Time for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FCFS		b. SJF		c. non-preemptive priority	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RR (quantum = 1ms)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None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1D5868-B66C-EB44-5876-8D187826CCAE}"/>
              </a:ext>
            </a:extLst>
          </p:cNvPr>
          <p:cNvSpPr/>
          <p:nvPr/>
        </p:nvSpPr>
        <p:spPr>
          <a:xfrm>
            <a:off x="1986456" y="5538941"/>
            <a:ext cx="8471338" cy="62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A93CE-823A-E1D1-DE4C-F2A2ADA5A27D}"/>
              </a:ext>
            </a:extLst>
          </p:cNvPr>
          <p:cNvSpPr txBox="1"/>
          <p:nvPr/>
        </p:nvSpPr>
        <p:spPr>
          <a:xfrm>
            <a:off x="1831605" y="61590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91F7F-2737-6488-41FD-1A310D5FABC6}"/>
              </a:ext>
            </a:extLst>
          </p:cNvPr>
          <p:cNvSpPr txBox="1"/>
          <p:nvPr/>
        </p:nvSpPr>
        <p:spPr>
          <a:xfrm>
            <a:off x="1986455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D5B081-D71D-257F-0226-22BC82DB337D}"/>
              </a:ext>
            </a:extLst>
          </p:cNvPr>
          <p:cNvCxnSpPr/>
          <p:nvPr/>
        </p:nvCxnSpPr>
        <p:spPr>
          <a:xfrm>
            <a:off x="2447267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D2BC3C-5546-F9F5-9FC8-F5CCC9EA02E6}"/>
              </a:ext>
            </a:extLst>
          </p:cNvPr>
          <p:cNvSpPr txBox="1"/>
          <p:nvPr/>
        </p:nvSpPr>
        <p:spPr>
          <a:xfrm>
            <a:off x="2786075" y="615905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05EC48-AEA5-A185-80A7-A20093DA9332}"/>
              </a:ext>
            </a:extLst>
          </p:cNvPr>
          <p:cNvSpPr txBox="1"/>
          <p:nvPr/>
        </p:nvSpPr>
        <p:spPr>
          <a:xfrm>
            <a:off x="3042490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F3BF27-BED9-410E-09B1-200D7C68EE55}"/>
              </a:ext>
            </a:extLst>
          </p:cNvPr>
          <p:cNvCxnSpPr/>
          <p:nvPr/>
        </p:nvCxnSpPr>
        <p:spPr>
          <a:xfrm>
            <a:off x="2959040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38B604B-EB3B-6ADA-D047-C563851C1B1D}"/>
              </a:ext>
            </a:extLst>
          </p:cNvPr>
          <p:cNvSpPr txBox="1"/>
          <p:nvPr/>
        </p:nvSpPr>
        <p:spPr>
          <a:xfrm>
            <a:off x="3740545" y="617627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83D877-F76D-04BC-8ED5-06B5D54B0FA1}"/>
              </a:ext>
            </a:extLst>
          </p:cNvPr>
          <p:cNvCxnSpPr/>
          <p:nvPr/>
        </p:nvCxnSpPr>
        <p:spPr>
          <a:xfrm>
            <a:off x="3470812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37237A-EC7A-627C-606A-2DA31731D360}"/>
              </a:ext>
            </a:extLst>
          </p:cNvPr>
          <p:cNvSpPr txBox="1"/>
          <p:nvPr/>
        </p:nvSpPr>
        <p:spPr>
          <a:xfrm>
            <a:off x="5228076" y="61590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4D8EFE-8F4E-2AB0-67E4-1BF51D37C9CB}"/>
              </a:ext>
            </a:extLst>
          </p:cNvPr>
          <p:cNvCxnSpPr/>
          <p:nvPr/>
        </p:nvCxnSpPr>
        <p:spPr>
          <a:xfrm>
            <a:off x="3899134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6953D11-E11F-888F-A7DE-8F25B280681F}"/>
              </a:ext>
            </a:extLst>
          </p:cNvPr>
          <p:cNvSpPr txBox="1"/>
          <p:nvPr/>
        </p:nvSpPr>
        <p:spPr>
          <a:xfrm>
            <a:off x="8609088" y="615902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6477D1-98C8-167B-217C-3D909DFFC4A2}"/>
              </a:ext>
            </a:extLst>
          </p:cNvPr>
          <p:cNvSpPr txBox="1"/>
          <p:nvPr/>
        </p:nvSpPr>
        <p:spPr>
          <a:xfrm>
            <a:off x="10360395" y="617627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8AD5F-6C80-CD63-3FB9-8FFFC50A83BA}"/>
              </a:ext>
            </a:extLst>
          </p:cNvPr>
          <p:cNvSpPr txBox="1"/>
          <p:nvPr/>
        </p:nvSpPr>
        <p:spPr>
          <a:xfrm>
            <a:off x="3899133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7D7F3F-8BB5-7FE7-BDE7-680A22354F87}"/>
              </a:ext>
            </a:extLst>
          </p:cNvPr>
          <p:cNvSpPr txBox="1"/>
          <p:nvPr/>
        </p:nvSpPr>
        <p:spPr>
          <a:xfrm>
            <a:off x="3470812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2D035-0979-8A38-03C1-2D2B80348081}"/>
              </a:ext>
            </a:extLst>
          </p:cNvPr>
          <p:cNvSpPr txBox="1"/>
          <p:nvPr/>
        </p:nvSpPr>
        <p:spPr>
          <a:xfrm>
            <a:off x="2530718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6B93BE2-18A3-5271-B762-BD771C7FB58C}"/>
              </a:ext>
            </a:extLst>
          </p:cNvPr>
          <p:cNvGraphicFramePr>
            <a:graphicFrameLocks noGrp="1"/>
          </p:cNvGraphicFramePr>
          <p:nvPr/>
        </p:nvGraphicFramePr>
        <p:xfrm>
          <a:off x="542165" y="237620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0F294B0-ACEB-A662-9A11-933E806457B2}"/>
              </a:ext>
            </a:extLst>
          </p:cNvPr>
          <p:cNvCxnSpPr/>
          <p:nvPr/>
        </p:nvCxnSpPr>
        <p:spPr>
          <a:xfrm>
            <a:off x="4359946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CD37532-46F2-0A97-4200-76454EE341DE}"/>
              </a:ext>
            </a:extLst>
          </p:cNvPr>
          <p:cNvSpPr txBox="1"/>
          <p:nvPr/>
        </p:nvSpPr>
        <p:spPr>
          <a:xfrm>
            <a:off x="4441550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2E6176D-1AA2-9989-FE52-EDFABF8601A8}"/>
              </a:ext>
            </a:extLst>
          </p:cNvPr>
          <p:cNvCxnSpPr/>
          <p:nvPr/>
        </p:nvCxnSpPr>
        <p:spPr>
          <a:xfrm>
            <a:off x="4902362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675C563-5FA9-DD8F-185E-4277B16095C4}"/>
              </a:ext>
            </a:extLst>
          </p:cNvPr>
          <p:cNvSpPr txBox="1"/>
          <p:nvPr/>
        </p:nvSpPr>
        <p:spPr>
          <a:xfrm>
            <a:off x="5497585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DDF557-8FB6-AB48-2412-CEF61CED42DD}"/>
              </a:ext>
            </a:extLst>
          </p:cNvPr>
          <p:cNvCxnSpPr/>
          <p:nvPr/>
        </p:nvCxnSpPr>
        <p:spPr>
          <a:xfrm>
            <a:off x="5414135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944A3C-A0A4-43C8-A9BF-9A48DAE9A401}"/>
              </a:ext>
            </a:extLst>
          </p:cNvPr>
          <p:cNvCxnSpPr/>
          <p:nvPr/>
        </p:nvCxnSpPr>
        <p:spPr>
          <a:xfrm>
            <a:off x="5925907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22399AC-7409-BEA8-5612-38D5C05256B1}"/>
              </a:ext>
            </a:extLst>
          </p:cNvPr>
          <p:cNvCxnSpPr/>
          <p:nvPr/>
        </p:nvCxnSpPr>
        <p:spPr>
          <a:xfrm>
            <a:off x="6354229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EA9609A-FAFE-D8FC-FE97-D0D4EE03A944}"/>
              </a:ext>
            </a:extLst>
          </p:cNvPr>
          <p:cNvSpPr txBox="1"/>
          <p:nvPr/>
        </p:nvSpPr>
        <p:spPr>
          <a:xfrm>
            <a:off x="6354228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F6EA91-DC0E-1308-CFE6-1B9714EB3862}"/>
              </a:ext>
            </a:extLst>
          </p:cNvPr>
          <p:cNvSpPr txBox="1"/>
          <p:nvPr/>
        </p:nvSpPr>
        <p:spPr>
          <a:xfrm>
            <a:off x="5925907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0BD891-DEF2-0CDB-A673-4EA0C44327C8}"/>
              </a:ext>
            </a:extLst>
          </p:cNvPr>
          <p:cNvSpPr txBox="1"/>
          <p:nvPr/>
        </p:nvSpPr>
        <p:spPr>
          <a:xfrm>
            <a:off x="4985813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3C5CB37-AEA5-01EC-86EC-E4C56D883FEB}"/>
              </a:ext>
            </a:extLst>
          </p:cNvPr>
          <p:cNvCxnSpPr/>
          <p:nvPr/>
        </p:nvCxnSpPr>
        <p:spPr>
          <a:xfrm>
            <a:off x="6815041" y="5538930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9B53389-F92A-0199-5FB5-3B729FDAD62B}"/>
              </a:ext>
            </a:extLst>
          </p:cNvPr>
          <p:cNvSpPr txBox="1"/>
          <p:nvPr/>
        </p:nvSpPr>
        <p:spPr>
          <a:xfrm>
            <a:off x="6904158" y="567102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9EA39CE-33AE-8FC6-E453-15707CDE423F}"/>
              </a:ext>
            </a:extLst>
          </p:cNvPr>
          <p:cNvCxnSpPr/>
          <p:nvPr/>
        </p:nvCxnSpPr>
        <p:spPr>
          <a:xfrm>
            <a:off x="7364970" y="5545632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D955AC4-3246-314C-999C-06146C2D1529}"/>
              </a:ext>
            </a:extLst>
          </p:cNvPr>
          <p:cNvSpPr txBox="1"/>
          <p:nvPr/>
        </p:nvSpPr>
        <p:spPr>
          <a:xfrm>
            <a:off x="7960193" y="567102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7E8A4B1-3B3E-99AB-D06F-8DC3D50E31FC}"/>
              </a:ext>
            </a:extLst>
          </p:cNvPr>
          <p:cNvCxnSpPr/>
          <p:nvPr/>
        </p:nvCxnSpPr>
        <p:spPr>
          <a:xfrm>
            <a:off x="7876743" y="5545632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473447E-16E3-7124-64FC-CD53AC9D9666}"/>
              </a:ext>
            </a:extLst>
          </p:cNvPr>
          <p:cNvCxnSpPr/>
          <p:nvPr/>
        </p:nvCxnSpPr>
        <p:spPr>
          <a:xfrm>
            <a:off x="8388515" y="5545632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B08CDC-1D50-6052-1AFC-6260FAF3210C}"/>
              </a:ext>
            </a:extLst>
          </p:cNvPr>
          <p:cNvCxnSpPr/>
          <p:nvPr/>
        </p:nvCxnSpPr>
        <p:spPr>
          <a:xfrm>
            <a:off x="8816837" y="5545632"/>
            <a:ext cx="0" cy="620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41673A1-6328-9B43-BF66-8806B559E3FB}"/>
              </a:ext>
            </a:extLst>
          </p:cNvPr>
          <p:cNvSpPr txBox="1"/>
          <p:nvPr/>
        </p:nvSpPr>
        <p:spPr>
          <a:xfrm>
            <a:off x="9354698" y="56643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30BFB3-4C15-7C44-6F90-DB76B0B98FEF}"/>
              </a:ext>
            </a:extLst>
          </p:cNvPr>
          <p:cNvSpPr txBox="1"/>
          <p:nvPr/>
        </p:nvSpPr>
        <p:spPr>
          <a:xfrm>
            <a:off x="8388515" y="567102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2F3997-2BAA-C54A-858B-C86412ED8352}"/>
              </a:ext>
            </a:extLst>
          </p:cNvPr>
          <p:cNvSpPr txBox="1"/>
          <p:nvPr/>
        </p:nvSpPr>
        <p:spPr>
          <a:xfrm>
            <a:off x="7448421" y="567102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C2DCCED-DF01-8B22-C868-3FE0349FB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075353"/>
              </p:ext>
            </p:extLst>
          </p:nvPr>
        </p:nvGraphicFramePr>
        <p:xfrm>
          <a:off x="542165" y="239135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678053DA-5CEC-41B5-DE58-6C85AD485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184717"/>
              </p:ext>
            </p:extLst>
          </p:nvPr>
        </p:nvGraphicFramePr>
        <p:xfrm>
          <a:off x="542165" y="2391353"/>
          <a:ext cx="10909739" cy="2768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0001">
                  <a:extLst>
                    <a:ext uri="{9D8B030D-6E8A-4147-A177-3AD203B41FA5}">
                      <a16:colId xmlns:a16="http://schemas.microsoft.com/office/drawing/2014/main" val="1968701770"/>
                    </a:ext>
                  </a:extLst>
                </a:gridCol>
                <a:gridCol w="935420">
                  <a:extLst>
                    <a:ext uri="{9D8B030D-6E8A-4147-A177-3AD203B41FA5}">
                      <a16:colId xmlns:a16="http://schemas.microsoft.com/office/drawing/2014/main" val="2955544453"/>
                    </a:ext>
                  </a:extLst>
                </a:gridCol>
                <a:gridCol w="893380">
                  <a:extLst>
                    <a:ext uri="{9D8B030D-6E8A-4147-A177-3AD203B41FA5}">
                      <a16:colId xmlns:a16="http://schemas.microsoft.com/office/drawing/2014/main" val="1446698017"/>
                    </a:ext>
                  </a:extLst>
                </a:gridCol>
                <a:gridCol w="1019503">
                  <a:extLst>
                    <a:ext uri="{9D8B030D-6E8A-4147-A177-3AD203B41FA5}">
                      <a16:colId xmlns:a16="http://schemas.microsoft.com/office/drawing/2014/main" val="1016662007"/>
                    </a:ext>
                  </a:extLst>
                </a:gridCol>
                <a:gridCol w="3541986">
                  <a:extLst>
                    <a:ext uri="{9D8B030D-6E8A-4147-A177-3AD203B41FA5}">
                      <a16:colId xmlns:a16="http://schemas.microsoft.com/office/drawing/2014/main" val="1675334176"/>
                    </a:ext>
                  </a:extLst>
                </a:gridCol>
                <a:gridCol w="3369449">
                  <a:extLst>
                    <a:ext uri="{9D8B030D-6E8A-4147-A177-3AD203B41FA5}">
                      <a16:colId xmlns:a16="http://schemas.microsoft.com/office/drawing/2014/main" val="2178673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Time(TT = CT - 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 = TT - BT)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683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3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5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0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16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7" grpId="0"/>
      <p:bldP spid="21" grpId="0"/>
      <p:bldP spid="23" grpId="0"/>
      <p:bldP spid="24" grpId="0"/>
      <p:bldP spid="25" grpId="0"/>
      <p:bldP spid="28" grpId="0"/>
      <p:bldP spid="35" grpId="0"/>
      <p:bldP spid="29" grpId="0"/>
      <p:bldP spid="31" grpId="0"/>
      <p:bldP spid="37" grpId="0"/>
      <p:bldP spid="39" grpId="0"/>
      <p:bldP spid="40" grpId="0"/>
      <p:bldP spid="42" grpId="0"/>
      <p:bldP spid="44" grpId="0"/>
      <p:bldP spid="48" grpId="0"/>
      <p:bldP spid="49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D0BE6-047D-DA89-8589-CC24F7424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26AA51A-307F-4D72-2D56-A9FB7C36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8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8CE6B74C-CFFC-BAFB-5E7F-81B3122C3233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2102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could result in starvation?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6EB534-D2A0-1D13-3F4A-64253A068938}"/>
              </a:ext>
            </a:extLst>
          </p:cNvPr>
          <p:cNvSpPr txBox="1"/>
          <p:nvPr/>
        </p:nvSpPr>
        <p:spPr>
          <a:xfrm>
            <a:off x="521207" y="3428999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FCFS: Every process gets CPU based on their arrival, no starvation  </a:t>
            </a:r>
          </a:p>
        </p:txBody>
      </p:sp>
    </p:spTree>
    <p:extLst>
      <p:ext uri="{BB962C8B-B14F-4D97-AF65-F5344CB8AC3E}">
        <p14:creationId xmlns:p14="http://schemas.microsoft.com/office/powerpoint/2010/main" val="1927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95C4-8A2C-E814-2435-FF3B1643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13C99F-4701-86FE-D700-D6FA3D7C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8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2149AF71-A209-6274-B32A-D0E9F6DB2B21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2102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could result in starvation?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2A8A92-62A9-DC29-6C0D-E0B90D249FE5}"/>
              </a:ext>
            </a:extLst>
          </p:cNvPr>
          <p:cNvSpPr txBox="1"/>
          <p:nvPr/>
        </p:nvSpPr>
        <p:spPr>
          <a:xfrm>
            <a:off x="521207" y="3428999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FCFS: Every process gets CPU based on their arrival, no starvation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E13B8-D94A-D61A-D63C-7CADFF2C96D1}"/>
              </a:ext>
            </a:extLst>
          </p:cNvPr>
          <p:cNvSpPr txBox="1"/>
          <p:nvPr/>
        </p:nvSpPr>
        <p:spPr>
          <a:xfrm>
            <a:off x="521206" y="4047355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SJF: Processes with shorter CPU time gets the CPU, hence can starve longer processes</a:t>
            </a:r>
          </a:p>
        </p:txBody>
      </p:sp>
    </p:spTree>
    <p:extLst>
      <p:ext uri="{BB962C8B-B14F-4D97-AF65-F5344CB8AC3E}">
        <p14:creationId xmlns:p14="http://schemas.microsoft.com/office/powerpoint/2010/main" val="81526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196B-1C24-BEA1-8844-63B2DBB0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2784AA3-7A1D-8CE7-4FC0-9FC57797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8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C3680E35-437A-18F3-ADC9-9D32CBEFE3F1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2102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could result in starvation?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9F7693-738A-2E79-3667-764D704502D5}"/>
              </a:ext>
            </a:extLst>
          </p:cNvPr>
          <p:cNvSpPr txBox="1"/>
          <p:nvPr/>
        </p:nvSpPr>
        <p:spPr>
          <a:xfrm>
            <a:off x="521207" y="3428999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FCFS: Every process gets CPU based on their arrival, no starvation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9D6E29-E5D4-6F36-AE89-E53D146023EB}"/>
              </a:ext>
            </a:extLst>
          </p:cNvPr>
          <p:cNvSpPr txBox="1"/>
          <p:nvPr/>
        </p:nvSpPr>
        <p:spPr>
          <a:xfrm>
            <a:off x="521206" y="4047355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SJF: Processes with shorter CPU time gets the CPU, hence can starve longer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1ACD9-A022-38E9-FF49-FCB9BE5A6CF9}"/>
              </a:ext>
            </a:extLst>
          </p:cNvPr>
          <p:cNvSpPr txBox="1"/>
          <p:nvPr/>
        </p:nvSpPr>
        <p:spPr>
          <a:xfrm>
            <a:off x="521206" y="4665711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robin: No starvation, turn based</a:t>
            </a:r>
          </a:p>
        </p:txBody>
      </p:sp>
    </p:spTree>
    <p:extLst>
      <p:ext uri="{BB962C8B-B14F-4D97-AF65-F5344CB8AC3E}">
        <p14:creationId xmlns:p14="http://schemas.microsoft.com/office/powerpoint/2010/main" val="144969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7AC1-9D0D-9A90-A7F6-DA80E84CA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3B28B9-473B-CA75-12FD-0DF0F7DA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8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1D2F468C-39A5-425A-594A-BBF6B46026CB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2102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could result in starvation?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4BC926-03EB-964A-B889-63717CFB423B}"/>
              </a:ext>
            </a:extLst>
          </p:cNvPr>
          <p:cNvSpPr txBox="1"/>
          <p:nvPr/>
        </p:nvSpPr>
        <p:spPr>
          <a:xfrm>
            <a:off x="521207" y="3428999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FCFS: Every process gets CPU based on their arrival, no starvation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8E3615-F909-165E-DCB5-E2CD5138B716}"/>
              </a:ext>
            </a:extLst>
          </p:cNvPr>
          <p:cNvSpPr txBox="1"/>
          <p:nvPr/>
        </p:nvSpPr>
        <p:spPr>
          <a:xfrm>
            <a:off x="521206" y="4047355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SJF: Processes with shorter CPU time gets the CPU, hence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starve longer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1B433-B78B-CD4C-F756-1934FA3BDA50}"/>
              </a:ext>
            </a:extLst>
          </p:cNvPr>
          <p:cNvSpPr txBox="1"/>
          <p:nvPr/>
        </p:nvSpPr>
        <p:spPr>
          <a:xfrm>
            <a:off x="521206" y="4665711"/>
            <a:ext cx="11050683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robin: No starvation, turn based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51B2F-C723-6939-21AC-FBE3915804E4}"/>
              </a:ext>
            </a:extLst>
          </p:cNvPr>
          <p:cNvSpPr txBox="1"/>
          <p:nvPr/>
        </p:nvSpPr>
        <p:spPr>
          <a:xfrm>
            <a:off x="521205" y="5284067"/>
            <a:ext cx="11050683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Priority: Lower priority processes might never get CPU if we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higher priority processes in the ready queue. Hence,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starve lower priority processes.</a:t>
            </a:r>
          </a:p>
        </p:txBody>
      </p:sp>
    </p:spTree>
    <p:extLst>
      <p:ext uri="{BB962C8B-B14F-4D97-AF65-F5344CB8AC3E}">
        <p14:creationId xmlns:p14="http://schemas.microsoft.com/office/powerpoint/2010/main" val="344381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F1B9-D821-BEEB-E70C-2CF709324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CA00BDB-04EE-F2E8-7823-C5D3FF3C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9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5638F0E5-8E21-6426-31CD-0F5E51F1F4D8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21020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system running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 I/O-bound tasks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CPU-bound task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Assume that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I/O-bound tasks issue an I/O operation once for every millisecond of CPU computing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that each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operation takes 10 milliseconds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complete. Also assume that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switching overhead is 0.1 millisecond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that all processes are long-running tasks. What is the CPU utilization for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round-robin scheduler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when: 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quantum is 1 millisecond 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quantum is 10 milliseconds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B167C7-6404-00C2-0B89-C371E30ACCA2}"/>
                  </a:ext>
                </a:extLst>
              </p:cNvPr>
              <p:cNvSpPr txBox="1"/>
              <p:nvPr/>
            </p:nvSpPr>
            <p:spPr>
              <a:xfrm>
                <a:off x="521207" y="3428999"/>
                <a:ext cx="11050683" cy="3325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Given,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= 1ms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1 second there is a context switch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useful work = 1 + (10*1)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11ms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time wasted in context switching = (#processes * 0.1)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1.1ms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 utilization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𝑓𝑜𝑟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𝑢𝑠𝑒𝑓𝑢𝑙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𝑤𝑜𝑟𝑘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𝑓𝑜𝑟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𝑢𝑠𝑒𝑓𝑢𝑙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𝑤𝑜𝑟𝑘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𝑢𝑠𝑒𝑑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𝑐𝑜𝑛𝑡𝑒𝑥𝑡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𝑠𝑤𝑖𝑡𝑐h𝑖𝑛𝑔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11+1.1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∗100%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90.9%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B167C7-6404-00C2-0B89-C371E30AC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7" y="3428999"/>
                <a:ext cx="11050683" cy="3325910"/>
              </a:xfrm>
              <a:prstGeom prst="rect">
                <a:avLst/>
              </a:prstGeom>
              <a:blipFill>
                <a:blip r:embed="rId2"/>
                <a:stretch>
                  <a:fillRect l="-331" t="-9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91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E024D-C37F-AB28-B4EE-9F439041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C54464-7AF9-00D9-96F1-1044CACC3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9 (Galvin)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AC0AE97C-02C9-21EC-F4D9-A6A22B29BF7F}"/>
              </a:ext>
            </a:extLst>
          </p:cNvPr>
          <p:cNvSpPr txBox="1">
            <a:spLocks/>
          </p:cNvSpPr>
          <p:nvPr/>
        </p:nvSpPr>
        <p:spPr>
          <a:xfrm>
            <a:off x="521207" y="1166658"/>
            <a:ext cx="11166914" cy="21020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system running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 I/O-bound tasks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CPU-bound task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Assume that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I/O-bound tasks issue an I/O operation once for every millisecond of CPU computing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that each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operation takes 10 milliseconds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complete. Also assume that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switching overhead is 0.1 millisecond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that all processes are long-running tasks. What is the CPU utilization for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round-robin scheduler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when: 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quantum is 1 millisecond 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quantum is 10 milliseconds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436742-F053-2F10-590F-8D30D1F97E62}"/>
                  </a:ext>
                </a:extLst>
              </p:cNvPr>
              <p:cNvSpPr txBox="1"/>
              <p:nvPr/>
            </p:nvSpPr>
            <p:spPr>
              <a:xfrm>
                <a:off x="521207" y="3428999"/>
                <a:ext cx="11050683" cy="3741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Given,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= 10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CPU-bound process uses the complete time quantum of 10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I/O bound process, after 1 second there is a context switch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useful work = 10 + (10*1)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20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(1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for I/O bound process and 10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CPU bound one)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time wasted in context switching = (#processes * 0.1)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1.1ms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 utilization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𝑓𝑜𝑟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𝑢𝑠𝑒𝑓𝑢𝑙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𝑤𝑜𝑟𝑘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𝑓𝑜𝑟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𝑢𝑠𝑒𝑓𝑢𝑙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𝑤𝑜𝑟𝑘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𝑡𝑖𝑚𝑒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𝑢𝑠𝑒𝑑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𝑐𝑜𝑛𝑡𝑒𝑥𝑡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𝑠𝑤𝑖𝑡𝑐h𝑖𝑛𝑔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20+1.1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∗100%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94.8%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436742-F053-2F10-590F-8D30D1F97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7" y="3428999"/>
                <a:ext cx="11050683" cy="3741409"/>
              </a:xfrm>
              <a:prstGeom prst="rect">
                <a:avLst/>
              </a:prstGeom>
              <a:blipFill>
                <a:blip r:embed="rId2"/>
                <a:stretch>
                  <a:fillRect l="-441" t="-814" r="-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0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{4CECAA9B-21EE-46FE-8D59-5B8E32786F45}TF2989475c-5427-4edb-9ec1-00f4ce72165b77c8433f_win32-c33c42577f73</Template>
  <TotalTime>1075</TotalTime>
  <Words>3022</Words>
  <Application>Microsoft Office PowerPoint</Application>
  <PresentationFormat>Widescreen</PresentationFormat>
  <Paragraphs>822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Cambria Math</vt:lpstr>
      <vt:lpstr>Segoe UI</vt:lpstr>
      <vt:lpstr>Segoe UI Light</vt:lpstr>
      <vt:lpstr>Times New Roman</vt:lpstr>
      <vt:lpstr>Wingdings</vt:lpstr>
      <vt:lpstr>Custom</vt:lpstr>
      <vt:lpstr>Scheduling</vt:lpstr>
      <vt:lpstr>Terminology</vt:lpstr>
      <vt:lpstr>Problem 1 (GATE 2025)</vt:lpstr>
      <vt:lpstr>Problem 2 (GATE 2025)</vt:lpstr>
      <vt:lpstr>Problem 3 (GATE 2025)</vt:lpstr>
      <vt:lpstr>Problem 4 (GATE 2024)</vt:lpstr>
      <vt:lpstr>Problem 4 (GATE 2024)</vt:lpstr>
      <vt:lpstr>Problem 5 (GATE 1995)</vt:lpstr>
      <vt:lpstr>Problem 6 (Galvin 5.2)</vt:lpstr>
      <vt:lpstr>Problem 6 (Galvin 5.2)</vt:lpstr>
      <vt:lpstr>Problem 6 (Galvin 5.2)</vt:lpstr>
      <vt:lpstr>Problem 7 (Galvin)</vt:lpstr>
      <vt:lpstr>Problem 7 (Galvin)</vt:lpstr>
      <vt:lpstr>Problem 7 (Galvin)</vt:lpstr>
      <vt:lpstr>Problem 7 (Galvin)</vt:lpstr>
      <vt:lpstr>Problem 8 (Galvin)</vt:lpstr>
      <vt:lpstr>Problem 8 (Galvin)</vt:lpstr>
      <vt:lpstr>Problem 8 (Galvin)</vt:lpstr>
      <vt:lpstr>Problem 8 (Galvin)</vt:lpstr>
      <vt:lpstr>Problem 9 (Galvin)</vt:lpstr>
      <vt:lpstr>Problem 9 (Galvin)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Saumya Jaipuria</dc:creator>
  <cp:keywords/>
  <cp:lastModifiedBy>Saumya Jaipuria</cp:lastModifiedBy>
  <cp:revision>7</cp:revision>
  <dcterms:created xsi:type="dcterms:W3CDTF">2026-02-05T17:57:06Z</dcterms:created>
  <dcterms:modified xsi:type="dcterms:W3CDTF">2026-02-06T15:54:31Z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