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3"/>
  </p:notesMasterIdLst>
  <p:handoutMasterIdLst>
    <p:handoutMasterId r:id="rId24"/>
  </p:handoutMasterIdLst>
  <p:sldIdLst>
    <p:sldId id="331" r:id="rId2"/>
    <p:sldId id="334" r:id="rId3"/>
    <p:sldId id="448" r:id="rId4"/>
    <p:sldId id="449" r:id="rId5"/>
    <p:sldId id="450" r:id="rId6"/>
    <p:sldId id="451" r:id="rId7"/>
    <p:sldId id="339" r:id="rId8"/>
    <p:sldId id="452" r:id="rId9"/>
    <p:sldId id="453" r:id="rId10"/>
    <p:sldId id="454" r:id="rId11"/>
    <p:sldId id="455" r:id="rId12"/>
    <p:sldId id="403" r:id="rId13"/>
    <p:sldId id="349" r:id="rId14"/>
    <p:sldId id="342" r:id="rId15"/>
    <p:sldId id="343" r:id="rId16"/>
    <p:sldId id="348" r:id="rId17"/>
    <p:sldId id="350" r:id="rId18"/>
    <p:sldId id="456" r:id="rId19"/>
    <p:sldId id="351" r:id="rId20"/>
    <p:sldId id="352" r:id="rId21"/>
    <p:sldId id="353" r:id="rId2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782" y="10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eb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smtClean="0"/>
              <a:t>Main </a:t>
            </a:r>
            <a:r>
              <a:rPr lang="en-US" altLang="en-US" dirty="0"/>
              <a:t>Memory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46916" y="6279614"/>
            <a:ext cx="3397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Additional slide courtesy: </a:t>
            </a:r>
            <a:r>
              <a:rPr lang="en-IN" sz="1100" dirty="0" err="1" smtClean="0"/>
              <a:t>Prof.</a:t>
            </a:r>
            <a:r>
              <a:rPr lang="en-IN" sz="1100" dirty="0" smtClean="0"/>
              <a:t> </a:t>
            </a:r>
            <a:r>
              <a:rPr lang="en-IN" sz="1100" dirty="0" err="1" smtClean="0"/>
              <a:t>Mandar</a:t>
            </a:r>
            <a:r>
              <a:rPr lang="en-IN" sz="1100" dirty="0" smtClean="0"/>
              <a:t> </a:t>
            </a:r>
            <a:r>
              <a:rPr lang="en-IN" sz="1100" dirty="0" err="1" smtClean="0"/>
              <a:t>Mitra</a:t>
            </a:r>
            <a:r>
              <a:rPr lang="en-IN" sz="1100" dirty="0" smtClean="0"/>
              <a:t> </a:t>
            </a:r>
            <a:endParaRPr lang="en-IN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7042" y="932881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</a:t>
            </a:r>
            <a:r>
              <a:rPr lang="en-US" altLang="en-US" dirty="0" smtClean="0"/>
              <a:t>run</a:t>
            </a:r>
          </a:p>
          <a:p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Memory </a:t>
            </a:r>
            <a:r>
              <a:rPr lang="en-US" altLang="en-US" dirty="0"/>
              <a:t>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endParaRPr lang="en-US" altLang="en-US" dirty="0" smtClean="0"/>
          </a:p>
          <a:p>
            <a:r>
              <a:rPr lang="en-US" altLang="en-US" dirty="0" smtClean="0"/>
              <a:t>Register </a:t>
            </a:r>
            <a:r>
              <a:rPr lang="en-US" altLang="en-US" dirty="0"/>
              <a:t>access is done in one CPU clock (or less)</a:t>
            </a:r>
            <a:endParaRPr lang="en-US" altLang="en-US" sz="800" dirty="0"/>
          </a:p>
          <a:p>
            <a:endParaRPr lang="en-US" altLang="en-US" dirty="0" smtClean="0"/>
          </a:p>
          <a:p>
            <a:r>
              <a:rPr lang="en-US" altLang="en-US" dirty="0" smtClean="0"/>
              <a:t>Main </a:t>
            </a:r>
            <a:r>
              <a:rPr lang="en-US" altLang="en-US" dirty="0"/>
              <a:t>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endParaRPr lang="en-US" altLang="en-US" sz="1100" dirty="0" smtClean="0"/>
          </a:p>
          <a:p>
            <a:r>
              <a:rPr lang="en-US" altLang="en-US" dirty="0" smtClean="0"/>
              <a:t>Protection </a:t>
            </a:r>
            <a:r>
              <a:rPr lang="en-US" altLang="en-US" dirty="0"/>
              <a:t>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Title 1">
            <a:extLst>
              <a:ext uri="{FF2B5EF4-FFF2-40B4-BE49-F238E27FC236}">
                <a16:creationId xmlns:a16="http://schemas.microsoft.com/office/drawing/2014/main" id="{F545DB1D-78B7-2E4C-BC97-7F473597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Memory in a Modern System</a:t>
            </a:r>
          </a:p>
        </p:txBody>
      </p:sp>
      <p:sp>
        <p:nvSpPr>
          <p:cNvPr id="169987" name="Slide Number Placeholder 3">
            <a:extLst>
              <a:ext uri="{FF2B5EF4-FFF2-40B4-BE49-F238E27FC236}">
                <a16:creationId xmlns:a16="http://schemas.microsoft.com/office/drawing/2014/main" id="{C2B3458A-4EBC-164D-A0FF-1BC91853EB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3A1257-BCA3-7F4D-B4AB-78D40130E516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69988" name="Content Placeholder 6" descr="barcelona-die-photo-color.jpg">
            <a:extLst>
              <a:ext uri="{FF2B5EF4-FFF2-40B4-BE49-F238E27FC236}">
                <a16:creationId xmlns:a16="http://schemas.microsoft.com/office/drawing/2014/main" id="{EEEB30C3-7EAA-9844-B489-E067BA31B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1108075"/>
            <a:ext cx="4876800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9" name="Rounded Rectangle 33">
            <a:extLst>
              <a:ext uri="{FF2B5EF4-FFF2-40B4-BE49-F238E27FC236}">
                <a16:creationId xmlns:a16="http://schemas.microsoft.com/office/drawing/2014/main" id="{D70BB38F-B06A-A54D-9520-CAC2FE6A4A7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13225" y="1844676"/>
            <a:ext cx="1603375" cy="1219200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990" name="TextBox 34">
            <a:extLst>
              <a:ext uri="{FF2B5EF4-FFF2-40B4-BE49-F238E27FC236}">
                <a16:creationId xmlns:a16="http://schemas.microsoft.com/office/drawing/2014/main" id="{771D37D6-077E-B84E-A5FE-D2F85DA2B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550" y="2262188"/>
            <a:ext cx="1233488" cy="430212"/>
          </a:xfrm>
          <a:prstGeom prst="rect">
            <a:avLst/>
          </a:prstGeom>
          <a:solidFill>
            <a:srgbClr val="C0C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CORE 1</a:t>
            </a:r>
          </a:p>
        </p:txBody>
      </p:sp>
      <p:sp>
        <p:nvSpPr>
          <p:cNvPr id="169991" name="Rectangle 35">
            <a:extLst>
              <a:ext uri="{FF2B5EF4-FFF2-40B4-BE49-F238E27FC236}">
                <a16:creationId xmlns:a16="http://schemas.microsoft.com/office/drawing/2014/main" id="{DD6F0755-E778-1349-8015-C1DD49D1BD5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80519" y="2235994"/>
            <a:ext cx="1603375" cy="427037"/>
          </a:xfrm>
          <a:prstGeom prst="rect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992" name="TextBox 36">
            <a:extLst>
              <a:ext uri="{FF2B5EF4-FFF2-40B4-BE49-F238E27FC236}">
                <a16:creationId xmlns:a16="http://schemas.microsoft.com/office/drawing/2014/main" id="{E40DB0BD-373F-CB4D-8F51-BC7876C42F6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2920206" y="2275682"/>
            <a:ext cx="1531937" cy="368300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L2 CACHE 0</a:t>
            </a:r>
          </a:p>
        </p:txBody>
      </p:sp>
      <p:sp>
        <p:nvSpPr>
          <p:cNvPr id="169993" name="Rectangle 37">
            <a:extLst>
              <a:ext uri="{FF2B5EF4-FFF2-40B4-BE49-F238E27FC236}">
                <a16:creationId xmlns:a16="http://schemas.microsoft.com/office/drawing/2014/main" id="{AD81430E-1683-804A-953A-5A68710D70D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68325" y="3127375"/>
            <a:ext cx="4756150" cy="717550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994" name="TextBox 38">
            <a:extLst>
              <a:ext uri="{FF2B5EF4-FFF2-40B4-BE49-F238E27FC236}">
                <a16:creationId xmlns:a16="http://schemas.microsoft.com/office/drawing/2014/main" id="{CD970285-AF14-4C4E-ABC0-A08EE21FFD24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246063" y="3244850"/>
            <a:ext cx="3113087" cy="461963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SHARED L3 CACHE</a:t>
            </a:r>
          </a:p>
        </p:txBody>
      </p:sp>
      <p:sp>
        <p:nvSpPr>
          <p:cNvPr id="169995" name="Rectangle 39">
            <a:extLst>
              <a:ext uri="{FF2B5EF4-FFF2-40B4-BE49-F238E27FC236}">
                <a16:creationId xmlns:a16="http://schemas.microsoft.com/office/drawing/2014/main" id="{DCE21303-3F2A-AB4B-85CB-949933B289B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13138" y="3259137"/>
            <a:ext cx="4756150" cy="454025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996" name="TextBox 40">
            <a:extLst>
              <a:ext uri="{FF2B5EF4-FFF2-40B4-BE49-F238E27FC236}">
                <a16:creationId xmlns:a16="http://schemas.microsoft.com/office/drawing/2014/main" id="{B82E8C17-3BB8-D646-95EA-429BAA2FF71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4415632" y="3247231"/>
            <a:ext cx="2940050" cy="461963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DRAM INTERFACE</a:t>
            </a:r>
          </a:p>
        </p:txBody>
      </p:sp>
      <p:pic>
        <p:nvPicPr>
          <p:cNvPr id="169997" name="Picture 37" descr="samsung-dimm-better.jpg">
            <a:extLst>
              <a:ext uri="{FF2B5EF4-FFF2-40B4-BE49-F238E27FC236}">
                <a16:creationId xmlns:a16="http://schemas.microsoft.com/office/drawing/2014/main" id="{5073A790-21DE-D443-957E-DF3536AD4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975" y="919163"/>
            <a:ext cx="1312863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98" name="Rounded Rectangle 42">
            <a:extLst>
              <a:ext uri="{FF2B5EF4-FFF2-40B4-BE49-F238E27FC236}">
                <a16:creationId xmlns:a16="http://schemas.microsoft.com/office/drawing/2014/main" id="{6D3B8FD1-9C46-D548-9E71-270EAD9DB00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04219" y="1835944"/>
            <a:ext cx="1601788" cy="1219200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999" name="TextBox 43">
            <a:extLst>
              <a:ext uri="{FF2B5EF4-FFF2-40B4-BE49-F238E27FC236}">
                <a16:creationId xmlns:a16="http://schemas.microsoft.com/office/drawing/2014/main" id="{49264168-2CAE-434D-8580-533BB5BFD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0" y="2254250"/>
            <a:ext cx="1235075" cy="430213"/>
          </a:xfrm>
          <a:prstGeom prst="rect">
            <a:avLst/>
          </a:prstGeom>
          <a:solidFill>
            <a:srgbClr val="C0C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CORE 0</a:t>
            </a:r>
          </a:p>
        </p:txBody>
      </p:sp>
      <p:sp>
        <p:nvSpPr>
          <p:cNvPr id="170000" name="Rounded Rectangle 44">
            <a:extLst>
              <a:ext uri="{FF2B5EF4-FFF2-40B4-BE49-F238E27FC236}">
                <a16:creationId xmlns:a16="http://schemas.microsoft.com/office/drawing/2014/main" id="{E4AC7AC4-6F4C-A84F-B2E1-B8788344EF6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14537" y="4022726"/>
            <a:ext cx="1603375" cy="1219200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001" name="TextBox 45">
            <a:extLst>
              <a:ext uri="{FF2B5EF4-FFF2-40B4-BE49-F238E27FC236}">
                <a16:creationId xmlns:a16="http://schemas.microsoft.com/office/drawing/2014/main" id="{9F6723F0-50F6-6A42-A788-21F07DEC8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863" y="4440238"/>
            <a:ext cx="1235075" cy="430212"/>
          </a:xfrm>
          <a:prstGeom prst="rect">
            <a:avLst/>
          </a:prstGeom>
          <a:solidFill>
            <a:srgbClr val="C0C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CORE 2</a:t>
            </a:r>
          </a:p>
        </p:txBody>
      </p:sp>
      <p:sp>
        <p:nvSpPr>
          <p:cNvPr id="170002" name="Rounded Rectangle 46">
            <a:extLst>
              <a:ext uri="{FF2B5EF4-FFF2-40B4-BE49-F238E27FC236}">
                <a16:creationId xmlns:a16="http://schemas.microsoft.com/office/drawing/2014/main" id="{134761DA-3813-4747-B802-7A2BC533261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2112" y="4017963"/>
            <a:ext cx="1603375" cy="1219200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003" name="TextBox 47">
            <a:extLst>
              <a:ext uri="{FF2B5EF4-FFF2-40B4-BE49-F238E27FC236}">
                <a16:creationId xmlns:a16="http://schemas.microsoft.com/office/drawing/2014/main" id="{E9B11E98-C3FB-9C47-8003-7743461E8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438" y="4435475"/>
            <a:ext cx="1235075" cy="430213"/>
          </a:xfrm>
          <a:prstGeom prst="rect">
            <a:avLst/>
          </a:prstGeom>
          <a:solidFill>
            <a:srgbClr val="C0C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CORE 3</a:t>
            </a:r>
          </a:p>
        </p:txBody>
      </p:sp>
      <p:sp>
        <p:nvSpPr>
          <p:cNvPr id="170004" name="Rectangle 48">
            <a:extLst>
              <a:ext uri="{FF2B5EF4-FFF2-40B4-BE49-F238E27FC236}">
                <a16:creationId xmlns:a16="http://schemas.microsoft.com/office/drawing/2014/main" id="{21050496-4217-5C4E-AF18-88AC2A72B0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364707" y="2235994"/>
            <a:ext cx="1601787" cy="428625"/>
          </a:xfrm>
          <a:prstGeom prst="rect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005" name="TextBox 49">
            <a:extLst>
              <a:ext uri="{FF2B5EF4-FFF2-40B4-BE49-F238E27FC236}">
                <a16:creationId xmlns:a16="http://schemas.microsoft.com/office/drawing/2014/main" id="{0F65FD36-8B8A-E04C-98DC-CECC4B801309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3404394" y="2266156"/>
            <a:ext cx="1530350" cy="369888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L2 CACHE 1</a:t>
            </a:r>
          </a:p>
        </p:txBody>
      </p:sp>
      <p:sp>
        <p:nvSpPr>
          <p:cNvPr id="170006" name="Rectangle 50">
            <a:extLst>
              <a:ext uri="{FF2B5EF4-FFF2-40B4-BE49-F238E27FC236}">
                <a16:creationId xmlns:a16="http://schemas.microsoft.com/office/drawing/2014/main" id="{86203659-2943-6D4C-85F2-02146E169C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81313" y="4408488"/>
            <a:ext cx="1601787" cy="427037"/>
          </a:xfrm>
          <a:prstGeom prst="rect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007" name="TextBox 51">
            <a:extLst>
              <a:ext uri="{FF2B5EF4-FFF2-40B4-BE49-F238E27FC236}">
                <a16:creationId xmlns:a16="http://schemas.microsoft.com/office/drawing/2014/main" id="{BA2D1BED-4C01-574C-B1F3-0CCD72C70D1F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2921000" y="4438650"/>
            <a:ext cx="1530350" cy="368300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L2 CACHE 2</a:t>
            </a:r>
          </a:p>
        </p:txBody>
      </p:sp>
      <p:sp>
        <p:nvSpPr>
          <p:cNvPr id="170008" name="Rectangle 52">
            <a:extLst>
              <a:ext uri="{FF2B5EF4-FFF2-40B4-BE49-F238E27FC236}">
                <a16:creationId xmlns:a16="http://schemas.microsoft.com/office/drawing/2014/main" id="{0CF1D5E3-1E42-8F47-91B2-05FC4F8EE5A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354388" y="4408488"/>
            <a:ext cx="1601787" cy="427037"/>
          </a:xfrm>
          <a:prstGeom prst="rect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009" name="TextBox 53">
            <a:extLst>
              <a:ext uri="{FF2B5EF4-FFF2-40B4-BE49-F238E27FC236}">
                <a16:creationId xmlns:a16="http://schemas.microsoft.com/office/drawing/2014/main" id="{714F4541-1023-5C4E-B385-8AC53D7842A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3394075" y="4438650"/>
            <a:ext cx="1530350" cy="368300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L2 CACHE 3</a:t>
            </a:r>
          </a:p>
        </p:txBody>
      </p:sp>
      <p:sp>
        <p:nvSpPr>
          <p:cNvPr id="170010" name="Rectangle 54">
            <a:extLst>
              <a:ext uri="{FF2B5EF4-FFF2-40B4-BE49-F238E27FC236}">
                <a16:creationId xmlns:a16="http://schemas.microsoft.com/office/drawing/2014/main" id="{9BFE1E5A-0ACB-F54A-A4AD-5103AA900C2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5837" y="2903538"/>
            <a:ext cx="354013" cy="1258888"/>
          </a:xfrm>
          <a:prstGeom prst="rect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70011" name="Straight Arrow Connector 48">
            <a:extLst>
              <a:ext uri="{FF2B5EF4-FFF2-40B4-BE49-F238E27FC236}">
                <a16:creationId xmlns:a16="http://schemas.microsoft.com/office/drawing/2014/main" id="{8486123C-176A-8440-9759-FA4F806841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15063" y="3355975"/>
            <a:ext cx="420687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0012" name="Rectangle 56">
            <a:extLst>
              <a:ext uri="{FF2B5EF4-FFF2-40B4-BE49-F238E27FC236}">
                <a16:creationId xmlns:a16="http://schemas.microsoft.com/office/drawing/2014/main" id="{7B9652BC-A480-2542-9C4B-CC4CB653D57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94263" y="3152775"/>
            <a:ext cx="4756150" cy="666750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013" name="TextBox 57">
            <a:extLst>
              <a:ext uri="{FF2B5EF4-FFF2-40B4-BE49-F238E27FC236}">
                <a16:creationId xmlns:a16="http://schemas.microsoft.com/office/drawing/2014/main" id="{05E7076A-15B4-824E-A679-2C53E784E35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968206" y="3302794"/>
            <a:ext cx="2640013" cy="523875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DRAM BANKS</a:t>
            </a:r>
          </a:p>
        </p:txBody>
      </p:sp>
      <p:sp>
        <p:nvSpPr>
          <p:cNvPr id="170014" name="Rectangle 58">
            <a:extLst>
              <a:ext uri="{FF2B5EF4-FFF2-40B4-BE49-F238E27FC236}">
                <a16:creationId xmlns:a16="http://schemas.microsoft.com/office/drawing/2014/main" id="{4A13C93B-E23E-1D44-9E05-110430D405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84912" y="3028951"/>
            <a:ext cx="320675" cy="654050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0F65C1-A2D3-004D-906F-F2702322D28D}"/>
              </a:ext>
            </a:extLst>
          </p:cNvPr>
          <p:cNvSpPr txBox="1"/>
          <p:nvPr/>
        </p:nvSpPr>
        <p:spPr>
          <a:xfrm>
            <a:off x="4310063" y="3311525"/>
            <a:ext cx="1417637" cy="365125"/>
          </a:xfrm>
          <a:prstGeom prst="rect">
            <a:avLst/>
          </a:prstGeom>
          <a:solidFill>
            <a:srgbClr val="C0C0C0">
              <a:alpha val="51000"/>
            </a:srgb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"/>
                <a:cs typeface="+mn-cs"/>
              </a:rPr>
              <a:t>DRAM MEMORY CONTROLLER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CAFA26-BB7F-5469-F3CA-E03D1727C065}"/>
              </a:ext>
            </a:extLst>
          </p:cNvPr>
          <p:cNvSpPr txBox="1"/>
          <p:nvPr/>
        </p:nvSpPr>
        <p:spPr>
          <a:xfrm>
            <a:off x="269715" y="66507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70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Address binding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58" y="1345390"/>
            <a:ext cx="7080858" cy="426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5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Address Binding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64" y="1153665"/>
            <a:ext cx="7614471" cy="500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Address Binding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23" y="1134612"/>
            <a:ext cx="7599477" cy="488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9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Address Binding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06" y="1019064"/>
            <a:ext cx="7704813" cy="479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1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Address Binding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28" y="1012083"/>
            <a:ext cx="7998245" cy="487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8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Address Binding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95" y="1101687"/>
            <a:ext cx="8138378" cy="47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2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Memory Management Unit (MMU)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82" y="981833"/>
            <a:ext cx="8019017" cy="488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3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 smtClean="0"/>
              <a:t>The </a:t>
            </a:r>
            <a:r>
              <a:rPr lang="en-US" altLang="en-US" dirty="0"/>
              <a:t>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 smtClean="0"/>
              <a:t>The </a:t>
            </a:r>
            <a:r>
              <a:rPr lang="en-US" altLang="en-US" dirty="0"/>
              <a:t>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 smtClean="0"/>
              <a:t>The </a:t>
            </a:r>
            <a:r>
              <a:rPr lang="en-US" altLang="en-US" dirty="0"/>
              <a:t>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  <p:pic>
        <p:nvPicPr>
          <p:cNvPr id="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185" y="40497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Memory Protection</a:t>
            </a:r>
            <a:endParaRPr lang="en-US" altLang="en-US" sz="2400" dirty="0"/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94479" y="4789259"/>
            <a:ext cx="7430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Prevents process from accessing any memory outside its own </a:t>
            </a:r>
          </a:p>
          <a:p>
            <a:r>
              <a:rPr lang="en-IN" dirty="0" smtClean="0"/>
              <a:t>Address space</a:t>
            </a:r>
          </a:p>
          <a:p>
            <a:endParaRPr lang="en-IN" dirty="0"/>
          </a:p>
          <a:p>
            <a:r>
              <a:rPr lang="en-IN" dirty="0" smtClean="0"/>
              <a:t>Allows OS to change dynamically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23" y="947777"/>
            <a:ext cx="6443781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The entire  program does need to be in memory to </a:t>
            </a:r>
            <a:r>
              <a:rPr kumimoji="1" lang="en-US" altLang="en-US" sz="1600" dirty="0" smtClean="0">
                <a:latin typeface="Helvetica" panose="020B0604020202020204" pitchFamily="34" charset="0"/>
              </a:rPr>
              <a:t>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600" dirty="0" smtClean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 smtClean="0">
                <a:latin typeface="Helvetica" panose="020B0604020202020204" pitchFamily="34" charset="0"/>
              </a:rPr>
              <a:t>Better </a:t>
            </a:r>
            <a:r>
              <a:rPr kumimoji="1" lang="en-US" altLang="en-US" sz="1600" dirty="0">
                <a:latin typeface="Helvetica" panose="020B0604020202020204" pitchFamily="34" charset="0"/>
              </a:rPr>
              <a:t>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600" dirty="0" smtClean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 smtClean="0">
                <a:latin typeface="Helvetica" panose="020B0604020202020204" pitchFamily="34" charset="0"/>
              </a:rPr>
              <a:t>All </a:t>
            </a:r>
            <a:r>
              <a:rPr kumimoji="1" lang="en-US" altLang="en-US" sz="1600" dirty="0">
                <a:latin typeface="Helvetica" panose="020B0604020202020204" pitchFamily="34" charset="0"/>
              </a:rPr>
              <a:t>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600" dirty="0" smtClean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 smtClean="0">
                <a:latin typeface="Helvetica" panose="020B0604020202020204" pitchFamily="34" charset="0"/>
              </a:rPr>
              <a:t>Useful </a:t>
            </a:r>
            <a:r>
              <a:rPr kumimoji="1" lang="en-US" altLang="en-US" sz="1600" dirty="0">
                <a:latin typeface="Helvetica" panose="020B0604020202020204" pitchFamily="34" charset="0"/>
              </a:rPr>
              <a:t>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600" dirty="0" smtClean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 smtClean="0">
                <a:latin typeface="Helvetica" panose="020B0604020202020204" pitchFamily="34" charset="0"/>
              </a:rPr>
              <a:t>No </a:t>
            </a:r>
            <a:r>
              <a:rPr kumimoji="1" lang="en-US" altLang="en-US" sz="1600" dirty="0">
                <a:latin typeface="Helvetica" panose="020B0604020202020204" pitchFamily="34" charset="0"/>
              </a:rPr>
              <a:t>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  <p:pic>
        <p:nvPicPr>
          <p:cNvPr id="4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653" y="947777"/>
            <a:ext cx="2392199" cy="4439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5713595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</a:t>
            </a:r>
            <a:r>
              <a:rPr lang="en-US" altLang="en-US" dirty="0" smtClean="0"/>
              <a:t>program</a:t>
            </a:r>
            <a:endParaRPr lang="en-US" altLang="en-US" dirty="0"/>
          </a:p>
          <a:p>
            <a:endParaRPr lang="en-US" altLang="en-US" dirty="0" smtClean="0"/>
          </a:p>
          <a:p>
            <a:r>
              <a:rPr lang="en-US" altLang="en-US" dirty="0" smtClean="0"/>
              <a:t>Dynamic </a:t>
            </a:r>
            <a:r>
              <a:rPr lang="en-US" altLang="en-US" dirty="0"/>
              <a:t>linking </a:t>
            </a:r>
            <a:r>
              <a:rPr lang="en-US" altLang="en-US" dirty="0" smtClean="0"/>
              <a:t>– linking </a:t>
            </a:r>
            <a:r>
              <a:rPr lang="en-US" altLang="en-US" dirty="0"/>
              <a:t>postponed until execution time</a:t>
            </a:r>
            <a:endParaRPr lang="en-US" altLang="en-US" sz="800" dirty="0"/>
          </a:p>
          <a:p>
            <a:endParaRPr lang="en-US" altLang="en-US" dirty="0" smtClean="0"/>
          </a:p>
          <a:p>
            <a:r>
              <a:rPr lang="en-US" altLang="en-US" dirty="0" smtClean="0"/>
              <a:t>System </a:t>
            </a:r>
            <a:r>
              <a:rPr lang="en-US" altLang="en-US" dirty="0"/>
              <a:t>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endParaRPr lang="en-US" altLang="en-US" dirty="0" smtClean="0">
              <a:solidFill>
                <a:srgbClr val="000000"/>
              </a:solidFill>
            </a:endParaRPr>
          </a:p>
        </p:txBody>
      </p:sp>
      <p:pic>
        <p:nvPicPr>
          <p:cNvPr id="4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653" y="947777"/>
            <a:ext cx="2392199" cy="4439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</a:t>
            </a:r>
            <a:r>
              <a:rPr lang="en-US" altLang="en-US" dirty="0" smtClean="0"/>
              <a:t>processes</a:t>
            </a:r>
          </a:p>
          <a:p>
            <a:endParaRPr lang="en-US" altLang="en-US" dirty="0"/>
          </a:p>
          <a:p>
            <a:r>
              <a:rPr lang="en-US" altLang="en-US" dirty="0" smtClean="0"/>
              <a:t>Contiguous </a:t>
            </a:r>
            <a:r>
              <a:rPr lang="en-US" altLang="en-US" dirty="0"/>
              <a:t>allocation is one early method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Main </a:t>
            </a:r>
            <a:r>
              <a:rPr lang="en-US" altLang="en-US" dirty="0"/>
              <a:t>memory usually into two </a:t>
            </a:r>
            <a:r>
              <a:rPr lang="en-US" altLang="en-US" dirty="0" smtClean="0"/>
              <a:t>variable-sized </a:t>
            </a: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OS maintains a list of allocated / free partitions </a:t>
            </a: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(holes)</a:t>
            </a:r>
          </a:p>
          <a:p>
            <a:pPr lvl="1"/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 smtClean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– block of available memory; holes of various size are scattered throughout memory</a:t>
            </a:r>
          </a:p>
          <a:p>
            <a:pPr lvl="1"/>
            <a:endParaRPr lang="en-US" altLang="en-US" sz="1600" dirty="0" smtClean="0"/>
          </a:p>
          <a:p>
            <a:pPr lvl="1"/>
            <a:r>
              <a:rPr lang="en-US" altLang="en-US" sz="1600" dirty="0" smtClean="0"/>
              <a:t>When </a:t>
            </a:r>
            <a:r>
              <a:rPr lang="en-US" altLang="en-US" sz="1600" dirty="0"/>
              <a:t>a process arrives, it is allocated memory from a hole large enough to accommodate </a:t>
            </a:r>
            <a:r>
              <a:rPr lang="en-US" altLang="en-US" sz="1600" dirty="0" smtClean="0"/>
              <a:t>it</a:t>
            </a:r>
          </a:p>
          <a:p>
            <a:pPr lvl="1"/>
            <a:endParaRPr lang="en-US" altLang="en-US" sz="1600" dirty="0" smtClean="0"/>
          </a:p>
          <a:p>
            <a:pPr lvl="1"/>
            <a:r>
              <a:rPr lang="en-US" altLang="en-US" sz="1600" dirty="0" smtClean="0"/>
              <a:t>Memory is allocated to processes until requirements of next process in queue cannot be met</a:t>
            </a:r>
          </a:p>
          <a:p>
            <a:pPr lvl="2"/>
            <a:r>
              <a:rPr lang="en-US" altLang="en-US" sz="1600" dirty="0" smtClean="0"/>
              <a:t>OS may skip down the queue to allocate memory to a smaller </a:t>
            </a:r>
            <a:r>
              <a:rPr lang="en-US" altLang="en-US" sz="1600" dirty="0" err="1" smtClean="0"/>
              <a:t>orocess</a:t>
            </a:r>
            <a:r>
              <a:rPr lang="en-US" altLang="en-US" sz="1600" dirty="0" smtClean="0"/>
              <a:t> that fits in available memory</a:t>
            </a:r>
          </a:p>
          <a:p>
            <a:pPr lvl="2"/>
            <a:endParaRPr lang="en-US" altLang="en-US" sz="1600" dirty="0"/>
          </a:p>
          <a:p>
            <a:pPr lvl="1"/>
            <a:r>
              <a:rPr lang="en-US" altLang="en-US" sz="1600" dirty="0"/>
              <a:t>Process exiting frees its partition, adjacent free partitions </a:t>
            </a:r>
            <a:r>
              <a:rPr lang="en-US" altLang="en-US" sz="1600" dirty="0" smtClean="0"/>
              <a:t>combined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Contiguous Allocation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29" y="1119415"/>
            <a:ext cx="7573369" cy="48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31" y="3595770"/>
            <a:ext cx="8405870" cy="203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dirty="0" smtClean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 smtClean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 smtClean="0">
                <a:latin typeface="Helvetica" panose="020B0604020202020204" pitchFamily="34" charset="0"/>
              </a:rPr>
              <a:t>First-fit </a:t>
            </a:r>
            <a:r>
              <a:rPr lang="en-US" altLang="en-US" dirty="0">
                <a:latin typeface="Helvetica" panose="020B0604020202020204" pitchFamily="34" charset="0"/>
              </a:rPr>
              <a:t>and best-fit better than worst-fit in terms of speed and storage utilization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</a:t>
            </a:r>
            <a:r>
              <a:rPr lang="en-US" altLang="en-US" dirty="0" smtClean="0"/>
              <a:t>contiguous</a:t>
            </a:r>
          </a:p>
          <a:p>
            <a:pPr lvl="1"/>
            <a:r>
              <a:rPr lang="en-US" altLang="en-US" dirty="0" smtClean="0"/>
              <a:t>May be reduced slightly by allocating from appropriate end (top / bottom) of hole</a:t>
            </a:r>
          </a:p>
          <a:p>
            <a:endParaRPr lang="en-US" altLang="en-US" b="1" dirty="0">
              <a:solidFill>
                <a:srgbClr val="3366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771" y="2659579"/>
            <a:ext cx="5538387" cy="34538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 smtClean="0"/>
              <a:t>Compaction</a:t>
            </a:r>
            <a:endParaRPr lang="en-US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Compaction </a:t>
            </a:r>
            <a:r>
              <a:rPr lang="en-US" altLang="en-US" dirty="0"/>
              <a:t>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I/O </a:t>
            </a:r>
            <a:r>
              <a:rPr lang="en-US" altLang="en-US" dirty="0"/>
              <a:t>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</a:t>
            </a:r>
            <a:r>
              <a:rPr lang="en-US" altLang="en-US" dirty="0" smtClean="0"/>
              <a:t>buffers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12982</TotalTime>
  <Words>692</Words>
  <Application>Microsoft Office PowerPoint</Application>
  <PresentationFormat>On-screen Show (4:3)</PresentationFormat>
  <Paragraphs>132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ＭＳ Ｐゴシック</vt:lpstr>
      <vt:lpstr>ＭＳ Ｐゴシック</vt:lpstr>
      <vt:lpstr>Arial</vt:lpstr>
      <vt:lpstr>Garamond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Main Memory</vt:lpstr>
      <vt:lpstr>Background</vt:lpstr>
      <vt:lpstr>Memory in a Modern System</vt:lpstr>
      <vt:lpstr>Address binding</vt:lpstr>
      <vt:lpstr>Address Binding</vt:lpstr>
      <vt:lpstr>Address Binding</vt:lpstr>
      <vt:lpstr>Multistep Processing of a User Program </vt:lpstr>
      <vt:lpstr>Address Binding</vt:lpstr>
      <vt:lpstr>Address Binding</vt:lpstr>
      <vt:lpstr>Address Binding</vt:lpstr>
      <vt:lpstr>Memory Management Unit (MMU)</vt:lpstr>
      <vt:lpstr>Memory-Management Unit (Cont.)</vt:lpstr>
      <vt:lpstr>Memory Protection</vt:lpstr>
      <vt:lpstr>Dynamic Loading</vt:lpstr>
      <vt:lpstr>Dynamic Linking</vt:lpstr>
      <vt:lpstr>Contiguous Allocation</vt:lpstr>
      <vt:lpstr>Contiguous Allocation</vt:lpstr>
      <vt:lpstr>Contiguous Allocation</vt:lpstr>
      <vt:lpstr>Dynamic Storage-Allocation Problem</vt:lpstr>
      <vt:lpstr>Fragmentation</vt:lpstr>
      <vt:lpstr>Compaction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366</cp:revision>
  <cp:lastPrinted>2013-09-30T19:34:56Z</cp:lastPrinted>
  <dcterms:created xsi:type="dcterms:W3CDTF">2011-01-13T23:43:38Z</dcterms:created>
  <dcterms:modified xsi:type="dcterms:W3CDTF">2026-03-05T12:50:05Z</dcterms:modified>
</cp:coreProperties>
</file>