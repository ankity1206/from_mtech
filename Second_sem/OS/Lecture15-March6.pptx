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5"/>
  </p:notesMasterIdLst>
  <p:handoutMasterIdLst>
    <p:handoutMasterId r:id="rId36"/>
  </p:handoutMasterIdLst>
  <p:sldIdLst>
    <p:sldId id="331" r:id="rId2"/>
    <p:sldId id="348" r:id="rId3"/>
    <p:sldId id="350" r:id="rId4"/>
    <p:sldId id="456" r:id="rId5"/>
    <p:sldId id="351" r:id="rId6"/>
    <p:sldId id="352" r:id="rId7"/>
    <p:sldId id="353" r:id="rId8"/>
    <p:sldId id="360" r:id="rId9"/>
    <p:sldId id="457" r:id="rId10"/>
    <p:sldId id="361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1" r:id="rId22"/>
    <p:sldId id="472" r:id="rId23"/>
    <p:sldId id="473" r:id="rId24"/>
    <p:sldId id="474" r:id="rId25"/>
    <p:sldId id="475" r:id="rId26"/>
    <p:sldId id="476" r:id="rId27"/>
    <p:sldId id="477" r:id="rId28"/>
    <p:sldId id="478" r:id="rId29"/>
    <p:sldId id="479" r:id="rId30"/>
    <p:sldId id="480" r:id="rId31"/>
    <p:sldId id="481" r:id="rId32"/>
    <p:sldId id="482" r:id="rId33"/>
    <p:sldId id="483" r:id="rId3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27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782" y="10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582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624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56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2481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014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34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580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428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91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44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4481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0785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0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 smtClean="0"/>
              <a:t>Main </a:t>
            </a:r>
            <a:r>
              <a:rPr lang="en-US" altLang="en-US" dirty="0"/>
              <a:t>Memory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46916" y="6279614"/>
            <a:ext cx="3397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 smtClean="0"/>
              <a:t>Additional slide courtesy: </a:t>
            </a:r>
            <a:r>
              <a:rPr lang="en-IN" sz="1100" dirty="0" err="1" smtClean="0"/>
              <a:t>Prof.</a:t>
            </a:r>
            <a:r>
              <a:rPr lang="en-IN" sz="1100" dirty="0" smtClean="0"/>
              <a:t> </a:t>
            </a:r>
            <a:r>
              <a:rPr lang="en-IN" sz="1100" dirty="0" err="1" smtClean="0"/>
              <a:t>Mandar</a:t>
            </a:r>
            <a:r>
              <a:rPr lang="en-IN" sz="1100" dirty="0" smtClean="0"/>
              <a:t> </a:t>
            </a:r>
            <a:r>
              <a:rPr lang="en-IN" sz="1100" dirty="0" err="1" smtClean="0"/>
              <a:t>Mitra</a:t>
            </a:r>
            <a:r>
              <a:rPr lang="en-IN" sz="1100" dirty="0" smtClean="0"/>
              <a:t> </a:t>
            </a:r>
            <a:endParaRPr lang="en-IN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</a:t>
            </a:r>
            <a:r>
              <a:rPr lang="en-US" altLang="en-US" dirty="0" smtClean="0"/>
              <a:t>processes</a:t>
            </a:r>
          </a:p>
          <a:p>
            <a:endParaRPr lang="en-US" altLang="en-US" dirty="0"/>
          </a:p>
          <a:p>
            <a:r>
              <a:rPr lang="en-US" altLang="en-US" dirty="0" smtClean="0"/>
              <a:t>Contiguous </a:t>
            </a:r>
            <a:r>
              <a:rPr lang="en-US" altLang="en-US" dirty="0"/>
              <a:t>allocation is one early method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Main </a:t>
            </a:r>
            <a:r>
              <a:rPr lang="en-US" altLang="en-US" dirty="0"/>
              <a:t>memory usually into two </a:t>
            </a:r>
            <a:r>
              <a:rPr lang="en-US" altLang="en-US" dirty="0" smtClean="0"/>
              <a:t>variable-sized </a:t>
            </a: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OS maintains a list of allocated / free partitions </a:t>
            </a: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(holes)</a:t>
            </a:r>
          </a:p>
          <a:p>
            <a:pPr lvl="1"/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 smtClean="0"/>
              <a:t> </a:t>
            </a:r>
            <a:r>
              <a:rPr lang="en-US" altLang="en-US" sz="1600" dirty="0"/>
              <a:t>– block of available memory; holes of various size are scattered throughout memory</a:t>
            </a:r>
          </a:p>
          <a:p>
            <a:pPr lvl="1"/>
            <a:endParaRPr lang="en-US" altLang="en-US" sz="1600" dirty="0" smtClean="0"/>
          </a:p>
          <a:p>
            <a:pPr lvl="1"/>
            <a:r>
              <a:rPr lang="en-US" altLang="en-US" sz="1600" dirty="0" smtClean="0"/>
              <a:t>When </a:t>
            </a:r>
            <a:r>
              <a:rPr lang="en-US" altLang="en-US" sz="1600" dirty="0"/>
              <a:t>a process arrives, it is allocated memory from a hole large enough to accommodate </a:t>
            </a:r>
            <a:r>
              <a:rPr lang="en-US" altLang="en-US" sz="1600" dirty="0" smtClean="0"/>
              <a:t>it</a:t>
            </a:r>
          </a:p>
          <a:p>
            <a:pPr lvl="1"/>
            <a:endParaRPr lang="en-US" altLang="en-US" sz="1600" dirty="0" smtClean="0"/>
          </a:p>
          <a:p>
            <a:pPr lvl="1"/>
            <a:r>
              <a:rPr lang="en-US" altLang="en-US" sz="1600" dirty="0" smtClean="0"/>
              <a:t>Memory is allocated to processes until requirements of next process in queue cannot be met</a:t>
            </a:r>
          </a:p>
          <a:p>
            <a:pPr lvl="2"/>
            <a:r>
              <a:rPr lang="en-US" altLang="en-US" sz="1600" dirty="0" smtClean="0"/>
              <a:t>OS may skip down the queue to allocate memory to a smaller </a:t>
            </a:r>
            <a:r>
              <a:rPr lang="en-US" altLang="en-US" sz="1600" dirty="0"/>
              <a:t>p</a:t>
            </a:r>
            <a:r>
              <a:rPr lang="en-US" altLang="en-US" sz="1600" dirty="0" smtClean="0"/>
              <a:t>rocess that fits in available memory</a:t>
            </a:r>
          </a:p>
          <a:p>
            <a:pPr lvl="2"/>
            <a:endParaRPr lang="en-US" altLang="en-US" sz="1600" dirty="0"/>
          </a:p>
          <a:p>
            <a:pPr lvl="1"/>
            <a:r>
              <a:rPr lang="en-US" altLang="en-US" sz="1600" dirty="0"/>
              <a:t>Process exiting frees its partition, adjacent free partitions </a:t>
            </a:r>
            <a:r>
              <a:rPr lang="en-US" altLang="en-US" sz="1600" dirty="0" smtClean="0"/>
              <a:t>combined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Contiguous Allocation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29" y="1119415"/>
            <a:ext cx="7573369" cy="48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31" y="3388021"/>
            <a:ext cx="8405870" cy="2446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dirty="0" smtClean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 smtClean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US" altLang="en-US" dirty="0" smtClean="0">
                <a:latin typeface="Helvetica" panose="020B0604020202020204" pitchFamily="34" charset="0"/>
              </a:rPr>
              <a:t>First-fit </a:t>
            </a:r>
            <a:r>
              <a:rPr lang="en-US" altLang="en-US" dirty="0">
                <a:latin typeface="Helvetica" panose="020B0604020202020204" pitchFamily="34" charset="0"/>
              </a:rPr>
              <a:t>and best-fit better than worst-fit in terms of speed and storage </a:t>
            </a:r>
            <a:r>
              <a:rPr lang="en-US" altLang="en-US" dirty="0" smtClean="0">
                <a:latin typeface="Helvetica" panose="020B0604020202020204" pitchFamily="34" charset="0"/>
              </a:rPr>
              <a:t>utilization</a:t>
            </a:r>
          </a:p>
          <a:p>
            <a:pPr>
              <a:spcBef>
                <a:spcPct val="50000"/>
              </a:spcBef>
            </a:pPr>
            <a:r>
              <a:rPr lang="en-US" altLang="en-US" dirty="0" smtClean="0">
                <a:latin typeface="Helvetica" panose="020B0604020202020204" pitchFamily="34" charset="0"/>
              </a:rPr>
              <a:t>-- depends on the implementation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</a:t>
            </a:r>
            <a:r>
              <a:rPr lang="en-US" altLang="en-US" dirty="0" smtClean="0"/>
              <a:t>contiguous</a:t>
            </a:r>
          </a:p>
          <a:p>
            <a:pPr lvl="1"/>
            <a:r>
              <a:rPr lang="en-US" altLang="en-US" dirty="0" smtClean="0"/>
              <a:t>May be reduced slightly by allocating from appropriate end (top / bottom) of hole</a:t>
            </a:r>
          </a:p>
          <a:p>
            <a:endParaRPr lang="en-US" altLang="en-US" b="1" dirty="0">
              <a:solidFill>
                <a:srgbClr val="3366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771" y="2659579"/>
            <a:ext cx="5538387" cy="34538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 smtClean="0"/>
              <a:t>Compaction</a:t>
            </a:r>
            <a:endParaRPr lang="en-US" altLang="en-US" dirty="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Compaction </a:t>
            </a:r>
            <a:r>
              <a:rPr lang="en-US" altLang="en-US" dirty="0"/>
              <a:t>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I/O </a:t>
            </a:r>
            <a:r>
              <a:rPr lang="en-US" altLang="en-US" dirty="0"/>
              <a:t>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</a:t>
            </a:r>
            <a:r>
              <a:rPr lang="en-US" altLang="en-US" dirty="0" smtClean="0"/>
              <a:t>buffers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endParaRPr lang="en-US" altLang="en-US" dirty="0" smtClean="0"/>
          </a:p>
          <a:p>
            <a:r>
              <a:rPr lang="en-US" altLang="en-US" dirty="0" smtClean="0"/>
              <a:t>Divide </a:t>
            </a:r>
            <a:r>
              <a:rPr lang="en-US" altLang="en-US" dirty="0"/>
              <a:t>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</a:rPr>
              <a:t>Size defined by hardware</a:t>
            </a:r>
          </a:p>
          <a:p>
            <a:pPr lvl="1"/>
            <a:r>
              <a:rPr lang="en-US" altLang="en-US" dirty="0" smtClean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endParaRPr lang="en-US" altLang="en-US" dirty="0" smtClean="0"/>
          </a:p>
          <a:p>
            <a:r>
              <a:rPr lang="en-US" altLang="en-US" dirty="0" smtClean="0"/>
              <a:t>Divide </a:t>
            </a:r>
            <a:r>
              <a:rPr lang="en-US" altLang="en-US" dirty="0"/>
              <a:t>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Kernel to keep </a:t>
            </a:r>
            <a:r>
              <a:rPr lang="en-US" altLang="en-US" dirty="0"/>
              <a:t>track of all free frames</a:t>
            </a:r>
            <a:endParaRPr lang="en-US" altLang="en-US" sz="800" dirty="0"/>
          </a:p>
          <a:p>
            <a:pPr marL="0" indent="0">
              <a:buNone/>
            </a:pP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4938301" cy="4764087"/>
          </a:xfrm>
        </p:spPr>
        <p:txBody>
          <a:bodyPr/>
          <a:lstStyle/>
          <a:p>
            <a:r>
              <a:rPr lang="en-US" altLang="en-US" dirty="0" smtClean="0"/>
              <a:t>To </a:t>
            </a:r>
            <a:r>
              <a:rPr lang="en-US" altLang="en-US" dirty="0"/>
              <a:t>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endParaRPr lang="en-US" altLang="en-US" dirty="0" smtClean="0"/>
          </a:p>
          <a:p>
            <a:r>
              <a:rPr lang="en-US" altLang="en-US" dirty="0" smtClean="0"/>
              <a:t>Set </a:t>
            </a:r>
            <a:r>
              <a:rPr lang="en-US" altLang="en-US" dirty="0"/>
              <a:t>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endParaRPr lang="en-US" altLang="en-US" dirty="0" smtClean="0"/>
          </a:p>
          <a:p>
            <a:r>
              <a:rPr lang="en-US" altLang="en-US" dirty="0" smtClean="0"/>
              <a:t>Still </a:t>
            </a:r>
            <a:r>
              <a:rPr lang="en-US" altLang="en-US" dirty="0"/>
              <a:t>have Internal fragmentation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929" y="1476260"/>
            <a:ext cx="3344384" cy="414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33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959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327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414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276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162" y="1145095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</a:t>
            </a:r>
            <a:r>
              <a:rPr lang="en-US" altLang="en-US" dirty="0" smtClean="0"/>
              <a:t>bytes, Process </a:t>
            </a:r>
            <a:r>
              <a:rPr lang="en-US" altLang="en-US" dirty="0"/>
              <a:t>size = 72,766 </a:t>
            </a:r>
            <a:r>
              <a:rPr lang="en-US" altLang="en-US" dirty="0" smtClean="0"/>
              <a:t>bytes</a:t>
            </a:r>
          </a:p>
          <a:p>
            <a:endParaRPr lang="en-US" altLang="en-US" dirty="0"/>
          </a:p>
          <a:p>
            <a:r>
              <a:rPr lang="en-US" altLang="en-US" dirty="0"/>
              <a:t>35 pages + 1,086 bytes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Internal </a:t>
            </a:r>
            <a:r>
              <a:rPr lang="en-US" altLang="en-US" dirty="0"/>
              <a:t>fragmentation of 2,048 - 1,086 = 962 bytes</a:t>
            </a:r>
          </a:p>
          <a:p>
            <a:pPr marL="0" indent="0"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1173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Paging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72" y="1090899"/>
            <a:ext cx="7942056" cy="21260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38" y="3497710"/>
            <a:ext cx="7765594" cy="239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9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Internal Fragmentation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</a:t>
            </a:r>
          </a:p>
          <a:p>
            <a:pPr lvl="1"/>
            <a:r>
              <a:rPr lang="en-US" altLang="en-US" dirty="0"/>
              <a:t>Memory within a partition may be left unused</a:t>
            </a:r>
          </a:p>
          <a:p>
            <a:pPr marL="457200" lvl="1" indent="0">
              <a:buNone/>
            </a:pPr>
            <a:endParaRPr lang="en-US" alt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937" y="2577373"/>
            <a:ext cx="40481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03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Paging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08" y="1046602"/>
            <a:ext cx="8429584" cy="508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6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Implementation of Page Table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63" y="915764"/>
            <a:ext cx="8655137" cy="535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7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Implementation of Page Table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3401"/>
            <a:ext cx="8334260" cy="53139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9811" y="6038241"/>
            <a:ext cx="6322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/>
              <a:t>One for the page table and one for the data / instruction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01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Implementation of Page Table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44" y="943871"/>
            <a:ext cx="8069855" cy="507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3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8098973" cy="4606925"/>
          </a:xfrm>
        </p:spPr>
        <p:txBody>
          <a:bodyPr/>
          <a:lstStyle/>
          <a:p>
            <a:r>
              <a:rPr lang="en-US" altLang="en-US" dirty="0" smtClean="0"/>
              <a:t>TLBs </a:t>
            </a:r>
            <a:r>
              <a:rPr lang="en-US" altLang="en-US" dirty="0"/>
              <a:t>typically small (64 to 1,024 entries</a:t>
            </a:r>
            <a:r>
              <a:rPr lang="en-US" altLang="en-US" dirty="0" smtClean="0"/>
              <a:t>)</a:t>
            </a:r>
          </a:p>
          <a:p>
            <a:endParaRPr lang="en-US" altLang="en-US" dirty="0"/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</a:t>
            </a:r>
            <a:r>
              <a:rPr lang="en-US" altLang="en-US" dirty="0" smtClean="0"/>
              <a:t>considered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9362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8724" y="1022317"/>
            <a:ext cx="8565276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</a:t>
            </a:r>
            <a:r>
              <a:rPr lang="en-US" altLang="en-US" dirty="0" smtClean="0">
                <a:sym typeface="Symbol" pitchFamily="18" charset="2"/>
              </a:rPr>
              <a:t>TLB</a:t>
            </a:r>
          </a:p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 smtClean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 smtClean="0"/>
              <a:t>Suppose </a:t>
            </a:r>
            <a:r>
              <a:rPr lang="en-US" altLang="en-US" dirty="0"/>
              <a:t>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</a:t>
            </a:r>
            <a:r>
              <a:rPr lang="en-US" altLang="en-US" dirty="0" smtClean="0"/>
              <a:t>page </a:t>
            </a:r>
            <a:r>
              <a:rPr lang="en-US" altLang="en-US" dirty="0"/>
              <a:t>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b="1" dirty="0" smtClean="0">
              <a:solidFill>
                <a:srgbClr val="006699"/>
              </a:solidFill>
              <a:latin typeface="+mj-lt"/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 smtClean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 smtClean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 smtClean="0">
                <a:sym typeface="Symbol" pitchFamily="18" charset="2"/>
              </a:rPr>
              <a:t>): average time for  memory access (including TLB lookup)</a:t>
            </a: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 smtClean="0">
              <a:sym typeface="Symbol" pitchFamily="18" charset="2"/>
            </a:endParaRP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 smtClean="0">
                <a:sym typeface="Symbol" pitchFamily="18" charset="2"/>
              </a:rPr>
              <a:t>Consider  a more </a:t>
            </a:r>
            <a:r>
              <a:rPr lang="en-US" altLang="en-US" dirty="0">
                <a:sym typeface="Symbol" pitchFamily="18" charset="2"/>
              </a:rPr>
              <a:t>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138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442" y="970001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</a:t>
            </a:r>
            <a:r>
              <a:rPr lang="en-US" altLang="en-US" dirty="0" smtClean="0"/>
              <a:t>on</a:t>
            </a:r>
          </a:p>
          <a:p>
            <a:pPr lvl="1"/>
            <a:r>
              <a:rPr lang="en-US" dirty="0"/>
              <a:t>protection bit checked in parallel with address computation</a:t>
            </a:r>
            <a:endParaRPr lang="en-US" altLang="en-US" dirty="0"/>
          </a:p>
          <a:p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endParaRPr lang="en-US" altLang="en-US" b="1" dirty="0" smtClean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 smtClean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endParaRPr lang="en-US" altLang="en-US" dirty="0" smtClean="0"/>
          </a:p>
          <a:p>
            <a:r>
              <a:rPr lang="en-US" dirty="0"/>
              <a:t>protection violation </a:t>
            </a:r>
            <a:r>
              <a:rPr lang="en-US" dirty="0" smtClean="0"/>
              <a:t>(e.g. writing </a:t>
            </a:r>
            <a:r>
              <a:rPr lang="en-US" dirty="0"/>
              <a:t>to read-only page) causes hardware trap </a:t>
            </a:r>
            <a:r>
              <a:rPr lang="en-US" dirty="0" smtClean="0"/>
              <a:t>to kernel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882" y="2425900"/>
            <a:ext cx="3140353" cy="108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5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602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</a:t>
            </a:r>
            <a:r>
              <a:rPr lang="en-US" altLang="en-US" dirty="0" smtClean="0"/>
              <a:t>code </a:t>
            </a:r>
            <a:r>
              <a:rPr lang="en-US" altLang="en-US" dirty="0"/>
              <a:t>shared among processes (i.e., text editors, compilers, window systems)</a:t>
            </a:r>
          </a:p>
          <a:p>
            <a:pPr lvl="1"/>
            <a:r>
              <a:rPr lang="en-US" altLang="en-US" dirty="0" smtClean="0"/>
              <a:t>Also </a:t>
            </a:r>
            <a:r>
              <a:rPr lang="en-US" altLang="en-US" dirty="0"/>
              <a:t>useful for interprocess communication if sharing of read-write pages is </a:t>
            </a:r>
            <a:r>
              <a:rPr lang="en-US" altLang="en-US" dirty="0" smtClean="0"/>
              <a:t>allowed</a:t>
            </a:r>
          </a:p>
          <a:p>
            <a:pPr lvl="1"/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  <p:extLst>
      <p:ext uri="{BB962C8B-B14F-4D97-AF65-F5344CB8AC3E}">
        <p14:creationId xmlns:p14="http://schemas.microsoft.com/office/powerpoint/2010/main" val="15697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399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Structure of the Page Table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57200" y="1007910"/>
            <a:ext cx="33105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NimbusSanL-Regu"/>
              </a:rPr>
              <a:t>Multi-level paging I</a:t>
            </a:r>
            <a:endParaRPr lang="en-IN" sz="2400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56" y="1469575"/>
            <a:ext cx="7951483" cy="491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8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808" y="233853"/>
            <a:ext cx="8229600" cy="576262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NimbusSanL-Regu"/>
              </a:rPr>
              <a:t>Multi-level paging </a:t>
            </a:r>
            <a:r>
              <a:rPr lang="en-IN" dirty="0" smtClean="0">
                <a:solidFill>
                  <a:srgbClr val="FF0000"/>
                </a:solidFill>
                <a:latin typeface="NimbusSanL-Regu"/>
              </a:rPr>
              <a:t>I</a:t>
            </a:r>
            <a:r>
              <a:rPr lang="en-IN" dirty="0" smtClean="0">
                <a:solidFill>
                  <a:srgbClr val="FF0000"/>
                </a:solidFill>
              </a:rPr>
              <a:t>I / Hierarchical PT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39" y="1089669"/>
            <a:ext cx="8187301" cy="525604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53359" y="3505325"/>
            <a:ext cx="4786828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200" dirty="0"/>
              <a:t>where</a:t>
            </a:r>
            <a:r>
              <a:rPr lang="en-US" altLang="en-US" sz="1200" i="1" dirty="0"/>
              <a:t> p</a:t>
            </a:r>
            <a:r>
              <a:rPr lang="en-US" altLang="en-US" sz="1200" i="1" baseline="-25000" dirty="0"/>
              <a:t>1</a:t>
            </a:r>
            <a:r>
              <a:rPr lang="en-US" altLang="en-US" sz="1200" dirty="0"/>
              <a:t> is an index into the outer page table, and </a:t>
            </a:r>
            <a:r>
              <a:rPr lang="en-US" altLang="en-US" sz="1200" i="1" dirty="0"/>
              <a:t>p</a:t>
            </a:r>
            <a:r>
              <a:rPr lang="en-US" altLang="en-US" sz="1200" i="1" baseline="-25000" dirty="0"/>
              <a:t>2</a:t>
            </a:r>
            <a:r>
              <a:rPr lang="en-US" altLang="en-US" sz="1200" dirty="0"/>
              <a:t> is the displacement within the page of the inner page </a:t>
            </a:r>
            <a:r>
              <a:rPr lang="en-US" altLang="en-US" sz="1200" dirty="0" smtClean="0"/>
              <a:t>table</a:t>
            </a: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7039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2-level </a:t>
            </a:r>
            <a:r>
              <a:rPr lang="en-US" altLang="en-US" dirty="0"/>
              <a:t>Page </a:t>
            </a:r>
            <a:r>
              <a:rPr lang="en-US" altLang="en-US" dirty="0" smtClean="0"/>
              <a:t>Table example</a:t>
            </a:r>
            <a:endParaRPr lang="en-US" altLang="en-US" dirty="0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 smtClean="0"/>
              <a:t>Break up the logical address space into multiple page tables</a:t>
            </a:r>
          </a:p>
          <a:p>
            <a:r>
              <a:rPr lang="en-US" altLang="en-US" dirty="0" smtClean="0"/>
              <a:t>We then page the page table</a:t>
            </a:r>
            <a:endParaRPr lang="en-US" altLang="en-US" dirty="0"/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95329" y="1961540"/>
            <a:ext cx="5491909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59397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2561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31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455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14123</TotalTime>
  <Words>1119</Words>
  <Application>Microsoft Office PowerPoint</Application>
  <PresentationFormat>On-screen Show (4:3)</PresentationFormat>
  <Paragraphs>188</Paragraphs>
  <Slides>33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MS PGothic</vt:lpstr>
      <vt:lpstr>MS PGothic</vt:lpstr>
      <vt:lpstr>Arial</vt:lpstr>
      <vt:lpstr>Helvetica</vt:lpstr>
      <vt:lpstr>Monotype Sorts</vt:lpstr>
      <vt:lpstr>NimbusSanL-Regu</vt:lpstr>
      <vt:lpstr>Symbol</vt:lpstr>
      <vt:lpstr>Times New Roman</vt:lpstr>
      <vt:lpstr>Verdana</vt:lpstr>
      <vt:lpstr>Webdings</vt:lpstr>
      <vt:lpstr>Wingdings</vt:lpstr>
      <vt:lpstr>os-8</vt:lpstr>
      <vt:lpstr>Main Memory</vt:lpstr>
      <vt:lpstr>Contiguous Allocation</vt:lpstr>
      <vt:lpstr>Contiguous Allocation</vt:lpstr>
      <vt:lpstr>Contiguous Allocation</vt:lpstr>
      <vt:lpstr>Dynamic Storage-Allocation Problem</vt:lpstr>
      <vt:lpstr>Fragmentation</vt:lpstr>
      <vt:lpstr>Compaction</vt:lpstr>
      <vt:lpstr>Paging</vt:lpstr>
      <vt:lpstr>Paging</vt:lpstr>
      <vt:lpstr>Address Translation Scheme</vt:lpstr>
      <vt:lpstr>Paging Hardware</vt:lpstr>
      <vt:lpstr>Paging Model of Logical and  Physical Memory</vt:lpstr>
      <vt:lpstr>Paging Example </vt:lpstr>
      <vt:lpstr>Free Frames</vt:lpstr>
      <vt:lpstr>Paging -- Calculating internal fragmentation</vt:lpstr>
      <vt:lpstr>Paging</vt:lpstr>
      <vt:lpstr>Internal Fragmentation</vt:lpstr>
      <vt:lpstr>Paging</vt:lpstr>
      <vt:lpstr>Implementation of Page Table</vt:lpstr>
      <vt:lpstr>Implementation of Page Table</vt:lpstr>
      <vt:lpstr>Implementation of Page Table</vt:lpstr>
      <vt:lpstr>Translation Look-Aside Buffer 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Multi-level paging II / Hierarchical PT</vt:lpstr>
      <vt:lpstr>2-level Page Table example</vt:lpstr>
      <vt:lpstr>Address-Translation Scheme</vt:lpstr>
      <vt:lpstr>64-bit Logical Address Space</vt:lpstr>
      <vt:lpstr>Three-level Paging Scheme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373</cp:revision>
  <cp:lastPrinted>2013-09-30T19:34:56Z</cp:lastPrinted>
  <dcterms:created xsi:type="dcterms:W3CDTF">2011-01-13T23:43:38Z</dcterms:created>
  <dcterms:modified xsi:type="dcterms:W3CDTF">2026-03-06T15:48:28Z</dcterms:modified>
</cp:coreProperties>
</file>