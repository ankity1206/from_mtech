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24"/>
  </p:notesMasterIdLst>
  <p:handoutMasterIdLst>
    <p:handoutMasterId r:id="rId25"/>
  </p:handoutMasterIdLst>
  <p:sldIdLst>
    <p:sldId id="331" r:id="rId2"/>
    <p:sldId id="537" r:id="rId3"/>
    <p:sldId id="538" r:id="rId4"/>
    <p:sldId id="554" r:id="rId5"/>
    <p:sldId id="558" r:id="rId6"/>
    <p:sldId id="556" r:id="rId7"/>
    <p:sldId id="557" r:id="rId8"/>
    <p:sldId id="559" r:id="rId9"/>
    <p:sldId id="560" r:id="rId10"/>
    <p:sldId id="563" r:id="rId11"/>
    <p:sldId id="565" r:id="rId12"/>
    <p:sldId id="567" r:id="rId13"/>
    <p:sldId id="568" r:id="rId14"/>
    <p:sldId id="562" r:id="rId15"/>
    <p:sldId id="569" r:id="rId16"/>
    <p:sldId id="571" r:id="rId17"/>
    <p:sldId id="570" r:id="rId18"/>
    <p:sldId id="572" r:id="rId19"/>
    <p:sldId id="573" r:id="rId20"/>
    <p:sldId id="575" r:id="rId21"/>
    <p:sldId id="574" r:id="rId22"/>
    <p:sldId id="576" r:id="rId2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CCFF"/>
    <a:srgbClr val="CCECFF"/>
    <a:srgbClr val="FF0000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1" autoAdjust="0"/>
    <p:restoredTop sz="94660"/>
  </p:normalViewPr>
  <p:slideViewPr>
    <p:cSldViewPr snapToGrid="0">
      <p:cViewPr varScale="1">
        <p:scale>
          <a:sx n="79" d="100"/>
          <a:sy n="79" d="100"/>
        </p:scale>
        <p:origin x="90" y="60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5526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EC2E17CB-4D30-407C-BFB4-332CEFB719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E10020-71C2-454F-B242-56666943DF34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F12DF0AA-3AA1-48FF-AE11-5633BA1365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5CCB7352-60B6-4ACB-9204-DD7FB14CB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101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>
            <a:extLst>
              <a:ext uri="{FF2B5EF4-FFF2-40B4-BE49-F238E27FC236}">
                <a16:creationId xmlns:a16="http://schemas.microsoft.com/office/drawing/2014/main" id="{56B4D174-7712-4CB1-A41E-3E47996C66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090860-9AF5-424D-A333-7DC8522BDD90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7699" name="Rectangle 2">
            <a:extLst>
              <a:ext uri="{FF2B5EF4-FFF2-40B4-BE49-F238E27FC236}">
                <a16:creationId xmlns:a16="http://schemas.microsoft.com/office/drawing/2014/main" id="{D34CB649-2117-4081-91C0-CE968BFCFC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>
            <a:extLst>
              <a:ext uri="{FF2B5EF4-FFF2-40B4-BE49-F238E27FC236}">
                <a16:creationId xmlns:a16="http://schemas.microsoft.com/office/drawing/2014/main" id="{1E59B376-3E44-42AB-A505-B2EEEB3625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39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Segmentation</a:t>
            </a:r>
            <a:br>
              <a:rPr lang="en-US" altLang="en-US" dirty="0" smtClean="0"/>
            </a:br>
            <a:r>
              <a:rPr lang="en-US" altLang="en-US" dirty="0" smtClean="0"/>
              <a:t>i386 (</a:t>
            </a:r>
            <a:r>
              <a:rPr lang="en-US" altLang="en-US" dirty="0" err="1" smtClean="0"/>
              <a:t>linux</a:t>
            </a:r>
            <a:r>
              <a:rPr lang="en-US" altLang="en-US" dirty="0" smtClean="0"/>
              <a:t>)</a:t>
            </a:r>
            <a:endParaRPr lang="en-US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5746916" y="6279614"/>
            <a:ext cx="33970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dirty="0"/>
              <a:t>Additional slide courtesy: </a:t>
            </a:r>
            <a:r>
              <a:rPr lang="en-IN" sz="1100" dirty="0" err="1"/>
              <a:t>Prof.</a:t>
            </a:r>
            <a:r>
              <a:rPr lang="en-IN" sz="1100" dirty="0"/>
              <a:t> </a:t>
            </a:r>
            <a:r>
              <a:rPr lang="en-IN" sz="1100" dirty="0" err="1"/>
              <a:t>Mandar</a:t>
            </a:r>
            <a:r>
              <a:rPr lang="en-IN" sz="1100" dirty="0"/>
              <a:t> </a:t>
            </a:r>
            <a:r>
              <a:rPr lang="en-IN" sz="1100" dirty="0" err="1"/>
              <a:t>Mitra</a:t>
            </a:r>
            <a:r>
              <a:rPr lang="en-IN" sz="1100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6B76758C-1E6C-4B95-A8AA-7E0A28DAC0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867" y="24489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Other Considerations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48081149-F761-4B98-AC52-65D65BDA9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4570" y="1170217"/>
            <a:ext cx="7589492" cy="4908550"/>
          </a:xfrm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en-US" dirty="0" smtClean="0"/>
              <a:t>Reserve frames</a:t>
            </a:r>
          </a:p>
          <a:p>
            <a:pPr lvl="1">
              <a:defRPr/>
            </a:pPr>
            <a:r>
              <a:rPr lang="en-IN" dirty="0"/>
              <a:t>Kernel maintains small reserve pool of free frames</a:t>
            </a:r>
          </a:p>
          <a:p>
            <a:pPr lvl="1">
              <a:defRPr/>
            </a:pPr>
            <a:r>
              <a:rPr lang="en-US" altLang="en-US" dirty="0" smtClean="0"/>
              <a:t>When a page fault occurs, a frame is allocated from the reserve</a:t>
            </a:r>
          </a:p>
          <a:p>
            <a:pPr lvl="1">
              <a:defRPr/>
            </a:pPr>
            <a:r>
              <a:rPr lang="en-US" altLang="en-US" dirty="0" smtClean="0"/>
              <a:t>Identifies page to be replaced in the background </a:t>
            </a:r>
          </a:p>
          <a:p>
            <a:pPr lvl="1">
              <a:defRPr/>
            </a:pPr>
            <a:r>
              <a:rPr lang="en-US" altLang="en-US" dirty="0" smtClean="0"/>
              <a:t>Schedules write to disk for the dirty page</a:t>
            </a:r>
          </a:p>
          <a:p>
            <a:pPr lvl="1">
              <a:defRPr/>
            </a:pPr>
            <a:r>
              <a:rPr lang="en-US" altLang="en-US" dirty="0" smtClean="0"/>
              <a:t>Adds frame to free frame pool when disk write completes</a:t>
            </a:r>
          </a:p>
          <a:p>
            <a:pPr lvl="1">
              <a:defRPr/>
            </a:pPr>
            <a:r>
              <a:rPr lang="en-US" altLang="en-US" dirty="0" smtClean="0"/>
              <a:t>Process can start early</a:t>
            </a:r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 smtClean="0"/>
              <a:t>Pre-paging </a:t>
            </a:r>
            <a:r>
              <a:rPr lang="en-US" altLang="en-US" dirty="0"/>
              <a:t>– Bringing in pages in anticipation</a:t>
            </a:r>
          </a:p>
          <a:p>
            <a:pPr>
              <a:defRPr/>
            </a:pPr>
            <a:endParaRPr lang="en-US" altLang="en-US" dirty="0" smtClean="0"/>
          </a:p>
          <a:p>
            <a:pPr>
              <a:defRPr/>
            </a:pPr>
            <a:r>
              <a:rPr lang="en-US" altLang="en-US" dirty="0" smtClean="0"/>
              <a:t>Page size – Tradeoffs?</a:t>
            </a:r>
            <a:endParaRPr lang="en-US" altLang="en-US" dirty="0"/>
          </a:p>
          <a:p>
            <a:pPr>
              <a:defRPr/>
            </a:pPr>
            <a:endParaRPr lang="en-US" altLang="en-US" dirty="0" smtClean="0"/>
          </a:p>
          <a:p>
            <a:pPr>
              <a:defRPr/>
            </a:pPr>
            <a:r>
              <a:rPr lang="en-US" altLang="en-US" dirty="0" smtClean="0"/>
              <a:t>TLB reach</a:t>
            </a:r>
            <a:endParaRPr lang="en-US" altLang="en-US" dirty="0"/>
          </a:p>
          <a:p>
            <a:pPr lvl="8">
              <a:buFontTx/>
              <a:buNone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5254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9FEBEE20-4A5C-413A-B000-3484CAD427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7921691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TLB Reach 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A8B1F0E-2841-4D45-8806-4D0968518C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0070" y="952161"/>
            <a:ext cx="7694612" cy="4418013"/>
          </a:xfrm>
        </p:spPr>
        <p:txBody>
          <a:bodyPr/>
          <a:lstStyle/>
          <a:p>
            <a:r>
              <a:rPr lang="en-US" altLang="en-US" dirty="0"/>
              <a:t>TLB Reach - The amount of memory accessible from the TLB</a:t>
            </a:r>
            <a:endParaRPr lang="en-US" altLang="en-US" sz="800" dirty="0"/>
          </a:p>
          <a:p>
            <a:endParaRPr lang="en-US" altLang="en-US" dirty="0"/>
          </a:p>
          <a:p>
            <a:r>
              <a:rPr lang="en-US" altLang="en-US" dirty="0"/>
              <a:t>TLB Reach = (TLB Size) X (Page Size)</a:t>
            </a:r>
            <a:endParaRPr lang="en-US" altLang="en-US" sz="800" dirty="0"/>
          </a:p>
          <a:p>
            <a:endParaRPr lang="en-US" altLang="en-US" dirty="0"/>
          </a:p>
          <a:p>
            <a:r>
              <a:rPr lang="en-US" altLang="en-US" dirty="0"/>
              <a:t>Ideally, the working set of each process is stored in the TLB</a:t>
            </a:r>
          </a:p>
          <a:p>
            <a:pPr lvl="1"/>
            <a:r>
              <a:rPr lang="en-US" altLang="en-US" dirty="0"/>
              <a:t>Otherwise there is a high degree of page faults</a:t>
            </a:r>
            <a:endParaRPr lang="en-US" altLang="en-US" sz="800" dirty="0"/>
          </a:p>
          <a:p>
            <a:endParaRPr lang="en-US" altLang="en-US" dirty="0"/>
          </a:p>
          <a:p>
            <a:r>
              <a:rPr lang="en-US" altLang="en-US" dirty="0"/>
              <a:t>Increase the Page Size</a:t>
            </a:r>
          </a:p>
          <a:p>
            <a:pPr lvl="1"/>
            <a:r>
              <a:rPr lang="en-US" altLang="en-US" dirty="0"/>
              <a:t>This may lead to an increase in fragmentation as not all applications require a large page size</a:t>
            </a:r>
            <a:endParaRPr lang="en-US" altLang="en-US" sz="800" dirty="0"/>
          </a:p>
          <a:p>
            <a:endParaRPr lang="en-US" altLang="en-US" dirty="0"/>
          </a:p>
          <a:p>
            <a:r>
              <a:rPr lang="en-US" altLang="en-US" dirty="0"/>
              <a:t>Provide Multiple Page Sizes</a:t>
            </a:r>
          </a:p>
          <a:p>
            <a:pPr lvl="1"/>
            <a:r>
              <a:rPr lang="en-US" altLang="en-US" dirty="0"/>
              <a:t>This allows applications that require larger page sizes the opportunity to use them without an increase in fragmentation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7807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450" y="245576"/>
            <a:ext cx="8229600" cy="576262"/>
          </a:xfrm>
        </p:spPr>
        <p:txBody>
          <a:bodyPr/>
          <a:lstStyle/>
          <a:p>
            <a:r>
              <a:rPr lang="en-IN" dirty="0" smtClean="0"/>
              <a:t>The bigger picture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7046" y="960622"/>
            <a:ext cx="7734645" cy="4530725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IN" dirty="0" smtClean="0">
                <a:sym typeface="Wingdings" panose="05000000000000000000" pitchFamily="2" charset="2"/>
              </a:rPr>
              <a:t>Fetch Page Table Entry for address translation</a:t>
            </a:r>
          </a:p>
          <a:p>
            <a:pPr marL="0" indent="0">
              <a:buNone/>
            </a:pPr>
            <a:r>
              <a:rPr lang="en-IN" dirty="0" smtClean="0">
                <a:sym typeface="Wingdings" panose="05000000000000000000" pitchFamily="2" charset="2"/>
              </a:rPr>
              <a:t>	Case 1.1: TLB hit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</a:t>
            </a:r>
            <a:r>
              <a:rPr lang="en-IN" dirty="0" smtClean="0">
                <a:sym typeface="Wingdings" panose="05000000000000000000" pitchFamily="2" charset="2"/>
              </a:rPr>
              <a:t>Case 1.2: TLB miss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</a:t>
            </a:r>
            <a:r>
              <a:rPr lang="en-IN" dirty="0" smtClean="0">
                <a:sym typeface="Wingdings" panose="05000000000000000000" pitchFamily="2" charset="2"/>
              </a:rPr>
              <a:t>	  Fetch PT entry (multiple levels possible)  PF possible</a:t>
            </a:r>
          </a:p>
          <a:p>
            <a:pPr marL="0" indent="0">
              <a:buNone/>
            </a:pP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 smtClean="0">
                <a:sym typeface="Wingdings" panose="05000000000000000000" pitchFamily="2" charset="2"/>
              </a:rPr>
              <a:t>2. Is page in physical memory?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</a:t>
            </a:r>
            <a:r>
              <a:rPr lang="en-IN" dirty="0" smtClean="0">
                <a:sym typeface="Wingdings" panose="05000000000000000000" pitchFamily="2" charset="2"/>
              </a:rPr>
              <a:t>Case 2.1: Yes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	</a:t>
            </a:r>
            <a:r>
              <a:rPr lang="en-IN" dirty="0" smtClean="0">
                <a:sym typeface="Wingdings" panose="05000000000000000000" pitchFamily="2" charset="2"/>
              </a:rPr>
              <a:t>Case 2.2: No  PF possible</a:t>
            </a:r>
          </a:p>
          <a:p>
            <a:pPr marL="0" indent="0">
              <a:buNone/>
            </a:pPr>
            <a:endParaRPr lang="en-IN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 smtClean="0">
                <a:sym typeface="Wingdings" panose="05000000000000000000" pitchFamily="2" charset="2"/>
              </a:rPr>
              <a:t>3. Access Physical Memory</a:t>
            </a:r>
            <a:endParaRPr lang="en-IN" dirty="0">
              <a:sym typeface="Wingdings" panose="05000000000000000000" pitchFamily="2" charset="2"/>
            </a:endParaRPr>
          </a:p>
          <a:p>
            <a:endParaRPr lang="en-IN" sz="1400" dirty="0">
              <a:sym typeface="Wingdings" panose="05000000000000000000" pitchFamily="2" charset="2"/>
            </a:endParaRPr>
          </a:p>
          <a:p>
            <a:endParaRPr lang="en-IN" sz="1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184" y="3505199"/>
            <a:ext cx="5043816" cy="309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7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400" dirty="0" smtClean="0"/>
              <a:t>An alternative view of Memory Management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Segmentation</a:t>
            </a:r>
          </a:p>
          <a:p>
            <a:endParaRPr lang="en-IN" dirty="0"/>
          </a:p>
          <a:p>
            <a:r>
              <a:rPr lang="en-IN" dirty="0" smtClean="0"/>
              <a:t>Demand Segmentation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5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Segmentation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2811"/>
            <a:ext cx="8452338" cy="4530725"/>
          </a:xfrm>
        </p:spPr>
        <p:txBody>
          <a:bodyPr/>
          <a:lstStyle/>
          <a:p>
            <a:pPr algn="just"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00AE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 memory-management scheme that supports programmer view of memory </a:t>
            </a:r>
            <a:r>
              <a:rPr lang="en-US" sz="2000" dirty="0" smtClean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(reference: sections in </a:t>
            </a:r>
            <a:r>
              <a:rPr lang="en-US" sz="2000" dirty="0" err="1" smtClean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a.out</a:t>
            </a:r>
            <a:r>
              <a:rPr lang="en-US" sz="2000" dirty="0" smtClean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and 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logical address space is divided into collection of segments.</a:t>
            </a:r>
          </a:p>
          <a:p>
            <a:pPr algn="just"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permits the physical address space of a process to be noncontiguous.</a:t>
            </a:r>
          </a:p>
          <a:p>
            <a:pPr algn="just"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segment has a </a:t>
            </a:r>
            <a:r>
              <a:rPr lang="en-US" sz="2000" dirty="0" smtClean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 identifier 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 length. The addresses specify both the segment </a:t>
            </a:r>
            <a:r>
              <a:rPr lang="en-US" sz="2000" dirty="0" smtClean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 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the offset within the segment.</a:t>
            </a:r>
          </a:p>
          <a:p>
            <a:pPr algn="just"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 smtClean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maximum number of segments is determined by hardware</a:t>
            </a:r>
          </a:p>
          <a:p>
            <a:pPr algn="just">
              <a:spcAft>
                <a:spcPts val="10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 smtClean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logical address consists of a two tuple:</a:t>
            </a:r>
          </a:p>
          <a:p>
            <a:pPr marL="0" indent="0" algn="just">
              <a:spcAft>
                <a:spcPts val="1000"/>
              </a:spcAft>
              <a:buNone/>
              <a:defRPr/>
            </a:pPr>
            <a:r>
              <a:rPr lang="en-US" sz="2000" dirty="0" smtClean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&lt;</a:t>
            </a:r>
            <a:r>
              <a:rPr lang="en-US" sz="200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segment-number, offset&gt;.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1511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Segmentation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57200" y="1299185"/>
            <a:ext cx="4995862" cy="390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1000"/>
              </a:spcAft>
            </a:pPr>
            <a:r>
              <a:rPr lang="en-US" altLang="en-US" sz="2200" b="0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 might create separate segments for the following</a:t>
            </a:r>
            <a:r>
              <a:rPr lang="en-US" altLang="en-US" sz="2200" b="0" baseline="0" dirty="0" smtClean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spcAft>
                <a:spcPts val="1000"/>
              </a:spcAft>
            </a:pPr>
            <a:endParaRPr lang="en-US" altLang="en-US" sz="2200" b="0" baseline="0" dirty="0">
              <a:solidFill>
                <a:srgbClr val="231F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</a:pPr>
            <a:r>
              <a:rPr lang="en-US" altLang="en-US" sz="2200" baseline="0" dirty="0">
                <a:solidFill>
                  <a:srgbClr val="00AE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en-US" sz="2200" b="0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code</a:t>
            </a:r>
          </a:p>
          <a:p>
            <a:pPr>
              <a:spcAft>
                <a:spcPts val="1000"/>
              </a:spcAft>
            </a:pPr>
            <a:r>
              <a:rPr lang="en-US" altLang="en-US" sz="2200" baseline="0" dirty="0">
                <a:solidFill>
                  <a:srgbClr val="00AE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en-US" sz="2200" b="0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variables</a:t>
            </a:r>
          </a:p>
          <a:p>
            <a:pPr>
              <a:spcAft>
                <a:spcPts val="1000"/>
              </a:spcAft>
            </a:pPr>
            <a:r>
              <a:rPr lang="en-US" altLang="en-US" sz="2200" baseline="0" dirty="0">
                <a:solidFill>
                  <a:srgbClr val="00AE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en-US" sz="2200" b="0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heap, from which memory is allocated</a:t>
            </a:r>
          </a:p>
          <a:p>
            <a:pPr>
              <a:spcAft>
                <a:spcPts val="1000"/>
              </a:spcAft>
            </a:pPr>
            <a:r>
              <a:rPr lang="en-US" altLang="en-US" sz="2200" baseline="0" dirty="0">
                <a:solidFill>
                  <a:srgbClr val="00AE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en-US" sz="2200" b="0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stacks used by each thread</a:t>
            </a:r>
          </a:p>
          <a:p>
            <a:pPr>
              <a:spcAft>
                <a:spcPts val="1000"/>
              </a:spcAft>
            </a:pPr>
            <a:r>
              <a:rPr lang="en-US" altLang="en-US" sz="2200" baseline="0" dirty="0">
                <a:solidFill>
                  <a:srgbClr val="00AE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en-US" sz="2200" b="0" baseline="0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standard C library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258888"/>
            <a:ext cx="2943225" cy="385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184775" y="5143500"/>
            <a:ext cx="34734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User</a:t>
            </a:r>
            <a:r>
              <a:rPr lang="ja-JP" altLang="en-US">
                <a:ea typeface="MS PGothic" panose="020B0600070205080204" pitchFamily="34" charset="-128"/>
              </a:rPr>
              <a:t>’</a:t>
            </a:r>
            <a:r>
              <a:rPr lang="en-US" altLang="ja-JP">
                <a:ea typeface="MS PGothic" panose="020B0600070205080204" pitchFamily="34" charset="-128"/>
              </a:rPr>
              <a:t>s View of a Program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858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</a:t>
            </a:r>
            <a:r>
              <a:rPr lang="en-US" dirty="0">
                <a:solidFill>
                  <a:srgbClr val="231F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/>
              <a:t>Hardware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022472"/>
            <a:ext cx="8686800" cy="4530725"/>
          </a:xfrm>
        </p:spPr>
        <p:txBody>
          <a:bodyPr/>
          <a:lstStyle/>
          <a:p>
            <a:pPr eaLnBrk="1" hangingPunct="1">
              <a:tabLst>
                <a:tab pos="1830388" algn="l"/>
                <a:tab pos="2857500" algn="ctr"/>
              </a:tabLst>
            </a:pPr>
            <a:r>
              <a:rPr lang="en-US" altLang="en-US" dirty="0"/>
              <a:t>Logical address consists of a two tuple:</a:t>
            </a:r>
          </a:p>
          <a:p>
            <a:pPr eaLnBrk="1" hangingPunct="1">
              <a:buNone/>
              <a:tabLst>
                <a:tab pos="1830388" algn="l"/>
                <a:tab pos="2857500" algn="ctr"/>
              </a:tabLst>
            </a:pPr>
            <a:r>
              <a:rPr lang="en-US" altLang="en-US" dirty="0"/>
              <a:t>		&lt;segment-number, offset</a:t>
            </a:r>
            <a:r>
              <a:rPr lang="en-US" altLang="en-US" dirty="0" smtClean="0"/>
              <a:t>&gt;</a:t>
            </a:r>
          </a:p>
          <a:p>
            <a:pPr eaLnBrk="1" hangingPunct="1">
              <a:buNone/>
              <a:tabLst>
                <a:tab pos="1830388" algn="l"/>
                <a:tab pos="2857500" algn="ctr"/>
              </a:tabLst>
            </a:pPr>
            <a:endParaRPr lang="en-US" altLang="en-US" dirty="0"/>
          </a:p>
          <a:p>
            <a:pPr eaLnBrk="1" hangingPunct="1">
              <a:tabLst>
                <a:tab pos="1830388" algn="l"/>
                <a:tab pos="2857500" algn="ctr"/>
              </a:tabLst>
            </a:pPr>
            <a:r>
              <a:rPr lang="en-US" altLang="en-US" i="1" dirty="0"/>
              <a:t>Segment table</a:t>
            </a:r>
            <a:r>
              <a:rPr lang="en-US" altLang="en-US" dirty="0"/>
              <a:t> – maps two-dimensional physical addresses; each table </a:t>
            </a:r>
            <a:r>
              <a:rPr lang="en-US" altLang="en-US" dirty="0" smtClean="0"/>
              <a:t>entry:</a:t>
            </a:r>
            <a:endParaRPr lang="en-US" altLang="en-US" dirty="0"/>
          </a:p>
          <a:p>
            <a:pPr lvl="1" eaLnBrk="1" hangingPunct="1">
              <a:tabLst>
                <a:tab pos="1830388" algn="l"/>
                <a:tab pos="2857500" algn="ctr"/>
              </a:tabLst>
            </a:pPr>
            <a:r>
              <a:rPr lang="en-US" altLang="en-US" sz="1600" dirty="0"/>
              <a:t>base – contains the starting physical address where the segments reside in memory.</a:t>
            </a:r>
          </a:p>
          <a:p>
            <a:pPr lvl="1" eaLnBrk="1" hangingPunct="1">
              <a:tabLst>
                <a:tab pos="1830388" algn="l"/>
                <a:tab pos="2857500" algn="ctr"/>
              </a:tabLst>
            </a:pPr>
            <a:r>
              <a:rPr lang="en-US" altLang="en-US" sz="1600" i="1" dirty="0"/>
              <a:t>limit</a:t>
            </a:r>
            <a:r>
              <a:rPr lang="en-US" altLang="en-US" sz="1600" dirty="0"/>
              <a:t> – specifies the length of the segment</a:t>
            </a:r>
            <a:r>
              <a:rPr lang="en-US" altLang="en-US" sz="1600" dirty="0" smtClean="0"/>
              <a:t>.</a:t>
            </a:r>
          </a:p>
          <a:p>
            <a:pPr lvl="2" eaLnBrk="1" hangingPunct="1">
              <a:tabLst>
                <a:tab pos="1830388" algn="l"/>
                <a:tab pos="2857500" algn="ctr"/>
              </a:tabLst>
            </a:pPr>
            <a:r>
              <a:rPr lang="en-US" altLang="en-US" sz="1600" dirty="0" smtClean="0"/>
              <a:t>Recall: Protection in paging (maximum offset?)</a:t>
            </a:r>
          </a:p>
          <a:p>
            <a:pPr lvl="2" eaLnBrk="1" hangingPunct="1">
              <a:tabLst>
                <a:tab pos="1830388" algn="l"/>
                <a:tab pos="2857500" algn="ctr"/>
              </a:tabLst>
            </a:pPr>
            <a:r>
              <a:rPr lang="en-US" altLang="en-US" sz="1600" dirty="0" smtClean="0"/>
              <a:t>Can refer to a large offset in logical address now</a:t>
            </a:r>
          </a:p>
          <a:p>
            <a:pPr lvl="1" eaLnBrk="1" hangingPunct="1">
              <a:tabLst>
                <a:tab pos="1830388" algn="l"/>
                <a:tab pos="2857500" algn="ctr"/>
              </a:tabLst>
            </a:pPr>
            <a:r>
              <a:rPr lang="en-US" altLang="en-US" sz="1600" dirty="0" smtClean="0"/>
              <a:t>Permission bits</a:t>
            </a:r>
          </a:p>
          <a:p>
            <a:pPr lvl="1" eaLnBrk="1" hangingPunct="1">
              <a:tabLst>
                <a:tab pos="1830388" algn="l"/>
                <a:tab pos="2857500" algn="ctr"/>
              </a:tabLst>
            </a:pPr>
            <a:endParaRPr lang="en-US" altLang="en-US" sz="1600" dirty="0"/>
          </a:p>
          <a:p>
            <a:pPr eaLnBrk="1" hangingPunct="1">
              <a:tabLst>
                <a:tab pos="1830388" algn="l"/>
                <a:tab pos="2857500" algn="ctr"/>
              </a:tabLst>
            </a:pPr>
            <a:r>
              <a:rPr lang="en-US" altLang="en-US" i="1" dirty="0"/>
              <a:t>Segment-table base register (STBR)</a:t>
            </a:r>
            <a:r>
              <a:rPr lang="en-US" altLang="en-US" dirty="0"/>
              <a:t> points to the segment table’s location in </a:t>
            </a:r>
            <a:r>
              <a:rPr lang="en-US" altLang="en-US" dirty="0" smtClean="0"/>
              <a:t>memory / Keep the Segment table in MMU registers</a:t>
            </a:r>
            <a:endParaRPr lang="en-US" altLang="en-US" dirty="0"/>
          </a:p>
          <a:p>
            <a:pPr eaLnBrk="1" hangingPunct="1">
              <a:tabLst>
                <a:tab pos="1830388" algn="l"/>
                <a:tab pos="2857500" algn="ctr"/>
              </a:tabLst>
            </a:pPr>
            <a:endParaRPr lang="en-US" altLang="en-US" i="1" dirty="0" smtClean="0"/>
          </a:p>
          <a:p>
            <a:pPr eaLnBrk="1" hangingPunct="1">
              <a:tabLst>
                <a:tab pos="1830388" algn="l"/>
                <a:tab pos="2857500" algn="ctr"/>
              </a:tabLst>
            </a:pPr>
            <a:r>
              <a:rPr lang="en-US" altLang="en-US" i="1" dirty="0" smtClean="0"/>
              <a:t>Segment-table </a:t>
            </a:r>
            <a:r>
              <a:rPr lang="en-US" altLang="en-US" i="1" dirty="0"/>
              <a:t>length register (STLR)</a:t>
            </a:r>
            <a:r>
              <a:rPr lang="en-US" altLang="en-US" dirty="0"/>
              <a:t> indicates number of segments used by a program;</a:t>
            </a:r>
          </a:p>
          <a:p>
            <a:pPr eaLnBrk="1" hangingPunct="1">
              <a:buNone/>
              <a:tabLst>
                <a:tab pos="1830388" algn="l"/>
                <a:tab pos="2857500" algn="ctr"/>
              </a:tabLst>
            </a:pPr>
            <a:r>
              <a:rPr lang="en-US" altLang="en-US" dirty="0"/>
              <a:t>	                  segment number </a:t>
            </a:r>
            <a:r>
              <a:rPr lang="en-US" altLang="en-US" i="1" dirty="0"/>
              <a:t>s</a:t>
            </a:r>
            <a:r>
              <a:rPr lang="en-US" altLang="en-US" dirty="0"/>
              <a:t> is legal if </a:t>
            </a:r>
            <a:r>
              <a:rPr lang="en-US" altLang="en-US" i="1" dirty="0"/>
              <a:t>s</a:t>
            </a:r>
            <a:r>
              <a:rPr lang="en-US" altLang="en-US" dirty="0"/>
              <a:t> &lt; STLR.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063251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Kernel’s role: Segmentation Check</a:t>
            </a:r>
            <a:endParaRPr lang="en-IN" dirty="0"/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755" y="2391508"/>
            <a:ext cx="6288945" cy="4182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63415" y="902679"/>
            <a:ext cx="791755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Demand Segmentation: When loading a segment, kernel has to find a </a:t>
            </a:r>
          </a:p>
          <a:p>
            <a:r>
              <a:rPr lang="en-US" sz="1400" dirty="0"/>
              <a:t> </a:t>
            </a:r>
            <a:r>
              <a:rPr lang="en-US" sz="1400" dirty="0" smtClean="0"/>
              <a:t>    large enough </a:t>
            </a:r>
            <a:r>
              <a:rPr lang="en-US" sz="1400" u="sng" dirty="0" smtClean="0"/>
              <a:t>contiguous</a:t>
            </a:r>
            <a:r>
              <a:rPr lang="en-US" sz="1400" dirty="0" smtClean="0"/>
              <a:t> chunk in RAM where the segment can be accommodated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External Fragmentation still remains (no internal fragmentation)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Full contiguous allocation was 1 piece per process, now multiple pieces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Segment table will be part of process context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869853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05" t="1547" r="9166" b="1581"/>
          <a:stretch>
            <a:fillRect/>
          </a:stretch>
        </p:blipFill>
        <p:spPr bwMode="auto">
          <a:xfrm>
            <a:off x="990600" y="1524000"/>
            <a:ext cx="7086600" cy="472440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45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of Shared segments</a:t>
            </a:r>
            <a:endParaRPr lang="en-IN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0" t="877" r="12987" b="1785"/>
          <a:stretch>
            <a:fillRect/>
          </a:stretch>
        </p:blipFill>
        <p:spPr bwMode="auto">
          <a:xfrm>
            <a:off x="903303" y="1151138"/>
            <a:ext cx="7086600" cy="4759325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889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Segmentation and Paging in i386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21323" y="1512277"/>
            <a:ext cx="469510" cy="90267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S1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336430" y="1512277"/>
            <a:ext cx="468923" cy="59787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S2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934306" y="1512277"/>
            <a:ext cx="468923" cy="1219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S3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204500"/>
            <a:ext cx="2191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Logical Address Space</a:t>
            </a:r>
            <a:endParaRPr lang="en-IN" sz="14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4114801" y="1500553"/>
            <a:ext cx="469510" cy="423203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6881445" y="1512277"/>
            <a:ext cx="468923" cy="228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27997" y="1238180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Linear Address Space</a:t>
            </a:r>
            <a:endParaRPr lang="en-IN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6463441" y="1204499"/>
            <a:ext cx="1691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Physical Memory</a:t>
            </a:r>
            <a:endParaRPr lang="en-IN" sz="1400" dirty="0"/>
          </a:p>
        </p:txBody>
      </p:sp>
      <p:sp>
        <p:nvSpPr>
          <p:cNvPr id="13" name="Rectangle 12"/>
          <p:cNvSpPr/>
          <p:nvPr/>
        </p:nvSpPr>
        <p:spPr bwMode="auto">
          <a:xfrm>
            <a:off x="4114800" y="1828800"/>
            <a:ext cx="469510" cy="90267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115387" y="3317629"/>
            <a:ext cx="468923" cy="59787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115387" y="4349262"/>
            <a:ext cx="468923" cy="1219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4120955" y="1840523"/>
            <a:ext cx="469510" cy="90267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S1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115387" y="3305906"/>
            <a:ext cx="468923" cy="59787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S2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4115387" y="4331677"/>
            <a:ext cx="468923" cy="1219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S3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21" name="Right Arrow 20"/>
          <p:cNvSpPr/>
          <p:nvPr/>
        </p:nvSpPr>
        <p:spPr bwMode="auto">
          <a:xfrm>
            <a:off x="2648826" y="2291861"/>
            <a:ext cx="1079112" cy="27549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85211" y="2606152"/>
            <a:ext cx="1522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Segment Table</a:t>
            </a:r>
            <a:endParaRPr lang="en-IN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791522" y="4023900"/>
            <a:ext cx="2225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&lt;Segment ID, Offset&gt;</a:t>
            </a:r>
            <a:endParaRPr lang="en-IN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549884" y="5701696"/>
            <a:ext cx="85941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Local Descriptor Table (GDT) for process internal segments, Global Descriptor Table (GDT) for segments shared across processes </a:t>
            </a:r>
            <a:r>
              <a:rPr lang="en-US" dirty="0" smtClean="0">
                <a:sym typeface="Wingdings" panose="05000000000000000000" pitchFamily="2" charset="2"/>
              </a:rPr>
              <a:t> 2 segment tables</a:t>
            </a:r>
            <a:endParaRPr lang="en-IN" dirty="0"/>
          </a:p>
        </p:txBody>
      </p:sp>
      <p:sp>
        <p:nvSpPr>
          <p:cNvPr id="25" name="Right Arrow 24"/>
          <p:cNvSpPr/>
          <p:nvPr/>
        </p:nvSpPr>
        <p:spPr bwMode="auto">
          <a:xfrm>
            <a:off x="4958862" y="2414954"/>
            <a:ext cx="1504579" cy="328246"/>
          </a:xfrm>
          <a:prstGeom prst="right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71114" y="2655277"/>
            <a:ext cx="1145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Page Table</a:t>
            </a:r>
            <a:endParaRPr lang="en-IN" sz="1400" dirty="0"/>
          </a:p>
        </p:txBody>
      </p:sp>
      <p:sp>
        <p:nvSpPr>
          <p:cNvPr id="27" name="Rectangle 26"/>
          <p:cNvSpPr/>
          <p:nvPr/>
        </p:nvSpPr>
        <p:spPr bwMode="auto">
          <a:xfrm>
            <a:off x="5409213" y="3249818"/>
            <a:ext cx="667799" cy="548459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TLB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41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841" y="1151427"/>
            <a:ext cx="8553205" cy="4530725"/>
          </a:xfrm>
        </p:spPr>
        <p:txBody>
          <a:bodyPr/>
          <a:lstStyle/>
          <a:p>
            <a:r>
              <a:rPr lang="en-US" dirty="0" smtClean="0"/>
              <a:t>&lt;16, 32&gt; bit in i386 (32 bit machine)</a:t>
            </a:r>
          </a:p>
          <a:p>
            <a:endParaRPr lang="en-US" dirty="0"/>
          </a:p>
          <a:p>
            <a:r>
              <a:rPr lang="en-US" dirty="0" smtClean="0"/>
              <a:t>13 bits segment ID</a:t>
            </a:r>
          </a:p>
          <a:p>
            <a:pPr lvl="1"/>
            <a:r>
              <a:rPr lang="en-US" dirty="0" smtClean="0"/>
              <a:t>Total 2</a:t>
            </a:r>
            <a:r>
              <a:rPr lang="en-US" baseline="30000" dirty="0" smtClean="0"/>
              <a:t>13</a:t>
            </a:r>
            <a:r>
              <a:rPr lang="en-US" dirty="0" smtClean="0"/>
              <a:t> segments</a:t>
            </a:r>
          </a:p>
          <a:p>
            <a:pPr lvl="1"/>
            <a:r>
              <a:rPr lang="en-US" dirty="0" smtClean="0"/>
              <a:t>Each segment can be of size 2</a:t>
            </a:r>
            <a:r>
              <a:rPr lang="en-US" baseline="30000" dirty="0" smtClean="0"/>
              <a:t>32</a:t>
            </a:r>
            <a:r>
              <a:rPr lang="en-US" dirty="0" smtClean="0"/>
              <a:t> (4GB) – total size of Linear address space</a:t>
            </a:r>
          </a:p>
          <a:p>
            <a:endParaRPr lang="en-US" dirty="0" smtClean="0"/>
          </a:p>
          <a:p>
            <a:r>
              <a:rPr lang="en-US" dirty="0" smtClean="0"/>
              <a:t>1 </a:t>
            </a:r>
            <a:r>
              <a:rPr lang="en-US" dirty="0"/>
              <a:t>bit for local / global</a:t>
            </a:r>
          </a:p>
          <a:p>
            <a:endParaRPr lang="en-US" dirty="0" smtClean="0"/>
          </a:p>
          <a:p>
            <a:r>
              <a:rPr lang="en-US" dirty="0" smtClean="0"/>
              <a:t>2 </a:t>
            </a:r>
            <a:r>
              <a:rPr lang="en-US" dirty="0"/>
              <a:t>bits for </a:t>
            </a:r>
            <a:r>
              <a:rPr lang="en-US" dirty="0" smtClean="0"/>
              <a:t>descriptor privilege level: </a:t>
            </a:r>
            <a:r>
              <a:rPr lang="en-US" dirty="0"/>
              <a:t>current privilege level of </a:t>
            </a:r>
            <a:r>
              <a:rPr lang="en-US" dirty="0" smtClean="0"/>
              <a:t>CPU</a:t>
            </a:r>
          </a:p>
          <a:p>
            <a:pPr lvl="1"/>
            <a:r>
              <a:rPr lang="en-US" sz="1600" dirty="0" smtClean="0"/>
              <a:t>Processor Status Word (part of process context) contains information about many things (e.g. status of last executed instruction, current processor mode) </a:t>
            </a:r>
          </a:p>
          <a:p>
            <a:pPr lvl="1"/>
            <a:r>
              <a:rPr lang="en-US" sz="1600" dirty="0" smtClean="0"/>
              <a:t>Intel has 4 privilege levels </a:t>
            </a:r>
            <a:r>
              <a:rPr lang="en-US" sz="1600" dirty="0" smtClean="0">
                <a:sym typeface="Wingdings" panose="05000000000000000000" pitchFamily="2" charset="2"/>
              </a:rPr>
              <a:t> 2 bits from PSW are copied into these 2 bits</a:t>
            </a:r>
          </a:p>
          <a:p>
            <a:pPr lvl="1"/>
            <a:endParaRPr lang="en-US" sz="1600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Linux allows only 4 segments, each can be of size </a:t>
            </a:r>
            <a:r>
              <a:rPr lang="en-US" dirty="0" smtClean="0">
                <a:sym typeface="Wingdings" panose="05000000000000000000" pitchFamily="2" charset="2"/>
              </a:rPr>
              <a:t>4GB (overlapping)</a:t>
            </a:r>
            <a:endParaRPr lang="en-IN" dirty="0"/>
          </a:p>
        </p:txBody>
      </p:sp>
      <p:sp>
        <p:nvSpPr>
          <p:cNvPr id="4" name="Title 3"/>
          <p:cNvSpPr txBox="1">
            <a:spLocks noGrp="1"/>
          </p:cNvSpPr>
          <p:nvPr>
            <p:ph type="title"/>
          </p:nvPr>
        </p:nvSpPr>
        <p:spPr>
          <a:xfrm>
            <a:off x="2402980" y="348450"/>
            <a:ext cx="4338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&lt;Segment ID, Offset&gt; in i386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3398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Segment Table Entry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6965"/>
            <a:ext cx="8452339" cy="4530725"/>
          </a:xfrm>
        </p:spPr>
        <p:txBody>
          <a:bodyPr/>
          <a:lstStyle/>
          <a:p>
            <a:r>
              <a:rPr lang="en-US" sz="1600" dirty="0" smtClean="0"/>
              <a:t>Each segment table is of size 64K (2</a:t>
            </a:r>
            <a:r>
              <a:rPr lang="en-US" sz="1600" baseline="30000" dirty="0" smtClean="0"/>
              <a:t>13</a:t>
            </a:r>
            <a:r>
              <a:rPr lang="en-US" sz="1600" dirty="0" smtClean="0"/>
              <a:t> entries, each 2</a:t>
            </a:r>
            <a:r>
              <a:rPr lang="en-US" sz="1600" baseline="30000" dirty="0" smtClean="0"/>
              <a:t>3</a:t>
            </a:r>
            <a:r>
              <a:rPr lang="en-US" sz="1600" dirty="0" smtClean="0"/>
              <a:t> bytes) – 2 such</a:t>
            </a:r>
          </a:p>
          <a:p>
            <a:pPr marL="0" indent="0">
              <a:buNone/>
            </a:pPr>
            <a:endParaRPr lang="en-IN" sz="1050" dirty="0" smtClean="0"/>
          </a:p>
          <a:p>
            <a:r>
              <a:rPr lang="en-IN" sz="1600" dirty="0" smtClean="0"/>
              <a:t>Each segment table entry is </a:t>
            </a:r>
            <a:r>
              <a:rPr lang="en-IN" sz="1600" u="sng" dirty="0" smtClean="0"/>
              <a:t>8 bytes</a:t>
            </a:r>
            <a:r>
              <a:rPr lang="en-IN" sz="1600" dirty="0" smtClean="0"/>
              <a:t> long</a:t>
            </a:r>
          </a:p>
          <a:p>
            <a:pPr lvl="1"/>
            <a:r>
              <a:rPr lang="en-IN" sz="1600" dirty="0" smtClean="0"/>
              <a:t>Base Address: 4 bytes (where does the segment start in the conceptual 32-bit Linear Address space)</a:t>
            </a:r>
          </a:p>
          <a:p>
            <a:pPr lvl="1"/>
            <a:r>
              <a:rPr lang="en-IN" sz="1600" dirty="0" smtClean="0"/>
              <a:t>Size: 20 bits + 1 granularity bit 1MB / 4GB as multiples of 4KB)</a:t>
            </a:r>
          </a:p>
          <a:p>
            <a:pPr lvl="2"/>
            <a:r>
              <a:rPr lang="en-US" sz="1600" dirty="0" smtClean="0"/>
              <a:t>Counter-intuitive: not 32 bits but 20</a:t>
            </a:r>
            <a:endParaRPr lang="en-IN" sz="1600" dirty="0" smtClean="0"/>
          </a:p>
          <a:p>
            <a:pPr lvl="2"/>
            <a:r>
              <a:rPr lang="en-US" sz="1600" dirty="0" smtClean="0"/>
              <a:t>Granularity bit specifies the unit of expression</a:t>
            </a:r>
          </a:p>
          <a:p>
            <a:pPr lvl="2"/>
            <a:r>
              <a:rPr lang="en-US" sz="1600" dirty="0" smtClean="0"/>
              <a:t>Granularity bit 0 </a:t>
            </a:r>
            <a:r>
              <a:rPr lang="en-US" sz="1600" dirty="0" smtClean="0">
                <a:sym typeface="Wingdings" panose="05000000000000000000" pitchFamily="2" charset="2"/>
              </a:rPr>
              <a:t> Size in units of bytes (0 to 2</a:t>
            </a:r>
            <a:r>
              <a:rPr lang="en-US" sz="1600" baseline="30000" dirty="0" smtClean="0">
                <a:sym typeface="Wingdings" panose="05000000000000000000" pitchFamily="2" charset="2"/>
              </a:rPr>
              <a:t>20</a:t>
            </a:r>
            <a:r>
              <a:rPr lang="en-US" sz="1600" dirty="0" smtClean="0">
                <a:sym typeface="Wingdings" panose="05000000000000000000" pitchFamily="2" charset="2"/>
              </a:rPr>
              <a:t> bytes -- 1MB)</a:t>
            </a:r>
          </a:p>
          <a:p>
            <a:pPr lvl="2"/>
            <a:r>
              <a:rPr lang="en-US" sz="1600" dirty="0"/>
              <a:t>Granularity </a:t>
            </a:r>
            <a:r>
              <a:rPr lang="en-US" sz="1600"/>
              <a:t>bit </a:t>
            </a:r>
            <a:r>
              <a:rPr lang="en-US" sz="1600" smtClean="0"/>
              <a:t>1 </a:t>
            </a:r>
            <a:r>
              <a:rPr lang="en-US" sz="1600" dirty="0">
                <a:sym typeface="Wingdings" panose="05000000000000000000" pitchFamily="2" charset="2"/>
              </a:rPr>
              <a:t> Size in </a:t>
            </a:r>
            <a:r>
              <a:rPr lang="en-US" sz="1600" dirty="0" smtClean="0">
                <a:sym typeface="Wingdings" panose="05000000000000000000" pitchFamily="2" charset="2"/>
              </a:rPr>
              <a:t>units </a:t>
            </a:r>
            <a:r>
              <a:rPr lang="en-US" sz="1600" dirty="0">
                <a:sym typeface="Wingdings" panose="05000000000000000000" pitchFamily="2" charset="2"/>
              </a:rPr>
              <a:t>of </a:t>
            </a:r>
            <a:r>
              <a:rPr lang="en-US" sz="1600" dirty="0" smtClean="0">
                <a:sym typeface="Wingdings" panose="05000000000000000000" pitchFamily="2" charset="2"/>
              </a:rPr>
              <a:t>4KB </a:t>
            </a:r>
            <a:r>
              <a:rPr lang="en-US" sz="1600" dirty="0">
                <a:sym typeface="Wingdings" panose="05000000000000000000" pitchFamily="2" charset="2"/>
              </a:rPr>
              <a:t>(0 to 2</a:t>
            </a:r>
            <a:r>
              <a:rPr lang="en-US" sz="1600" baseline="30000" dirty="0">
                <a:sym typeface="Wingdings" panose="05000000000000000000" pitchFamily="2" charset="2"/>
              </a:rPr>
              <a:t>20</a:t>
            </a:r>
            <a:r>
              <a:rPr lang="en-US" sz="1600" dirty="0">
                <a:sym typeface="Wingdings" panose="05000000000000000000" pitchFamily="2" charset="2"/>
              </a:rPr>
              <a:t> </a:t>
            </a:r>
            <a:r>
              <a:rPr lang="en-US" sz="1600" dirty="0" smtClean="0">
                <a:sym typeface="Wingdings" panose="05000000000000000000" pitchFamily="2" charset="2"/>
              </a:rPr>
              <a:t>X 4KB – 4GB)</a:t>
            </a:r>
          </a:p>
          <a:p>
            <a:pPr lvl="2"/>
            <a:r>
              <a:rPr lang="en-US" sz="1600" dirty="0" smtClean="0">
                <a:sym typeface="Wingdings" panose="05000000000000000000" pitchFamily="2" charset="2"/>
              </a:rPr>
              <a:t>Not all sizes are possible (can span entire Linear space but jumps in 4KB units)</a:t>
            </a:r>
            <a:endParaRPr lang="en-IN" sz="1600" dirty="0"/>
          </a:p>
          <a:p>
            <a:pPr lvl="1"/>
            <a:endParaRPr lang="en-IN" sz="1050" dirty="0"/>
          </a:p>
          <a:p>
            <a:pPr lvl="1"/>
            <a:r>
              <a:rPr lang="en-IN" sz="1600" dirty="0" smtClean="0"/>
              <a:t>Permissions (read / write) [e.g. Code segment is read only]</a:t>
            </a:r>
          </a:p>
          <a:p>
            <a:pPr lvl="1"/>
            <a:endParaRPr lang="en-US" sz="1600" dirty="0"/>
          </a:p>
          <a:p>
            <a:pPr lvl="1"/>
            <a:r>
              <a:rPr lang="en-IN" sz="1600" dirty="0"/>
              <a:t>2 Privilege bits: minimal CPU privilege </a:t>
            </a:r>
            <a:r>
              <a:rPr lang="en-IN" sz="1600" dirty="0" smtClean="0"/>
              <a:t>level </a:t>
            </a:r>
            <a:r>
              <a:rPr lang="en-US" sz="1600" dirty="0" smtClean="0"/>
              <a:t>required </a:t>
            </a:r>
            <a:r>
              <a:rPr lang="en-US" sz="1600" dirty="0"/>
              <a:t>for accessing the segment</a:t>
            </a:r>
          </a:p>
          <a:p>
            <a:pPr lvl="2"/>
            <a:r>
              <a:rPr lang="en-US" sz="1600" dirty="0"/>
              <a:t>The last 2 bits of the logical address (current privilege level / mode) will be compared with these privilege bits</a:t>
            </a:r>
          </a:p>
          <a:p>
            <a:pPr lvl="2"/>
            <a:endParaRPr lang="en-IN" sz="1400" dirty="0"/>
          </a:p>
          <a:p>
            <a:pPr lvl="1"/>
            <a:r>
              <a:rPr lang="en-IN" sz="1600" dirty="0"/>
              <a:t>Present / </a:t>
            </a:r>
            <a:r>
              <a:rPr lang="en-IN" sz="1600" dirty="0" smtClean="0"/>
              <a:t>Absent: 1 bit (whether </a:t>
            </a:r>
            <a:r>
              <a:rPr lang="en-IN" sz="1600" dirty="0"/>
              <a:t>in RAM or swap device)</a:t>
            </a:r>
          </a:p>
          <a:p>
            <a:pPr lvl="1"/>
            <a:endParaRPr lang="en-IN" sz="1600" dirty="0" smtClean="0"/>
          </a:p>
        </p:txBody>
      </p:sp>
    </p:spTree>
    <p:extLst>
      <p:ext uri="{BB962C8B-B14F-4D97-AF65-F5344CB8AC3E}">
        <p14:creationId xmlns:p14="http://schemas.microsoft.com/office/powerpoint/2010/main" val="3515790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Segment Table Entry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963857"/>
            <a:ext cx="8135815" cy="4530725"/>
          </a:xfrm>
        </p:spPr>
        <p:txBody>
          <a:bodyPr/>
          <a:lstStyle/>
          <a:p>
            <a:r>
              <a:rPr lang="en-US" sz="1600" dirty="0" smtClean="0"/>
              <a:t>Each segment table is 64KB in size – too big to fit in MMU</a:t>
            </a:r>
          </a:p>
          <a:p>
            <a:endParaRPr lang="en-US" sz="1600" dirty="0"/>
          </a:p>
          <a:p>
            <a:r>
              <a:rPr lang="en-US" sz="1600" dirty="0" smtClean="0"/>
              <a:t>Full segment table in memory but some entries in something like TLB</a:t>
            </a:r>
          </a:p>
          <a:p>
            <a:endParaRPr lang="en-US" sz="1600" dirty="0"/>
          </a:p>
          <a:p>
            <a:r>
              <a:rPr lang="en-US" sz="1600" dirty="0" smtClean="0"/>
              <a:t>In i386, we have 6 </a:t>
            </a:r>
            <a:r>
              <a:rPr lang="en-IN" sz="1600" dirty="0" smtClean="0"/>
              <a:t>Segmentation Registers store 6 segment table entries</a:t>
            </a:r>
          </a:p>
          <a:p>
            <a:pPr lvl="1"/>
            <a:r>
              <a:rPr lang="en-IN" sz="1600" dirty="0" smtClean="0"/>
              <a:t>At a time, a process can at most 6 different segments</a:t>
            </a:r>
          </a:p>
          <a:p>
            <a:pPr lvl="1"/>
            <a:r>
              <a:rPr lang="en-US" sz="1600" dirty="0" smtClean="0"/>
              <a:t>No TLB miss in this case</a:t>
            </a:r>
          </a:p>
          <a:p>
            <a:pPr lvl="1"/>
            <a:r>
              <a:rPr lang="en-US" sz="1600" dirty="0" smtClean="0"/>
              <a:t>Accessing one of the segments other than the 6 segments stored in segmentation registers leads to a segment replacement </a:t>
            </a:r>
            <a:r>
              <a:rPr lang="en-US" sz="1600" dirty="0" smtClean="0">
                <a:sym typeface="Wingdings" panose="05000000000000000000" pitchFamily="2" charset="2"/>
              </a:rPr>
              <a:t> calls for segmentation register replacement on switching segments</a:t>
            </a:r>
          </a:p>
          <a:p>
            <a:pPr lvl="1"/>
            <a:r>
              <a:rPr lang="en-US" sz="1600" dirty="0" smtClean="0">
                <a:sym typeface="Wingdings" panose="05000000000000000000" pitchFamily="2" charset="2"/>
              </a:rPr>
              <a:t>These registers cannot be manipulated directly, only hardware can handle this when a logical segment address is generated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668264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Segmentation and Paging in i386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 bwMode="auto">
          <a:xfrm>
            <a:off x="621323" y="1512277"/>
            <a:ext cx="469510" cy="90267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S1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1336430" y="1512277"/>
            <a:ext cx="468923" cy="59787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S2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1934306" y="1512277"/>
            <a:ext cx="468923" cy="1219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S3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204500"/>
            <a:ext cx="2191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Logical Address Space</a:t>
            </a:r>
            <a:endParaRPr lang="en-IN" sz="1400" dirty="0"/>
          </a:p>
        </p:txBody>
      </p:sp>
      <p:sp>
        <p:nvSpPr>
          <p:cNvPr id="8" name="Rectangle 7"/>
          <p:cNvSpPr/>
          <p:nvPr/>
        </p:nvSpPr>
        <p:spPr bwMode="auto">
          <a:xfrm>
            <a:off x="4114801" y="1500553"/>
            <a:ext cx="469510" cy="423203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 cap="flat" cmpd="sng" algn="ctr">
            <a:solidFill>
              <a:schemeClr val="bg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6881445" y="1512277"/>
            <a:ext cx="468923" cy="228600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27997" y="1238180"/>
            <a:ext cx="21259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Linear Address Space</a:t>
            </a:r>
            <a:endParaRPr lang="en-IN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6463441" y="1204499"/>
            <a:ext cx="1691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Physical Memory</a:t>
            </a:r>
            <a:endParaRPr lang="en-IN" sz="1400" dirty="0"/>
          </a:p>
        </p:txBody>
      </p:sp>
      <p:sp>
        <p:nvSpPr>
          <p:cNvPr id="13" name="Rectangle 12"/>
          <p:cNvSpPr/>
          <p:nvPr/>
        </p:nvSpPr>
        <p:spPr bwMode="auto">
          <a:xfrm>
            <a:off x="4114800" y="1828800"/>
            <a:ext cx="469510" cy="90267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115387" y="3317629"/>
            <a:ext cx="468923" cy="59787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115387" y="4349262"/>
            <a:ext cx="468923" cy="1219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4120955" y="1840523"/>
            <a:ext cx="469510" cy="90267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S1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115387" y="3305906"/>
            <a:ext cx="468923" cy="59787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S2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4115387" y="4331677"/>
            <a:ext cx="468923" cy="1219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S3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21" name="Right Arrow 20"/>
          <p:cNvSpPr/>
          <p:nvPr/>
        </p:nvSpPr>
        <p:spPr bwMode="auto">
          <a:xfrm>
            <a:off x="2648826" y="2291861"/>
            <a:ext cx="1079112" cy="27549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85211" y="2606152"/>
            <a:ext cx="1522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Segment Table</a:t>
            </a:r>
            <a:endParaRPr lang="en-IN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791522" y="4023900"/>
            <a:ext cx="2225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&lt;Segment ID, Offset&gt;</a:t>
            </a:r>
            <a:endParaRPr lang="en-IN" sz="1400" dirty="0"/>
          </a:p>
        </p:txBody>
      </p:sp>
      <p:sp>
        <p:nvSpPr>
          <p:cNvPr id="25" name="Right Arrow 24"/>
          <p:cNvSpPr/>
          <p:nvPr/>
        </p:nvSpPr>
        <p:spPr bwMode="auto">
          <a:xfrm>
            <a:off x="4958862" y="2414954"/>
            <a:ext cx="1504579" cy="328246"/>
          </a:xfrm>
          <a:prstGeom prst="right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71114" y="2655277"/>
            <a:ext cx="11451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Page Table</a:t>
            </a:r>
            <a:endParaRPr lang="en-IN" sz="1400" dirty="0"/>
          </a:p>
        </p:txBody>
      </p:sp>
      <p:sp>
        <p:nvSpPr>
          <p:cNvPr id="24" name="Rectangle 23"/>
          <p:cNvSpPr/>
          <p:nvPr/>
        </p:nvSpPr>
        <p:spPr bwMode="auto">
          <a:xfrm>
            <a:off x="5409213" y="3249818"/>
            <a:ext cx="667799" cy="548459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charset="0"/>
              </a:rPr>
              <a:t>TLB</a:t>
            </a: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39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to Physical: Paging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Linear Address Space is broken into 4K-sized pages, and mapped to 4K-sized physical frames</a:t>
            </a:r>
          </a:p>
          <a:p>
            <a:endParaRPr lang="en-US" dirty="0"/>
          </a:p>
          <a:p>
            <a:r>
              <a:rPr lang="en-US" dirty="0" smtClean="0"/>
              <a:t>Page Size: 4K = 2</a:t>
            </a:r>
            <a:r>
              <a:rPr lang="en-US" baseline="30000" dirty="0" smtClean="0"/>
              <a:t>12</a:t>
            </a:r>
          </a:p>
          <a:p>
            <a:endParaRPr lang="en-US" dirty="0"/>
          </a:p>
          <a:p>
            <a:r>
              <a:rPr lang="en-US" dirty="0" smtClean="0"/>
              <a:t>32-bit address bus </a:t>
            </a:r>
            <a:r>
              <a:rPr lang="en-US" dirty="0" smtClean="0">
                <a:sym typeface="Wingdings" panose="05000000000000000000" pitchFamily="2" charset="2"/>
              </a:rPr>
              <a:t> maximum addressable physical memory size 2</a:t>
            </a:r>
            <a:r>
              <a:rPr lang="en-US" baseline="30000" dirty="0" smtClean="0">
                <a:sym typeface="Wingdings" panose="05000000000000000000" pitchFamily="2" charset="2"/>
              </a:rPr>
              <a:t>32</a:t>
            </a:r>
          </a:p>
          <a:p>
            <a:endParaRPr lang="en-US" baseline="30000" dirty="0" smtClean="0">
              <a:sym typeface="Wingdings" panose="05000000000000000000" pitchFamily="2" charset="2"/>
            </a:endParaRPr>
          </a:p>
          <a:p>
            <a:endParaRPr lang="en-US" baseline="30000" dirty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Number of pages (primary page table entries): 2</a:t>
            </a:r>
            <a:r>
              <a:rPr lang="en-US" baseline="30000" dirty="0" smtClean="0">
                <a:sym typeface="Wingdings" panose="05000000000000000000" pitchFamily="2" charset="2"/>
              </a:rPr>
              <a:t>32</a:t>
            </a:r>
            <a:r>
              <a:rPr lang="en-US" dirty="0" smtClean="0">
                <a:sym typeface="Wingdings" panose="05000000000000000000" pitchFamily="2" charset="2"/>
              </a:rPr>
              <a:t> / 2</a:t>
            </a:r>
            <a:r>
              <a:rPr lang="en-US" baseline="30000" dirty="0" smtClean="0">
                <a:sym typeface="Wingdings" panose="05000000000000000000" pitchFamily="2" charset="2"/>
              </a:rPr>
              <a:t>12</a:t>
            </a:r>
            <a:r>
              <a:rPr lang="en-US" dirty="0" smtClean="0">
                <a:sym typeface="Wingdings" panose="05000000000000000000" pitchFamily="2" charset="2"/>
              </a:rPr>
              <a:t> = 2</a:t>
            </a:r>
            <a:r>
              <a:rPr lang="en-US" baseline="30000" dirty="0" smtClean="0">
                <a:sym typeface="Wingdings" panose="05000000000000000000" pitchFamily="2" charset="2"/>
              </a:rPr>
              <a:t>20</a:t>
            </a:r>
          </a:p>
          <a:p>
            <a:endParaRPr lang="en-US" baseline="30000" dirty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Primary Page table size = </a:t>
            </a:r>
            <a:r>
              <a:rPr lang="en-US" dirty="0">
                <a:sym typeface="Wingdings" panose="05000000000000000000" pitchFamily="2" charset="2"/>
              </a:rPr>
              <a:t>2</a:t>
            </a:r>
            <a:r>
              <a:rPr lang="en-US" baseline="30000" dirty="0">
                <a:sym typeface="Wingdings" panose="05000000000000000000" pitchFamily="2" charset="2"/>
              </a:rPr>
              <a:t>20</a:t>
            </a:r>
            <a:r>
              <a:rPr lang="en-US" dirty="0" smtClean="0">
                <a:sym typeface="Wingdings" panose="05000000000000000000" pitchFamily="2" charset="2"/>
              </a:rPr>
              <a:t> X 4 bytes = 2</a:t>
            </a:r>
            <a:r>
              <a:rPr lang="en-US" baseline="30000" dirty="0" smtClean="0">
                <a:sym typeface="Wingdings" panose="05000000000000000000" pitchFamily="2" charset="2"/>
              </a:rPr>
              <a:t>22</a:t>
            </a:r>
            <a:r>
              <a:rPr lang="en-US" dirty="0" smtClean="0">
                <a:sym typeface="Wingdings" panose="05000000000000000000" pitchFamily="2" charset="2"/>
              </a:rPr>
              <a:t> / </a:t>
            </a:r>
            <a:r>
              <a:rPr lang="en-US" dirty="0">
                <a:sym typeface="Wingdings" panose="05000000000000000000" pitchFamily="2" charset="2"/>
              </a:rPr>
              <a:t>2</a:t>
            </a:r>
            <a:r>
              <a:rPr lang="en-US" baseline="30000" dirty="0">
                <a:sym typeface="Wingdings" panose="05000000000000000000" pitchFamily="2" charset="2"/>
              </a:rPr>
              <a:t>12</a:t>
            </a:r>
            <a:r>
              <a:rPr lang="en-US" dirty="0">
                <a:sym typeface="Wingdings" panose="05000000000000000000" pitchFamily="2" charset="2"/>
              </a:rPr>
              <a:t> = 2</a:t>
            </a:r>
            <a:r>
              <a:rPr lang="en-US" baseline="30000" dirty="0" smtClean="0">
                <a:sym typeface="Wingdings" panose="05000000000000000000" pitchFamily="2" charset="2"/>
              </a:rPr>
              <a:t>10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pages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Secondary page table has 2</a:t>
            </a:r>
            <a:r>
              <a:rPr lang="en-US" baseline="30000" dirty="0" smtClean="0">
                <a:sym typeface="Wingdings" panose="05000000000000000000" pitchFamily="2" charset="2"/>
              </a:rPr>
              <a:t>10 </a:t>
            </a:r>
            <a:r>
              <a:rPr lang="en-US" dirty="0" smtClean="0">
                <a:sym typeface="Wingdings" panose="05000000000000000000" pitchFamily="2" charset="2"/>
              </a:rPr>
              <a:t>entries, each of 4byte size. 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Total size: 2</a:t>
            </a:r>
            <a:r>
              <a:rPr lang="en-US" baseline="30000" dirty="0" smtClean="0">
                <a:sym typeface="Wingdings" panose="05000000000000000000" pitchFamily="2" charset="2"/>
              </a:rPr>
              <a:t>10 </a:t>
            </a:r>
            <a:r>
              <a:rPr lang="en-US" dirty="0" smtClean="0">
                <a:sym typeface="Wingdings" panose="05000000000000000000" pitchFamily="2" charset="2"/>
              </a:rPr>
              <a:t>X 4 bytes = 2</a:t>
            </a:r>
            <a:r>
              <a:rPr lang="en-US" baseline="30000" dirty="0" smtClean="0">
                <a:sym typeface="Wingdings" panose="05000000000000000000" pitchFamily="2" charset="2"/>
              </a:rPr>
              <a:t>12 </a:t>
            </a:r>
            <a:r>
              <a:rPr lang="en-US" dirty="0" smtClean="0">
                <a:sym typeface="Wingdings" panose="05000000000000000000" pitchFamily="2" charset="2"/>
              </a:rPr>
              <a:t>(fits in 1 page)</a:t>
            </a:r>
            <a:endParaRPr lang="en-US" dirty="0">
              <a:sym typeface="Wingdings" panose="05000000000000000000" pitchFamily="2" charset="2"/>
            </a:endParaRPr>
          </a:p>
          <a:p>
            <a:endParaRPr lang="en-IN" baseline="30000" dirty="0"/>
          </a:p>
        </p:txBody>
      </p:sp>
    </p:spTree>
    <p:extLst>
      <p:ext uri="{BB962C8B-B14F-4D97-AF65-F5344CB8AC3E}">
        <p14:creationId xmlns:p14="http://schemas.microsoft.com/office/powerpoint/2010/main" val="2554669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to Physical: Paging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8114812" cy="4530725"/>
          </a:xfrm>
        </p:spPr>
        <p:txBody>
          <a:bodyPr/>
          <a:lstStyle/>
          <a:p>
            <a:r>
              <a:rPr lang="en-US" dirty="0" smtClean="0"/>
              <a:t>Paging is same as earlier, we have a TLB as well</a:t>
            </a:r>
          </a:p>
          <a:p>
            <a:endParaRPr lang="en-US" dirty="0"/>
          </a:p>
          <a:p>
            <a:r>
              <a:rPr lang="en-US" dirty="0" smtClean="0"/>
              <a:t>Page Table entry will have a frame address (multiple of 2</a:t>
            </a:r>
            <a:r>
              <a:rPr lang="en-US" baseline="30000" dirty="0" smtClean="0"/>
              <a:t>12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 lower order 12 bits are 0)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12 bits will store miscellaneous information as discussed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Permissions (</a:t>
            </a:r>
            <a:r>
              <a:rPr lang="en-US" dirty="0" err="1" smtClean="0">
                <a:sym typeface="Wingdings" panose="05000000000000000000" pitchFamily="2" charset="2"/>
              </a:rPr>
              <a:t>rd</a:t>
            </a:r>
            <a:r>
              <a:rPr lang="en-US" dirty="0" smtClean="0">
                <a:sym typeface="Wingdings" panose="05000000000000000000" pitchFamily="2" charset="2"/>
              </a:rPr>
              <a:t> / w)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Illegal / Legal reference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Dirty + reference bit (both cleared by OS)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Privilege levels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Valid / Invalid bit (physical memory or swap device)</a:t>
            </a:r>
          </a:p>
          <a:p>
            <a:pPr lvl="2"/>
            <a:r>
              <a:rPr lang="en-US" dirty="0" smtClean="0">
                <a:sym typeface="Wingdings" panose="05000000000000000000" pitchFamily="2" charset="2"/>
              </a:rPr>
              <a:t>If this bit is cleared, can use frame address bits to store location on swap device (block number  2</a:t>
            </a:r>
            <a:r>
              <a:rPr lang="en-US" baseline="30000" dirty="0" smtClean="0">
                <a:sym typeface="Wingdings" panose="05000000000000000000" pitchFamily="2" charset="2"/>
              </a:rPr>
              <a:t>20</a:t>
            </a:r>
            <a:r>
              <a:rPr lang="en-US" dirty="0" smtClean="0">
                <a:sym typeface="Wingdings" panose="05000000000000000000" pitchFamily="2" charset="2"/>
              </a:rPr>
              <a:t> blocks, indicating swap device limited to 4GB)</a:t>
            </a:r>
          </a:p>
          <a:p>
            <a:pPr lvl="2"/>
            <a:endParaRPr lang="en-US" dirty="0" smtClean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374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During address translation, we can get a page fault</a:t>
            </a:r>
          </a:p>
          <a:p>
            <a:endParaRPr lang="en-US" dirty="0" smtClean="0"/>
          </a:p>
          <a:p>
            <a:r>
              <a:rPr lang="en-US" dirty="0" smtClean="0"/>
              <a:t>Pages that hold the page table itself are allocated RAM when required</a:t>
            </a:r>
          </a:p>
          <a:p>
            <a:endParaRPr lang="en-US" dirty="0"/>
          </a:p>
          <a:p>
            <a:r>
              <a:rPr lang="en-US" dirty="0" smtClean="0"/>
              <a:t>May be needed to be swapped to disk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2045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i386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996" y="810115"/>
            <a:ext cx="5792008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222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Linux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819" y="1051192"/>
            <a:ext cx="8149981" cy="4530725"/>
          </a:xfrm>
        </p:spPr>
        <p:txBody>
          <a:bodyPr/>
          <a:lstStyle/>
          <a:p>
            <a:r>
              <a:rPr lang="en-US" dirty="0" smtClean="0"/>
              <a:t>Modern RISC processors do not possibly use segmentation</a:t>
            </a:r>
          </a:p>
          <a:p>
            <a:endParaRPr lang="en-US" dirty="0" smtClean="0"/>
          </a:p>
          <a:p>
            <a:r>
              <a:rPr lang="en-US" dirty="0" smtClean="0"/>
              <a:t>Intel uses paging + segmentation</a:t>
            </a:r>
          </a:p>
          <a:p>
            <a:endParaRPr lang="en-US" dirty="0"/>
          </a:p>
          <a:p>
            <a:r>
              <a:rPr lang="en-US" dirty="0" smtClean="0"/>
              <a:t>OS developed needs to keep the kernel code as much generic as possible</a:t>
            </a:r>
          </a:p>
          <a:p>
            <a:endParaRPr lang="en-US" dirty="0"/>
          </a:p>
          <a:p>
            <a:r>
              <a:rPr lang="en-US" dirty="0" smtClean="0"/>
              <a:t>Linux kernel mostly ignores segmentation to keep things generic</a:t>
            </a:r>
          </a:p>
          <a:p>
            <a:endParaRPr lang="en-US" dirty="0"/>
          </a:p>
          <a:p>
            <a:r>
              <a:rPr lang="en-US" dirty="0" smtClean="0"/>
              <a:t>Linux keeps only 4 segments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727" y="4536831"/>
            <a:ext cx="7741073" cy="209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582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 Address Space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656492" y="976870"/>
            <a:ext cx="803030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Linear address space of a process is divided into two parts</a:t>
            </a:r>
            <a:r>
              <a:rPr lang="en-US" sz="1600" dirty="0" smtClean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 smtClean="0"/>
              <a:t>3GB </a:t>
            </a:r>
            <a:r>
              <a:rPr lang="en-IN" sz="1600" dirty="0"/>
              <a:t>(0x00000000 to 0xbfffffff</a:t>
            </a:r>
            <a:r>
              <a:rPr lang="en-IN" sz="1600" dirty="0" smtClean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Can be addressed in user / kernel mode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First set of 768 entries of the PT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1GB (</a:t>
            </a:r>
            <a:r>
              <a:rPr lang="en-IN" sz="1600" dirty="0"/>
              <a:t>0xc0000000 to </a:t>
            </a:r>
            <a:r>
              <a:rPr lang="en-IN" sz="1600" dirty="0" smtClean="0"/>
              <a:t>0xffffffff)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Can be addressed only in kernel mode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Covered by remaining 256 entries in PT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identical </a:t>
            </a:r>
            <a:r>
              <a:rPr lang="en-US" sz="1600" dirty="0"/>
              <a:t>to corresponding entries of the kernel </a:t>
            </a:r>
            <a:r>
              <a:rPr lang="en-US" sz="1600" dirty="0" smtClean="0"/>
              <a:t>master PGD </a:t>
            </a:r>
            <a:r>
              <a:rPr lang="en-US" sz="1600" dirty="0"/>
              <a:t>(same for all processes)</a:t>
            </a: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Only 1 copy of kernel in RAM, but mapped to the Linear Address space of every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Benefits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When a process switches to kernel mode from user mode, we issue a trap instruction and descriptor privilege level changes to kernel mode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When change to kernel mode, the entire 4GB is visible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No fresh address translation map switching is necessary</a:t>
            </a:r>
          </a:p>
        </p:txBody>
      </p:sp>
    </p:spTree>
    <p:extLst>
      <p:ext uri="{BB962C8B-B14F-4D97-AF65-F5344CB8AC3E}">
        <p14:creationId xmlns:p14="http://schemas.microsoft.com/office/powerpoint/2010/main" val="261247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19685</TotalTime>
  <Words>1320</Words>
  <Application>Microsoft Office PowerPoint</Application>
  <PresentationFormat>On-screen Show (4:3)</PresentationFormat>
  <Paragraphs>220</Paragraphs>
  <Slides>22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ＭＳ Ｐゴシック</vt:lpstr>
      <vt:lpstr>ＭＳ Ｐゴシック</vt:lpstr>
      <vt:lpstr>Arial</vt:lpstr>
      <vt:lpstr>Helvetica</vt:lpstr>
      <vt:lpstr>Times New Roman</vt:lpstr>
      <vt:lpstr>Verdana</vt:lpstr>
      <vt:lpstr>Webdings</vt:lpstr>
      <vt:lpstr>Wingdings</vt:lpstr>
      <vt:lpstr>os-8</vt:lpstr>
      <vt:lpstr>Segmentation i386 (linux)</vt:lpstr>
      <vt:lpstr>Other Considerations</vt:lpstr>
      <vt:lpstr>TLB Reach </vt:lpstr>
      <vt:lpstr>The bigger picture</vt:lpstr>
      <vt:lpstr>An alternative view of Memory Management</vt:lpstr>
      <vt:lpstr>Segmentation</vt:lpstr>
      <vt:lpstr>Segmentation</vt:lpstr>
      <vt:lpstr>Segmentation Hardware</vt:lpstr>
      <vt:lpstr>Kernel’s role: Segmentation Check</vt:lpstr>
      <vt:lpstr>Example</vt:lpstr>
      <vt:lpstr>Example of Shared segments</vt:lpstr>
      <vt:lpstr>Segmentation and Paging in i386</vt:lpstr>
      <vt:lpstr>&lt;Segment ID, Offset&gt; in i386</vt:lpstr>
      <vt:lpstr>Segment Table Entry</vt:lpstr>
      <vt:lpstr>Segment Table Entry</vt:lpstr>
      <vt:lpstr>Segmentation and Paging in i386</vt:lpstr>
      <vt:lpstr>Linear to Physical: Paging</vt:lpstr>
      <vt:lpstr>Linear to Physical: Paging</vt:lpstr>
      <vt:lpstr>Note</vt:lpstr>
      <vt:lpstr>i386</vt:lpstr>
      <vt:lpstr>Linux</vt:lpstr>
      <vt:lpstr>Process Address Space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PC</cp:lastModifiedBy>
  <cp:revision>532</cp:revision>
  <cp:lastPrinted>2013-09-30T19:34:56Z</cp:lastPrinted>
  <dcterms:created xsi:type="dcterms:W3CDTF">2011-01-13T23:43:38Z</dcterms:created>
  <dcterms:modified xsi:type="dcterms:W3CDTF">2026-03-27T13:32:24Z</dcterms:modified>
</cp:coreProperties>
</file>