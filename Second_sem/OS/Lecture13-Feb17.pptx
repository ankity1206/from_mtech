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368" r:id="rId2"/>
    <p:sldId id="404" r:id="rId3"/>
    <p:sldId id="430" r:id="rId4"/>
    <p:sldId id="431" r:id="rId5"/>
    <p:sldId id="414" r:id="rId6"/>
    <p:sldId id="392" r:id="rId7"/>
    <p:sldId id="374" r:id="rId8"/>
    <p:sldId id="375" r:id="rId9"/>
    <p:sldId id="372" r:id="rId10"/>
    <p:sldId id="338" r:id="rId11"/>
    <p:sldId id="376" r:id="rId12"/>
    <p:sldId id="341" r:id="rId13"/>
    <p:sldId id="395" r:id="rId14"/>
    <p:sldId id="396" r:id="rId15"/>
    <p:sldId id="397" r:id="rId16"/>
    <p:sldId id="398" r:id="rId17"/>
    <p:sldId id="399" r:id="rId18"/>
    <p:sldId id="416" r:id="rId19"/>
    <p:sldId id="417" r:id="rId20"/>
    <p:sldId id="418" r:id="rId21"/>
    <p:sldId id="419" r:id="rId22"/>
    <p:sldId id="420" r:id="rId23"/>
    <p:sldId id="427" r:id="rId24"/>
    <p:sldId id="428" r:id="rId25"/>
    <p:sldId id="429" r:id="rId26"/>
    <p:sldId id="421" r:id="rId27"/>
    <p:sldId id="422" r:id="rId28"/>
    <p:sldId id="434" r:id="rId29"/>
    <p:sldId id="423" r:id="rId30"/>
    <p:sldId id="424" r:id="rId31"/>
    <p:sldId id="425" r:id="rId32"/>
    <p:sldId id="426" r:id="rId33"/>
    <p:sldId id="340" r:id="rId34"/>
    <p:sldId id="446" r:id="rId35"/>
    <p:sldId id="433" r:id="rId36"/>
    <p:sldId id="447" r:id="rId37"/>
    <p:sldId id="448" r:id="rId38"/>
    <p:sldId id="435" r:id="rId39"/>
    <p:sldId id="437" r:id="rId40"/>
    <p:sldId id="438" r:id="rId41"/>
    <p:sldId id="440" r:id="rId42"/>
    <p:sldId id="441" r:id="rId43"/>
    <p:sldId id="442" r:id="rId44"/>
    <p:sldId id="443" r:id="rId4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ＭＳ Ｐゴシック" charset="0"/>
        <a:cs typeface="ＭＳ Ｐゴシック" charset="0"/>
      </a:defRPr>
    </a:lvl1pPr>
    <a:lvl2pPr marL="457200" algn="l" rtl="0" fontAlgn="base">
      <a:spcBef>
        <a:spcPct val="0"/>
      </a:spcBef>
      <a:spcAft>
        <a:spcPct val="0"/>
      </a:spcAft>
      <a:defRPr kern="1200">
        <a:solidFill>
          <a:schemeClr val="tx1"/>
        </a:solidFill>
        <a:latin typeface="Arial" charset="0"/>
        <a:ea typeface="ＭＳ Ｐゴシック" charset="0"/>
        <a:cs typeface="ＭＳ Ｐゴシック" charset="0"/>
      </a:defRPr>
    </a:lvl2pPr>
    <a:lvl3pPr marL="914400" algn="l" rtl="0" fontAlgn="base">
      <a:spcBef>
        <a:spcPct val="0"/>
      </a:spcBef>
      <a:spcAft>
        <a:spcPct val="0"/>
      </a:spcAft>
      <a:defRPr kern="1200">
        <a:solidFill>
          <a:schemeClr val="tx1"/>
        </a:solidFill>
        <a:latin typeface="Arial" charset="0"/>
        <a:ea typeface="ＭＳ Ｐゴシック" charset="0"/>
        <a:cs typeface="ＭＳ Ｐゴシック" charset="0"/>
      </a:defRPr>
    </a:lvl3pPr>
    <a:lvl4pPr marL="1371600" algn="l" rtl="0" fontAlgn="base">
      <a:spcBef>
        <a:spcPct val="0"/>
      </a:spcBef>
      <a:spcAft>
        <a:spcPct val="0"/>
      </a:spcAft>
      <a:defRPr kern="1200">
        <a:solidFill>
          <a:schemeClr val="tx1"/>
        </a:solidFill>
        <a:latin typeface="Arial" charset="0"/>
        <a:ea typeface="ＭＳ Ｐゴシック" charset="0"/>
        <a:cs typeface="ＭＳ Ｐゴシック" charset="0"/>
      </a:defRPr>
    </a:lvl4pPr>
    <a:lvl5pPr marL="1828800" algn="l" rtl="0" fontAlgn="base">
      <a:spcBef>
        <a:spcPct val="0"/>
      </a:spcBef>
      <a:spcAft>
        <a:spcPct val="0"/>
      </a:spcAft>
      <a:defRPr kern="1200">
        <a:solidFill>
          <a:schemeClr val="tx1"/>
        </a:solidFill>
        <a:latin typeface="Arial" charset="0"/>
        <a:ea typeface="ＭＳ Ｐゴシック" charset="0"/>
        <a:cs typeface="ＭＳ Ｐゴシック" charset="0"/>
      </a:defRPr>
    </a:lvl5pPr>
    <a:lvl6pPr marL="2286000" algn="l" defTabSz="457200" rtl="0" eaLnBrk="1" latinLnBrk="0" hangingPunct="1">
      <a:defRPr kern="1200">
        <a:solidFill>
          <a:schemeClr val="tx1"/>
        </a:solidFill>
        <a:latin typeface="Arial" charset="0"/>
        <a:ea typeface="ＭＳ Ｐゴシック" charset="0"/>
        <a:cs typeface="ＭＳ Ｐゴシック" charset="0"/>
      </a:defRPr>
    </a:lvl6pPr>
    <a:lvl7pPr marL="2743200" algn="l" defTabSz="457200" rtl="0" eaLnBrk="1" latinLnBrk="0" hangingPunct="1">
      <a:defRPr kern="1200">
        <a:solidFill>
          <a:schemeClr val="tx1"/>
        </a:solidFill>
        <a:latin typeface="Arial" charset="0"/>
        <a:ea typeface="ＭＳ Ｐゴシック" charset="0"/>
        <a:cs typeface="ＭＳ Ｐゴシック" charset="0"/>
      </a:defRPr>
    </a:lvl7pPr>
    <a:lvl8pPr marL="3200400" algn="l" defTabSz="457200" rtl="0" eaLnBrk="1" latinLnBrk="0" hangingPunct="1">
      <a:defRPr kern="1200">
        <a:solidFill>
          <a:schemeClr val="tx1"/>
        </a:solidFill>
        <a:latin typeface="Arial" charset="0"/>
        <a:ea typeface="ＭＳ Ｐゴシック" charset="0"/>
        <a:cs typeface="ＭＳ Ｐゴシック" charset="0"/>
      </a:defRPr>
    </a:lvl8pPr>
    <a:lvl9pPr marL="3657600" algn="l" defTabSz="457200" rtl="0" eaLnBrk="1" latinLnBrk="0" hangingPunct="1">
      <a:defRPr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339933"/>
    <a:srgbClr val="00CC00"/>
    <a:srgbClr val="0066FF"/>
    <a:srgbClr val="DA5F46"/>
    <a:srgbClr val="0000CC"/>
    <a:srgbClr val="F7C2B7"/>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9043" autoAdjust="0"/>
  </p:normalViewPr>
  <p:slideViewPr>
    <p:cSldViewPr>
      <p:cViewPr varScale="1">
        <p:scale>
          <a:sx n="115" d="100"/>
          <a:sy n="115" d="100"/>
        </p:scale>
        <p:origin x="1494" y="90"/>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326"/>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mn-ea"/>
                <a:cs typeface="Arial" charset="0"/>
              </a:defRPr>
            </a:lvl1pPr>
          </a:lstStyle>
          <a:p>
            <a:pPr>
              <a:defRPr/>
            </a:pPr>
            <a:endParaRPr lang="en-US"/>
          </a:p>
        </p:txBody>
      </p:sp>
      <p:sp>
        <p:nvSpPr>
          <p:cNvPr id="717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mn-ea"/>
                <a:cs typeface="Arial" charset="0"/>
              </a:defRPr>
            </a:lvl1pPr>
          </a:lstStyle>
          <a:p>
            <a:pPr>
              <a:defRPr/>
            </a:pPr>
            <a:endParaRPr lang="en-US"/>
          </a:p>
        </p:txBody>
      </p:sp>
      <p:sp>
        <p:nvSpPr>
          <p:cNvPr id="1331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 uri="{FAA26D3D-D897-4be2-8F04-BA451C77F1D7}">
              <ma14:placeholderFlag xmlns="" xmlns:ma14="http://schemas.microsoft.com/office/mac/drawingml/2011/main" val="1"/>
            </a:ext>
          </a:extLst>
        </p:spPr>
      </p:sp>
      <p:sp>
        <p:nvSpPr>
          <p:cNvPr id="717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717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mn-ea"/>
                <a:cs typeface="Arial" charset="0"/>
              </a:defRPr>
            </a:lvl1pPr>
          </a:lstStyle>
          <a:p>
            <a:pPr>
              <a:defRPr/>
            </a:pPr>
            <a:endParaRPr lang="en-US"/>
          </a:p>
        </p:txBody>
      </p:sp>
      <p:sp>
        <p:nvSpPr>
          <p:cNvPr id="717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cs typeface="Arial" charset="0"/>
              </a:defRPr>
            </a:lvl1pPr>
          </a:lstStyle>
          <a:p>
            <a:pPr>
              <a:defRPr/>
            </a:pPr>
            <a:fld id="{FBDD3881-29A5-3643-B3FD-D1E863272001}" type="slidenum">
              <a:rPr lang="en-US"/>
              <a:pPr>
                <a:defRPr/>
              </a:pPr>
              <a:t>‹#›</a:t>
            </a:fld>
            <a:endParaRPr lang="en-US"/>
          </a:p>
        </p:txBody>
      </p:sp>
    </p:spTree>
    <p:extLst>
      <p:ext uri="{BB962C8B-B14F-4D97-AF65-F5344CB8AC3E}">
        <p14:creationId xmlns:p14="http://schemas.microsoft.com/office/powerpoint/2010/main" val="136764202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Arial" charset="0"/>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Arial" charset="0"/>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Arial" charset="0"/>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Arial" charset="0"/>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CBCA162-D0EA-45E7-9536-77E7033717D4}" type="slidenum">
              <a:rPr lang="en-US" altLang="en-US" smtClean="0">
                <a:latin typeface="Times New Roman" panose="02020603050405020304" pitchFamily="18" charset="0"/>
              </a:rPr>
              <a:pPr/>
              <a:t>3</a:t>
            </a:fld>
            <a:endParaRPr lang="en-US" altLang="en-US" smtClean="0">
              <a:latin typeface="Times New Roman" panose="02020603050405020304" pitchFamily="18"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4169178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138DD31-2D87-4784-9A3F-661BDD0970CF}" type="slidenum">
              <a:rPr lang="en-US" altLang="en-US" smtClean="0">
                <a:latin typeface="Times New Roman" panose="02020603050405020304" pitchFamily="18" charset="0"/>
              </a:rPr>
              <a:pPr/>
              <a:t>4</a:t>
            </a:fld>
            <a:endParaRPr lang="en-US" altLang="en-US" smtClean="0">
              <a:latin typeface="Times New Roman" panose="02020603050405020304" pitchFamily="18" charset="0"/>
            </a:endParaRPr>
          </a:p>
        </p:txBody>
      </p:sp>
      <p:sp>
        <p:nvSpPr>
          <p:cNvPr id="22531" name="Rectangle 2"/>
          <p:cNvSpPr>
            <a:spLocks noGrp="1" noRot="1" noChangeAspect="1" noChangeArrowheads="1" noTextEdit="1"/>
          </p:cNvSpPr>
          <p:nvPr>
            <p:ph type="sldImg"/>
          </p:nvPr>
        </p:nvSpPr>
        <p:spPr>
          <a:ln/>
        </p:spPr>
      </p:sp>
      <p:sp>
        <p:nvSpPr>
          <p:cNvPr id="22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3527920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Slide Image Placeholder 1"/>
          <p:cNvSpPr>
            <a:spLocks noGrp="1" noRot="1" noChangeAspect="1" noTextEdit="1"/>
          </p:cNvSpPr>
          <p:nvPr>
            <p:ph type="sldImg"/>
          </p:nvPr>
        </p:nvSpPr>
        <p:spPr>
          <a:ln/>
        </p:spPr>
      </p:sp>
      <p:sp>
        <p:nvSpPr>
          <p:cNvPr id="123906"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endParaRPr lang="en-US"/>
          </a:p>
        </p:txBody>
      </p:sp>
      <p:sp>
        <p:nvSpPr>
          <p:cNvPr id="123907"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5B9E8EB6-E882-A044-B9C6-C5B69F889246}" type="slidenum">
              <a:rPr lang="en-US" sz="1200"/>
              <a:pPr eaLnBrk="1" hangingPunct="1"/>
              <a:t>10</a:t>
            </a:fld>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664A868-4C61-47FF-98C4-48831821EB5A}" type="slidenum">
              <a:rPr lang="en-US" altLang="en-US" smtClean="0">
                <a:latin typeface="Times New Roman" panose="02020603050405020304" pitchFamily="18" charset="0"/>
              </a:rPr>
              <a:pPr/>
              <a:t>13</a:t>
            </a:fld>
            <a:endParaRPr lang="en-US" altLang="en-US" smtClean="0">
              <a:latin typeface="Times New Roman" panose="02020603050405020304" pitchFamily="18" charset="0"/>
            </a:endParaRPr>
          </a:p>
        </p:txBody>
      </p:sp>
      <p:sp>
        <p:nvSpPr>
          <p:cNvPr id="38915" name="Rectangle 2"/>
          <p:cNvSpPr>
            <a:spLocks noGrp="1" noRot="1" noChangeAspect="1" noChangeArrowheads="1" noTextEdit="1"/>
          </p:cNvSpPr>
          <p:nvPr>
            <p:ph type="sldImg"/>
          </p:nvPr>
        </p:nvSpPr>
        <p:spPr>
          <a:ln/>
        </p:spPr>
      </p:sp>
      <p:sp>
        <p:nvSpPr>
          <p:cNvPr id="38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0947752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862BCE2-C668-4C34-98C9-9524523B041A}" type="slidenum">
              <a:rPr lang="en-US" altLang="en-US" smtClean="0">
                <a:latin typeface="Times New Roman" panose="02020603050405020304" pitchFamily="18" charset="0"/>
              </a:rPr>
              <a:pPr/>
              <a:t>14</a:t>
            </a:fld>
            <a:endParaRPr lang="en-US" altLang="en-US" smtClean="0">
              <a:latin typeface="Times New Roman" panose="02020603050405020304" pitchFamily="18" charset="0"/>
            </a:endParaRPr>
          </a:p>
        </p:txBody>
      </p:sp>
      <p:sp>
        <p:nvSpPr>
          <p:cNvPr id="40963" name="Rectangle 2"/>
          <p:cNvSpPr>
            <a:spLocks noGrp="1" noRot="1" noChangeAspect="1" noChangeArrowheads="1" noTextEdit="1"/>
          </p:cNvSpPr>
          <p:nvPr>
            <p:ph type="sldImg"/>
          </p:nvPr>
        </p:nvSpPr>
        <p:spPr>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3549772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ABD301D-CF10-466E-89A1-AE63999354F5}" type="slidenum">
              <a:rPr lang="en-US" altLang="en-US" smtClean="0">
                <a:latin typeface="Times New Roman" panose="02020603050405020304" pitchFamily="18" charset="0"/>
              </a:rPr>
              <a:pPr/>
              <a:t>15</a:t>
            </a:fld>
            <a:endParaRPr lang="en-US" altLang="en-US" smtClean="0">
              <a:latin typeface="Times New Roman" panose="02020603050405020304" pitchFamily="18" charset="0"/>
            </a:endParaRPr>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5367296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C56AAC1-10A7-473E-9032-57434A5FCDE0}" type="slidenum">
              <a:rPr lang="en-US" altLang="en-US" smtClean="0">
                <a:latin typeface="Times New Roman" panose="02020603050405020304" pitchFamily="18" charset="0"/>
              </a:rPr>
              <a:pPr/>
              <a:t>16</a:t>
            </a:fld>
            <a:endParaRPr lang="en-US" altLang="en-US" smtClean="0">
              <a:latin typeface="Times New Roman" panose="02020603050405020304" pitchFamily="18" charset="0"/>
            </a:endParaRPr>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775847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56E1DA5-2B01-4FB9-B41A-F32A8801CD05}" type="slidenum">
              <a:rPr lang="en-US" altLang="en-US" smtClean="0">
                <a:latin typeface="Times New Roman" panose="02020603050405020304" pitchFamily="18" charset="0"/>
              </a:rPr>
              <a:pPr/>
              <a:t>17</a:t>
            </a:fld>
            <a:endParaRPr lang="en-US" altLang="en-US" smtClean="0">
              <a:latin typeface="Times New Roman" panose="02020603050405020304" pitchFamily="18" charset="0"/>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7226864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434AA6-A584-4D6A-8376-3513E5963F2F}" type="slidenum">
              <a:rPr lang="en-US" altLang="en-US" smtClean="0">
                <a:latin typeface="Times New Roman" panose="02020603050405020304" pitchFamily="18" charset="0"/>
              </a:rPr>
              <a:pPr/>
              <a:t>18</a:t>
            </a:fld>
            <a:endParaRPr lang="en-US" altLang="en-US" smtClean="0">
              <a:latin typeface="Times New Roman" panose="02020603050405020304" pitchFamily="18"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4235590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51338BB-8C79-4EC3-9EB5-EE48DF1C60EB}" type="slidenum">
              <a:rPr lang="en-US" altLang="en-US" smtClean="0">
                <a:latin typeface="Times New Roman" panose="02020603050405020304" pitchFamily="18" charset="0"/>
              </a:rPr>
              <a:pPr/>
              <a:t>19</a:t>
            </a:fld>
            <a:endParaRPr lang="en-US" altLang="en-US" smtClean="0">
              <a:latin typeface="Times New Roman" panose="02020603050405020304" pitchFamily="18"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0427803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C5E6A1F-C7FB-4FAB-AFB8-35393C10F05F}" type="slidenum">
              <a:rPr lang="en-US" altLang="en-US" smtClean="0">
                <a:latin typeface="Times New Roman" panose="02020603050405020304" pitchFamily="18" charset="0"/>
              </a:rPr>
              <a:pPr/>
              <a:t>20</a:t>
            </a:fld>
            <a:endParaRPr lang="en-US" altLang="en-US" smtClean="0">
              <a:latin typeface="Times New Roman" panose="02020603050405020304" pitchFamily="18"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751097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71A61BC-E980-475E-B7CD-66E6D5E77819}" type="slidenum">
              <a:rPr lang="en-US" altLang="en-US" smtClean="0">
                <a:latin typeface="Times New Roman" panose="02020603050405020304" pitchFamily="18" charset="0"/>
              </a:rPr>
              <a:pPr/>
              <a:t>21</a:t>
            </a:fld>
            <a:endParaRPr lang="en-US" altLang="en-US" smtClean="0">
              <a:latin typeface="Times New Roman" panose="02020603050405020304" pitchFamily="18"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1803272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421BCA-BCFB-4ED2-8FB4-A4393492642C}" type="slidenum">
              <a:rPr lang="en-US" altLang="en-US" smtClean="0">
                <a:latin typeface="Times New Roman" panose="02020603050405020304" pitchFamily="18" charset="0"/>
              </a:rPr>
              <a:pPr/>
              <a:t>22</a:t>
            </a:fld>
            <a:endParaRPr lang="en-US" altLang="en-US" smtClean="0">
              <a:latin typeface="Times New Roman" panose="02020603050405020304" pitchFamily="18" charset="0"/>
            </a:endParaRPr>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0000145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Slide Image Placeholder 1"/>
          <p:cNvSpPr>
            <a:spLocks noGrp="1" noRot="1" noChangeAspect="1" noTextEdit="1"/>
          </p:cNvSpPr>
          <p:nvPr>
            <p:ph type="sldImg"/>
          </p:nvPr>
        </p:nvSpPr>
        <p:spPr>
          <a:ln/>
        </p:spPr>
      </p:sp>
      <p:sp>
        <p:nvSpPr>
          <p:cNvPr id="126978"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t>Dijkstra 1965</a:t>
            </a:r>
          </a:p>
        </p:txBody>
      </p:sp>
      <p:sp>
        <p:nvSpPr>
          <p:cNvPr id="126979"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70801C39-9DE0-D142-A7F3-3240D5C21191}" type="slidenum">
              <a:rPr lang="en-US" sz="1200"/>
              <a:pPr eaLnBrk="1" hangingPunct="1"/>
              <a:t>23</a:t>
            </a:fld>
            <a:endParaRPr lang="en-US" sz="1200"/>
          </a:p>
        </p:txBody>
      </p:sp>
    </p:spTree>
    <p:extLst>
      <p:ext uri="{BB962C8B-B14F-4D97-AF65-F5344CB8AC3E}">
        <p14:creationId xmlns:p14="http://schemas.microsoft.com/office/powerpoint/2010/main" val="4304774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25A3F61-EB20-4684-9FD0-CEBC24E3F25C}" type="slidenum">
              <a:rPr lang="en-US" altLang="en-US" smtClean="0">
                <a:latin typeface="Times New Roman" panose="02020603050405020304" pitchFamily="18" charset="0"/>
              </a:rPr>
              <a:pPr/>
              <a:t>26</a:t>
            </a:fld>
            <a:endParaRPr lang="en-US" altLang="en-US" smtClean="0">
              <a:latin typeface="Times New Roman" panose="02020603050405020304" pitchFamily="18" charset="0"/>
            </a:endParaRPr>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1777776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EEFD653-DB66-4B4F-8829-E639A5372579}" type="slidenum">
              <a:rPr lang="en-US" altLang="en-US" smtClean="0">
                <a:latin typeface="Times New Roman" panose="02020603050405020304" pitchFamily="18" charset="0"/>
              </a:rPr>
              <a:pPr/>
              <a:t>27</a:t>
            </a:fld>
            <a:endParaRPr lang="en-US" altLang="en-US" smtClean="0">
              <a:latin typeface="Times New Roman" panose="02020603050405020304" pitchFamily="18" charset="0"/>
            </a:endParaRPr>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6128153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0D123DE-7A33-4E86-B19C-F5BF0CC2F25E}" type="slidenum">
              <a:rPr lang="en-US" altLang="en-US" smtClean="0">
                <a:latin typeface="Times New Roman" panose="02020603050405020304" pitchFamily="18" charset="0"/>
              </a:rPr>
              <a:pPr/>
              <a:t>29</a:t>
            </a:fld>
            <a:endParaRPr lang="en-US" altLang="en-US" smtClean="0">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41344096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B926935-60F1-406E-81E5-7BD24B0F3520}" type="slidenum">
              <a:rPr lang="en-US" altLang="en-US" smtClean="0">
                <a:latin typeface="Times New Roman" panose="02020603050405020304" pitchFamily="18" charset="0"/>
              </a:rPr>
              <a:pPr/>
              <a:t>30</a:t>
            </a:fld>
            <a:endParaRPr lang="en-US" altLang="en-US" smtClean="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39819791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CA74EEE-7C87-4BE2-AB8A-DF7F126C0AF0}" type="slidenum">
              <a:rPr lang="en-US" altLang="en-US" smtClean="0">
                <a:latin typeface="Times New Roman" panose="02020603050405020304" pitchFamily="18" charset="0"/>
              </a:rPr>
              <a:pPr/>
              <a:t>31</a:t>
            </a:fld>
            <a:endParaRPr lang="en-US" altLang="en-US" smtClean="0">
              <a:latin typeface="Times New Roman" panose="02020603050405020304" pitchFamily="18" charset="0"/>
            </a:endParaRPr>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170267939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9800">
              <a:defRPr>
                <a:solidFill>
                  <a:schemeClr val="tx1"/>
                </a:solidFill>
                <a:latin typeface="Verdana" panose="020B0604030504040204" pitchFamily="34" charset="0"/>
                <a:ea typeface="MS PGothic" panose="020B0600070205080204" pitchFamily="34" charset="-128"/>
              </a:defRPr>
            </a:lvl1pPr>
            <a:lvl2pPr marL="742950" indent="-285750" defTabSz="939800">
              <a:defRPr>
                <a:solidFill>
                  <a:schemeClr val="tx1"/>
                </a:solidFill>
                <a:latin typeface="Verdana" panose="020B0604030504040204" pitchFamily="34" charset="0"/>
                <a:ea typeface="MS PGothic" panose="020B0600070205080204" pitchFamily="34" charset="-128"/>
              </a:defRPr>
            </a:lvl2pPr>
            <a:lvl3pPr marL="1143000" indent="-228600" defTabSz="939800">
              <a:defRPr>
                <a:solidFill>
                  <a:schemeClr val="tx1"/>
                </a:solidFill>
                <a:latin typeface="Verdana" panose="020B0604030504040204" pitchFamily="34" charset="0"/>
                <a:ea typeface="MS PGothic" panose="020B0600070205080204" pitchFamily="34" charset="-128"/>
              </a:defRPr>
            </a:lvl3pPr>
            <a:lvl4pPr marL="1600200" indent="-228600" defTabSz="939800">
              <a:defRPr>
                <a:solidFill>
                  <a:schemeClr val="tx1"/>
                </a:solidFill>
                <a:latin typeface="Verdana" panose="020B0604030504040204" pitchFamily="34" charset="0"/>
                <a:ea typeface="MS PGothic" panose="020B0600070205080204" pitchFamily="34" charset="-128"/>
              </a:defRPr>
            </a:lvl4pPr>
            <a:lvl5pPr marL="2057400" indent="-228600" defTabSz="939800">
              <a:defRPr>
                <a:solidFill>
                  <a:schemeClr val="tx1"/>
                </a:solidFill>
                <a:latin typeface="Verdana" panose="020B0604030504040204" pitchFamily="34" charset="0"/>
                <a:ea typeface="MS PGothic" panose="020B0600070205080204" pitchFamily="34" charset="-128"/>
              </a:defRPr>
            </a:lvl5pPr>
            <a:lvl6pPr marL="25146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98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9717663-6D92-4A6C-9622-6BBC21F471A0}" type="slidenum">
              <a:rPr lang="en-US" altLang="en-US" smtClean="0">
                <a:latin typeface="Times New Roman" panose="02020603050405020304" pitchFamily="18" charset="0"/>
              </a:rPr>
              <a:pPr/>
              <a:t>32</a:t>
            </a:fld>
            <a:endParaRPr lang="en-US" altLang="en-US" smtClean="0">
              <a:latin typeface="Times New Roman" panose="02020603050405020304" pitchFamily="18" charset="0"/>
            </a:endParaRPr>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23147570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Slide Image Placeholder 1"/>
          <p:cNvSpPr>
            <a:spLocks noGrp="1" noRot="1" noChangeAspect="1" noTextEdit="1"/>
          </p:cNvSpPr>
          <p:nvPr>
            <p:ph type="sldImg"/>
          </p:nvPr>
        </p:nvSpPr>
        <p:spPr>
          <a:ln/>
        </p:spPr>
      </p:sp>
      <p:sp>
        <p:nvSpPr>
          <p:cNvPr id="131074" name="Notes Placeholder 2"/>
          <p:cNvSpPr>
            <a:spLocks noGrp="1"/>
          </p:cNvSpPr>
          <p:nvPr>
            <p:ph type="body" idx="1"/>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r>
              <a:rPr lang="en-US"/>
              <a:t>Dijkstra 1965</a:t>
            </a:r>
          </a:p>
          <a:p>
            <a:r>
              <a:rPr lang="en-US"/>
              <a:t>Is_safe_state_reachable</a:t>
            </a:r>
          </a:p>
          <a:p>
            <a:r>
              <a:rPr lang="en-US"/>
              <a:t>--- check if there is some sequence of resource allocation so that a safe state is reached</a:t>
            </a:r>
          </a:p>
        </p:txBody>
      </p:sp>
      <p:sp>
        <p:nvSpPr>
          <p:cNvPr id="131075" name="Slide Number Placeholder 3"/>
          <p:cNvSpPr>
            <a:spLocks noGrp="1"/>
          </p:cNvSpPr>
          <p:nvPr>
            <p:ph type="sldNum" sz="quarter" idx="5"/>
          </p:nvPr>
        </p:nvSpPr>
        <p:spPr>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fld id="{FCD506F8-24BF-CA45-988B-7B647BF97DE6}" type="slidenum">
              <a:rPr lang="en-US" sz="1200"/>
              <a:pPr eaLnBrk="1" hangingPunct="1"/>
              <a:t>33</a:t>
            </a:fld>
            <a:endParaRPr 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a:xfrm>
            <a:off x="457200" y="6245225"/>
            <a:ext cx="2133600" cy="476250"/>
          </a:xfrm>
          <a:prstGeom prst="rect">
            <a:avLst/>
          </a:prstGeom>
        </p:spPr>
        <p:txBody>
          <a:bodyPr/>
          <a:lstStyle>
            <a:lvl1pPr>
              <a:defRPr>
                <a:ea typeface="+mn-ea"/>
                <a:cs typeface="Arial" charset="0"/>
              </a:defRPr>
            </a:lvl1pPr>
          </a:lstStyle>
          <a:p>
            <a:pPr>
              <a:defRPr/>
            </a:pPr>
            <a:endParaRPr lang="en-US"/>
          </a:p>
        </p:txBody>
      </p:sp>
      <p:sp>
        <p:nvSpPr>
          <p:cNvPr id="5" name="Footer Placeholder 4"/>
          <p:cNvSpPr>
            <a:spLocks noGrp="1"/>
          </p:cNvSpPr>
          <p:nvPr>
            <p:ph type="ftr" sz="quarter" idx="11"/>
          </p:nvPr>
        </p:nvSpPr>
        <p:spPr>
          <a:xfrm>
            <a:off x="3124200" y="6245225"/>
            <a:ext cx="2895600" cy="476250"/>
          </a:xfrm>
          <a:prstGeom prst="rect">
            <a:avLst/>
          </a:prstGeom>
        </p:spPr>
        <p:txBody>
          <a:bodyPr/>
          <a:lstStyle>
            <a:lvl1pPr>
              <a:defRPr>
                <a:ea typeface="+mn-ea"/>
                <a:cs typeface="Arial" charset="0"/>
              </a:defRPr>
            </a:lvl1pPr>
          </a:lstStyle>
          <a:p>
            <a:pPr>
              <a:defRPr/>
            </a:pPr>
            <a:endParaRPr lang="en-US"/>
          </a:p>
        </p:txBody>
      </p:sp>
      <p:sp>
        <p:nvSpPr>
          <p:cNvPr id="6" name="Slide Number Placeholder 5"/>
          <p:cNvSpPr>
            <a:spLocks noGrp="1"/>
          </p:cNvSpPr>
          <p:nvPr>
            <p:ph type="sldNum" sz="quarter" idx="12"/>
          </p:nvPr>
        </p:nvSpPr>
        <p:spPr>
          <a:xfrm>
            <a:off x="6553200" y="6245225"/>
            <a:ext cx="2133600" cy="476250"/>
          </a:xfrm>
          <a:prstGeom prst="rect">
            <a:avLst/>
          </a:prstGeom>
        </p:spPr>
        <p:txBody>
          <a:bodyPr vert="horz" wrap="square" lIns="91440" tIns="45720" rIns="91440" bIns="45720" numCol="1" anchor="t" anchorCtr="0" compatLnSpc="1">
            <a:prstTxWarp prst="textNoShape">
              <a:avLst/>
            </a:prstTxWarp>
          </a:bodyPr>
          <a:lstStyle>
            <a:lvl1pPr>
              <a:defRPr>
                <a:cs typeface="Arial" charset="0"/>
              </a:defRPr>
            </a:lvl1pPr>
          </a:lstStyle>
          <a:p>
            <a:pPr>
              <a:defRPr/>
            </a:pPr>
            <a:fld id="{4A1CCE91-54AD-7846-BE4E-91946BF99B11}" type="slidenum">
              <a:rPr lang="en-US"/>
              <a:pPr>
                <a:defRPr/>
              </a:pPr>
              <a:t>‹#›</a:t>
            </a:fld>
            <a:endParaRPr lang="en-US"/>
          </a:p>
        </p:txBody>
      </p:sp>
    </p:spTree>
    <p:extLst>
      <p:ext uri="{BB962C8B-B14F-4D97-AF65-F5344CB8AC3E}">
        <p14:creationId xmlns:p14="http://schemas.microsoft.com/office/powerpoint/2010/main" val="3776954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245225"/>
            <a:ext cx="2133600" cy="476250"/>
          </a:xfrm>
          <a:prstGeom prst="rect">
            <a:avLst/>
          </a:prstGeom>
        </p:spPr>
        <p:txBody>
          <a:bodyPr/>
          <a:lstStyle>
            <a:lvl1pPr>
              <a:defRPr>
                <a:ea typeface="+mn-ea"/>
                <a:cs typeface="Arial" charset="0"/>
              </a:defRPr>
            </a:lvl1pPr>
          </a:lstStyle>
          <a:p>
            <a:pPr>
              <a:defRPr/>
            </a:pPr>
            <a:endParaRPr lang="en-US"/>
          </a:p>
        </p:txBody>
      </p:sp>
      <p:sp>
        <p:nvSpPr>
          <p:cNvPr id="5" name="Footer Placeholder 4"/>
          <p:cNvSpPr>
            <a:spLocks noGrp="1"/>
          </p:cNvSpPr>
          <p:nvPr>
            <p:ph type="ftr" sz="quarter" idx="11"/>
          </p:nvPr>
        </p:nvSpPr>
        <p:spPr>
          <a:xfrm>
            <a:off x="3124200" y="6245225"/>
            <a:ext cx="2895600" cy="476250"/>
          </a:xfrm>
          <a:prstGeom prst="rect">
            <a:avLst/>
          </a:prstGeom>
        </p:spPr>
        <p:txBody>
          <a:bodyPr/>
          <a:lstStyle>
            <a:lvl1pPr>
              <a:defRPr>
                <a:ea typeface="+mn-ea"/>
                <a:cs typeface="Arial" charset="0"/>
              </a:defRPr>
            </a:lvl1pPr>
          </a:lstStyle>
          <a:p>
            <a:pPr>
              <a:defRPr/>
            </a:pPr>
            <a:endParaRPr lang="en-US"/>
          </a:p>
        </p:txBody>
      </p:sp>
      <p:sp>
        <p:nvSpPr>
          <p:cNvPr id="6" name="Slide Number Placeholder 5"/>
          <p:cNvSpPr>
            <a:spLocks noGrp="1"/>
          </p:cNvSpPr>
          <p:nvPr>
            <p:ph type="sldNum" sz="quarter" idx="12"/>
          </p:nvPr>
        </p:nvSpPr>
        <p:spPr>
          <a:xfrm>
            <a:off x="6553200" y="6245225"/>
            <a:ext cx="2133600" cy="476250"/>
          </a:xfrm>
          <a:prstGeom prst="rect">
            <a:avLst/>
          </a:prstGeom>
        </p:spPr>
        <p:txBody>
          <a:bodyPr vert="horz" wrap="square" lIns="91440" tIns="45720" rIns="91440" bIns="45720" numCol="1" anchor="t" anchorCtr="0" compatLnSpc="1">
            <a:prstTxWarp prst="textNoShape">
              <a:avLst/>
            </a:prstTxWarp>
          </a:bodyPr>
          <a:lstStyle>
            <a:lvl1pPr>
              <a:defRPr>
                <a:cs typeface="Arial" charset="0"/>
              </a:defRPr>
            </a:lvl1pPr>
          </a:lstStyle>
          <a:p>
            <a:pPr>
              <a:defRPr/>
            </a:pPr>
            <a:fld id="{63FC7515-6AAC-2A41-A7F6-9E7D4AA01BDF}" type="slidenum">
              <a:rPr lang="en-US"/>
              <a:pPr>
                <a:defRPr/>
              </a:pPr>
              <a:t>‹#›</a:t>
            </a:fld>
            <a:endParaRPr lang="en-US"/>
          </a:p>
        </p:txBody>
      </p:sp>
    </p:spTree>
    <p:extLst>
      <p:ext uri="{BB962C8B-B14F-4D97-AF65-F5344CB8AC3E}">
        <p14:creationId xmlns:p14="http://schemas.microsoft.com/office/powerpoint/2010/main" val="9441153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1"/>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a:xfrm>
            <a:off x="457200" y="6245225"/>
            <a:ext cx="2133600" cy="476250"/>
          </a:xfrm>
          <a:prstGeom prst="rect">
            <a:avLst/>
          </a:prstGeom>
        </p:spPr>
        <p:txBody>
          <a:bodyPr/>
          <a:lstStyle>
            <a:lvl1pPr>
              <a:defRPr>
                <a:ea typeface="+mn-ea"/>
                <a:cs typeface="Arial" charset="0"/>
              </a:defRPr>
            </a:lvl1pPr>
          </a:lstStyle>
          <a:p>
            <a:pPr>
              <a:defRPr/>
            </a:pPr>
            <a:endParaRPr lang="en-US"/>
          </a:p>
        </p:txBody>
      </p:sp>
      <p:sp>
        <p:nvSpPr>
          <p:cNvPr id="5" name="Footer Placeholder 4"/>
          <p:cNvSpPr>
            <a:spLocks noGrp="1"/>
          </p:cNvSpPr>
          <p:nvPr>
            <p:ph type="ftr" sz="quarter" idx="11"/>
          </p:nvPr>
        </p:nvSpPr>
        <p:spPr>
          <a:xfrm>
            <a:off x="3124200" y="6245225"/>
            <a:ext cx="2895600" cy="476250"/>
          </a:xfrm>
          <a:prstGeom prst="rect">
            <a:avLst/>
          </a:prstGeom>
        </p:spPr>
        <p:txBody>
          <a:bodyPr/>
          <a:lstStyle>
            <a:lvl1pPr>
              <a:defRPr>
                <a:ea typeface="+mn-ea"/>
                <a:cs typeface="Arial" charset="0"/>
              </a:defRPr>
            </a:lvl1pPr>
          </a:lstStyle>
          <a:p>
            <a:pPr>
              <a:defRPr/>
            </a:pPr>
            <a:endParaRPr lang="en-US"/>
          </a:p>
        </p:txBody>
      </p:sp>
      <p:sp>
        <p:nvSpPr>
          <p:cNvPr id="6" name="Slide Number Placeholder 5"/>
          <p:cNvSpPr>
            <a:spLocks noGrp="1"/>
          </p:cNvSpPr>
          <p:nvPr>
            <p:ph type="sldNum" sz="quarter" idx="12"/>
          </p:nvPr>
        </p:nvSpPr>
        <p:spPr>
          <a:xfrm>
            <a:off x="6553200" y="6245225"/>
            <a:ext cx="2133600" cy="476250"/>
          </a:xfrm>
          <a:prstGeom prst="rect">
            <a:avLst/>
          </a:prstGeom>
        </p:spPr>
        <p:txBody>
          <a:bodyPr vert="horz" wrap="square" lIns="91440" tIns="45720" rIns="91440" bIns="45720" numCol="1" anchor="t" anchorCtr="0" compatLnSpc="1">
            <a:prstTxWarp prst="textNoShape">
              <a:avLst/>
            </a:prstTxWarp>
          </a:bodyPr>
          <a:lstStyle>
            <a:lvl1pPr>
              <a:defRPr>
                <a:cs typeface="Arial" charset="0"/>
              </a:defRPr>
            </a:lvl1pPr>
          </a:lstStyle>
          <a:p>
            <a:pPr>
              <a:defRPr/>
            </a:pPr>
            <a:fld id="{4952363A-BAA6-A14B-92D2-3421AC10DDC0}" type="slidenum">
              <a:rPr lang="en-US"/>
              <a:pPr>
                <a:defRPr/>
              </a:pPr>
              <a:t>‹#›</a:t>
            </a:fld>
            <a:endParaRPr lang="en-US"/>
          </a:p>
        </p:txBody>
      </p:sp>
    </p:spTree>
    <p:extLst>
      <p:ext uri="{BB962C8B-B14F-4D97-AF65-F5344CB8AC3E}">
        <p14:creationId xmlns:p14="http://schemas.microsoft.com/office/powerpoint/2010/main" val="1508146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245225"/>
            <a:ext cx="2133600" cy="476250"/>
          </a:xfrm>
          <a:prstGeom prst="rect">
            <a:avLst/>
          </a:prstGeom>
        </p:spPr>
        <p:txBody>
          <a:bodyPr/>
          <a:lstStyle>
            <a:lvl1pPr>
              <a:defRPr>
                <a:ea typeface="+mn-ea"/>
                <a:cs typeface="Arial" charset="0"/>
              </a:defRPr>
            </a:lvl1pPr>
          </a:lstStyle>
          <a:p>
            <a:pPr>
              <a:defRPr/>
            </a:pPr>
            <a:endParaRPr lang="en-US"/>
          </a:p>
        </p:txBody>
      </p:sp>
      <p:sp>
        <p:nvSpPr>
          <p:cNvPr id="6" name="Footer Placeholder 5"/>
          <p:cNvSpPr>
            <a:spLocks noGrp="1"/>
          </p:cNvSpPr>
          <p:nvPr>
            <p:ph type="ftr" sz="quarter" idx="11"/>
          </p:nvPr>
        </p:nvSpPr>
        <p:spPr>
          <a:xfrm>
            <a:off x="3124200" y="6245225"/>
            <a:ext cx="2895600" cy="476250"/>
          </a:xfrm>
          <a:prstGeom prst="rect">
            <a:avLst/>
          </a:prstGeom>
        </p:spPr>
        <p:txBody>
          <a:bodyPr/>
          <a:lstStyle>
            <a:lvl1pPr>
              <a:defRPr>
                <a:ea typeface="+mn-ea"/>
                <a:cs typeface="Arial" charset="0"/>
              </a:defRPr>
            </a:lvl1pPr>
          </a:lstStyle>
          <a:p>
            <a:pPr>
              <a:defRPr/>
            </a:pPr>
            <a:endParaRPr lang="en-US"/>
          </a:p>
        </p:txBody>
      </p:sp>
      <p:sp>
        <p:nvSpPr>
          <p:cNvPr id="7" name="Slide Number Placeholder 6"/>
          <p:cNvSpPr>
            <a:spLocks noGrp="1"/>
          </p:cNvSpPr>
          <p:nvPr>
            <p:ph type="sldNum" sz="quarter" idx="12"/>
          </p:nvPr>
        </p:nvSpPr>
        <p:spPr>
          <a:xfrm>
            <a:off x="6553200" y="6245225"/>
            <a:ext cx="2133600" cy="476250"/>
          </a:xfrm>
          <a:prstGeom prst="rect">
            <a:avLst/>
          </a:prstGeom>
        </p:spPr>
        <p:txBody>
          <a:bodyPr vert="horz" wrap="square" lIns="91440" tIns="45720" rIns="91440" bIns="45720" numCol="1" anchor="t" anchorCtr="0" compatLnSpc="1">
            <a:prstTxWarp prst="textNoShape">
              <a:avLst/>
            </a:prstTxWarp>
          </a:bodyPr>
          <a:lstStyle>
            <a:lvl1pPr>
              <a:defRPr>
                <a:cs typeface="Arial" charset="0"/>
              </a:defRPr>
            </a:lvl1pPr>
          </a:lstStyle>
          <a:p>
            <a:pPr>
              <a:defRPr/>
            </a:pPr>
            <a:fld id="{1618A173-8515-7440-92F5-F8FD955B8162}" type="slidenum">
              <a:rPr lang="en-US"/>
              <a:pPr>
                <a:defRPr/>
              </a:pPr>
              <a:t>‹#›</a:t>
            </a:fld>
            <a:endParaRPr lang="en-US"/>
          </a:p>
        </p:txBody>
      </p:sp>
    </p:spTree>
    <p:extLst>
      <p:ext uri="{BB962C8B-B14F-4D97-AF65-F5344CB8AC3E}">
        <p14:creationId xmlns:p14="http://schemas.microsoft.com/office/powerpoint/2010/main" val="1429603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7" y="1535113"/>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a:xfrm>
            <a:off x="457200" y="6245225"/>
            <a:ext cx="2133600" cy="476250"/>
          </a:xfrm>
          <a:prstGeom prst="rect">
            <a:avLst/>
          </a:prstGeom>
        </p:spPr>
        <p:txBody>
          <a:bodyPr/>
          <a:lstStyle>
            <a:lvl1pPr>
              <a:defRPr>
                <a:ea typeface="+mn-ea"/>
                <a:cs typeface="Arial" charset="0"/>
              </a:defRPr>
            </a:lvl1pPr>
          </a:lstStyle>
          <a:p>
            <a:pPr>
              <a:defRPr/>
            </a:pPr>
            <a:endParaRPr lang="en-US"/>
          </a:p>
        </p:txBody>
      </p:sp>
      <p:sp>
        <p:nvSpPr>
          <p:cNvPr id="8" name="Footer Placeholder 7"/>
          <p:cNvSpPr>
            <a:spLocks noGrp="1"/>
          </p:cNvSpPr>
          <p:nvPr>
            <p:ph type="ftr" sz="quarter" idx="11"/>
          </p:nvPr>
        </p:nvSpPr>
        <p:spPr>
          <a:xfrm>
            <a:off x="3124200" y="6245225"/>
            <a:ext cx="2895600" cy="476250"/>
          </a:xfrm>
          <a:prstGeom prst="rect">
            <a:avLst/>
          </a:prstGeom>
        </p:spPr>
        <p:txBody>
          <a:bodyPr/>
          <a:lstStyle>
            <a:lvl1pPr>
              <a:defRPr>
                <a:ea typeface="+mn-ea"/>
                <a:cs typeface="Arial" charset="0"/>
              </a:defRPr>
            </a:lvl1pPr>
          </a:lstStyle>
          <a:p>
            <a:pPr>
              <a:defRPr/>
            </a:pPr>
            <a:endParaRPr lang="en-US"/>
          </a:p>
        </p:txBody>
      </p:sp>
      <p:sp>
        <p:nvSpPr>
          <p:cNvPr id="9" name="Slide Number Placeholder 8"/>
          <p:cNvSpPr>
            <a:spLocks noGrp="1"/>
          </p:cNvSpPr>
          <p:nvPr>
            <p:ph type="sldNum" sz="quarter" idx="12"/>
          </p:nvPr>
        </p:nvSpPr>
        <p:spPr>
          <a:xfrm>
            <a:off x="6553200" y="6245225"/>
            <a:ext cx="2133600" cy="476250"/>
          </a:xfrm>
          <a:prstGeom prst="rect">
            <a:avLst/>
          </a:prstGeom>
        </p:spPr>
        <p:txBody>
          <a:bodyPr vert="horz" wrap="square" lIns="91440" tIns="45720" rIns="91440" bIns="45720" numCol="1" anchor="t" anchorCtr="0" compatLnSpc="1">
            <a:prstTxWarp prst="textNoShape">
              <a:avLst/>
            </a:prstTxWarp>
          </a:bodyPr>
          <a:lstStyle>
            <a:lvl1pPr>
              <a:defRPr>
                <a:cs typeface="Arial" charset="0"/>
              </a:defRPr>
            </a:lvl1pPr>
          </a:lstStyle>
          <a:p>
            <a:pPr>
              <a:defRPr/>
            </a:pPr>
            <a:fld id="{F882ABE0-B07A-8142-9E9D-EA15BA2A5BD2}" type="slidenum">
              <a:rPr lang="en-US"/>
              <a:pPr>
                <a:defRPr/>
              </a:pPr>
              <a:t>‹#›</a:t>
            </a:fld>
            <a:endParaRPr lang="en-US"/>
          </a:p>
        </p:txBody>
      </p:sp>
    </p:spTree>
    <p:extLst>
      <p:ext uri="{BB962C8B-B14F-4D97-AF65-F5344CB8AC3E}">
        <p14:creationId xmlns:p14="http://schemas.microsoft.com/office/powerpoint/2010/main" val="31748156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a:xfrm>
            <a:off x="457200" y="6245225"/>
            <a:ext cx="2133600" cy="476250"/>
          </a:xfrm>
          <a:prstGeom prst="rect">
            <a:avLst/>
          </a:prstGeom>
        </p:spPr>
        <p:txBody>
          <a:bodyPr/>
          <a:lstStyle>
            <a:lvl1pPr>
              <a:defRPr>
                <a:ea typeface="+mn-ea"/>
                <a:cs typeface="Arial" charset="0"/>
              </a:defRPr>
            </a:lvl1pPr>
          </a:lstStyle>
          <a:p>
            <a:pPr>
              <a:defRPr/>
            </a:pPr>
            <a:endParaRPr lang="en-US"/>
          </a:p>
        </p:txBody>
      </p:sp>
      <p:sp>
        <p:nvSpPr>
          <p:cNvPr id="4" name="Footer Placeholder 3"/>
          <p:cNvSpPr>
            <a:spLocks noGrp="1"/>
          </p:cNvSpPr>
          <p:nvPr>
            <p:ph type="ftr" sz="quarter" idx="11"/>
          </p:nvPr>
        </p:nvSpPr>
        <p:spPr>
          <a:xfrm>
            <a:off x="3124200" y="6245225"/>
            <a:ext cx="2895600" cy="476250"/>
          </a:xfrm>
          <a:prstGeom prst="rect">
            <a:avLst/>
          </a:prstGeom>
        </p:spPr>
        <p:txBody>
          <a:bodyPr/>
          <a:lstStyle>
            <a:lvl1pPr>
              <a:defRPr>
                <a:ea typeface="+mn-ea"/>
                <a:cs typeface="Arial" charset="0"/>
              </a:defRPr>
            </a:lvl1pPr>
          </a:lstStyle>
          <a:p>
            <a:pPr>
              <a:defRPr/>
            </a:pPr>
            <a:endParaRPr lang="en-US"/>
          </a:p>
        </p:txBody>
      </p:sp>
      <p:sp>
        <p:nvSpPr>
          <p:cNvPr id="5" name="Slide Number Placeholder 4"/>
          <p:cNvSpPr>
            <a:spLocks noGrp="1"/>
          </p:cNvSpPr>
          <p:nvPr>
            <p:ph type="sldNum" sz="quarter" idx="12"/>
          </p:nvPr>
        </p:nvSpPr>
        <p:spPr>
          <a:xfrm>
            <a:off x="6553200" y="6245225"/>
            <a:ext cx="2133600" cy="476250"/>
          </a:xfrm>
          <a:prstGeom prst="rect">
            <a:avLst/>
          </a:prstGeom>
        </p:spPr>
        <p:txBody>
          <a:bodyPr vert="horz" wrap="square" lIns="91440" tIns="45720" rIns="91440" bIns="45720" numCol="1" anchor="t" anchorCtr="0" compatLnSpc="1">
            <a:prstTxWarp prst="textNoShape">
              <a:avLst/>
            </a:prstTxWarp>
          </a:bodyPr>
          <a:lstStyle>
            <a:lvl1pPr>
              <a:defRPr>
                <a:cs typeface="Arial" charset="0"/>
              </a:defRPr>
            </a:lvl1pPr>
          </a:lstStyle>
          <a:p>
            <a:pPr>
              <a:defRPr/>
            </a:pPr>
            <a:fld id="{4568A685-02C0-5E4C-943D-A611612D7518}" type="slidenum">
              <a:rPr lang="en-US"/>
              <a:pPr>
                <a:defRPr/>
              </a:pPr>
              <a:t>‹#›</a:t>
            </a:fld>
            <a:endParaRPr lang="en-US"/>
          </a:p>
        </p:txBody>
      </p:sp>
    </p:spTree>
    <p:extLst>
      <p:ext uri="{BB962C8B-B14F-4D97-AF65-F5344CB8AC3E}">
        <p14:creationId xmlns:p14="http://schemas.microsoft.com/office/powerpoint/2010/main" val="3591038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245225"/>
            <a:ext cx="2133600" cy="476250"/>
          </a:xfrm>
          <a:prstGeom prst="rect">
            <a:avLst/>
          </a:prstGeom>
        </p:spPr>
        <p:txBody>
          <a:bodyPr/>
          <a:lstStyle>
            <a:lvl1pPr>
              <a:defRPr>
                <a:ea typeface="+mn-ea"/>
                <a:cs typeface="Arial" charset="0"/>
              </a:defRPr>
            </a:lvl1pPr>
          </a:lstStyle>
          <a:p>
            <a:pPr>
              <a:defRPr/>
            </a:pPr>
            <a:endParaRPr lang="en-US"/>
          </a:p>
        </p:txBody>
      </p:sp>
      <p:sp>
        <p:nvSpPr>
          <p:cNvPr id="3" name="Footer Placeholder 2"/>
          <p:cNvSpPr>
            <a:spLocks noGrp="1"/>
          </p:cNvSpPr>
          <p:nvPr>
            <p:ph type="ftr" sz="quarter" idx="11"/>
          </p:nvPr>
        </p:nvSpPr>
        <p:spPr>
          <a:xfrm>
            <a:off x="3124200" y="6245225"/>
            <a:ext cx="2895600" cy="476250"/>
          </a:xfrm>
          <a:prstGeom prst="rect">
            <a:avLst/>
          </a:prstGeom>
        </p:spPr>
        <p:txBody>
          <a:bodyPr/>
          <a:lstStyle>
            <a:lvl1pPr>
              <a:defRPr>
                <a:ea typeface="+mn-ea"/>
                <a:cs typeface="Arial" charset="0"/>
              </a:defRPr>
            </a:lvl1pPr>
          </a:lstStyle>
          <a:p>
            <a:pPr>
              <a:defRPr/>
            </a:pPr>
            <a:endParaRPr lang="en-US"/>
          </a:p>
        </p:txBody>
      </p:sp>
      <p:sp>
        <p:nvSpPr>
          <p:cNvPr id="4" name="Slide Number Placeholder 3"/>
          <p:cNvSpPr>
            <a:spLocks noGrp="1"/>
          </p:cNvSpPr>
          <p:nvPr>
            <p:ph type="sldNum" sz="quarter" idx="12"/>
          </p:nvPr>
        </p:nvSpPr>
        <p:spPr>
          <a:xfrm>
            <a:off x="6553200" y="6245225"/>
            <a:ext cx="2133600" cy="476250"/>
          </a:xfrm>
          <a:prstGeom prst="rect">
            <a:avLst/>
          </a:prstGeom>
        </p:spPr>
        <p:txBody>
          <a:bodyPr vert="horz" wrap="square" lIns="91440" tIns="45720" rIns="91440" bIns="45720" numCol="1" anchor="t" anchorCtr="0" compatLnSpc="1">
            <a:prstTxWarp prst="textNoShape">
              <a:avLst/>
            </a:prstTxWarp>
          </a:bodyPr>
          <a:lstStyle>
            <a:lvl1pPr>
              <a:defRPr>
                <a:cs typeface="Arial" charset="0"/>
              </a:defRPr>
            </a:lvl1pPr>
          </a:lstStyle>
          <a:p>
            <a:pPr>
              <a:defRPr/>
            </a:pPr>
            <a:fld id="{C525A5D8-6C4F-7542-B5E3-DD943D8AB922}" type="slidenum">
              <a:rPr lang="en-US"/>
              <a:pPr>
                <a:defRPr/>
              </a:pPr>
              <a:t>‹#›</a:t>
            </a:fld>
            <a:endParaRPr lang="en-US"/>
          </a:p>
        </p:txBody>
      </p:sp>
    </p:spTree>
    <p:extLst>
      <p:ext uri="{BB962C8B-B14F-4D97-AF65-F5344CB8AC3E}">
        <p14:creationId xmlns:p14="http://schemas.microsoft.com/office/powerpoint/2010/main" val="38084864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2"/>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2" y="1435102"/>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245225"/>
            <a:ext cx="2133600" cy="476250"/>
          </a:xfrm>
          <a:prstGeom prst="rect">
            <a:avLst/>
          </a:prstGeom>
        </p:spPr>
        <p:txBody>
          <a:bodyPr/>
          <a:lstStyle>
            <a:lvl1pPr>
              <a:defRPr>
                <a:ea typeface="+mn-ea"/>
                <a:cs typeface="Arial" charset="0"/>
              </a:defRPr>
            </a:lvl1pPr>
          </a:lstStyle>
          <a:p>
            <a:pPr>
              <a:defRPr/>
            </a:pPr>
            <a:endParaRPr lang="en-US"/>
          </a:p>
        </p:txBody>
      </p:sp>
      <p:sp>
        <p:nvSpPr>
          <p:cNvPr id="6" name="Footer Placeholder 5"/>
          <p:cNvSpPr>
            <a:spLocks noGrp="1"/>
          </p:cNvSpPr>
          <p:nvPr>
            <p:ph type="ftr" sz="quarter" idx="11"/>
          </p:nvPr>
        </p:nvSpPr>
        <p:spPr>
          <a:xfrm>
            <a:off x="3124200" y="6245225"/>
            <a:ext cx="2895600" cy="476250"/>
          </a:xfrm>
          <a:prstGeom prst="rect">
            <a:avLst/>
          </a:prstGeom>
        </p:spPr>
        <p:txBody>
          <a:bodyPr/>
          <a:lstStyle>
            <a:lvl1pPr>
              <a:defRPr>
                <a:ea typeface="+mn-ea"/>
                <a:cs typeface="Arial" charset="0"/>
              </a:defRPr>
            </a:lvl1pPr>
          </a:lstStyle>
          <a:p>
            <a:pPr>
              <a:defRPr/>
            </a:pPr>
            <a:endParaRPr lang="en-US"/>
          </a:p>
        </p:txBody>
      </p:sp>
      <p:sp>
        <p:nvSpPr>
          <p:cNvPr id="7" name="Slide Number Placeholder 6"/>
          <p:cNvSpPr>
            <a:spLocks noGrp="1"/>
          </p:cNvSpPr>
          <p:nvPr>
            <p:ph type="sldNum" sz="quarter" idx="12"/>
          </p:nvPr>
        </p:nvSpPr>
        <p:spPr>
          <a:xfrm>
            <a:off x="6553200" y="6245225"/>
            <a:ext cx="2133600" cy="476250"/>
          </a:xfrm>
          <a:prstGeom prst="rect">
            <a:avLst/>
          </a:prstGeom>
        </p:spPr>
        <p:txBody>
          <a:bodyPr vert="horz" wrap="square" lIns="91440" tIns="45720" rIns="91440" bIns="45720" numCol="1" anchor="t" anchorCtr="0" compatLnSpc="1">
            <a:prstTxWarp prst="textNoShape">
              <a:avLst/>
            </a:prstTxWarp>
          </a:bodyPr>
          <a:lstStyle>
            <a:lvl1pPr>
              <a:defRPr>
                <a:cs typeface="Arial" charset="0"/>
              </a:defRPr>
            </a:lvl1pPr>
          </a:lstStyle>
          <a:p>
            <a:pPr>
              <a:defRPr/>
            </a:pPr>
            <a:fld id="{0BFF51D8-B761-CF4F-9205-666B27D5CE44}" type="slidenum">
              <a:rPr lang="en-US"/>
              <a:pPr>
                <a:defRPr/>
              </a:pPr>
              <a:t>‹#›</a:t>
            </a:fld>
            <a:endParaRPr lang="en-US"/>
          </a:p>
        </p:txBody>
      </p:sp>
    </p:spTree>
    <p:extLst>
      <p:ext uri="{BB962C8B-B14F-4D97-AF65-F5344CB8AC3E}">
        <p14:creationId xmlns:p14="http://schemas.microsoft.com/office/powerpoint/2010/main" val="3372686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9"/>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245225"/>
            <a:ext cx="2133600" cy="476250"/>
          </a:xfrm>
          <a:prstGeom prst="rect">
            <a:avLst/>
          </a:prstGeom>
        </p:spPr>
        <p:txBody>
          <a:bodyPr/>
          <a:lstStyle>
            <a:lvl1pPr>
              <a:defRPr>
                <a:ea typeface="+mn-ea"/>
                <a:cs typeface="Arial" charset="0"/>
              </a:defRPr>
            </a:lvl1pPr>
          </a:lstStyle>
          <a:p>
            <a:pPr>
              <a:defRPr/>
            </a:pPr>
            <a:endParaRPr lang="en-US"/>
          </a:p>
        </p:txBody>
      </p:sp>
      <p:sp>
        <p:nvSpPr>
          <p:cNvPr id="6" name="Footer Placeholder 5"/>
          <p:cNvSpPr>
            <a:spLocks noGrp="1"/>
          </p:cNvSpPr>
          <p:nvPr>
            <p:ph type="ftr" sz="quarter" idx="11"/>
          </p:nvPr>
        </p:nvSpPr>
        <p:spPr>
          <a:xfrm>
            <a:off x="3124200" y="6245225"/>
            <a:ext cx="2895600" cy="476250"/>
          </a:xfrm>
          <a:prstGeom prst="rect">
            <a:avLst/>
          </a:prstGeom>
        </p:spPr>
        <p:txBody>
          <a:bodyPr/>
          <a:lstStyle>
            <a:lvl1pPr>
              <a:defRPr>
                <a:ea typeface="+mn-ea"/>
                <a:cs typeface="Arial" charset="0"/>
              </a:defRPr>
            </a:lvl1pPr>
          </a:lstStyle>
          <a:p>
            <a:pPr>
              <a:defRPr/>
            </a:pPr>
            <a:endParaRPr lang="en-US"/>
          </a:p>
        </p:txBody>
      </p:sp>
      <p:sp>
        <p:nvSpPr>
          <p:cNvPr id="7" name="Slide Number Placeholder 6"/>
          <p:cNvSpPr>
            <a:spLocks noGrp="1"/>
          </p:cNvSpPr>
          <p:nvPr>
            <p:ph type="sldNum" sz="quarter" idx="12"/>
          </p:nvPr>
        </p:nvSpPr>
        <p:spPr>
          <a:xfrm>
            <a:off x="6553200" y="6245225"/>
            <a:ext cx="2133600" cy="476250"/>
          </a:xfrm>
          <a:prstGeom prst="rect">
            <a:avLst/>
          </a:prstGeom>
        </p:spPr>
        <p:txBody>
          <a:bodyPr vert="horz" wrap="square" lIns="91440" tIns="45720" rIns="91440" bIns="45720" numCol="1" anchor="t" anchorCtr="0" compatLnSpc="1">
            <a:prstTxWarp prst="textNoShape">
              <a:avLst/>
            </a:prstTxWarp>
          </a:bodyPr>
          <a:lstStyle>
            <a:lvl1pPr>
              <a:defRPr>
                <a:cs typeface="Arial" charset="0"/>
              </a:defRPr>
            </a:lvl1pPr>
          </a:lstStyle>
          <a:p>
            <a:pPr>
              <a:defRPr/>
            </a:pPr>
            <a:fld id="{13126816-0B07-D846-818E-2A381A7A8D00}" type="slidenum">
              <a:rPr lang="en-US"/>
              <a:pPr>
                <a:defRPr/>
              </a:pPr>
              <a:t>‹#›</a:t>
            </a:fld>
            <a:endParaRPr lang="en-US"/>
          </a:p>
        </p:txBody>
      </p:sp>
    </p:spTree>
    <p:extLst>
      <p:ext uri="{BB962C8B-B14F-4D97-AF65-F5344CB8AC3E}">
        <p14:creationId xmlns:p14="http://schemas.microsoft.com/office/powerpoint/2010/main" val="3145413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245225"/>
            <a:ext cx="2133600" cy="476250"/>
          </a:xfrm>
          <a:prstGeom prst="rect">
            <a:avLst/>
          </a:prstGeom>
        </p:spPr>
        <p:txBody>
          <a:bodyPr/>
          <a:lstStyle>
            <a:lvl1pPr>
              <a:defRPr>
                <a:ea typeface="+mn-ea"/>
                <a:cs typeface="Arial" charset="0"/>
              </a:defRPr>
            </a:lvl1pPr>
          </a:lstStyle>
          <a:p>
            <a:pPr>
              <a:defRPr/>
            </a:pPr>
            <a:endParaRPr lang="en-US"/>
          </a:p>
        </p:txBody>
      </p:sp>
      <p:sp>
        <p:nvSpPr>
          <p:cNvPr id="5" name="Footer Placeholder 4"/>
          <p:cNvSpPr>
            <a:spLocks noGrp="1"/>
          </p:cNvSpPr>
          <p:nvPr>
            <p:ph type="ftr" sz="quarter" idx="11"/>
          </p:nvPr>
        </p:nvSpPr>
        <p:spPr>
          <a:xfrm>
            <a:off x="3124200" y="6245225"/>
            <a:ext cx="2895600" cy="476250"/>
          </a:xfrm>
          <a:prstGeom prst="rect">
            <a:avLst/>
          </a:prstGeom>
        </p:spPr>
        <p:txBody>
          <a:bodyPr/>
          <a:lstStyle>
            <a:lvl1pPr>
              <a:defRPr>
                <a:ea typeface="+mn-ea"/>
                <a:cs typeface="Arial" charset="0"/>
              </a:defRPr>
            </a:lvl1pPr>
          </a:lstStyle>
          <a:p>
            <a:pPr>
              <a:defRPr/>
            </a:pPr>
            <a:endParaRPr lang="en-US"/>
          </a:p>
        </p:txBody>
      </p:sp>
      <p:sp>
        <p:nvSpPr>
          <p:cNvPr id="6" name="Slide Number Placeholder 5"/>
          <p:cNvSpPr>
            <a:spLocks noGrp="1"/>
          </p:cNvSpPr>
          <p:nvPr>
            <p:ph type="sldNum" sz="quarter" idx="12"/>
          </p:nvPr>
        </p:nvSpPr>
        <p:spPr>
          <a:xfrm>
            <a:off x="6553200" y="6245225"/>
            <a:ext cx="2133600" cy="476250"/>
          </a:xfrm>
          <a:prstGeom prst="rect">
            <a:avLst/>
          </a:prstGeom>
        </p:spPr>
        <p:txBody>
          <a:bodyPr vert="horz" wrap="square" lIns="91440" tIns="45720" rIns="91440" bIns="45720" numCol="1" anchor="t" anchorCtr="0" compatLnSpc="1">
            <a:prstTxWarp prst="textNoShape">
              <a:avLst/>
            </a:prstTxWarp>
          </a:bodyPr>
          <a:lstStyle>
            <a:lvl1pPr>
              <a:defRPr>
                <a:cs typeface="Arial" charset="0"/>
              </a:defRPr>
            </a:lvl1pPr>
          </a:lstStyle>
          <a:p>
            <a:pPr>
              <a:defRPr/>
            </a:pPr>
            <a:fld id="{A5D0AB53-7F71-464D-B729-7E9058FC7039}" type="slidenum">
              <a:rPr lang="en-US"/>
              <a:pPr>
                <a:defRPr/>
              </a:pPr>
              <a:t>‹#›</a:t>
            </a:fld>
            <a:endParaRPr lang="en-US"/>
          </a:p>
        </p:txBody>
      </p:sp>
    </p:spTree>
    <p:extLst>
      <p:ext uri="{BB962C8B-B14F-4D97-AF65-F5344CB8AC3E}">
        <p14:creationId xmlns:p14="http://schemas.microsoft.com/office/powerpoint/2010/main" val="18660573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245225"/>
            <a:ext cx="2133600" cy="476250"/>
          </a:xfrm>
          <a:prstGeom prst="rect">
            <a:avLst/>
          </a:prstGeom>
        </p:spPr>
        <p:txBody>
          <a:bodyPr/>
          <a:lstStyle>
            <a:lvl1pPr>
              <a:defRPr>
                <a:ea typeface="+mn-ea"/>
                <a:cs typeface="Arial" charset="0"/>
              </a:defRPr>
            </a:lvl1pPr>
          </a:lstStyle>
          <a:p>
            <a:pPr>
              <a:defRPr/>
            </a:pPr>
            <a:endParaRPr lang="en-US"/>
          </a:p>
        </p:txBody>
      </p:sp>
      <p:sp>
        <p:nvSpPr>
          <p:cNvPr id="5" name="Footer Placeholder 4"/>
          <p:cNvSpPr>
            <a:spLocks noGrp="1"/>
          </p:cNvSpPr>
          <p:nvPr>
            <p:ph type="ftr" sz="quarter" idx="11"/>
          </p:nvPr>
        </p:nvSpPr>
        <p:spPr>
          <a:xfrm>
            <a:off x="3124200" y="6245225"/>
            <a:ext cx="2895600" cy="476250"/>
          </a:xfrm>
          <a:prstGeom prst="rect">
            <a:avLst/>
          </a:prstGeom>
        </p:spPr>
        <p:txBody>
          <a:bodyPr/>
          <a:lstStyle>
            <a:lvl1pPr>
              <a:defRPr>
                <a:ea typeface="+mn-ea"/>
                <a:cs typeface="Arial" charset="0"/>
              </a:defRPr>
            </a:lvl1pPr>
          </a:lstStyle>
          <a:p>
            <a:pPr>
              <a:defRPr/>
            </a:pPr>
            <a:endParaRPr lang="en-US"/>
          </a:p>
        </p:txBody>
      </p:sp>
      <p:sp>
        <p:nvSpPr>
          <p:cNvPr id="6" name="Slide Number Placeholder 5"/>
          <p:cNvSpPr>
            <a:spLocks noGrp="1"/>
          </p:cNvSpPr>
          <p:nvPr>
            <p:ph type="sldNum" sz="quarter" idx="12"/>
          </p:nvPr>
        </p:nvSpPr>
        <p:spPr>
          <a:xfrm>
            <a:off x="6553200" y="6245225"/>
            <a:ext cx="2133600" cy="476250"/>
          </a:xfrm>
          <a:prstGeom prst="rect">
            <a:avLst/>
          </a:prstGeom>
        </p:spPr>
        <p:txBody>
          <a:bodyPr vert="horz" wrap="square" lIns="91440" tIns="45720" rIns="91440" bIns="45720" numCol="1" anchor="t" anchorCtr="0" compatLnSpc="1">
            <a:prstTxWarp prst="textNoShape">
              <a:avLst/>
            </a:prstTxWarp>
          </a:bodyPr>
          <a:lstStyle>
            <a:lvl1pPr>
              <a:defRPr>
                <a:cs typeface="Arial" charset="0"/>
              </a:defRPr>
            </a:lvl1pPr>
          </a:lstStyle>
          <a:p>
            <a:pPr>
              <a:defRPr/>
            </a:pPr>
            <a:fld id="{05C3E321-7B86-3C4A-BEC8-CED041B157C4}" type="slidenum">
              <a:rPr lang="en-US"/>
              <a:pPr>
                <a:defRPr/>
              </a:pPr>
              <a:t>‹#›</a:t>
            </a:fld>
            <a:endParaRPr lang="en-US"/>
          </a:p>
        </p:txBody>
      </p:sp>
    </p:spTree>
    <p:extLst>
      <p:ext uri="{BB962C8B-B14F-4D97-AF65-F5344CB8AC3E}">
        <p14:creationId xmlns:p14="http://schemas.microsoft.com/office/powerpoint/2010/main" val="1809004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7"/>
          <p:cNvSpPr>
            <a:spLocks noChangeArrowheads="1"/>
          </p:cNvSpPr>
          <p:nvPr/>
        </p:nvSpPr>
        <p:spPr bwMode="auto">
          <a:xfrm>
            <a:off x="7010400" y="6553200"/>
            <a:ext cx="2133600" cy="3238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pPr algn="r"/>
            <a:fld id="{831ACDFA-0ED7-E84F-98BA-431AB5AE1280}" type="slidenum">
              <a:rPr lang="en-US" sz="1400">
                <a:solidFill>
                  <a:schemeClr val="bg2"/>
                </a:solidFill>
              </a:rPr>
              <a:pPr algn="r"/>
              <a:t>‹#›</a:t>
            </a:fld>
            <a:endParaRPr lang="en-US" sz="1400">
              <a:solidFill>
                <a:schemeClr val="bg2"/>
              </a:solidFill>
            </a:endParaRPr>
          </a:p>
        </p:txBody>
      </p:sp>
      <p:pic>
        <p:nvPicPr>
          <p:cNvPr id="1029" name="Picture 8"/>
          <p:cNvPicPr>
            <a:picLocks noChangeAspect="1" noChangeArrowheads="1"/>
          </p:cNvPicPr>
          <p:nvPr userDrawn="1"/>
        </p:nvPicPr>
        <p:blipFill>
          <a:blip r:embed="rId13" cstate="email">
            <a:lum bright="42000"/>
            <a:extLst>
              <a:ext uri="{28A0092B-C50C-407E-A947-70E740481C1C}">
                <a14:useLocalDpi xmlns:a14="http://schemas.microsoft.com/office/drawing/2010/main" val="0"/>
              </a:ext>
            </a:extLst>
          </a:blip>
          <a:srcRect/>
          <a:stretch>
            <a:fillRect/>
          </a:stretch>
        </p:blipFill>
        <p:spPr bwMode="auto">
          <a:xfrm>
            <a:off x="0" y="6475413"/>
            <a:ext cx="647700" cy="3825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33" r:id="rId1"/>
    <p:sldLayoutId id="2147484134" r:id="rId2"/>
    <p:sldLayoutId id="2147484135" r:id="rId3"/>
    <p:sldLayoutId id="2147484136" r:id="rId4"/>
    <p:sldLayoutId id="2147484137" r:id="rId5"/>
    <p:sldLayoutId id="2147484138" r:id="rId6"/>
    <p:sldLayoutId id="2147484139" r:id="rId7"/>
    <p:sldLayoutId id="2147484140" r:id="rId8"/>
    <p:sldLayoutId id="2147484141" r:id="rId9"/>
    <p:sldLayoutId id="2147484142" r:id="rId10"/>
    <p:sldLayoutId id="2147484143" r:id="rId11"/>
  </p:sldLayoutIdLst>
  <p:txStyles>
    <p:titleStyle>
      <a:lvl1pPr algn="ctr" rtl="0" eaLnBrk="0" fontAlgn="base" hangingPunct="0">
        <a:spcBef>
          <a:spcPct val="0"/>
        </a:spcBef>
        <a:spcAft>
          <a:spcPct val="0"/>
        </a:spcAft>
        <a:defRPr sz="4400">
          <a:solidFill>
            <a:srgbClr val="0000CC"/>
          </a:solidFill>
          <a:latin typeface="+mj-lt"/>
          <a:ea typeface="ＭＳ Ｐゴシック" charset="0"/>
          <a:cs typeface="+mj-cs"/>
        </a:defRPr>
      </a:lvl1pPr>
      <a:lvl2pPr algn="ctr" rtl="0" eaLnBrk="0" fontAlgn="base" hangingPunct="0">
        <a:spcBef>
          <a:spcPct val="0"/>
        </a:spcBef>
        <a:spcAft>
          <a:spcPct val="0"/>
        </a:spcAft>
        <a:defRPr sz="4400">
          <a:solidFill>
            <a:srgbClr val="0000CC"/>
          </a:solidFill>
          <a:latin typeface="Arial" charset="0"/>
          <a:ea typeface="ＭＳ Ｐゴシック" charset="0"/>
          <a:cs typeface="Arial" charset="0"/>
        </a:defRPr>
      </a:lvl2pPr>
      <a:lvl3pPr algn="ctr" rtl="0" eaLnBrk="0" fontAlgn="base" hangingPunct="0">
        <a:spcBef>
          <a:spcPct val="0"/>
        </a:spcBef>
        <a:spcAft>
          <a:spcPct val="0"/>
        </a:spcAft>
        <a:defRPr sz="4400">
          <a:solidFill>
            <a:srgbClr val="0000CC"/>
          </a:solidFill>
          <a:latin typeface="Arial" charset="0"/>
          <a:ea typeface="ＭＳ Ｐゴシック" charset="0"/>
          <a:cs typeface="Arial" charset="0"/>
        </a:defRPr>
      </a:lvl3pPr>
      <a:lvl4pPr algn="ctr" rtl="0" eaLnBrk="0" fontAlgn="base" hangingPunct="0">
        <a:spcBef>
          <a:spcPct val="0"/>
        </a:spcBef>
        <a:spcAft>
          <a:spcPct val="0"/>
        </a:spcAft>
        <a:defRPr sz="4400">
          <a:solidFill>
            <a:srgbClr val="0000CC"/>
          </a:solidFill>
          <a:latin typeface="Arial" charset="0"/>
          <a:ea typeface="ＭＳ Ｐゴシック" charset="0"/>
          <a:cs typeface="Arial" charset="0"/>
        </a:defRPr>
      </a:lvl4pPr>
      <a:lvl5pPr algn="ctr" rtl="0" eaLnBrk="0" fontAlgn="base" hangingPunct="0">
        <a:spcBef>
          <a:spcPct val="0"/>
        </a:spcBef>
        <a:spcAft>
          <a:spcPct val="0"/>
        </a:spcAft>
        <a:defRPr sz="4400">
          <a:solidFill>
            <a:srgbClr val="0000CC"/>
          </a:solidFill>
          <a:latin typeface="Arial" charset="0"/>
          <a:ea typeface="ＭＳ Ｐゴシック" charset="0"/>
          <a:cs typeface="Arial" charset="0"/>
        </a:defRPr>
      </a:lvl5pPr>
      <a:lvl6pPr marL="457200" algn="ctr" rtl="0" fontAlgn="base">
        <a:spcBef>
          <a:spcPct val="0"/>
        </a:spcBef>
        <a:spcAft>
          <a:spcPct val="0"/>
        </a:spcAft>
        <a:defRPr sz="4400">
          <a:solidFill>
            <a:schemeClr val="tx2"/>
          </a:solidFill>
          <a:latin typeface="Arial" charset="0"/>
          <a:cs typeface="Arial" charset="0"/>
        </a:defRPr>
      </a:lvl6pPr>
      <a:lvl7pPr marL="914400" algn="ctr" rtl="0" fontAlgn="base">
        <a:spcBef>
          <a:spcPct val="0"/>
        </a:spcBef>
        <a:spcAft>
          <a:spcPct val="0"/>
        </a:spcAft>
        <a:defRPr sz="4400">
          <a:solidFill>
            <a:schemeClr val="tx2"/>
          </a:solidFill>
          <a:latin typeface="Arial" charset="0"/>
          <a:cs typeface="Arial" charset="0"/>
        </a:defRPr>
      </a:lvl7pPr>
      <a:lvl8pPr marL="1371600" algn="ctr" rtl="0" fontAlgn="base">
        <a:spcBef>
          <a:spcPct val="0"/>
        </a:spcBef>
        <a:spcAft>
          <a:spcPct val="0"/>
        </a:spcAft>
        <a:defRPr sz="4400">
          <a:solidFill>
            <a:schemeClr val="tx2"/>
          </a:solidFill>
          <a:latin typeface="Arial" charset="0"/>
          <a:cs typeface="Arial" charset="0"/>
        </a:defRPr>
      </a:lvl8pPr>
      <a:lvl9pPr marL="1828800" algn="ctr" rtl="0" fontAlgn="base">
        <a:spcBef>
          <a:spcPct val="0"/>
        </a:spcBef>
        <a:spcAft>
          <a:spcPct val="0"/>
        </a:spcAft>
        <a:defRPr sz="4400">
          <a:solidFill>
            <a:schemeClr val="tx2"/>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Char char="–"/>
        <a:defRPr sz="2800">
          <a:solidFill>
            <a:schemeClr val="tx1"/>
          </a:solidFill>
          <a:latin typeface="+mn-lt"/>
          <a:ea typeface="Arial" charset="0"/>
          <a:cs typeface="+mn-cs"/>
        </a:defRPr>
      </a:lvl2pPr>
      <a:lvl3pPr marL="1143000" indent="-228600" algn="l" rtl="0" eaLnBrk="0" fontAlgn="base" hangingPunct="0">
        <a:spcBef>
          <a:spcPct val="20000"/>
        </a:spcBef>
        <a:spcAft>
          <a:spcPct val="0"/>
        </a:spcAft>
        <a:buChar char="•"/>
        <a:defRPr sz="2400">
          <a:solidFill>
            <a:schemeClr val="tx1"/>
          </a:solidFill>
          <a:latin typeface="+mn-lt"/>
          <a:ea typeface="Arial" charset="0"/>
          <a:cs typeface="+mn-cs"/>
        </a:defRPr>
      </a:lvl3pPr>
      <a:lvl4pPr marL="1600200" indent="-228600" algn="l" rtl="0" eaLnBrk="0" fontAlgn="base" hangingPunct="0">
        <a:spcBef>
          <a:spcPct val="20000"/>
        </a:spcBef>
        <a:spcAft>
          <a:spcPct val="0"/>
        </a:spcAft>
        <a:buChar char="–"/>
        <a:defRPr sz="2000">
          <a:solidFill>
            <a:schemeClr val="tx1"/>
          </a:solidFill>
          <a:latin typeface="+mn-lt"/>
          <a:ea typeface="Arial" charset="0"/>
          <a:cs typeface="+mn-cs"/>
        </a:defRPr>
      </a:lvl4pPr>
      <a:lvl5pPr marL="2057400" indent="-228600" algn="l" rtl="0" eaLnBrk="0" fontAlgn="base" hangingPunct="0">
        <a:spcBef>
          <a:spcPct val="20000"/>
        </a:spcBef>
        <a:spcAft>
          <a:spcPct val="0"/>
        </a:spcAft>
        <a:buChar char="»"/>
        <a:defRPr sz="2000">
          <a:solidFill>
            <a:schemeClr val="tx1"/>
          </a:solidFill>
          <a:latin typeface="+mn-lt"/>
          <a:ea typeface="Arial" charset="0"/>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3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3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image" Target="../media/image33.png"/></Relationships>
</file>

<file path=ppt/slides/_rels/slide4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Title 1"/>
          <p:cNvSpPr>
            <a:spLocks noGrp="1"/>
          </p:cNvSpPr>
          <p:nvPr>
            <p:ph type="title"/>
          </p:nvPr>
        </p:nvSpPr>
        <p:spPr>
          <a:xfrm>
            <a:off x="457200" y="2590800"/>
            <a:ext cx="8229600" cy="1143000"/>
          </a:xfrm>
        </p:spPr>
        <p:txBody>
          <a:bodyPr/>
          <a:lstStyle/>
          <a:p>
            <a:r>
              <a:rPr lang="en-US">
                <a:latin typeface="Arial" charset="0"/>
              </a:rPr>
              <a:t>Deadlocks</a:t>
            </a:r>
          </a:p>
        </p:txBody>
      </p:sp>
      <p:sp>
        <p:nvSpPr>
          <p:cNvPr id="2" name="TextBox 1"/>
          <p:cNvSpPr txBox="1"/>
          <p:nvPr/>
        </p:nvSpPr>
        <p:spPr>
          <a:xfrm>
            <a:off x="-361462" y="3829538"/>
            <a:ext cx="184666" cy="369332"/>
          </a:xfrm>
          <a:prstGeom prst="rect">
            <a:avLst/>
          </a:prstGeom>
          <a:noFill/>
        </p:spPr>
        <p:txBody>
          <a:bodyPr wrap="none" rtlCol="0">
            <a:spAutoFit/>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Summary of what we discussed</a:t>
            </a:r>
            <a:endParaRPr lang="en-IN" dirty="0"/>
          </a:p>
        </p:txBody>
      </p:sp>
      <p:sp>
        <p:nvSpPr>
          <p:cNvPr id="3" name="Content Placeholder 2"/>
          <p:cNvSpPr>
            <a:spLocks noGrp="1"/>
          </p:cNvSpPr>
          <p:nvPr>
            <p:ph idx="1"/>
          </p:nvPr>
        </p:nvSpPr>
        <p:spPr>
          <a:xfrm>
            <a:off x="457200" y="1415541"/>
            <a:ext cx="8229600" cy="4525963"/>
          </a:xfrm>
        </p:spPr>
        <p:txBody>
          <a:bodyPr/>
          <a:lstStyle/>
          <a:p>
            <a:r>
              <a:rPr lang="en-IN" sz="2400" dirty="0" smtClean="0"/>
              <a:t>Deadlocks can happen in a system with at least 2 processes (or threads) and at least 2 resource types (R1, R2)</a:t>
            </a:r>
          </a:p>
          <a:p>
            <a:endParaRPr lang="en-IN" sz="2400" dirty="0"/>
          </a:p>
          <a:p>
            <a:r>
              <a:rPr lang="en-IN" sz="2400" dirty="0" smtClean="0"/>
              <a:t>If we have a single instance of each resource, a cycle in the resource allocation graph is necessary and sufficient to conclude a deadlock</a:t>
            </a:r>
          </a:p>
          <a:p>
            <a:endParaRPr lang="en-IN" sz="2400" dirty="0"/>
          </a:p>
          <a:p>
            <a:r>
              <a:rPr lang="en-IN" sz="2400" dirty="0" smtClean="0"/>
              <a:t>If we have multiple instances of resources, a cycle in the resource allocation graph is a necessary condition but not sufficient – deadlock may or may not occur</a:t>
            </a:r>
          </a:p>
          <a:p>
            <a:pPr lvl="1"/>
            <a:r>
              <a:rPr lang="en-IN" sz="2000" dirty="0" smtClean="0"/>
              <a:t>Studied a different method for deadlock detection for such situations</a:t>
            </a:r>
            <a:endParaRPr lang="en-IN" sz="2000" dirty="0"/>
          </a:p>
        </p:txBody>
      </p:sp>
    </p:spTree>
    <p:extLst>
      <p:ext uri="{BB962C8B-B14F-4D97-AF65-F5344CB8AC3E}">
        <p14:creationId xmlns:p14="http://schemas.microsoft.com/office/powerpoint/2010/main" val="26015605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033463" y="273050"/>
            <a:ext cx="8378825" cy="469900"/>
          </a:xfrm>
        </p:spPr>
        <p:txBody>
          <a:bodyPr/>
          <a:lstStyle/>
          <a:p>
            <a:pPr eaLnBrk="1" hangingPunct="1"/>
            <a:r>
              <a:rPr lang="en-US" altLang="en-US" sz="2800" smtClean="0"/>
              <a:t>Resource Allocation Graph With A Deadlock</a:t>
            </a:r>
          </a:p>
        </p:txBody>
      </p:sp>
      <p:pic>
        <p:nvPicPr>
          <p:cNvPr id="19459" name="Picture 7"/>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013075" y="1212850"/>
            <a:ext cx="2781300" cy="409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537063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715168" y="304800"/>
            <a:ext cx="7954963" cy="457200"/>
          </a:xfrm>
        </p:spPr>
        <p:txBody>
          <a:bodyPr/>
          <a:lstStyle/>
          <a:p>
            <a:pPr eaLnBrk="1" hangingPunct="1"/>
            <a:r>
              <a:rPr lang="en-US" altLang="en-US" sz="3600" dirty="0" smtClean="0"/>
              <a:t>Graph With A Cycle But No Deadlock</a:t>
            </a:r>
          </a:p>
        </p:txBody>
      </p:sp>
      <p:pic>
        <p:nvPicPr>
          <p:cNvPr id="21507" name="Picture 4" descr="7"/>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216275" y="1208088"/>
            <a:ext cx="2952750" cy="3767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2132570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itle 1"/>
          <p:cNvSpPr>
            <a:spLocks noGrp="1"/>
          </p:cNvSpPr>
          <p:nvPr>
            <p:ph type="title"/>
          </p:nvPr>
        </p:nvSpPr>
        <p:spPr/>
        <p:txBody>
          <a:bodyPr/>
          <a:lstStyle/>
          <a:p>
            <a:r>
              <a:rPr lang="en-US">
                <a:latin typeface="Arial" charset="0"/>
              </a:rPr>
              <a:t>Conditions for Resource Deadlocks</a:t>
            </a:r>
          </a:p>
        </p:txBody>
      </p:sp>
      <p:sp>
        <p:nvSpPr>
          <p:cNvPr id="110594" name="Content Placeholder 2"/>
          <p:cNvSpPr>
            <a:spLocks noGrp="1"/>
          </p:cNvSpPr>
          <p:nvPr>
            <p:ph idx="1"/>
          </p:nvPr>
        </p:nvSpPr>
        <p:spPr/>
        <p:txBody>
          <a:bodyPr/>
          <a:lstStyle/>
          <a:p>
            <a:pPr marL="571500" indent="-514350">
              <a:buFontTx/>
              <a:buAutoNum type="arabicPeriod"/>
            </a:pPr>
            <a:r>
              <a:rPr lang="en-US" sz="2000" b="1">
                <a:solidFill>
                  <a:srgbClr val="0066FF"/>
                </a:solidFill>
                <a:latin typeface="Arial" charset="0"/>
              </a:rPr>
              <a:t>Mutual Exclusion </a:t>
            </a:r>
          </a:p>
          <a:p>
            <a:pPr marL="971550" lvl="1" indent="-514350"/>
            <a:r>
              <a:rPr lang="en-US" sz="1800">
                <a:latin typeface="Arial" charset="0"/>
                <a:cs typeface="Arial" charset="0"/>
              </a:rPr>
              <a:t>Each resource is either available or currently assigned to exactly one process</a:t>
            </a:r>
          </a:p>
          <a:p>
            <a:pPr marL="571500" indent="-514350">
              <a:buFontTx/>
              <a:buAutoNum type="arabicPeriod"/>
            </a:pPr>
            <a:r>
              <a:rPr lang="en-US" sz="2000" b="1">
                <a:solidFill>
                  <a:srgbClr val="0066FF"/>
                </a:solidFill>
                <a:latin typeface="Arial" charset="0"/>
              </a:rPr>
              <a:t>Hold and wait</a:t>
            </a:r>
          </a:p>
          <a:p>
            <a:pPr marL="971550" lvl="1" indent="-514350"/>
            <a:r>
              <a:rPr lang="en-US" sz="1800">
                <a:latin typeface="Arial" charset="0"/>
                <a:cs typeface="Arial" charset="0"/>
              </a:rPr>
              <a:t>A process holding a resource, can request another resource</a:t>
            </a:r>
          </a:p>
          <a:p>
            <a:pPr marL="571500" indent="-514350">
              <a:buFontTx/>
              <a:buAutoNum type="arabicPeriod"/>
            </a:pPr>
            <a:r>
              <a:rPr lang="en-US" sz="2000" b="1">
                <a:solidFill>
                  <a:srgbClr val="0066FF"/>
                </a:solidFill>
                <a:latin typeface="Arial" charset="0"/>
              </a:rPr>
              <a:t>No preemption</a:t>
            </a:r>
          </a:p>
          <a:p>
            <a:pPr marL="971550" lvl="1" indent="-514350"/>
            <a:r>
              <a:rPr lang="en-US" sz="1800">
                <a:latin typeface="Arial" charset="0"/>
                <a:cs typeface="Arial" charset="0"/>
              </a:rPr>
              <a:t>Resources previously granted cannot be forcibly taken away from a process</a:t>
            </a:r>
          </a:p>
          <a:p>
            <a:pPr marL="571500" indent="-514350">
              <a:buFontTx/>
              <a:buAutoNum type="arabicPeriod"/>
            </a:pPr>
            <a:r>
              <a:rPr lang="en-US" sz="2000" b="1">
                <a:solidFill>
                  <a:srgbClr val="0066FF"/>
                </a:solidFill>
                <a:latin typeface="Arial" charset="0"/>
              </a:rPr>
              <a:t>Circular wait</a:t>
            </a:r>
          </a:p>
          <a:p>
            <a:pPr marL="971550" lvl="1" indent="-514350"/>
            <a:r>
              <a:rPr lang="en-US" sz="1800">
                <a:latin typeface="Arial" charset="0"/>
                <a:cs typeface="Arial" charset="0"/>
              </a:rPr>
              <a:t>There must be a circular chain of two or more processes, each of which is waiting for a resouce held by the next member of the chain</a:t>
            </a:r>
          </a:p>
        </p:txBody>
      </p:sp>
      <p:sp>
        <p:nvSpPr>
          <p:cNvPr id="4" name="Rounded Rectangle 3"/>
          <p:cNvSpPr/>
          <p:nvPr/>
        </p:nvSpPr>
        <p:spPr>
          <a:xfrm>
            <a:off x="990600" y="5638800"/>
            <a:ext cx="7239000" cy="838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0066FF"/>
                </a:solidFill>
              </a:rPr>
              <a:t>All four of these conditions must be present for a resource deadlock to occur!!</a:t>
            </a:r>
          </a:p>
        </p:txBody>
      </p:sp>
    </p:spTree>
    <p:extLst>
      <p:ext uri="{BB962C8B-B14F-4D97-AF65-F5344CB8AC3E}">
        <p14:creationId xmlns:p14="http://schemas.microsoft.com/office/powerpoint/2010/main" val="5620213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Title 1"/>
          <p:cNvSpPr>
            <a:spLocks noGrp="1"/>
          </p:cNvSpPr>
          <p:nvPr>
            <p:ph type="title"/>
          </p:nvPr>
        </p:nvSpPr>
        <p:spPr/>
        <p:txBody>
          <a:bodyPr/>
          <a:lstStyle/>
          <a:p>
            <a:r>
              <a:rPr lang="en-US" dirty="0">
                <a:latin typeface="Arial" charset="0"/>
              </a:rPr>
              <a:t>Handling Deadlocks</a:t>
            </a:r>
          </a:p>
        </p:txBody>
      </p:sp>
      <p:sp>
        <p:nvSpPr>
          <p:cNvPr id="114690" name="Content Placeholder 2"/>
          <p:cNvSpPr>
            <a:spLocks noGrp="1"/>
          </p:cNvSpPr>
          <p:nvPr>
            <p:ph idx="1"/>
          </p:nvPr>
        </p:nvSpPr>
        <p:spPr/>
        <p:txBody>
          <a:bodyPr/>
          <a:lstStyle/>
          <a:p>
            <a:r>
              <a:rPr lang="en-US" dirty="0">
                <a:latin typeface="Arial" charset="0"/>
              </a:rPr>
              <a:t>Detection and </a:t>
            </a:r>
            <a:r>
              <a:rPr lang="en-US" dirty="0" smtClean="0">
                <a:latin typeface="Arial" charset="0"/>
              </a:rPr>
              <a:t>Recovery</a:t>
            </a:r>
          </a:p>
          <a:p>
            <a:endParaRPr lang="en-US" dirty="0">
              <a:latin typeface="Arial" charset="0"/>
            </a:endParaRPr>
          </a:p>
          <a:p>
            <a:r>
              <a:rPr lang="en-US" dirty="0" smtClean="0">
                <a:latin typeface="Arial" charset="0"/>
              </a:rPr>
              <a:t>Prevention </a:t>
            </a:r>
            <a:r>
              <a:rPr lang="en-US" dirty="0" smtClean="0">
                <a:latin typeface="Arial" charset="0"/>
                <a:sym typeface="Wingdings" panose="05000000000000000000" pitchFamily="2" charset="2"/>
              </a:rPr>
              <a:t> </a:t>
            </a:r>
            <a:r>
              <a:rPr lang="en-US" sz="2400" i="1" dirty="0" smtClean="0">
                <a:solidFill>
                  <a:srgbClr val="FF0000"/>
                </a:solidFill>
                <a:effectLst>
                  <a:outerShdw blurRad="38100" dist="38100" dir="2700000" algn="tl">
                    <a:srgbClr val="000000">
                      <a:alpha val="43137"/>
                    </a:srgbClr>
                  </a:outerShdw>
                </a:effectLst>
                <a:latin typeface="Arial" charset="0"/>
                <a:sym typeface="Wingdings" panose="05000000000000000000" pitchFamily="2" charset="2"/>
              </a:rPr>
              <a:t>Restrict satisfaction of at least one of the 4 necessary conditions</a:t>
            </a:r>
            <a:endParaRPr lang="en-US" i="1" dirty="0" smtClean="0">
              <a:solidFill>
                <a:srgbClr val="FF0000"/>
              </a:solidFill>
              <a:effectLst>
                <a:outerShdw blurRad="38100" dist="38100" dir="2700000" algn="tl">
                  <a:srgbClr val="000000">
                    <a:alpha val="43137"/>
                  </a:srgbClr>
                </a:outerShdw>
              </a:effectLst>
              <a:latin typeface="Arial" charset="0"/>
            </a:endParaRPr>
          </a:p>
          <a:p>
            <a:endParaRPr lang="en-US" dirty="0" smtClean="0">
              <a:latin typeface="Arial" charset="0"/>
            </a:endParaRPr>
          </a:p>
          <a:p>
            <a:r>
              <a:rPr lang="en-US" u="sng" dirty="0">
                <a:latin typeface="Arial" charset="0"/>
              </a:rPr>
              <a:t>Avoidance</a:t>
            </a:r>
          </a:p>
          <a:p>
            <a:endParaRPr lang="en-US" dirty="0">
              <a:latin typeface="Arial" charset="0"/>
            </a:endParaRPr>
          </a:p>
        </p:txBody>
      </p:sp>
      <p:cxnSp>
        <p:nvCxnSpPr>
          <p:cNvPr id="3" name="Straight Arrow Connector 2"/>
          <p:cNvCxnSpPr/>
          <p:nvPr/>
        </p:nvCxnSpPr>
        <p:spPr>
          <a:xfrm flipV="1">
            <a:off x="5410200" y="1600200"/>
            <a:ext cx="762000" cy="304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a:off x="5410200" y="1905000"/>
            <a:ext cx="762000" cy="304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6209250" y="1447800"/>
            <a:ext cx="2020349"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FF0000"/>
                </a:solidFill>
              </a:rPr>
              <a:t>Cycle in RAG</a:t>
            </a:r>
            <a:endParaRPr lang="en-IN" dirty="0">
              <a:solidFill>
                <a:srgbClr val="FF0000"/>
              </a:solidFill>
            </a:endParaRPr>
          </a:p>
        </p:txBody>
      </p:sp>
      <p:sp>
        <p:nvSpPr>
          <p:cNvPr id="9" name="Rectangle 8"/>
          <p:cNvSpPr/>
          <p:nvPr/>
        </p:nvSpPr>
        <p:spPr>
          <a:xfrm>
            <a:off x="6209250" y="2057400"/>
            <a:ext cx="2020349"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FF0000"/>
                </a:solidFill>
              </a:rPr>
              <a:t>Matrix-based</a:t>
            </a:r>
            <a:endParaRPr lang="en-IN" dirty="0">
              <a:solidFill>
                <a:srgbClr val="FF0000"/>
              </a:solidFill>
            </a:endParaRPr>
          </a:p>
        </p:txBody>
      </p:sp>
    </p:spTree>
    <p:extLst>
      <p:ext uri="{BB962C8B-B14F-4D97-AF65-F5344CB8AC3E}">
        <p14:creationId xmlns:p14="http://schemas.microsoft.com/office/powerpoint/2010/main" val="2711970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469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14690">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1469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Deadlock Avoidance</a:t>
            </a:r>
          </a:p>
        </p:txBody>
      </p:sp>
      <p:sp>
        <p:nvSpPr>
          <p:cNvPr id="3" name="Content Placeholder 2"/>
          <p:cNvSpPr>
            <a:spLocks noGrp="1"/>
          </p:cNvSpPr>
          <p:nvPr>
            <p:ph idx="1"/>
          </p:nvPr>
        </p:nvSpPr>
        <p:spPr/>
        <p:txBody>
          <a:bodyPr/>
          <a:lstStyle/>
          <a:p>
            <a:r>
              <a:rPr lang="en-US" sz="2800" dirty="0"/>
              <a:t>System decides in advance if allocating a resource to a process will lead </a:t>
            </a:r>
            <a:r>
              <a:rPr lang="en-US" sz="2800" dirty="0" smtClean="0"/>
              <a:t>to </a:t>
            </a:r>
            <a:r>
              <a:rPr lang="en-IN" sz="2800" dirty="0" smtClean="0"/>
              <a:t>a </a:t>
            </a:r>
            <a:r>
              <a:rPr lang="en-IN" sz="2800" dirty="0"/>
              <a:t>deadlock</a:t>
            </a:r>
          </a:p>
        </p:txBody>
      </p:sp>
      <p:pic>
        <p:nvPicPr>
          <p:cNvPr id="4" name="Picture 3"/>
          <p:cNvPicPr>
            <a:picLocks noChangeAspect="1"/>
          </p:cNvPicPr>
          <p:nvPr/>
        </p:nvPicPr>
        <p:blipFill>
          <a:blip r:embed="rId2"/>
          <a:stretch>
            <a:fillRect/>
          </a:stretch>
        </p:blipFill>
        <p:spPr>
          <a:xfrm>
            <a:off x="533400" y="2819400"/>
            <a:ext cx="7716327" cy="3905795"/>
          </a:xfrm>
          <a:prstGeom prst="rect">
            <a:avLst/>
          </a:prstGeom>
        </p:spPr>
      </p:pic>
    </p:spTree>
    <p:extLst>
      <p:ext uri="{BB962C8B-B14F-4D97-AF65-F5344CB8AC3E}">
        <p14:creationId xmlns:p14="http://schemas.microsoft.com/office/powerpoint/2010/main" val="85286832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Deadlock Avoidance</a:t>
            </a:r>
            <a:endParaRPr lang="en-IN" dirty="0"/>
          </a:p>
        </p:txBody>
      </p:sp>
      <p:sp>
        <p:nvSpPr>
          <p:cNvPr id="3" name="Content Placeholder 2"/>
          <p:cNvSpPr>
            <a:spLocks noGrp="1"/>
          </p:cNvSpPr>
          <p:nvPr>
            <p:ph idx="1"/>
          </p:nvPr>
        </p:nvSpPr>
        <p:spPr>
          <a:xfrm>
            <a:off x="458244" y="1295400"/>
            <a:ext cx="8229600" cy="4525963"/>
          </a:xfrm>
        </p:spPr>
        <p:txBody>
          <a:bodyPr/>
          <a:lstStyle/>
          <a:p>
            <a:r>
              <a:rPr lang="en-IN" sz="2800" dirty="0" smtClean="0"/>
              <a:t>State Matrix for two processes</a:t>
            </a:r>
            <a:endParaRPr lang="en-IN" sz="2800" dirty="0"/>
          </a:p>
        </p:txBody>
      </p:sp>
      <p:pic>
        <p:nvPicPr>
          <p:cNvPr id="4" name="Picture 3"/>
          <p:cNvPicPr>
            <a:picLocks noChangeAspect="1"/>
          </p:cNvPicPr>
          <p:nvPr/>
        </p:nvPicPr>
        <p:blipFill>
          <a:blip r:embed="rId2"/>
          <a:stretch>
            <a:fillRect/>
          </a:stretch>
        </p:blipFill>
        <p:spPr>
          <a:xfrm>
            <a:off x="870535" y="2133600"/>
            <a:ext cx="7816265" cy="3491107"/>
          </a:xfrm>
          <a:prstGeom prst="rect">
            <a:avLst/>
          </a:prstGeom>
        </p:spPr>
      </p:pic>
      <p:sp>
        <p:nvSpPr>
          <p:cNvPr id="5" name="Rectangle 4"/>
          <p:cNvSpPr/>
          <p:nvPr/>
        </p:nvSpPr>
        <p:spPr>
          <a:xfrm>
            <a:off x="152400" y="5211763"/>
            <a:ext cx="29718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smtClean="0">
                <a:solidFill>
                  <a:srgbClr val="FF0000"/>
                </a:solidFill>
              </a:rPr>
              <a:t>Unsafe state is not a deadlock state </a:t>
            </a:r>
            <a:endParaRPr lang="en-IN" dirty="0">
              <a:solidFill>
                <a:srgbClr val="FF0000"/>
              </a:solidFill>
            </a:endParaRPr>
          </a:p>
        </p:txBody>
      </p:sp>
    </p:spTree>
    <p:extLst>
      <p:ext uri="{BB962C8B-B14F-4D97-AF65-F5344CB8AC3E}">
        <p14:creationId xmlns:p14="http://schemas.microsoft.com/office/powerpoint/2010/main" val="18827522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Deadlock Avoidance</a:t>
            </a:r>
            <a:endParaRPr lang="en-IN" dirty="0"/>
          </a:p>
        </p:txBody>
      </p:sp>
      <p:sp>
        <p:nvSpPr>
          <p:cNvPr id="3" name="Content Placeholder 2"/>
          <p:cNvSpPr>
            <a:spLocks noGrp="1"/>
          </p:cNvSpPr>
          <p:nvPr>
            <p:ph idx="1"/>
          </p:nvPr>
        </p:nvSpPr>
        <p:spPr>
          <a:xfrm>
            <a:off x="457200" y="1295400"/>
            <a:ext cx="8229600" cy="4525963"/>
          </a:xfrm>
        </p:spPr>
        <p:txBody>
          <a:bodyPr/>
          <a:lstStyle/>
          <a:p>
            <a:r>
              <a:rPr lang="en-IN" sz="2400" dirty="0" smtClean="0"/>
              <a:t>State matrix for two processes</a:t>
            </a:r>
            <a:endParaRPr lang="en-IN" sz="2400" dirty="0"/>
          </a:p>
        </p:txBody>
      </p:sp>
      <p:pic>
        <p:nvPicPr>
          <p:cNvPr id="4" name="Picture 3"/>
          <p:cNvPicPr>
            <a:picLocks noChangeAspect="1"/>
          </p:cNvPicPr>
          <p:nvPr/>
        </p:nvPicPr>
        <p:blipFill>
          <a:blip r:embed="rId2"/>
          <a:stretch>
            <a:fillRect/>
          </a:stretch>
        </p:blipFill>
        <p:spPr>
          <a:xfrm>
            <a:off x="239066" y="1981200"/>
            <a:ext cx="8665868" cy="4343400"/>
          </a:xfrm>
          <a:prstGeom prst="rect">
            <a:avLst/>
          </a:prstGeom>
        </p:spPr>
      </p:pic>
    </p:spTree>
    <p:extLst>
      <p:ext uri="{BB962C8B-B14F-4D97-AF65-F5344CB8AC3E}">
        <p14:creationId xmlns:p14="http://schemas.microsoft.com/office/powerpoint/2010/main" val="263336720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Title 1"/>
          <p:cNvSpPr>
            <a:spLocks noGrp="1"/>
          </p:cNvSpPr>
          <p:nvPr>
            <p:ph type="title"/>
          </p:nvPr>
        </p:nvSpPr>
        <p:spPr/>
        <p:txBody>
          <a:bodyPr/>
          <a:lstStyle/>
          <a:p>
            <a:r>
              <a:rPr lang="en-US" dirty="0">
                <a:latin typeface="Arial" charset="0"/>
              </a:rPr>
              <a:t>Deadlock Avoidance</a:t>
            </a:r>
          </a:p>
        </p:txBody>
      </p:sp>
      <p:sp>
        <p:nvSpPr>
          <p:cNvPr id="122882" name="Content Placeholder 2"/>
          <p:cNvSpPr>
            <a:spLocks noGrp="1"/>
          </p:cNvSpPr>
          <p:nvPr>
            <p:ph idx="1"/>
          </p:nvPr>
        </p:nvSpPr>
        <p:spPr/>
        <p:txBody>
          <a:bodyPr/>
          <a:lstStyle/>
          <a:p>
            <a:r>
              <a:rPr lang="en-US" sz="2400">
                <a:latin typeface="Arial" charset="0"/>
              </a:rPr>
              <a:t>System decides in advance if allocating a resource to a process will lead to a deadlock</a:t>
            </a:r>
          </a:p>
        </p:txBody>
      </p:sp>
      <p:graphicFrame>
        <p:nvGraphicFramePr>
          <p:cNvPr id="7" name="Table 6"/>
          <p:cNvGraphicFramePr>
            <a:graphicFrameLocks noGrp="1"/>
          </p:cNvGraphicFramePr>
          <p:nvPr/>
        </p:nvGraphicFramePr>
        <p:xfrm>
          <a:off x="2819400" y="2743200"/>
          <a:ext cx="3657600" cy="3048000"/>
        </p:xfrm>
        <a:graphic>
          <a:graphicData uri="http://schemas.openxmlformats.org/drawingml/2006/table">
            <a:tbl>
              <a:tblPr firstRow="1" bandRow="1">
                <a:tableStyleId>{F2DE63D5-997A-4646-A377-4702673A728D}</a:tableStyleId>
              </a:tblPr>
              <a:tblGrid>
                <a:gridCol w="457200">
                  <a:extLst>
                    <a:ext uri="{9D8B030D-6E8A-4147-A177-3AD203B41FA5}">
                      <a16:colId xmlns:a16="http://schemas.microsoft.com/office/drawing/2014/main" val="20000"/>
                    </a:ext>
                  </a:extLst>
                </a:gridCol>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gridCol w="457200">
                  <a:extLst>
                    <a:ext uri="{9D8B030D-6E8A-4147-A177-3AD203B41FA5}">
                      <a16:colId xmlns:a16="http://schemas.microsoft.com/office/drawing/2014/main" val="20006"/>
                    </a:ext>
                  </a:extLst>
                </a:gridCol>
                <a:gridCol w="457200">
                  <a:extLst>
                    <a:ext uri="{9D8B030D-6E8A-4147-A177-3AD203B41FA5}">
                      <a16:colId xmlns:a16="http://schemas.microsoft.com/office/drawing/2014/main" val="20007"/>
                    </a:ext>
                  </a:extLst>
                </a:gridCol>
              </a:tblGrid>
              <a:tr h="381000">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extLst>
                  <a:ext uri="{0D108BD9-81ED-4DB2-BD59-A6C34878D82A}">
                    <a16:rowId xmlns:a16="http://schemas.microsoft.com/office/drawing/2014/main" val="10000"/>
                  </a:ext>
                </a:extLst>
              </a:tr>
              <a:tr h="381000">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extLst>
                  <a:ext uri="{0D108BD9-81ED-4DB2-BD59-A6C34878D82A}">
                    <a16:rowId xmlns:a16="http://schemas.microsoft.com/office/drawing/2014/main" val="10001"/>
                  </a:ext>
                </a:extLst>
              </a:tr>
              <a:tr h="381000">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030A0">
                        <a:alpha val="37000"/>
                      </a:srgbClr>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030A0">
                        <a:alpha val="37000"/>
                      </a:srgbClr>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extLst>
                  <a:ext uri="{0D108BD9-81ED-4DB2-BD59-A6C34878D82A}">
                    <a16:rowId xmlns:a16="http://schemas.microsoft.com/office/drawing/2014/main" val="10002"/>
                  </a:ext>
                </a:extLst>
              </a:tr>
              <a:tr h="381000">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7030A0">
                        <a:alpha val="37000"/>
                      </a:srgbClr>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A5F46"/>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extLst>
                  <a:ext uri="{0D108BD9-81ED-4DB2-BD59-A6C34878D82A}">
                    <a16:rowId xmlns:a16="http://schemas.microsoft.com/office/drawing/2014/main" val="10003"/>
                  </a:ext>
                </a:extLst>
              </a:tr>
              <a:tr h="381000">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extLst>
                  <a:ext uri="{0D108BD9-81ED-4DB2-BD59-A6C34878D82A}">
                    <a16:rowId xmlns:a16="http://schemas.microsoft.com/office/drawing/2014/main" val="10004"/>
                  </a:ext>
                </a:extLst>
              </a:tr>
              <a:tr h="381000">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extLst>
                  <a:ext uri="{0D108BD9-81ED-4DB2-BD59-A6C34878D82A}">
                    <a16:rowId xmlns:a16="http://schemas.microsoft.com/office/drawing/2014/main" val="10005"/>
                  </a:ext>
                </a:extLst>
              </a:tr>
              <a:tr h="381000">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extLst>
                  <a:ext uri="{0D108BD9-81ED-4DB2-BD59-A6C34878D82A}">
                    <a16:rowId xmlns:a16="http://schemas.microsoft.com/office/drawing/2014/main" val="10006"/>
                  </a:ext>
                </a:extLst>
              </a:tr>
              <a:tr h="381000">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tc>
                  <a:txBody>
                    <a:bodyPr/>
                    <a:lstStyle/>
                    <a:p>
                      <a:endParaRPr lang="en-US" sz="1900" dirty="0"/>
                    </a:p>
                  </a:txBody>
                  <a:tcPr marT="45716" marB="45716">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3">
                        <a:lumMod val="85000"/>
                        <a:alpha val="37000"/>
                      </a:schemeClr>
                    </a:solidFill>
                  </a:tcPr>
                </a:tc>
                <a:extLst>
                  <a:ext uri="{0D108BD9-81ED-4DB2-BD59-A6C34878D82A}">
                    <a16:rowId xmlns:a16="http://schemas.microsoft.com/office/drawing/2014/main" val="10007"/>
                  </a:ext>
                </a:extLst>
              </a:tr>
            </a:tbl>
          </a:graphicData>
        </a:graphic>
      </p:graphicFrame>
      <p:cxnSp>
        <p:nvCxnSpPr>
          <p:cNvPr id="9" name="Straight Arrow Connector 8"/>
          <p:cNvCxnSpPr/>
          <p:nvPr/>
        </p:nvCxnSpPr>
        <p:spPr>
          <a:xfrm>
            <a:off x="3352800" y="5943600"/>
            <a:ext cx="2362200" cy="1588"/>
          </a:xfrm>
          <a:prstGeom prst="straightConnector1">
            <a:avLst/>
          </a:prstGeom>
          <a:ln>
            <a:solidFill>
              <a:schemeClr val="accent1">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122967" name="TextBox 9"/>
          <p:cNvSpPr txBox="1">
            <a:spLocks noChangeArrowheads="1"/>
          </p:cNvSpPr>
          <p:nvPr/>
        </p:nvSpPr>
        <p:spPr bwMode="auto">
          <a:xfrm>
            <a:off x="5715000" y="5715000"/>
            <a:ext cx="2417763"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process 1 instructions</a:t>
            </a:r>
          </a:p>
        </p:txBody>
      </p:sp>
      <p:cxnSp>
        <p:nvCxnSpPr>
          <p:cNvPr id="12" name="Straight Arrow Connector 11"/>
          <p:cNvCxnSpPr/>
          <p:nvPr/>
        </p:nvCxnSpPr>
        <p:spPr>
          <a:xfrm rot="5400000" flipH="1" flipV="1">
            <a:off x="1572419" y="4191794"/>
            <a:ext cx="2133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2969" name="TextBox 12"/>
          <p:cNvSpPr txBox="1">
            <a:spLocks noChangeArrowheads="1"/>
          </p:cNvSpPr>
          <p:nvPr/>
        </p:nvSpPr>
        <p:spPr bwMode="auto">
          <a:xfrm rot="-5400000">
            <a:off x="1273969" y="3809207"/>
            <a:ext cx="2416175" cy="3698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process 2 instructions</a:t>
            </a:r>
          </a:p>
        </p:txBody>
      </p:sp>
      <p:cxnSp>
        <p:nvCxnSpPr>
          <p:cNvPr id="15" name="Straight Arrow Connector 14"/>
          <p:cNvCxnSpPr/>
          <p:nvPr/>
        </p:nvCxnSpPr>
        <p:spPr>
          <a:xfrm>
            <a:off x="4191000" y="6248400"/>
            <a:ext cx="914400" cy="1588"/>
          </a:xfrm>
          <a:prstGeom prst="straightConnector1">
            <a:avLst/>
          </a:pr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4724400" y="6553200"/>
            <a:ext cx="914400" cy="1588"/>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2819400" y="5495925"/>
            <a:ext cx="914400" cy="1588"/>
          </a:xfrm>
          <a:prstGeom prst="line">
            <a:avLst/>
          </a:prstGeom>
          <a:ln w="38100">
            <a:solidFill>
              <a:srgbClr val="3333F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5400000" flipH="1" flipV="1">
            <a:off x="3543301" y="5321300"/>
            <a:ext cx="381000" cy="3175"/>
          </a:xfrm>
          <a:prstGeom prst="line">
            <a:avLst/>
          </a:prstGeom>
          <a:ln w="38100">
            <a:solidFill>
              <a:srgbClr val="3333FF"/>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3733800" y="5149850"/>
            <a:ext cx="457200" cy="0"/>
          </a:xfrm>
          <a:prstGeom prst="line">
            <a:avLst/>
          </a:prstGeom>
          <a:ln w="38100">
            <a:solidFill>
              <a:srgbClr val="3333FF"/>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flipH="1" flipV="1">
            <a:off x="3828256" y="4783932"/>
            <a:ext cx="727075" cy="1588"/>
          </a:xfrm>
          <a:prstGeom prst="line">
            <a:avLst/>
          </a:prstGeom>
          <a:ln w="38100">
            <a:solidFill>
              <a:srgbClr val="3333FF"/>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4191000" y="4419600"/>
            <a:ext cx="457200" cy="0"/>
          </a:xfrm>
          <a:prstGeom prst="line">
            <a:avLst/>
          </a:prstGeom>
          <a:ln w="38100">
            <a:solidFill>
              <a:srgbClr val="3333FF"/>
            </a:solidFill>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rot="5400000" flipH="1" flipV="1">
            <a:off x="1562894" y="3848894"/>
            <a:ext cx="685800" cy="1588"/>
          </a:xfrm>
          <a:prstGeom prst="straightConnector1">
            <a:avLst/>
          </a:prstGeom>
          <a:ln w="28575">
            <a:solidFill>
              <a:srgbClr val="7030A0"/>
            </a:solidFill>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rot="5400000" flipH="1" flipV="1">
            <a:off x="1791494" y="4152106"/>
            <a:ext cx="685800" cy="1588"/>
          </a:xfrm>
          <a:prstGeom prst="straightConnector1">
            <a:avLst/>
          </a:prstGeom>
          <a:ln w="28575">
            <a:solidFill>
              <a:srgbClr val="00B050"/>
            </a:solidFill>
            <a:tailEnd type="arrow"/>
          </a:ln>
        </p:spPr>
        <p:style>
          <a:lnRef idx="1">
            <a:schemeClr val="accent1"/>
          </a:lnRef>
          <a:fillRef idx="0">
            <a:schemeClr val="accent1"/>
          </a:fillRef>
          <a:effectRef idx="0">
            <a:schemeClr val="accent1"/>
          </a:effectRef>
          <a:fontRef idx="minor">
            <a:schemeClr val="tx1"/>
          </a:fontRef>
        </p:style>
      </p:cxnSp>
      <p:sp>
        <p:nvSpPr>
          <p:cNvPr id="122979" name="TextBox 42"/>
          <p:cNvSpPr txBox="1">
            <a:spLocks noChangeArrowheads="1"/>
          </p:cNvSpPr>
          <p:nvPr/>
        </p:nvSpPr>
        <p:spPr bwMode="auto">
          <a:xfrm>
            <a:off x="5092700" y="6076950"/>
            <a:ext cx="479425"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R1</a:t>
            </a:r>
          </a:p>
        </p:txBody>
      </p:sp>
      <p:sp>
        <p:nvSpPr>
          <p:cNvPr id="122980" name="TextBox 43"/>
          <p:cNvSpPr txBox="1">
            <a:spLocks noChangeArrowheads="1"/>
          </p:cNvSpPr>
          <p:nvPr/>
        </p:nvSpPr>
        <p:spPr bwMode="auto">
          <a:xfrm>
            <a:off x="1676400" y="3200400"/>
            <a:ext cx="479425"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R1</a:t>
            </a:r>
          </a:p>
        </p:txBody>
      </p:sp>
      <p:sp>
        <p:nvSpPr>
          <p:cNvPr id="122981" name="TextBox 44"/>
          <p:cNvSpPr txBox="1">
            <a:spLocks noChangeArrowheads="1"/>
          </p:cNvSpPr>
          <p:nvPr/>
        </p:nvSpPr>
        <p:spPr bwMode="auto">
          <a:xfrm>
            <a:off x="1905000" y="4419600"/>
            <a:ext cx="479425"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R2</a:t>
            </a:r>
          </a:p>
        </p:txBody>
      </p:sp>
      <p:sp>
        <p:nvSpPr>
          <p:cNvPr id="122982" name="TextBox 45"/>
          <p:cNvSpPr txBox="1">
            <a:spLocks noChangeArrowheads="1"/>
          </p:cNvSpPr>
          <p:nvPr/>
        </p:nvSpPr>
        <p:spPr bwMode="auto">
          <a:xfrm>
            <a:off x="5638800" y="6369050"/>
            <a:ext cx="479425"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R2</a:t>
            </a:r>
          </a:p>
        </p:txBody>
      </p:sp>
      <p:sp>
        <p:nvSpPr>
          <p:cNvPr id="47" name="Freeform 46"/>
          <p:cNvSpPr/>
          <p:nvPr/>
        </p:nvSpPr>
        <p:spPr>
          <a:xfrm>
            <a:off x="4870450" y="2382838"/>
            <a:ext cx="1858963" cy="1233487"/>
          </a:xfrm>
          <a:custGeom>
            <a:avLst/>
            <a:gdLst>
              <a:gd name="connsiteX0" fmla="*/ 0 w 1859622"/>
              <a:gd name="connsiteY0" fmla="*/ 1232899 h 1232899"/>
              <a:gd name="connsiteX1" fmla="*/ 1078786 w 1859622"/>
              <a:gd name="connsiteY1" fmla="*/ 215758 h 1232899"/>
              <a:gd name="connsiteX2" fmla="*/ 1859622 w 1859622"/>
              <a:gd name="connsiteY2" fmla="*/ 0 h 1232899"/>
            </a:gdLst>
            <a:ahLst/>
            <a:cxnLst>
              <a:cxn ang="0">
                <a:pos x="connsiteX0" y="connsiteY0"/>
              </a:cxn>
              <a:cxn ang="0">
                <a:pos x="connsiteX1" y="connsiteY1"/>
              </a:cxn>
              <a:cxn ang="0">
                <a:pos x="connsiteX2" y="connsiteY2"/>
              </a:cxn>
            </a:cxnLst>
            <a:rect l="l" t="t" r="r" b="b"/>
            <a:pathLst>
              <a:path w="1859622" h="1232899">
                <a:moveTo>
                  <a:pt x="0" y="1232899"/>
                </a:moveTo>
                <a:cubicBezTo>
                  <a:pt x="384424" y="827070"/>
                  <a:pt x="768849" y="421241"/>
                  <a:pt x="1078786" y="215758"/>
                </a:cubicBezTo>
                <a:cubicBezTo>
                  <a:pt x="1388723" y="10275"/>
                  <a:pt x="1624172" y="5137"/>
                  <a:pt x="1859622" y="0"/>
                </a:cubicBezTo>
              </a:path>
            </a:pathLst>
          </a:cu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22984" name="TextBox 47"/>
          <p:cNvSpPr txBox="1">
            <a:spLocks noChangeArrowheads="1"/>
          </p:cNvSpPr>
          <p:nvPr/>
        </p:nvSpPr>
        <p:spPr bwMode="auto">
          <a:xfrm>
            <a:off x="6624638" y="2057400"/>
            <a:ext cx="2609850" cy="646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Both processes request </a:t>
            </a:r>
          </a:p>
          <a:p>
            <a:pPr eaLnBrk="1" hangingPunct="1"/>
            <a:r>
              <a:rPr lang="en-US" sz="1800"/>
              <a:t>Resource R1</a:t>
            </a:r>
          </a:p>
        </p:txBody>
      </p:sp>
      <p:sp>
        <p:nvSpPr>
          <p:cNvPr id="122985" name="TextBox 48"/>
          <p:cNvSpPr txBox="1">
            <a:spLocks noChangeArrowheads="1"/>
          </p:cNvSpPr>
          <p:nvPr/>
        </p:nvSpPr>
        <p:spPr bwMode="auto">
          <a:xfrm>
            <a:off x="6629400" y="4495800"/>
            <a:ext cx="2362200" cy="923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Both processes request </a:t>
            </a:r>
          </a:p>
          <a:p>
            <a:pPr eaLnBrk="1" hangingPunct="1"/>
            <a:r>
              <a:rPr lang="en-US" sz="1800"/>
              <a:t>Resource R2</a:t>
            </a:r>
          </a:p>
        </p:txBody>
      </p:sp>
      <p:sp>
        <p:nvSpPr>
          <p:cNvPr id="50" name="Freeform 49"/>
          <p:cNvSpPr/>
          <p:nvPr/>
        </p:nvSpPr>
        <p:spPr>
          <a:xfrm flipV="1">
            <a:off x="5445125" y="4397375"/>
            <a:ext cx="1254125" cy="403225"/>
          </a:xfrm>
          <a:custGeom>
            <a:avLst/>
            <a:gdLst>
              <a:gd name="connsiteX0" fmla="*/ 0 w 1253448"/>
              <a:gd name="connsiteY0" fmla="*/ 667820 h 667820"/>
              <a:gd name="connsiteX1" fmla="*/ 482886 w 1253448"/>
              <a:gd name="connsiteY1" fmla="*/ 256854 h 667820"/>
              <a:gd name="connsiteX2" fmla="*/ 1253448 w 1253448"/>
              <a:gd name="connsiteY2" fmla="*/ 0 h 667820"/>
            </a:gdLst>
            <a:ahLst/>
            <a:cxnLst>
              <a:cxn ang="0">
                <a:pos x="connsiteX0" y="connsiteY0"/>
              </a:cxn>
              <a:cxn ang="0">
                <a:pos x="connsiteX1" y="connsiteY1"/>
              </a:cxn>
              <a:cxn ang="0">
                <a:pos x="connsiteX2" y="connsiteY2"/>
              </a:cxn>
            </a:cxnLst>
            <a:rect l="l" t="t" r="r" b="b"/>
            <a:pathLst>
              <a:path w="1253448" h="667820">
                <a:moveTo>
                  <a:pt x="0" y="667820"/>
                </a:moveTo>
                <a:cubicBezTo>
                  <a:pt x="136989" y="517988"/>
                  <a:pt x="273978" y="368157"/>
                  <a:pt x="482886" y="256854"/>
                </a:cubicBezTo>
                <a:cubicBezTo>
                  <a:pt x="691794" y="145551"/>
                  <a:pt x="972621" y="72775"/>
                  <a:pt x="1253448" y="0"/>
                </a:cubicBezTo>
              </a:path>
            </a:pathLst>
          </a:cu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51" name="Freeform 50"/>
          <p:cNvSpPr/>
          <p:nvPr/>
        </p:nvSpPr>
        <p:spPr>
          <a:xfrm>
            <a:off x="4891088" y="3489325"/>
            <a:ext cx="1849437" cy="517525"/>
          </a:xfrm>
          <a:custGeom>
            <a:avLst/>
            <a:gdLst>
              <a:gd name="connsiteX0" fmla="*/ 0 w 1849348"/>
              <a:gd name="connsiteY0" fmla="*/ 517132 h 517132"/>
              <a:gd name="connsiteX1" fmla="*/ 945222 w 1849348"/>
              <a:gd name="connsiteY1" fmla="*/ 85618 h 517132"/>
              <a:gd name="connsiteX2" fmla="*/ 1849348 w 1849348"/>
              <a:gd name="connsiteY2" fmla="*/ 3424 h 517132"/>
            </a:gdLst>
            <a:ahLst/>
            <a:cxnLst>
              <a:cxn ang="0">
                <a:pos x="connsiteX0" y="connsiteY0"/>
              </a:cxn>
              <a:cxn ang="0">
                <a:pos x="connsiteX1" y="connsiteY1"/>
              </a:cxn>
              <a:cxn ang="0">
                <a:pos x="connsiteX2" y="connsiteY2"/>
              </a:cxn>
            </a:cxnLst>
            <a:rect l="l" t="t" r="r" b="b"/>
            <a:pathLst>
              <a:path w="1849348" h="517132">
                <a:moveTo>
                  <a:pt x="0" y="517132"/>
                </a:moveTo>
                <a:cubicBezTo>
                  <a:pt x="318498" y="344184"/>
                  <a:pt x="636997" y="171236"/>
                  <a:pt x="945222" y="85618"/>
                </a:cubicBezTo>
                <a:cubicBezTo>
                  <a:pt x="1253447" y="0"/>
                  <a:pt x="1551397" y="1712"/>
                  <a:pt x="1849348" y="3424"/>
                </a:cubicBezTo>
              </a:path>
            </a:pathLst>
          </a:cu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122988" name="TextBox 51"/>
          <p:cNvSpPr txBox="1">
            <a:spLocks noChangeArrowheads="1"/>
          </p:cNvSpPr>
          <p:nvPr/>
        </p:nvSpPr>
        <p:spPr bwMode="auto">
          <a:xfrm>
            <a:off x="6553200" y="3200400"/>
            <a:ext cx="2698750" cy="646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FF0000"/>
                </a:solidFill>
              </a:rPr>
              <a:t>Unsafe state</a:t>
            </a:r>
          </a:p>
          <a:p>
            <a:pPr eaLnBrk="1" hangingPunct="1"/>
            <a:r>
              <a:rPr lang="en-US" sz="1800"/>
              <a:t>(may cause a  deadlock)</a:t>
            </a:r>
          </a:p>
        </p:txBody>
      </p:sp>
      <p:sp>
        <p:nvSpPr>
          <p:cNvPr id="122989" name="TextBox 52"/>
          <p:cNvSpPr txBox="1">
            <a:spLocks noChangeArrowheads="1"/>
          </p:cNvSpPr>
          <p:nvPr/>
        </p:nvSpPr>
        <p:spPr bwMode="auto">
          <a:xfrm>
            <a:off x="228600" y="5715000"/>
            <a:ext cx="2508250" cy="64611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b="1"/>
              <a:t>Note: </a:t>
            </a:r>
            <a:r>
              <a:rPr lang="en-US" sz="1800"/>
              <a:t>unsafe state is</a:t>
            </a:r>
          </a:p>
          <a:p>
            <a:pPr eaLnBrk="1" hangingPunct="1"/>
            <a:r>
              <a:rPr lang="en-US" sz="1800"/>
              <a:t>not a deadlocked state</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charset="0"/>
              </a:rPr>
              <a:t>Deadlock Avoidance</a:t>
            </a:r>
            <a:endParaRPr lang="en-IN" dirty="0"/>
          </a:p>
        </p:txBody>
      </p:sp>
      <p:pic>
        <p:nvPicPr>
          <p:cNvPr id="4" name="Content Placeholder 3"/>
          <p:cNvPicPr>
            <a:picLocks noGrp="1" noChangeAspect="1"/>
          </p:cNvPicPr>
          <p:nvPr>
            <p:ph idx="1"/>
          </p:nvPr>
        </p:nvPicPr>
        <p:blipFill>
          <a:blip r:embed="rId2"/>
          <a:stretch>
            <a:fillRect/>
          </a:stretch>
        </p:blipFill>
        <p:spPr>
          <a:xfrm>
            <a:off x="457201" y="1385316"/>
            <a:ext cx="8075744" cy="4863084"/>
          </a:xfrm>
          <a:prstGeom prst="rect">
            <a:avLst/>
          </a:prstGeom>
        </p:spPr>
      </p:pic>
    </p:spTree>
    <p:extLst>
      <p:ext uri="{BB962C8B-B14F-4D97-AF65-F5344CB8AC3E}">
        <p14:creationId xmlns:p14="http://schemas.microsoft.com/office/powerpoint/2010/main" val="13024210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Title 1"/>
          <p:cNvSpPr>
            <a:spLocks noGrp="1"/>
          </p:cNvSpPr>
          <p:nvPr>
            <p:ph type="title"/>
          </p:nvPr>
        </p:nvSpPr>
        <p:spPr/>
        <p:txBody>
          <a:bodyPr/>
          <a:lstStyle/>
          <a:p>
            <a:r>
              <a:rPr lang="en-US">
                <a:latin typeface="Arial" charset="0"/>
              </a:rPr>
              <a:t>Deadlock Avoidance</a:t>
            </a:r>
          </a:p>
        </p:txBody>
      </p:sp>
      <p:sp>
        <p:nvSpPr>
          <p:cNvPr id="124930" name="Content Placeholder 2"/>
          <p:cNvSpPr>
            <a:spLocks noGrp="1"/>
          </p:cNvSpPr>
          <p:nvPr>
            <p:ph idx="1"/>
          </p:nvPr>
        </p:nvSpPr>
        <p:spPr/>
        <p:txBody>
          <a:bodyPr/>
          <a:lstStyle/>
          <a:p>
            <a:pPr>
              <a:buFontTx/>
              <a:buNone/>
            </a:pPr>
            <a:r>
              <a:rPr lang="en-US" sz="2400" dirty="0">
                <a:latin typeface="Arial" charset="0"/>
              </a:rPr>
              <a:t>    </a:t>
            </a:r>
            <a:r>
              <a:rPr lang="en-US" sz="2400" dirty="0">
                <a:solidFill>
                  <a:srgbClr val="3333FF"/>
                </a:solidFill>
                <a:latin typeface="Arial" charset="0"/>
              </a:rPr>
              <a:t>Is there an algorithm that can always avoid deadlocks by conservatively </a:t>
            </a:r>
            <a:r>
              <a:rPr lang="en-US" sz="2400" dirty="0" smtClean="0">
                <a:solidFill>
                  <a:srgbClr val="3333FF"/>
                </a:solidFill>
                <a:latin typeface="Arial" charset="0"/>
              </a:rPr>
              <a:t>making </a:t>
            </a:r>
            <a:r>
              <a:rPr lang="en-US" sz="2400" dirty="0">
                <a:solidFill>
                  <a:srgbClr val="3333FF"/>
                </a:solidFill>
                <a:latin typeface="Arial" charset="0"/>
              </a:rPr>
              <a:t>the right choice.</a:t>
            </a:r>
          </a:p>
          <a:p>
            <a:endParaRPr lang="en-US" sz="2400" dirty="0" smtClean="0">
              <a:latin typeface="Arial" charset="0"/>
            </a:endParaRPr>
          </a:p>
          <a:p>
            <a:r>
              <a:rPr lang="en-US" sz="2400" dirty="0" smtClean="0">
                <a:latin typeface="Arial" charset="0"/>
              </a:rPr>
              <a:t>Ensures </a:t>
            </a:r>
            <a:r>
              <a:rPr lang="en-US" sz="2400" dirty="0">
                <a:latin typeface="Arial" charset="0"/>
              </a:rPr>
              <a:t>system </a:t>
            </a:r>
            <a:r>
              <a:rPr lang="en-US" sz="2400" u="sng" dirty="0">
                <a:latin typeface="Arial" charset="0"/>
              </a:rPr>
              <a:t>never reaches an unsafe state</a:t>
            </a:r>
          </a:p>
          <a:p>
            <a:endParaRPr lang="en-US" sz="2400" dirty="0">
              <a:solidFill>
                <a:srgbClr val="0066FF"/>
              </a:solidFill>
              <a:latin typeface="Arial" charset="0"/>
            </a:endParaRPr>
          </a:p>
          <a:p>
            <a:r>
              <a:rPr lang="en-US" sz="2400" dirty="0">
                <a:solidFill>
                  <a:srgbClr val="0066FF"/>
                </a:solidFill>
                <a:latin typeface="Arial" charset="0"/>
              </a:rPr>
              <a:t>Safe state : </a:t>
            </a:r>
            <a:r>
              <a:rPr lang="en-US" sz="2400" dirty="0">
                <a:latin typeface="Arial" charset="0"/>
              </a:rPr>
              <a:t>A state is said to be safe, if there is </a:t>
            </a:r>
            <a:r>
              <a:rPr lang="en-US" sz="2400" b="1" i="1" u="sng" dirty="0">
                <a:latin typeface="Arial" charset="0"/>
              </a:rPr>
              <a:t>some</a:t>
            </a:r>
            <a:r>
              <a:rPr lang="en-US" sz="2400" dirty="0">
                <a:latin typeface="Arial" charset="0"/>
              </a:rPr>
              <a:t> scheduling order in which every process can run to completion even if all of them suddenly requests their maximum number of resources </a:t>
            </a:r>
            <a:r>
              <a:rPr lang="en-US" sz="2400" dirty="0" smtClean="0">
                <a:latin typeface="Arial" charset="0"/>
              </a:rPr>
              <a:t>immediately</a:t>
            </a:r>
          </a:p>
          <a:p>
            <a:pPr marL="0" indent="0">
              <a:buNone/>
            </a:pPr>
            <a:endParaRPr lang="en-US" sz="2400" dirty="0">
              <a:latin typeface="Arial" charset="0"/>
            </a:endParaRPr>
          </a:p>
          <a:p>
            <a:r>
              <a:rPr lang="en-US" sz="2400" dirty="0">
                <a:latin typeface="Arial" charset="0"/>
              </a:rPr>
              <a:t>An unsafe state </a:t>
            </a:r>
            <a:r>
              <a:rPr lang="en-US" sz="2400" dirty="0">
                <a:solidFill>
                  <a:srgbClr val="3333FF"/>
                </a:solidFill>
                <a:latin typeface="Arial" charset="0"/>
              </a:rPr>
              <a:t>does not have to </a:t>
            </a:r>
            <a:r>
              <a:rPr lang="en-US" sz="2400" dirty="0">
                <a:latin typeface="Arial" charset="0"/>
              </a:rPr>
              <a:t>lead to a deadlock; </a:t>
            </a:r>
            <a:r>
              <a:rPr lang="en-US" sz="2400" i="1" dirty="0">
                <a:latin typeface="Arial" charset="0"/>
              </a:rPr>
              <a:t>it </a:t>
            </a:r>
            <a:r>
              <a:rPr lang="en-US" sz="2400" b="1" i="1" dirty="0">
                <a:solidFill>
                  <a:srgbClr val="3333FF"/>
                </a:solidFill>
                <a:latin typeface="Arial" charset="0"/>
              </a:rPr>
              <a:t>could</a:t>
            </a:r>
            <a:r>
              <a:rPr lang="en-US" sz="2400" i="1" dirty="0">
                <a:latin typeface="Arial" charset="0"/>
              </a:rPr>
              <a:t> lead to a deadlock</a:t>
            </a:r>
          </a:p>
          <a:p>
            <a:endParaRPr lang="en-US" sz="2400" dirty="0">
              <a:latin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493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4930">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493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923925" y="198438"/>
            <a:ext cx="7762875" cy="576262"/>
          </a:xfrm>
        </p:spPr>
        <p:txBody>
          <a:bodyPr/>
          <a:lstStyle/>
          <a:p>
            <a:pPr eaLnBrk="1" hangingPunct="1"/>
            <a:r>
              <a:rPr lang="en-US" altLang="en-US" smtClean="0"/>
              <a:t>Deadlock Avoidance</a:t>
            </a:r>
          </a:p>
        </p:txBody>
      </p:sp>
      <p:sp>
        <p:nvSpPr>
          <p:cNvPr id="37891" name="Rectangle 3"/>
          <p:cNvSpPr>
            <a:spLocks noGrp="1" noChangeArrowheads="1"/>
          </p:cNvSpPr>
          <p:nvPr>
            <p:ph type="body" idx="1"/>
          </p:nvPr>
        </p:nvSpPr>
        <p:spPr>
          <a:xfrm>
            <a:off x="457200" y="1752600"/>
            <a:ext cx="8534400" cy="3783012"/>
          </a:xfrm>
        </p:spPr>
        <p:txBody>
          <a:bodyPr/>
          <a:lstStyle/>
          <a:p>
            <a:r>
              <a:rPr lang="en-US" altLang="en-US" sz="2400" dirty="0" smtClean="0"/>
              <a:t>Simplest and most useful model requires that each process declare the </a:t>
            </a:r>
            <a:r>
              <a:rPr lang="en-US" altLang="en-US" sz="2400" b="1" i="1" dirty="0" smtClean="0"/>
              <a:t>maximum number</a:t>
            </a:r>
            <a:r>
              <a:rPr lang="en-US" altLang="en-US" sz="2400" b="1" dirty="0" smtClean="0"/>
              <a:t> </a:t>
            </a:r>
            <a:r>
              <a:rPr lang="en-US" altLang="en-US" sz="2400" dirty="0" smtClean="0"/>
              <a:t>of resources of each type that it may need</a:t>
            </a:r>
          </a:p>
          <a:p>
            <a:endParaRPr lang="en-US" altLang="en-US" sz="2400" dirty="0" smtClean="0"/>
          </a:p>
          <a:p>
            <a:r>
              <a:rPr lang="en-US" altLang="en-US" sz="2400" dirty="0" smtClean="0"/>
              <a:t>The deadlock-avoidance algorithm dynamically examines the resource-allocation state to ensure that there can never be a circular-wait condition</a:t>
            </a:r>
          </a:p>
          <a:p>
            <a:endParaRPr lang="en-US" altLang="en-US" sz="2400" dirty="0" smtClean="0"/>
          </a:p>
          <a:p>
            <a:r>
              <a:rPr lang="en-US" altLang="en-US" sz="2400" dirty="0" smtClean="0"/>
              <a:t>Resource-allocation </a:t>
            </a:r>
            <a:r>
              <a:rPr lang="en-US" altLang="en-US" sz="2400" i="1" dirty="0" smtClean="0"/>
              <a:t>state</a:t>
            </a:r>
            <a:r>
              <a:rPr lang="en-US" altLang="en-US" sz="2400" dirty="0" smtClean="0"/>
              <a:t> is defined by the number of available and allocated resources, and the maximum demands of the processes</a:t>
            </a:r>
          </a:p>
        </p:txBody>
      </p:sp>
      <p:sp>
        <p:nvSpPr>
          <p:cNvPr id="37892" name="Text Box 4"/>
          <p:cNvSpPr txBox="1">
            <a:spLocks noChangeArrowheads="1"/>
          </p:cNvSpPr>
          <p:nvPr/>
        </p:nvSpPr>
        <p:spPr bwMode="auto">
          <a:xfrm>
            <a:off x="304801" y="1219170"/>
            <a:ext cx="88392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en-US" altLang="en-US" sz="2000" dirty="0"/>
              <a:t>Requires that the system has some additional </a:t>
            </a:r>
            <a:r>
              <a:rPr kumimoji="0" lang="en-US" altLang="en-US" sz="2000" b="1" i="1" dirty="0"/>
              <a:t>a priori </a:t>
            </a:r>
            <a:r>
              <a:rPr kumimoji="0" lang="en-US" altLang="en-US" sz="2000" dirty="0" smtClean="0"/>
              <a:t>information available</a:t>
            </a:r>
            <a:endParaRPr kumimoji="0" lang="en-US" altLang="en-US" sz="2000" dirty="0"/>
          </a:p>
        </p:txBody>
      </p:sp>
    </p:spTree>
    <p:extLst>
      <p:ext uri="{BB962C8B-B14F-4D97-AF65-F5344CB8AC3E}">
        <p14:creationId xmlns:p14="http://schemas.microsoft.com/office/powerpoint/2010/main" val="81282188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457200" y="136525"/>
            <a:ext cx="8229600" cy="576263"/>
          </a:xfrm>
        </p:spPr>
        <p:txBody>
          <a:bodyPr/>
          <a:lstStyle/>
          <a:p>
            <a:pPr eaLnBrk="1" hangingPunct="1"/>
            <a:r>
              <a:rPr lang="en-US" altLang="en-US" smtClean="0"/>
              <a:t>Safe State</a:t>
            </a:r>
          </a:p>
        </p:txBody>
      </p:sp>
      <p:sp>
        <p:nvSpPr>
          <p:cNvPr id="21507" name="Rectangle 3"/>
          <p:cNvSpPr>
            <a:spLocks noGrp="1" noChangeArrowheads="1"/>
          </p:cNvSpPr>
          <p:nvPr>
            <p:ph type="body" idx="1"/>
          </p:nvPr>
        </p:nvSpPr>
        <p:spPr>
          <a:xfrm>
            <a:off x="457200" y="1143000"/>
            <a:ext cx="8148637" cy="4997450"/>
          </a:xfrm>
        </p:spPr>
        <p:txBody>
          <a:bodyPr/>
          <a:lstStyle/>
          <a:p>
            <a:pPr>
              <a:defRPr/>
            </a:pPr>
            <a:r>
              <a:rPr lang="en-US" altLang="en-US" sz="2000" dirty="0" smtClean="0"/>
              <a:t>When a process requests an available resource, system must decide if immediate allocation leaves the system in a safe state</a:t>
            </a:r>
          </a:p>
          <a:p>
            <a:pPr marL="0" indent="0">
              <a:buFont typeface="Monotype Sorts" pitchFamily="-84" charset="2"/>
              <a:buNone/>
              <a:defRPr/>
            </a:pPr>
            <a:endParaRPr lang="en-US" altLang="en-US" sz="2000" dirty="0" smtClean="0"/>
          </a:p>
          <a:p>
            <a:pPr>
              <a:defRPr/>
            </a:pPr>
            <a:r>
              <a:rPr lang="en-US" altLang="en-US" sz="2000" dirty="0" smtClean="0"/>
              <a:t>System is in </a:t>
            </a:r>
            <a:r>
              <a:rPr lang="en-US" altLang="en-US" sz="2000" b="1" dirty="0" smtClean="0">
                <a:solidFill>
                  <a:srgbClr val="3366FF"/>
                </a:solidFill>
              </a:rPr>
              <a:t>safe state</a:t>
            </a:r>
            <a:r>
              <a:rPr lang="en-US" altLang="en-US" sz="2000" dirty="0" smtClean="0">
                <a:solidFill>
                  <a:srgbClr val="3366FF"/>
                </a:solidFill>
              </a:rPr>
              <a:t> </a:t>
            </a:r>
            <a:r>
              <a:rPr lang="en-US" altLang="en-US" sz="2000" dirty="0" smtClean="0"/>
              <a:t>if there exists a sequence &lt;</a:t>
            </a:r>
            <a:r>
              <a:rPr lang="en-US" altLang="en-US" sz="2000" i="1" dirty="0" smtClean="0"/>
              <a:t>P</a:t>
            </a:r>
            <a:r>
              <a:rPr lang="en-US" altLang="en-US" sz="2000" i="1" baseline="-25000" dirty="0" smtClean="0"/>
              <a:t>1</a:t>
            </a:r>
            <a:r>
              <a:rPr lang="en-US" altLang="en-US" sz="2000" i="1" dirty="0" smtClean="0"/>
              <a:t>, P</a:t>
            </a:r>
            <a:r>
              <a:rPr lang="en-US" altLang="en-US" sz="2000" i="1" baseline="-25000" dirty="0" smtClean="0"/>
              <a:t>2</a:t>
            </a:r>
            <a:r>
              <a:rPr lang="en-US" altLang="en-US" sz="2000" i="1" dirty="0" smtClean="0"/>
              <a:t>, …, </a:t>
            </a:r>
            <a:r>
              <a:rPr lang="en-US" altLang="en-US" sz="2000" i="1" dirty="0" err="1" smtClean="0"/>
              <a:t>P</a:t>
            </a:r>
            <a:r>
              <a:rPr lang="en-US" altLang="en-US" sz="2000" i="1" baseline="-25000" dirty="0" err="1" smtClean="0"/>
              <a:t>n</a:t>
            </a:r>
            <a:r>
              <a:rPr lang="en-US" altLang="en-US" sz="2000" dirty="0" smtClean="0"/>
              <a:t>&gt; of ALL the  processes  in the systems such that  for each P</a:t>
            </a:r>
            <a:r>
              <a:rPr lang="en-US" altLang="en-US" sz="2000" baseline="-25000" dirty="0" smtClean="0"/>
              <a:t>i</a:t>
            </a:r>
            <a:r>
              <a:rPr lang="en-US" altLang="en-US" sz="2000" dirty="0" smtClean="0"/>
              <a:t>, the resources that P</a:t>
            </a:r>
            <a:r>
              <a:rPr lang="en-US" altLang="en-US" sz="2000" baseline="-25000" dirty="0" smtClean="0"/>
              <a:t>i </a:t>
            </a:r>
            <a:r>
              <a:rPr lang="en-US" altLang="en-US" sz="2000" dirty="0" smtClean="0"/>
              <a:t>can still request can be satisfied by currently available resources + resources held by all the </a:t>
            </a:r>
            <a:r>
              <a:rPr lang="en-US" altLang="en-US" sz="2000" i="1" dirty="0" err="1" smtClean="0"/>
              <a:t>P</a:t>
            </a:r>
            <a:r>
              <a:rPr lang="en-US" altLang="en-US" sz="2000" i="1" baseline="-25000" dirty="0" err="1" smtClean="0"/>
              <a:t>j</a:t>
            </a:r>
            <a:r>
              <a:rPr lang="en-US" altLang="en-US" sz="2000" dirty="0" smtClean="0"/>
              <a:t>, with</a:t>
            </a:r>
            <a:r>
              <a:rPr lang="en-US" altLang="en-US" sz="2000" i="1" dirty="0" smtClean="0"/>
              <a:t> j </a:t>
            </a:r>
            <a:r>
              <a:rPr lang="en-US" altLang="en-US" sz="2000" dirty="0" smtClean="0"/>
              <a:t>&lt; </a:t>
            </a:r>
            <a:r>
              <a:rPr lang="en-US" altLang="en-US" sz="2000" i="1" dirty="0" err="1" smtClean="0"/>
              <a:t>i</a:t>
            </a:r>
            <a:endParaRPr lang="en-US" altLang="en-US" sz="2000" dirty="0" smtClean="0"/>
          </a:p>
          <a:p>
            <a:pPr lvl="1">
              <a:defRPr/>
            </a:pPr>
            <a:r>
              <a:rPr lang="en-US" altLang="en-US" sz="1800" dirty="0" smtClean="0"/>
              <a:t>If P</a:t>
            </a:r>
            <a:r>
              <a:rPr lang="en-US" altLang="en-US" sz="1800" baseline="-25000" dirty="0" smtClean="0"/>
              <a:t>i</a:t>
            </a:r>
            <a:r>
              <a:rPr lang="en-US" altLang="en-US" sz="1800" dirty="0" smtClean="0"/>
              <a:t> resource needs are not immediately available, then </a:t>
            </a:r>
            <a:r>
              <a:rPr lang="en-US" altLang="en-US" sz="1800" i="1" dirty="0" smtClean="0"/>
              <a:t>P</a:t>
            </a:r>
            <a:r>
              <a:rPr lang="en-US" altLang="en-US" sz="1800" i="1" baseline="-25000" dirty="0" smtClean="0"/>
              <a:t>i</a:t>
            </a:r>
            <a:r>
              <a:rPr lang="en-US" altLang="en-US" sz="1800" dirty="0" smtClean="0"/>
              <a:t> can wait until all </a:t>
            </a:r>
            <a:r>
              <a:rPr lang="en-US" altLang="en-US" sz="1800" i="1" dirty="0" err="1" smtClean="0"/>
              <a:t>P</a:t>
            </a:r>
            <a:r>
              <a:rPr lang="en-US" altLang="en-US" sz="1800" i="1" baseline="-25000" dirty="0" err="1" smtClean="0"/>
              <a:t>j</a:t>
            </a:r>
            <a:r>
              <a:rPr lang="en-US" altLang="en-US" sz="1800" i="1" dirty="0" smtClean="0"/>
              <a:t> </a:t>
            </a:r>
            <a:r>
              <a:rPr lang="en-US" altLang="en-US" sz="1800" dirty="0" smtClean="0"/>
              <a:t>have finished</a:t>
            </a:r>
          </a:p>
          <a:p>
            <a:pPr lvl="1">
              <a:defRPr/>
            </a:pPr>
            <a:r>
              <a:rPr lang="en-US" altLang="en-US" sz="1800" dirty="0" smtClean="0"/>
              <a:t>When </a:t>
            </a:r>
            <a:r>
              <a:rPr lang="en-US" altLang="en-US" sz="1800" i="1" dirty="0" err="1" smtClean="0"/>
              <a:t>P</a:t>
            </a:r>
            <a:r>
              <a:rPr lang="en-US" altLang="en-US" sz="1800" i="1" baseline="-25000" dirty="0" err="1" smtClean="0"/>
              <a:t>j</a:t>
            </a:r>
            <a:r>
              <a:rPr lang="en-US" altLang="en-US" sz="1800" dirty="0" smtClean="0"/>
              <a:t> is finished, </a:t>
            </a:r>
            <a:r>
              <a:rPr lang="en-US" altLang="en-US" sz="1800" i="1" dirty="0" smtClean="0"/>
              <a:t>P</a:t>
            </a:r>
            <a:r>
              <a:rPr lang="en-US" altLang="en-US" sz="1800" i="1" baseline="-25000" dirty="0" smtClean="0"/>
              <a:t>i</a:t>
            </a:r>
            <a:r>
              <a:rPr lang="en-US" altLang="en-US" sz="1800" dirty="0" smtClean="0"/>
              <a:t> can obtain needed resources, execute, return allocated resources, and terminate</a:t>
            </a:r>
          </a:p>
          <a:p>
            <a:pPr lvl="1">
              <a:defRPr/>
            </a:pPr>
            <a:r>
              <a:rPr lang="en-US" altLang="en-US" sz="1800" dirty="0" smtClean="0"/>
              <a:t>When </a:t>
            </a:r>
            <a:r>
              <a:rPr lang="en-US" altLang="en-US" sz="1800" i="1" dirty="0" smtClean="0"/>
              <a:t>P</a:t>
            </a:r>
            <a:r>
              <a:rPr lang="en-US" altLang="en-US" sz="1800" i="1" baseline="-25000" dirty="0" smtClean="0"/>
              <a:t>i</a:t>
            </a:r>
            <a:r>
              <a:rPr lang="en-US" altLang="en-US" sz="1800" dirty="0" smtClean="0"/>
              <a:t> terminates, </a:t>
            </a:r>
            <a:r>
              <a:rPr lang="en-US" altLang="en-US" sz="1800" i="1" dirty="0" smtClean="0"/>
              <a:t>P</a:t>
            </a:r>
            <a:r>
              <a:rPr lang="en-US" altLang="en-US" sz="1800" i="1" baseline="-25000" dirty="0" smtClean="0"/>
              <a:t>i </a:t>
            </a:r>
            <a:r>
              <a:rPr lang="en-US" altLang="en-US" sz="1800" baseline="-25000" dirty="0" smtClean="0"/>
              <a:t>+1</a:t>
            </a:r>
            <a:r>
              <a:rPr lang="en-US" altLang="en-US" sz="1800" dirty="0" smtClean="0"/>
              <a:t> can obtain its needed resources, and so on </a:t>
            </a:r>
          </a:p>
        </p:txBody>
      </p:sp>
    </p:spTree>
    <p:extLst>
      <p:ext uri="{BB962C8B-B14F-4D97-AF65-F5344CB8AC3E}">
        <p14:creationId xmlns:p14="http://schemas.microsoft.com/office/powerpoint/2010/main" val="22411624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457200" y="152400"/>
            <a:ext cx="8229600" cy="576263"/>
          </a:xfrm>
        </p:spPr>
        <p:txBody>
          <a:bodyPr/>
          <a:lstStyle/>
          <a:p>
            <a:pPr eaLnBrk="1" hangingPunct="1"/>
            <a:r>
              <a:rPr lang="en-US" altLang="en-US" smtClean="0"/>
              <a:t>Basic Facts</a:t>
            </a:r>
          </a:p>
        </p:txBody>
      </p:sp>
      <p:sp>
        <p:nvSpPr>
          <p:cNvPr id="41987" name="Rectangle 3"/>
          <p:cNvSpPr>
            <a:spLocks noGrp="1" noChangeArrowheads="1"/>
          </p:cNvSpPr>
          <p:nvPr>
            <p:ph type="body" idx="1"/>
          </p:nvPr>
        </p:nvSpPr>
        <p:spPr>
          <a:xfrm>
            <a:off x="922338" y="1190625"/>
            <a:ext cx="7840662" cy="4414838"/>
          </a:xfrm>
        </p:spPr>
        <p:txBody>
          <a:bodyPr/>
          <a:lstStyle/>
          <a:p>
            <a:r>
              <a:rPr lang="en-US" altLang="en-US" dirty="0" smtClean="0"/>
              <a:t>If a system is in safe state </a:t>
            </a:r>
            <a:r>
              <a:rPr lang="en-US" altLang="en-US" dirty="0" smtClean="0">
                <a:sym typeface="Symbol" panose="05050102010706020507" pitchFamily="18" charset="2"/>
              </a:rPr>
              <a:t> no deadlocks</a:t>
            </a:r>
            <a:br>
              <a:rPr lang="en-US" altLang="en-US" dirty="0" smtClean="0">
                <a:sym typeface="Symbol" panose="05050102010706020507" pitchFamily="18" charset="2"/>
              </a:rPr>
            </a:br>
            <a:endParaRPr lang="en-US" altLang="en-US" dirty="0" smtClean="0">
              <a:sym typeface="Symbol" panose="05050102010706020507" pitchFamily="18" charset="2"/>
            </a:endParaRPr>
          </a:p>
          <a:p>
            <a:r>
              <a:rPr lang="en-US" altLang="en-US" dirty="0" smtClean="0">
                <a:sym typeface="Symbol" panose="05050102010706020507" pitchFamily="18" charset="2"/>
              </a:rPr>
              <a:t>If a system is in unsafe state  possibility of deadlock</a:t>
            </a:r>
            <a:br>
              <a:rPr lang="en-US" altLang="en-US" dirty="0" smtClean="0">
                <a:sym typeface="Symbol" panose="05050102010706020507" pitchFamily="18" charset="2"/>
              </a:rPr>
            </a:br>
            <a:endParaRPr lang="en-US" altLang="en-US" dirty="0" smtClean="0">
              <a:sym typeface="Symbol" panose="05050102010706020507" pitchFamily="18" charset="2"/>
            </a:endParaRPr>
          </a:p>
          <a:p>
            <a:r>
              <a:rPr lang="en-US" altLang="en-US" dirty="0" smtClean="0">
                <a:sym typeface="Symbol" panose="05050102010706020507" pitchFamily="18" charset="2"/>
              </a:rPr>
              <a:t>Avoidance  ensure that a system will never enter an unsafe state.</a:t>
            </a:r>
          </a:p>
        </p:txBody>
      </p:sp>
    </p:spTree>
    <p:extLst>
      <p:ext uri="{BB962C8B-B14F-4D97-AF65-F5344CB8AC3E}">
        <p14:creationId xmlns:p14="http://schemas.microsoft.com/office/powerpoint/2010/main" val="37820249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846138" y="150813"/>
            <a:ext cx="7840662" cy="576262"/>
          </a:xfrm>
        </p:spPr>
        <p:txBody>
          <a:bodyPr/>
          <a:lstStyle/>
          <a:p>
            <a:pPr eaLnBrk="1" hangingPunct="1"/>
            <a:r>
              <a:rPr lang="en-US" altLang="en-US" smtClean="0"/>
              <a:t>Safe, Unsafe, Deadlock State </a:t>
            </a:r>
          </a:p>
        </p:txBody>
      </p:sp>
      <p:pic>
        <p:nvPicPr>
          <p:cNvPr id="44035" name="Picture 4"/>
          <p:cNvPicPr>
            <a:picLocks noChangeAspect="1" noChangeArrowheads="1"/>
          </p:cNvPicPr>
          <p:nvPr/>
        </p:nvPicPr>
        <p:blipFill>
          <a:blip r:embed="rId3" cstate="email">
            <a:extLst>
              <a:ext uri="{28A0092B-C50C-407E-A947-70E740481C1C}">
                <a14:useLocalDpi xmlns:a14="http://schemas.microsoft.com/office/drawing/2010/main" val="0"/>
              </a:ext>
            </a:extLst>
          </a:blip>
          <a:srcRect l="13437" t="1572" r="13683" b="2194"/>
          <a:stretch>
            <a:fillRect/>
          </a:stretch>
        </p:blipFill>
        <p:spPr bwMode="auto">
          <a:xfrm>
            <a:off x="2446338" y="1308100"/>
            <a:ext cx="4022725" cy="3983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cmpd="dbl">
                <a:solidFill>
                  <a:srgbClr val="000000"/>
                </a:solidFill>
                <a:miter lim="800000"/>
                <a:headEnd/>
                <a:tailEnd/>
              </a14:hiddenLine>
            </a:ext>
          </a:extLst>
        </p:spPr>
      </p:pic>
    </p:spTree>
    <p:extLst>
      <p:ext uri="{BB962C8B-B14F-4D97-AF65-F5344CB8AC3E}">
        <p14:creationId xmlns:p14="http://schemas.microsoft.com/office/powerpoint/2010/main" val="425041263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1041400" y="166688"/>
            <a:ext cx="7645400" cy="576262"/>
          </a:xfrm>
        </p:spPr>
        <p:txBody>
          <a:bodyPr/>
          <a:lstStyle/>
          <a:p>
            <a:pPr eaLnBrk="1" hangingPunct="1"/>
            <a:r>
              <a:rPr lang="en-US" altLang="en-US" smtClean="0"/>
              <a:t>Avoidance Algorithms</a:t>
            </a:r>
          </a:p>
        </p:txBody>
      </p:sp>
      <p:sp>
        <p:nvSpPr>
          <p:cNvPr id="46083" name="Rectangle 3"/>
          <p:cNvSpPr>
            <a:spLocks noGrp="1" noChangeArrowheads="1"/>
          </p:cNvSpPr>
          <p:nvPr>
            <p:ph type="body" idx="1"/>
          </p:nvPr>
        </p:nvSpPr>
        <p:spPr>
          <a:xfrm>
            <a:off x="906462" y="1171575"/>
            <a:ext cx="7323137" cy="4483100"/>
          </a:xfrm>
        </p:spPr>
        <p:txBody>
          <a:bodyPr/>
          <a:lstStyle/>
          <a:p>
            <a:r>
              <a:rPr lang="en-US" altLang="en-US" dirty="0" smtClean="0"/>
              <a:t>Single instance of a resource type</a:t>
            </a:r>
          </a:p>
          <a:p>
            <a:pPr lvl="1"/>
            <a:r>
              <a:rPr lang="en-US" altLang="en-US" dirty="0" smtClean="0"/>
              <a:t>Use a resource-allocation graph</a:t>
            </a:r>
          </a:p>
          <a:p>
            <a:pPr lvl="1">
              <a:buFont typeface="Monotype Sorts" pitchFamily="-84" charset="2"/>
              <a:buNone/>
            </a:pPr>
            <a:endParaRPr lang="en-US" altLang="en-US" dirty="0" smtClean="0"/>
          </a:p>
          <a:p>
            <a:r>
              <a:rPr lang="en-US" altLang="en-US" dirty="0" smtClean="0"/>
              <a:t>Multiple instances of a resource type</a:t>
            </a:r>
          </a:p>
          <a:p>
            <a:pPr lvl="1"/>
            <a:r>
              <a:rPr lang="en-US" altLang="en-US" dirty="0" smtClean="0"/>
              <a:t> Use the banker</a:t>
            </a:r>
            <a:r>
              <a:rPr lang="ja-JP" altLang="en-US" dirty="0" smtClean="0"/>
              <a:t>’</a:t>
            </a:r>
            <a:r>
              <a:rPr lang="en-US" altLang="ja-JP" dirty="0" smtClean="0"/>
              <a:t>s algorithm</a:t>
            </a:r>
            <a:endParaRPr lang="en-US" altLang="en-US" dirty="0" smtClean="0"/>
          </a:p>
        </p:txBody>
      </p:sp>
    </p:spTree>
    <p:extLst>
      <p:ext uri="{BB962C8B-B14F-4D97-AF65-F5344CB8AC3E}">
        <p14:creationId xmlns:p14="http://schemas.microsoft.com/office/powerpoint/2010/main" val="155509948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457200" y="304800"/>
            <a:ext cx="7831138" cy="576262"/>
          </a:xfrm>
        </p:spPr>
        <p:txBody>
          <a:bodyPr/>
          <a:lstStyle/>
          <a:p>
            <a:pPr eaLnBrk="1" hangingPunct="1"/>
            <a:r>
              <a:rPr lang="en-US" altLang="en-US" sz="3600" dirty="0" smtClean="0"/>
              <a:t>Resource-Allocation Graph Scheme</a:t>
            </a:r>
          </a:p>
        </p:txBody>
      </p:sp>
      <p:sp>
        <p:nvSpPr>
          <p:cNvPr id="48131" name="Rectangle 3"/>
          <p:cNvSpPr>
            <a:spLocks noGrp="1" noChangeArrowheads="1"/>
          </p:cNvSpPr>
          <p:nvPr>
            <p:ph type="body" idx="1"/>
          </p:nvPr>
        </p:nvSpPr>
        <p:spPr>
          <a:xfrm>
            <a:off x="762000" y="1143000"/>
            <a:ext cx="8153400" cy="4483100"/>
          </a:xfrm>
        </p:spPr>
        <p:txBody>
          <a:bodyPr/>
          <a:lstStyle/>
          <a:p>
            <a:r>
              <a:rPr lang="en-US" altLang="en-US" sz="2400" b="1" dirty="0" smtClean="0">
                <a:solidFill>
                  <a:srgbClr val="3366FF"/>
                </a:solidFill>
              </a:rPr>
              <a:t>Claim edge</a:t>
            </a:r>
            <a:r>
              <a:rPr lang="en-US" altLang="en-US" sz="2400" dirty="0" smtClean="0">
                <a:solidFill>
                  <a:srgbClr val="3366FF"/>
                </a:solidFill>
              </a:rPr>
              <a:t> </a:t>
            </a:r>
            <a:r>
              <a:rPr lang="en-US" altLang="en-US" sz="2400" i="1" dirty="0" smtClean="0"/>
              <a:t>P</a:t>
            </a:r>
            <a:r>
              <a:rPr lang="en-US" altLang="en-US" sz="2400" i="1" baseline="-25000" dirty="0" smtClean="0"/>
              <a:t>i</a:t>
            </a:r>
            <a:r>
              <a:rPr lang="en-US" altLang="en-US" sz="2400" dirty="0" smtClean="0"/>
              <a:t> </a:t>
            </a:r>
            <a:r>
              <a:rPr lang="en-US" altLang="en-US" sz="2400" dirty="0" smtClean="0">
                <a:sym typeface="Symbol" panose="05050102010706020507" pitchFamily="18" charset="2"/>
              </a:rPr>
              <a:t> </a:t>
            </a:r>
            <a:r>
              <a:rPr lang="en-US" altLang="en-US" sz="2400" i="1" dirty="0" err="1" smtClean="0">
                <a:sym typeface="Symbol" panose="05050102010706020507" pitchFamily="18" charset="2"/>
              </a:rPr>
              <a:t>R</a:t>
            </a:r>
            <a:r>
              <a:rPr lang="en-US" altLang="en-US" sz="2400" i="1" baseline="-25000" dirty="0" err="1" smtClean="0">
                <a:sym typeface="Symbol" panose="05050102010706020507" pitchFamily="18" charset="2"/>
              </a:rPr>
              <a:t>j</a:t>
            </a:r>
            <a:r>
              <a:rPr lang="en-US" altLang="en-US" sz="2400" dirty="0" smtClean="0">
                <a:sym typeface="Symbol" panose="05050102010706020507" pitchFamily="18" charset="2"/>
              </a:rPr>
              <a:t> indicated that process </a:t>
            </a:r>
            <a:r>
              <a:rPr lang="en-US" altLang="en-US" sz="2400" i="1" dirty="0" err="1" smtClean="0">
                <a:sym typeface="Symbol" panose="05050102010706020507" pitchFamily="18" charset="2"/>
              </a:rPr>
              <a:t>P</a:t>
            </a:r>
            <a:r>
              <a:rPr lang="en-US" altLang="en-US" sz="2400" i="1" baseline="-25000" dirty="0" err="1" smtClean="0">
                <a:sym typeface="Symbol" panose="05050102010706020507" pitchFamily="18" charset="2"/>
              </a:rPr>
              <a:t>j</a:t>
            </a:r>
            <a:r>
              <a:rPr lang="en-US" altLang="en-US" sz="2400" dirty="0" smtClean="0">
                <a:sym typeface="Symbol" panose="05050102010706020507" pitchFamily="18" charset="2"/>
              </a:rPr>
              <a:t> may request resource </a:t>
            </a:r>
            <a:r>
              <a:rPr lang="en-US" altLang="en-US" sz="2400" i="1" dirty="0" err="1" smtClean="0">
                <a:sym typeface="Symbol" panose="05050102010706020507" pitchFamily="18" charset="2"/>
              </a:rPr>
              <a:t>R</a:t>
            </a:r>
            <a:r>
              <a:rPr lang="en-US" altLang="en-US" sz="2400" i="1" baseline="-25000" dirty="0" err="1" smtClean="0">
                <a:sym typeface="Symbol" panose="05050102010706020507" pitchFamily="18" charset="2"/>
              </a:rPr>
              <a:t>j</a:t>
            </a:r>
            <a:r>
              <a:rPr lang="en-US" altLang="en-US" sz="2400" dirty="0" smtClean="0">
                <a:sym typeface="Symbol" panose="05050102010706020507" pitchFamily="18" charset="2"/>
              </a:rPr>
              <a:t>; represented by a dashed line</a:t>
            </a:r>
          </a:p>
          <a:p>
            <a:endParaRPr lang="en-US" altLang="en-US" sz="2400" dirty="0" smtClean="0">
              <a:sym typeface="Symbol" panose="05050102010706020507" pitchFamily="18" charset="2"/>
            </a:endParaRPr>
          </a:p>
          <a:p>
            <a:r>
              <a:rPr lang="en-US" altLang="en-US" sz="2400" dirty="0" smtClean="0">
                <a:sym typeface="Symbol" panose="05050102010706020507" pitchFamily="18" charset="2"/>
              </a:rPr>
              <a:t>Claim edge converts to request edge when a process requests a resource</a:t>
            </a:r>
          </a:p>
          <a:p>
            <a:endParaRPr lang="en-US" altLang="en-US" sz="2400" dirty="0" smtClean="0">
              <a:sym typeface="Symbol" panose="05050102010706020507" pitchFamily="18" charset="2"/>
            </a:endParaRPr>
          </a:p>
          <a:p>
            <a:r>
              <a:rPr lang="en-US" altLang="en-US" sz="2400" dirty="0" smtClean="0">
                <a:sym typeface="Symbol" panose="05050102010706020507" pitchFamily="18" charset="2"/>
              </a:rPr>
              <a:t>Request edge converted to an assignment edge when the  resource is allocated to the process</a:t>
            </a:r>
          </a:p>
          <a:p>
            <a:endParaRPr lang="en-US" altLang="en-US" sz="2400" dirty="0" smtClean="0">
              <a:sym typeface="Symbol" panose="05050102010706020507" pitchFamily="18" charset="2"/>
            </a:endParaRPr>
          </a:p>
          <a:p>
            <a:r>
              <a:rPr lang="en-US" altLang="en-US" sz="2400" dirty="0" smtClean="0">
                <a:sym typeface="Symbol" panose="05050102010706020507" pitchFamily="18" charset="2"/>
              </a:rPr>
              <a:t>When a resource is released by a process, assignment edge reconverts to a claim edge</a:t>
            </a:r>
          </a:p>
          <a:p>
            <a:endParaRPr lang="en-US" altLang="en-US" sz="2400" dirty="0" smtClean="0">
              <a:sym typeface="Symbol" panose="05050102010706020507" pitchFamily="18" charset="2"/>
            </a:endParaRPr>
          </a:p>
          <a:p>
            <a:r>
              <a:rPr lang="en-US" altLang="en-US" sz="2400" dirty="0" smtClean="0">
                <a:sym typeface="Symbol" panose="05050102010706020507" pitchFamily="18" charset="2"/>
              </a:rPr>
              <a:t>Resources must be claimed </a:t>
            </a:r>
            <a:r>
              <a:rPr lang="en-US" altLang="en-US" sz="2400" i="1" dirty="0" smtClean="0">
                <a:sym typeface="Symbol" panose="05050102010706020507" pitchFamily="18" charset="2"/>
              </a:rPr>
              <a:t>a priori</a:t>
            </a:r>
            <a:r>
              <a:rPr lang="en-US" altLang="en-US" sz="2400" dirty="0" smtClean="0">
                <a:sym typeface="Symbol" panose="05050102010706020507" pitchFamily="18" charset="2"/>
              </a:rPr>
              <a:t> in the system</a:t>
            </a:r>
            <a:endParaRPr lang="en-US" altLang="en-US" sz="2400" dirty="0" smtClean="0"/>
          </a:p>
        </p:txBody>
      </p:sp>
    </p:spTree>
    <p:extLst>
      <p:ext uri="{BB962C8B-B14F-4D97-AF65-F5344CB8AC3E}">
        <p14:creationId xmlns:p14="http://schemas.microsoft.com/office/powerpoint/2010/main" val="320875022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741363" y="280988"/>
            <a:ext cx="8224837" cy="457200"/>
          </a:xfrm>
        </p:spPr>
        <p:txBody>
          <a:bodyPr/>
          <a:lstStyle/>
          <a:p>
            <a:pPr eaLnBrk="1" hangingPunct="1"/>
            <a:r>
              <a:rPr lang="en-US" altLang="en-US" sz="2800" smtClean="0"/>
              <a:t>Resource-Allocation Graph</a:t>
            </a:r>
          </a:p>
        </p:txBody>
      </p:sp>
      <p:pic>
        <p:nvPicPr>
          <p:cNvPr id="50179" name="Picture 4" descr="7"/>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1166406" y="1409701"/>
            <a:ext cx="2819805"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p:cNvSpPr txBox="1"/>
          <p:nvPr/>
        </p:nvSpPr>
        <p:spPr>
          <a:xfrm>
            <a:off x="4709306" y="2209800"/>
            <a:ext cx="4288353" cy="923330"/>
          </a:xfrm>
          <a:prstGeom prst="rect">
            <a:avLst/>
          </a:prstGeom>
          <a:noFill/>
        </p:spPr>
        <p:txBody>
          <a:bodyPr wrap="none" rtlCol="0">
            <a:spAutoFit/>
          </a:bodyPr>
          <a:lstStyle/>
          <a:p>
            <a:r>
              <a:rPr lang="en-US" dirty="0" smtClean="0"/>
              <a:t>P2 requests for R2</a:t>
            </a:r>
          </a:p>
          <a:p>
            <a:endParaRPr lang="en-US" dirty="0"/>
          </a:p>
          <a:p>
            <a:r>
              <a:rPr lang="en-US" dirty="0" smtClean="0"/>
              <a:t>Claim edge converted to a request edge</a:t>
            </a:r>
            <a:endParaRPr lang="en-IN" dirty="0"/>
          </a:p>
        </p:txBody>
      </p:sp>
      <p:cxnSp>
        <p:nvCxnSpPr>
          <p:cNvPr id="5" name="Straight Arrow Connector 4"/>
          <p:cNvCxnSpPr/>
          <p:nvPr/>
        </p:nvCxnSpPr>
        <p:spPr>
          <a:xfrm flipH="1">
            <a:off x="3447875" y="2971800"/>
            <a:ext cx="1124125" cy="44251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4" descr="7"/>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424691" y="3429000"/>
            <a:ext cx="2819805"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13" name="Straight Arrow Connector 12"/>
          <p:cNvCxnSpPr/>
          <p:nvPr/>
        </p:nvCxnSpPr>
        <p:spPr>
          <a:xfrm flipH="1">
            <a:off x="7239000" y="5029200"/>
            <a:ext cx="609600" cy="609600"/>
          </a:xfrm>
          <a:prstGeom prst="straightConnector1">
            <a:avLst/>
          </a:prstGeom>
          <a:ln w="381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4" name="Straight Arrow Connector 3"/>
          <p:cNvCxnSpPr/>
          <p:nvPr/>
        </p:nvCxnSpPr>
        <p:spPr>
          <a:xfrm>
            <a:off x="4572000" y="2971800"/>
            <a:ext cx="2819400" cy="2286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0135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1131888" y="260350"/>
            <a:ext cx="8243887" cy="457200"/>
          </a:xfrm>
        </p:spPr>
        <p:txBody>
          <a:bodyPr/>
          <a:lstStyle/>
          <a:p>
            <a:pPr eaLnBrk="1" hangingPunct="1"/>
            <a:r>
              <a:rPr lang="en-US" altLang="en-US" sz="2800" u="sng" dirty="0" smtClean="0"/>
              <a:t>Unsafe</a:t>
            </a:r>
            <a:r>
              <a:rPr lang="en-US" altLang="en-US" sz="2800" dirty="0" smtClean="0"/>
              <a:t> State In Resource-Allocation Graph</a:t>
            </a:r>
          </a:p>
        </p:txBody>
      </p:sp>
      <p:pic>
        <p:nvPicPr>
          <p:cNvPr id="52227" name="Picture 4" descr="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1282700"/>
            <a:ext cx="3360738" cy="340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p:cNvSpPr/>
          <p:nvPr/>
        </p:nvSpPr>
        <p:spPr>
          <a:xfrm>
            <a:off x="6096000" y="5410200"/>
            <a:ext cx="2667000" cy="5127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FF0000"/>
                </a:solidFill>
              </a:rPr>
              <a:t>Will not be allocated</a:t>
            </a:r>
          </a:p>
          <a:p>
            <a:pPr algn="ctr"/>
            <a:r>
              <a:rPr lang="en-US" dirty="0" smtClean="0">
                <a:solidFill>
                  <a:srgbClr val="FF0000"/>
                </a:solidFill>
              </a:rPr>
              <a:t>P2 put to sleep</a:t>
            </a:r>
            <a:endParaRPr lang="en-IN" dirty="0">
              <a:solidFill>
                <a:srgbClr val="FF0000"/>
              </a:solidFill>
            </a:endParaRPr>
          </a:p>
        </p:txBody>
      </p:sp>
      <p:cxnSp>
        <p:nvCxnSpPr>
          <p:cNvPr id="4" name="Straight Arrow Connector 3"/>
          <p:cNvCxnSpPr/>
          <p:nvPr/>
        </p:nvCxnSpPr>
        <p:spPr>
          <a:xfrm flipH="1" flipV="1">
            <a:off x="5253832" y="3886200"/>
            <a:ext cx="765968" cy="45720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a:off x="6090407" y="4083181"/>
            <a:ext cx="2667000" cy="5127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rgbClr val="FF0000"/>
                </a:solidFill>
              </a:rPr>
              <a:t>Pretend to be allocated</a:t>
            </a:r>
          </a:p>
          <a:p>
            <a:pPr algn="ctr"/>
            <a:r>
              <a:rPr lang="en-US" dirty="0" smtClean="0">
                <a:solidFill>
                  <a:srgbClr val="FF0000"/>
                </a:solidFill>
              </a:rPr>
              <a:t>Check for cycle</a:t>
            </a:r>
            <a:endParaRPr lang="en-IN" dirty="0">
              <a:solidFill>
                <a:srgbClr val="FF0000"/>
              </a:solidFill>
            </a:endParaRPr>
          </a:p>
        </p:txBody>
      </p:sp>
    </p:spTree>
    <p:extLst>
      <p:ext uri="{BB962C8B-B14F-4D97-AF65-F5344CB8AC3E}">
        <p14:creationId xmlns:p14="http://schemas.microsoft.com/office/powerpoint/2010/main" val="2768848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303338" y="150813"/>
            <a:ext cx="7656512" cy="576262"/>
          </a:xfrm>
        </p:spPr>
        <p:txBody>
          <a:bodyPr/>
          <a:lstStyle/>
          <a:p>
            <a:pPr eaLnBrk="1" hangingPunct="1"/>
            <a:r>
              <a:rPr lang="en-US" altLang="en-US" sz="2800" smtClean="0"/>
              <a:t>Resource-Allocation Graph Algorithm</a:t>
            </a:r>
          </a:p>
        </p:txBody>
      </p:sp>
      <p:sp>
        <p:nvSpPr>
          <p:cNvPr id="54275" name="Rectangle 3"/>
          <p:cNvSpPr>
            <a:spLocks noGrp="1" noChangeArrowheads="1"/>
          </p:cNvSpPr>
          <p:nvPr>
            <p:ph type="body" idx="1"/>
          </p:nvPr>
        </p:nvSpPr>
        <p:spPr>
          <a:xfrm>
            <a:off x="533400" y="1066800"/>
            <a:ext cx="8382000" cy="4303713"/>
          </a:xfrm>
        </p:spPr>
        <p:txBody>
          <a:bodyPr/>
          <a:lstStyle/>
          <a:p>
            <a:r>
              <a:rPr lang="en-US" altLang="en-US" sz="2400" dirty="0" smtClean="0"/>
              <a:t>Suppose that process</a:t>
            </a:r>
            <a:r>
              <a:rPr lang="en-US" altLang="en-US" sz="2400" i="1" dirty="0" smtClean="0"/>
              <a:t> P</a:t>
            </a:r>
            <a:r>
              <a:rPr lang="en-US" altLang="en-US" sz="2400" i="1" baseline="-25000" dirty="0" smtClean="0"/>
              <a:t>i</a:t>
            </a:r>
            <a:r>
              <a:rPr lang="en-US" altLang="en-US" sz="2400" dirty="0" smtClean="0"/>
              <a:t> requests a resource </a:t>
            </a:r>
            <a:r>
              <a:rPr lang="en-US" altLang="en-US" sz="2400" i="1" dirty="0" err="1" smtClean="0">
                <a:sym typeface="Symbol" panose="05050102010706020507" pitchFamily="18" charset="2"/>
              </a:rPr>
              <a:t>R</a:t>
            </a:r>
            <a:r>
              <a:rPr lang="en-US" altLang="en-US" sz="2400" i="1" baseline="-25000" dirty="0" err="1" smtClean="0">
                <a:sym typeface="Symbol" panose="05050102010706020507" pitchFamily="18" charset="2"/>
              </a:rPr>
              <a:t>j</a:t>
            </a:r>
            <a:endParaRPr lang="en-US" altLang="en-US" sz="2400" i="1" baseline="-25000" dirty="0" smtClean="0">
              <a:sym typeface="Symbol" panose="05050102010706020507" pitchFamily="18" charset="2"/>
            </a:endParaRPr>
          </a:p>
          <a:p>
            <a:endParaRPr lang="en-US" altLang="en-US" sz="2400" i="1" baseline="-25000" dirty="0" smtClean="0">
              <a:sym typeface="Symbol" panose="05050102010706020507" pitchFamily="18" charset="2"/>
            </a:endParaRPr>
          </a:p>
          <a:p>
            <a:r>
              <a:rPr lang="en-US" altLang="en-US" sz="2400" dirty="0" smtClean="0">
                <a:sym typeface="Symbol" panose="05050102010706020507" pitchFamily="18" charset="2"/>
              </a:rPr>
              <a:t>The request can be granted only if converting the request edge to an assignment edge does not result in the formation of a cycle in the resource allocation graph</a:t>
            </a:r>
          </a:p>
        </p:txBody>
      </p:sp>
    </p:spTree>
    <p:extLst>
      <p:ext uri="{BB962C8B-B14F-4D97-AF65-F5344CB8AC3E}">
        <p14:creationId xmlns:p14="http://schemas.microsoft.com/office/powerpoint/2010/main" val="375267349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a:xfrm>
            <a:off x="914400" y="182563"/>
            <a:ext cx="7772400" cy="576262"/>
          </a:xfrm>
        </p:spPr>
        <p:txBody>
          <a:bodyPr/>
          <a:lstStyle/>
          <a:p>
            <a:pPr eaLnBrk="1" hangingPunct="1"/>
            <a:r>
              <a:rPr lang="en-US" altLang="en-US" smtClean="0"/>
              <a:t>Banker’s Algorithm</a:t>
            </a:r>
          </a:p>
        </p:txBody>
      </p:sp>
      <p:sp>
        <p:nvSpPr>
          <p:cNvPr id="56323" name="Rectangle 3"/>
          <p:cNvSpPr>
            <a:spLocks noGrp="1" noChangeArrowheads="1"/>
          </p:cNvSpPr>
          <p:nvPr>
            <p:ph type="body" idx="1"/>
          </p:nvPr>
        </p:nvSpPr>
        <p:spPr>
          <a:xfrm>
            <a:off x="457200" y="1066800"/>
            <a:ext cx="8285162" cy="4441825"/>
          </a:xfrm>
        </p:spPr>
        <p:txBody>
          <a:bodyPr/>
          <a:lstStyle/>
          <a:p>
            <a:r>
              <a:rPr lang="en-US" altLang="en-US" sz="2800" dirty="0" smtClean="0"/>
              <a:t>Multiple resource instances</a:t>
            </a:r>
            <a:br>
              <a:rPr lang="en-US" altLang="en-US" sz="2800" dirty="0" smtClean="0"/>
            </a:br>
            <a:endParaRPr lang="en-US" altLang="en-US" sz="2800" dirty="0" smtClean="0"/>
          </a:p>
          <a:p>
            <a:r>
              <a:rPr lang="en-US" altLang="en-US" sz="2800" dirty="0" smtClean="0"/>
              <a:t>Each process must a priori claim maximum use</a:t>
            </a:r>
            <a:br>
              <a:rPr lang="en-US" altLang="en-US" sz="2800" dirty="0" smtClean="0"/>
            </a:br>
            <a:endParaRPr lang="en-US" altLang="en-US" sz="2800" dirty="0" smtClean="0"/>
          </a:p>
          <a:p>
            <a:r>
              <a:rPr lang="en-US" altLang="en-US" sz="2800" dirty="0" smtClean="0"/>
              <a:t>When a process requests a resource it may have to wait  </a:t>
            </a:r>
            <a:br>
              <a:rPr lang="en-US" altLang="en-US" sz="2800" dirty="0" smtClean="0"/>
            </a:br>
            <a:endParaRPr lang="en-US" altLang="en-US" sz="2800" dirty="0" smtClean="0"/>
          </a:p>
          <a:p>
            <a:r>
              <a:rPr lang="en-US" altLang="en-US" sz="2800" dirty="0" smtClean="0"/>
              <a:t>When a process gets all its resources it must return them in a finite amount of time</a:t>
            </a:r>
          </a:p>
        </p:txBody>
      </p:sp>
    </p:spTree>
    <p:extLst>
      <p:ext uri="{BB962C8B-B14F-4D97-AF65-F5344CB8AC3E}">
        <p14:creationId xmlns:p14="http://schemas.microsoft.com/office/powerpoint/2010/main" val="52238309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Title 1"/>
          <p:cNvSpPr>
            <a:spLocks noGrp="1"/>
          </p:cNvSpPr>
          <p:nvPr>
            <p:ph type="title"/>
          </p:nvPr>
        </p:nvSpPr>
        <p:spPr/>
        <p:txBody>
          <a:bodyPr/>
          <a:lstStyle/>
          <a:p>
            <a:r>
              <a:rPr lang="en-US">
                <a:latin typeface="Arial" charset="0"/>
              </a:rPr>
              <a:t>Example with a Banker</a:t>
            </a:r>
          </a:p>
        </p:txBody>
      </p:sp>
      <p:sp>
        <p:nvSpPr>
          <p:cNvPr id="125954" name="Content Placeholder 2"/>
          <p:cNvSpPr>
            <a:spLocks noGrp="1"/>
          </p:cNvSpPr>
          <p:nvPr>
            <p:ph idx="1"/>
          </p:nvPr>
        </p:nvSpPr>
        <p:spPr/>
        <p:txBody>
          <a:bodyPr/>
          <a:lstStyle/>
          <a:p>
            <a:r>
              <a:rPr lang="en-US" sz="2400">
                <a:latin typeface="Arial" charset="0"/>
              </a:rPr>
              <a:t>Consider a banker with 4 clients (P</a:t>
            </a:r>
            <a:r>
              <a:rPr lang="en-US" sz="2400" baseline="-25000">
                <a:latin typeface="Arial" charset="0"/>
              </a:rPr>
              <a:t>1</a:t>
            </a:r>
            <a:r>
              <a:rPr lang="en-US" sz="2400">
                <a:latin typeface="Arial" charset="0"/>
              </a:rPr>
              <a:t>, P</a:t>
            </a:r>
            <a:r>
              <a:rPr lang="en-US" sz="2400" baseline="-25000">
                <a:latin typeface="Arial" charset="0"/>
              </a:rPr>
              <a:t>2</a:t>
            </a:r>
            <a:r>
              <a:rPr lang="en-US" sz="2400">
                <a:latin typeface="Arial" charset="0"/>
              </a:rPr>
              <a:t>, P</a:t>
            </a:r>
            <a:r>
              <a:rPr lang="en-US" sz="2400" baseline="-25000">
                <a:latin typeface="Arial" charset="0"/>
              </a:rPr>
              <a:t>3</a:t>
            </a:r>
            <a:r>
              <a:rPr lang="en-US" sz="2400">
                <a:latin typeface="Arial" charset="0"/>
              </a:rPr>
              <a:t>, P</a:t>
            </a:r>
            <a:r>
              <a:rPr lang="en-US" sz="2400" baseline="-25000">
                <a:latin typeface="Arial" charset="0"/>
              </a:rPr>
              <a:t>4</a:t>
            </a:r>
            <a:r>
              <a:rPr lang="en-US" sz="2400">
                <a:latin typeface="Arial" charset="0"/>
              </a:rPr>
              <a:t>). </a:t>
            </a:r>
          </a:p>
          <a:p>
            <a:pPr lvl="1"/>
            <a:r>
              <a:rPr lang="en-US" sz="2000">
                <a:latin typeface="Arial" charset="0"/>
                <a:cs typeface="Arial" charset="0"/>
              </a:rPr>
              <a:t>Each client has certain credit limits (totaling 20 units)</a:t>
            </a:r>
          </a:p>
          <a:p>
            <a:pPr lvl="1"/>
            <a:r>
              <a:rPr lang="en-US" sz="2000">
                <a:latin typeface="Arial" charset="0"/>
                <a:cs typeface="Arial" charset="0"/>
              </a:rPr>
              <a:t>The banker knows that max credits will not be used at once, so he keeps only 10 units</a:t>
            </a:r>
          </a:p>
          <a:p>
            <a:pPr lvl="1"/>
            <a:endParaRPr lang="en-US" sz="2000">
              <a:latin typeface="Arial" charset="0"/>
              <a:cs typeface="Arial" charset="0"/>
            </a:endParaRPr>
          </a:p>
          <a:p>
            <a:pPr lvl="1"/>
            <a:endParaRPr lang="en-US" sz="2000">
              <a:latin typeface="Arial" charset="0"/>
              <a:cs typeface="Arial" charset="0"/>
            </a:endParaRPr>
          </a:p>
          <a:p>
            <a:pPr lvl="1"/>
            <a:endParaRPr lang="en-US" sz="2000">
              <a:latin typeface="Arial" charset="0"/>
              <a:cs typeface="Arial" charset="0"/>
            </a:endParaRPr>
          </a:p>
          <a:p>
            <a:pPr lvl="1"/>
            <a:endParaRPr lang="en-US" sz="2000">
              <a:latin typeface="Arial" charset="0"/>
              <a:cs typeface="Arial" charset="0"/>
            </a:endParaRPr>
          </a:p>
          <a:p>
            <a:pPr lvl="1"/>
            <a:endParaRPr lang="en-US" sz="2000">
              <a:latin typeface="Arial" charset="0"/>
              <a:cs typeface="Arial" charset="0"/>
            </a:endParaRPr>
          </a:p>
          <a:p>
            <a:pPr lvl="1"/>
            <a:endParaRPr lang="en-US" sz="2000">
              <a:latin typeface="Arial" charset="0"/>
              <a:cs typeface="Arial" charset="0"/>
            </a:endParaRPr>
          </a:p>
          <a:p>
            <a:pPr lvl="1"/>
            <a:r>
              <a:rPr lang="en-US" sz="2000">
                <a:latin typeface="Arial" charset="0"/>
                <a:cs typeface="Arial" charset="0"/>
              </a:rPr>
              <a:t>Clients declare </a:t>
            </a:r>
            <a:r>
              <a:rPr lang="en-US" sz="2000">
                <a:solidFill>
                  <a:srgbClr val="3333FF"/>
                </a:solidFill>
                <a:latin typeface="Arial" charset="0"/>
                <a:cs typeface="Arial" charset="0"/>
              </a:rPr>
              <a:t>maximum</a:t>
            </a:r>
            <a:r>
              <a:rPr lang="en-US" sz="2000">
                <a:latin typeface="Arial" charset="0"/>
                <a:cs typeface="Arial" charset="0"/>
              </a:rPr>
              <a:t> credits in advance. The banker can allocate credits provided no unsafe state is reached.</a:t>
            </a:r>
          </a:p>
          <a:p>
            <a:pPr lvl="1">
              <a:buFontTx/>
              <a:buNone/>
            </a:pPr>
            <a:endParaRPr lang="en-US" sz="2000">
              <a:latin typeface="Arial" charset="0"/>
              <a:cs typeface="Arial" charset="0"/>
            </a:endParaRPr>
          </a:p>
        </p:txBody>
      </p:sp>
      <p:graphicFrame>
        <p:nvGraphicFramePr>
          <p:cNvPr id="4" name="Table 3"/>
          <p:cNvGraphicFramePr>
            <a:graphicFrameLocks noGrp="1"/>
          </p:cNvGraphicFramePr>
          <p:nvPr/>
        </p:nvGraphicFramePr>
        <p:xfrm>
          <a:off x="3260725" y="3276600"/>
          <a:ext cx="1920876" cy="1279752"/>
        </p:xfrm>
        <a:graphic>
          <a:graphicData uri="http://schemas.openxmlformats.org/drawingml/2006/table">
            <a:tbl>
              <a:tblPr firstRow="1" bandRow="1">
                <a:tableStyleId>{C083E6E3-FA7D-4D7B-A595-EF9225AFEA82}</a:tableStyleId>
              </a:tblPr>
              <a:tblGrid>
                <a:gridCol w="640292">
                  <a:extLst>
                    <a:ext uri="{9D8B030D-6E8A-4147-A177-3AD203B41FA5}">
                      <a16:colId xmlns:a16="http://schemas.microsoft.com/office/drawing/2014/main" val="20000"/>
                    </a:ext>
                  </a:extLst>
                </a:gridCol>
                <a:gridCol w="640292">
                  <a:extLst>
                    <a:ext uri="{9D8B030D-6E8A-4147-A177-3AD203B41FA5}">
                      <a16:colId xmlns:a16="http://schemas.microsoft.com/office/drawing/2014/main" val="20001"/>
                    </a:ext>
                  </a:extLst>
                </a:gridCol>
                <a:gridCol w="640292">
                  <a:extLst>
                    <a:ext uri="{9D8B030D-6E8A-4147-A177-3AD203B41FA5}">
                      <a16:colId xmlns:a16="http://schemas.microsoft.com/office/drawing/2014/main" val="20002"/>
                    </a:ext>
                  </a:extLst>
                </a:gridCol>
              </a:tblGrid>
              <a:tr h="319881">
                <a:tc>
                  <a:txBody>
                    <a:bodyPr/>
                    <a:lstStyle/>
                    <a:p>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Has</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Max</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19881">
                <a:tc>
                  <a:txBody>
                    <a:bodyPr/>
                    <a:lstStyle/>
                    <a:p>
                      <a:r>
                        <a:rPr lang="en-US" sz="1500" dirty="0" smtClean="0"/>
                        <a:t>A</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3</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9</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19881">
                <a:tc>
                  <a:txBody>
                    <a:bodyPr/>
                    <a:lstStyle/>
                    <a:p>
                      <a:r>
                        <a:rPr lang="en-US" sz="1500" dirty="0" smtClean="0"/>
                        <a:t>B</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2</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4</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19881">
                <a:tc>
                  <a:txBody>
                    <a:bodyPr/>
                    <a:lstStyle/>
                    <a:p>
                      <a:r>
                        <a:rPr lang="en-US" sz="1500" dirty="0" smtClean="0"/>
                        <a:t>C</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2</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7</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25977" name="TextBox 4"/>
          <p:cNvSpPr txBox="1">
            <a:spLocks noChangeArrowheads="1"/>
          </p:cNvSpPr>
          <p:nvPr/>
        </p:nvSpPr>
        <p:spPr bwMode="auto">
          <a:xfrm>
            <a:off x="3278188" y="4495800"/>
            <a:ext cx="145415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free : 3 units</a:t>
            </a:r>
          </a:p>
        </p:txBody>
      </p:sp>
      <p:sp>
        <p:nvSpPr>
          <p:cNvPr id="125978" name="TextBox 4"/>
          <p:cNvSpPr txBox="1">
            <a:spLocks noChangeArrowheads="1"/>
          </p:cNvSpPr>
          <p:nvPr/>
        </p:nvSpPr>
        <p:spPr bwMode="auto">
          <a:xfrm>
            <a:off x="1295400" y="4495800"/>
            <a:ext cx="1673225" cy="369888"/>
          </a:xfrm>
          <a:prstGeom prst="rect">
            <a:avLst/>
          </a:prstGeom>
          <a:noFill/>
          <a:ln w="9525">
            <a:solidFill>
              <a:schemeClr val="accent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solidFill>
                  <a:srgbClr val="3333FF"/>
                </a:solidFill>
              </a:rPr>
              <a:t>Total : 10 units</a:t>
            </a:r>
          </a:p>
        </p:txBody>
      </p:sp>
      <p:sp>
        <p:nvSpPr>
          <p:cNvPr id="125979" name="AutoShape 29" descr="Image result for banker clipart"/>
          <p:cNvSpPr>
            <a:spLocks noChangeAspect="1" noChangeArrowheads="1"/>
          </p:cNvSpPr>
          <p:nvPr/>
        </p:nvSpPr>
        <p:spPr bwMode="auto">
          <a:xfrm>
            <a:off x="155575" y="-144463"/>
            <a:ext cx="304800" cy="30480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25980" name="AutoShape 31" descr="data:image/png;base64,iVBORw0KGgoAAAANSUhEUgAAAOwAAADVCAMAAABjeOxDAAABuVBMVEX///8rMarvtY4AAAAWkwwsMq0sMq/0xDQtM7H0uZEWlwwWlQwXmAzvs4zwjmnzuJD0vzL0uzBB3zQrMaf19f/7+//0sCv19fXvr4jo6OjvpX/0ti70qCnvoHoFAAXvq4T0liIpLpz0qyr0nCSvra/Z2/olKo3o6fwpL6D0oSbvk27vmnT0kSDf398nLJS3t7fl5vwkKYfT09MhJXeQkJDExMcSXgwYG1YUbw0bH2V7e3vYpIEZGAzElXXe3/oWgQ4AQACfn58iJn2yh2oVeg0VGExYQzWjfGKLi4tyV0UdIWw7LSQKCxsNDihdXV0AABtycnKDZE9NTU0RVgwREzgMMgkUaQ66jW8OPQoLHAnQ0vlBQUAUFkIxJR0LKAgRTQwAADd4SjchISHrhx6Jax4iIRyRblYAACuvbVEECUFGMxDLnCpeSRVzURmkeyHclibgrzBlQRTUgR4uLS15SxcAGwCvaRkdEAg9LhWBZB6gbBzQpi+tiSdVOBEJKAaLWxkGDFUADwAgGQCiZhw+1TI4vC0dEBPPfVyTYEhRNSigaE4lJyx4eYk6OkFiYm6jpLy1ts7Heh+QkKdwEOPLAAAgAElEQVR4nO1di38aVfZPcpjp8Ii0kkixOhWlFNcCJQkhhKYUEsiDR17kUfOq2TZd21q1sZu6v2417vpTtz66/Yt/59w7M8wLkinQ3Z8fj0bzAOZ+73mfe+69fX1/0B/0B/1Bf9Dvn0IRopH/9DB6TvGxOhAd7dB/63Px//SAekbxJQRYPpjKuYkGpqbn8ee50H96WD0hhFqZHXC7/QOc/Ah4owyw9PuDG9mHygbCM5LfnVsGmPydwV2Bow2NpwZy51CaC//p8XWRggDLfluoHG4Ztn43zA3uw7RZgI3CvAGQ/J3A3YdcO6zE3AG0VPu/A/YGJ0/ESnCXYf+X/++6GxwDmDoZK0ObLgD0gLnB5NLI64jXkKvQXl91aH+CYLoHaJMAMo5iKdjtD7Y8p34Iy6fDOuCfgnrfSLfRhuowmxsYQHe+31u0YzA3ApVTYkXWliFIfCikuzcEdHrMYPjd0ziVPaQ5GOvDZ7X0rzasnevrS1OqMNYtLixpBgOnskufaUfIV3zW7KkZi+OpyOydoTE47M4YlppK5J6FyX3U3i6KDaNgkJmmLRSindNDZQZZyfmSsNSNgcQBmnNdZjnXDkx245MVCk2uAGzhB6/09RVgwwFjB/wbkFQ+pQCOU92xOtGcXgHqTSVCKQbKuRBz95x5BHPyQjpSmKNhb4ETrE2wI5Oy4yHtw9H88nwFM+Qm3KZ1RKFRQhv3Ttd0t6AP6UOndjsK2BxCDOJnGEZ8OkpCZYBqAphUaM4rCRt+7ZNVS4W626UIIwiHQVRZTsjlqVObYk5o0/CN6S204w6prjzLj2BU1i3BoPrBO5qlRJvfJTmehMl0vG+Y40V77IixBHaSvRWZu+/wyUugfgZ6VG6DQjCvup15KDeH0h3j1xevL9XRTS7NxdmQt04fUKjjKChSkXYa8Cw17T7aIuZfCqp5QvjQfMYgTAZHRrrkyOuwPxZiYPfnHYLNQSQYQsI3JynAcPLUn3TP4m5am+tB0OkTISfqhiyjdYmEQnzE+wfOwKI6pdlbC2NLdXBmNJd0vEOpTZMUK49HTjcNJdUJoDy7UemCv12CejwUj8fZmGVnxpgMJX/zFpv75MmPa1JaF5ei7T1sSjHC2zHwtcJqucsdq+4czMVH4gqFnIqx+wD4O8ecu8Ig6MQIWZvsm1Ok2H+nOQ/+eVC5jK/prEQ/Apgmc2JgdxyCnf8lzt6cfAVXuKKTY9QHKCAH/W7GS3XO/RQyqtKG7HckOhaq76cLkUg6neZ462AF1BZsuY5g6e3yiuNnj+hzDvdshRRh52DA7d9pMhaxNvnv3+ko5wtxOzeWTnO8cw6DCvdP9RH23nR9y/nTQS9HGATnaHnlaGpac7EsPNZNyE8dKW2wgBHFymE6meRDTjpK8BhYfBPRq4A1P82PQnyAcDXGlsFQ+euQs4wOJyMRNmBEKzuzUO6fVhBrBN+//yr5rE3F1o0xcUUzSDuGvw927mpDMMaWXwlwesVZvIhgk+y9BYi8wqNHwAYtmiqWZqKlrwzolQp/0XlCsDJWKBQUvEuQcwS2vEJIC5E6bFFu6tRajthUbQntALPPOwNGA9KNasjWXIETjnsSpp1YKHd5C6EWaBkXKjtl2XEtypa3szDrH3AfmYphKNVdyPS26gWVUBwdxVDu8i+FwtxzgHn0kPjP1LzTwqod2oEdNFz+A2P1Gr2vs9jbngpwuP/8+coSSXNhv2wL1k+rl+4BCxPm5cIcescpZXHTTzLoGK29uzOul6LhcppD2lGS4uz5Mvp0uT4WWbENK9zT5Wk3Gggz2yle3YeyTrdwUA6d0Agc2T3SNNc4iV3I8dLktxnlZo9gqW5bNkZ/ADn6j5kJ9LsdIwsOnEawBa0W0xIqlW46h0oxlGoPUVSnj8DuyX7KKGcp1TLHHJSTmOyp32khv33hixpXEOpkN3L3JX3ugTpZsYuhKEyHKZWzuskYHFTQYuyjtl+45516iOetIxl3brqMDJjsSsUtbRJCzCzsfI+/DBU/Kug8/i2nWiOEOsjRHrhz85XKrFZScciFFkaRiPUiRbpUkVkyFcVxpGadZTbYTf6BeqEG/LNKhENIzxPljoAylooyZBQDh74Wwbpte1XcFdjq3jptyLRk5x+AO4OctAcuM8HW2dsptvbFoV4kOo86VdbEGIXDEVgqOkP5AB21GbC/O+6m+SBujnCgbqaNFdgYHNTDxbjFbLLQu5TdhBVxvk108eKUznQ5FWNoLGwvklFHwEbnihleN9ffCywU9ueWyztlUsUdWPaf58ThUmHeLp6b9iNWxPkuEcLNNZfr2aLt6WkMEqIohkdLLLNezjXhdnuBVklyeAo/n0OsXDBJNgkueU27DPcI5wSxvvsRI4RLaNU/OhpiEBpSf3+/IAhSeHSbBFqzfzj1XW0LPaRaAWplJefOkZGZP88Fk2SToUUTYYWKzCvjC99FrH8iQrhvXzxQfBhOj5PcJw1RoV8hUQgs1BBuTv2g7iwEqFRgydRGBQ0OZc3li0wwiVc4/IuI1g92PtA/v0NgCeobb7yhoOUrq2S+nIzg8K7YryNRKFZRmMkFdCdA1NEIjxJYlF/mWD8idn3Eho+89dtKsbs8j1h/+IigKmjfvjhPhoymzEk5IaljrAp3AeDOtHuw+204WqGYIsLzb3NuaaKJrLVrExrMwTKCrcBf3tDQvvv2FAoBYXWUiB02xH4ziQE0VpiYdFY3taE5bSmpDLNcMpXxV34ktP6KjRijNk1dfPejH36CT1S0NDUYaaKfcrR0mYSUYAGLcBNV1gfQZQpiGMgA5GDnPMmwgvUH2GGs9S/bGKhB/to/vfGJivZP3EQB1J05xvpdK2OJBGJu18Gi1jLW+TeYZKpY37i2w0Tz4vkpi4XyoxBssNf+gOj+osgxvnYDnC4rxqFox1jG3FE47P5+hEkW6THJbIL9BH7k3DqPfunAGNYMlDEfYJw9gh9+hD9pnN1wzIsktMKKaFPQXTfLaATd62xuHs43wSLLjhWwgyjI6PhYMOnH8HUQ84AyC58+OiK2XvtEA+u8G2DlU3sp5mijvUDLejNhRwf2p50f4S8K2EFkOpSnqZtwamO2zBJ4iovf3oF/4av/dcSw4mvPzzr2FXdaSjE3U71Ai8oTf15pgv0B/vXGzhEDy0JG2hOg0vw0CjKBvQOfkOn+AeVYUe95p0HACAQkoQ1c4m0PwNKDz2ue5xMgwD9xxnI9nZo9WD6Yncopadjg4A7Mc6f8o+KTL553HLavQDZbxDTAFq/A9bb7DqiPrYNraO/8iJL5I5Q1sGxLDyXYiqVyD96BeR4cK4kAvjTnVGWDirBsp/rNqisI4XAMJ0HKvtKyyokEszy2R2b9wEIoNEznzzeTeL1BnjrClOH8RSXDI6g4LdNOQ54kFAOx0QzGD9WsEa4YbdAkhMX+QLXLATKnJTivy2RIMg+olGatlrBlxQP3IJUplASJomiHaSwSLKKsCqKQyADIRZ0wi0WAr/7xJUBCQEHuxjqAmajhijNLk8wNNMMbhmIJSnPugK0ADOrLMiQBOcfqBRnOTsSbBWiENeaG4cmHH1y58uhYxsmo9cRGRWDWz5jVlEzaibbDqkOcBnKsGWCW4dcKbryqUXHqJsZ0cbEUxrx9VEErZuH+Ox+8d+XKXzHAEhe6WprRaA6mBs8bKxXuwYMjxFspl2mBhO0q3ZlVV3wGdeSed9y8WJd1Vlgg0c3wX4iNaxfe/xDR/hl5LyS6n/0wmsQU6LxGvOTm9k8v76hOtnywkTNsRVQrcxhUOvU7cVWKVUUNL0IjIHCw595iaOklsR6BpUZRN5dNXTWVhFgTZNvyrt/teKWSFdqM/lXoR1FOiFyML7z1/jsf/g3FuGecpcCxPDXo9xsKxwoeP2/wsPNEVL5yXFXYuitZ4gi0UymRGahz5y689TmgoGP20+09AhpF9uFoeWPQUq6ems0N5qh1x7JoyfbT1h1jDULWmgRIowwt6e/XDz8DKtn0yBorFI+wqqppKfhA0dqKYXEEpXu67LRnkVPELMWahyW00ZoSVAjh3u72C8LLX7V6pkYbs7MYGw8YnS75XHj+8tCh308vLSUnZckuJJZSTG8FKZYIUJghZnqS+GgUhN+uvvgVwNiN67dYJ3eOrPSvl65f/dXZNvglLiTZsF0yS7wNC/08ESD17emurdAS/HL90vUXh7YVYx1WzOL3X16/fPX6dVjEgO/UW2nr0IgFUhT8LtiiXYBqQGV6jxk7CbUa/Hb9+tXrK9B62ZTvRJm8PHT56tWrL2FBCizY1otDk/X6ilGj01DCHFYQYmiMshaDTJJcgppqnnvK2BHUGCkM+wj26uVf26GtwH58eOgy0nWoknKhl1wxMzcJcOvbqjHeGwOVa7Eq4rZHW+KzIG330BQXIIO6IpbgZ+TY5cttJLkM+6HhoSFCW4ciE0fykkYmrkANU/OArt09RPoaU/kWk+2ri+huWJwsRHvnYxErfwZGMteJZ5f3W6CliClOWJHSUFOEEf0/1HVp3gqbun7xU54OBdOFQ0xuGs0wUUg07PwPSS8zUmKjd4wtQJQNIwC/QB15NjQUB9tGFvK68T6OdehQy1YwvEWzs6IcuBM/VAyQmDlE/YggUKgtJMRAtdpEZet+WMDYQP+T6J2P3WKBKY6gCC9+hiQBGR4htOZwmOxwum94mFg7PAbQXJsSpBRbU94q0HbJFJ8EtKiMSsWYRJWWDARsERp4u4i6IfSMsXG4G+NjRim+9PEhxBna0L5+dVjDWiCsiHY4DisvoNR0IZiIRzPbVQIXVdPTDBSLxYSg1BHRtcQs4CxgMbYIj/aIsaFJyKpFzQAGCpdewApjHO1AJ7gaXvdgma05DXNagReX7iwahFEQpUANqjFNuDNyv9ismJ4KLM2Q3Bu3E1yBWwnNaqTgt0uXLr1ESR1CNLy3sTI7leNbIilA/I6qTQQVI9yXl67/DGHzULOKhWY/lGr6yTgd2P7+2itkFydTeguhSvqZf3Hp0seXViDEeIcC/vXXTOl2ymUKEO89+jdzMfinEDy/hMFW00Q1wTZLLmLDsAaLJuFknUXqRsU4FBkbmwvpHEQBFhP6MjV62evXL3388cfXtjj30nD/7LmnDx/cu4ZIn3z27ytX/qyWYOo0L9cvQ81kVDEYCDc/sLrtHCy+quOqIttGhubj2laE9hmiBMdZ9KbnSu3wKgP7AiFxUT13FnPpCxfe//xDqpUgHfHOjiT8jFivX17ioXuTArLcxCca6y9CotZ/MqGL7bRejP6gFA5IsVR2kZ3IRrtJIWAcqLRYv3z9EqH9mTkYBHuWwL711vvvvMPA/vmKzMAG4fnHBPZqBEaNJiqlN9CiKUwS2qzcaRRz2rVsJYAiU040mP2p0YVvv/12AbZNIhjAWJGD/XgFZ3cY+fcF4yxVhRSwXMTqZMkoir5qrp2V9N0DYftWgrbUhWLMnD6pEkQiqQGm5zCwCloW1Y7AUyNY1FlagEmSi2JgL98xtYHIOrVENoedYkXx6jieOFy0TDHaTVN4SmBRaRna32h+g/DABPavlGQGZVCxDq3I+lwN2aIPM4rm6TyZMDjutN9rxOIiWGJhSqExSRm6qqL9lSZ4CTjYt95XwD7ZH6bfvuRgMYheMRhYqWpsbjqVpzEQsqBTKS5YGqxoZNCwgqXygyLIc2TWbp/lYMlAvXflK9gKYpL/q4r18tCkPk5AxjYcK6mRhM7NU8ROeTAuM/oNDlZF+xup5wo8PHtOAfvBe99gILe/BYcfK0J8eWh4SQ82BnaT6ghryvlBEGZK2lUv8YONBdwYjGF6x9FeIkGOUPfzg/sKax/dgydPAJ7/3MQ6NKznLM5etkPGSl2oPMVtfYBQNcaqMShQ/UFD+wvAS3RCGCY+ePDZ3zGK+ubKI9i/pBonBnZOKQhieELVwc6gIskdpwAYUdgVQXB0Db0tjcHcsA6torrw9OsH9+RrT7782+dsLfHX602slNQymRkdTVCRIdq2K+RkQmHrdHknTvmzXfAi1LTUkwh1dnhIRcvgfnzpEO4bnc9X8PKqhnVomJk+NOycGtnRRKxFDeI0hDFJh6EiYo3WqrYVnwTIOu8gLa70DRnR/kzmmIPl9vjKle/gBUFlWIfQzjPOFhdKPG+ntYuofRPMyYTj6VSKqUZass830KRkmoJMVa4hFS3BxRTu3lnV0zJ7jGAfwS8q1KFhdeGGgrL+WDgRHc3WAGptO7paEw6zw0R2BVIi6oL98wV9FID5bJAXDhW4V3/B4BjBNnMBLsgvlIrb8LBxlQrNFIahiRrUThPxWwfTcWF8khXfY3bLhP1ckLUfMCYYUaqkJKdXL7+Er89wsJy1any8omIlsBY7L4btLcSJhJLVWRPFCH+waI6WtAdkm4KMdibSN9yEe3UfziJYTY5V1n4DkWGO1R7sgikVOiWh+HXG2BBUmbKKpUXzR6tDKzXj5hgG4cMq2qGhOXh4hoPVsZYSPdhnRSoqU9mBLb1CZtff3/nic11RSbRExlpXIBqQ0KigkgVkUmrmH4VtGNahhSOCevasPoNngvwPpaDaZ7+yLL9CZofWaaHDSHFMVVXMtgxRK4oaVBvZheLoaCqD5jqRCPNXpZWyMHOhTzWwF8yspUmhJ8xZwKI0btst0Z1AaJ06233XXIxBQ2Son6AtyJZUx8iJOB/mcszg9u3DGRXsWU1rP2yylj1iy1Idpcr4K0ixWOswKt6HmLY8YUxeJZx9UQgzSqUS0XA4xvuQ0NFxsDhTt8+c0cmxwUaBzLEGjQEnf5LsPI0lUetUiJspu7RoMMeqK2KLw4z4I4vMHjOwdWSsDi0DyyOL95hBZo8Ysbg0VIVXcDy0LaAjrHF9Ji2Wqob6SQvvwHNnXiC/fUaH1mKQn7NnFCwii8LhPKdFLeswdqo3hZj8qb5fkMTYFiy6XebXh1Es/ueMDq1Ojhnar/jr6haVjVnq5qfAGpM7xJo0SBiiMICqWStwyliVetc+nDmjQ2v2tY9Y+XHYMmeUwDuSYlKhGHTaf2qcYRyEYUwL5lK++gclFo9jpHimHWvvAZtQcyEPvbb9B7fCigOJdXy2r2lhQmrU9DqLkWGLYFkpZUY0KdbQGn3tX2mAFilG82SvH60IZ70md8rXEbMFMg9CvyZjeDpn7RJ8ccaA9pzB+1BH8CQ5HrMtbjgNFcXtzjeQbhkTWEuR2LCOanolaePzJ2fOGNCeM8vxkxWyxcbPQKtqWyVoR51vfLD6v5TR01PFyH5YGI/jw1XHYwR7QY2imD2OH5o/QsrY9661I5zdDutOW5bKhCU3aWU28eFzaJ+emsBaXO1fYcvirANwurX1fhbOqN8tdpbZWTTWhmLUcSSIMQt/pQZdiPCFBexZvRyT87GUxNHanNbviFEtVpeynQVPk6dY4saRlaTUtnV4aFELBbBiVRI9LWSULfp5asYK1BOXYZ22/WK42hHY4GlKBYLEVuLBmpCi1tbvnbHhrK7yxsCmXpGxYrgGh3VqxZWkfvs+z9PT0okTjDl7tATys/F83pC3sK4eakV60A7shwpY01MC8qkaRGgvFqU4aepmpD6Ajvbc2TbhG2ZWTGRkOF7Nez1ez7oulhcbKFvMW16zSrEJ7L/N4kPlLKWzrf3e2G01OowXCof1QmeOZ7I9Y0Wh2AC4MePxeV1Ivmc8rmR1GZRsqtGg8frMgPaMJWK88nfzU2LqUo8wut3y4QKao24eLxJqq7FiPz7teNzly2+u+wiswlohSjsbYY22xkm0V/epnrNmsO+998jcHy2VVB+LOt9CtESpWIOtbnaIF9qE4oJQlGFzxueb2AVZ5mi9LO9F61KUUjDh2gUoBaRRkM/aWGNVjD9470tTVQ0VvapoLGWndsor9o++2n6R1hS8U23FWDQNNbiR93kmHpPGynKeBNmzSgZZLB1DaQFmPK71Y5CzyP977cT43+aqmlBtmnWMdy1tDYIQzlKXbjehan3SdlCjDYLqW78JjydcHs+MvEms9eZJ7sVbe3lE6fK6GFzI6AX5rJbTqmC/NAUU5LW1x1KIbAzNxf4imqWtrneH18G+kCmGt+ExCfBNuDnh8yBPfXuctb5dWegP1MZ9rt1jD06C1+Oa2JRB1mV55pT2kSmJIsnV2StpW++DRYk2BcNc9zeIxu1DcRazrHt8+WdwjFBdTFnz8hqx1jMOUTEGM17P7g2PZ30v7/F4fAwvHH12+/4X5uAYwf7dFIqgTdInQIhdK+JKsdEagONTck9FY7Z+R8CYZdPlc63K8riLQyWW3gBiLcmxFKVv5XGPZ02Wd/E1DO/q5mNkydGTB7cf3v/ii2Zw/MhUQUR/YuS0WIOEKNAyJrm5O906UdBM12wrBegDJ5gEI2KvipVYu8dY+0yWFgDtFtkneW0VdXdt3eX1EeVnxhliALnJ2SfGGcVESTZOMXV/JYrZT6u9EV+F4vbmCRO6mfwa3JzRQSXWbpJFIlcbzaz5PKsyfYuzkh9HB3Rzdcbl8xCLfTgjm/C1xtm/mXws5t8pc8mChd31yZ5eSpxsET2hUqEEez0uA3lnYBx/5XVB6e6qx3Nz0+dbI/helOF1slHHDLDXi6+AL1TOfm5abBZK1i1JGDv2/mreun2JlM6UWsuboJIAyzfZ/9bIeuVl+rrh4/Pg8bhmVncR8C4BXlfbGBHsPaN1QpGtWmOIWG/3DTKyD9S4KfZasFJAse4he4wBhm+cvtAoa3xHBucnGOC1m3Bfyd7f+sxo76lVxiZkw8Ci99cW2m2EErbhpg1bCY9LfuZjlgpcvpu7Pt/xsekFJNEzq2vohu7dZr1ut00yGwBDf5FuDrp59ZkdTdpV0QKLcMNnw1bFRJH38cm7Phes+mZgz2edERRpLxplgNsX3noIi6K+oCU2WtTYhK6edmpHW3ZnSqGPPbZnLJkomUyUb/PYtQ553w0eU9m90OPbhPsX7mOkJIi6DDjbqhEVA8geHUagUMhWZQVhlNxsCxCPb/qY0ubXUIK5vbJ/oQvunbtwTOebIkDlo9E9m3caaNRrEzXSYrlQjMqt0Pr2gHzNjLyKAcYErLaQABZUPjz3HTpUKQO7yv4Cwmq7W5L9sdTbTeuFVkUgKuHN2Jso5mqRbTLMKAps5SmblWP44h5GwIh1Dz0RHRmCTke23b7OBapnh2pwWlps1bohYJRjBEJWh30jr5HSPpPB5yIzZeEo/8JJ+e4JhmdCBsZ9HrRk1bBEO/LbVbuqPZXjO6WWfSpCGI5dTbRoXtfXZyii8jB2otKSFK8r3Kcokc+FBwPqx5j9YT5IO9UR6wQ637wvjxk+QKIdVoxRewq25UoLpiAJeOZV0fpmjllwj4rsYRBJmpVImRg5sbe3N54nyzUBMA+AWT5iHZVQhvcp9XuG8dXNE7B2o3u4DcVN+6d0z82iEU3Bpsq4cXRG3/8Tx7uK/CMoGF3seXl6izOBcI7x64bXk2fH55dhfQLVU4o1MMJ+tjexhwbA61qDhRMannpz6JwKtqVppDAHPR8XU2Tj5puMVmHC49tFhiLYzRn8gQmuDPl/vvnm95uwmWfny/sH4PEuxAIZgLUJFjXLu2jBvTdOWLMTtu/0EmyrRhXW0y5i2Mjk1PsM/snBvikfE5sxHvbuylyKMXSUlb+iCPNzf2lbfykFVJdkmuyjScKEd7X9Dgi01r2Lj+Oti6hUCc5KAdjllYkJBeubeRRI9LEeTAlkXn/zbML37E/f5zfVCy9o/zfArpYNoxwcM9DjbWvUnS+9tgXbUoyZp20EouRUMUH/XgX7T/oFeRwUXnmC5bbyHiElrsrLyiUC/ilWZdYZ83GuEeiCzNsX9RToyQF7Ktg2nSoCLQWMbqP/wZGqUoxyvEpK62PSy6UY8t+v0m7o+Sntkh7i7IyPtBWJsxZkbrjzsG1Z6NZIknuXDLTjLD060UBuYUgwrufsqgclOM8sFCV7vnWZdrobbzFAnZ3weX35cfRIPC/Gzxj3cLTHd1tFx5jUXuuZ0rblLDFXGq0CrKIxdqlgv0dxxIFjWOHFPBA9LOrp0UHOeCaSfxBuIjP3ePvqmldhLXfK6IIWrcv3ygNHexcej5zY1YzOtoRGFZ59rwgyWWAEj+bYs7np82ASX5k2n01HB1aP+/BPOxvssiCmrThDSupLLqhF1IjhcU8OPEWKr5zm0Asxlr1LDNrMf785MYMJO0UOOH7P3hqaGzhwm06+8tMNQXIesc7zS14U+fWCmjWQEWjh8wJyb8oVkTtwyiYkUQxHafsNKjAK5fiEK4+MQ1bt5i13K7k35iv/i69bQ6z8WgE0zDwNRPP9TGEtBtW2Jx6xFrJeYJ2ERiIaPQ1Wzl+JdrkI4VT2WwwNkc0+DBKPLTeb0JGhN1bX5b1j9XYf97SaLWAozQUa9dy+gaxXSjsGGa1F+pR4WdObgBlCuJjZJkxWvqKu4iwwA627uUWVXu6sUPYXWyZ6GLl1v0oedL4lWWhomb4gioHUwi3TdUV0ic04BRK+Nbl583oOcyc1ddrDtBDz+FJL10NhRXevLCGyP8uwLdaEsV6Fgl01g52m6gZpZPMaEH+lWfEg95NfVw91bfGYWvfBbt1yursETUdY3TKobBBoWDl7E3Pacf1dS/MgT2ghMmb8x9C6XsAfc637YJ21b/eTfFH/k9BfzGayUabsYsl8r716mmZOHzYi3VRLHr6bJ+3hwcSn21hDjjeECUVK9KnqCE+oQYb6ZUrXBkzk3lienz/QrhSju+E2pqbLsKmUqjwTJ4EVUl03xyHH+4akbQxAaJnm4ecfPvqGKt9U77acuc5O09Sg0+VpdAZwBVQb5Xl20l6P7h9SbF8cb0cB0rWADBfeeoc1NTVEAtv2ul33hqK8KMyqHHvz1l1MRhK7b47rpztWSiOUrigd+v2Ug33vG/oxa5CRyU8AAAfoSURBVHtzp4Z1VnW2+J1alfX6Nk9grcCPI+xm8hPXmhyEU51DJDWq7FDsswhW6VejElVrsH73gRZzuJdVzvqomNGqyMeJtlv3xee6mtfOwYJEu7CFYnH0FHtN2PY0qfoAwb7PNjjAtoihXYur3lFNp3R3kaPO8tY4LyZ9mVj7mpuYADphsruB1D7cSkWj1C8H1RN9Lt9hKi3eo7NUGGvRqqJo298a7c7RQeyVXDOIYtbYl99lpy63QyqFRxs4oNF+ubv1GTZ/1ES2crK1woiiny2OE9j3WRPXAh1lb3uvPV13uzPfPIIRo2OltAijbc6kwBA0mq2yoxwksdPWeCsF+eFsiNZuKVxPAZaSIX9vc7TvfEn7BRKmU5w1oV3O+XVXLx5QidLr2oVGSwkWpH5+iaG8XWTN8ZgQ9KrOuGLp1DGNRTnJQajB/7BGiYesIhq2BTtgvFMTTTGrWD2mNMvmowVqVy5mqEO8mo0G1D5rodarRa6gfZtDU8Ky3FOxJur7Xzy9x89QDsi2YI2mCoNjWvp4bGyFYielSZIUi6ay21Sxg0wxLOlvMFno2SJX82xWe7ANpZmT3csG6m0UMXvO6kU6V4HHeY/Xe9OENZXJNM9baZSKYVE08b13ctwX32+HNtas44ux4mgxICq/bn+tvZ9iqGOXx+N6pj+lpZ8VJEBebDS2M6PFREBkZksUAgEda6W7PVzkaqO3qLKGs/rUEbUHi1ArbBHElT827xtF27aAVkkUNYYKgWxNrm43tQnTnx52vK20XFDE59qGeK3FmPIBgjqfw+BiE7Ga6msE1tjhF5bhu2++Ap0XjHV+YFlbtK22JZhP6GgH1s8u6zmg2yDouGO/H+OLcUtdJGxa4ApU4SkFK19qfaNStje37zTRlmxLcFLVPsayBZub5ffYVA54WIGBcf6GpXVDrBp20qLtfcgjsydKF5rYw7UBThGo2fn9QItTdez87CABvTa/oS2IUHXRKjJSzXhYQuM7ilU++OC9f3CNEaM9FWJGSbrRycLccItuzrBNuOgfyNFZzs34aQrW1q0qj87MsOlcfsDzKYxDUzyA6t3apUbBJbhrZi5aE9siDo5o2W2jtIYLTjCpxbTOkjxjmKI3A8jZsxeUW4bwWUIvCqp2VLiGCafZT9gngRhP7UznbG9cUqBiTiBPuGyOGEEl1dss/PE+Q/v+Pco4hNphr9txFULm1lJ6WUaw9utf4iJtBljONe83NFpluovocd43YVPwMp9KFINrbP/E16QxwqeHrwcqUdpw9Vw7sBP5VZkM78aUcq0WI/btFLumdNzr9d2wWRi1nEpEu1Kf3n5CTQhS78JiGxqBBtuHrA4s2hLsuM/jndhUbl6aX56dntqYmpqeXS6z2GmTrcj65KrNe2MULOvUhbZMASyOskspXyfYNARiGPCPKrdGtuSsVKOVV4/PlZ9Y3Xx2rD8s6tmzvQlXnhZk+WY2G7ClQDiRCMcCAg8ZBTEQjuET6dSNHl5aYqGlu5hlRmtUHRFPBss7x2l3i+uxvD6BlM+7fD781eYu7++z3UyjpjxyYztbTFDEzZcZUjgLrxPs5LeissMSw3WxLVhdUyq1lOzSvh6v18u7KGS+d8L+kNliZmFhtLigXIgBtVIxQUlumHaGvCbHw+iOcquOFEU9ysaklmDv7jEWcnC0/qpvtfbOsI4R3579u1n6zv8TTi3wI9MaC1EZUK7vvkawGisEIYG6W2p1K4WErL+5tjo+k0fFRbFd1zpy2UrH6q6HN8DZvlmPmzbhBYpZukyLXf/26esE2/T3ghheWGx1moRUK2WZFMrwbHN1Pb9n6Cv3bfLdtmv2YNWgKhYIBFRWx1IZ6m18nWCThtEJIopxUTJHzLSQQBvBpX5Yn1m9wW0NuPRg5XGfl1Xa7LCKpUB0QWpIo9FsNhrdlrjXJRZTLNn9NdrWYM3AqnQehsAPmSSZEyXUswzAdox8yAzZYm9+Zn3TsMfHJ29OoID71mQbrGigUvjPQqKYKKZi0WhRH2T1YI329GD7+4tkQKolNJ/F4uhCtkR9QrUFFmXFlP1ptFVLv4PC65L5QjS0AItYi4HRYiJRjEVTCX3hQkj1fKdaE+xd6x0CyEo0ILLiJTILqXBAVKtu9tuYvDOQiI4uZBqy/W0lgYAQ6xdiMSGMShsQ9HkRplO96nOzUOGW/fYxkl5BkniZTPttogVYDCb6ucjbYlWPb+Teh5yQWkom6vHeLR1N1tBCigoqZSgte6ZQ5Fz2YMdBgaMRfiKDgn4mFgtjsJhIRFOkF3SPyrefIt1Vw83XFkLV1UBu8e6tTzPZBYp0iqloIhwOx2I4D7rhI4BiK7B7EE2REUIsRNlMpnTr7qIMFtrSaGUrWd8ai0Qiry9cDBGNjBWIlo6vMdKNTV5cvIt069ann2Yy2WwJ7KCSmwW4ZqTDgkpjI6EmvTZgp6URonhk0kD8wlSZ7ev3qORT6XGHx/v8N1IQ4Pjx480bRHv4tbm59uzx48fHr1HvOqFgvC8ZCiWT8VAwiF99cWRsMo6/7WP/BuNBA8uSkRb03yefNjQWSo+l55KRyZF0IZ1MpuOFyEgyPZaMj8Tj6Xg6mY68NsfQexrrSyb7lpKFyeBIAb9N9hWSwZEkffX1Rehvyd8R2GSkL9SH5rKAX2ia+yLBUF8Q/z/Slxzpo7/9FxrQP+gP+t3S/wGSPQOJq/sWvwAAAABJRU5ErkJggg=="/>
          <p:cNvSpPr>
            <a:spLocks noChangeAspect="1" noChangeArrowheads="1"/>
          </p:cNvSpPr>
          <p:nvPr/>
        </p:nvSpPr>
        <p:spPr bwMode="auto">
          <a:xfrm>
            <a:off x="155575" y="-144463"/>
            <a:ext cx="304800" cy="30480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25981" name="AutoShape 33" descr="data:image/png;base64,iVBORw0KGgoAAAANSUhEUgAAAOwAAADVCAMAAABjeOxDAAABuVBMVEX///8rMarvtY4AAAAWkwwsMq0sMq/0xDQtM7H0uZEWlwwWlQwXmAzvs4zwjmnzuJD0vzL0uzBB3zQrMaf19f/7+//0sCv19fXvr4jo6OjvpX/0ti70qCnvoHoFAAXvq4T0liIpLpz0qyr0nCSvra/Z2/olKo3o6fwpL6D0oSbvk27vmnT0kSDf398nLJS3t7fl5vwkKYfT09MhJXeQkJDExMcSXgwYG1YUbw0bH2V7e3vYpIEZGAzElXXe3/oWgQ4AQACfn58iJn2yh2oVeg0VGExYQzWjfGKLi4tyV0UdIWw7LSQKCxsNDihdXV0AABtycnKDZE9NTU0RVgwREzgMMgkUaQ66jW8OPQoLHAnQ0vlBQUAUFkIxJR0LKAgRTQwAADd4SjchISHrhx6Jax4iIRyRblYAACuvbVEECUFGMxDLnCpeSRVzURmkeyHclibgrzBlQRTUgR4uLS15SxcAGwCvaRkdEAg9LhWBZB6gbBzQpi+tiSdVOBEJKAaLWxkGDFUADwAgGQCiZhw+1TI4vC0dEBPPfVyTYEhRNSigaE4lJyx4eYk6OkFiYm6jpLy1ts7Heh+QkKdwEOPLAAAgAElEQVR4nO1di38aVfZPcpjp8Ii0kkixOhWlFNcCJQkhhKYUEsiDR17kUfOq2TZd21q1sZu6v2417vpTtz66/Yt/59w7M8wLkinQ3Z8fj0bzAOZ+73mfe+69fX1/0B/0B/1Bf9Dvn0IRopH/9DB6TvGxOhAd7dB/63Px//SAekbxJQRYPpjKuYkGpqbn8ee50H96WD0hhFqZHXC7/QOc/Ah4owyw9PuDG9mHygbCM5LfnVsGmPydwV2Bow2NpwZy51CaC//p8XWRggDLfluoHG4Ztn43zA3uw7RZgI3CvAGQ/J3A3YdcO6zE3AG0VPu/A/YGJ0/ESnCXYf+X/++6GxwDmDoZK0ObLgD0gLnB5NLI64jXkKvQXl91aH+CYLoHaJMAMo5iKdjtD7Y8p34Iy6fDOuCfgnrfSLfRhuowmxsYQHe+31u0YzA3ApVTYkXWliFIfCikuzcEdHrMYPjd0ziVPaQ5GOvDZ7X0rzasnevrS1OqMNYtLixpBgOnskufaUfIV3zW7KkZi+OpyOydoTE47M4YlppK5J6FyX3U3i6KDaNgkJmmLRSindNDZQZZyfmSsNSNgcQBmnNdZjnXDkx245MVCk2uAGzhB6/09RVgwwFjB/wbkFQ+pQCOU92xOtGcXgHqTSVCKQbKuRBz95x5BHPyQjpSmKNhb4ETrE2wI5Oy4yHtw9H88nwFM+Qm3KZ1RKFRQhv3Ttd0t6AP6UOndjsK2BxCDOJnGEZ8OkpCZYBqAphUaM4rCRt+7ZNVS4W626UIIwiHQVRZTsjlqVObYk5o0/CN6S204w6prjzLj2BU1i3BoPrBO5qlRJvfJTmehMl0vG+Y40V77IixBHaSvRWZu+/wyUugfgZ6VG6DQjCvup15KDeH0h3j1xevL9XRTS7NxdmQt04fUKjjKChSkXYa8Cw17T7aIuZfCqp5QvjQfMYgTAZHRrrkyOuwPxZiYPfnHYLNQSQYQsI3JynAcPLUn3TP4m5am+tB0OkTISfqhiyjdYmEQnzE+wfOwKI6pdlbC2NLdXBmNJd0vEOpTZMUK49HTjcNJdUJoDy7UemCv12CejwUj8fZmGVnxpgMJX/zFpv75MmPa1JaF5ei7T1sSjHC2zHwtcJqucsdq+4czMVH4gqFnIqx+wD4O8ecu8Ig6MQIWZvsm1Ok2H+nOQ/+eVC5jK/prEQ/Apgmc2JgdxyCnf8lzt6cfAVXuKKTY9QHKCAH/W7GS3XO/RQyqtKG7HckOhaq76cLkUg6neZ462AF1BZsuY5g6e3yiuNnj+hzDvdshRRh52DA7d9pMhaxNvnv3+ko5wtxOzeWTnO8cw6DCvdP9RH23nR9y/nTQS9HGATnaHnlaGpac7EsPNZNyE8dKW2wgBHFymE6meRDTjpK8BhYfBPRq4A1P82PQnyAcDXGlsFQ+euQs4wOJyMRNmBEKzuzUO6fVhBrBN+//yr5rE3F1o0xcUUzSDuGvw927mpDMMaWXwlwesVZvIhgk+y9BYi8wqNHwAYtmiqWZqKlrwzolQp/0XlCsDJWKBQUvEuQcwS2vEJIC5E6bFFu6tRajthUbQntALPPOwNGA9KNasjWXIETjnsSpp1YKHd5C6EWaBkXKjtl2XEtypa3szDrH3AfmYphKNVdyPS26gWVUBwdxVDu8i+FwtxzgHn0kPjP1LzTwqod2oEdNFz+A2P1Gr2vs9jbngpwuP/8+coSSXNhv2wL1k+rl+4BCxPm5cIcescpZXHTTzLoGK29uzOul6LhcppD2lGS4uz5Mvp0uT4WWbENK9zT5Wk3Gggz2yle3YeyTrdwUA6d0Agc2T3SNNc4iV3I8dLktxnlZo9gqW5bNkZ/ADn6j5kJ9LsdIwsOnEawBa0W0xIqlW46h0oxlGoPUVSnj8DuyX7KKGcp1TLHHJSTmOyp32khv33hixpXEOpkN3L3JX3ugTpZsYuhKEyHKZWzuskYHFTQYuyjtl+45516iOetIxl3brqMDJjsSsUtbRJCzCzsfI+/DBU/Kug8/i2nWiOEOsjRHrhz85XKrFZScciFFkaRiPUiRbpUkVkyFcVxpGadZTbYTf6BeqEG/LNKhENIzxPljoAylooyZBQDh74Wwbpte1XcFdjq3jptyLRk5x+AO4OctAcuM8HW2dsptvbFoV4kOo86VdbEGIXDEVgqOkP5AB21GbC/O+6m+SBujnCgbqaNFdgYHNTDxbjFbLLQu5TdhBVxvk108eKUznQ5FWNoLGwvklFHwEbnihleN9ffCywU9ueWyztlUsUdWPaf58ThUmHeLp6b9iNWxPkuEcLNNZfr2aLt6WkMEqIohkdLLLNezjXhdnuBVklyeAo/n0OsXDBJNgkueU27DPcI5wSxvvsRI4RLaNU/OhpiEBpSf3+/IAhSeHSbBFqzfzj1XW0LPaRaAWplJefOkZGZP88Fk2SToUUTYYWKzCvjC99FrH8iQrhvXzxQfBhOj5PcJw1RoV8hUQgs1BBuTv2g7iwEqFRgydRGBQ0OZc3li0wwiVc4/IuI1g92PtA/v0NgCeobb7yhoOUrq2S+nIzg8K7YryNRKFZRmMkFdCdA1NEIjxJYlF/mWD8idn3Eho+89dtKsbs8j1h/+IigKmjfvjhPhoymzEk5IaljrAp3AeDOtHuw+204WqGYIsLzb3NuaaKJrLVrExrMwTKCrcBf3tDQvvv2FAoBYXWUiB02xH4ziQE0VpiYdFY3taE5bSmpDLNcMpXxV34ktP6KjRijNk1dfPejH36CT1S0NDUYaaKfcrR0mYSUYAGLcBNV1gfQZQpiGMgA5GDnPMmwgvUH2GGs9S/bGKhB/to/vfGJivZP3EQB1J05xvpdK2OJBGJu18Gi1jLW+TeYZKpY37i2w0Tz4vkpi4XyoxBssNf+gOj+osgxvnYDnC4rxqFox1jG3FE47P5+hEkW6THJbIL9BH7k3DqPfunAGNYMlDEfYJw9gh9+hD9pnN1wzIsktMKKaFPQXTfLaATd62xuHs43wSLLjhWwgyjI6PhYMOnH8HUQ84AyC58+OiK2XvtEA+u8G2DlU3sp5mijvUDLejNhRwf2p50f4S8K2EFkOpSnqZtwamO2zBJ4iovf3oF/4av/dcSw4mvPzzr2FXdaSjE3U71Ai8oTf15pgv0B/vXGzhEDy0JG2hOg0vw0CjKBvQOfkOn+AeVYUe95p0HACAQkoQ1c4m0PwNKDz2ue5xMgwD9xxnI9nZo9WD6Yncopadjg4A7Mc6f8o+KTL553HLavQDZbxDTAFq/A9bb7DqiPrYNraO/8iJL5I5Q1sGxLDyXYiqVyD96BeR4cK4kAvjTnVGWDirBsp/rNqisI4XAMJ0HKvtKyyokEszy2R2b9wEIoNEznzzeTeL1BnjrClOH8RSXDI6g4LdNOQ54kFAOx0QzGD9WsEa4YbdAkhMX+QLXLATKnJTivy2RIMg+olGatlrBlxQP3IJUplASJomiHaSwSLKKsCqKQyADIRZ0wi0WAr/7xJUBCQEHuxjqAmajhijNLk8wNNMMbhmIJSnPugK0ADOrLMiQBOcfqBRnOTsSbBWiENeaG4cmHH1y58uhYxsmo9cRGRWDWz5jVlEzaibbDqkOcBnKsGWCW4dcKbryqUXHqJsZ0cbEUxrx9VEErZuH+Ox+8d+XKXzHAEhe6WprRaA6mBs8bKxXuwYMjxFspl2mBhO0q3ZlVV3wGdeSed9y8WJd1Vlgg0c3wX4iNaxfe/xDR/hl5LyS6n/0wmsQU6LxGvOTm9k8v76hOtnywkTNsRVQrcxhUOvU7cVWKVUUNL0IjIHCw595iaOklsR6BpUZRN5dNXTWVhFgTZNvyrt/teKWSFdqM/lXoR1FOiFyML7z1/jsf/g3FuGecpcCxPDXo9xsKxwoeP2/wsPNEVL5yXFXYuitZ4gi0UymRGahz5y689TmgoGP20+09AhpF9uFoeWPQUq6ems0N5qh1x7JoyfbT1h1jDULWmgRIowwt6e/XDz8DKtn0yBorFI+wqqppKfhA0dqKYXEEpXu67LRnkVPELMWahyW00ZoSVAjh3u72C8LLX7V6pkYbs7MYGw8YnS75XHj+8tCh308vLSUnZckuJJZSTG8FKZYIUJghZnqS+GgUhN+uvvgVwNiN67dYJ3eOrPSvl65f/dXZNvglLiTZsF0yS7wNC/08ESD17emurdAS/HL90vUXh7YVYx1WzOL3X16/fPX6dVjEgO/UW2nr0IgFUhT8LtiiXYBqQGV6jxk7CbUa/Hb9+tXrK9B62ZTvRJm8PHT56tWrL2FBCizY1otDk/X6ilGj01DCHFYQYmiMshaDTJJcgppqnnvK2BHUGCkM+wj26uVf26GtwH58eOgy0nWoknKhl1wxMzcJcOvbqjHeGwOVa7Eq4rZHW+KzIG330BQXIIO6IpbgZ+TY5cttJLkM+6HhoSFCW4ciE0fykkYmrkANU/OArt09RPoaU/kWk+2ri+huWJwsRHvnYxErfwZGMteJZ5f3W6CliClOWJHSUFOEEf0/1HVp3gqbun7xU54OBdOFQ0xuGs0wUUg07PwPSS8zUmKjd4wtQJQNIwC/QB15NjQUB9tGFvK68T6OdehQy1YwvEWzs6IcuBM/VAyQmDlE/YggUKgtJMRAtdpEZet+WMDYQP+T6J2P3WKBKY6gCC9+hiQBGR4htOZwmOxwum94mFg7PAbQXJsSpBRbU94q0HbJFJ8EtKiMSsWYRJWWDARsERp4u4i6IfSMsXG4G+NjRim+9PEhxBna0L5+dVjDWiCsiHY4DisvoNR0IZiIRzPbVQIXVdPTDBSLxYSg1BHRtcQs4CxgMbYIj/aIsaFJyKpFzQAGCpdewApjHO1AJ7gaXvdgma05DXNagReX7iwahFEQpUANqjFNuDNyv9ismJ4KLM2Q3Bu3E1yBWwnNaqTgt0uXLr1ESR1CNLy3sTI7leNbIilA/I6qTQQVI9yXl67/DGHzULOKhWY/lGr6yTgd2P7+2itkFydTeguhSvqZf3Hp0seXViDEeIcC/vXXTOl2ymUKEO89+jdzMfinEDy/hMFW00Q1wTZLLmLDsAaLJuFknUXqRsU4FBkbmwvpHEQBFhP6MjV62evXL3388cfXtjj30nD/7LmnDx/cu4ZIn3z27ytX/qyWYOo0L9cvQ81kVDEYCDc/sLrtHCy+quOqIttGhubj2laE9hmiBMdZ9KbnSu3wKgP7AiFxUT13FnPpCxfe//xDqpUgHfHOjiT8jFivX17ioXuTArLcxCca6y9CotZ/MqGL7bRejP6gFA5IsVR2kZ3IRrtJIWAcqLRYv3z9EqH9mTkYBHuWwL711vvvvMPA/vmKzMAG4fnHBPZqBEaNJiqlN9CiKUwS2qzcaRRz2rVsJYAiU040mP2p0YVvv/12AbZNIhjAWJGD/XgFZ3cY+fcF4yxVhRSwXMTqZMkoir5qrp2V9N0DYftWgrbUhWLMnD6pEkQiqQGm5zCwCloW1Y7AUyNY1FlagEmSi2JgL98xtYHIOrVENoedYkXx6jieOFy0TDHaTVN4SmBRaRna32h+g/DABPavlGQGZVCxDq3I+lwN2aIPM4rm6TyZMDjutN9rxOIiWGJhSqExSRm6qqL9lSZ4CTjYt95XwD7ZH6bfvuRgMYheMRhYqWpsbjqVpzEQsqBTKS5YGqxoZNCwgqXygyLIc2TWbp/lYMlAvXflK9gKYpL/q4r18tCkPk5AxjYcK6mRhM7NU8ROeTAuM/oNDlZF+xup5wo8PHtOAfvBe99gILe/BYcfK0J8eWh4SQ82BnaT6ghryvlBEGZK2lUv8YONBdwYjGF6x9FeIkGOUPfzg/sKax/dgydPAJ7/3MQ6NKznLM5etkPGSl2oPMVtfYBQNcaqMShQ/UFD+wvAS3RCGCY+ePDZ3zGK+ubKI9i/pBonBnZOKQhieELVwc6gIskdpwAYUdgVQXB0Db0tjcHcsA6torrw9OsH9+RrT7782+dsLfHX602slNQymRkdTVCRIdq2K+RkQmHrdHknTvmzXfAi1LTUkwh1dnhIRcvgfnzpEO4bnc9X8PKqhnVomJk+NOycGtnRRKxFDeI0hDFJh6EiYo3WqrYVnwTIOu8gLa70DRnR/kzmmIPl9vjKle/gBUFlWIfQzjPOFhdKPG+ntYuofRPMyYTj6VSKqUZass830KRkmoJMVa4hFS3BxRTu3lnV0zJ7jGAfwS8q1KFhdeGGgrL+WDgRHc3WAGptO7paEw6zw0R2BVIi6oL98wV9FID5bJAXDhW4V3/B4BjBNnMBLsgvlIrb8LBxlQrNFIahiRrUThPxWwfTcWF8khXfY3bLhP1ckLUfMCYYUaqkJKdXL7+Er89wsJy1any8omIlsBY7L4btLcSJhJLVWRPFCH+waI6WtAdkm4KMdibSN9yEe3UfziJYTY5V1n4DkWGO1R7sgikVOiWh+HXG2BBUmbKKpUXzR6tDKzXj5hgG4cMq2qGhOXh4hoPVsZYSPdhnRSoqU9mBLb1CZtff3/nic11RSbRExlpXIBqQ0KigkgVkUmrmH4VtGNahhSOCevasPoNngvwPpaDaZ7+yLL9CZofWaaHDSHFMVVXMtgxRK4oaVBvZheLoaCqD5jqRCPNXpZWyMHOhTzWwF8yspUmhJ8xZwKI0btst0Z1AaJ06233XXIxBQ2Son6AtyJZUx8iJOB/mcszg9u3DGRXsWU1rP2yylj1iy1Idpcr4K0ixWOswKt6HmLY8YUxeJZx9UQgzSqUS0XA4xvuQ0NFxsDhTt8+c0cmxwUaBzLEGjQEnf5LsPI0lUetUiJspu7RoMMeqK2KLw4z4I4vMHjOwdWSsDi0DyyOL95hBZo8Ysbg0VIVXcDy0LaAjrHF9Ji2Wqob6SQvvwHNnXiC/fUaH1mKQn7NnFCwii8LhPKdFLeswdqo3hZj8qb5fkMTYFiy6XebXh1Es/ueMDq1Ojhnar/jr6haVjVnq5qfAGpM7xJo0SBiiMICqWStwyliVetc+nDmjQ2v2tY9Y+XHYMmeUwDuSYlKhGHTaf2qcYRyEYUwL5lK++gclFo9jpHimHWvvAZtQcyEPvbb9B7fCigOJdXy2r2lhQmrU9DqLkWGLYFkpZUY0KdbQGn3tX2mAFilG82SvH60IZ70md8rXEbMFMg9CvyZjeDpn7RJ8ccaA9pzB+1BH8CQ5HrMtbjgNFcXtzjeQbhkTWEuR2LCOanolaePzJ2fOGNCeM8vxkxWyxcbPQKtqWyVoR51vfLD6v5TR01PFyH5YGI/jw1XHYwR7QY2imD2OH5o/QsrY9661I5zdDutOW5bKhCU3aWU28eFzaJ+emsBaXO1fYcvirANwurX1fhbOqN8tdpbZWTTWhmLUcSSIMQt/pQZdiPCFBexZvRyT87GUxNHanNbviFEtVpeynQVPk6dY4saRlaTUtnV4aFELBbBiVRI9LWSULfp5asYK1BOXYZ22/WK42hHY4GlKBYLEVuLBmpCi1tbvnbHhrK7yxsCmXpGxYrgGh3VqxZWkfvs+z9PT0okTjDl7tATys/F83pC3sK4eakV60A7shwpY01MC8qkaRGgvFqU4aepmpD6Ajvbc2TbhG2ZWTGRkOF7Nez1ez7oulhcbKFvMW16zSrEJ7L/N4kPlLKWzrf3e2G01OowXCof1QmeOZ7I9Y0Wh2AC4MePxeV1Ivmc8rmR1GZRsqtGg8frMgPaMJWK88nfzU2LqUo8wut3y4QKao24eLxJqq7FiPz7teNzly2+u+wiswlohSjsbYY22xkm0V/epnrNmsO+998jcHy2VVB+LOt9CtESpWIOtbnaIF9qE4oJQlGFzxueb2AVZ5mi9LO9F61KUUjDh2gUoBaRRkM/aWGNVjD9470tTVQ0VvapoLGWndsor9o++2n6R1hS8U23FWDQNNbiR93kmHpPGynKeBNmzSgZZLB1DaQFmPK71Y5CzyP977cT43+aqmlBtmnWMdy1tDYIQzlKXbjehan3SdlCjDYLqW78JjydcHs+MvEms9eZJ7sVbe3lE6fK6GFzI6AX5rJbTqmC/NAUU5LW1x1KIbAzNxf4imqWtrneH18G+kCmGt+ExCfBNuDnh8yBPfXuctb5dWegP1MZ9rt1jD06C1+Oa2JRB1mV55pT2kSmJIsnV2StpW++DRYk2BcNc9zeIxu1DcRazrHt8+WdwjFBdTFnz8hqx1jMOUTEGM17P7g2PZ30v7/F4fAwvHH12+/4X5uAYwf7dFIqgTdInQIhdK+JKsdEagONTck9FY7Z+R8CYZdPlc63K8riLQyWW3gBiLcmxFKVv5XGPZ02Wd/E1DO/q5mNkydGTB7cf3v/ii2Zw/MhUQUR/YuS0WIOEKNAyJrm5O906UdBM12wrBegDJ5gEI2KvipVYu8dY+0yWFgDtFtkneW0VdXdt3eX1EeVnxhliALnJ2SfGGcVESTZOMXV/JYrZT6u9EV+F4vbmCRO6mfwa3JzRQSXWbpJFIlcbzaz5PKsyfYuzkh9HB3Rzdcbl8xCLfTgjm/C1xtm/mXws5t8pc8mChd31yZ5eSpxsET2hUqEEez0uA3lnYBx/5XVB6e6qx3Nz0+dbI/helOF1slHHDLDXi6+AL1TOfm5abBZK1i1JGDv2/mreun2JlM6UWsuboJIAyzfZ/9bIeuVl+rrh4/Pg8bhmVncR8C4BXlfbGBHsPaN1QpGtWmOIWG/3DTKyD9S4KfZasFJAse4he4wBhm+cvtAoa3xHBucnGOC1m3Bfyd7f+sxo76lVxiZkw8Ci99cW2m2EErbhpg1bCY9LfuZjlgpcvpu7Pt/xsekFJNEzq2vohu7dZr1ut00yGwBDf5FuDrp59ZkdTdpV0QKLcMNnw1bFRJH38cm7Phes+mZgz2edERRpLxplgNsX3noIi6K+oCU2WtTYhK6edmpHW3ZnSqGPPbZnLJkomUyUb/PYtQ553w0eU9m90OPbhPsX7mOkJIi6DDjbqhEVA8geHUagUMhWZQVhlNxsCxCPb/qY0ubXUIK5vbJ/oQvunbtwTOebIkDlo9E9m3caaNRrEzXSYrlQjMqt0Pr2gHzNjLyKAcYErLaQABZUPjz3HTpUKQO7yv4Cwmq7W5L9sdTbTeuFVkUgKuHN2Jso5mqRbTLMKAps5SmblWP44h5GwIh1Dz0RHRmCTke23b7OBapnh2pwWlps1bohYJRjBEJWh30jr5HSPpPB5yIzZeEo/8JJ+e4JhmdCBsZ9HrRk1bBEO/LbVbuqPZXjO6WWfSpCGI5dTbRoXtfXZyii8jB2otKSFK8r3Kcokc+FBwPqx5j9YT5IO9UR6wQ637wvjxk+QKIdVoxRewq25UoLpiAJeOZV0fpmjllwj4rsYRBJmpVImRg5sbe3N54nyzUBMA+AWT5iHZVQhvcp9XuG8dXNE7B2o3u4DcVN+6d0z82iEU3Bpsq4cXRG3/8Tx7uK/CMoGF3seXl6izOBcI7x64bXk2fH55dhfQLVU4o1MMJ+tjexhwbA61qDhRMannpz6JwKtqVppDAHPR8XU2Tj5puMVmHC49tFhiLYzRn8gQmuDPl/vvnm95uwmWfny/sH4PEuxAIZgLUJFjXLu2jBvTdOWLMTtu/0EmyrRhXW0y5i2Mjk1PsM/snBvikfE5sxHvbuylyKMXSUlb+iCPNzf2lbfykFVJdkmuyjScKEd7X9Dgi01r2Lj+Oti6hUCc5KAdjllYkJBeubeRRI9LEeTAlkXn/zbML37E/f5zfVCy9o/zfArpYNoxwcM9DjbWvUnS+9tgXbUoyZp20EouRUMUH/XgX7T/oFeRwUXnmC5bbyHiElrsrLyiUC/ilWZdYZ83GuEeiCzNsX9RToyQF7Ktg2nSoCLQWMbqP/wZGqUoxyvEpK62PSy6UY8t+v0m7o+Sntkh7i7IyPtBWJsxZkbrjzsG1Z6NZIknuXDLTjLD060UBuYUgwrufsqgclOM8sFCV7vnWZdrobbzFAnZ3weX35cfRIPC/Gzxj3cLTHd1tFx5jUXuuZ0rblLDFXGq0CrKIxdqlgv0dxxIFjWOHFPBA9LOrp0UHOeCaSfxBuIjP3ePvqmldhLXfK6IIWrcv3ygNHexcej5zY1YzOtoRGFZ59rwgyWWAEj+bYs7np82ASX5k2n01HB1aP+/BPOxvssiCmrThDSupLLqhF1IjhcU8OPEWKr5zm0Asxlr1LDNrMf785MYMJO0UOOH7P3hqaGzhwm06+8tMNQXIesc7zS14U+fWCmjWQEWjh8wJyb8oVkTtwyiYkUQxHafsNKjAK5fiEK4+MQ1bt5i13K7k35iv/i69bQ6z8WgE0zDwNRPP9TGEtBtW2Jx6xFrJeYJ2ERiIaPQ1Wzl+JdrkI4VT2WwwNkc0+DBKPLTeb0JGhN1bX5b1j9XYf97SaLWAozQUa9dy+gaxXSjsGGa1F+pR4WdObgBlCuJjZJkxWvqKu4iwwA627uUWVXu6sUPYXWyZ6GLl1v0oedL4lWWhomb4gioHUwi3TdUV0ic04BRK+Nbl583oOcyc1ddrDtBDz+FJL10NhRXevLCGyP8uwLdaEsV6Fgl01g52m6gZpZPMaEH+lWfEg95NfVw91bfGYWvfBbt1yursETUdY3TKobBBoWDl7E3Pacf1dS/MgT2ghMmb8x9C6XsAfc637YJ21b/eTfFH/k9BfzGayUabsYsl8r716mmZOHzYi3VRLHr6bJ+3hwcSn21hDjjeECUVK9KnqCE+oQYb6ZUrXBkzk3lienz/QrhSju+E2pqbLsKmUqjwTJ4EVUl03xyHH+4akbQxAaJnm4ecfPvqGKt9U77acuc5O09Sg0+VpdAZwBVQb5Xl20l6P7h9SbF8cb0cB0rWADBfeeoc1NTVEAtv2ul33hqK8KMyqHHvz1l1MRhK7b47rpztWSiOUrigd+v2Ug33vG/oxa5CRyU8AAAfoSURBVHtzp4Z1VnW2+J1alfX6Nk9grcCPI+xm8hPXmhyEU51DJDWq7FDsswhW6VejElVrsH73gRZzuJdVzvqomNGqyMeJtlv3xee6mtfOwYJEu7CFYnH0FHtN2PY0qfoAwb7PNjjAtoihXYur3lFNp3R3kaPO8tY4LyZ9mVj7mpuYADphsruB1D7cSkWj1C8H1RN9Lt9hKi3eo7NUGGvRqqJo298a7c7RQeyVXDOIYtbYl99lpy63QyqFRxs4oNF+ubv1GTZ/1ES2crK1woiiny2OE9j3WRPXAh1lb3uvPV13uzPfPIIRo2OltAijbc6kwBA0mq2yoxwksdPWeCsF+eFsiNZuKVxPAZaSIX9vc7TvfEn7BRKmU5w1oV3O+XVXLx5QidLr2oVGSwkWpH5+iaG8XWTN8ZgQ9KrOuGLp1DGNRTnJQajB/7BGiYesIhq2BTtgvFMTTTGrWD2mNMvmowVqVy5mqEO8mo0G1D5rodarRa6gfZtDU8Ky3FOxJur7Xzy9x89QDsi2YI2mCoNjWvp4bGyFYielSZIUi6ay21Sxg0wxLOlvMFno2SJX82xWe7ANpZmT3csG6m0UMXvO6kU6V4HHeY/Xe9OENZXJNM9baZSKYVE08b13ctwX32+HNtas44ux4mgxICq/bn+tvZ9iqGOXx+N6pj+lpZ8VJEBebDS2M6PFREBkZksUAgEda6W7PVzkaqO3qLKGs/rUEbUHi1ArbBHElT827xtF27aAVkkUNYYKgWxNrm43tQnTnx52vK20XFDE59qGeK3FmPIBgjqfw+BiE7Ga6msE1tjhF5bhu2++Ap0XjHV+YFlbtK22JZhP6GgH1s8u6zmg2yDouGO/H+OLcUtdJGxa4ApU4SkFK19qfaNStje37zTRlmxLcFLVPsayBZub5ffYVA54WIGBcf6GpXVDrBp20qLtfcgjsydKF5rYw7UBThGo2fn9QItTdez87CABvTa/oS2IUHXRKjJSzXhYQuM7ilU++OC9f3CNEaM9FWJGSbrRycLccItuzrBNuOgfyNFZzs34aQrW1q0qj87MsOlcfsDzKYxDUzyA6t3apUbBJbhrZi5aE9siDo5o2W2jtIYLTjCpxbTOkjxjmKI3A8jZsxeUW4bwWUIvCqp2VLiGCafZT9gngRhP7UznbG9cUqBiTiBPuGyOGEEl1dss/PE+Q/v+Pco4hNphr9txFULm1lJ6WUaw9utf4iJtBljONe83NFpluovocd43YVPwMp9KFINrbP/E16QxwqeHrwcqUdpw9Vw7sBP5VZkM78aUcq0WI/btFLumdNzr9d2wWRi1nEpEu1Kf3n5CTQhS78JiGxqBBtuHrA4s2hLsuM/jndhUbl6aX56dntqYmpqeXS6z2GmTrcj65KrNe2MULOvUhbZMASyOskspXyfYNARiGPCPKrdGtuSsVKOVV4/PlZ9Y3Xx2rD8s6tmzvQlXnhZk+WY2G7ClQDiRCMcCAg8ZBTEQjuET6dSNHl5aYqGlu5hlRmtUHRFPBss7x2l3i+uxvD6BlM+7fD781eYu7++z3UyjpjxyYztbTFDEzZcZUjgLrxPs5LeissMSw3WxLVhdUyq1lOzSvh6v18u7KGS+d8L+kNliZmFhtLigXIgBtVIxQUlumHaGvCbHw+iOcquOFEU9ysaklmDv7jEWcnC0/qpvtfbOsI4R3579u1n6zv8TTi3wI9MaC1EZUK7vvkawGisEIYG6W2p1K4WErL+5tjo+k0fFRbFd1zpy2UrH6q6HN8DZvlmPmzbhBYpZukyLXf/26esE2/T3ghheWGx1moRUK2WZFMrwbHN1Pb9n6Cv3bfLdtmv2YNWgKhYIBFRWx1IZ6m18nWCThtEJIopxUTJHzLSQQBvBpX5Yn1m9wW0NuPRg5XGfl1Xa7LCKpUB0QWpIo9FsNhrdlrjXJRZTLNn9NdrWYM3AqnQehsAPmSSZEyXUswzAdox8yAzZYm9+Zn3TsMfHJ29OoID71mQbrGigUvjPQqKYKKZi0WhRH2T1YI329GD7+4tkQKolNJ/F4uhCtkR9QrUFFmXFlP1ptFVLv4PC65L5QjS0AItYi4HRYiJRjEVTCX3hQkj1fKdaE+xd6x0CyEo0ILLiJTILqXBAVKtu9tuYvDOQiI4uZBqy/W0lgYAQ6xdiMSGMShsQ9HkRplO96nOzUOGW/fYxkl5BkniZTPttogVYDCb6ucjbYlWPb+Teh5yQWkom6vHeLR1N1tBCigoqZSgte6ZQ5Fz2YMdBgaMRfiKDgn4mFgtjsJhIRFOkF3SPyrefIt1Vw83XFkLV1UBu8e6tTzPZBYp0iqloIhwOx2I4D7rhI4BiK7B7EE2REUIsRNlMpnTr7qIMFtrSaGUrWd8ai0Qiry9cDBGNjBWIlo6vMdKNTV5cvIt069ann2Yy2WwJ7KCSmwW4ZqTDgkpjI6EmvTZgp6URonhk0kD8wlSZ7ev3qORT6XGHx/v8N1IQ4Pjx480bRHv4tbm59uzx48fHr1HvOqFgvC8ZCiWT8VAwiF99cWRsMo6/7WP/BuNBA8uSkRb03yefNjQWSo+l55KRyZF0IZ1MpuOFyEgyPZaMj8Tj6Xg6mY68NsfQexrrSyb7lpKFyeBIAb9N9hWSwZEkffX1Rehvyd8R2GSkL9SH5rKAX2ia+yLBUF8Q/z/Slxzpo7/9FxrQP+gP+t3S/wGSPQOJq/sWvwAAAABJRU5ErkJggg=="/>
          <p:cNvSpPr>
            <a:spLocks noChangeAspect="1" noChangeArrowheads="1"/>
          </p:cNvSpPr>
          <p:nvPr/>
        </p:nvSpPr>
        <p:spPr bwMode="auto">
          <a:xfrm>
            <a:off x="155575" y="-144463"/>
            <a:ext cx="304800" cy="30480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pic>
        <p:nvPicPr>
          <p:cNvPr id="125982" name="Picture 3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2924175"/>
            <a:ext cx="2247900" cy="20288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4352945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Title 1"/>
          <p:cNvSpPr>
            <a:spLocks noGrp="1"/>
          </p:cNvSpPr>
          <p:nvPr>
            <p:ph type="title"/>
          </p:nvPr>
        </p:nvSpPr>
        <p:spPr/>
        <p:txBody>
          <a:bodyPr/>
          <a:lstStyle/>
          <a:p>
            <a:r>
              <a:rPr lang="en-US">
                <a:latin typeface="Arial" charset="0"/>
              </a:rPr>
              <a:t>Safe State</a:t>
            </a:r>
          </a:p>
        </p:txBody>
      </p:sp>
      <p:graphicFrame>
        <p:nvGraphicFramePr>
          <p:cNvPr id="4" name="Table 3"/>
          <p:cNvGraphicFramePr>
            <a:graphicFrameLocks noGrp="1"/>
          </p:cNvGraphicFramePr>
          <p:nvPr/>
        </p:nvGraphicFramePr>
        <p:xfrm>
          <a:off x="457200" y="1676400"/>
          <a:ext cx="1920876" cy="1279752"/>
        </p:xfrm>
        <a:graphic>
          <a:graphicData uri="http://schemas.openxmlformats.org/drawingml/2006/table">
            <a:tbl>
              <a:tblPr firstRow="1" bandRow="1">
                <a:tableStyleId>{C083E6E3-FA7D-4D7B-A595-EF9225AFEA82}</a:tableStyleId>
              </a:tblPr>
              <a:tblGrid>
                <a:gridCol w="640292">
                  <a:extLst>
                    <a:ext uri="{9D8B030D-6E8A-4147-A177-3AD203B41FA5}">
                      <a16:colId xmlns:a16="http://schemas.microsoft.com/office/drawing/2014/main" val="20000"/>
                    </a:ext>
                  </a:extLst>
                </a:gridCol>
                <a:gridCol w="640292">
                  <a:extLst>
                    <a:ext uri="{9D8B030D-6E8A-4147-A177-3AD203B41FA5}">
                      <a16:colId xmlns:a16="http://schemas.microsoft.com/office/drawing/2014/main" val="20001"/>
                    </a:ext>
                  </a:extLst>
                </a:gridCol>
                <a:gridCol w="640292">
                  <a:extLst>
                    <a:ext uri="{9D8B030D-6E8A-4147-A177-3AD203B41FA5}">
                      <a16:colId xmlns:a16="http://schemas.microsoft.com/office/drawing/2014/main" val="20002"/>
                    </a:ext>
                  </a:extLst>
                </a:gridCol>
              </a:tblGrid>
              <a:tr h="319881">
                <a:tc>
                  <a:txBody>
                    <a:bodyPr/>
                    <a:lstStyle/>
                    <a:p>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Has</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Max</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19881">
                <a:tc>
                  <a:txBody>
                    <a:bodyPr/>
                    <a:lstStyle/>
                    <a:p>
                      <a:r>
                        <a:rPr lang="en-US" sz="1500" dirty="0" smtClean="0"/>
                        <a:t>A</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3</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9</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19881">
                <a:tc>
                  <a:txBody>
                    <a:bodyPr/>
                    <a:lstStyle/>
                    <a:p>
                      <a:r>
                        <a:rPr lang="en-US" sz="1500" dirty="0" smtClean="0"/>
                        <a:t>B</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2</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4</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19881">
                <a:tc>
                  <a:txBody>
                    <a:bodyPr/>
                    <a:lstStyle/>
                    <a:p>
                      <a:r>
                        <a:rPr lang="en-US" sz="1500" dirty="0" smtClean="0"/>
                        <a:t>C</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2</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7</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28024" name="TextBox 4"/>
          <p:cNvSpPr txBox="1">
            <a:spLocks noChangeArrowheads="1"/>
          </p:cNvSpPr>
          <p:nvPr/>
        </p:nvSpPr>
        <p:spPr bwMode="auto">
          <a:xfrm>
            <a:off x="685800" y="2819400"/>
            <a:ext cx="145415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free : 3 units</a:t>
            </a:r>
          </a:p>
        </p:txBody>
      </p:sp>
      <p:graphicFrame>
        <p:nvGraphicFramePr>
          <p:cNvPr id="6" name="Table 5"/>
          <p:cNvGraphicFramePr>
            <a:graphicFrameLocks noGrp="1"/>
          </p:cNvGraphicFramePr>
          <p:nvPr/>
        </p:nvGraphicFramePr>
        <p:xfrm>
          <a:off x="2743200" y="1676400"/>
          <a:ext cx="1920876" cy="1279752"/>
        </p:xfrm>
        <a:graphic>
          <a:graphicData uri="http://schemas.openxmlformats.org/drawingml/2006/table">
            <a:tbl>
              <a:tblPr firstRow="1" bandRow="1">
                <a:tableStyleId>{C083E6E3-FA7D-4D7B-A595-EF9225AFEA82}</a:tableStyleId>
              </a:tblPr>
              <a:tblGrid>
                <a:gridCol w="640292">
                  <a:extLst>
                    <a:ext uri="{9D8B030D-6E8A-4147-A177-3AD203B41FA5}">
                      <a16:colId xmlns:a16="http://schemas.microsoft.com/office/drawing/2014/main" val="20000"/>
                    </a:ext>
                  </a:extLst>
                </a:gridCol>
                <a:gridCol w="640292">
                  <a:extLst>
                    <a:ext uri="{9D8B030D-6E8A-4147-A177-3AD203B41FA5}">
                      <a16:colId xmlns:a16="http://schemas.microsoft.com/office/drawing/2014/main" val="20001"/>
                    </a:ext>
                  </a:extLst>
                </a:gridCol>
                <a:gridCol w="640292">
                  <a:extLst>
                    <a:ext uri="{9D8B030D-6E8A-4147-A177-3AD203B41FA5}">
                      <a16:colId xmlns:a16="http://schemas.microsoft.com/office/drawing/2014/main" val="20002"/>
                    </a:ext>
                  </a:extLst>
                </a:gridCol>
              </a:tblGrid>
              <a:tr h="319881">
                <a:tc>
                  <a:txBody>
                    <a:bodyPr/>
                    <a:lstStyle/>
                    <a:p>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Has</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Max</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19881">
                <a:tc>
                  <a:txBody>
                    <a:bodyPr/>
                    <a:lstStyle/>
                    <a:p>
                      <a:r>
                        <a:rPr lang="en-US" sz="1500" dirty="0" smtClean="0"/>
                        <a:t>A</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3</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9</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19881">
                <a:tc>
                  <a:txBody>
                    <a:bodyPr/>
                    <a:lstStyle/>
                    <a:p>
                      <a:r>
                        <a:rPr lang="en-US" sz="1500" dirty="0" smtClean="0"/>
                        <a:t>B</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1500" dirty="0" smtClean="0">
                          <a:solidFill>
                            <a:srgbClr val="FF0000"/>
                          </a:solidFill>
                        </a:rPr>
                        <a:t>4</a:t>
                      </a:r>
                      <a:endParaRPr lang="en-US" sz="1500" dirty="0">
                        <a:solidFill>
                          <a:srgbClr val="FF0000"/>
                        </a:solidFill>
                      </a:endParaRPr>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4</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19881">
                <a:tc>
                  <a:txBody>
                    <a:bodyPr/>
                    <a:lstStyle/>
                    <a:p>
                      <a:r>
                        <a:rPr lang="en-US" sz="1500" dirty="0" smtClean="0"/>
                        <a:t>C</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2</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7</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28047" name="TextBox 6"/>
          <p:cNvSpPr txBox="1">
            <a:spLocks noChangeArrowheads="1"/>
          </p:cNvSpPr>
          <p:nvPr/>
        </p:nvSpPr>
        <p:spPr bwMode="auto">
          <a:xfrm>
            <a:off x="2971800" y="2819400"/>
            <a:ext cx="145415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free : </a:t>
            </a:r>
            <a:r>
              <a:rPr lang="en-US" sz="1800">
                <a:solidFill>
                  <a:srgbClr val="FF0000"/>
                </a:solidFill>
              </a:rPr>
              <a:t>1</a:t>
            </a:r>
            <a:r>
              <a:rPr lang="en-US" sz="1800"/>
              <a:t> units</a:t>
            </a:r>
          </a:p>
        </p:txBody>
      </p:sp>
      <p:cxnSp>
        <p:nvCxnSpPr>
          <p:cNvPr id="9" name="Straight Arrow Connector 8"/>
          <p:cNvCxnSpPr/>
          <p:nvPr/>
        </p:nvCxnSpPr>
        <p:spPr>
          <a:xfrm>
            <a:off x="2438400" y="2286000"/>
            <a:ext cx="3048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0" name="Table 9"/>
          <p:cNvGraphicFramePr>
            <a:graphicFrameLocks noGrp="1"/>
          </p:cNvGraphicFramePr>
          <p:nvPr/>
        </p:nvGraphicFramePr>
        <p:xfrm>
          <a:off x="5029200" y="1676400"/>
          <a:ext cx="1920876" cy="1279752"/>
        </p:xfrm>
        <a:graphic>
          <a:graphicData uri="http://schemas.openxmlformats.org/drawingml/2006/table">
            <a:tbl>
              <a:tblPr firstRow="1" bandRow="1">
                <a:tableStyleId>{C083E6E3-FA7D-4D7B-A595-EF9225AFEA82}</a:tableStyleId>
              </a:tblPr>
              <a:tblGrid>
                <a:gridCol w="640292">
                  <a:extLst>
                    <a:ext uri="{9D8B030D-6E8A-4147-A177-3AD203B41FA5}">
                      <a16:colId xmlns:a16="http://schemas.microsoft.com/office/drawing/2014/main" val="20000"/>
                    </a:ext>
                  </a:extLst>
                </a:gridCol>
                <a:gridCol w="640292">
                  <a:extLst>
                    <a:ext uri="{9D8B030D-6E8A-4147-A177-3AD203B41FA5}">
                      <a16:colId xmlns:a16="http://schemas.microsoft.com/office/drawing/2014/main" val="20001"/>
                    </a:ext>
                  </a:extLst>
                </a:gridCol>
                <a:gridCol w="640292">
                  <a:extLst>
                    <a:ext uri="{9D8B030D-6E8A-4147-A177-3AD203B41FA5}">
                      <a16:colId xmlns:a16="http://schemas.microsoft.com/office/drawing/2014/main" val="20002"/>
                    </a:ext>
                  </a:extLst>
                </a:gridCol>
              </a:tblGrid>
              <a:tr h="319881">
                <a:tc>
                  <a:txBody>
                    <a:bodyPr/>
                    <a:lstStyle/>
                    <a:p>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Has</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Max</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19881">
                <a:tc>
                  <a:txBody>
                    <a:bodyPr/>
                    <a:lstStyle/>
                    <a:p>
                      <a:r>
                        <a:rPr lang="en-US" sz="1500" dirty="0" smtClean="0"/>
                        <a:t>A</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3</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9</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19881">
                <a:tc>
                  <a:txBody>
                    <a:bodyPr/>
                    <a:lstStyle/>
                    <a:p>
                      <a:r>
                        <a:rPr lang="en-US" sz="1500" dirty="0" smtClean="0"/>
                        <a:t>B</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solidFill>
                            <a:schemeClr val="tx1"/>
                          </a:solidFill>
                        </a:rPr>
                        <a:t>0</a:t>
                      </a:r>
                      <a:endParaRPr lang="en-US" sz="1500" dirty="0">
                        <a:solidFill>
                          <a:schemeClr val="tx1"/>
                        </a:solidFill>
                      </a:endParaRPr>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19881">
                <a:tc>
                  <a:txBody>
                    <a:bodyPr/>
                    <a:lstStyle/>
                    <a:p>
                      <a:r>
                        <a:rPr lang="en-US" sz="1500" dirty="0" smtClean="0"/>
                        <a:t>C</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2</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7</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11" name="Straight Arrow Connector 10"/>
          <p:cNvCxnSpPr/>
          <p:nvPr/>
        </p:nvCxnSpPr>
        <p:spPr>
          <a:xfrm>
            <a:off x="4724400" y="2286000"/>
            <a:ext cx="3048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8072" name="TextBox 11"/>
          <p:cNvSpPr txBox="1">
            <a:spLocks noChangeArrowheads="1"/>
          </p:cNvSpPr>
          <p:nvPr/>
        </p:nvSpPr>
        <p:spPr bwMode="auto">
          <a:xfrm>
            <a:off x="5181600" y="2819400"/>
            <a:ext cx="145415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free : </a:t>
            </a:r>
            <a:r>
              <a:rPr lang="en-US" sz="1800">
                <a:solidFill>
                  <a:srgbClr val="FF0000"/>
                </a:solidFill>
              </a:rPr>
              <a:t>5</a:t>
            </a:r>
            <a:r>
              <a:rPr lang="en-US" sz="1800"/>
              <a:t> units</a:t>
            </a:r>
          </a:p>
        </p:txBody>
      </p:sp>
      <p:sp>
        <p:nvSpPr>
          <p:cNvPr id="128073" name="TextBox 12"/>
          <p:cNvSpPr txBox="1">
            <a:spLocks noChangeArrowheads="1"/>
          </p:cNvSpPr>
          <p:nvPr/>
        </p:nvSpPr>
        <p:spPr bwMode="auto">
          <a:xfrm>
            <a:off x="2667000" y="1371600"/>
            <a:ext cx="2238375"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Allocate 2 units to B</a:t>
            </a:r>
          </a:p>
        </p:txBody>
      </p:sp>
      <p:sp>
        <p:nvSpPr>
          <p:cNvPr id="128074" name="TextBox 13"/>
          <p:cNvSpPr txBox="1">
            <a:spLocks noChangeArrowheads="1"/>
          </p:cNvSpPr>
          <p:nvPr/>
        </p:nvSpPr>
        <p:spPr bwMode="auto">
          <a:xfrm>
            <a:off x="5251450" y="1371600"/>
            <a:ext cx="145415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B completes</a:t>
            </a:r>
          </a:p>
        </p:txBody>
      </p:sp>
      <p:graphicFrame>
        <p:nvGraphicFramePr>
          <p:cNvPr id="15" name="Table 14"/>
          <p:cNvGraphicFramePr>
            <a:graphicFrameLocks noGrp="1"/>
          </p:cNvGraphicFramePr>
          <p:nvPr/>
        </p:nvGraphicFramePr>
        <p:xfrm>
          <a:off x="7086600" y="3048000"/>
          <a:ext cx="1920876" cy="1279752"/>
        </p:xfrm>
        <a:graphic>
          <a:graphicData uri="http://schemas.openxmlformats.org/drawingml/2006/table">
            <a:tbl>
              <a:tblPr firstRow="1" bandRow="1">
                <a:tableStyleId>{C083E6E3-FA7D-4D7B-A595-EF9225AFEA82}</a:tableStyleId>
              </a:tblPr>
              <a:tblGrid>
                <a:gridCol w="640292">
                  <a:extLst>
                    <a:ext uri="{9D8B030D-6E8A-4147-A177-3AD203B41FA5}">
                      <a16:colId xmlns:a16="http://schemas.microsoft.com/office/drawing/2014/main" val="20000"/>
                    </a:ext>
                  </a:extLst>
                </a:gridCol>
                <a:gridCol w="640292">
                  <a:extLst>
                    <a:ext uri="{9D8B030D-6E8A-4147-A177-3AD203B41FA5}">
                      <a16:colId xmlns:a16="http://schemas.microsoft.com/office/drawing/2014/main" val="20001"/>
                    </a:ext>
                  </a:extLst>
                </a:gridCol>
                <a:gridCol w="640292">
                  <a:extLst>
                    <a:ext uri="{9D8B030D-6E8A-4147-A177-3AD203B41FA5}">
                      <a16:colId xmlns:a16="http://schemas.microsoft.com/office/drawing/2014/main" val="20002"/>
                    </a:ext>
                  </a:extLst>
                </a:gridCol>
              </a:tblGrid>
              <a:tr h="319881">
                <a:tc>
                  <a:txBody>
                    <a:bodyPr/>
                    <a:lstStyle/>
                    <a:p>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Has</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Max</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19881">
                <a:tc>
                  <a:txBody>
                    <a:bodyPr/>
                    <a:lstStyle/>
                    <a:p>
                      <a:r>
                        <a:rPr lang="en-US" sz="1500" dirty="0" smtClean="0"/>
                        <a:t>A</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3</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9</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19881">
                <a:tc>
                  <a:txBody>
                    <a:bodyPr/>
                    <a:lstStyle/>
                    <a:p>
                      <a:r>
                        <a:rPr lang="en-US" sz="1500" dirty="0" smtClean="0"/>
                        <a:t>B</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solidFill>
                            <a:schemeClr val="tx1"/>
                          </a:solidFill>
                        </a:rPr>
                        <a:t>0</a:t>
                      </a:r>
                      <a:endParaRPr lang="en-US" sz="1500" dirty="0">
                        <a:solidFill>
                          <a:schemeClr val="tx1"/>
                        </a:solidFill>
                      </a:endParaRPr>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19881">
                <a:tc>
                  <a:txBody>
                    <a:bodyPr/>
                    <a:lstStyle/>
                    <a:p>
                      <a:r>
                        <a:rPr lang="en-US" sz="1500" dirty="0" smtClean="0"/>
                        <a:t>C</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alpha val="20000"/>
                      </a:srgbClr>
                    </a:solidFill>
                  </a:tcPr>
                </a:tc>
                <a:tc>
                  <a:txBody>
                    <a:bodyPr/>
                    <a:lstStyle/>
                    <a:p>
                      <a:r>
                        <a:rPr lang="en-US" sz="1500" dirty="0" smtClean="0">
                          <a:solidFill>
                            <a:srgbClr val="FF0000"/>
                          </a:solidFill>
                        </a:rPr>
                        <a:t>7</a:t>
                      </a:r>
                      <a:endParaRPr lang="en-US" sz="1500" dirty="0">
                        <a:solidFill>
                          <a:srgbClr val="FF0000"/>
                        </a:solidFill>
                      </a:endParaRPr>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7</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16" name="Straight Arrow Connector 15"/>
          <p:cNvCxnSpPr/>
          <p:nvPr/>
        </p:nvCxnSpPr>
        <p:spPr>
          <a:xfrm rot="16200000" flipH="1">
            <a:off x="6705600" y="2514600"/>
            <a:ext cx="762000" cy="3048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8098" name="TextBox 16"/>
          <p:cNvSpPr txBox="1">
            <a:spLocks noChangeArrowheads="1"/>
          </p:cNvSpPr>
          <p:nvPr/>
        </p:nvSpPr>
        <p:spPr bwMode="auto">
          <a:xfrm>
            <a:off x="7308850" y="2743200"/>
            <a:ext cx="1698625"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Allocate 5 to C</a:t>
            </a:r>
          </a:p>
        </p:txBody>
      </p:sp>
      <p:sp>
        <p:nvSpPr>
          <p:cNvPr id="128099" name="TextBox 18"/>
          <p:cNvSpPr txBox="1">
            <a:spLocks noChangeArrowheads="1"/>
          </p:cNvSpPr>
          <p:nvPr/>
        </p:nvSpPr>
        <p:spPr bwMode="auto">
          <a:xfrm>
            <a:off x="7315200" y="4191000"/>
            <a:ext cx="145415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free : </a:t>
            </a:r>
            <a:r>
              <a:rPr lang="en-US" sz="1800">
                <a:solidFill>
                  <a:srgbClr val="FF0000"/>
                </a:solidFill>
              </a:rPr>
              <a:t>0</a:t>
            </a:r>
            <a:r>
              <a:rPr lang="en-US" sz="1800"/>
              <a:t> units</a:t>
            </a:r>
          </a:p>
        </p:txBody>
      </p:sp>
      <p:graphicFrame>
        <p:nvGraphicFramePr>
          <p:cNvPr id="20" name="Table 19"/>
          <p:cNvGraphicFramePr>
            <a:graphicFrameLocks noGrp="1"/>
          </p:cNvGraphicFramePr>
          <p:nvPr/>
        </p:nvGraphicFramePr>
        <p:xfrm>
          <a:off x="4800600" y="4648200"/>
          <a:ext cx="1920876" cy="1279752"/>
        </p:xfrm>
        <a:graphic>
          <a:graphicData uri="http://schemas.openxmlformats.org/drawingml/2006/table">
            <a:tbl>
              <a:tblPr firstRow="1" bandRow="1">
                <a:tableStyleId>{C083E6E3-FA7D-4D7B-A595-EF9225AFEA82}</a:tableStyleId>
              </a:tblPr>
              <a:tblGrid>
                <a:gridCol w="640292">
                  <a:extLst>
                    <a:ext uri="{9D8B030D-6E8A-4147-A177-3AD203B41FA5}">
                      <a16:colId xmlns:a16="http://schemas.microsoft.com/office/drawing/2014/main" val="20000"/>
                    </a:ext>
                  </a:extLst>
                </a:gridCol>
                <a:gridCol w="640292">
                  <a:extLst>
                    <a:ext uri="{9D8B030D-6E8A-4147-A177-3AD203B41FA5}">
                      <a16:colId xmlns:a16="http://schemas.microsoft.com/office/drawing/2014/main" val="20001"/>
                    </a:ext>
                  </a:extLst>
                </a:gridCol>
                <a:gridCol w="640292">
                  <a:extLst>
                    <a:ext uri="{9D8B030D-6E8A-4147-A177-3AD203B41FA5}">
                      <a16:colId xmlns:a16="http://schemas.microsoft.com/office/drawing/2014/main" val="20002"/>
                    </a:ext>
                  </a:extLst>
                </a:gridCol>
              </a:tblGrid>
              <a:tr h="319881">
                <a:tc>
                  <a:txBody>
                    <a:bodyPr/>
                    <a:lstStyle/>
                    <a:p>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Has</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Max</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19881">
                <a:tc>
                  <a:txBody>
                    <a:bodyPr/>
                    <a:lstStyle/>
                    <a:p>
                      <a:r>
                        <a:rPr lang="en-US" sz="1500" dirty="0" smtClean="0"/>
                        <a:t>A</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3</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9</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19881">
                <a:tc>
                  <a:txBody>
                    <a:bodyPr/>
                    <a:lstStyle/>
                    <a:p>
                      <a:r>
                        <a:rPr lang="en-US" sz="1500" dirty="0" smtClean="0"/>
                        <a:t>B</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solidFill>
                            <a:schemeClr val="tx1"/>
                          </a:solidFill>
                        </a:rPr>
                        <a:t>0</a:t>
                      </a:r>
                      <a:endParaRPr lang="en-US" sz="1500" dirty="0">
                        <a:solidFill>
                          <a:schemeClr val="tx1"/>
                        </a:solidFill>
                      </a:endParaRPr>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19881">
                <a:tc>
                  <a:txBody>
                    <a:bodyPr/>
                    <a:lstStyle/>
                    <a:p>
                      <a:r>
                        <a:rPr lang="en-US" sz="1500" dirty="0" smtClean="0"/>
                        <a:t>C</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alpha val="20000"/>
                      </a:srgbClr>
                    </a:solidFill>
                  </a:tcPr>
                </a:tc>
                <a:tc>
                  <a:txBody>
                    <a:bodyPr/>
                    <a:lstStyle/>
                    <a:p>
                      <a:r>
                        <a:rPr lang="en-US" sz="1500" dirty="0" smtClean="0">
                          <a:solidFill>
                            <a:srgbClr val="FF0000"/>
                          </a:solidFill>
                        </a:rPr>
                        <a:t>0</a:t>
                      </a:r>
                      <a:endParaRPr lang="en-US" sz="1500" dirty="0">
                        <a:solidFill>
                          <a:srgbClr val="FF0000"/>
                        </a:solidFill>
                      </a:endParaRPr>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22" name="Straight Arrow Connector 21"/>
          <p:cNvCxnSpPr/>
          <p:nvPr/>
        </p:nvCxnSpPr>
        <p:spPr>
          <a:xfrm rot="5400000">
            <a:off x="6705600" y="4267200"/>
            <a:ext cx="381000" cy="38100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8123" name="TextBox 23"/>
          <p:cNvSpPr txBox="1">
            <a:spLocks noChangeArrowheads="1"/>
          </p:cNvSpPr>
          <p:nvPr/>
        </p:nvSpPr>
        <p:spPr bwMode="auto">
          <a:xfrm>
            <a:off x="5029200" y="5791200"/>
            <a:ext cx="145415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free : </a:t>
            </a:r>
            <a:r>
              <a:rPr lang="en-US" sz="1800">
                <a:solidFill>
                  <a:srgbClr val="FF0000"/>
                </a:solidFill>
              </a:rPr>
              <a:t>7</a:t>
            </a:r>
            <a:r>
              <a:rPr lang="en-US" sz="1800"/>
              <a:t> units</a:t>
            </a:r>
          </a:p>
        </p:txBody>
      </p:sp>
      <p:sp>
        <p:nvSpPr>
          <p:cNvPr id="128124" name="TextBox 24"/>
          <p:cNvSpPr txBox="1">
            <a:spLocks noChangeArrowheads="1"/>
          </p:cNvSpPr>
          <p:nvPr/>
        </p:nvSpPr>
        <p:spPr bwMode="auto">
          <a:xfrm>
            <a:off x="4876800" y="4343400"/>
            <a:ext cx="146685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C completes</a:t>
            </a:r>
          </a:p>
        </p:txBody>
      </p:sp>
      <p:graphicFrame>
        <p:nvGraphicFramePr>
          <p:cNvPr id="26" name="Table 25"/>
          <p:cNvGraphicFramePr>
            <a:graphicFrameLocks noGrp="1"/>
          </p:cNvGraphicFramePr>
          <p:nvPr/>
        </p:nvGraphicFramePr>
        <p:xfrm>
          <a:off x="2286000" y="4648200"/>
          <a:ext cx="1920876" cy="1279752"/>
        </p:xfrm>
        <a:graphic>
          <a:graphicData uri="http://schemas.openxmlformats.org/drawingml/2006/table">
            <a:tbl>
              <a:tblPr firstRow="1" bandRow="1">
                <a:tableStyleId>{C083E6E3-FA7D-4D7B-A595-EF9225AFEA82}</a:tableStyleId>
              </a:tblPr>
              <a:tblGrid>
                <a:gridCol w="640292">
                  <a:extLst>
                    <a:ext uri="{9D8B030D-6E8A-4147-A177-3AD203B41FA5}">
                      <a16:colId xmlns:a16="http://schemas.microsoft.com/office/drawing/2014/main" val="20000"/>
                    </a:ext>
                  </a:extLst>
                </a:gridCol>
                <a:gridCol w="640292">
                  <a:extLst>
                    <a:ext uri="{9D8B030D-6E8A-4147-A177-3AD203B41FA5}">
                      <a16:colId xmlns:a16="http://schemas.microsoft.com/office/drawing/2014/main" val="20001"/>
                    </a:ext>
                  </a:extLst>
                </a:gridCol>
                <a:gridCol w="640292">
                  <a:extLst>
                    <a:ext uri="{9D8B030D-6E8A-4147-A177-3AD203B41FA5}">
                      <a16:colId xmlns:a16="http://schemas.microsoft.com/office/drawing/2014/main" val="20002"/>
                    </a:ext>
                  </a:extLst>
                </a:gridCol>
              </a:tblGrid>
              <a:tr h="319881">
                <a:tc>
                  <a:txBody>
                    <a:bodyPr/>
                    <a:lstStyle/>
                    <a:p>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Has</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Max</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19881">
                <a:tc>
                  <a:txBody>
                    <a:bodyPr/>
                    <a:lstStyle/>
                    <a:p>
                      <a:r>
                        <a:rPr lang="en-US" sz="1500" dirty="0" smtClean="0"/>
                        <a:t>A</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solidFill>
                            <a:srgbClr val="FF0000"/>
                          </a:solidFill>
                        </a:rPr>
                        <a:t>9</a:t>
                      </a:r>
                      <a:endParaRPr lang="en-US" sz="1500" dirty="0">
                        <a:solidFill>
                          <a:srgbClr val="FF0000"/>
                        </a:solidFill>
                      </a:endParaRPr>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9</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19881">
                <a:tc>
                  <a:txBody>
                    <a:bodyPr/>
                    <a:lstStyle/>
                    <a:p>
                      <a:r>
                        <a:rPr lang="en-US" sz="1500" dirty="0" smtClean="0"/>
                        <a:t>B</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solidFill>
                            <a:schemeClr val="tx1"/>
                          </a:solidFill>
                        </a:rPr>
                        <a:t>0</a:t>
                      </a:r>
                      <a:endParaRPr lang="en-US" sz="1500" dirty="0">
                        <a:solidFill>
                          <a:schemeClr val="tx1"/>
                        </a:solidFill>
                      </a:endParaRPr>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19881">
                <a:tc>
                  <a:txBody>
                    <a:bodyPr/>
                    <a:lstStyle/>
                    <a:p>
                      <a:r>
                        <a:rPr lang="en-US" sz="1500" dirty="0" smtClean="0"/>
                        <a:t>C</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alpha val="20000"/>
                      </a:srgbClr>
                    </a:solidFill>
                  </a:tcPr>
                </a:tc>
                <a:tc>
                  <a:txBody>
                    <a:bodyPr/>
                    <a:lstStyle/>
                    <a:p>
                      <a:r>
                        <a:rPr lang="en-US" sz="1500" dirty="0" smtClean="0">
                          <a:solidFill>
                            <a:schemeClr val="tx1"/>
                          </a:solidFill>
                        </a:rPr>
                        <a:t>0</a:t>
                      </a:r>
                      <a:endParaRPr lang="en-US" sz="1500" dirty="0">
                        <a:solidFill>
                          <a:schemeClr val="tx1"/>
                        </a:solidFill>
                      </a:endParaRPr>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28147" name="TextBox 26"/>
          <p:cNvSpPr txBox="1">
            <a:spLocks noChangeArrowheads="1"/>
          </p:cNvSpPr>
          <p:nvPr/>
        </p:nvSpPr>
        <p:spPr bwMode="auto">
          <a:xfrm>
            <a:off x="2208213" y="4343400"/>
            <a:ext cx="2224087"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Allocate 6 units to A</a:t>
            </a:r>
          </a:p>
        </p:txBody>
      </p:sp>
      <p:cxnSp>
        <p:nvCxnSpPr>
          <p:cNvPr id="29" name="Straight Arrow Connector 28"/>
          <p:cNvCxnSpPr/>
          <p:nvPr/>
        </p:nvCxnSpPr>
        <p:spPr>
          <a:xfrm rot="10800000">
            <a:off x="4191000" y="5257800"/>
            <a:ext cx="6096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8149" name="TextBox 29"/>
          <p:cNvSpPr txBox="1">
            <a:spLocks noChangeArrowheads="1"/>
          </p:cNvSpPr>
          <p:nvPr/>
        </p:nvSpPr>
        <p:spPr bwMode="auto">
          <a:xfrm>
            <a:off x="2362200" y="5867400"/>
            <a:ext cx="145415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free : </a:t>
            </a:r>
            <a:r>
              <a:rPr lang="en-US" sz="1800">
                <a:solidFill>
                  <a:srgbClr val="FF0000"/>
                </a:solidFill>
              </a:rPr>
              <a:t>0</a:t>
            </a:r>
            <a:r>
              <a:rPr lang="en-US" sz="1800"/>
              <a:t> units</a:t>
            </a:r>
          </a:p>
        </p:txBody>
      </p:sp>
      <p:sp>
        <p:nvSpPr>
          <p:cNvPr id="128150" name="TextBox 24"/>
          <p:cNvSpPr txBox="1">
            <a:spLocks noChangeArrowheads="1"/>
          </p:cNvSpPr>
          <p:nvPr/>
        </p:nvSpPr>
        <p:spPr bwMode="auto">
          <a:xfrm>
            <a:off x="914400" y="6211888"/>
            <a:ext cx="5724644" cy="646331"/>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dirty="0"/>
              <a:t>This is a </a:t>
            </a:r>
            <a:r>
              <a:rPr lang="en-US" sz="1800" b="1" u="sng" dirty="0"/>
              <a:t>safe</a:t>
            </a:r>
            <a:r>
              <a:rPr lang="en-US" sz="1800" dirty="0"/>
              <a:t> state because there is some scheduling </a:t>
            </a:r>
          </a:p>
          <a:p>
            <a:pPr eaLnBrk="1" hangingPunct="1"/>
            <a:r>
              <a:rPr lang="en-US" sz="1800" dirty="0"/>
              <a:t>order in which every process executes</a:t>
            </a:r>
          </a:p>
        </p:txBody>
      </p:sp>
      <p:sp>
        <p:nvSpPr>
          <p:cNvPr id="30" name="Freeform 29"/>
          <p:cNvSpPr/>
          <p:nvPr/>
        </p:nvSpPr>
        <p:spPr>
          <a:xfrm>
            <a:off x="388938" y="3175000"/>
            <a:ext cx="1096962" cy="3022600"/>
          </a:xfrm>
          <a:custGeom>
            <a:avLst/>
            <a:gdLst>
              <a:gd name="connsiteX0" fmla="*/ 550333 w 1096433"/>
              <a:gd name="connsiteY0" fmla="*/ 3022600 h 3022600"/>
              <a:gd name="connsiteX1" fmla="*/ 55033 w 1096433"/>
              <a:gd name="connsiteY1" fmla="*/ 2324100 h 3022600"/>
              <a:gd name="connsiteX2" fmla="*/ 880533 w 1096433"/>
              <a:gd name="connsiteY2" fmla="*/ 825500 h 3022600"/>
              <a:gd name="connsiteX3" fmla="*/ 1096433 w 1096433"/>
              <a:gd name="connsiteY3" fmla="*/ 0 h 3022600"/>
            </a:gdLst>
            <a:ahLst/>
            <a:cxnLst>
              <a:cxn ang="0">
                <a:pos x="connsiteX0" y="connsiteY0"/>
              </a:cxn>
              <a:cxn ang="0">
                <a:pos x="connsiteX1" y="connsiteY1"/>
              </a:cxn>
              <a:cxn ang="0">
                <a:pos x="connsiteX2" y="connsiteY2"/>
              </a:cxn>
              <a:cxn ang="0">
                <a:pos x="connsiteX3" y="connsiteY3"/>
              </a:cxn>
            </a:cxnLst>
            <a:rect l="l" t="t" r="r" b="b"/>
            <a:pathLst>
              <a:path w="1096433" h="3022600">
                <a:moveTo>
                  <a:pt x="550333" y="3022600"/>
                </a:moveTo>
                <a:cubicBezTo>
                  <a:pt x="275166" y="2856441"/>
                  <a:pt x="0" y="2690283"/>
                  <a:pt x="55033" y="2324100"/>
                </a:cubicBezTo>
                <a:cubicBezTo>
                  <a:pt x="110066" y="1957917"/>
                  <a:pt x="706966" y="1212850"/>
                  <a:pt x="880533" y="825500"/>
                </a:cubicBezTo>
                <a:cubicBezTo>
                  <a:pt x="1054100" y="438150"/>
                  <a:pt x="1075266" y="219075"/>
                  <a:pt x="1096433" y="0"/>
                </a:cubicBezTo>
              </a:path>
            </a:pathLst>
          </a:cu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Tree>
    <p:extLst>
      <p:ext uri="{BB962C8B-B14F-4D97-AF65-F5344CB8AC3E}">
        <p14:creationId xmlns:p14="http://schemas.microsoft.com/office/powerpoint/2010/main" val="280083425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Title 1"/>
          <p:cNvSpPr>
            <a:spLocks noGrp="1"/>
          </p:cNvSpPr>
          <p:nvPr>
            <p:ph type="title"/>
          </p:nvPr>
        </p:nvSpPr>
        <p:spPr/>
        <p:txBody>
          <a:bodyPr/>
          <a:lstStyle/>
          <a:p>
            <a:r>
              <a:rPr lang="en-US">
                <a:latin typeface="Arial" charset="0"/>
              </a:rPr>
              <a:t>Unsafe State</a:t>
            </a:r>
          </a:p>
        </p:txBody>
      </p:sp>
      <p:graphicFrame>
        <p:nvGraphicFramePr>
          <p:cNvPr id="4" name="Table 3"/>
          <p:cNvGraphicFramePr>
            <a:graphicFrameLocks noGrp="1"/>
          </p:cNvGraphicFramePr>
          <p:nvPr/>
        </p:nvGraphicFramePr>
        <p:xfrm>
          <a:off x="457200" y="1676400"/>
          <a:ext cx="1920876" cy="1279752"/>
        </p:xfrm>
        <a:graphic>
          <a:graphicData uri="http://schemas.openxmlformats.org/drawingml/2006/table">
            <a:tbl>
              <a:tblPr firstRow="1" bandRow="1">
                <a:tableStyleId>{C083E6E3-FA7D-4D7B-A595-EF9225AFEA82}</a:tableStyleId>
              </a:tblPr>
              <a:tblGrid>
                <a:gridCol w="640292">
                  <a:extLst>
                    <a:ext uri="{9D8B030D-6E8A-4147-A177-3AD203B41FA5}">
                      <a16:colId xmlns:a16="http://schemas.microsoft.com/office/drawing/2014/main" val="20000"/>
                    </a:ext>
                  </a:extLst>
                </a:gridCol>
                <a:gridCol w="640292">
                  <a:extLst>
                    <a:ext uri="{9D8B030D-6E8A-4147-A177-3AD203B41FA5}">
                      <a16:colId xmlns:a16="http://schemas.microsoft.com/office/drawing/2014/main" val="20001"/>
                    </a:ext>
                  </a:extLst>
                </a:gridCol>
                <a:gridCol w="640292">
                  <a:extLst>
                    <a:ext uri="{9D8B030D-6E8A-4147-A177-3AD203B41FA5}">
                      <a16:colId xmlns:a16="http://schemas.microsoft.com/office/drawing/2014/main" val="20002"/>
                    </a:ext>
                  </a:extLst>
                </a:gridCol>
              </a:tblGrid>
              <a:tr h="319881">
                <a:tc>
                  <a:txBody>
                    <a:bodyPr/>
                    <a:lstStyle/>
                    <a:p>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Has</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Max</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19881">
                <a:tc>
                  <a:txBody>
                    <a:bodyPr/>
                    <a:lstStyle/>
                    <a:p>
                      <a:r>
                        <a:rPr lang="en-US" sz="1500" dirty="0" smtClean="0"/>
                        <a:t>A</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solidFill>
                            <a:srgbClr val="FF0000"/>
                          </a:solidFill>
                        </a:rPr>
                        <a:t>4</a:t>
                      </a:r>
                      <a:endParaRPr lang="en-US" sz="1500" dirty="0">
                        <a:solidFill>
                          <a:srgbClr val="FF0000"/>
                        </a:solidFill>
                      </a:endParaRPr>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9</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19881">
                <a:tc>
                  <a:txBody>
                    <a:bodyPr/>
                    <a:lstStyle/>
                    <a:p>
                      <a:r>
                        <a:rPr lang="en-US" sz="1500" dirty="0" smtClean="0"/>
                        <a:t>B</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2</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4</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19881">
                <a:tc>
                  <a:txBody>
                    <a:bodyPr/>
                    <a:lstStyle/>
                    <a:p>
                      <a:r>
                        <a:rPr lang="en-US" sz="1500" dirty="0" smtClean="0"/>
                        <a:t>C</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2</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7</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29048" name="TextBox 4"/>
          <p:cNvSpPr txBox="1">
            <a:spLocks noChangeArrowheads="1"/>
          </p:cNvSpPr>
          <p:nvPr/>
        </p:nvSpPr>
        <p:spPr bwMode="auto">
          <a:xfrm>
            <a:off x="685800" y="2819400"/>
            <a:ext cx="145415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free : 2 units</a:t>
            </a:r>
          </a:p>
        </p:txBody>
      </p:sp>
      <p:graphicFrame>
        <p:nvGraphicFramePr>
          <p:cNvPr id="6" name="Table 5"/>
          <p:cNvGraphicFramePr>
            <a:graphicFrameLocks noGrp="1"/>
          </p:cNvGraphicFramePr>
          <p:nvPr/>
        </p:nvGraphicFramePr>
        <p:xfrm>
          <a:off x="2743200" y="1676400"/>
          <a:ext cx="1920876" cy="1279752"/>
        </p:xfrm>
        <a:graphic>
          <a:graphicData uri="http://schemas.openxmlformats.org/drawingml/2006/table">
            <a:tbl>
              <a:tblPr firstRow="1" bandRow="1">
                <a:tableStyleId>{C083E6E3-FA7D-4D7B-A595-EF9225AFEA82}</a:tableStyleId>
              </a:tblPr>
              <a:tblGrid>
                <a:gridCol w="640292">
                  <a:extLst>
                    <a:ext uri="{9D8B030D-6E8A-4147-A177-3AD203B41FA5}">
                      <a16:colId xmlns:a16="http://schemas.microsoft.com/office/drawing/2014/main" val="20000"/>
                    </a:ext>
                  </a:extLst>
                </a:gridCol>
                <a:gridCol w="640292">
                  <a:extLst>
                    <a:ext uri="{9D8B030D-6E8A-4147-A177-3AD203B41FA5}">
                      <a16:colId xmlns:a16="http://schemas.microsoft.com/office/drawing/2014/main" val="20001"/>
                    </a:ext>
                  </a:extLst>
                </a:gridCol>
                <a:gridCol w="640292">
                  <a:extLst>
                    <a:ext uri="{9D8B030D-6E8A-4147-A177-3AD203B41FA5}">
                      <a16:colId xmlns:a16="http://schemas.microsoft.com/office/drawing/2014/main" val="20002"/>
                    </a:ext>
                  </a:extLst>
                </a:gridCol>
              </a:tblGrid>
              <a:tr h="319881">
                <a:tc>
                  <a:txBody>
                    <a:bodyPr/>
                    <a:lstStyle/>
                    <a:p>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Has</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Max</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19881">
                <a:tc>
                  <a:txBody>
                    <a:bodyPr/>
                    <a:lstStyle/>
                    <a:p>
                      <a:r>
                        <a:rPr lang="en-US" sz="1500" dirty="0" smtClean="0"/>
                        <a:t>A</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4</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9</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19881">
                <a:tc>
                  <a:txBody>
                    <a:bodyPr/>
                    <a:lstStyle/>
                    <a:p>
                      <a:r>
                        <a:rPr lang="en-US" sz="1500" dirty="0" smtClean="0"/>
                        <a:t>B</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r>
                        <a:rPr lang="en-US" sz="1500" dirty="0" smtClean="0">
                          <a:solidFill>
                            <a:srgbClr val="FF0000"/>
                          </a:solidFill>
                        </a:rPr>
                        <a:t>4</a:t>
                      </a:r>
                      <a:endParaRPr lang="en-US" sz="1500" dirty="0">
                        <a:solidFill>
                          <a:srgbClr val="FF0000"/>
                        </a:solidFill>
                      </a:endParaRPr>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4</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19881">
                <a:tc>
                  <a:txBody>
                    <a:bodyPr/>
                    <a:lstStyle/>
                    <a:p>
                      <a:r>
                        <a:rPr lang="en-US" sz="1500" dirty="0" smtClean="0"/>
                        <a:t>C</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2</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7</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29071" name="TextBox 6"/>
          <p:cNvSpPr txBox="1">
            <a:spLocks noChangeArrowheads="1"/>
          </p:cNvSpPr>
          <p:nvPr/>
        </p:nvSpPr>
        <p:spPr bwMode="auto">
          <a:xfrm>
            <a:off x="2971800" y="2819400"/>
            <a:ext cx="145415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free : </a:t>
            </a:r>
            <a:r>
              <a:rPr lang="en-US" sz="1800">
                <a:solidFill>
                  <a:srgbClr val="FF0000"/>
                </a:solidFill>
              </a:rPr>
              <a:t>0</a:t>
            </a:r>
            <a:r>
              <a:rPr lang="en-US" sz="1800"/>
              <a:t> units</a:t>
            </a:r>
          </a:p>
        </p:txBody>
      </p:sp>
      <p:cxnSp>
        <p:nvCxnSpPr>
          <p:cNvPr id="9" name="Straight Arrow Connector 8"/>
          <p:cNvCxnSpPr/>
          <p:nvPr/>
        </p:nvCxnSpPr>
        <p:spPr>
          <a:xfrm>
            <a:off x="2438400" y="2286000"/>
            <a:ext cx="3048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10" name="Table 9"/>
          <p:cNvGraphicFramePr>
            <a:graphicFrameLocks noGrp="1"/>
          </p:cNvGraphicFramePr>
          <p:nvPr/>
        </p:nvGraphicFramePr>
        <p:xfrm>
          <a:off x="5029200" y="1676400"/>
          <a:ext cx="1920876" cy="1279752"/>
        </p:xfrm>
        <a:graphic>
          <a:graphicData uri="http://schemas.openxmlformats.org/drawingml/2006/table">
            <a:tbl>
              <a:tblPr firstRow="1" bandRow="1">
                <a:tableStyleId>{C083E6E3-FA7D-4D7B-A595-EF9225AFEA82}</a:tableStyleId>
              </a:tblPr>
              <a:tblGrid>
                <a:gridCol w="640292">
                  <a:extLst>
                    <a:ext uri="{9D8B030D-6E8A-4147-A177-3AD203B41FA5}">
                      <a16:colId xmlns:a16="http://schemas.microsoft.com/office/drawing/2014/main" val="20000"/>
                    </a:ext>
                  </a:extLst>
                </a:gridCol>
                <a:gridCol w="640292">
                  <a:extLst>
                    <a:ext uri="{9D8B030D-6E8A-4147-A177-3AD203B41FA5}">
                      <a16:colId xmlns:a16="http://schemas.microsoft.com/office/drawing/2014/main" val="20001"/>
                    </a:ext>
                  </a:extLst>
                </a:gridCol>
                <a:gridCol w="640292">
                  <a:extLst>
                    <a:ext uri="{9D8B030D-6E8A-4147-A177-3AD203B41FA5}">
                      <a16:colId xmlns:a16="http://schemas.microsoft.com/office/drawing/2014/main" val="20002"/>
                    </a:ext>
                  </a:extLst>
                </a:gridCol>
              </a:tblGrid>
              <a:tr h="319881">
                <a:tc>
                  <a:txBody>
                    <a:bodyPr/>
                    <a:lstStyle/>
                    <a:p>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Has</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Max</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19881">
                <a:tc>
                  <a:txBody>
                    <a:bodyPr/>
                    <a:lstStyle/>
                    <a:p>
                      <a:r>
                        <a:rPr lang="en-US" sz="1500" dirty="0" smtClean="0"/>
                        <a:t>A</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4</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9</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19881">
                <a:tc>
                  <a:txBody>
                    <a:bodyPr/>
                    <a:lstStyle/>
                    <a:p>
                      <a:r>
                        <a:rPr lang="en-US" sz="1500" dirty="0" smtClean="0"/>
                        <a:t>B</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solidFill>
                            <a:schemeClr val="tx1"/>
                          </a:solidFill>
                        </a:rPr>
                        <a:t>0</a:t>
                      </a:r>
                      <a:endParaRPr lang="en-US" sz="1500" dirty="0">
                        <a:solidFill>
                          <a:schemeClr val="tx1"/>
                        </a:solidFill>
                      </a:endParaRPr>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19881">
                <a:tc>
                  <a:txBody>
                    <a:bodyPr/>
                    <a:lstStyle/>
                    <a:p>
                      <a:r>
                        <a:rPr lang="en-US" sz="1500" dirty="0" smtClean="0"/>
                        <a:t>C</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2</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500" dirty="0" smtClean="0"/>
                        <a:t>7</a:t>
                      </a:r>
                      <a:endParaRPr lang="en-US" sz="1500" dirty="0"/>
                    </a:p>
                  </a:txBody>
                  <a:tcPr marL="91470" marR="91470" marT="45669" marB="45669">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cxnSp>
        <p:nvCxnSpPr>
          <p:cNvPr id="11" name="Straight Arrow Connector 10"/>
          <p:cNvCxnSpPr/>
          <p:nvPr/>
        </p:nvCxnSpPr>
        <p:spPr>
          <a:xfrm>
            <a:off x="4724400" y="2286000"/>
            <a:ext cx="304800" cy="158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29096" name="TextBox 11"/>
          <p:cNvSpPr txBox="1">
            <a:spLocks noChangeArrowheads="1"/>
          </p:cNvSpPr>
          <p:nvPr/>
        </p:nvSpPr>
        <p:spPr bwMode="auto">
          <a:xfrm>
            <a:off x="5181600" y="2819400"/>
            <a:ext cx="145415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free : </a:t>
            </a:r>
            <a:r>
              <a:rPr lang="en-US" sz="1800">
                <a:solidFill>
                  <a:srgbClr val="FF0000"/>
                </a:solidFill>
              </a:rPr>
              <a:t>4</a:t>
            </a:r>
            <a:r>
              <a:rPr lang="en-US" sz="1800"/>
              <a:t> units</a:t>
            </a:r>
          </a:p>
        </p:txBody>
      </p:sp>
      <p:sp>
        <p:nvSpPr>
          <p:cNvPr id="129097" name="TextBox 12"/>
          <p:cNvSpPr txBox="1">
            <a:spLocks noChangeArrowheads="1"/>
          </p:cNvSpPr>
          <p:nvPr/>
        </p:nvSpPr>
        <p:spPr bwMode="auto">
          <a:xfrm>
            <a:off x="2667000" y="1371600"/>
            <a:ext cx="2238375"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Allocate 2 units to B</a:t>
            </a:r>
          </a:p>
        </p:txBody>
      </p:sp>
      <p:sp>
        <p:nvSpPr>
          <p:cNvPr id="129098" name="TextBox 13"/>
          <p:cNvSpPr txBox="1">
            <a:spLocks noChangeArrowheads="1"/>
          </p:cNvSpPr>
          <p:nvPr/>
        </p:nvSpPr>
        <p:spPr bwMode="auto">
          <a:xfrm>
            <a:off x="5251450" y="1371600"/>
            <a:ext cx="1454150" cy="3698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B completes</a:t>
            </a:r>
          </a:p>
        </p:txBody>
      </p:sp>
      <p:sp>
        <p:nvSpPr>
          <p:cNvPr id="129099" name="TextBox 13"/>
          <p:cNvSpPr txBox="1">
            <a:spLocks noChangeArrowheads="1"/>
          </p:cNvSpPr>
          <p:nvPr/>
        </p:nvSpPr>
        <p:spPr bwMode="auto">
          <a:xfrm>
            <a:off x="1295400" y="4876800"/>
            <a:ext cx="6253163" cy="646113"/>
          </a:xfrm>
          <a:prstGeom prst="rect">
            <a:avLst/>
          </a:prstGeom>
          <a:noFill/>
          <a:ln w="9525">
            <a:solidFill>
              <a:schemeClr val="tx1"/>
            </a:solidFill>
            <a:miter lim="800000"/>
            <a:headEnd/>
            <a:tailEnd/>
          </a:ln>
          <a:extLst>
            <a:ext uri="{909E8E84-426E-40dd-AFC4-6F175D3DCCD1}">
              <a14:hiddenFill xmlns="" xmlns:a14="http://schemas.microsoft.com/office/drawing/2010/main">
                <a:solidFill>
                  <a:srgbClr val="FFFFFF"/>
                </a:solidFill>
              </a14:hiddenFill>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a:t>This is an unsafe state because there exists NO scheduling </a:t>
            </a:r>
          </a:p>
          <a:p>
            <a:pPr eaLnBrk="1" hangingPunct="1"/>
            <a:r>
              <a:rPr lang="en-US" sz="1800"/>
              <a:t>order in which every process executes</a:t>
            </a:r>
          </a:p>
        </p:txBody>
      </p:sp>
      <p:sp>
        <p:nvSpPr>
          <p:cNvPr id="15" name="Freeform 14"/>
          <p:cNvSpPr/>
          <p:nvPr/>
        </p:nvSpPr>
        <p:spPr>
          <a:xfrm>
            <a:off x="1155700" y="3111500"/>
            <a:ext cx="203200" cy="2039938"/>
          </a:xfrm>
          <a:custGeom>
            <a:avLst/>
            <a:gdLst>
              <a:gd name="connsiteX0" fmla="*/ 152400 w 203200"/>
              <a:gd name="connsiteY0" fmla="*/ 1803400 h 2040467"/>
              <a:gd name="connsiteX1" fmla="*/ 177800 w 203200"/>
              <a:gd name="connsiteY1" fmla="*/ 1739900 h 2040467"/>
              <a:gd name="connsiteX2" fmla="*/ 0 w 203200"/>
              <a:gd name="connsiteY2" fmla="*/ 0 h 2040467"/>
            </a:gdLst>
            <a:ahLst/>
            <a:cxnLst>
              <a:cxn ang="0">
                <a:pos x="connsiteX0" y="connsiteY0"/>
              </a:cxn>
              <a:cxn ang="0">
                <a:pos x="connsiteX1" y="connsiteY1"/>
              </a:cxn>
              <a:cxn ang="0">
                <a:pos x="connsiteX2" y="connsiteY2"/>
              </a:cxn>
            </a:cxnLst>
            <a:rect l="l" t="t" r="r" b="b"/>
            <a:pathLst>
              <a:path w="203200" h="2040467">
                <a:moveTo>
                  <a:pt x="152400" y="1803400"/>
                </a:moveTo>
                <a:cubicBezTo>
                  <a:pt x="177800" y="1921933"/>
                  <a:pt x="203200" y="2040467"/>
                  <a:pt x="177800" y="1739900"/>
                </a:cubicBezTo>
                <a:cubicBezTo>
                  <a:pt x="152400" y="1439333"/>
                  <a:pt x="76200" y="719666"/>
                  <a:pt x="0" y="0"/>
                </a:cubicBezTo>
              </a:path>
            </a:pathLst>
          </a:custGeom>
          <a:ln>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Tree>
    <p:extLst>
      <p:ext uri="{BB962C8B-B14F-4D97-AF65-F5344CB8AC3E}">
        <p14:creationId xmlns:p14="http://schemas.microsoft.com/office/powerpoint/2010/main" val="206639866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a:xfrm>
            <a:off x="1474788" y="327025"/>
            <a:ext cx="7586662" cy="431800"/>
          </a:xfrm>
        </p:spPr>
        <p:txBody>
          <a:bodyPr/>
          <a:lstStyle/>
          <a:p>
            <a:pPr eaLnBrk="1" hangingPunct="1"/>
            <a:r>
              <a:rPr lang="en-US" altLang="en-US" sz="2800" smtClean="0"/>
              <a:t>Data Structures for the Banker</a:t>
            </a:r>
            <a:r>
              <a:rPr lang="ja-JP" altLang="en-US" sz="2800" smtClean="0"/>
              <a:t>’</a:t>
            </a:r>
            <a:r>
              <a:rPr lang="en-US" altLang="ja-JP" sz="2800" smtClean="0"/>
              <a:t>s Algorithm </a:t>
            </a:r>
            <a:endParaRPr lang="en-US" altLang="en-US" sz="2800" smtClean="0"/>
          </a:p>
        </p:txBody>
      </p:sp>
      <p:sp>
        <p:nvSpPr>
          <p:cNvPr id="58371" name="Rectangle 3"/>
          <p:cNvSpPr>
            <a:spLocks noGrp="1" noChangeArrowheads="1"/>
          </p:cNvSpPr>
          <p:nvPr>
            <p:ph type="body" idx="1"/>
          </p:nvPr>
        </p:nvSpPr>
        <p:spPr>
          <a:xfrm>
            <a:off x="950912" y="1752600"/>
            <a:ext cx="7812087" cy="4387850"/>
          </a:xfrm>
        </p:spPr>
        <p:txBody>
          <a:bodyPr/>
          <a:lstStyle/>
          <a:p>
            <a:r>
              <a:rPr lang="en-US" altLang="en-US" sz="2000" b="1" dirty="0" smtClean="0"/>
              <a:t>Available</a:t>
            </a:r>
            <a:r>
              <a:rPr lang="en-US" altLang="en-US" sz="2000" i="1" dirty="0" smtClean="0"/>
              <a:t>:</a:t>
            </a:r>
            <a:r>
              <a:rPr lang="en-US" altLang="en-US" sz="2000" dirty="0" smtClean="0"/>
              <a:t>  Vector of length </a:t>
            </a:r>
            <a:r>
              <a:rPr lang="en-US" altLang="en-US" sz="2000" i="1" dirty="0" smtClean="0"/>
              <a:t>m</a:t>
            </a:r>
            <a:r>
              <a:rPr lang="en-US" altLang="en-US" sz="2000" dirty="0" smtClean="0"/>
              <a:t>. If available [</a:t>
            </a:r>
            <a:r>
              <a:rPr lang="en-US" altLang="en-US" sz="2000" i="1" dirty="0" smtClean="0"/>
              <a:t>j</a:t>
            </a:r>
            <a:r>
              <a:rPr lang="en-US" altLang="en-US" sz="2000" dirty="0" smtClean="0"/>
              <a:t>] = </a:t>
            </a:r>
            <a:r>
              <a:rPr lang="en-US" altLang="en-US" sz="2000" i="1" dirty="0" smtClean="0"/>
              <a:t>k</a:t>
            </a:r>
            <a:r>
              <a:rPr lang="en-US" altLang="en-US" sz="2000" dirty="0" smtClean="0"/>
              <a:t>, there are</a:t>
            </a:r>
            <a:r>
              <a:rPr lang="en-US" altLang="en-US" sz="2000" i="1" dirty="0" smtClean="0"/>
              <a:t> k</a:t>
            </a:r>
            <a:r>
              <a:rPr lang="en-US" altLang="en-US" sz="2000" dirty="0" smtClean="0"/>
              <a:t> instances of resource type </a:t>
            </a:r>
            <a:r>
              <a:rPr lang="en-US" altLang="en-US" sz="2000" i="1" dirty="0" err="1" smtClean="0"/>
              <a:t>R</a:t>
            </a:r>
            <a:r>
              <a:rPr lang="en-US" altLang="en-US" sz="2000" i="1" baseline="-25000" dirty="0" err="1" smtClean="0"/>
              <a:t>j</a:t>
            </a:r>
            <a:r>
              <a:rPr lang="en-US" altLang="en-US" sz="2000" baseline="-25000" dirty="0" smtClean="0"/>
              <a:t>  </a:t>
            </a:r>
            <a:r>
              <a:rPr lang="en-US" altLang="en-US" sz="2000" dirty="0" smtClean="0"/>
              <a:t>available</a:t>
            </a:r>
          </a:p>
          <a:p>
            <a:endParaRPr lang="en-US" altLang="en-US" sz="500" dirty="0" smtClean="0"/>
          </a:p>
          <a:p>
            <a:endParaRPr lang="en-US" altLang="en-US" sz="2000" b="1" dirty="0" smtClean="0">
              <a:solidFill>
                <a:srgbClr val="000000"/>
              </a:solidFill>
            </a:endParaRPr>
          </a:p>
          <a:p>
            <a:r>
              <a:rPr lang="en-US" altLang="en-US" sz="2000" b="1" dirty="0" smtClean="0">
                <a:solidFill>
                  <a:srgbClr val="000000"/>
                </a:solidFill>
              </a:rPr>
              <a:t>Max</a:t>
            </a:r>
            <a:r>
              <a:rPr lang="en-US" altLang="en-US" sz="2000" i="1" dirty="0" smtClean="0"/>
              <a:t>: n x m</a:t>
            </a:r>
            <a:r>
              <a:rPr lang="en-US" altLang="en-US" sz="2000" dirty="0" smtClean="0"/>
              <a:t> matrix.  If </a:t>
            </a:r>
            <a:r>
              <a:rPr lang="en-US" altLang="en-US" sz="2000" i="1" dirty="0" smtClean="0"/>
              <a:t>Max </a:t>
            </a:r>
            <a:r>
              <a:rPr lang="en-US" altLang="en-US" sz="2000" dirty="0" smtClean="0"/>
              <a:t>[</a:t>
            </a:r>
            <a:r>
              <a:rPr lang="en-US" altLang="en-US" sz="2000" i="1" dirty="0" err="1" smtClean="0"/>
              <a:t>i,j</a:t>
            </a:r>
            <a:r>
              <a:rPr lang="en-US" altLang="en-US" sz="2000" dirty="0" smtClean="0"/>
              <a:t>] = </a:t>
            </a:r>
            <a:r>
              <a:rPr lang="en-US" altLang="en-US" sz="2000" i="1" dirty="0" smtClean="0"/>
              <a:t>k</a:t>
            </a:r>
            <a:r>
              <a:rPr lang="en-US" altLang="en-US" sz="2000" dirty="0" smtClean="0"/>
              <a:t>, then process </a:t>
            </a:r>
            <a:r>
              <a:rPr lang="en-US" altLang="en-US" sz="2000" i="1" dirty="0" smtClean="0"/>
              <a:t>P</a:t>
            </a:r>
            <a:r>
              <a:rPr lang="en-US" altLang="en-US" sz="2000" i="1" baseline="-25000" dirty="0" smtClean="0"/>
              <a:t>i</a:t>
            </a:r>
            <a:r>
              <a:rPr lang="en-US" altLang="en-US" sz="2000" i="1" dirty="0" smtClean="0"/>
              <a:t> </a:t>
            </a:r>
            <a:r>
              <a:rPr lang="en-US" altLang="en-US" sz="2000" dirty="0" smtClean="0"/>
              <a:t>may request at most</a:t>
            </a:r>
            <a:r>
              <a:rPr lang="en-US" altLang="en-US" sz="2000" i="1" dirty="0" smtClean="0"/>
              <a:t> k </a:t>
            </a:r>
            <a:r>
              <a:rPr lang="en-US" altLang="en-US" sz="2000" dirty="0" smtClean="0"/>
              <a:t>instances of resource type </a:t>
            </a:r>
            <a:r>
              <a:rPr lang="en-US" altLang="en-US" sz="2000" i="1" dirty="0" err="1" smtClean="0"/>
              <a:t>R</a:t>
            </a:r>
            <a:r>
              <a:rPr lang="en-US" altLang="en-US" sz="2000" i="1" baseline="-25000" dirty="0" err="1" smtClean="0"/>
              <a:t>j</a:t>
            </a:r>
            <a:endParaRPr lang="en-US" altLang="en-US" sz="2000" i="1" baseline="-25000" dirty="0" smtClean="0"/>
          </a:p>
          <a:p>
            <a:endParaRPr lang="en-US" altLang="en-US" sz="500" i="1" baseline="-25000" dirty="0" smtClean="0"/>
          </a:p>
          <a:p>
            <a:endParaRPr lang="en-US" altLang="en-US" sz="2000" b="1" dirty="0" smtClean="0">
              <a:solidFill>
                <a:srgbClr val="000000"/>
              </a:solidFill>
            </a:endParaRPr>
          </a:p>
          <a:p>
            <a:r>
              <a:rPr lang="en-US" altLang="en-US" sz="2000" b="1" dirty="0" smtClean="0">
                <a:solidFill>
                  <a:srgbClr val="000000"/>
                </a:solidFill>
              </a:rPr>
              <a:t>Allocation</a:t>
            </a:r>
            <a:r>
              <a:rPr lang="en-US" altLang="en-US" sz="2000" i="1" dirty="0" smtClean="0"/>
              <a:t>:  n </a:t>
            </a:r>
            <a:r>
              <a:rPr lang="en-US" altLang="en-US" sz="2000" dirty="0" smtClean="0"/>
              <a:t>x</a:t>
            </a:r>
            <a:r>
              <a:rPr lang="en-US" altLang="en-US" sz="2000" i="1" dirty="0" smtClean="0"/>
              <a:t> m</a:t>
            </a:r>
            <a:r>
              <a:rPr lang="en-US" altLang="en-US" sz="2000" dirty="0" smtClean="0"/>
              <a:t> matrix.  If Allocation[</a:t>
            </a:r>
            <a:r>
              <a:rPr lang="en-US" altLang="en-US" sz="2000" i="1" dirty="0" err="1" smtClean="0"/>
              <a:t>i,j</a:t>
            </a:r>
            <a:r>
              <a:rPr lang="en-US" altLang="en-US" sz="2000" dirty="0" smtClean="0"/>
              <a:t>] = </a:t>
            </a:r>
            <a:r>
              <a:rPr lang="en-US" altLang="en-US" sz="2000" i="1" dirty="0" smtClean="0"/>
              <a:t>k</a:t>
            </a:r>
            <a:r>
              <a:rPr lang="en-US" altLang="en-US" sz="2000" dirty="0" smtClean="0"/>
              <a:t> then</a:t>
            </a:r>
            <a:r>
              <a:rPr lang="en-US" altLang="en-US" sz="2000" i="1" dirty="0" smtClean="0"/>
              <a:t> P</a:t>
            </a:r>
            <a:r>
              <a:rPr lang="en-US" altLang="en-US" sz="2000" i="1" baseline="-25000" dirty="0" smtClean="0"/>
              <a:t>i</a:t>
            </a:r>
            <a:r>
              <a:rPr lang="en-US" altLang="en-US" sz="2000" dirty="0" smtClean="0"/>
              <a:t> is currently allocated </a:t>
            </a:r>
            <a:r>
              <a:rPr lang="en-US" altLang="en-US" sz="2000" i="1" dirty="0" smtClean="0"/>
              <a:t>k</a:t>
            </a:r>
            <a:r>
              <a:rPr lang="en-US" altLang="en-US" sz="2000" dirty="0" smtClean="0"/>
              <a:t> instances of </a:t>
            </a:r>
            <a:r>
              <a:rPr lang="en-US" altLang="en-US" sz="2000" i="1" dirty="0" err="1" smtClean="0"/>
              <a:t>R</a:t>
            </a:r>
            <a:r>
              <a:rPr lang="en-US" altLang="en-US" sz="2000" i="1" baseline="-25000" dirty="0" err="1" smtClean="0"/>
              <a:t>j</a:t>
            </a:r>
            <a:endParaRPr lang="en-US" altLang="en-US" sz="2000" i="1" baseline="-25000" dirty="0" smtClean="0"/>
          </a:p>
          <a:p>
            <a:endParaRPr lang="en-US" altLang="en-US" sz="500" i="1" baseline="-25000" dirty="0" smtClean="0"/>
          </a:p>
          <a:p>
            <a:endParaRPr lang="en-US" altLang="en-US" sz="2000" b="1" dirty="0" smtClean="0">
              <a:solidFill>
                <a:srgbClr val="000000"/>
              </a:solidFill>
            </a:endParaRPr>
          </a:p>
          <a:p>
            <a:r>
              <a:rPr lang="en-US" altLang="en-US" sz="2000" b="1" dirty="0" smtClean="0">
                <a:solidFill>
                  <a:srgbClr val="000000"/>
                </a:solidFill>
              </a:rPr>
              <a:t>Need</a:t>
            </a:r>
            <a:r>
              <a:rPr lang="en-US" altLang="en-US" sz="2000" i="1" dirty="0" smtClean="0"/>
              <a:t>:  n </a:t>
            </a:r>
            <a:r>
              <a:rPr lang="en-US" altLang="en-US" sz="2000" dirty="0" smtClean="0"/>
              <a:t>x</a:t>
            </a:r>
            <a:r>
              <a:rPr lang="en-US" altLang="en-US" sz="2000" i="1" dirty="0" smtClean="0"/>
              <a:t> m</a:t>
            </a:r>
            <a:r>
              <a:rPr lang="en-US" altLang="en-US" sz="2000" dirty="0" smtClean="0"/>
              <a:t> matrix. If </a:t>
            </a:r>
            <a:r>
              <a:rPr lang="en-US" altLang="en-US" sz="2000" i="1" dirty="0" smtClean="0"/>
              <a:t>Need</a:t>
            </a:r>
            <a:r>
              <a:rPr lang="en-US" altLang="en-US" sz="2000" dirty="0" smtClean="0"/>
              <a:t>[</a:t>
            </a:r>
            <a:r>
              <a:rPr lang="en-US" altLang="en-US" sz="2000" i="1" dirty="0" err="1" smtClean="0"/>
              <a:t>i,j</a:t>
            </a:r>
            <a:r>
              <a:rPr lang="en-US" altLang="en-US" sz="2000" dirty="0" smtClean="0"/>
              <a:t>] =</a:t>
            </a:r>
            <a:r>
              <a:rPr lang="en-US" altLang="en-US" sz="2000" i="1" dirty="0" smtClean="0"/>
              <a:t> k</a:t>
            </a:r>
            <a:r>
              <a:rPr lang="en-US" altLang="en-US" sz="2000" dirty="0" smtClean="0"/>
              <a:t>, then</a:t>
            </a:r>
            <a:r>
              <a:rPr lang="en-US" altLang="en-US" sz="2000" i="1" dirty="0" smtClean="0"/>
              <a:t> P</a:t>
            </a:r>
            <a:r>
              <a:rPr lang="en-US" altLang="en-US" sz="2000" i="1" baseline="-25000" dirty="0" smtClean="0"/>
              <a:t>i</a:t>
            </a:r>
            <a:r>
              <a:rPr lang="en-US" altLang="en-US" sz="2000" dirty="0" smtClean="0"/>
              <a:t> may need </a:t>
            </a:r>
            <a:r>
              <a:rPr lang="en-US" altLang="en-US" sz="2000" i="1" dirty="0" smtClean="0"/>
              <a:t>k</a:t>
            </a:r>
            <a:r>
              <a:rPr lang="en-US" altLang="en-US" sz="2000" dirty="0" smtClean="0"/>
              <a:t> more instances of </a:t>
            </a:r>
            <a:r>
              <a:rPr lang="en-US" altLang="en-US" sz="2000" i="1" dirty="0" err="1" smtClean="0"/>
              <a:t>R</a:t>
            </a:r>
            <a:r>
              <a:rPr lang="en-US" altLang="en-US" sz="2000" i="1" baseline="-25000" dirty="0" err="1" smtClean="0"/>
              <a:t>j</a:t>
            </a:r>
            <a:r>
              <a:rPr lang="en-US" altLang="en-US" sz="2000" baseline="-25000" dirty="0" smtClean="0"/>
              <a:t> </a:t>
            </a:r>
            <a:r>
              <a:rPr lang="en-US" altLang="en-US" sz="2000" dirty="0" smtClean="0"/>
              <a:t>to complete its task</a:t>
            </a:r>
          </a:p>
          <a:p>
            <a:pPr lvl="2">
              <a:buFont typeface="Webdings" panose="05030102010509060703" pitchFamily="18" charset="2"/>
              <a:buNone/>
            </a:pPr>
            <a:r>
              <a:rPr lang="en-US" altLang="en-US" sz="1600" dirty="0" smtClean="0"/>
              <a:t/>
            </a:r>
            <a:br>
              <a:rPr lang="en-US" altLang="en-US" sz="1600" dirty="0" smtClean="0"/>
            </a:br>
            <a:r>
              <a:rPr lang="en-US" altLang="en-US" sz="1600" i="1" dirty="0" smtClean="0"/>
              <a:t>Need</a:t>
            </a:r>
            <a:r>
              <a:rPr lang="en-US" altLang="en-US" sz="1600" dirty="0" smtClean="0"/>
              <a:t> [</a:t>
            </a:r>
            <a:r>
              <a:rPr lang="en-US" altLang="en-US" sz="1600" i="1" dirty="0" err="1" smtClean="0"/>
              <a:t>i,j</a:t>
            </a:r>
            <a:r>
              <a:rPr lang="en-US" altLang="en-US" sz="1600" i="1" dirty="0" smtClean="0"/>
              <a:t>]</a:t>
            </a:r>
            <a:r>
              <a:rPr lang="en-US" altLang="en-US" sz="1600" dirty="0" smtClean="0"/>
              <a:t> = </a:t>
            </a:r>
            <a:r>
              <a:rPr lang="en-US" altLang="en-US" sz="1600" i="1" dirty="0" smtClean="0"/>
              <a:t>Max</a:t>
            </a:r>
            <a:r>
              <a:rPr lang="en-US" altLang="en-US" sz="1600" dirty="0" smtClean="0"/>
              <a:t>[</a:t>
            </a:r>
            <a:r>
              <a:rPr lang="en-US" altLang="en-US" sz="1600" i="1" dirty="0" err="1" smtClean="0"/>
              <a:t>i,j</a:t>
            </a:r>
            <a:r>
              <a:rPr lang="en-US" altLang="en-US" sz="1600" dirty="0" smtClean="0"/>
              <a:t>] – </a:t>
            </a:r>
            <a:r>
              <a:rPr lang="en-US" altLang="en-US" sz="1600" i="1" dirty="0" smtClean="0"/>
              <a:t>Allocation</a:t>
            </a:r>
            <a:r>
              <a:rPr lang="en-US" altLang="en-US" sz="1600" dirty="0" smtClean="0"/>
              <a:t> [</a:t>
            </a:r>
            <a:r>
              <a:rPr lang="en-US" altLang="en-US" sz="1600" i="1" dirty="0" err="1" smtClean="0"/>
              <a:t>i,j</a:t>
            </a:r>
            <a:r>
              <a:rPr lang="en-US" altLang="en-US" sz="1600" dirty="0" smtClean="0"/>
              <a:t>]</a:t>
            </a:r>
          </a:p>
        </p:txBody>
      </p:sp>
      <p:sp>
        <p:nvSpPr>
          <p:cNvPr id="58372" name="Text Box 4"/>
          <p:cNvSpPr txBox="1">
            <a:spLocks noChangeArrowheads="1"/>
          </p:cNvSpPr>
          <p:nvPr/>
        </p:nvSpPr>
        <p:spPr bwMode="auto">
          <a:xfrm>
            <a:off x="950913" y="1108075"/>
            <a:ext cx="6934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35000"/>
              </a:spcBef>
              <a:buClr>
                <a:srgbClr val="993300"/>
              </a:buClr>
              <a:buSzPct val="90000"/>
              <a:buFont typeface="Monotype Sorts" pitchFamily="-84" charset="2"/>
              <a:buChar char="n"/>
              <a:defRPr kumimoji="1">
                <a:solidFill>
                  <a:schemeClr val="tx1"/>
                </a:solidFill>
                <a:latin typeface="Helvetica" panose="020B0604020202020204" pitchFamily="34" charset="0"/>
                <a:ea typeface="MS PGothic" panose="020B0600070205080204" pitchFamily="34" charset="-128"/>
              </a:defRPr>
            </a:lvl1pPr>
            <a:lvl2pPr marL="742950" indent="-285750">
              <a:spcBef>
                <a:spcPct val="35000"/>
              </a:spcBef>
              <a:buClr>
                <a:srgbClr val="CC6600"/>
              </a:buClr>
              <a:buSzPct val="80000"/>
              <a:buFont typeface="Monotype Sorts" pitchFamily="-84" charset="2"/>
              <a:buChar char="l"/>
              <a:defRPr kumimoji="1">
                <a:solidFill>
                  <a:schemeClr val="tx1"/>
                </a:solidFill>
                <a:latin typeface="Helvetica" panose="020B0604020202020204" pitchFamily="34" charset="0"/>
                <a:ea typeface="MS PGothic" panose="020B0600070205080204" pitchFamily="34" charset="-128"/>
              </a:defRPr>
            </a:lvl2pPr>
            <a:lvl3pPr marL="1143000" indent="-228600">
              <a:spcBef>
                <a:spcPct val="35000"/>
              </a:spcBef>
              <a:buClr>
                <a:srgbClr val="009900"/>
              </a:buClr>
              <a:buSzPct val="75000"/>
              <a:buFont typeface="Webdings" panose="05030102010509060703" pitchFamily="18" charset="2"/>
              <a:buChar char="4"/>
              <a:defRPr kumimoji="1">
                <a:solidFill>
                  <a:schemeClr val="tx1"/>
                </a:solidFill>
                <a:latin typeface="Helvetica" panose="020B0604020202020204" pitchFamily="34" charset="0"/>
                <a:ea typeface="MS PGothic" panose="020B0600070205080204" pitchFamily="34" charset="-128"/>
              </a:defRPr>
            </a:lvl3pPr>
            <a:lvl4pPr marL="1600200" indent="-228600">
              <a:spcBef>
                <a:spcPct val="35000"/>
              </a:spcBef>
              <a:buClr>
                <a:schemeClr val="hlink"/>
              </a:buClr>
              <a:buSzPct val="75000"/>
              <a:buChar char="–"/>
              <a:defRPr kumimoji="1">
                <a:solidFill>
                  <a:schemeClr val="tx1"/>
                </a:solidFill>
                <a:latin typeface="Helvetica" panose="020B0604020202020204" pitchFamily="34" charset="0"/>
                <a:ea typeface="MS PGothic" panose="020B0600070205080204" pitchFamily="34" charset="-128"/>
              </a:defRPr>
            </a:lvl4pPr>
            <a:lvl5pPr marL="2057400" indent="-228600">
              <a:spcBef>
                <a:spcPct val="35000"/>
              </a:spcBef>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5pPr>
            <a:lvl6pPr marL="25146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6pPr>
            <a:lvl7pPr marL="29718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7pPr>
            <a:lvl8pPr marL="34290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8pPr>
            <a:lvl9pPr marL="3886200" indent="-228600" eaLnBrk="0" fontAlgn="base" hangingPunct="0">
              <a:spcBef>
                <a:spcPct val="35000"/>
              </a:spcBef>
              <a:spcAft>
                <a:spcPct val="0"/>
              </a:spcAft>
              <a:buClr>
                <a:srgbClr val="FF0066"/>
              </a:buClr>
              <a:buSzPct val="75000"/>
              <a:buChar char="»"/>
              <a:defRPr kumimoji="1">
                <a:solidFill>
                  <a:schemeClr val="tx1"/>
                </a:solidFill>
                <a:latin typeface="Helvetica" panose="020B0604020202020204" pitchFamily="34" charset="0"/>
                <a:ea typeface="MS PGothic" panose="020B0600070205080204" pitchFamily="34" charset="-128"/>
              </a:defRPr>
            </a:lvl9pPr>
          </a:lstStyle>
          <a:p>
            <a:pPr>
              <a:spcBef>
                <a:spcPct val="50000"/>
              </a:spcBef>
              <a:buClrTx/>
              <a:buSzTx/>
              <a:buFontTx/>
              <a:buNone/>
            </a:pPr>
            <a:r>
              <a:rPr kumimoji="0" lang="en-US" altLang="en-US"/>
              <a:t>Let </a:t>
            </a:r>
            <a:r>
              <a:rPr kumimoji="0" lang="en-US" altLang="en-US" i="1"/>
              <a:t>n</a:t>
            </a:r>
            <a:r>
              <a:rPr kumimoji="0" lang="en-US" altLang="en-US"/>
              <a:t> = number of processes, and </a:t>
            </a:r>
            <a:r>
              <a:rPr kumimoji="0" lang="en-US" altLang="en-US" i="1"/>
              <a:t>m </a:t>
            </a:r>
            <a:r>
              <a:rPr kumimoji="0" lang="en-US" altLang="en-US"/>
              <a:t>= number of resources types. </a:t>
            </a:r>
          </a:p>
        </p:txBody>
      </p:sp>
    </p:spTree>
    <p:extLst>
      <p:ext uri="{BB962C8B-B14F-4D97-AF65-F5344CB8AC3E}">
        <p14:creationId xmlns:p14="http://schemas.microsoft.com/office/powerpoint/2010/main" val="265290949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457200" y="166688"/>
            <a:ext cx="8229600" cy="576262"/>
          </a:xfrm>
        </p:spPr>
        <p:txBody>
          <a:bodyPr/>
          <a:lstStyle/>
          <a:p>
            <a:pPr eaLnBrk="1" hangingPunct="1"/>
            <a:r>
              <a:rPr lang="en-US" altLang="en-US" smtClean="0"/>
              <a:t>Safety Algorithm</a:t>
            </a:r>
          </a:p>
        </p:txBody>
      </p:sp>
      <p:sp>
        <p:nvSpPr>
          <p:cNvPr id="60419" name="Rectangle 3"/>
          <p:cNvSpPr>
            <a:spLocks noGrp="1" noChangeArrowheads="1"/>
          </p:cNvSpPr>
          <p:nvPr>
            <p:ph type="body" idx="1"/>
          </p:nvPr>
        </p:nvSpPr>
        <p:spPr>
          <a:xfrm>
            <a:off x="908050" y="1157288"/>
            <a:ext cx="8007350" cy="4943475"/>
          </a:xfrm>
        </p:spPr>
        <p:txBody>
          <a:bodyPr/>
          <a:lstStyle/>
          <a:p>
            <a:pPr>
              <a:lnSpc>
                <a:spcPct val="90000"/>
              </a:lnSpc>
              <a:buFont typeface="Monotype Sorts" pitchFamily="-84" charset="2"/>
              <a:buNone/>
            </a:pPr>
            <a:r>
              <a:rPr lang="en-US" altLang="en-US" sz="2000" dirty="0" smtClean="0"/>
              <a:t>1.	Let </a:t>
            </a:r>
            <a:r>
              <a:rPr lang="en-US" altLang="en-US" sz="2000" b="1" i="1" dirty="0" smtClean="0">
                <a:solidFill>
                  <a:srgbClr val="000000"/>
                </a:solidFill>
              </a:rPr>
              <a:t>Work</a:t>
            </a:r>
            <a:r>
              <a:rPr lang="en-US" altLang="en-US" sz="2000" i="1" dirty="0" smtClean="0">
                <a:solidFill>
                  <a:srgbClr val="000000"/>
                </a:solidFill>
              </a:rPr>
              <a:t> </a:t>
            </a:r>
            <a:r>
              <a:rPr lang="en-US" altLang="en-US" sz="2000" dirty="0" smtClean="0"/>
              <a:t>and </a:t>
            </a:r>
            <a:r>
              <a:rPr lang="en-US" altLang="en-US" sz="2000" b="1" i="1" dirty="0" smtClean="0">
                <a:solidFill>
                  <a:srgbClr val="000000"/>
                </a:solidFill>
              </a:rPr>
              <a:t>Finish</a:t>
            </a:r>
            <a:r>
              <a:rPr lang="en-US" altLang="en-US" sz="2000" dirty="0" smtClean="0">
                <a:solidFill>
                  <a:srgbClr val="000000"/>
                </a:solidFill>
              </a:rPr>
              <a:t> </a:t>
            </a:r>
            <a:r>
              <a:rPr lang="en-US" altLang="en-US" sz="2000" dirty="0" smtClean="0"/>
              <a:t>be vectors of length</a:t>
            </a:r>
            <a:r>
              <a:rPr lang="en-US" altLang="en-US" sz="2000" i="1" dirty="0" smtClean="0"/>
              <a:t> m</a:t>
            </a:r>
            <a:r>
              <a:rPr lang="en-US" altLang="en-US" sz="2000" dirty="0" smtClean="0"/>
              <a:t> and</a:t>
            </a:r>
            <a:r>
              <a:rPr lang="en-US" altLang="en-US" sz="2000" i="1" dirty="0" smtClean="0"/>
              <a:t> n</a:t>
            </a:r>
            <a:r>
              <a:rPr lang="en-US" altLang="en-US" sz="2000" dirty="0" smtClean="0"/>
              <a:t>, respectively.  Initialize:</a:t>
            </a:r>
          </a:p>
          <a:p>
            <a:pPr marL="1543050" lvl="3" indent="-342900">
              <a:lnSpc>
                <a:spcPct val="90000"/>
              </a:lnSpc>
              <a:buFontTx/>
              <a:buNone/>
            </a:pPr>
            <a:r>
              <a:rPr lang="en-US" altLang="en-US" sz="1400" b="1" i="1" dirty="0" smtClean="0"/>
              <a:t>Work </a:t>
            </a:r>
            <a:r>
              <a:rPr lang="en-US" altLang="en-US" sz="1400" b="1" dirty="0" smtClean="0"/>
              <a:t>= </a:t>
            </a:r>
            <a:r>
              <a:rPr lang="en-US" altLang="en-US" sz="1400" b="1" i="1" dirty="0" smtClean="0"/>
              <a:t>Available</a:t>
            </a:r>
          </a:p>
          <a:p>
            <a:pPr marL="1543050" lvl="3" indent="-342900">
              <a:lnSpc>
                <a:spcPct val="90000"/>
              </a:lnSpc>
              <a:buFontTx/>
              <a:buNone/>
            </a:pPr>
            <a:r>
              <a:rPr lang="en-US" altLang="en-US" sz="1400" b="1" i="1" dirty="0" smtClean="0"/>
              <a:t>Finish </a:t>
            </a:r>
            <a:r>
              <a:rPr lang="en-US" altLang="en-US" sz="1400" b="1" dirty="0" smtClean="0"/>
              <a:t>[</a:t>
            </a:r>
            <a:r>
              <a:rPr lang="en-US" altLang="en-US" sz="1400" b="1" i="1" dirty="0" err="1" smtClean="0"/>
              <a:t>i</a:t>
            </a:r>
            <a:r>
              <a:rPr lang="en-US" altLang="en-US" sz="1400" b="1" dirty="0" smtClean="0"/>
              <a:t>] =</a:t>
            </a:r>
            <a:r>
              <a:rPr lang="en-US" altLang="en-US" sz="1400" b="1" i="1" dirty="0" smtClean="0"/>
              <a:t> false </a:t>
            </a:r>
            <a:r>
              <a:rPr lang="en-US" altLang="en-US" sz="1400" b="1" dirty="0" smtClean="0"/>
              <a:t>for</a:t>
            </a:r>
            <a:r>
              <a:rPr lang="en-US" altLang="en-US" sz="1400" b="1" i="1" dirty="0" smtClean="0"/>
              <a:t> </a:t>
            </a:r>
            <a:r>
              <a:rPr lang="en-US" altLang="en-US" sz="1400" b="1" i="1" dirty="0" err="1" smtClean="0"/>
              <a:t>i</a:t>
            </a:r>
            <a:r>
              <a:rPr lang="en-US" altLang="en-US" sz="1400" b="1" dirty="0" smtClean="0"/>
              <a:t> = 0, 1, …, </a:t>
            </a:r>
            <a:r>
              <a:rPr lang="en-US" altLang="en-US" sz="1400" b="1" i="1" dirty="0" smtClean="0"/>
              <a:t>n- </a:t>
            </a:r>
            <a:r>
              <a:rPr lang="en-US" altLang="en-US" sz="1400" b="1" dirty="0" smtClean="0"/>
              <a:t>1</a:t>
            </a:r>
          </a:p>
          <a:p>
            <a:pPr marL="1543050" lvl="3" indent="-342900">
              <a:lnSpc>
                <a:spcPct val="90000"/>
              </a:lnSpc>
              <a:buFontTx/>
              <a:buNone/>
            </a:pPr>
            <a:endParaRPr lang="en-US" altLang="en-US" sz="1400" b="1" dirty="0" smtClean="0"/>
          </a:p>
          <a:p>
            <a:pPr marL="1543050" lvl="3" indent="-342900">
              <a:lnSpc>
                <a:spcPct val="90000"/>
              </a:lnSpc>
              <a:buFontTx/>
              <a:buNone/>
            </a:pPr>
            <a:endParaRPr lang="en-US" altLang="en-US" sz="500" dirty="0" smtClean="0"/>
          </a:p>
          <a:p>
            <a:pPr>
              <a:lnSpc>
                <a:spcPct val="90000"/>
              </a:lnSpc>
              <a:buFont typeface="Monotype Sorts" pitchFamily="-84" charset="2"/>
              <a:buNone/>
            </a:pPr>
            <a:r>
              <a:rPr lang="en-US" altLang="en-US" sz="2000" dirty="0" smtClean="0"/>
              <a:t>2.	Find an </a:t>
            </a:r>
            <a:r>
              <a:rPr lang="en-US" altLang="en-US" sz="2000" b="1" i="1" dirty="0" err="1" smtClean="0"/>
              <a:t>i</a:t>
            </a:r>
            <a:r>
              <a:rPr lang="en-US" altLang="en-US" sz="2000" i="1" dirty="0" smtClean="0"/>
              <a:t> </a:t>
            </a:r>
            <a:r>
              <a:rPr lang="en-US" altLang="en-US" sz="2000" dirty="0" smtClean="0"/>
              <a:t>such that both: </a:t>
            </a:r>
          </a:p>
          <a:p>
            <a:pPr marL="800100" lvl="1" indent="-342900">
              <a:lnSpc>
                <a:spcPct val="90000"/>
              </a:lnSpc>
              <a:buFont typeface="Monotype Sorts" pitchFamily="-84" charset="2"/>
              <a:buNone/>
            </a:pPr>
            <a:r>
              <a:rPr lang="en-US" altLang="en-US" sz="1800" dirty="0" smtClean="0"/>
              <a:t>(a) </a:t>
            </a:r>
            <a:r>
              <a:rPr lang="en-US" altLang="en-US" sz="1800" b="1" i="1" dirty="0" smtClean="0"/>
              <a:t>Finish</a:t>
            </a:r>
            <a:r>
              <a:rPr lang="en-US" altLang="en-US" sz="1800" b="1" dirty="0" smtClean="0"/>
              <a:t> [</a:t>
            </a:r>
            <a:r>
              <a:rPr lang="en-US" altLang="en-US" sz="1800" b="1" i="1" dirty="0" err="1" smtClean="0"/>
              <a:t>i</a:t>
            </a:r>
            <a:r>
              <a:rPr lang="en-US" altLang="en-US" sz="1800" b="1" dirty="0" smtClean="0"/>
              <a:t>] = </a:t>
            </a:r>
            <a:r>
              <a:rPr lang="en-US" altLang="en-US" sz="1800" b="1" i="1" dirty="0" smtClean="0"/>
              <a:t>false</a:t>
            </a:r>
            <a:endParaRPr lang="en-US" altLang="en-US" sz="1800" b="1" dirty="0" smtClean="0"/>
          </a:p>
          <a:p>
            <a:pPr marL="800100" lvl="1" indent="-342900">
              <a:lnSpc>
                <a:spcPct val="90000"/>
              </a:lnSpc>
              <a:buFont typeface="Monotype Sorts" pitchFamily="-84" charset="2"/>
              <a:buNone/>
            </a:pPr>
            <a:r>
              <a:rPr lang="en-US" altLang="en-US" sz="1800" dirty="0" smtClean="0"/>
              <a:t>(b) </a:t>
            </a:r>
            <a:r>
              <a:rPr lang="en-US" altLang="en-US" sz="1800" b="1" i="1" dirty="0" err="1" smtClean="0"/>
              <a:t>Need</a:t>
            </a:r>
            <a:r>
              <a:rPr lang="en-US" altLang="en-US" sz="1800" b="1" i="1" baseline="-25000" dirty="0" err="1" smtClean="0"/>
              <a:t>i</a:t>
            </a:r>
            <a:r>
              <a:rPr lang="en-US" altLang="en-US" sz="1800" b="1" dirty="0" smtClean="0"/>
              <a:t> </a:t>
            </a:r>
            <a:r>
              <a:rPr lang="en-US" altLang="en-US" sz="1800" b="1" dirty="0" smtClean="0">
                <a:sym typeface="Symbol" panose="05050102010706020507" pitchFamily="18" charset="2"/>
              </a:rPr>
              <a:t> </a:t>
            </a:r>
            <a:r>
              <a:rPr lang="en-US" altLang="en-US" sz="1800" b="1" i="1" dirty="0" smtClean="0">
                <a:sym typeface="Symbol" panose="05050102010706020507" pitchFamily="18" charset="2"/>
              </a:rPr>
              <a:t>Work</a:t>
            </a:r>
          </a:p>
          <a:p>
            <a:pPr marL="800100" lvl="1" indent="-342900">
              <a:lnSpc>
                <a:spcPct val="90000"/>
              </a:lnSpc>
              <a:buFont typeface="Monotype Sorts" pitchFamily="-84" charset="2"/>
              <a:buNone/>
            </a:pPr>
            <a:r>
              <a:rPr lang="en-US" altLang="en-US" sz="1800" dirty="0" smtClean="0">
                <a:sym typeface="Symbol" panose="05050102010706020507" pitchFamily="18" charset="2"/>
              </a:rPr>
              <a:t>If no such</a:t>
            </a:r>
            <a:r>
              <a:rPr lang="en-US" altLang="en-US" sz="1800" b="1" dirty="0" smtClean="0">
                <a:sym typeface="Symbol" panose="05050102010706020507" pitchFamily="18" charset="2"/>
              </a:rPr>
              <a:t> </a:t>
            </a:r>
            <a:r>
              <a:rPr lang="en-US" altLang="en-US" sz="1800" b="1" i="1" dirty="0" err="1" smtClean="0">
                <a:sym typeface="Symbol" panose="05050102010706020507" pitchFamily="18" charset="2"/>
              </a:rPr>
              <a:t>i</a:t>
            </a:r>
            <a:r>
              <a:rPr lang="en-US" altLang="en-US" sz="1800" b="1" i="1" dirty="0" smtClean="0">
                <a:sym typeface="Symbol" panose="05050102010706020507" pitchFamily="18" charset="2"/>
              </a:rPr>
              <a:t> </a:t>
            </a:r>
            <a:r>
              <a:rPr lang="en-US" altLang="en-US" sz="1800" dirty="0" smtClean="0">
                <a:sym typeface="Symbol" panose="05050102010706020507" pitchFamily="18" charset="2"/>
              </a:rPr>
              <a:t>exists, go to step 4</a:t>
            </a:r>
          </a:p>
          <a:p>
            <a:pPr marL="800100" lvl="1" indent="-342900">
              <a:lnSpc>
                <a:spcPct val="90000"/>
              </a:lnSpc>
              <a:buFont typeface="Monotype Sorts" pitchFamily="-84" charset="2"/>
              <a:buNone/>
            </a:pPr>
            <a:endParaRPr lang="en-US" altLang="en-US" sz="1800" dirty="0" smtClean="0">
              <a:sym typeface="Symbol" panose="05050102010706020507" pitchFamily="18" charset="2"/>
            </a:endParaRPr>
          </a:p>
          <a:p>
            <a:pPr marL="800100" lvl="1" indent="-342900">
              <a:lnSpc>
                <a:spcPct val="90000"/>
              </a:lnSpc>
              <a:buFont typeface="Monotype Sorts" pitchFamily="-84" charset="2"/>
              <a:buNone/>
            </a:pPr>
            <a:endParaRPr lang="en-US" altLang="en-US" sz="500" dirty="0" smtClean="0">
              <a:sym typeface="Symbol" panose="05050102010706020507" pitchFamily="18" charset="2"/>
            </a:endParaRPr>
          </a:p>
          <a:p>
            <a:pPr>
              <a:lnSpc>
                <a:spcPct val="90000"/>
              </a:lnSpc>
              <a:buFont typeface="Monotype Sorts" pitchFamily="-84" charset="2"/>
              <a:buNone/>
            </a:pPr>
            <a:r>
              <a:rPr lang="en-US" altLang="en-US" sz="2000" i="1" dirty="0" smtClean="0"/>
              <a:t>3.</a:t>
            </a:r>
            <a:r>
              <a:rPr lang="en-US" altLang="en-US" sz="2000" b="1" i="1" dirty="0" smtClean="0"/>
              <a:t>Work</a:t>
            </a:r>
            <a:r>
              <a:rPr lang="en-US" altLang="en-US" sz="2000" b="1" dirty="0" smtClean="0"/>
              <a:t> = </a:t>
            </a:r>
            <a:r>
              <a:rPr lang="en-US" altLang="en-US" sz="2000" b="1" i="1" dirty="0" smtClean="0"/>
              <a:t>Work </a:t>
            </a:r>
            <a:r>
              <a:rPr lang="en-US" altLang="en-US" sz="2000" b="1" dirty="0" smtClean="0"/>
              <a:t>+ </a:t>
            </a:r>
            <a:r>
              <a:rPr lang="en-US" altLang="en-US" sz="2000" b="1" i="1" dirty="0" err="1" smtClean="0"/>
              <a:t>Allocation</a:t>
            </a:r>
            <a:r>
              <a:rPr lang="en-US" altLang="en-US" sz="2000" b="1" i="1" baseline="-25000" dirty="0" err="1" smtClean="0"/>
              <a:t>i</a:t>
            </a:r>
            <a:r>
              <a:rPr lang="en-US" altLang="en-US" sz="2000" b="1" dirty="0" smtClean="0"/>
              <a:t/>
            </a:r>
            <a:br>
              <a:rPr lang="en-US" altLang="en-US" sz="2000" b="1" dirty="0" smtClean="0"/>
            </a:br>
            <a:r>
              <a:rPr lang="en-US" altLang="en-US" sz="2000" b="1" i="1" dirty="0" smtClean="0"/>
              <a:t>Finish</a:t>
            </a:r>
            <a:r>
              <a:rPr lang="en-US" altLang="en-US" sz="2000" b="1" dirty="0" smtClean="0"/>
              <a:t>[</a:t>
            </a:r>
            <a:r>
              <a:rPr lang="en-US" altLang="en-US" sz="2000" b="1" i="1" dirty="0" err="1" smtClean="0"/>
              <a:t>i</a:t>
            </a:r>
            <a:r>
              <a:rPr lang="en-US" altLang="en-US" sz="2000" b="1" dirty="0" smtClean="0"/>
              <a:t>] =</a:t>
            </a:r>
            <a:r>
              <a:rPr lang="en-US" altLang="en-US" sz="2000" b="1" i="1" dirty="0" smtClean="0"/>
              <a:t> true</a:t>
            </a:r>
            <a:r>
              <a:rPr lang="en-US" altLang="en-US" sz="2000" b="1" dirty="0" smtClean="0"/>
              <a:t/>
            </a:r>
            <a:br>
              <a:rPr lang="en-US" altLang="en-US" sz="2000" b="1" dirty="0" smtClean="0"/>
            </a:br>
            <a:r>
              <a:rPr lang="en-US" altLang="en-US" sz="2000" dirty="0" smtClean="0"/>
              <a:t>go to step 2</a:t>
            </a:r>
          </a:p>
          <a:p>
            <a:pPr>
              <a:lnSpc>
                <a:spcPct val="90000"/>
              </a:lnSpc>
              <a:buFont typeface="Monotype Sorts" pitchFamily="-84" charset="2"/>
              <a:buNone/>
            </a:pPr>
            <a:endParaRPr lang="en-US" altLang="en-US" sz="2000" dirty="0" smtClean="0"/>
          </a:p>
          <a:p>
            <a:pPr>
              <a:lnSpc>
                <a:spcPct val="90000"/>
              </a:lnSpc>
            </a:pPr>
            <a:endParaRPr lang="en-US" altLang="en-US" sz="500" dirty="0" smtClean="0"/>
          </a:p>
          <a:p>
            <a:pPr>
              <a:lnSpc>
                <a:spcPct val="90000"/>
              </a:lnSpc>
              <a:buFont typeface="Monotype Sorts" pitchFamily="-84" charset="2"/>
              <a:buNone/>
            </a:pPr>
            <a:r>
              <a:rPr lang="en-US" altLang="en-US" sz="2000" dirty="0" smtClean="0"/>
              <a:t>4.	If </a:t>
            </a:r>
            <a:r>
              <a:rPr lang="en-US" altLang="en-US" sz="2000" b="1" i="1" dirty="0" smtClean="0"/>
              <a:t>Finish</a:t>
            </a:r>
            <a:r>
              <a:rPr lang="en-US" altLang="en-US" sz="2000" b="1" dirty="0" smtClean="0"/>
              <a:t> [</a:t>
            </a:r>
            <a:r>
              <a:rPr lang="en-US" altLang="en-US" sz="2000" b="1" i="1" dirty="0" err="1" smtClean="0"/>
              <a:t>i</a:t>
            </a:r>
            <a:r>
              <a:rPr lang="en-US" altLang="en-US" sz="2000" b="1" dirty="0" smtClean="0"/>
              <a:t>] == </a:t>
            </a:r>
            <a:r>
              <a:rPr lang="en-US" altLang="en-US" sz="2000" b="1" i="1" dirty="0" smtClean="0"/>
              <a:t>true</a:t>
            </a:r>
            <a:r>
              <a:rPr lang="en-US" altLang="en-US" sz="2000" b="1" dirty="0" smtClean="0"/>
              <a:t> </a:t>
            </a:r>
            <a:r>
              <a:rPr lang="en-US" altLang="en-US" sz="2000" dirty="0" smtClean="0"/>
              <a:t>for all </a:t>
            </a:r>
            <a:r>
              <a:rPr lang="en-US" altLang="en-US" sz="2000" b="1" i="1" dirty="0" err="1" smtClean="0"/>
              <a:t>i</a:t>
            </a:r>
            <a:r>
              <a:rPr lang="en-US" altLang="en-US" sz="2000" dirty="0" smtClean="0"/>
              <a:t>, then the system is in a safe state</a:t>
            </a:r>
          </a:p>
        </p:txBody>
      </p:sp>
      <p:pic>
        <p:nvPicPr>
          <p:cNvPr id="2" name="Picture 1"/>
          <p:cNvPicPr>
            <a:picLocks noChangeAspect="1"/>
          </p:cNvPicPr>
          <p:nvPr/>
        </p:nvPicPr>
        <p:blipFill>
          <a:blip r:embed="rId3"/>
          <a:stretch>
            <a:fillRect/>
          </a:stretch>
        </p:blipFill>
        <p:spPr>
          <a:xfrm>
            <a:off x="902738" y="6076299"/>
            <a:ext cx="7338523" cy="681037"/>
          </a:xfrm>
          <a:prstGeom prst="rect">
            <a:avLst/>
          </a:prstGeom>
        </p:spPr>
      </p:pic>
    </p:spTree>
    <p:extLst>
      <p:ext uri="{BB962C8B-B14F-4D97-AF65-F5344CB8AC3E}">
        <p14:creationId xmlns:p14="http://schemas.microsoft.com/office/powerpoint/2010/main" val="1597934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041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04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0419">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0419">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0419">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0419">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0419">
                                            <p:txEl>
                                              <p:pRg st="11" end="1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0419">
                                            <p:txEl>
                                              <p:pRg st="14" end="1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88795" y="685800"/>
            <a:ext cx="7962680" cy="5257800"/>
          </a:xfrm>
          <a:prstGeom prst="rect">
            <a:avLst/>
          </a:prstGeom>
        </p:spPr>
      </p:pic>
    </p:spTree>
    <p:extLst>
      <p:ext uri="{BB962C8B-B14F-4D97-AF65-F5344CB8AC3E}">
        <p14:creationId xmlns:p14="http://schemas.microsoft.com/office/powerpoint/2010/main" val="420012533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1273175" y="231775"/>
            <a:ext cx="7924800" cy="457200"/>
          </a:xfrm>
        </p:spPr>
        <p:txBody>
          <a:bodyPr/>
          <a:lstStyle/>
          <a:p>
            <a:pPr eaLnBrk="1" hangingPunct="1"/>
            <a:r>
              <a:rPr lang="en-US" altLang="en-US" sz="2800" smtClean="0"/>
              <a:t>Resource-Request Algorithm for Process </a:t>
            </a:r>
            <a:r>
              <a:rPr lang="en-US" altLang="en-US" sz="2800" i="1" smtClean="0"/>
              <a:t>P</a:t>
            </a:r>
            <a:r>
              <a:rPr lang="en-US" altLang="en-US" sz="2800" i="1" baseline="-25000" smtClean="0"/>
              <a:t>i</a:t>
            </a:r>
            <a:endParaRPr lang="en-US" altLang="en-US" sz="2800" smtClean="0"/>
          </a:p>
        </p:txBody>
      </p:sp>
      <p:sp>
        <p:nvSpPr>
          <p:cNvPr id="62467" name="Rectangle 3"/>
          <p:cNvSpPr>
            <a:spLocks noGrp="1" noChangeArrowheads="1"/>
          </p:cNvSpPr>
          <p:nvPr>
            <p:ph type="body" idx="1"/>
          </p:nvPr>
        </p:nvSpPr>
        <p:spPr>
          <a:xfrm>
            <a:off x="381000" y="1114425"/>
            <a:ext cx="8762999" cy="4686300"/>
          </a:xfrm>
        </p:spPr>
        <p:txBody>
          <a:bodyPr/>
          <a:lstStyle/>
          <a:p>
            <a:pPr>
              <a:lnSpc>
                <a:spcPct val="90000"/>
              </a:lnSpc>
              <a:buFont typeface="Monotype Sorts" pitchFamily="-84" charset="2"/>
              <a:buNone/>
            </a:pPr>
            <a:r>
              <a:rPr lang="en-US" altLang="en-US" sz="2000" b="1" i="1" dirty="0" err="1" smtClean="0"/>
              <a:t>Request</a:t>
            </a:r>
            <a:r>
              <a:rPr lang="en-US" altLang="en-US" sz="2000" b="1" i="1" baseline="-25000" dirty="0" err="1" smtClean="0"/>
              <a:t>i</a:t>
            </a:r>
            <a:r>
              <a:rPr lang="en-US" altLang="en-US" sz="2000" dirty="0" smtClean="0"/>
              <a:t> = request vector for process </a:t>
            </a:r>
            <a:r>
              <a:rPr lang="en-US" altLang="en-US" sz="2000" b="1" i="1" dirty="0" smtClean="0"/>
              <a:t>P</a:t>
            </a:r>
            <a:r>
              <a:rPr lang="en-US" altLang="en-US" sz="2000" b="1" i="1" baseline="-25000" dirty="0" smtClean="0"/>
              <a:t>i</a:t>
            </a:r>
            <a:r>
              <a:rPr lang="en-US" altLang="en-US" sz="2000" dirty="0" smtClean="0"/>
              <a:t>.  </a:t>
            </a:r>
          </a:p>
          <a:p>
            <a:pPr>
              <a:lnSpc>
                <a:spcPct val="90000"/>
              </a:lnSpc>
              <a:buFont typeface="Monotype Sorts" pitchFamily="-84" charset="2"/>
              <a:buNone/>
            </a:pPr>
            <a:r>
              <a:rPr lang="en-US" altLang="en-US" sz="2000" dirty="0" smtClean="0"/>
              <a:t>If </a:t>
            </a:r>
            <a:r>
              <a:rPr lang="en-US" altLang="en-US" sz="2000" b="1" i="1" dirty="0" err="1" smtClean="0"/>
              <a:t>Request</a:t>
            </a:r>
            <a:r>
              <a:rPr lang="en-US" altLang="en-US" sz="2000" b="1" i="1" baseline="-25000" dirty="0" err="1" smtClean="0"/>
              <a:t>i</a:t>
            </a:r>
            <a:r>
              <a:rPr lang="en-US" altLang="en-US" sz="2000" b="1" baseline="-25000" dirty="0" smtClean="0"/>
              <a:t> </a:t>
            </a:r>
            <a:r>
              <a:rPr lang="en-US" altLang="en-US" sz="2000" b="1" dirty="0" smtClean="0"/>
              <a:t>[</a:t>
            </a:r>
            <a:r>
              <a:rPr lang="en-US" altLang="en-US" sz="2000" b="1" i="1" dirty="0" smtClean="0"/>
              <a:t>j</a:t>
            </a:r>
            <a:r>
              <a:rPr lang="en-US" altLang="en-US" sz="2000" b="1" dirty="0" smtClean="0"/>
              <a:t>] = </a:t>
            </a:r>
            <a:r>
              <a:rPr lang="en-US" altLang="en-US" sz="2000" b="1" i="1" dirty="0" smtClean="0"/>
              <a:t>k</a:t>
            </a:r>
            <a:r>
              <a:rPr lang="en-US" altLang="en-US" sz="2000" b="1" dirty="0" smtClean="0"/>
              <a:t> </a:t>
            </a:r>
            <a:r>
              <a:rPr lang="en-US" altLang="en-US" sz="2000" dirty="0" smtClean="0"/>
              <a:t>then process </a:t>
            </a:r>
            <a:r>
              <a:rPr lang="en-US" altLang="en-US" sz="2000" b="1" i="1" dirty="0" smtClean="0"/>
              <a:t>P</a:t>
            </a:r>
            <a:r>
              <a:rPr lang="en-US" altLang="en-US" sz="2000" b="1" i="1" baseline="-25000" dirty="0" smtClean="0"/>
              <a:t>i</a:t>
            </a:r>
            <a:r>
              <a:rPr lang="en-US" altLang="en-US" sz="2000" dirty="0" smtClean="0"/>
              <a:t> wants </a:t>
            </a:r>
            <a:r>
              <a:rPr lang="en-US" altLang="en-US" sz="2000" b="1" i="1" dirty="0" smtClean="0"/>
              <a:t>k</a:t>
            </a:r>
            <a:r>
              <a:rPr lang="en-US" altLang="en-US" sz="2000" dirty="0" smtClean="0"/>
              <a:t> instances of resource type </a:t>
            </a:r>
            <a:r>
              <a:rPr lang="en-US" altLang="en-US" sz="2000" b="1" i="1" dirty="0" err="1" smtClean="0"/>
              <a:t>R</a:t>
            </a:r>
            <a:r>
              <a:rPr lang="en-US" altLang="en-US" sz="2000" b="1" i="1" baseline="-25000" dirty="0" err="1" smtClean="0"/>
              <a:t>j</a:t>
            </a:r>
            <a:endParaRPr lang="en-US" altLang="en-US" sz="2000" b="1" i="1" baseline="-25000" dirty="0" smtClean="0"/>
          </a:p>
          <a:p>
            <a:pPr>
              <a:lnSpc>
                <a:spcPct val="90000"/>
              </a:lnSpc>
              <a:buFont typeface="Monotype Sorts" pitchFamily="-84" charset="2"/>
              <a:buNone/>
            </a:pPr>
            <a:endParaRPr lang="en-US" altLang="en-US" sz="2000" b="1" baseline="-25000" dirty="0" smtClean="0"/>
          </a:p>
          <a:p>
            <a:pPr marL="914400" lvl="1" indent="-457200">
              <a:lnSpc>
                <a:spcPct val="90000"/>
              </a:lnSpc>
              <a:buFont typeface="Monotype Sorts" pitchFamily="-84" charset="2"/>
              <a:buAutoNum type="arabicPeriod"/>
            </a:pPr>
            <a:r>
              <a:rPr lang="en-US" altLang="en-US" sz="2000" dirty="0" smtClean="0"/>
              <a:t>If </a:t>
            </a:r>
            <a:r>
              <a:rPr lang="en-US" altLang="en-US" sz="2000" b="1" i="1" dirty="0" err="1" smtClean="0"/>
              <a:t>Request</a:t>
            </a:r>
            <a:r>
              <a:rPr lang="en-US" altLang="en-US" sz="2000" b="1" i="1" baseline="-25000" dirty="0" err="1" smtClean="0"/>
              <a:t>i</a:t>
            </a:r>
            <a:r>
              <a:rPr lang="en-US" altLang="en-US" sz="2000" b="1" i="1" dirty="0" smtClean="0"/>
              <a:t> </a:t>
            </a:r>
            <a:r>
              <a:rPr lang="en-US" altLang="en-US" sz="2000" b="1" dirty="0" smtClean="0">
                <a:sym typeface="Symbol" panose="05050102010706020507" pitchFamily="18" charset="2"/>
              </a:rPr>
              <a:t> </a:t>
            </a:r>
            <a:r>
              <a:rPr lang="en-US" altLang="en-US" sz="2000" b="1" i="1" dirty="0" err="1" smtClean="0">
                <a:sym typeface="Symbol" panose="05050102010706020507" pitchFamily="18" charset="2"/>
              </a:rPr>
              <a:t>Need</a:t>
            </a:r>
            <a:r>
              <a:rPr lang="en-US" altLang="en-US" sz="2000" b="1" i="1" baseline="-25000" dirty="0" err="1" smtClean="0">
                <a:sym typeface="Symbol" panose="05050102010706020507" pitchFamily="18" charset="2"/>
              </a:rPr>
              <a:t>i</a:t>
            </a:r>
            <a:r>
              <a:rPr lang="en-US" altLang="en-US" sz="2000" b="1" i="1" dirty="0" smtClean="0">
                <a:sym typeface="Symbol" panose="05050102010706020507" pitchFamily="18" charset="2"/>
              </a:rPr>
              <a:t> </a:t>
            </a:r>
            <a:r>
              <a:rPr lang="en-US" altLang="en-US" sz="2000" dirty="0" smtClean="0">
                <a:sym typeface="Symbol" panose="05050102010706020507" pitchFamily="18" charset="2"/>
              </a:rPr>
              <a:t>go to step 2.  Otherwise, raise error condition, since process has exceeded its maximum claim</a:t>
            </a:r>
          </a:p>
          <a:p>
            <a:pPr marL="457200" lvl="1" indent="0">
              <a:lnSpc>
                <a:spcPct val="90000"/>
              </a:lnSpc>
              <a:buNone/>
            </a:pPr>
            <a:endParaRPr lang="en-US" altLang="en-US" sz="2000" dirty="0" smtClean="0">
              <a:sym typeface="Symbol" panose="05050102010706020507" pitchFamily="18" charset="2"/>
            </a:endParaRPr>
          </a:p>
          <a:p>
            <a:pPr marL="914400" lvl="1" indent="-457200">
              <a:lnSpc>
                <a:spcPct val="90000"/>
              </a:lnSpc>
              <a:buFont typeface="Monotype Sorts" pitchFamily="-84" charset="2"/>
              <a:buAutoNum type="arabicPeriod" startAt="2"/>
            </a:pPr>
            <a:r>
              <a:rPr lang="en-US" altLang="en-US" sz="2000" dirty="0" smtClean="0">
                <a:sym typeface="Symbol" panose="05050102010706020507" pitchFamily="18" charset="2"/>
              </a:rPr>
              <a:t>If </a:t>
            </a:r>
            <a:r>
              <a:rPr lang="en-US" altLang="en-US" sz="2000" b="1" i="1" dirty="0" err="1" smtClean="0"/>
              <a:t>Request</a:t>
            </a:r>
            <a:r>
              <a:rPr lang="en-US" altLang="en-US" sz="2000" b="1" i="1" baseline="-25000" dirty="0" err="1" smtClean="0"/>
              <a:t>i</a:t>
            </a:r>
            <a:r>
              <a:rPr lang="en-US" altLang="en-US" sz="2000" b="1" dirty="0" smtClean="0"/>
              <a:t> </a:t>
            </a:r>
            <a:r>
              <a:rPr lang="en-US" altLang="en-US" sz="2000" b="1" dirty="0" smtClean="0">
                <a:sym typeface="Symbol" panose="05050102010706020507" pitchFamily="18" charset="2"/>
              </a:rPr>
              <a:t> </a:t>
            </a:r>
            <a:r>
              <a:rPr lang="en-US" altLang="en-US" sz="2000" b="1" i="1" dirty="0" smtClean="0">
                <a:sym typeface="Symbol" panose="05050102010706020507" pitchFamily="18" charset="2"/>
              </a:rPr>
              <a:t>Available</a:t>
            </a:r>
            <a:r>
              <a:rPr lang="en-US" altLang="en-US" sz="2000" dirty="0" smtClean="0">
                <a:sym typeface="Symbol" panose="05050102010706020507" pitchFamily="18" charset="2"/>
              </a:rPr>
              <a:t>, go to step 3.  Otherwise </a:t>
            </a:r>
            <a:r>
              <a:rPr lang="en-US" altLang="en-US" sz="2000" b="1" i="1" dirty="0" smtClean="0">
                <a:sym typeface="Symbol" panose="05050102010706020507" pitchFamily="18" charset="2"/>
              </a:rPr>
              <a:t>P</a:t>
            </a:r>
            <a:r>
              <a:rPr lang="en-US" altLang="en-US" sz="2000" b="1" i="1" baseline="-25000" dirty="0" smtClean="0">
                <a:sym typeface="Symbol" panose="05050102010706020507" pitchFamily="18" charset="2"/>
              </a:rPr>
              <a:t>i</a:t>
            </a:r>
            <a:r>
              <a:rPr lang="en-US" altLang="en-US" sz="2000" dirty="0" smtClean="0">
                <a:sym typeface="Symbol" panose="05050102010706020507" pitchFamily="18" charset="2"/>
              </a:rPr>
              <a:t>  must wait, since resources are not available</a:t>
            </a:r>
          </a:p>
          <a:p>
            <a:pPr marL="457200" lvl="1" indent="0">
              <a:lnSpc>
                <a:spcPct val="90000"/>
              </a:lnSpc>
              <a:buNone/>
            </a:pPr>
            <a:endParaRPr lang="en-US" altLang="en-US" sz="2000" dirty="0" smtClean="0">
              <a:sym typeface="Symbol" panose="05050102010706020507" pitchFamily="18" charset="2"/>
            </a:endParaRPr>
          </a:p>
          <a:p>
            <a:pPr lvl="1">
              <a:lnSpc>
                <a:spcPct val="90000"/>
              </a:lnSpc>
              <a:buFont typeface="Monotype Sorts" pitchFamily="-84" charset="2"/>
              <a:buNone/>
            </a:pPr>
            <a:r>
              <a:rPr lang="en-US" altLang="en-US" sz="2000" dirty="0" smtClean="0">
                <a:sym typeface="Symbol" panose="05050102010706020507" pitchFamily="18" charset="2"/>
              </a:rPr>
              <a:t>3.	Pretend to allocate requested resources to </a:t>
            </a:r>
            <a:r>
              <a:rPr lang="en-US" altLang="en-US" sz="2000" b="1" i="1" dirty="0" smtClean="0">
                <a:sym typeface="Symbol" panose="05050102010706020507" pitchFamily="18" charset="2"/>
              </a:rPr>
              <a:t>P</a:t>
            </a:r>
            <a:r>
              <a:rPr lang="en-US" altLang="en-US" sz="2000" b="1" i="1" baseline="-25000" dirty="0" smtClean="0">
                <a:sym typeface="Symbol" panose="05050102010706020507" pitchFamily="18" charset="2"/>
              </a:rPr>
              <a:t>i</a:t>
            </a:r>
            <a:r>
              <a:rPr lang="en-US" altLang="en-US" sz="2000" dirty="0" smtClean="0">
                <a:sym typeface="Symbol" panose="05050102010706020507" pitchFamily="18" charset="2"/>
              </a:rPr>
              <a:t> by modifying the state as follows:</a:t>
            </a:r>
          </a:p>
          <a:p>
            <a:pPr lvl="3">
              <a:lnSpc>
                <a:spcPct val="90000"/>
              </a:lnSpc>
              <a:buFontTx/>
              <a:buNone/>
            </a:pPr>
            <a:r>
              <a:rPr lang="en-US" altLang="en-US" sz="1600" dirty="0" smtClean="0">
                <a:sym typeface="Symbol" panose="05050102010706020507" pitchFamily="18" charset="2"/>
              </a:rPr>
              <a:t>		</a:t>
            </a:r>
            <a:r>
              <a:rPr lang="en-US" altLang="en-US" sz="1600" b="1" i="1" dirty="0" smtClean="0">
                <a:sym typeface="Symbol" panose="05050102010706020507" pitchFamily="18" charset="2"/>
              </a:rPr>
              <a:t>Available</a:t>
            </a:r>
            <a:r>
              <a:rPr lang="en-US" altLang="en-US" sz="1600" b="1" dirty="0" smtClean="0">
                <a:sym typeface="Symbol" panose="05050102010706020507" pitchFamily="18" charset="2"/>
              </a:rPr>
              <a:t> = </a:t>
            </a:r>
            <a:r>
              <a:rPr lang="en-US" altLang="en-US" sz="1600" b="1" i="1" dirty="0" smtClean="0">
                <a:sym typeface="Symbol" panose="05050102010706020507" pitchFamily="18" charset="2"/>
              </a:rPr>
              <a:t>Available  </a:t>
            </a:r>
            <a:r>
              <a:rPr lang="en-US" altLang="en-US" sz="1600" b="1" dirty="0" smtClean="0">
                <a:sym typeface="Symbol" panose="05050102010706020507" pitchFamily="18" charset="2"/>
              </a:rPr>
              <a:t>–</a:t>
            </a:r>
            <a:r>
              <a:rPr lang="en-US" altLang="en-US" sz="1600" b="1" i="1" dirty="0" smtClean="0">
                <a:sym typeface="Symbol" panose="05050102010706020507" pitchFamily="18" charset="2"/>
              </a:rPr>
              <a:t> </a:t>
            </a:r>
            <a:r>
              <a:rPr lang="en-US" altLang="en-US" sz="1600" b="1" i="1" dirty="0" err="1" smtClean="0">
                <a:sym typeface="Symbol" panose="05050102010706020507" pitchFamily="18" charset="2"/>
              </a:rPr>
              <a:t>Request</a:t>
            </a:r>
            <a:r>
              <a:rPr lang="en-US" altLang="en-US" sz="1600" b="1" i="1" baseline="-25000" dirty="0" err="1" smtClean="0">
                <a:sym typeface="Symbol" panose="05050102010706020507" pitchFamily="18" charset="2"/>
              </a:rPr>
              <a:t>i</a:t>
            </a:r>
            <a:r>
              <a:rPr lang="en-US" altLang="en-US" sz="1600" b="1" i="1" dirty="0" smtClean="0">
                <a:sym typeface="Symbol" panose="05050102010706020507" pitchFamily="18" charset="2"/>
              </a:rPr>
              <a:t>;</a:t>
            </a:r>
          </a:p>
          <a:p>
            <a:pPr lvl="3">
              <a:lnSpc>
                <a:spcPct val="90000"/>
              </a:lnSpc>
              <a:buFontTx/>
              <a:buNone/>
            </a:pPr>
            <a:r>
              <a:rPr lang="en-US" altLang="en-US" sz="1600" b="1" dirty="0" smtClean="0">
                <a:sym typeface="Symbol" panose="05050102010706020507" pitchFamily="18" charset="2"/>
              </a:rPr>
              <a:t>		</a:t>
            </a:r>
            <a:r>
              <a:rPr lang="en-US" altLang="en-US" sz="1600" b="1" i="1" dirty="0" err="1" smtClean="0">
                <a:sym typeface="Symbol" panose="05050102010706020507" pitchFamily="18" charset="2"/>
              </a:rPr>
              <a:t>Allocation</a:t>
            </a:r>
            <a:r>
              <a:rPr lang="en-US" altLang="en-US" sz="1600" b="1" i="1" baseline="-25000" dirty="0" err="1" smtClean="0">
                <a:sym typeface="Symbol" panose="05050102010706020507" pitchFamily="18" charset="2"/>
              </a:rPr>
              <a:t>i</a:t>
            </a:r>
            <a:r>
              <a:rPr lang="en-US" altLang="en-US" sz="1600" b="1" baseline="-25000" dirty="0" smtClean="0">
                <a:sym typeface="Symbol" panose="05050102010706020507" pitchFamily="18" charset="2"/>
              </a:rPr>
              <a:t> </a:t>
            </a:r>
            <a:r>
              <a:rPr lang="en-US" altLang="en-US" sz="1600" b="1" dirty="0" smtClean="0">
                <a:sym typeface="Symbol" panose="05050102010706020507" pitchFamily="18" charset="2"/>
              </a:rPr>
              <a:t>= </a:t>
            </a:r>
            <a:r>
              <a:rPr lang="en-US" altLang="en-US" sz="1600" b="1" i="1" dirty="0" err="1" smtClean="0">
                <a:sym typeface="Symbol" panose="05050102010706020507" pitchFamily="18" charset="2"/>
              </a:rPr>
              <a:t>Allocation</a:t>
            </a:r>
            <a:r>
              <a:rPr lang="en-US" altLang="en-US" sz="1600" b="1" i="1" baseline="-25000" dirty="0" err="1" smtClean="0">
                <a:sym typeface="Symbol" panose="05050102010706020507" pitchFamily="18" charset="2"/>
              </a:rPr>
              <a:t>i</a:t>
            </a:r>
            <a:r>
              <a:rPr lang="en-US" altLang="en-US" sz="1600" b="1" dirty="0" smtClean="0">
                <a:sym typeface="Symbol" panose="05050102010706020507" pitchFamily="18" charset="2"/>
              </a:rPr>
              <a:t> + </a:t>
            </a:r>
            <a:r>
              <a:rPr lang="en-US" altLang="en-US" sz="1600" b="1" i="1" dirty="0" err="1" smtClean="0">
                <a:sym typeface="Symbol" panose="05050102010706020507" pitchFamily="18" charset="2"/>
              </a:rPr>
              <a:t>Request</a:t>
            </a:r>
            <a:r>
              <a:rPr lang="en-US" altLang="en-US" sz="1600" b="1" i="1" baseline="-25000" dirty="0" err="1" smtClean="0">
                <a:sym typeface="Symbol" panose="05050102010706020507" pitchFamily="18" charset="2"/>
              </a:rPr>
              <a:t>i</a:t>
            </a:r>
            <a:r>
              <a:rPr lang="en-US" altLang="en-US" sz="1600" b="1" dirty="0" smtClean="0">
                <a:sym typeface="Symbol" panose="05050102010706020507" pitchFamily="18" charset="2"/>
              </a:rPr>
              <a:t>;</a:t>
            </a:r>
          </a:p>
          <a:p>
            <a:pPr lvl="3">
              <a:lnSpc>
                <a:spcPct val="90000"/>
              </a:lnSpc>
              <a:buFontTx/>
              <a:buNone/>
            </a:pPr>
            <a:r>
              <a:rPr lang="en-US" altLang="en-US" sz="1600" b="1" dirty="0" smtClean="0">
                <a:sym typeface="Symbol" panose="05050102010706020507" pitchFamily="18" charset="2"/>
              </a:rPr>
              <a:t>		</a:t>
            </a:r>
            <a:r>
              <a:rPr lang="en-US" altLang="en-US" sz="1600" b="1" i="1" dirty="0" err="1" smtClean="0">
                <a:sym typeface="Symbol" panose="05050102010706020507" pitchFamily="18" charset="2"/>
              </a:rPr>
              <a:t>Need</a:t>
            </a:r>
            <a:r>
              <a:rPr lang="en-US" altLang="en-US" sz="1600" b="1" i="1" baseline="-25000" dirty="0" err="1" smtClean="0">
                <a:sym typeface="Symbol" panose="05050102010706020507" pitchFamily="18" charset="2"/>
              </a:rPr>
              <a:t>i</a:t>
            </a:r>
            <a:r>
              <a:rPr lang="en-US" altLang="en-US" sz="1600" b="1" i="1" dirty="0" smtClean="0">
                <a:sym typeface="Symbol" panose="05050102010706020507" pitchFamily="18" charset="2"/>
              </a:rPr>
              <a:t> </a:t>
            </a:r>
            <a:r>
              <a:rPr lang="en-US" altLang="en-US" sz="1600" b="1" dirty="0" smtClean="0">
                <a:sym typeface="Symbol" panose="05050102010706020507" pitchFamily="18" charset="2"/>
              </a:rPr>
              <a:t>=</a:t>
            </a:r>
            <a:r>
              <a:rPr lang="en-US" altLang="en-US" sz="1600" b="1" i="1" dirty="0" smtClean="0">
                <a:sym typeface="Symbol" panose="05050102010706020507" pitchFamily="18" charset="2"/>
              </a:rPr>
              <a:t> </a:t>
            </a:r>
            <a:r>
              <a:rPr lang="en-US" altLang="en-US" sz="1600" b="1" i="1" dirty="0" err="1" smtClean="0">
                <a:sym typeface="Symbol" panose="05050102010706020507" pitchFamily="18" charset="2"/>
              </a:rPr>
              <a:t>Need</a:t>
            </a:r>
            <a:r>
              <a:rPr lang="en-US" altLang="en-US" sz="1600" b="1" i="1" baseline="-25000" dirty="0" err="1" smtClean="0">
                <a:sym typeface="Symbol" panose="05050102010706020507" pitchFamily="18" charset="2"/>
              </a:rPr>
              <a:t>i</a:t>
            </a:r>
            <a:r>
              <a:rPr lang="en-US" altLang="en-US" sz="1600" b="1" dirty="0" smtClean="0">
                <a:sym typeface="Symbol" panose="05050102010706020507" pitchFamily="18" charset="2"/>
              </a:rPr>
              <a:t> – </a:t>
            </a:r>
            <a:r>
              <a:rPr lang="en-US" altLang="en-US" sz="1600" b="1" i="1" dirty="0" err="1" smtClean="0">
                <a:sym typeface="Symbol" panose="05050102010706020507" pitchFamily="18" charset="2"/>
              </a:rPr>
              <a:t>Request</a:t>
            </a:r>
            <a:r>
              <a:rPr lang="en-US" altLang="en-US" sz="1600" b="1" i="1" baseline="-25000" dirty="0" err="1" smtClean="0">
                <a:sym typeface="Symbol" panose="05050102010706020507" pitchFamily="18" charset="2"/>
              </a:rPr>
              <a:t>i</a:t>
            </a:r>
            <a:r>
              <a:rPr lang="en-US" altLang="en-US" sz="1600" b="1" i="1" dirty="0" smtClean="0">
                <a:sym typeface="Symbol" panose="05050102010706020507" pitchFamily="18" charset="2"/>
              </a:rPr>
              <a:t>;</a:t>
            </a:r>
          </a:p>
          <a:p>
            <a:pPr lvl="2">
              <a:lnSpc>
                <a:spcPct val="90000"/>
              </a:lnSpc>
              <a:buClr>
                <a:srgbClr val="CC6600"/>
              </a:buClr>
              <a:buSzPct val="80000"/>
              <a:buFont typeface="Monotype Sorts" pitchFamily="-84" charset="2"/>
              <a:buChar char="l"/>
            </a:pPr>
            <a:r>
              <a:rPr lang="en-US" altLang="en-US" sz="1800" dirty="0" smtClean="0">
                <a:sym typeface="Symbol" panose="05050102010706020507" pitchFamily="18" charset="2"/>
              </a:rPr>
              <a:t>If safe  the resources are allocated to </a:t>
            </a:r>
            <a:r>
              <a:rPr lang="en-US" altLang="en-US" sz="1800" b="1" i="1" dirty="0" smtClean="0">
                <a:sym typeface="Symbol" panose="05050102010706020507" pitchFamily="18" charset="2"/>
              </a:rPr>
              <a:t>P</a:t>
            </a:r>
            <a:r>
              <a:rPr lang="en-US" altLang="en-US" sz="1800" b="1" i="1" baseline="-25000" dirty="0" smtClean="0">
                <a:sym typeface="Symbol" panose="05050102010706020507" pitchFamily="18" charset="2"/>
              </a:rPr>
              <a:t>i</a:t>
            </a:r>
          </a:p>
          <a:p>
            <a:pPr lvl="2">
              <a:lnSpc>
                <a:spcPct val="90000"/>
              </a:lnSpc>
              <a:buClr>
                <a:srgbClr val="CC6600"/>
              </a:buClr>
              <a:buSzPct val="80000"/>
              <a:buFont typeface="Monotype Sorts" pitchFamily="-84" charset="2"/>
              <a:buChar char="l"/>
            </a:pPr>
            <a:r>
              <a:rPr lang="en-US" altLang="en-US" sz="1800" dirty="0" smtClean="0">
                <a:sym typeface="Symbol" panose="05050102010706020507" pitchFamily="18" charset="2"/>
              </a:rPr>
              <a:t>If unsafe  </a:t>
            </a:r>
            <a:r>
              <a:rPr lang="en-US" altLang="en-US" sz="1800" b="1" i="1" dirty="0" smtClean="0">
                <a:sym typeface="Symbol" panose="05050102010706020507" pitchFamily="18" charset="2"/>
              </a:rPr>
              <a:t>P</a:t>
            </a:r>
            <a:r>
              <a:rPr lang="en-US" altLang="en-US" sz="1800" b="1" i="1" baseline="-25000" dirty="0" smtClean="0">
                <a:sym typeface="Symbol" panose="05050102010706020507" pitchFamily="18" charset="2"/>
              </a:rPr>
              <a:t>i</a:t>
            </a:r>
            <a:r>
              <a:rPr lang="en-US" altLang="en-US" sz="1800" dirty="0" smtClean="0">
                <a:sym typeface="Symbol" panose="05050102010706020507" pitchFamily="18" charset="2"/>
              </a:rPr>
              <a:t> must wait, and the old resource-allocation state is restored</a:t>
            </a:r>
          </a:p>
        </p:txBody>
      </p:sp>
    </p:spTree>
    <p:extLst>
      <p:ext uri="{BB962C8B-B14F-4D97-AF65-F5344CB8AC3E}">
        <p14:creationId xmlns:p14="http://schemas.microsoft.com/office/powerpoint/2010/main" val="3825419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46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246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246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2467">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2467">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2467">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2467">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2467">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2467">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2467">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1022350" y="152400"/>
            <a:ext cx="7664450" cy="576263"/>
          </a:xfrm>
        </p:spPr>
        <p:txBody>
          <a:bodyPr/>
          <a:lstStyle/>
          <a:p>
            <a:pPr eaLnBrk="1" hangingPunct="1"/>
            <a:r>
              <a:rPr lang="en-US" altLang="en-US" sz="4000" dirty="0" smtClean="0"/>
              <a:t>Example of Banker</a:t>
            </a:r>
            <a:r>
              <a:rPr lang="ja-JP" altLang="en-US" sz="4000" dirty="0" smtClean="0"/>
              <a:t>’</a:t>
            </a:r>
            <a:r>
              <a:rPr lang="en-US" altLang="ja-JP" sz="4000" dirty="0" smtClean="0"/>
              <a:t>s Algorithm</a:t>
            </a:r>
            <a:endParaRPr lang="en-US" altLang="en-US" sz="4000" dirty="0" smtClean="0"/>
          </a:p>
        </p:txBody>
      </p:sp>
      <p:sp>
        <p:nvSpPr>
          <p:cNvPr id="64515" name="Rectangle 3"/>
          <p:cNvSpPr>
            <a:spLocks noGrp="1" noChangeArrowheads="1"/>
          </p:cNvSpPr>
          <p:nvPr>
            <p:ph type="body" idx="1"/>
          </p:nvPr>
        </p:nvSpPr>
        <p:spPr>
          <a:xfrm>
            <a:off x="381000" y="1143000"/>
            <a:ext cx="8672512" cy="4540250"/>
          </a:xfrm>
        </p:spPr>
        <p:txBody>
          <a:bodyPr/>
          <a:lstStyle/>
          <a:p>
            <a:pPr>
              <a:tabLst>
                <a:tab pos="1371600" algn="l"/>
                <a:tab pos="2395538" algn="ctr"/>
                <a:tab pos="3594100" algn="ctr"/>
                <a:tab pos="4805363" algn="ctr"/>
              </a:tabLst>
            </a:pPr>
            <a:r>
              <a:rPr lang="en-US" altLang="en-US" sz="2400" dirty="0" smtClean="0"/>
              <a:t>5 processes </a:t>
            </a:r>
            <a:r>
              <a:rPr lang="en-US" altLang="en-US" sz="2400" i="1" dirty="0" smtClean="0"/>
              <a:t>P</a:t>
            </a:r>
            <a:r>
              <a:rPr lang="en-US" altLang="en-US" sz="2400" baseline="-25000" dirty="0" smtClean="0"/>
              <a:t>0  </a:t>
            </a:r>
            <a:r>
              <a:rPr lang="en-US" altLang="en-US" sz="2400" dirty="0" smtClean="0"/>
              <a:t>through </a:t>
            </a:r>
            <a:r>
              <a:rPr lang="en-US" altLang="en-US" sz="2400" i="1" dirty="0" smtClean="0"/>
              <a:t>P</a:t>
            </a:r>
            <a:r>
              <a:rPr lang="en-US" altLang="en-US" sz="2400" baseline="-25000" dirty="0" smtClean="0"/>
              <a:t>4</a:t>
            </a:r>
            <a:r>
              <a:rPr lang="en-US" altLang="en-US" sz="2400" dirty="0" smtClean="0"/>
              <a:t>; </a:t>
            </a:r>
          </a:p>
          <a:p>
            <a:pPr>
              <a:buFont typeface="Monotype Sorts" pitchFamily="-84" charset="2"/>
              <a:buNone/>
              <a:tabLst>
                <a:tab pos="1371600" algn="l"/>
                <a:tab pos="2395538" algn="ctr"/>
                <a:tab pos="3594100" algn="ctr"/>
                <a:tab pos="4805363" algn="ctr"/>
              </a:tabLst>
            </a:pPr>
            <a:r>
              <a:rPr lang="en-US" altLang="en-US" sz="2400" dirty="0" smtClean="0"/>
              <a:t>    3 resource types:</a:t>
            </a:r>
          </a:p>
          <a:p>
            <a:pPr>
              <a:buFont typeface="Monotype Sorts" pitchFamily="-84" charset="2"/>
              <a:buNone/>
              <a:tabLst>
                <a:tab pos="1371600" algn="l"/>
                <a:tab pos="2395538" algn="ctr"/>
                <a:tab pos="3594100" algn="ctr"/>
                <a:tab pos="4805363" algn="ctr"/>
              </a:tabLst>
            </a:pPr>
            <a:r>
              <a:rPr lang="en-US" altLang="en-US" sz="2400" dirty="0" smtClean="0"/>
              <a:t>              </a:t>
            </a:r>
            <a:r>
              <a:rPr lang="en-US" altLang="en-US" sz="2400" i="1" dirty="0" smtClean="0"/>
              <a:t>A</a:t>
            </a:r>
            <a:r>
              <a:rPr lang="en-US" altLang="en-US" sz="2400" dirty="0" smtClean="0"/>
              <a:t> (10 instances),  </a:t>
            </a:r>
            <a:r>
              <a:rPr lang="en-US" altLang="en-US" sz="2400" i="1" dirty="0" smtClean="0"/>
              <a:t>B</a:t>
            </a:r>
            <a:r>
              <a:rPr lang="en-US" altLang="en-US" sz="2400" dirty="0" smtClean="0"/>
              <a:t> (5instances), and </a:t>
            </a:r>
            <a:r>
              <a:rPr lang="en-US" altLang="en-US" sz="2400" i="1" dirty="0" smtClean="0"/>
              <a:t>C</a:t>
            </a:r>
            <a:r>
              <a:rPr lang="en-US" altLang="en-US" sz="2400" dirty="0" smtClean="0"/>
              <a:t> (7 instances)</a:t>
            </a:r>
          </a:p>
          <a:p>
            <a:pPr>
              <a:tabLst>
                <a:tab pos="1371600" algn="l"/>
                <a:tab pos="2395538" algn="ctr"/>
                <a:tab pos="3594100" algn="ctr"/>
                <a:tab pos="4805363" algn="ctr"/>
              </a:tabLst>
            </a:pPr>
            <a:r>
              <a:rPr lang="en-US" altLang="en-US" sz="2400" dirty="0" smtClean="0"/>
              <a:t>Snapshot at time </a:t>
            </a:r>
            <a:r>
              <a:rPr lang="en-US" altLang="en-US" sz="2400" i="1" dirty="0" smtClean="0"/>
              <a:t>T</a:t>
            </a:r>
            <a:r>
              <a:rPr lang="en-US" altLang="en-US" sz="2400" baseline="-25000" dirty="0" smtClean="0"/>
              <a:t>0</a:t>
            </a:r>
            <a:r>
              <a:rPr lang="en-US" altLang="en-US" sz="2400" dirty="0" smtClean="0"/>
              <a:t>:</a:t>
            </a:r>
          </a:p>
          <a:p>
            <a:pPr>
              <a:buFont typeface="Monotype Sorts" pitchFamily="-84" charset="2"/>
              <a:buNone/>
              <a:tabLst>
                <a:tab pos="1371600" algn="l"/>
                <a:tab pos="2395538" algn="ctr"/>
                <a:tab pos="3594100" algn="ctr"/>
                <a:tab pos="4805363" algn="ctr"/>
              </a:tabLst>
            </a:pPr>
            <a:r>
              <a:rPr lang="en-US" altLang="en-US" sz="2400" dirty="0" smtClean="0"/>
              <a:t>			</a:t>
            </a:r>
            <a:r>
              <a:rPr lang="en-US" altLang="en-US" sz="2400" i="1" u="sng" dirty="0" smtClean="0"/>
              <a:t>Allocation</a:t>
            </a:r>
            <a:r>
              <a:rPr lang="en-US" altLang="en-US" sz="2400" i="1" dirty="0" smtClean="0"/>
              <a:t>	       </a:t>
            </a:r>
            <a:r>
              <a:rPr lang="en-US" altLang="en-US" sz="2400" i="1" u="sng" dirty="0" smtClean="0"/>
              <a:t>Max</a:t>
            </a:r>
            <a:r>
              <a:rPr lang="en-US" altLang="en-US" sz="2400" i="1" dirty="0" smtClean="0"/>
              <a:t>	       </a:t>
            </a:r>
            <a:r>
              <a:rPr lang="en-US" altLang="en-US" sz="2400" i="1" u="sng" dirty="0" smtClean="0"/>
              <a:t>Available</a:t>
            </a:r>
            <a:endParaRPr lang="en-US" altLang="en-US" sz="2400" i="1" dirty="0" smtClean="0"/>
          </a:p>
          <a:p>
            <a:pPr>
              <a:buFont typeface="Monotype Sorts" pitchFamily="-84" charset="2"/>
              <a:buNone/>
              <a:tabLst>
                <a:tab pos="1371600" algn="l"/>
                <a:tab pos="2395538" algn="ctr"/>
                <a:tab pos="3594100" algn="ctr"/>
                <a:tab pos="4805363" algn="ctr"/>
              </a:tabLst>
            </a:pPr>
            <a:r>
              <a:rPr lang="en-US" altLang="en-US" sz="2400" i="1" dirty="0" smtClean="0"/>
              <a:t>			A B C	       A B C 	       A B C</a:t>
            </a:r>
          </a:p>
          <a:p>
            <a:pPr>
              <a:buFont typeface="Monotype Sorts" pitchFamily="-84" charset="2"/>
              <a:buNone/>
              <a:tabLst>
                <a:tab pos="1371600" algn="l"/>
                <a:tab pos="2395538" algn="ctr"/>
                <a:tab pos="3594100" algn="ctr"/>
                <a:tab pos="4805363" algn="ctr"/>
              </a:tabLst>
            </a:pPr>
            <a:r>
              <a:rPr lang="en-US" altLang="en-US" sz="2400" dirty="0" smtClean="0"/>
              <a:t>		</a:t>
            </a:r>
            <a:r>
              <a:rPr lang="en-US" altLang="en-US" sz="2400" i="1" dirty="0" smtClean="0"/>
              <a:t>P</a:t>
            </a:r>
            <a:r>
              <a:rPr lang="en-US" altLang="en-US" sz="2400" baseline="-25000" dirty="0" smtClean="0"/>
              <a:t>0	</a:t>
            </a:r>
            <a:r>
              <a:rPr lang="en-US" altLang="en-US" sz="2400" dirty="0" smtClean="0"/>
              <a:t>0 1 0	        7 5 3 	       3 3 2</a:t>
            </a:r>
          </a:p>
          <a:p>
            <a:pPr>
              <a:buFont typeface="Monotype Sorts" pitchFamily="-84" charset="2"/>
              <a:buNone/>
              <a:tabLst>
                <a:tab pos="1371600" algn="l"/>
                <a:tab pos="2395538" algn="ctr"/>
                <a:tab pos="3594100" algn="ctr"/>
                <a:tab pos="4805363" algn="ctr"/>
              </a:tabLst>
            </a:pPr>
            <a:r>
              <a:rPr lang="en-US" altLang="en-US" sz="2400" dirty="0" smtClean="0"/>
              <a:t>		 </a:t>
            </a:r>
            <a:r>
              <a:rPr lang="en-US" altLang="en-US" sz="2400" i="1" dirty="0" smtClean="0"/>
              <a:t>P</a:t>
            </a:r>
            <a:r>
              <a:rPr lang="en-US" altLang="en-US" sz="2400" baseline="-25000" dirty="0" smtClean="0"/>
              <a:t>1	</a:t>
            </a:r>
            <a:r>
              <a:rPr lang="en-US" altLang="en-US" sz="2400" dirty="0" smtClean="0"/>
              <a:t>2 0 0 	        3 2 2  </a:t>
            </a:r>
          </a:p>
          <a:p>
            <a:pPr>
              <a:buFont typeface="Monotype Sorts" pitchFamily="-84" charset="2"/>
              <a:buNone/>
              <a:tabLst>
                <a:tab pos="1371600" algn="l"/>
                <a:tab pos="2395538" algn="ctr"/>
                <a:tab pos="3594100" algn="ctr"/>
                <a:tab pos="4805363" algn="ctr"/>
              </a:tabLst>
            </a:pPr>
            <a:r>
              <a:rPr lang="en-US" altLang="en-US" sz="2400" dirty="0" smtClean="0"/>
              <a:t>		 </a:t>
            </a:r>
            <a:r>
              <a:rPr lang="en-US" altLang="en-US" sz="2400" i="1" dirty="0" smtClean="0"/>
              <a:t>P</a:t>
            </a:r>
            <a:r>
              <a:rPr lang="en-US" altLang="en-US" sz="2400" baseline="-25000" dirty="0" smtClean="0"/>
              <a:t>2</a:t>
            </a:r>
            <a:r>
              <a:rPr lang="en-US" altLang="en-US" sz="2400" dirty="0" smtClean="0"/>
              <a:t>	3 0 2 	        9 0 2</a:t>
            </a:r>
          </a:p>
          <a:p>
            <a:pPr>
              <a:buFont typeface="Monotype Sorts" pitchFamily="-84" charset="2"/>
              <a:buNone/>
              <a:tabLst>
                <a:tab pos="1371600" algn="l"/>
                <a:tab pos="2395538" algn="ctr"/>
                <a:tab pos="3594100" algn="ctr"/>
                <a:tab pos="4805363" algn="ctr"/>
              </a:tabLst>
            </a:pPr>
            <a:r>
              <a:rPr lang="en-US" altLang="en-US" sz="2400" dirty="0" smtClean="0"/>
              <a:t>		 </a:t>
            </a:r>
            <a:r>
              <a:rPr lang="en-US" altLang="en-US" sz="2400" i="1" dirty="0" smtClean="0"/>
              <a:t>P</a:t>
            </a:r>
            <a:r>
              <a:rPr lang="en-US" altLang="en-US" sz="2400" baseline="-25000" dirty="0" smtClean="0"/>
              <a:t>3</a:t>
            </a:r>
            <a:r>
              <a:rPr lang="en-US" altLang="en-US" sz="2400" dirty="0" smtClean="0"/>
              <a:t>	2 1 1 	        2 2 2</a:t>
            </a:r>
          </a:p>
          <a:p>
            <a:pPr>
              <a:buFont typeface="Monotype Sorts" pitchFamily="-84" charset="2"/>
              <a:buNone/>
              <a:tabLst>
                <a:tab pos="1371600" algn="l"/>
                <a:tab pos="2395538" algn="ctr"/>
                <a:tab pos="3594100" algn="ctr"/>
                <a:tab pos="4805363" algn="ctr"/>
              </a:tabLst>
            </a:pPr>
            <a:r>
              <a:rPr lang="en-US" altLang="en-US" sz="2400" dirty="0" smtClean="0"/>
              <a:t>		 </a:t>
            </a:r>
            <a:r>
              <a:rPr lang="en-US" altLang="en-US" sz="2400" i="1" dirty="0" smtClean="0"/>
              <a:t>P</a:t>
            </a:r>
            <a:r>
              <a:rPr lang="en-US" altLang="en-US" sz="2400" baseline="-25000" dirty="0" smtClean="0"/>
              <a:t>4</a:t>
            </a:r>
            <a:r>
              <a:rPr lang="en-US" altLang="en-US" sz="2400" dirty="0" smtClean="0"/>
              <a:t>	0 0 2	         4 3 3  		</a:t>
            </a:r>
          </a:p>
        </p:txBody>
      </p:sp>
    </p:spTree>
    <p:extLst>
      <p:ext uri="{BB962C8B-B14F-4D97-AF65-F5344CB8AC3E}">
        <p14:creationId xmlns:p14="http://schemas.microsoft.com/office/powerpoint/2010/main" val="394745186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r>
              <a:rPr lang="en-US" altLang="en-US" smtClean="0"/>
              <a:t>Example (Cont.)</a:t>
            </a:r>
          </a:p>
        </p:txBody>
      </p:sp>
      <p:sp>
        <p:nvSpPr>
          <p:cNvPr id="66563" name="Rectangle 3"/>
          <p:cNvSpPr>
            <a:spLocks noGrp="1" noChangeArrowheads="1"/>
          </p:cNvSpPr>
          <p:nvPr>
            <p:ph type="body" idx="1"/>
          </p:nvPr>
        </p:nvSpPr>
        <p:spPr>
          <a:xfrm>
            <a:off x="457200" y="1417638"/>
            <a:ext cx="8534400" cy="4640263"/>
          </a:xfrm>
        </p:spPr>
        <p:txBody>
          <a:bodyPr/>
          <a:lstStyle/>
          <a:p>
            <a:pPr>
              <a:tabLst>
                <a:tab pos="2452688" algn="l"/>
                <a:tab pos="3492500" algn="ctr"/>
              </a:tabLst>
            </a:pPr>
            <a:r>
              <a:rPr lang="en-US" altLang="en-US" sz="2000" dirty="0" smtClean="0"/>
              <a:t>The content of the matrix </a:t>
            </a:r>
            <a:r>
              <a:rPr lang="en-US" altLang="en-US" sz="2000" b="1" i="1" dirty="0" smtClean="0"/>
              <a:t>Need</a:t>
            </a:r>
            <a:r>
              <a:rPr lang="en-US" altLang="en-US" sz="2000" dirty="0" smtClean="0"/>
              <a:t> is defined to be </a:t>
            </a:r>
            <a:r>
              <a:rPr lang="en-US" altLang="en-US" sz="2000" b="1" i="1" dirty="0" smtClean="0"/>
              <a:t>Max</a:t>
            </a:r>
            <a:r>
              <a:rPr lang="en-US" altLang="en-US" sz="2000" b="1" dirty="0" smtClean="0"/>
              <a:t> – </a:t>
            </a:r>
            <a:r>
              <a:rPr lang="en-US" altLang="en-US" sz="2000" b="1" i="1" dirty="0" smtClean="0"/>
              <a:t>Allocation</a:t>
            </a:r>
            <a:endParaRPr lang="en-US" altLang="en-US" sz="2000" b="1" dirty="0" smtClean="0"/>
          </a:p>
          <a:p>
            <a:pPr>
              <a:buFont typeface="Monotype Sorts" pitchFamily="-84" charset="2"/>
              <a:buNone/>
              <a:tabLst>
                <a:tab pos="2452688" algn="l"/>
                <a:tab pos="3492500" algn="ctr"/>
              </a:tabLst>
            </a:pPr>
            <a:endParaRPr lang="en-US" altLang="en-US" sz="2000" dirty="0" smtClean="0"/>
          </a:p>
          <a:p>
            <a:pPr>
              <a:buFont typeface="Monotype Sorts" pitchFamily="-84" charset="2"/>
              <a:buNone/>
              <a:tabLst>
                <a:tab pos="2452688" algn="l"/>
                <a:tab pos="3492500" algn="ctr"/>
              </a:tabLst>
            </a:pPr>
            <a:r>
              <a:rPr lang="en-US" altLang="en-US" sz="2000" dirty="0" smtClean="0"/>
              <a:t>			</a:t>
            </a:r>
            <a:r>
              <a:rPr lang="en-US" altLang="en-US" sz="2000" i="1" u="sng" dirty="0" smtClean="0"/>
              <a:t>Need</a:t>
            </a:r>
            <a:endParaRPr lang="en-US" altLang="en-US" sz="2000" u="sng" dirty="0" smtClean="0"/>
          </a:p>
          <a:p>
            <a:pPr>
              <a:buFont typeface="Monotype Sorts" pitchFamily="-84" charset="2"/>
              <a:buNone/>
              <a:tabLst>
                <a:tab pos="2452688" algn="l"/>
                <a:tab pos="3492500" algn="ctr"/>
              </a:tabLst>
            </a:pPr>
            <a:r>
              <a:rPr lang="en-US" altLang="en-US" sz="2000" dirty="0" smtClean="0"/>
              <a:t>			</a:t>
            </a:r>
            <a:r>
              <a:rPr lang="en-US" altLang="en-US" sz="2000" i="1" dirty="0" smtClean="0"/>
              <a:t>A B C</a:t>
            </a:r>
          </a:p>
          <a:p>
            <a:pPr>
              <a:buFont typeface="Monotype Sorts" pitchFamily="-84" charset="2"/>
              <a:buNone/>
              <a:tabLst>
                <a:tab pos="2452688" algn="l"/>
                <a:tab pos="3492500" algn="ctr"/>
              </a:tabLst>
            </a:pPr>
            <a:r>
              <a:rPr lang="en-US" altLang="en-US" sz="2000" dirty="0" smtClean="0"/>
              <a:t>		 </a:t>
            </a:r>
            <a:r>
              <a:rPr lang="en-US" altLang="en-US" sz="2000" i="1" dirty="0" smtClean="0"/>
              <a:t>P</a:t>
            </a:r>
            <a:r>
              <a:rPr lang="en-US" altLang="en-US" sz="2000" baseline="-25000" dirty="0" smtClean="0"/>
              <a:t>0	</a:t>
            </a:r>
            <a:r>
              <a:rPr lang="en-US" altLang="en-US" sz="2000" dirty="0" smtClean="0"/>
              <a:t>7 4 3 </a:t>
            </a:r>
          </a:p>
          <a:p>
            <a:pPr>
              <a:buFont typeface="Monotype Sorts" pitchFamily="-84" charset="2"/>
              <a:buNone/>
              <a:tabLst>
                <a:tab pos="2452688" algn="l"/>
                <a:tab pos="3492500" algn="ctr"/>
              </a:tabLst>
            </a:pPr>
            <a:r>
              <a:rPr lang="en-US" altLang="en-US" sz="2000" dirty="0" smtClean="0"/>
              <a:t>		 </a:t>
            </a:r>
            <a:r>
              <a:rPr lang="en-US" altLang="en-US" sz="2000" i="1" dirty="0" smtClean="0"/>
              <a:t>P</a:t>
            </a:r>
            <a:r>
              <a:rPr lang="en-US" altLang="en-US" sz="2000" baseline="-25000" dirty="0" smtClean="0"/>
              <a:t>1	</a:t>
            </a:r>
            <a:r>
              <a:rPr lang="en-US" altLang="en-US" sz="2000" dirty="0" smtClean="0"/>
              <a:t>1 2 2 </a:t>
            </a:r>
          </a:p>
          <a:p>
            <a:pPr>
              <a:buFont typeface="Monotype Sorts" pitchFamily="-84" charset="2"/>
              <a:buNone/>
              <a:tabLst>
                <a:tab pos="2452688" algn="l"/>
                <a:tab pos="3492500" algn="ctr"/>
              </a:tabLst>
            </a:pPr>
            <a:r>
              <a:rPr lang="en-US" altLang="en-US" sz="2000" dirty="0" smtClean="0"/>
              <a:t>		 </a:t>
            </a:r>
            <a:r>
              <a:rPr lang="en-US" altLang="en-US" sz="2000" i="1" dirty="0" smtClean="0"/>
              <a:t>P</a:t>
            </a:r>
            <a:r>
              <a:rPr lang="en-US" altLang="en-US" sz="2000" baseline="-25000" dirty="0" smtClean="0"/>
              <a:t>2</a:t>
            </a:r>
            <a:r>
              <a:rPr lang="en-US" altLang="en-US" sz="2000" dirty="0" smtClean="0"/>
              <a:t>	6 0 0 </a:t>
            </a:r>
          </a:p>
          <a:p>
            <a:pPr>
              <a:buFont typeface="Monotype Sorts" pitchFamily="-84" charset="2"/>
              <a:buNone/>
              <a:tabLst>
                <a:tab pos="2452688" algn="l"/>
                <a:tab pos="3492500" algn="ctr"/>
              </a:tabLst>
            </a:pPr>
            <a:r>
              <a:rPr lang="en-US" altLang="en-US" sz="2000" dirty="0" smtClean="0"/>
              <a:t>		 </a:t>
            </a:r>
            <a:r>
              <a:rPr lang="en-US" altLang="en-US" sz="2000" i="1" dirty="0" smtClean="0"/>
              <a:t>P</a:t>
            </a:r>
            <a:r>
              <a:rPr lang="en-US" altLang="en-US" sz="2000" baseline="-25000" dirty="0" smtClean="0"/>
              <a:t>3</a:t>
            </a:r>
            <a:r>
              <a:rPr lang="en-US" altLang="en-US" sz="2000" dirty="0" smtClean="0"/>
              <a:t>	0 1 1</a:t>
            </a:r>
          </a:p>
          <a:p>
            <a:pPr>
              <a:buFont typeface="Monotype Sorts" pitchFamily="-84" charset="2"/>
              <a:buNone/>
              <a:tabLst>
                <a:tab pos="2452688" algn="l"/>
                <a:tab pos="3492500" algn="ctr"/>
              </a:tabLst>
            </a:pPr>
            <a:r>
              <a:rPr lang="en-US" altLang="en-US" sz="2000" dirty="0" smtClean="0"/>
              <a:t>		 </a:t>
            </a:r>
            <a:r>
              <a:rPr lang="en-US" altLang="en-US" sz="2000" i="1" dirty="0" smtClean="0"/>
              <a:t>P</a:t>
            </a:r>
            <a:r>
              <a:rPr lang="en-US" altLang="en-US" sz="2000" baseline="-25000" dirty="0" smtClean="0"/>
              <a:t>4</a:t>
            </a:r>
            <a:r>
              <a:rPr lang="en-US" altLang="en-US" sz="2000" dirty="0" smtClean="0"/>
              <a:t>	4 3 1 </a:t>
            </a:r>
            <a:br>
              <a:rPr lang="en-US" altLang="en-US" sz="2000" dirty="0" smtClean="0"/>
            </a:br>
            <a:endParaRPr lang="en-US" altLang="en-US" sz="2000" dirty="0" smtClean="0"/>
          </a:p>
          <a:p>
            <a:pPr>
              <a:tabLst>
                <a:tab pos="2452688" algn="l"/>
                <a:tab pos="3492500" algn="ctr"/>
              </a:tabLst>
            </a:pPr>
            <a:r>
              <a:rPr lang="en-US" altLang="en-US" sz="2000" dirty="0" smtClean="0"/>
              <a:t>The system is in a safe state since the sequence &lt; </a:t>
            </a:r>
            <a:r>
              <a:rPr lang="en-US" altLang="en-US" sz="2000" i="1" dirty="0" smtClean="0"/>
              <a:t>P</a:t>
            </a:r>
            <a:r>
              <a:rPr lang="en-US" altLang="en-US" sz="2000" baseline="-25000" dirty="0" smtClean="0"/>
              <a:t>1</a:t>
            </a:r>
            <a:r>
              <a:rPr lang="en-US" altLang="en-US" sz="2000" dirty="0" smtClean="0"/>
              <a:t>, </a:t>
            </a:r>
            <a:r>
              <a:rPr lang="en-US" altLang="en-US" sz="2000" i="1" dirty="0" smtClean="0"/>
              <a:t>P</a:t>
            </a:r>
            <a:r>
              <a:rPr lang="en-US" altLang="en-US" sz="2000" baseline="-25000" dirty="0" smtClean="0"/>
              <a:t>3</a:t>
            </a:r>
            <a:r>
              <a:rPr lang="en-US" altLang="en-US" sz="2000" dirty="0" smtClean="0"/>
              <a:t>, </a:t>
            </a:r>
            <a:r>
              <a:rPr lang="en-US" altLang="en-US" sz="2000" i="1" dirty="0" smtClean="0"/>
              <a:t>P</a:t>
            </a:r>
            <a:r>
              <a:rPr lang="en-US" altLang="en-US" sz="2000" baseline="-25000" dirty="0" smtClean="0"/>
              <a:t>4</a:t>
            </a:r>
            <a:r>
              <a:rPr lang="en-US" altLang="en-US" sz="2000" dirty="0" smtClean="0"/>
              <a:t>, </a:t>
            </a:r>
            <a:r>
              <a:rPr lang="en-US" altLang="en-US" sz="2000" i="1" dirty="0" smtClean="0"/>
              <a:t>P</a:t>
            </a:r>
            <a:r>
              <a:rPr lang="en-US" altLang="en-US" sz="2000" baseline="-25000" dirty="0" smtClean="0"/>
              <a:t>2</a:t>
            </a:r>
            <a:r>
              <a:rPr lang="en-US" altLang="en-US" sz="2000" dirty="0" smtClean="0"/>
              <a:t>, </a:t>
            </a:r>
            <a:r>
              <a:rPr lang="en-US" altLang="en-US" sz="2000" i="1" dirty="0" smtClean="0"/>
              <a:t>P</a:t>
            </a:r>
            <a:r>
              <a:rPr lang="en-US" altLang="en-US" sz="2000" baseline="-25000" dirty="0" smtClean="0"/>
              <a:t>0</a:t>
            </a:r>
            <a:r>
              <a:rPr lang="en-US" altLang="en-US" sz="2000" dirty="0" smtClean="0"/>
              <a:t>&gt; satisfies safety criteria</a:t>
            </a:r>
            <a:endParaRPr lang="en-US" altLang="en-US" sz="2000" baseline="-25000" dirty="0" smtClean="0"/>
          </a:p>
        </p:txBody>
      </p:sp>
    </p:spTree>
    <p:extLst>
      <p:ext uri="{BB962C8B-B14F-4D97-AF65-F5344CB8AC3E}">
        <p14:creationId xmlns:p14="http://schemas.microsoft.com/office/powerpoint/2010/main" val="1008988453"/>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817563" y="214313"/>
            <a:ext cx="7869237" cy="576262"/>
          </a:xfrm>
        </p:spPr>
        <p:txBody>
          <a:bodyPr/>
          <a:lstStyle/>
          <a:p>
            <a:pPr eaLnBrk="1" hangingPunct="1"/>
            <a:r>
              <a:rPr lang="en-US" altLang="en-US" smtClean="0"/>
              <a:t>Example:  </a:t>
            </a:r>
            <a:r>
              <a:rPr lang="en-US" altLang="en-US" i="1" smtClean="0"/>
              <a:t>P</a:t>
            </a:r>
            <a:r>
              <a:rPr lang="en-US" altLang="en-US" baseline="-25000" smtClean="0"/>
              <a:t>1</a:t>
            </a:r>
            <a:r>
              <a:rPr lang="en-US" altLang="en-US" smtClean="0"/>
              <a:t> Request (1,0,2)</a:t>
            </a:r>
          </a:p>
        </p:txBody>
      </p:sp>
      <p:sp>
        <p:nvSpPr>
          <p:cNvPr id="68611" name="Rectangle 3"/>
          <p:cNvSpPr>
            <a:spLocks noGrp="1" noChangeArrowheads="1"/>
          </p:cNvSpPr>
          <p:nvPr>
            <p:ph type="body" idx="1"/>
          </p:nvPr>
        </p:nvSpPr>
        <p:spPr>
          <a:xfrm>
            <a:off x="839235" y="1295400"/>
            <a:ext cx="7766050" cy="5103812"/>
          </a:xfrm>
        </p:spPr>
        <p:txBody>
          <a:bodyPr/>
          <a:lstStyle/>
          <a:p>
            <a:pPr>
              <a:tabLst>
                <a:tab pos="1544638" algn="l"/>
                <a:tab pos="2452688" algn="ctr"/>
                <a:tab pos="3767138" algn="ctr"/>
                <a:tab pos="5022850" algn="ctr"/>
              </a:tabLst>
            </a:pPr>
            <a:r>
              <a:rPr lang="en-US" altLang="en-US" sz="2000" dirty="0" smtClean="0"/>
              <a:t>Check that Request </a:t>
            </a:r>
            <a:r>
              <a:rPr lang="en-US" altLang="en-US" sz="2000" dirty="0" smtClean="0">
                <a:sym typeface="Symbol" panose="05050102010706020507" pitchFamily="18" charset="2"/>
              </a:rPr>
              <a:t> Available (that is, (1,0,2)  (3,3,2)  true</a:t>
            </a:r>
            <a:endParaRPr lang="en-US" altLang="en-US" sz="2000" i="1" dirty="0" smtClean="0">
              <a:sym typeface="Symbol" panose="05050102010706020507" pitchFamily="18" charset="2"/>
            </a:endParaRPr>
          </a:p>
          <a:p>
            <a:pPr>
              <a:buFont typeface="Monotype Sorts" pitchFamily="-84" charset="2"/>
              <a:buNone/>
              <a:tabLst>
                <a:tab pos="1544638" algn="l"/>
                <a:tab pos="2452688" algn="ctr"/>
                <a:tab pos="3767138" algn="ctr"/>
                <a:tab pos="5022850" algn="ctr"/>
              </a:tabLst>
            </a:pPr>
            <a:r>
              <a:rPr lang="en-US" altLang="en-US" sz="2000" i="1" dirty="0" smtClean="0"/>
              <a:t>			</a:t>
            </a:r>
            <a:r>
              <a:rPr lang="en-US" altLang="en-US" sz="2000" i="1" u="sng" dirty="0" smtClean="0"/>
              <a:t>Allocation</a:t>
            </a:r>
            <a:r>
              <a:rPr lang="en-US" altLang="en-US" sz="2000" i="1" dirty="0" smtClean="0"/>
              <a:t>	</a:t>
            </a:r>
            <a:r>
              <a:rPr lang="en-US" altLang="en-US" sz="2000" i="1" u="sng" dirty="0" smtClean="0"/>
              <a:t>Need</a:t>
            </a:r>
            <a:r>
              <a:rPr lang="en-US" altLang="en-US" sz="2000" i="1" dirty="0" smtClean="0"/>
              <a:t>	   </a:t>
            </a:r>
            <a:r>
              <a:rPr lang="en-US" altLang="en-US" sz="2000" i="1" u="sng" dirty="0" smtClean="0"/>
              <a:t>Available</a:t>
            </a:r>
            <a:endParaRPr lang="en-US" altLang="en-US" sz="2000" i="1" dirty="0" smtClean="0"/>
          </a:p>
          <a:p>
            <a:pPr>
              <a:buFont typeface="Monotype Sorts" pitchFamily="-84" charset="2"/>
              <a:buNone/>
              <a:tabLst>
                <a:tab pos="1544638" algn="l"/>
                <a:tab pos="2452688" algn="ctr"/>
                <a:tab pos="3767138" algn="ctr"/>
                <a:tab pos="5022850" algn="ctr"/>
              </a:tabLst>
            </a:pPr>
            <a:r>
              <a:rPr lang="en-US" altLang="en-US" sz="2000" i="1" dirty="0" smtClean="0"/>
              <a:t>			A B C	A B C	 A B C </a:t>
            </a:r>
          </a:p>
          <a:p>
            <a:pPr>
              <a:buFont typeface="Monotype Sorts" pitchFamily="-84" charset="2"/>
              <a:buNone/>
              <a:tabLst>
                <a:tab pos="1544638" algn="l"/>
                <a:tab pos="2452688" algn="ctr"/>
                <a:tab pos="3767138" algn="ctr"/>
                <a:tab pos="5022850" algn="ctr"/>
              </a:tabLst>
            </a:pPr>
            <a:r>
              <a:rPr lang="en-US" altLang="en-US" sz="2000" dirty="0" smtClean="0"/>
              <a:t>		</a:t>
            </a:r>
            <a:r>
              <a:rPr lang="en-US" altLang="en-US" sz="2000" i="1" dirty="0" smtClean="0"/>
              <a:t>P</a:t>
            </a:r>
            <a:r>
              <a:rPr lang="en-US" altLang="en-US" sz="2000" baseline="-25000" dirty="0" smtClean="0"/>
              <a:t>0</a:t>
            </a:r>
            <a:r>
              <a:rPr lang="en-US" altLang="en-US" sz="2000" dirty="0" smtClean="0"/>
              <a:t>	0 1 0 	7 4 3 	2 3 0</a:t>
            </a:r>
          </a:p>
          <a:p>
            <a:pPr>
              <a:buFont typeface="Monotype Sorts" pitchFamily="-84" charset="2"/>
              <a:buNone/>
              <a:tabLst>
                <a:tab pos="1544638" algn="l"/>
                <a:tab pos="2452688" algn="ctr"/>
                <a:tab pos="3767138" algn="ctr"/>
                <a:tab pos="5022850" algn="ctr"/>
              </a:tabLst>
            </a:pPr>
            <a:r>
              <a:rPr lang="en-US" altLang="en-US" sz="2000" dirty="0" smtClean="0"/>
              <a:t>		</a:t>
            </a:r>
            <a:r>
              <a:rPr lang="en-US" altLang="en-US" sz="2000" i="1" dirty="0" smtClean="0"/>
              <a:t>P</a:t>
            </a:r>
            <a:r>
              <a:rPr lang="en-US" altLang="en-US" sz="2000" baseline="-25000" dirty="0" smtClean="0"/>
              <a:t>1</a:t>
            </a:r>
            <a:r>
              <a:rPr lang="en-US" altLang="en-US" sz="2000" dirty="0" smtClean="0"/>
              <a:t>	      3 0 2          </a:t>
            </a:r>
            <a:r>
              <a:rPr lang="en-US" altLang="en-US" sz="2000" dirty="0" smtClean="0"/>
              <a:t>0 </a:t>
            </a:r>
            <a:r>
              <a:rPr lang="en-US" altLang="en-US" sz="2000" dirty="0" smtClean="0"/>
              <a:t>2 0 	</a:t>
            </a:r>
          </a:p>
          <a:p>
            <a:pPr>
              <a:buFont typeface="Monotype Sorts" pitchFamily="-84" charset="2"/>
              <a:buNone/>
              <a:tabLst>
                <a:tab pos="1544638" algn="l"/>
                <a:tab pos="2452688" algn="ctr"/>
                <a:tab pos="3767138" algn="ctr"/>
                <a:tab pos="5022850" algn="ctr"/>
              </a:tabLst>
            </a:pPr>
            <a:r>
              <a:rPr lang="en-US" altLang="en-US" sz="2000" dirty="0" smtClean="0"/>
              <a:t>		</a:t>
            </a:r>
            <a:r>
              <a:rPr lang="en-US" altLang="en-US" sz="2000" i="1" dirty="0" smtClean="0"/>
              <a:t>P</a:t>
            </a:r>
            <a:r>
              <a:rPr lang="en-US" altLang="en-US" sz="2000" baseline="-25000" dirty="0" smtClean="0"/>
              <a:t>2</a:t>
            </a:r>
            <a:r>
              <a:rPr lang="en-US" altLang="en-US" sz="2000" dirty="0" smtClean="0"/>
              <a:t>	3 0 2 	 6 0 0 </a:t>
            </a:r>
          </a:p>
          <a:p>
            <a:pPr>
              <a:buFont typeface="Monotype Sorts" pitchFamily="-84" charset="2"/>
              <a:buNone/>
              <a:tabLst>
                <a:tab pos="1544638" algn="l"/>
                <a:tab pos="2452688" algn="ctr"/>
                <a:tab pos="3767138" algn="ctr"/>
                <a:tab pos="5022850" algn="ctr"/>
              </a:tabLst>
            </a:pPr>
            <a:r>
              <a:rPr lang="en-US" altLang="en-US" sz="2000" dirty="0" smtClean="0"/>
              <a:t>		</a:t>
            </a:r>
            <a:r>
              <a:rPr lang="en-US" altLang="en-US" sz="2000" i="1" dirty="0" smtClean="0"/>
              <a:t>P</a:t>
            </a:r>
            <a:r>
              <a:rPr lang="en-US" altLang="en-US" sz="2000" baseline="-25000" dirty="0" smtClean="0"/>
              <a:t>3</a:t>
            </a:r>
            <a:r>
              <a:rPr lang="en-US" altLang="en-US" sz="2000" dirty="0" smtClean="0"/>
              <a:t>	2 1 1 	0 1 1</a:t>
            </a:r>
          </a:p>
          <a:p>
            <a:pPr>
              <a:buFont typeface="Monotype Sorts" pitchFamily="-84" charset="2"/>
              <a:buNone/>
              <a:tabLst>
                <a:tab pos="1544638" algn="l"/>
                <a:tab pos="2452688" algn="ctr"/>
                <a:tab pos="3767138" algn="ctr"/>
                <a:tab pos="5022850" algn="ctr"/>
              </a:tabLst>
            </a:pPr>
            <a:r>
              <a:rPr lang="en-US" altLang="en-US" sz="2000" dirty="0" smtClean="0"/>
              <a:t>		</a:t>
            </a:r>
            <a:r>
              <a:rPr lang="en-US" altLang="en-US" sz="2000" i="1" dirty="0" smtClean="0"/>
              <a:t>P</a:t>
            </a:r>
            <a:r>
              <a:rPr lang="en-US" altLang="en-US" sz="2000" baseline="-25000" dirty="0" smtClean="0"/>
              <a:t>4</a:t>
            </a:r>
            <a:r>
              <a:rPr lang="en-US" altLang="en-US" sz="2000" dirty="0" smtClean="0"/>
              <a:t>	0 0 2 	 4 3 1 </a:t>
            </a:r>
          </a:p>
          <a:p>
            <a:pPr>
              <a:buFont typeface="Monotype Sorts" pitchFamily="-84" charset="2"/>
              <a:buNone/>
              <a:tabLst>
                <a:tab pos="1544638" algn="l"/>
                <a:tab pos="2452688" algn="ctr"/>
                <a:tab pos="3767138" algn="ctr"/>
                <a:tab pos="5022850" algn="ctr"/>
              </a:tabLst>
            </a:pPr>
            <a:endParaRPr lang="en-US" altLang="en-US" sz="500" dirty="0" smtClean="0"/>
          </a:p>
          <a:p>
            <a:pPr>
              <a:tabLst>
                <a:tab pos="1544638" algn="l"/>
                <a:tab pos="2452688" algn="ctr"/>
                <a:tab pos="3767138" algn="ctr"/>
                <a:tab pos="5022850" algn="ctr"/>
              </a:tabLst>
            </a:pPr>
            <a:r>
              <a:rPr lang="en-US" altLang="en-US" sz="2000" dirty="0" smtClean="0"/>
              <a:t>Executing safety algorithm shows that sequence &lt; </a:t>
            </a:r>
            <a:r>
              <a:rPr lang="en-US" altLang="en-US" sz="2000" b="1" i="1" dirty="0" smtClean="0"/>
              <a:t>P</a:t>
            </a:r>
            <a:r>
              <a:rPr lang="en-US" altLang="en-US" sz="2000" b="1" baseline="-25000" dirty="0" smtClean="0"/>
              <a:t>1</a:t>
            </a:r>
            <a:r>
              <a:rPr lang="en-US" altLang="en-US" sz="2000" b="1" dirty="0" smtClean="0"/>
              <a:t>, </a:t>
            </a:r>
            <a:r>
              <a:rPr lang="en-US" altLang="en-US" sz="2000" b="1" i="1" dirty="0" smtClean="0"/>
              <a:t>P</a:t>
            </a:r>
            <a:r>
              <a:rPr lang="en-US" altLang="en-US" sz="2000" b="1" baseline="-25000" dirty="0" smtClean="0"/>
              <a:t>3</a:t>
            </a:r>
            <a:r>
              <a:rPr lang="en-US" altLang="en-US" sz="2000" b="1" dirty="0" smtClean="0"/>
              <a:t>, </a:t>
            </a:r>
            <a:r>
              <a:rPr lang="en-US" altLang="en-US" sz="2000" b="1" i="1" dirty="0" smtClean="0"/>
              <a:t>P</a:t>
            </a:r>
            <a:r>
              <a:rPr lang="en-US" altLang="en-US" sz="2000" b="1" baseline="-25000" dirty="0" smtClean="0"/>
              <a:t>4</a:t>
            </a:r>
            <a:r>
              <a:rPr lang="en-US" altLang="en-US" sz="2000" b="1" dirty="0" smtClean="0"/>
              <a:t>, </a:t>
            </a:r>
            <a:r>
              <a:rPr lang="en-US" altLang="en-US" sz="2000" b="1" i="1" dirty="0" smtClean="0"/>
              <a:t>P</a:t>
            </a:r>
            <a:r>
              <a:rPr lang="en-US" altLang="en-US" sz="2000" b="1" baseline="-25000" dirty="0" smtClean="0"/>
              <a:t>0</a:t>
            </a:r>
            <a:r>
              <a:rPr lang="en-US" altLang="en-US" sz="2000" b="1" dirty="0" smtClean="0"/>
              <a:t>, </a:t>
            </a:r>
            <a:r>
              <a:rPr lang="en-US" altLang="en-US" sz="2000" b="1" i="1" dirty="0" smtClean="0"/>
              <a:t>P</a:t>
            </a:r>
            <a:r>
              <a:rPr lang="en-US" altLang="en-US" sz="2000" b="1" baseline="-25000" dirty="0" smtClean="0"/>
              <a:t>2</a:t>
            </a:r>
            <a:r>
              <a:rPr lang="en-US" altLang="en-US" sz="2000" dirty="0" smtClean="0"/>
              <a:t>&gt; satisfies safety requirement</a:t>
            </a:r>
          </a:p>
          <a:p>
            <a:pPr>
              <a:tabLst>
                <a:tab pos="1544638" algn="l"/>
                <a:tab pos="2452688" algn="ctr"/>
                <a:tab pos="3767138" algn="ctr"/>
                <a:tab pos="5022850" algn="ctr"/>
              </a:tabLst>
            </a:pPr>
            <a:endParaRPr lang="en-US" altLang="en-US" sz="500" dirty="0" smtClean="0"/>
          </a:p>
          <a:p>
            <a:pPr>
              <a:tabLst>
                <a:tab pos="1544638" algn="l"/>
                <a:tab pos="2452688" algn="ctr"/>
                <a:tab pos="3767138" algn="ctr"/>
                <a:tab pos="5022850" algn="ctr"/>
              </a:tabLst>
            </a:pPr>
            <a:r>
              <a:rPr lang="en-US" altLang="en-US" sz="2000" dirty="0" smtClean="0"/>
              <a:t>Can request for (3,3,0) by </a:t>
            </a:r>
            <a:r>
              <a:rPr lang="en-US" altLang="en-US" sz="2000" b="1" i="1" dirty="0" smtClean="0"/>
              <a:t>P</a:t>
            </a:r>
            <a:r>
              <a:rPr lang="en-US" altLang="en-US" sz="2000" b="1" baseline="-25000" dirty="0" smtClean="0"/>
              <a:t>4</a:t>
            </a:r>
            <a:r>
              <a:rPr lang="en-US" altLang="en-US" sz="2000" dirty="0" smtClean="0"/>
              <a:t> be granted? -- unavailable</a:t>
            </a:r>
          </a:p>
          <a:p>
            <a:pPr>
              <a:tabLst>
                <a:tab pos="1544638" algn="l"/>
                <a:tab pos="2452688" algn="ctr"/>
                <a:tab pos="3767138" algn="ctr"/>
                <a:tab pos="5022850" algn="ctr"/>
              </a:tabLst>
            </a:pPr>
            <a:endParaRPr lang="en-US" altLang="en-US" sz="500" dirty="0" smtClean="0"/>
          </a:p>
          <a:p>
            <a:pPr>
              <a:tabLst>
                <a:tab pos="1544638" algn="l"/>
                <a:tab pos="2452688" algn="ctr"/>
                <a:tab pos="3767138" algn="ctr"/>
                <a:tab pos="5022850" algn="ctr"/>
              </a:tabLst>
            </a:pPr>
            <a:r>
              <a:rPr lang="en-US" altLang="en-US" sz="2000" dirty="0" smtClean="0"/>
              <a:t>Can request for (0,2,0) by </a:t>
            </a:r>
            <a:r>
              <a:rPr lang="en-US" altLang="en-US" sz="2000" b="1" i="1" dirty="0" smtClean="0"/>
              <a:t>P</a:t>
            </a:r>
            <a:r>
              <a:rPr lang="en-US" altLang="en-US" sz="2000" b="1" baseline="-25000" dirty="0" smtClean="0"/>
              <a:t>0</a:t>
            </a:r>
            <a:r>
              <a:rPr lang="en-US" altLang="en-US" sz="2000" dirty="0" smtClean="0"/>
              <a:t> be granted? -- unsafe</a:t>
            </a:r>
          </a:p>
          <a:p>
            <a:pPr>
              <a:buFont typeface="Monotype Sorts" pitchFamily="-84" charset="2"/>
              <a:buNone/>
              <a:tabLst>
                <a:tab pos="1544638" algn="l"/>
                <a:tab pos="2452688" algn="ctr"/>
                <a:tab pos="3767138" algn="ctr"/>
                <a:tab pos="5022850" algn="ctr"/>
              </a:tabLst>
            </a:pPr>
            <a:endParaRPr lang="en-US" altLang="en-US" sz="2000" dirty="0" smtClean="0"/>
          </a:p>
        </p:txBody>
      </p:sp>
    </p:spTree>
    <p:extLst>
      <p:ext uri="{BB962C8B-B14F-4D97-AF65-F5344CB8AC3E}">
        <p14:creationId xmlns:p14="http://schemas.microsoft.com/office/powerpoint/2010/main" val="334667052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Title 1"/>
          <p:cNvSpPr>
            <a:spLocks noGrp="1"/>
          </p:cNvSpPr>
          <p:nvPr>
            <p:ph type="title"/>
          </p:nvPr>
        </p:nvSpPr>
        <p:spPr/>
        <p:txBody>
          <a:bodyPr/>
          <a:lstStyle/>
          <a:p>
            <a:r>
              <a:rPr lang="en-US" dirty="0" smtClean="0">
                <a:latin typeface="Arial" charset="0"/>
              </a:rPr>
              <a:t>Banker</a:t>
            </a:r>
            <a:r>
              <a:rPr lang="en-US" dirty="0" smtClean="0">
                <a:latin typeface="Arial" charset="0"/>
              </a:rPr>
              <a:t>’</a:t>
            </a:r>
            <a:r>
              <a:rPr lang="en-US" altLang="ja-JP" dirty="0" smtClean="0">
                <a:latin typeface="Arial" charset="0"/>
              </a:rPr>
              <a:t>s Algorithm</a:t>
            </a:r>
            <a:endParaRPr lang="en-US" dirty="0">
              <a:latin typeface="Arial" charset="0"/>
            </a:endParaRPr>
          </a:p>
        </p:txBody>
      </p:sp>
      <p:sp>
        <p:nvSpPr>
          <p:cNvPr id="130050" name="Content Placeholder 2"/>
          <p:cNvSpPr>
            <a:spLocks noGrp="1"/>
          </p:cNvSpPr>
          <p:nvPr>
            <p:ph idx="1"/>
          </p:nvPr>
        </p:nvSpPr>
        <p:spPr/>
        <p:txBody>
          <a:bodyPr/>
          <a:lstStyle/>
          <a:p>
            <a:pPr>
              <a:buFontTx/>
              <a:buNone/>
            </a:pPr>
            <a:endParaRPr lang="en-US" sz="2000">
              <a:latin typeface="Arial" charset="0"/>
            </a:endParaRPr>
          </a:p>
          <a:p>
            <a:pPr>
              <a:buFontTx/>
              <a:buNone/>
            </a:pPr>
            <a:r>
              <a:rPr lang="en-US" sz="2000">
                <a:latin typeface="Arial" charset="0"/>
              </a:rPr>
              <a:t>When a request occurs</a:t>
            </a:r>
          </a:p>
          <a:p>
            <a:pPr lvl="1"/>
            <a:r>
              <a:rPr lang="en-US" sz="1600">
                <a:latin typeface="Arial" charset="0"/>
                <a:cs typeface="Arial" charset="0"/>
              </a:rPr>
              <a:t>If(</a:t>
            </a:r>
            <a:r>
              <a:rPr lang="en-US" sz="1600" b="1">
                <a:latin typeface="Arial" charset="0"/>
                <a:cs typeface="Arial" charset="0"/>
              </a:rPr>
              <a:t>is_system_in_a_safe_state</a:t>
            </a:r>
            <a:r>
              <a:rPr lang="en-US" sz="1600">
                <a:latin typeface="Arial" charset="0"/>
                <a:cs typeface="Arial" charset="0"/>
              </a:rPr>
              <a:t>)</a:t>
            </a:r>
          </a:p>
          <a:p>
            <a:pPr lvl="2"/>
            <a:r>
              <a:rPr lang="en-US" sz="1200">
                <a:latin typeface="Arial" charset="0"/>
                <a:cs typeface="Arial" charset="0"/>
              </a:rPr>
              <a:t>Grant request</a:t>
            </a:r>
          </a:p>
          <a:p>
            <a:pPr lvl="1"/>
            <a:r>
              <a:rPr lang="en-US" sz="1600">
                <a:latin typeface="Arial" charset="0"/>
                <a:cs typeface="Arial" charset="0"/>
              </a:rPr>
              <a:t>else</a:t>
            </a:r>
          </a:p>
          <a:p>
            <a:pPr lvl="2"/>
            <a:r>
              <a:rPr lang="en-US" sz="1200">
                <a:latin typeface="Arial" charset="0"/>
                <a:cs typeface="Arial" charset="0"/>
              </a:rPr>
              <a:t>postpone until later</a:t>
            </a:r>
          </a:p>
          <a:p>
            <a:pPr lvl="2"/>
            <a:endParaRPr lang="en-US" sz="1200">
              <a:latin typeface="Arial" charset="0"/>
              <a:cs typeface="Arial" charset="0"/>
            </a:endParaRPr>
          </a:p>
          <a:p>
            <a:pPr lvl="1"/>
            <a:endParaRPr lang="en-US" sz="1600">
              <a:latin typeface="Arial" charset="0"/>
              <a:cs typeface="Arial" charset="0"/>
            </a:endParaRPr>
          </a:p>
        </p:txBody>
      </p:sp>
      <p:sp>
        <p:nvSpPr>
          <p:cNvPr id="4" name="TextBox 3"/>
          <p:cNvSpPr txBox="1"/>
          <p:nvPr/>
        </p:nvSpPr>
        <p:spPr>
          <a:xfrm>
            <a:off x="1363663" y="5562600"/>
            <a:ext cx="6407150" cy="646113"/>
          </a:xfrm>
          <a:prstGeom prst="rect">
            <a:avLst/>
          </a:prstGeom>
          <a:solidFill>
            <a:schemeClr val="accent1">
              <a:lumMod val="90000"/>
            </a:schemeClr>
          </a:solidFill>
        </p:spPr>
        <p:txBody>
          <a:bodyPr wrap="none">
            <a:spAutoFit/>
          </a:bodyPr>
          <a:lstStyle>
            <a:lvl1pPr eaLnBrk="0" hangingPunct="0">
              <a:defRPr>
                <a:solidFill>
                  <a:schemeClr val="tx1"/>
                </a:solidFill>
                <a:latin typeface="Arial" charset="0"/>
                <a:ea typeface="ＭＳ Ｐゴシック" charset="0"/>
                <a:cs typeface="Arial" charset="0"/>
              </a:defRPr>
            </a:lvl1pPr>
            <a:lvl2pPr marL="742950" indent="-285750" eaLnBrk="0" hangingPunct="0">
              <a:defRPr>
                <a:solidFill>
                  <a:schemeClr val="tx1"/>
                </a:solidFill>
                <a:latin typeface="Arial" charset="0"/>
                <a:ea typeface="Arial" charset="0"/>
                <a:cs typeface="Arial" charset="0"/>
              </a:defRPr>
            </a:lvl2pPr>
            <a:lvl3pPr marL="1143000" indent="-228600" eaLnBrk="0" hangingPunct="0">
              <a:defRPr>
                <a:solidFill>
                  <a:schemeClr val="tx1"/>
                </a:solidFill>
                <a:latin typeface="Arial" charset="0"/>
                <a:ea typeface="Arial" charset="0"/>
                <a:cs typeface="Arial" charset="0"/>
              </a:defRPr>
            </a:lvl3pPr>
            <a:lvl4pPr marL="1600200" indent="-228600" eaLnBrk="0" hangingPunct="0">
              <a:defRPr>
                <a:solidFill>
                  <a:schemeClr val="tx1"/>
                </a:solidFill>
                <a:latin typeface="Arial" charset="0"/>
                <a:ea typeface="Arial" charset="0"/>
                <a:cs typeface="Arial" charset="0"/>
              </a:defRPr>
            </a:lvl4pPr>
            <a:lvl5pPr marL="2057400" indent="-228600" eaLnBrk="0" hangingPunct="0">
              <a:defRPr>
                <a:solidFill>
                  <a:schemeClr val="tx1"/>
                </a:solidFill>
                <a:latin typeface="Arial" charset="0"/>
                <a:ea typeface="Arial" charset="0"/>
                <a:cs typeface="Arial" charset="0"/>
              </a:defRPr>
            </a:lvl5pPr>
            <a:lvl6pPr marL="2514600" indent="-228600" eaLnBrk="0" fontAlgn="base" hangingPunct="0">
              <a:spcBef>
                <a:spcPct val="0"/>
              </a:spcBef>
              <a:spcAft>
                <a:spcPct val="0"/>
              </a:spcAft>
              <a:defRPr>
                <a:solidFill>
                  <a:schemeClr val="tx1"/>
                </a:solidFill>
                <a:latin typeface="Arial" charset="0"/>
                <a:ea typeface="Arial" charset="0"/>
                <a:cs typeface="Arial" charset="0"/>
              </a:defRPr>
            </a:lvl6pPr>
            <a:lvl7pPr marL="2971800" indent="-228600" eaLnBrk="0" fontAlgn="base" hangingPunct="0">
              <a:spcBef>
                <a:spcPct val="0"/>
              </a:spcBef>
              <a:spcAft>
                <a:spcPct val="0"/>
              </a:spcAft>
              <a:defRPr>
                <a:solidFill>
                  <a:schemeClr val="tx1"/>
                </a:solidFill>
                <a:latin typeface="Arial" charset="0"/>
                <a:ea typeface="Arial" charset="0"/>
                <a:cs typeface="Arial" charset="0"/>
              </a:defRPr>
            </a:lvl7pPr>
            <a:lvl8pPr marL="3429000" indent="-228600" eaLnBrk="0" fontAlgn="base" hangingPunct="0">
              <a:spcBef>
                <a:spcPct val="0"/>
              </a:spcBef>
              <a:spcAft>
                <a:spcPct val="0"/>
              </a:spcAft>
              <a:defRPr>
                <a:solidFill>
                  <a:schemeClr val="tx1"/>
                </a:solidFill>
                <a:latin typeface="Arial" charset="0"/>
                <a:ea typeface="Arial" charset="0"/>
                <a:cs typeface="Arial" charset="0"/>
              </a:defRPr>
            </a:lvl8pPr>
            <a:lvl9pPr marL="3886200" indent="-228600" eaLnBrk="0" fontAlgn="base" hangingPunct="0">
              <a:spcBef>
                <a:spcPct val="0"/>
              </a:spcBef>
              <a:spcAft>
                <a:spcPct val="0"/>
              </a:spcAft>
              <a:defRPr>
                <a:solidFill>
                  <a:schemeClr val="tx1"/>
                </a:solidFill>
                <a:latin typeface="Arial" charset="0"/>
                <a:ea typeface="Arial" charset="0"/>
                <a:cs typeface="Arial" charset="0"/>
              </a:defRPr>
            </a:lvl9pPr>
          </a:lstStyle>
          <a:p>
            <a:pPr eaLnBrk="1" hangingPunct="1">
              <a:defRPr/>
            </a:pPr>
            <a:r>
              <a:rPr lang="en-US" smtClean="0"/>
              <a:t>Please read Banker</a:t>
            </a:r>
            <a:r>
              <a:rPr lang="ja-JP" altLang="en-US" smtClean="0"/>
              <a:t>’</a:t>
            </a:r>
            <a:r>
              <a:rPr lang="en-US" smtClean="0"/>
              <a:t>s Algorithm with multiple resources from </a:t>
            </a:r>
          </a:p>
          <a:p>
            <a:pPr eaLnBrk="1" hangingPunct="1">
              <a:defRPr/>
            </a:pPr>
            <a:r>
              <a:rPr lang="en-US" smtClean="0"/>
              <a:t>Modern Operating Systems, Tanenbaum</a:t>
            </a:r>
          </a:p>
        </p:txBody>
      </p:sp>
      <p:sp>
        <p:nvSpPr>
          <p:cNvPr id="9" name="Rectangle 8"/>
          <p:cNvSpPr/>
          <p:nvPr/>
        </p:nvSpPr>
        <p:spPr>
          <a:xfrm>
            <a:off x="4800600" y="4191000"/>
            <a:ext cx="3048000" cy="5334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0" name="Rectangle 9"/>
          <p:cNvSpPr/>
          <p:nvPr/>
        </p:nvSpPr>
        <p:spPr>
          <a:xfrm>
            <a:off x="4800600" y="3505200"/>
            <a:ext cx="3048000" cy="685800"/>
          </a:xfrm>
          <a:prstGeom prst="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p:cNvSpPr/>
          <p:nvPr/>
        </p:nvSpPr>
        <p:spPr>
          <a:xfrm>
            <a:off x="5105400" y="3657600"/>
            <a:ext cx="1219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3333FF"/>
                </a:solidFill>
              </a:rPr>
              <a:t>Deadlock</a:t>
            </a:r>
          </a:p>
        </p:txBody>
      </p:sp>
      <p:sp>
        <p:nvSpPr>
          <p:cNvPr id="12" name="Rectangle 11"/>
          <p:cNvSpPr/>
          <p:nvPr/>
        </p:nvSpPr>
        <p:spPr>
          <a:xfrm>
            <a:off x="6781800" y="3733800"/>
            <a:ext cx="9144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3333FF"/>
                </a:solidFill>
              </a:rPr>
              <a:t>unsafe</a:t>
            </a:r>
          </a:p>
        </p:txBody>
      </p:sp>
      <p:sp>
        <p:nvSpPr>
          <p:cNvPr id="13" name="Rectangle 12"/>
          <p:cNvSpPr/>
          <p:nvPr/>
        </p:nvSpPr>
        <p:spPr>
          <a:xfrm>
            <a:off x="6781800" y="4343400"/>
            <a:ext cx="914400" cy="381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solidFill>
                  <a:srgbClr val="3333FF"/>
                </a:solidFill>
              </a:rPr>
              <a:t>safe</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 point to discuss</a:t>
            </a:r>
            <a:endParaRPr lang="en-IN" dirty="0"/>
          </a:p>
        </p:txBody>
      </p:sp>
      <p:sp>
        <p:nvSpPr>
          <p:cNvPr id="3" name="Content Placeholder 2"/>
          <p:cNvSpPr>
            <a:spLocks noGrp="1"/>
          </p:cNvSpPr>
          <p:nvPr>
            <p:ph idx="1"/>
          </p:nvPr>
        </p:nvSpPr>
        <p:spPr>
          <a:xfrm>
            <a:off x="457200" y="1417638"/>
            <a:ext cx="8229600" cy="4525963"/>
          </a:xfrm>
        </p:spPr>
        <p:txBody>
          <a:bodyPr/>
          <a:lstStyle/>
          <a:p>
            <a:pPr marL="0" indent="0">
              <a:buNone/>
            </a:pPr>
            <a:r>
              <a:rPr lang="en-US" sz="2400" dirty="0"/>
              <a:t>w</a:t>
            </a:r>
            <a:r>
              <a:rPr lang="en-US" sz="2400" dirty="0" smtClean="0"/>
              <a:t>hile (1) {</a:t>
            </a:r>
          </a:p>
          <a:p>
            <a:pPr marL="0" indent="0">
              <a:buNone/>
            </a:pPr>
            <a:r>
              <a:rPr lang="en-US" sz="2400" dirty="0"/>
              <a:t>	</a:t>
            </a:r>
            <a:r>
              <a:rPr lang="en-US" sz="2400" dirty="0" smtClean="0"/>
              <a:t>entry section;</a:t>
            </a:r>
          </a:p>
          <a:p>
            <a:pPr marL="0" indent="0">
              <a:buNone/>
            </a:pPr>
            <a:r>
              <a:rPr lang="en-US" sz="2400" dirty="0"/>
              <a:t>	</a:t>
            </a:r>
            <a:r>
              <a:rPr lang="en-US" sz="2400" dirty="0" smtClean="0"/>
              <a:t>CS;</a:t>
            </a:r>
          </a:p>
          <a:p>
            <a:pPr marL="0" indent="0">
              <a:buNone/>
            </a:pPr>
            <a:r>
              <a:rPr lang="en-US" sz="2400" dirty="0" smtClean="0"/>
              <a:t>	exit section;</a:t>
            </a:r>
          </a:p>
          <a:p>
            <a:pPr marL="0" indent="0">
              <a:buNone/>
            </a:pPr>
            <a:r>
              <a:rPr lang="en-US" sz="2400" dirty="0" smtClean="0"/>
              <a:t>}</a:t>
            </a:r>
          </a:p>
          <a:p>
            <a:pPr marL="0" indent="0">
              <a:buNone/>
            </a:pPr>
            <a:endParaRPr lang="en-US" sz="2400" dirty="0"/>
          </a:p>
          <a:p>
            <a:pPr marL="0" indent="0">
              <a:buNone/>
            </a:pPr>
            <a:r>
              <a:rPr lang="en-US" sz="2400" dirty="0" smtClean="0"/>
              <a:t>Please note that the code above is inside a while(1) loop meaning that it will run for indefinite period. So analysis of ME, Progress, Bounded Wait has to be always done taking into account that the process may go into CS </a:t>
            </a:r>
            <a:r>
              <a:rPr lang="en-US" sz="2400" smtClean="0"/>
              <a:t>multiple times. </a:t>
            </a:r>
            <a:endParaRPr lang="en-IN" sz="2400" dirty="0"/>
          </a:p>
        </p:txBody>
      </p:sp>
    </p:spTree>
    <p:extLst>
      <p:ext uri="{BB962C8B-B14F-4D97-AF65-F5344CB8AC3E}">
        <p14:creationId xmlns:p14="http://schemas.microsoft.com/office/powerpoint/2010/main" val="56629621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914400" y="152400"/>
            <a:ext cx="7115264" cy="4176923"/>
          </a:xfrm>
          <a:prstGeom prst="rect">
            <a:avLst/>
          </a:prstGeom>
        </p:spPr>
      </p:pic>
      <p:pic>
        <p:nvPicPr>
          <p:cNvPr id="5" name="Picture 4"/>
          <p:cNvPicPr>
            <a:picLocks noChangeAspect="1"/>
          </p:cNvPicPr>
          <p:nvPr/>
        </p:nvPicPr>
        <p:blipFill>
          <a:blip r:embed="rId3"/>
          <a:stretch>
            <a:fillRect/>
          </a:stretch>
        </p:blipFill>
        <p:spPr>
          <a:xfrm>
            <a:off x="929640" y="4440675"/>
            <a:ext cx="7292246" cy="830237"/>
          </a:xfrm>
          <a:prstGeom prst="rect">
            <a:avLst/>
          </a:prstGeom>
        </p:spPr>
      </p:pic>
      <p:pic>
        <p:nvPicPr>
          <p:cNvPr id="6" name="Picture 5"/>
          <p:cNvPicPr>
            <a:picLocks noChangeAspect="1"/>
          </p:cNvPicPr>
          <p:nvPr/>
        </p:nvPicPr>
        <p:blipFill>
          <a:blip r:embed="rId4"/>
          <a:stretch>
            <a:fillRect/>
          </a:stretch>
        </p:blipFill>
        <p:spPr>
          <a:xfrm>
            <a:off x="2284141" y="5308083"/>
            <a:ext cx="6400800" cy="590632"/>
          </a:xfrm>
          <a:prstGeom prst="rect">
            <a:avLst/>
          </a:prstGeom>
        </p:spPr>
      </p:pic>
      <p:pic>
        <p:nvPicPr>
          <p:cNvPr id="7" name="Picture 6"/>
          <p:cNvPicPr>
            <a:picLocks noChangeAspect="1"/>
          </p:cNvPicPr>
          <p:nvPr/>
        </p:nvPicPr>
        <p:blipFill>
          <a:blip r:embed="rId5"/>
          <a:stretch>
            <a:fillRect/>
          </a:stretch>
        </p:blipFill>
        <p:spPr>
          <a:xfrm>
            <a:off x="1066800" y="6003882"/>
            <a:ext cx="6781800" cy="849384"/>
          </a:xfrm>
          <a:prstGeom prst="rect">
            <a:avLst/>
          </a:prstGeom>
        </p:spPr>
      </p:pic>
    </p:spTree>
    <p:extLst>
      <p:ext uri="{BB962C8B-B14F-4D97-AF65-F5344CB8AC3E}">
        <p14:creationId xmlns:p14="http://schemas.microsoft.com/office/powerpoint/2010/main" val="2223913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386230" y="-1"/>
            <a:ext cx="6928970" cy="3704167"/>
          </a:xfrm>
          <a:prstGeom prst="rect">
            <a:avLst/>
          </a:prstGeom>
        </p:spPr>
      </p:pic>
      <p:pic>
        <p:nvPicPr>
          <p:cNvPr id="5" name="Picture 4"/>
          <p:cNvPicPr>
            <a:picLocks noChangeAspect="1"/>
          </p:cNvPicPr>
          <p:nvPr/>
        </p:nvPicPr>
        <p:blipFill>
          <a:blip r:embed="rId3"/>
          <a:stretch>
            <a:fillRect/>
          </a:stretch>
        </p:blipFill>
        <p:spPr>
          <a:xfrm>
            <a:off x="3980985" y="2911050"/>
            <a:ext cx="5163015" cy="3397675"/>
          </a:xfrm>
          <a:prstGeom prst="rect">
            <a:avLst/>
          </a:prstGeom>
        </p:spPr>
      </p:pic>
      <p:pic>
        <p:nvPicPr>
          <p:cNvPr id="6" name="Picture 5"/>
          <p:cNvPicPr>
            <a:picLocks noChangeAspect="1"/>
          </p:cNvPicPr>
          <p:nvPr/>
        </p:nvPicPr>
        <p:blipFill>
          <a:blip r:embed="rId4"/>
          <a:stretch>
            <a:fillRect/>
          </a:stretch>
        </p:blipFill>
        <p:spPr>
          <a:xfrm>
            <a:off x="4191000" y="6137250"/>
            <a:ext cx="4495800" cy="431597"/>
          </a:xfrm>
          <a:prstGeom prst="rect">
            <a:avLst/>
          </a:prstGeom>
        </p:spPr>
      </p:pic>
    </p:spTree>
    <p:extLst>
      <p:ext uri="{BB962C8B-B14F-4D97-AF65-F5344CB8AC3E}">
        <p14:creationId xmlns:p14="http://schemas.microsoft.com/office/powerpoint/2010/main" val="4177919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6" name="Content Placeholder 5"/>
          <p:cNvPicPr>
            <a:picLocks noGrp="1" noChangeAspect="1"/>
          </p:cNvPicPr>
          <p:nvPr>
            <p:ph idx="1"/>
          </p:nvPr>
        </p:nvPicPr>
        <p:blipFill>
          <a:blip r:embed="rId2"/>
          <a:stretch>
            <a:fillRect/>
          </a:stretch>
        </p:blipFill>
        <p:spPr>
          <a:xfrm>
            <a:off x="1447800" y="3733800"/>
            <a:ext cx="6548029" cy="2642644"/>
          </a:xfrm>
          <a:prstGeom prst="rect">
            <a:avLst/>
          </a:prstGeom>
        </p:spPr>
      </p:pic>
      <p:pic>
        <p:nvPicPr>
          <p:cNvPr id="4" name="Picture 3"/>
          <p:cNvPicPr>
            <a:picLocks noChangeAspect="1"/>
          </p:cNvPicPr>
          <p:nvPr/>
        </p:nvPicPr>
        <p:blipFill>
          <a:blip r:embed="rId3"/>
          <a:stretch>
            <a:fillRect/>
          </a:stretch>
        </p:blipFill>
        <p:spPr>
          <a:xfrm>
            <a:off x="457200" y="152400"/>
            <a:ext cx="8382000" cy="2001108"/>
          </a:xfrm>
          <a:prstGeom prst="rect">
            <a:avLst/>
          </a:prstGeom>
        </p:spPr>
      </p:pic>
      <p:pic>
        <p:nvPicPr>
          <p:cNvPr id="5" name="Picture 4"/>
          <p:cNvPicPr>
            <a:picLocks noChangeAspect="1"/>
          </p:cNvPicPr>
          <p:nvPr/>
        </p:nvPicPr>
        <p:blipFill>
          <a:blip r:embed="rId4"/>
          <a:stretch>
            <a:fillRect/>
          </a:stretch>
        </p:blipFill>
        <p:spPr>
          <a:xfrm>
            <a:off x="1295400" y="2788055"/>
            <a:ext cx="3970128" cy="419749"/>
          </a:xfrm>
          <a:prstGeom prst="rect">
            <a:avLst/>
          </a:prstGeom>
        </p:spPr>
      </p:pic>
    </p:spTree>
    <p:extLst>
      <p:ext uri="{BB962C8B-B14F-4D97-AF65-F5344CB8AC3E}">
        <p14:creationId xmlns:p14="http://schemas.microsoft.com/office/powerpoint/2010/main" val="227180027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Picture 3"/>
          <p:cNvPicPr>
            <a:picLocks noChangeAspect="1"/>
          </p:cNvPicPr>
          <p:nvPr/>
        </p:nvPicPr>
        <p:blipFill>
          <a:blip r:embed="rId2"/>
          <a:stretch>
            <a:fillRect/>
          </a:stretch>
        </p:blipFill>
        <p:spPr>
          <a:xfrm>
            <a:off x="887649" y="35312"/>
            <a:ext cx="7368702" cy="4449762"/>
          </a:xfrm>
          <a:prstGeom prst="rect">
            <a:avLst/>
          </a:prstGeom>
        </p:spPr>
      </p:pic>
      <p:pic>
        <p:nvPicPr>
          <p:cNvPr id="5" name="Picture 4"/>
          <p:cNvPicPr>
            <a:picLocks noChangeAspect="1"/>
          </p:cNvPicPr>
          <p:nvPr/>
        </p:nvPicPr>
        <p:blipFill>
          <a:blip r:embed="rId3"/>
          <a:stretch>
            <a:fillRect/>
          </a:stretch>
        </p:blipFill>
        <p:spPr>
          <a:xfrm>
            <a:off x="685800" y="4724400"/>
            <a:ext cx="7757657" cy="914400"/>
          </a:xfrm>
          <a:prstGeom prst="rect">
            <a:avLst/>
          </a:prstGeom>
        </p:spPr>
      </p:pic>
      <p:pic>
        <p:nvPicPr>
          <p:cNvPr id="6" name="Picture 5"/>
          <p:cNvPicPr>
            <a:picLocks noChangeAspect="1"/>
          </p:cNvPicPr>
          <p:nvPr/>
        </p:nvPicPr>
        <p:blipFill>
          <a:blip r:embed="rId4"/>
          <a:stretch>
            <a:fillRect/>
          </a:stretch>
        </p:blipFill>
        <p:spPr>
          <a:xfrm>
            <a:off x="713678" y="5812696"/>
            <a:ext cx="7439722" cy="665812"/>
          </a:xfrm>
          <a:prstGeom prst="rect">
            <a:avLst/>
          </a:prstGeom>
        </p:spPr>
      </p:pic>
    </p:spTree>
    <p:extLst>
      <p:ext uri="{BB962C8B-B14F-4D97-AF65-F5344CB8AC3E}">
        <p14:creationId xmlns:p14="http://schemas.microsoft.com/office/powerpoint/2010/main" val="4096858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85800" y="0"/>
            <a:ext cx="7573040" cy="4965714"/>
          </a:xfrm>
          <a:prstGeom prst="rect">
            <a:avLst/>
          </a:prstGeom>
        </p:spPr>
      </p:pic>
      <p:pic>
        <p:nvPicPr>
          <p:cNvPr id="5" name="Picture 4"/>
          <p:cNvPicPr>
            <a:picLocks noChangeAspect="1"/>
          </p:cNvPicPr>
          <p:nvPr/>
        </p:nvPicPr>
        <p:blipFill>
          <a:blip r:embed="rId3"/>
          <a:stretch>
            <a:fillRect/>
          </a:stretch>
        </p:blipFill>
        <p:spPr>
          <a:xfrm>
            <a:off x="1295400" y="5257800"/>
            <a:ext cx="6803920" cy="1219200"/>
          </a:xfrm>
          <a:prstGeom prst="rect">
            <a:avLst/>
          </a:prstGeom>
        </p:spPr>
      </p:pic>
    </p:spTree>
    <p:extLst>
      <p:ext uri="{BB962C8B-B14F-4D97-AF65-F5344CB8AC3E}">
        <p14:creationId xmlns:p14="http://schemas.microsoft.com/office/powerpoint/2010/main" val="1147961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06963" y="246378"/>
            <a:ext cx="6730074" cy="3614944"/>
          </a:xfrm>
          <a:prstGeom prst="rect">
            <a:avLst/>
          </a:prstGeom>
        </p:spPr>
      </p:pic>
      <p:pic>
        <p:nvPicPr>
          <p:cNvPr id="5" name="Picture 4"/>
          <p:cNvPicPr>
            <a:picLocks noChangeAspect="1"/>
          </p:cNvPicPr>
          <p:nvPr/>
        </p:nvPicPr>
        <p:blipFill>
          <a:blip r:embed="rId3"/>
          <a:stretch>
            <a:fillRect/>
          </a:stretch>
        </p:blipFill>
        <p:spPr>
          <a:xfrm>
            <a:off x="542339" y="4572000"/>
            <a:ext cx="8059321" cy="1357184"/>
          </a:xfrm>
          <a:prstGeom prst="rect">
            <a:avLst/>
          </a:prstGeom>
        </p:spPr>
      </p:pic>
    </p:spTree>
    <p:extLst>
      <p:ext uri="{BB962C8B-B14F-4D97-AF65-F5344CB8AC3E}">
        <p14:creationId xmlns:p14="http://schemas.microsoft.com/office/powerpoint/2010/main" val="461070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304801" y="3722748"/>
            <a:ext cx="6019800" cy="2201270"/>
          </a:xfrm>
          <a:prstGeom prst="rect">
            <a:avLst/>
          </a:prstGeom>
        </p:spPr>
      </p:pic>
      <p:pic>
        <p:nvPicPr>
          <p:cNvPr id="5" name="Picture 4"/>
          <p:cNvPicPr>
            <a:picLocks noChangeAspect="1"/>
          </p:cNvPicPr>
          <p:nvPr/>
        </p:nvPicPr>
        <p:blipFill>
          <a:blip r:embed="rId3"/>
          <a:stretch>
            <a:fillRect/>
          </a:stretch>
        </p:blipFill>
        <p:spPr>
          <a:xfrm>
            <a:off x="3486902" y="274638"/>
            <a:ext cx="3080863" cy="2316162"/>
          </a:xfrm>
          <a:prstGeom prst="rect">
            <a:avLst/>
          </a:prstGeom>
        </p:spPr>
      </p:pic>
      <p:pic>
        <p:nvPicPr>
          <p:cNvPr id="6" name="Picture 5"/>
          <p:cNvPicPr>
            <a:picLocks noChangeAspect="1"/>
          </p:cNvPicPr>
          <p:nvPr/>
        </p:nvPicPr>
        <p:blipFill>
          <a:blip r:embed="rId4"/>
          <a:stretch>
            <a:fillRect/>
          </a:stretch>
        </p:blipFill>
        <p:spPr>
          <a:xfrm>
            <a:off x="1668454" y="2822594"/>
            <a:ext cx="7053658" cy="900153"/>
          </a:xfrm>
          <a:prstGeom prst="rect">
            <a:avLst/>
          </a:prstGeom>
        </p:spPr>
      </p:pic>
      <p:pic>
        <p:nvPicPr>
          <p:cNvPr id="7" name="Picture 6"/>
          <p:cNvPicPr>
            <a:picLocks noChangeAspect="1"/>
          </p:cNvPicPr>
          <p:nvPr/>
        </p:nvPicPr>
        <p:blipFill>
          <a:blip r:embed="rId5"/>
          <a:stretch>
            <a:fillRect/>
          </a:stretch>
        </p:blipFill>
        <p:spPr>
          <a:xfrm>
            <a:off x="2906598" y="6009222"/>
            <a:ext cx="5852685" cy="697470"/>
          </a:xfrm>
          <a:prstGeom prst="rect">
            <a:avLst/>
          </a:prstGeom>
        </p:spPr>
      </p:pic>
    </p:spTree>
    <p:extLst>
      <p:ext uri="{BB962C8B-B14F-4D97-AF65-F5344CB8AC3E}">
        <p14:creationId xmlns:p14="http://schemas.microsoft.com/office/powerpoint/2010/main" val="3235762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152400" y="152400"/>
            <a:ext cx="3658111" cy="4344006"/>
          </a:xfrm>
          <a:prstGeom prst="rect">
            <a:avLst/>
          </a:prstGeom>
        </p:spPr>
      </p:pic>
      <p:pic>
        <p:nvPicPr>
          <p:cNvPr id="5" name="Picture 4"/>
          <p:cNvPicPr>
            <a:picLocks noChangeAspect="1"/>
          </p:cNvPicPr>
          <p:nvPr/>
        </p:nvPicPr>
        <p:blipFill>
          <a:blip r:embed="rId3"/>
          <a:stretch>
            <a:fillRect/>
          </a:stretch>
        </p:blipFill>
        <p:spPr>
          <a:xfrm>
            <a:off x="1371600" y="4378337"/>
            <a:ext cx="7406169" cy="932947"/>
          </a:xfrm>
          <a:prstGeom prst="rect">
            <a:avLst/>
          </a:prstGeom>
        </p:spPr>
      </p:pic>
      <p:pic>
        <p:nvPicPr>
          <p:cNvPr id="6" name="Picture 5"/>
          <p:cNvPicPr>
            <a:picLocks noChangeAspect="1"/>
          </p:cNvPicPr>
          <p:nvPr/>
        </p:nvPicPr>
        <p:blipFill>
          <a:blip r:embed="rId4"/>
          <a:stretch>
            <a:fillRect/>
          </a:stretch>
        </p:blipFill>
        <p:spPr>
          <a:xfrm>
            <a:off x="1828800" y="5311284"/>
            <a:ext cx="6553200" cy="1205381"/>
          </a:xfrm>
          <a:prstGeom prst="rect">
            <a:avLst/>
          </a:prstGeom>
        </p:spPr>
      </p:pic>
    </p:spTree>
    <p:extLst>
      <p:ext uri="{BB962C8B-B14F-4D97-AF65-F5344CB8AC3E}">
        <p14:creationId xmlns:p14="http://schemas.microsoft.com/office/powerpoint/2010/main" val="2147726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 name="Picture 3"/>
          <p:cNvPicPr>
            <a:picLocks noChangeAspect="1"/>
          </p:cNvPicPr>
          <p:nvPr/>
        </p:nvPicPr>
        <p:blipFill>
          <a:blip r:embed="rId2"/>
          <a:stretch>
            <a:fillRect/>
          </a:stretch>
        </p:blipFill>
        <p:spPr>
          <a:xfrm>
            <a:off x="24161" y="152400"/>
            <a:ext cx="5337668" cy="2892601"/>
          </a:xfrm>
          <a:prstGeom prst="rect">
            <a:avLst/>
          </a:prstGeom>
        </p:spPr>
      </p:pic>
      <p:pic>
        <p:nvPicPr>
          <p:cNvPr id="5" name="Picture 4"/>
          <p:cNvPicPr>
            <a:picLocks noChangeAspect="1"/>
          </p:cNvPicPr>
          <p:nvPr/>
        </p:nvPicPr>
        <p:blipFill>
          <a:blip r:embed="rId3"/>
          <a:stretch>
            <a:fillRect/>
          </a:stretch>
        </p:blipFill>
        <p:spPr>
          <a:xfrm>
            <a:off x="24162" y="2974949"/>
            <a:ext cx="5367010" cy="1292251"/>
          </a:xfrm>
          <a:prstGeom prst="rect">
            <a:avLst/>
          </a:prstGeom>
        </p:spPr>
      </p:pic>
      <p:pic>
        <p:nvPicPr>
          <p:cNvPr id="6" name="Picture 5"/>
          <p:cNvPicPr>
            <a:picLocks noChangeAspect="1"/>
          </p:cNvPicPr>
          <p:nvPr/>
        </p:nvPicPr>
        <p:blipFill>
          <a:blip r:embed="rId4"/>
          <a:stretch>
            <a:fillRect/>
          </a:stretch>
        </p:blipFill>
        <p:spPr>
          <a:xfrm>
            <a:off x="4572000" y="4060978"/>
            <a:ext cx="4220100" cy="2606846"/>
          </a:xfrm>
          <a:prstGeom prst="rect">
            <a:avLst/>
          </a:prstGeom>
        </p:spPr>
      </p:pic>
    </p:spTree>
    <p:extLst>
      <p:ext uri="{BB962C8B-B14F-4D97-AF65-F5344CB8AC3E}">
        <p14:creationId xmlns:p14="http://schemas.microsoft.com/office/powerpoint/2010/main" val="732430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914400" y="274638"/>
            <a:ext cx="8171880" cy="1554162"/>
          </a:xfrm>
          <a:prstGeom prst="rect">
            <a:avLst/>
          </a:prstGeom>
        </p:spPr>
      </p:pic>
      <p:pic>
        <p:nvPicPr>
          <p:cNvPr id="5" name="Picture 4"/>
          <p:cNvPicPr>
            <a:picLocks noChangeAspect="1"/>
          </p:cNvPicPr>
          <p:nvPr/>
        </p:nvPicPr>
        <p:blipFill>
          <a:blip r:embed="rId3"/>
          <a:stretch>
            <a:fillRect/>
          </a:stretch>
        </p:blipFill>
        <p:spPr>
          <a:xfrm>
            <a:off x="616132" y="2922557"/>
            <a:ext cx="8455280" cy="1881248"/>
          </a:xfrm>
          <a:prstGeom prst="rect">
            <a:avLst/>
          </a:prstGeom>
        </p:spPr>
      </p:pic>
    </p:spTree>
    <p:extLst>
      <p:ext uri="{BB962C8B-B14F-4D97-AF65-F5344CB8AC3E}">
        <p14:creationId xmlns:p14="http://schemas.microsoft.com/office/powerpoint/2010/main" val="2440078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35429</TotalTime>
  <Words>1447</Words>
  <Application>Microsoft Office PowerPoint</Application>
  <PresentationFormat>On-screen Show (4:3)</PresentationFormat>
  <Paragraphs>384</Paragraphs>
  <Slides>44</Slides>
  <Notes>21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44</vt:i4>
      </vt:variant>
    </vt:vector>
  </HeadingPairs>
  <TitlesOfParts>
    <vt:vector size="54" baseType="lpstr">
      <vt:lpstr>ＭＳ Ｐゴシック</vt:lpstr>
      <vt:lpstr>ＭＳ Ｐゴシック</vt:lpstr>
      <vt:lpstr>Arial</vt:lpstr>
      <vt:lpstr>Helvetica</vt:lpstr>
      <vt:lpstr>Monotype Sorts</vt:lpstr>
      <vt:lpstr>Symbol</vt:lpstr>
      <vt:lpstr>Times New Roman</vt:lpstr>
      <vt:lpstr>Webdings</vt:lpstr>
      <vt:lpstr>Wingdings</vt:lpstr>
      <vt:lpstr>Default Design</vt:lpstr>
      <vt:lpstr>Deadlocks</vt:lpstr>
      <vt:lpstr>Summary of what we discussed</vt:lpstr>
      <vt:lpstr>Resource Allocation Graph With A Deadlock</vt:lpstr>
      <vt:lpstr>Graph With A Cycle But No Deadlock</vt:lpstr>
      <vt:lpstr>Conditions for Resource Deadlocks</vt:lpstr>
      <vt:lpstr>Handling Deadlocks</vt:lpstr>
      <vt:lpstr>Deadlock Avoidance</vt:lpstr>
      <vt:lpstr>Deadlock Avoidance</vt:lpstr>
      <vt:lpstr>Deadlock Avoidance</vt:lpstr>
      <vt:lpstr>Deadlock Avoidance</vt:lpstr>
      <vt:lpstr>Deadlock Avoidance</vt:lpstr>
      <vt:lpstr>Deadlock Avoidance</vt:lpstr>
      <vt:lpstr>Deadlock Avoidance</vt:lpstr>
      <vt:lpstr>Safe State</vt:lpstr>
      <vt:lpstr>Basic Facts</vt:lpstr>
      <vt:lpstr>Safe, Unsafe, Deadlock State </vt:lpstr>
      <vt:lpstr>Avoidance Algorithms</vt:lpstr>
      <vt:lpstr>Resource-Allocation Graph Scheme</vt:lpstr>
      <vt:lpstr>Resource-Allocation Graph</vt:lpstr>
      <vt:lpstr>Unsafe State In Resource-Allocation Graph</vt:lpstr>
      <vt:lpstr>Resource-Allocation Graph Algorithm</vt:lpstr>
      <vt:lpstr>Banker’s Algorithm</vt:lpstr>
      <vt:lpstr>Example with a Banker</vt:lpstr>
      <vt:lpstr>Safe State</vt:lpstr>
      <vt:lpstr>Unsafe State</vt:lpstr>
      <vt:lpstr>Data Structures for the Banker’s Algorithm </vt:lpstr>
      <vt:lpstr>Safety Algorithm</vt:lpstr>
      <vt:lpstr>PowerPoint Presentation</vt:lpstr>
      <vt:lpstr>Resource-Request Algorithm for Process Pi</vt:lpstr>
      <vt:lpstr>Example of Banker’s Algorithm</vt:lpstr>
      <vt:lpstr>Example (Cont.)</vt:lpstr>
      <vt:lpstr>Example:  P1 Request (1,0,2)</vt:lpstr>
      <vt:lpstr>Banker’s Algorithm</vt:lpstr>
      <vt:lpstr>A point to discuss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IITM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 : IPCs and Synchronization</dc:title>
  <dc:creator>Chester Rebeiro</dc:creator>
  <cp:lastModifiedBy>PC</cp:lastModifiedBy>
  <cp:revision>1460</cp:revision>
  <dcterms:created xsi:type="dcterms:W3CDTF">2015-06-10T11:04:16Z</dcterms:created>
  <dcterms:modified xsi:type="dcterms:W3CDTF">2026-02-16T17:24:03Z</dcterms:modified>
</cp:coreProperties>
</file>