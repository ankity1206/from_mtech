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46"/>
  </p:notesMasterIdLst>
  <p:sldIdLst>
    <p:sldId id="290" r:id="rId2"/>
    <p:sldId id="291" r:id="rId3"/>
    <p:sldId id="292" r:id="rId4"/>
    <p:sldId id="293" r:id="rId5"/>
    <p:sldId id="294" r:id="rId6"/>
    <p:sldId id="295" r:id="rId7"/>
    <p:sldId id="296" r:id="rId8"/>
    <p:sldId id="297" r:id="rId9"/>
    <p:sldId id="298" r:id="rId10"/>
    <p:sldId id="299" r:id="rId11"/>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 id="280" r:id="rId36"/>
    <p:sldId id="281" r:id="rId37"/>
    <p:sldId id="282" r:id="rId38"/>
    <p:sldId id="283" r:id="rId39"/>
    <p:sldId id="284" r:id="rId40"/>
    <p:sldId id="285" r:id="rId41"/>
    <p:sldId id="286" r:id="rId42"/>
    <p:sldId id="287" r:id="rId43"/>
    <p:sldId id="288" r:id="rId44"/>
    <p:sldId id="289" r:id="rId45"/>
  </p:sldIdLst>
  <p:sldSz cx="9144000" cy="5143500" type="screen16x9"/>
  <p:notesSz cx="6858000" cy="9144000"/>
  <p:embeddedFontLst>
    <p:embeddedFont>
      <p:font typeface="Roboto Mono" panose="00000009000000000000" pitchFamily="49" charset="0"/>
      <p:regular r:id="rId47"/>
      <p:bold r:id="rId48"/>
      <p:italic r:id="rId49"/>
      <p:boldItalic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7" d="100"/>
          <a:sy n="97" d="100"/>
        </p:scale>
        <p:origin x="1042"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1.fntdata"/><Relationship Id="rId50" Type="http://schemas.openxmlformats.org/officeDocument/2006/relationships/font" Target="fonts/font4.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2.fntdata"/><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3c8a90eb2ec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c8a90eb2ec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3c8a90eb2ec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c8a90eb2ec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3c8a90eb2ec_0_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3c8a90eb2ec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3c8a90eb2ec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3c8a90eb2ec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c8a90eb2e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3c8a90eb2e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3c8a90eb2ec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3c8a90eb2ec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bef28afea1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3bef28afea1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bef28afea1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3bef28afea1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c8a90eb2ec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3c8a90eb2ec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bef28afea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3bef28afea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c8f504acf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3c8f504acf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c8f504acf0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3c8f504acf0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3c8f504acf0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3c8f504acf0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c8f504acf0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3c8f504acf0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c8f504acf0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3c8f504acf0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3c8f504acf0_0_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3c8f504acf0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3c8f504acf0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3c8f504acf0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c8f504acf0_0_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3c8f504acf0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3c8f504acf0_1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3c8f504acf0_1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3c8f504acf0_1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3c8f504acf0_1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3c8f504acf0_1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g3c8f504acf0_1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3c8f504acf0_1_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 name="Google Shape;214;g3c8f504acf0_1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3c8a90eb2ec_0_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 name="Google Shape;220;g3c8a90eb2ec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c8a90eb2ec_0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3c8a90eb2ec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3c8a90eb2ec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 name="Google Shape;255;g3c8a90eb2ec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3c8a90eb2ec_0_1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3c8a90eb2ec_0_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3c8a90eb2ec_0_1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 name="Google Shape;287;g3c8a90eb2ec_0_1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3c8a90eb2ec_0_1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3c8a90eb2ec_0_1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3c8a90eb2ec_0_1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3c8a90eb2ec_0_1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3c8a90eb2ec_0_1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5" name="Google Shape;305;g3c8a90eb2ec_0_1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3c8a90eb2ec_0_1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3" name="Google Shape;313;g3c8a90eb2ec_0_1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g3c8a90eb2ec_0_1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9" name="Google Shape;319;g3c8a90eb2ec_0_1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3c8a90eb2ec_0_1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5" name="Google Shape;325;g3c8a90eb2ec_0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215C233-825E-4D88-9F90-DA9F65AC63BD}" type="datetimeFigureOut">
              <a:rPr lang="en-IN" smtClean="0"/>
              <a:t>20-02-2026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2C0B68A-2D66-4AD0-BF2D-FC8B3786EF61}" type="slidenum">
              <a:rPr lang="en-IN" smtClean="0"/>
              <a:t>‹#›</a:t>
            </a:fld>
            <a:endParaRPr lang="en-IN"/>
          </a:p>
        </p:txBody>
      </p:sp>
    </p:spTree>
    <p:extLst>
      <p:ext uri="{BB962C8B-B14F-4D97-AF65-F5344CB8AC3E}">
        <p14:creationId xmlns:p14="http://schemas.microsoft.com/office/powerpoint/2010/main" val="41487015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hyperlink" Target="https://gateoverflow.in/?qa=blob&amp;qa_blobid=4963628224471332663" TargetMode="External"/><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DB497-7B3C-916C-E365-F294F47365EA}"/>
              </a:ext>
            </a:extLst>
          </p:cNvPr>
          <p:cNvSpPr>
            <a:spLocks noGrp="1"/>
          </p:cNvSpPr>
          <p:nvPr>
            <p:ph type="title"/>
          </p:nvPr>
        </p:nvSpPr>
        <p:spPr/>
        <p:txBody>
          <a:bodyPr>
            <a:normAutofit fontScale="90000"/>
          </a:bodyPr>
          <a:lstStyle/>
          <a:p>
            <a:r>
              <a:rPr lang="en-US" sz="4400" dirty="0">
                <a:latin typeface="Times New Roman" panose="02020603050405020304" pitchFamily="18" charset="0"/>
                <a:cs typeface="Times New Roman" panose="02020603050405020304" pitchFamily="18" charset="0"/>
              </a:rPr>
              <a:t>Miscellaneous Practice Problems</a:t>
            </a:r>
            <a:endParaRPr lang="en-IN" sz="4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90241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78599" y="1125843"/>
            <a:ext cx="8248742" cy="3106271"/>
          </a:xfrm>
          <a:prstGeom prst="rect">
            <a:avLst/>
          </a:prstGeom>
        </p:spPr>
      </p:pic>
      <p:sp>
        <p:nvSpPr>
          <p:cNvPr id="6" name="TextBox 5"/>
          <p:cNvSpPr txBox="1"/>
          <p:nvPr/>
        </p:nvSpPr>
        <p:spPr>
          <a:xfrm>
            <a:off x="549613" y="4432962"/>
            <a:ext cx="4844375" cy="507831"/>
          </a:xfrm>
          <a:prstGeom prst="rect">
            <a:avLst/>
          </a:prstGeom>
          <a:noFill/>
        </p:spPr>
        <p:txBody>
          <a:bodyPr wrap="square" rtlCol="0">
            <a:spAutoFit/>
          </a:bodyPr>
          <a:lstStyle/>
          <a:p>
            <a:r>
              <a:rPr lang="en-IN" sz="2700" dirty="0"/>
              <a:t>Can this program print x = 10?</a:t>
            </a:r>
          </a:p>
        </p:txBody>
      </p:sp>
      <p:pic>
        <p:nvPicPr>
          <p:cNvPr id="7" name="Picture 6"/>
          <p:cNvPicPr>
            <a:picLocks noChangeAspect="1"/>
          </p:cNvPicPr>
          <p:nvPr/>
        </p:nvPicPr>
        <p:blipFill>
          <a:blip r:embed="rId3"/>
          <a:stretch>
            <a:fillRect/>
          </a:stretch>
        </p:blipFill>
        <p:spPr>
          <a:xfrm>
            <a:off x="6502940" y="1067736"/>
            <a:ext cx="2641060" cy="2005452"/>
          </a:xfrm>
          <a:prstGeom prst="rect">
            <a:avLst/>
          </a:prstGeom>
        </p:spPr>
      </p:pic>
      <p:sp>
        <p:nvSpPr>
          <p:cNvPr id="2" name="Title 1">
            <a:extLst>
              <a:ext uri="{FF2B5EF4-FFF2-40B4-BE49-F238E27FC236}">
                <a16:creationId xmlns:a16="http://schemas.microsoft.com/office/drawing/2014/main" id="{72C23D5F-9BC7-D140-DE09-364D81D1CA92}"/>
              </a:ext>
            </a:extLst>
          </p:cNvPr>
          <p:cNvSpPr txBox="1">
            <a:spLocks/>
          </p:cNvSpPr>
          <p:nvPr/>
        </p:nvSpPr>
        <p:spPr>
          <a:xfrm>
            <a:off x="311700" y="445025"/>
            <a:ext cx="8520600" cy="572700"/>
          </a:xfrm>
          <a:prstGeom prst="rect">
            <a:avLst/>
          </a:prstGeom>
          <a:noFill/>
          <a:ln>
            <a:noFill/>
          </a:ln>
        </p:spPr>
        <p:txBody>
          <a:bodyPr spcFirstLastPara="1" wrap="square" lIns="91425" tIns="91425" rIns="91425" bIns="91425" anchor="b" anchorCtr="0">
            <a:normAutofit fontScale="60000" lnSpcReduction="20000"/>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9pPr>
          </a:lstStyle>
          <a:p>
            <a:pPr algn="l"/>
            <a:r>
              <a:rPr lang="en-US" dirty="0">
                <a:latin typeface="Times New Roman" panose="02020603050405020304" pitchFamily="18" charset="0"/>
                <a:cs typeface="Times New Roman" panose="02020603050405020304" pitchFamily="18" charset="0"/>
              </a:rPr>
              <a:t>Problem 1</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10094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Problem 2</a:t>
            </a:r>
            <a:endParaRPr lang="en-IN"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248638" y="1373550"/>
            <a:ext cx="8139494" cy="2396399"/>
          </a:xfrm>
          <a:prstGeom prst="rect">
            <a:avLst/>
          </a:prstGeom>
        </p:spPr>
      </p:pic>
      <p:sp>
        <p:nvSpPr>
          <p:cNvPr id="6" name="TextBox 5"/>
          <p:cNvSpPr txBox="1"/>
          <p:nvPr/>
        </p:nvSpPr>
        <p:spPr>
          <a:xfrm>
            <a:off x="1138137" y="3852153"/>
            <a:ext cx="957313" cy="253916"/>
          </a:xfrm>
          <a:prstGeom prst="rect">
            <a:avLst/>
          </a:prstGeom>
          <a:noFill/>
        </p:spPr>
        <p:txBody>
          <a:bodyPr wrap="none" rtlCol="0">
            <a:spAutoFit/>
          </a:bodyPr>
          <a:lstStyle/>
          <a:p>
            <a:r>
              <a:rPr lang="en-IN" sz="1050" dirty="0"/>
              <a:t>Not progress</a:t>
            </a:r>
          </a:p>
        </p:txBody>
      </p:sp>
    </p:spTree>
    <p:extLst>
      <p:ext uri="{BB962C8B-B14F-4D97-AF65-F5344CB8AC3E}">
        <p14:creationId xmlns:p14="http://schemas.microsoft.com/office/powerpoint/2010/main" val="39763396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113897" y="850017"/>
            <a:ext cx="4231532" cy="4293483"/>
          </a:xfrm>
          <a:prstGeom prst="rect">
            <a:avLst/>
          </a:prstGeom>
          <a:noFill/>
        </p:spPr>
        <p:txBody>
          <a:bodyPr wrap="square" rtlCol="0">
            <a:spAutoFit/>
          </a:bodyPr>
          <a:lstStyle/>
          <a:p>
            <a:r>
              <a:rPr lang="en-IN" sz="2100" dirty="0" err="1"/>
              <a:t>int</a:t>
            </a:r>
            <a:r>
              <a:rPr lang="en-IN" sz="2100" dirty="0"/>
              <a:t> </a:t>
            </a:r>
            <a:r>
              <a:rPr lang="en-IN" sz="2100" dirty="0" err="1"/>
              <a:t>inCS</a:t>
            </a:r>
            <a:r>
              <a:rPr lang="en-IN" sz="2100" dirty="0"/>
              <a:t>[] = { ?}; </a:t>
            </a:r>
            <a:r>
              <a:rPr lang="en-IN" sz="2100" dirty="0" err="1"/>
              <a:t>int</a:t>
            </a:r>
            <a:r>
              <a:rPr lang="en-IN" sz="2100" dirty="0"/>
              <a:t> turn = 0;</a:t>
            </a:r>
          </a:p>
          <a:p>
            <a:endParaRPr lang="en-IN" sz="2100" dirty="0"/>
          </a:p>
          <a:p>
            <a:r>
              <a:rPr lang="en-IN" sz="2100" i="1" dirty="0" err="1"/>
              <a:t>entrySection</a:t>
            </a:r>
            <a:r>
              <a:rPr lang="en-IN" sz="2100" i="1" dirty="0"/>
              <a:t> for </a:t>
            </a:r>
            <a:r>
              <a:rPr lang="en-IN" sz="2100" i="1" dirty="0" err="1"/>
              <a:t>P_i</a:t>
            </a:r>
            <a:r>
              <a:rPr lang="en-IN" sz="2100" dirty="0"/>
              <a:t> </a:t>
            </a:r>
          </a:p>
          <a:p>
            <a:r>
              <a:rPr lang="en-IN" sz="2100" dirty="0"/>
              <a:t>	</a:t>
            </a:r>
            <a:r>
              <a:rPr lang="en-IN" sz="2100" dirty="0" err="1"/>
              <a:t>int</a:t>
            </a:r>
            <a:r>
              <a:rPr lang="en-IN" sz="2100" dirty="0"/>
              <a:t> j = ?;</a:t>
            </a:r>
          </a:p>
          <a:p>
            <a:r>
              <a:rPr lang="en-IN" sz="2100" dirty="0"/>
              <a:t>	</a:t>
            </a:r>
            <a:r>
              <a:rPr lang="en-IN" sz="2100" dirty="0" err="1"/>
              <a:t>int</a:t>
            </a:r>
            <a:r>
              <a:rPr lang="en-IN" sz="2100" dirty="0"/>
              <a:t> k = ?;</a:t>
            </a:r>
          </a:p>
          <a:p>
            <a:endParaRPr lang="en-IN" sz="2100" dirty="0"/>
          </a:p>
          <a:p>
            <a:r>
              <a:rPr lang="en-IN" sz="2100" dirty="0"/>
              <a:t>	</a:t>
            </a:r>
            <a:r>
              <a:rPr lang="en-IN" sz="2100" dirty="0" err="1"/>
              <a:t>inCS</a:t>
            </a:r>
            <a:r>
              <a:rPr lang="en-IN" sz="2100" dirty="0"/>
              <a:t>[</a:t>
            </a:r>
            <a:r>
              <a:rPr lang="en-IN" sz="2100" dirty="0" err="1"/>
              <a:t>i</a:t>
            </a:r>
            <a:r>
              <a:rPr lang="en-IN" sz="2100" dirty="0"/>
              <a:t>] = ?;</a:t>
            </a:r>
          </a:p>
          <a:p>
            <a:r>
              <a:rPr lang="en-IN" sz="2100" dirty="0"/>
              <a:t>	turn = ?;</a:t>
            </a:r>
          </a:p>
          <a:p>
            <a:r>
              <a:rPr lang="en-IN" sz="2100" dirty="0"/>
              <a:t>	</a:t>
            </a:r>
          </a:p>
          <a:p>
            <a:r>
              <a:rPr lang="en-IN" sz="2100" dirty="0"/>
              <a:t>	while ( ? &amp;&amp; ??);</a:t>
            </a:r>
          </a:p>
          <a:p>
            <a:r>
              <a:rPr lang="en-IN" sz="2100" dirty="0"/>
              <a:t>/* CS */</a:t>
            </a:r>
          </a:p>
          <a:p>
            <a:r>
              <a:rPr lang="en-IN" sz="2100" dirty="0" err="1"/>
              <a:t>exitSection</a:t>
            </a:r>
            <a:r>
              <a:rPr lang="en-IN" sz="2100" dirty="0"/>
              <a:t> for </a:t>
            </a:r>
            <a:r>
              <a:rPr lang="en-IN" sz="2100" dirty="0" err="1"/>
              <a:t>P_i</a:t>
            </a:r>
            <a:endParaRPr lang="en-IN" sz="2100" dirty="0"/>
          </a:p>
          <a:p>
            <a:r>
              <a:rPr lang="en-IN" sz="2100" dirty="0"/>
              <a:t>	</a:t>
            </a:r>
            <a:r>
              <a:rPr lang="en-IN" sz="2100" dirty="0" err="1"/>
              <a:t>inCS</a:t>
            </a:r>
            <a:r>
              <a:rPr lang="en-IN" sz="2100" dirty="0"/>
              <a:t>[</a:t>
            </a:r>
            <a:r>
              <a:rPr lang="en-IN" sz="2100" dirty="0" err="1"/>
              <a:t>i</a:t>
            </a:r>
            <a:r>
              <a:rPr lang="en-IN" sz="2100" dirty="0"/>
              <a:t>] = 0;</a:t>
            </a:r>
          </a:p>
        </p:txBody>
      </p:sp>
      <p:sp>
        <p:nvSpPr>
          <p:cNvPr id="8" name="TextBox 7"/>
          <p:cNvSpPr txBox="1"/>
          <p:nvPr/>
        </p:nvSpPr>
        <p:spPr>
          <a:xfrm>
            <a:off x="14592" y="787856"/>
            <a:ext cx="4946515" cy="4293483"/>
          </a:xfrm>
          <a:prstGeom prst="rect">
            <a:avLst/>
          </a:prstGeom>
          <a:noFill/>
        </p:spPr>
        <p:txBody>
          <a:bodyPr wrap="square" rtlCol="0">
            <a:spAutoFit/>
          </a:bodyPr>
          <a:lstStyle/>
          <a:p>
            <a:r>
              <a:rPr lang="en-IN" sz="2100" dirty="0" err="1"/>
              <a:t>int</a:t>
            </a:r>
            <a:r>
              <a:rPr lang="en-IN" sz="2100" dirty="0"/>
              <a:t> </a:t>
            </a:r>
            <a:r>
              <a:rPr lang="en-IN" sz="2100" dirty="0" err="1"/>
              <a:t>inCS</a:t>
            </a:r>
            <a:r>
              <a:rPr lang="en-IN" sz="2100" dirty="0"/>
              <a:t>[] = { 0, 0}; </a:t>
            </a:r>
            <a:r>
              <a:rPr lang="en-IN" sz="2100" dirty="0" err="1"/>
              <a:t>int</a:t>
            </a:r>
            <a:r>
              <a:rPr lang="en-IN" sz="2100" dirty="0"/>
              <a:t> turn = 0;</a:t>
            </a:r>
          </a:p>
          <a:p>
            <a:endParaRPr lang="en-IN" sz="2100" dirty="0"/>
          </a:p>
          <a:p>
            <a:r>
              <a:rPr lang="en-IN" sz="2100" i="1" dirty="0" err="1"/>
              <a:t>entrySection</a:t>
            </a:r>
            <a:r>
              <a:rPr lang="en-IN" sz="2100" i="1" dirty="0"/>
              <a:t> for </a:t>
            </a:r>
            <a:r>
              <a:rPr lang="en-IN" sz="2100" i="1" dirty="0" err="1"/>
              <a:t>P_i</a:t>
            </a:r>
            <a:r>
              <a:rPr lang="en-IN" sz="2100" dirty="0"/>
              <a:t> </a:t>
            </a:r>
          </a:p>
          <a:p>
            <a:r>
              <a:rPr lang="en-IN" sz="2100" dirty="0"/>
              <a:t>	</a:t>
            </a:r>
          </a:p>
          <a:p>
            <a:r>
              <a:rPr lang="en-IN" sz="2100" dirty="0"/>
              <a:t>	</a:t>
            </a:r>
            <a:r>
              <a:rPr lang="en-IN" sz="2100" dirty="0" err="1"/>
              <a:t>inCS</a:t>
            </a:r>
            <a:r>
              <a:rPr lang="en-IN" sz="2100" dirty="0"/>
              <a:t>[</a:t>
            </a:r>
            <a:r>
              <a:rPr lang="en-IN" sz="2100" dirty="0" err="1"/>
              <a:t>i</a:t>
            </a:r>
            <a:r>
              <a:rPr lang="en-IN" sz="2100" dirty="0"/>
              <a:t>] = 1;</a:t>
            </a:r>
          </a:p>
          <a:p>
            <a:r>
              <a:rPr lang="en-IN" sz="2100" dirty="0"/>
              <a:t>	turn = 1 - </a:t>
            </a:r>
            <a:r>
              <a:rPr lang="en-IN" sz="2100" dirty="0" err="1"/>
              <a:t>i</a:t>
            </a:r>
            <a:r>
              <a:rPr lang="en-IN" sz="2100" dirty="0"/>
              <a:t>;</a:t>
            </a:r>
          </a:p>
          <a:p>
            <a:r>
              <a:rPr lang="en-IN" sz="2100" dirty="0"/>
              <a:t>	while (</a:t>
            </a:r>
            <a:r>
              <a:rPr lang="en-IN" sz="2100" dirty="0" err="1"/>
              <a:t>inCS</a:t>
            </a:r>
            <a:r>
              <a:rPr lang="en-IN" sz="2100" dirty="0"/>
              <a:t>[1-i] == 1 &amp;&amp; turn == 1 - </a:t>
            </a:r>
            <a:r>
              <a:rPr lang="en-IN" sz="2100" dirty="0" err="1"/>
              <a:t>i</a:t>
            </a:r>
            <a:r>
              <a:rPr lang="en-IN" sz="2100" dirty="0"/>
              <a:t>);</a:t>
            </a:r>
          </a:p>
          <a:p>
            <a:endParaRPr lang="en-IN" sz="2100" dirty="0"/>
          </a:p>
          <a:p>
            <a:r>
              <a:rPr lang="en-IN" sz="2100" dirty="0"/>
              <a:t>/* CS */</a:t>
            </a:r>
          </a:p>
          <a:p>
            <a:endParaRPr lang="en-IN" sz="2100" dirty="0"/>
          </a:p>
          <a:p>
            <a:r>
              <a:rPr lang="en-IN" sz="2100" dirty="0" err="1"/>
              <a:t>exitSection</a:t>
            </a:r>
            <a:r>
              <a:rPr lang="en-IN" sz="2100" dirty="0"/>
              <a:t> for </a:t>
            </a:r>
            <a:r>
              <a:rPr lang="en-IN" sz="2100" dirty="0" err="1"/>
              <a:t>P_i</a:t>
            </a:r>
            <a:endParaRPr lang="en-IN" sz="2100" dirty="0"/>
          </a:p>
          <a:p>
            <a:r>
              <a:rPr lang="en-IN" sz="2100" dirty="0"/>
              <a:t>	</a:t>
            </a:r>
            <a:r>
              <a:rPr lang="en-IN" sz="2100" dirty="0" err="1"/>
              <a:t>inCS</a:t>
            </a:r>
            <a:r>
              <a:rPr lang="en-IN" sz="2100" dirty="0"/>
              <a:t>[</a:t>
            </a:r>
            <a:r>
              <a:rPr lang="en-IN" sz="2100" dirty="0" err="1"/>
              <a:t>i</a:t>
            </a:r>
            <a:r>
              <a:rPr lang="en-IN" sz="2100" dirty="0"/>
              <a:t>] = 0;</a:t>
            </a:r>
          </a:p>
        </p:txBody>
      </p:sp>
      <p:cxnSp>
        <p:nvCxnSpPr>
          <p:cNvPr id="10" name="Straight Connector 9"/>
          <p:cNvCxnSpPr>
            <a:cxnSpLocks/>
          </p:cNvCxnSpPr>
          <p:nvPr/>
        </p:nvCxnSpPr>
        <p:spPr>
          <a:xfrm>
            <a:off x="4961107" y="850017"/>
            <a:ext cx="0" cy="3994358"/>
          </a:xfrm>
          <a:prstGeom prst="line">
            <a:avLst/>
          </a:prstGeom>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179B6-68EF-8325-ACCD-DBF590C3F52E}"/>
              </a:ext>
            </a:extLst>
          </p:cNvPr>
          <p:cNvSpPr>
            <a:spLocks noGrp="1"/>
          </p:cNvSpPr>
          <p:nvPr>
            <p:ph type="title"/>
          </p:nvPr>
        </p:nvSpPr>
        <p:spPr>
          <a:xfrm>
            <a:off x="311700" y="62161"/>
            <a:ext cx="8520600" cy="572700"/>
          </a:xfrm>
        </p:spPr>
        <p:txBody>
          <a:bodyPr>
            <a:normAutofit fontScale="90000"/>
          </a:bodyPr>
          <a:lstStyle/>
          <a:p>
            <a:r>
              <a:rPr lang="en-US" dirty="0">
                <a:latin typeface="Times New Roman" panose="02020603050405020304" pitchFamily="18" charset="0"/>
                <a:cs typeface="Times New Roman" panose="02020603050405020304" pitchFamily="18" charset="0"/>
              </a:rPr>
              <a:t>Problem 3 – Extend Petersons Algorithm to 3 processes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32575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339399" y="787759"/>
            <a:ext cx="6663446" cy="4247317"/>
          </a:xfrm>
          <a:prstGeom prst="rect">
            <a:avLst/>
          </a:prstGeom>
          <a:noFill/>
        </p:spPr>
        <p:txBody>
          <a:bodyPr wrap="square" rtlCol="0">
            <a:spAutoFit/>
          </a:bodyPr>
          <a:lstStyle/>
          <a:p>
            <a:r>
              <a:rPr lang="en-IN" sz="1800" dirty="0" err="1"/>
              <a:t>int</a:t>
            </a:r>
            <a:r>
              <a:rPr lang="en-IN" sz="1800" dirty="0"/>
              <a:t> </a:t>
            </a:r>
            <a:r>
              <a:rPr lang="en-IN" sz="1800" dirty="0" err="1"/>
              <a:t>inCS</a:t>
            </a:r>
            <a:r>
              <a:rPr lang="en-IN" sz="1800" dirty="0"/>
              <a:t>[] = {</a:t>
            </a:r>
            <a:r>
              <a:rPr lang="en-IN" sz="1800" dirty="0">
                <a:solidFill>
                  <a:srgbClr val="FF0000"/>
                </a:solidFill>
              </a:rPr>
              <a:t> 0, 0, 0</a:t>
            </a:r>
            <a:r>
              <a:rPr lang="en-IN" sz="1800" dirty="0"/>
              <a:t>}; </a:t>
            </a:r>
            <a:r>
              <a:rPr lang="en-IN" sz="1800" dirty="0" err="1"/>
              <a:t>int</a:t>
            </a:r>
            <a:r>
              <a:rPr lang="en-IN" sz="1800" dirty="0"/>
              <a:t> turn = 0;</a:t>
            </a:r>
          </a:p>
          <a:p>
            <a:endParaRPr lang="en-IN" sz="1800" dirty="0"/>
          </a:p>
          <a:p>
            <a:r>
              <a:rPr lang="en-IN" sz="1800" i="1" dirty="0" err="1"/>
              <a:t>entrySection</a:t>
            </a:r>
            <a:r>
              <a:rPr lang="en-IN" sz="1800" i="1" dirty="0"/>
              <a:t> for </a:t>
            </a:r>
            <a:r>
              <a:rPr lang="en-IN" sz="1800" i="1" dirty="0" err="1"/>
              <a:t>P_i</a:t>
            </a:r>
            <a:r>
              <a:rPr lang="en-IN" sz="1800" dirty="0"/>
              <a:t> </a:t>
            </a:r>
          </a:p>
          <a:p>
            <a:r>
              <a:rPr lang="en-IN" sz="1800" dirty="0"/>
              <a:t>	</a:t>
            </a:r>
            <a:r>
              <a:rPr lang="en-IN" sz="1800" dirty="0" err="1"/>
              <a:t>int</a:t>
            </a:r>
            <a:r>
              <a:rPr lang="en-IN" sz="1800" dirty="0"/>
              <a:t> j = </a:t>
            </a:r>
            <a:r>
              <a:rPr lang="en-IN" sz="1800" dirty="0">
                <a:solidFill>
                  <a:srgbClr val="FF0000"/>
                </a:solidFill>
              </a:rPr>
              <a:t>(</a:t>
            </a:r>
            <a:r>
              <a:rPr lang="en-IN" sz="1800" dirty="0" err="1">
                <a:solidFill>
                  <a:srgbClr val="FF0000"/>
                </a:solidFill>
              </a:rPr>
              <a:t>i</a:t>
            </a:r>
            <a:r>
              <a:rPr lang="en-IN" sz="1800" dirty="0">
                <a:solidFill>
                  <a:srgbClr val="FF0000"/>
                </a:solidFill>
              </a:rPr>
              <a:t> + 1) % 3</a:t>
            </a:r>
            <a:r>
              <a:rPr lang="en-IN" sz="1800" dirty="0"/>
              <a:t>;</a:t>
            </a:r>
          </a:p>
          <a:p>
            <a:r>
              <a:rPr lang="en-IN" sz="1800" dirty="0"/>
              <a:t>	</a:t>
            </a:r>
            <a:r>
              <a:rPr lang="en-IN" sz="1800" dirty="0" err="1"/>
              <a:t>int</a:t>
            </a:r>
            <a:r>
              <a:rPr lang="en-IN" sz="1800" dirty="0"/>
              <a:t> k = </a:t>
            </a:r>
            <a:r>
              <a:rPr lang="en-IN" sz="1800" dirty="0">
                <a:solidFill>
                  <a:srgbClr val="FF0000"/>
                </a:solidFill>
              </a:rPr>
              <a:t>(</a:t>
            </a:r>
            <a:r>
              <a:rPr lang="en-IN" sz="1800" dirty="0" err="1">
                <a:solidFill>
                  <a:srgbClr val="FF0000"/>
                </a:solidFill>
              </a:rPr>
              <a:t>i</a:t>
            </a:r>
            <a:r>
              <a:rPr lang="en-IN" sz="1800" dirty="0">
                <a:solidFill>
                  <a:srgbClr val="FF0000"/>
                </a:solidFill>
              </a:rPr>
              <a:t> + 2) % 3</a:t>
            </a:r>
            <a:r>
              <a:rPr lang="en-IN" sz="1800" dirty="0"/>
              <a:t>;</a:t>
            </a:r>
          </a:p>
          <a:p>
            <a:endParaRPr lang="en-IN" sz="1800" dirty="0"/>
          </a:p>
          <a:p>
            <a:r>
              <a:rPr lang="en-IN" sz="1800" dirty="0"/>
              <a:t>	</a:t>
            </a:r>
            <a:r>
              <a:rPr lang="en-IN" sz="1800" dirty="0" err="1"/>
              <a:t>inCS</a:t>
            </a:r>
            <a:r>
              <a:rPr lang="en-IN" sz="1800" dirty="0"/>
              <a:t>[</a:t>
            </a:r>
            <a:r>
              <a:rPr lang="en-IN" sz="1800" dirty="0" err="1"/>
              <a:t>i</a:t>
            </a:r>
            <a:r>
              <a:rPr lang="en-IN" sz="1800" dirty="0"/>
              <a:t>] = </a:t>
            </a:r>
            <a:r>
              <a:rPr lang="en-IN" sz="1800" dirty="0">
                <a:solidFill>
                  <a:srgbClr val="FF0000"/>
                </a:solidFill>
              </a:rPr>
              <a:t>1</a:t>
            </a:r>
            <a:r>
              <a:rPr lang="en-IN" sz="1800" dirty="0"/>
              <a:t>;</a:t>
            </a:r>
          </a:p>
          <a:p>
            <a:r>
              <a:rPr lang="en-IN" sz="1800" dirty="0"/>
              <a:t>	turn = </a:t>
            </a:r>
            <a:r>
              <a:rPr lang="en-IN" sz="1800" dirty="0">
                <a:solidFill>
                  <a:srgbClr val="FF0000"/>
                </a:solidFill>
              </a:rPr>
              <a:t>j</a:t>
            </a:r>
            <a:r>
              <a:rPr lang="en-IN" sz="1800" dirty="0"/>
              <a:t>;</a:t>
            </a:r>
          </a:p>
          <a:p>
            <a:r>
              <a:rPr lang="en-IN" sz="1800" dirty="0"/>
              <a:t>	</a:t>
            </a:r>
          </a:p>
          <a:p>
            <a:r>
              <a:rPr lang="en-IN" sz="1800" dirty="0"/>
              <a:t>	while ( (</a:t>
            </a:r>
            <a:r>
              <a:rPr lang="en-IN" sz="1800" dirty="0" err="1">
                <a:solidFill>
                  <a:srgbClr val="FF0000"/>
                </a:solidFill>
              </a:rPr>
              <a:t>inCS</a:t>
            </a:r>
            <a:r>
              <a:rPr lang="en-IN" sz="1800" dirty="0">
                <a:solidFill>
                  <a:srgbClr val="FF0000"/>
                </a:solidFill>
              </a:rPr>
              <a:t>[j] || </a:t>
            </a:r>
            <a:r>
              <a:rPr lang="en-IN" sz="1800" dirty="0" err="1">
                <a:solidFill>
                  <a:srgbClr val="FF0000"/>
                </a:solidFill>
              </a:rPr>
              <a:t>inCS</a:t>
            </a:r>
            <a:r>
              <a:rPr lang="en-IN" sz="1800" dirty="0">
                <a:solidFill>
                  <a:srgbClr val="FF0000"/>
                </a:solidFill>
              </a:rPr>
              <a:t>[k]</a:t>
            </a:r>
            <a:r>
              <a:rPr lang="en-IN" sz="1800" dirty="0"/>
              <a:t>)  &amp;&amp; (</a:t>
            </a:r>
            <a:r>
              <a:rPr lang="en-IN" sz="1800" dirty="0">
                <a:solidFill>
                  <a:srgbClr val="FF0000"/>
                </a:solidFill>
              </a:rPr>
              <a:t>turn != </a:t>
            </a:r>
            <a:r>
              <a:rPr lang="en-IN" sz="1800" dirty="0" err="1">
                <a:solidFill>
                  <a:srgbClr val="FF0000"/>
                </a:solidFill>
              </a:rPr>
              <a:t>i</a:t>
            </a:r>
            <a:r>
              <a:rPr lang="en-IN" sz="1800" dirty="0"/>
              <a:t>));</a:t>
            </a:r>
          </a:p>
          <a:p>
            <a:endParaRPr lang="en-IN" sz="1800" dirty="0"/>
          </a:p>
          <a:p>
            <a:r>
              <a:rPr lang="en-IN" sz="1800" dirty="0"/>
              <a:t>/* CS */</a:t>
            </a:r>
          </a:p>
          <a:p>
            <a:endParaRPr lang="en-IN" sz="1800" dirty="0"/>
          </a:p>
          <a:p>
            <a:r>
              <a:rPr lang="en-IN" sz="1800" dirty="0" err="1"/>
              <a:t>exitSection</a:t>
            </a:r>
            <a:r>
              <a:rPr lang="en-IN" sz="1800" dirty="0"/>
              <a:t> for </a:t>
            </a:r>
            <a:r>
              <a:rPr lang="en-IN" sz="1800" dirty="0" err="1"/>
              <a:t>P_i</a:t>
            </a:r>
            <a:endParaRPr lang="en-IN" sz="1800" dirty="0"/>
          </a:p>
          <a:p>
            <a:r>
              <a:rPr lang="en-IN" sz="1800" dirty="0"/>
              <a:t>	</a:t>
            </a:r>
            <a:r>
              <a:rPr lang="en-IN" sz="1800" dirty="0" err="1"/>
              <a:t>inCS</a:t>
            </a:r>
            <a:r>
              <a:rPr lang="en-IN" sz="1800" dirty="0"/>
              <a:t>[</a:t>
            </a:r>
            <a:r>
              <a:rPr lang="en-IN" sz="1800" dirty="0" err="1"/>
              <a:t>i</a:t>
            </a:r>
            <a:r>
              <a:rPr lang="en-IN" sz="1800" dirty="0"/>
              <a:t>] = 0;</a:t>
            </a:r>
          </a:p>
        </p:txBody>
      </p:sp>
      <p:sp>
        <p:nvSpPr>
          <p:cNvPr id="2" name="Title 1">
            <a:extLst>
              <a:ext uri="{FF2B5EF4-FFF2-40B4-BE49-F238E27FC236}">
                <a16:creationId xmlns:a16="http://schemas.microsoft.com/office/drawing/2014/main" id="{E6AB12B9-90A5-3CC9-216B-775CCB5E9B6E}"/>
              </a:ext>
            </a:extLst>
          </p:cNvPr>
          <p:cNvSpPr>
            <a:spLocks noGrp="1"/>
          </p:cNvSpPr>
          <p:nvPr>
            <p:ph type="title"/>
          </p:nvPr>
        </p:nvSpPr>
        <p:spPr>
          <a:xfrm>
            <a:off x="311700" y="176161"/>
            <a:ext cx="8520600" cy="572700"/>
          </a:xfrm>
        </p:spPr>
        <p:txBody>
          <a:bodyPr>
            <a:normAutofit fontScale="90000"/>
          </a:bodyPr>
          <a:lstStyle/>
          <a:p>
            <a:r>
              <a:rPr lang="en-US" dirty="0">
                <a:latin typeface="Times New Roman" panose="02020603050405020304" pitchFamily="18" charset="0"/>
                <a:cs typeface="Times New Roman" panose="02020603050405020304" pitchFamily="18" charset="0"/>
              </a:rPr>
              <a:t>Solution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386279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190297"/>
            <a:ext cx="7886700" cy="3665481"/>
          </a:xfrm>
        </p:spPr>
        <p:txBody>
          <a:bodyPr>
            <a:noAutofit/>
          </a:bodyPr>
          <a:lstStyle/>
          <a:p>
            <a:pPr algn="just"/>
            <a:r>
              <a:rPr lang="en-US" sz="2400" dirty="0"/>
              <a:t>Three processes P0, P1, and P2 are running concurrently on a single-CPU system, where P2 has the highest priority. Currently, Process P1 is in the running state, P0 is waiting in the ready queue, and P2 is doing an I/O operation. After some time, P1 terminates and P2 completes I/O, simultaneously. Clearly list step by step all the events that will take place in the system, before the next process gets allocated to the CPU. Assume that the system implements a preemptive priority scheduler.</a:t>
            </a:r>
            <a:endParaRPr lang="en-IN" sz="2400" dirty="0"/>
          </a:p>
        </p:txBody>
      </p:sp>
      <p:sp>
        <p:nvSpPr>
          <p:cNvPr id="3" name="Title 1">
            <a:extLst>
              <a:ext uri="{FF2B5EF4-FFF2-40B4-BE49-F238E27FC236}">
                <a16:creationId xmlns:a16="http://schemas.microsoft.com/office/drawing/2014/main" id="{470BA9A5-3A2A-442F-2244-CB5BD78DF7DC}"/>
              </a:ext>
            </a:extLst>
          </p:cNvPr>
          <p:cNvSpPr txBox="1">
            <a:spLocks/>
          </p:cNvSpPr>
          <p:nvPr/>
        </p:nvSpPr>
        <p:spPr>
          <a:xfrm>
            <a:off x="311700" y="445025"/>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dirty="0">
                <a:latin typeface="Times New Roman" panose="02020603050405020304" pitchFamily="18" charset="0"/>
                <a:cs typeface="Times New Roman" panose="02020603050405020304" pitchFamily="18" charset="0"/>
              </a:rPr>
              <a:t>Problem 3</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85520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0997" y="874986"/>
            <a:ext cx="7886700" cy="4268514"/>
          </a:xfrm>
        </p:spPr>
        <p:txBody>
          <a:bodyPr>
            <a:noAutofit/>
          </a:bodyPr>
          <a:lstStyle/>
          <a:p>
            <a:r>
              <a:rPr lang="en-US" sz="1800" dirty="0"/>
              <a:t>1. The resources allocated to P1 are released, and the PCB for P1 is removed from the process table. </a:t>
            </a:r>
            <a:br>
              <a:rPr lang="en-US" sz="1800" dirty="0"/>
            </a:br>
            <a:br>
              <a:rPr lang="en-US" sz="1800" dirty="0"/>
            </a:br>
            <a:r>
              <a:rPr lang="en-US" sz="1800" dirty="0"/>
              <a:t>2. The state in the PCB of P2 is changed from waiting to ready. </a:t>
            </a:r>
            <a:br>
              <a:rPr lang="en-US" sz="1800" dirty="0"/>
            </a:br>
            <a:br>
              <a:rPr lang="en-US" sz="1800" dirty="0"/>
            </a:br>
            <a:r>
              <a:rPr lang="en-US" sz="1800" dirty="0"/>
              <a:t>3. Now, there are two processes P0 and P2 in the ready state. The scheduler finds that P2 has higher priority than P0. </a:t>
            </a:r>
            <a:br>
              <a:rPr lang="en-US" sz="1800" dirty="0"/>
            </a:br>
            <a:br>
              <a:rPr lang="en-US" sz="1800" dirty="0"/>
            </a:br>
            <a:r>
              <a:rPr lang="en-US" sz="1800" dirty="0"/>
              <a:t>4. The scheduler changes the state in the PCB of P2 from ready to running. </a:t>
            </a:r>
            <a:br>
              <a:rPr lang="en-US" sz="1800" dirty="0"/>
            </a:br>
            <a:br>
              <a:rPr lang="en-US" sz="1800" dirty="0"/>
            </a:br>
            <a:r>
              <a:rPr lang="en-US" sz="1800" dirty="0"/>
              <a:t>5. The scheduler restores the context (registers) of P2 from its PCB to the CPU. </a:t>
            </a:r>
            <a:br>
              <a:rPr lang="en-US" sz="1800" dirty="0"/>
            </a:br>
            <a:br>
              <a:rPr lang="en-US" sz="1800" dirty="0"/>
            </a:br>
            <a:r>
              <a:rPr lang="en-US" sz="1800" dirty="0"/>
              <a:t>6. The scheduler loads the PC (program counter) of the CPU by the saved PC value in the PCB of P2.</a:t>
            </a:r>
            <a:endParaRPr lang="en-IN" sz="1800" dirty="0"/>
          </a:p>
        </p:txBody>
      </p:sp>
      <p:sp>
        <p:nvSpPr>
          <p:cNvPr id="3" name="Title 1">
            <a:extLst>
              <a:ext uri="{FF2B5EF4-FFF2-40B4-BE49-F238E27FC236}">
                <a16:creationId xmlns:a16="http://schemas.microsoft.com/office/drawing/2014/main" id="{82AEE1F8-E00B-AB62-1B67-351DD3E43EBF}"/>
              </a:ext>
            </a:extLst>
          </p:cNvPr>
          <p:cNvSpPr txBox="1">
            <a:spLocks/>
          </p:cNvSpPr>
          <p:nvPr/>
        </p:nvSpPr>
        <p:spPr>
          <a:xfrm>
            <a:off x="311700" y="176161"/>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dirty="0">
                <a:latin typeface="Times New Roman" panose="02020603050405020304" pitchFamily="18" charset="0"/>
                <a:cs typeface="Times New Roman" panose="02020603050405020304" pitchFamily="18" charset="0"/>
              </a:rPr>
              <a:t>Solution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64789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6041" y="1127234"/>
            <a:ext cx="8797452" cy="845814"/>
          </a:xfrm>
        </p:spPr>
        <p:txBody>
          <a:bodyPr>
            <a:noAutofit/>
          </a:bodyPr>
          <a:lstStyle/>
          <a:p>
            <a:r>
              <a:rPr lang="en-IN" sz="2000" dirty="0"/>
              <a:t>Different possible values</a:t>
            </a:r>
            <a:br>
              <a:rPr lang="en-IN" sz="2000" dirty="0"/>
            </a:br>
            <a:r>
              <a:rPr lang="en-IN" sz="2000" dirty="0"/>
              <a:t> of x, y when P1, P2 finish?</a:t>
            </a:r>
          </a:p>
        </p:txBody>
      </p:sp>
      <p:pic>
        <p:nvPicPr>
          <p:cNvPr id="4" name="Content Placeholder 3"/>
          <p:cNvPicPr>
            <a:picLocks noGrp="1" noChangeAspect="1"/>
          </p:cNvPicPr>
          <p:nvPr>
            <p:ph idx="1"/>
          </p:nvPr>
        </p:nvPicPr>
        <p:blipFill>
          <a:blip r:embed="rId2"/>
          <a:stretch>
            <a:fillRect/>
          </a:stretch>
        </p:blipFill>
        <p:spPr>
          <a:xfrm>
            <a:off x="4461641" y="92642"/>
            <a:ext cx="4496319" cy="1772468"/>
          </a:xfrm>
          <a:prstGeom prst="rect">
            <a:avLst/>
          </a:prstGeom>
        </p:spPr>
      </p:pic>
      <p:pic>
        <p:nvPicPr>
          <p:cNvPr id="5" name="Picture 4"/>
          <p:cNvPicPr>
            <a:picLocks noChangeAspect="1"/>
          </p:cNvPicPr>
          <p:nvPr/>
        </p:nvPicPr>
        <p:blipFill>
          <a:blip r:embed="rId3"/>
          <a:stretch>
            <a:fillRect/>
          </a:stretch>
        </p:blipFill>
        <p:spPr>
          <a:xfrm>
            <a:off x="186041" y="1865110"/>
            <a:ext cx="8797452" cy="3185748"/>
          </a:xfrm>
          <a:prstGeom prst="rect">
            <a:avLst/>
          </a:prstGeom>
        </p:spPr>
      </p:pic>
      <p:sp>
        <p:nvSpPr>
          <p:cNvPr id="3" name="Title 1">
            <a:extLst>
              <a:ext uri="{FF2B5EF4-FFF2-40B4-BE49-F238E27FC236}">
                <a16:creationId xmlns:a16="http://schemas.microsoft.com/office/drawing/2014/main" id="{B3269ED4-ADE8-7C9B-5B9D-46336289A2C9}"/>
              </a:ext>
            </a:extLst>
          </p:cNvPr>
          <p:cNvSpPr txBox="1">
            <a:spLocks/>
          </p:cNvSpPr>
          <p:nvPr/>
        </p:nvSpPr>
        <p:spPr>
          <a:xfrm>
            <a:off x="311700" y="249409"/>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dirty="0">
                <a:latin typeface="Times New Roman" panose="02020603050405020304" pitchFamily="18" charset="0"/>
                <a:cs typeface="Times New Roman" panose="02020603050405020304" pitchFamily="18" charset="0"/>
              </a:rPr>
              <a:t>Problem 4</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8953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6048" y="748861"/>
            <a:ext cx="7886700" cy="4296103"/>
          </a:xfrm>
        </p:spPr>
        <p:txBody>
          <a:bodyPr>
            <a:noAutofit/>
          </a:bodyPr>
          <a:lstStyle/>
          <a:p>
            <a:pPr marL="0" indent="0" algn="just">
              <a:buNone/>
            </a:pPr>
            <a:r>
              <a:rPr lang="en-US" sz="2000" dirty="0">
                <a:solidFill>
                  <a:schemeClr val="tx1"/>
                </a:solidFill>
              </a:rPr>
              <a:t>Four concurrent processes P,Q,R,S are running on a system. All these four processes access a shared variable x initialized to zero. These four processes are implemented as follows. Each of the processes P and Q reads x from memory, increments by one, stores it to memory, and then terminates. Each of the processes R and S reads x from memory, decrements by two, stores it to memory, and then terminates. Each process invokes the wait() operation on a counting semaphore count before reading x, and invokes the signal() operation on the semaphore count after storing x to memory. The semaphore count is initialized to two (2). What is the maximum possible value of x after all processes complete execution? Explain your answer.</a:t>
            </a:r>
            <a:endParaRPr lang="en-IN" sz="2000" dirty="0">
              <a:solidFill>
                <a:schemeClr val="tx1"/>
              </a:solidFill>
            </a:endParaRPr>
          </a:p>
        </p:txBody>
      </p:sp>
      <p:sp>
        <p:nvSpPr>
          <p:cNvPr id="2" name="Title 1">
            <a:extLst>
              <a:ext uri="{FF2B5EF4-FFF2-40B4-BE49-F238E27FC236}">
                <a16:creationId xmlns:a16="http://schemas.microsoft.com/office/drawing/2014/main" id="{2C5120F1-6C64-C2A5-6FC8-264136196DBD}"/>
              </a:ext>
            </a:extLst>
          </p:cNvPr>
          <p:cNvSpPr>
            <a:spLocks noGrp="1"/>
          </p:cNvSpPr>
          <p:nvPr>
            <p:ph type="title"/>
          </p:nvPr>
        </p:nvSpPr>
        <p:spPr>
          <a:xfrm>
            <a:off x="311700" y="176161"/>
            <a:ext cx="8520600" cy="572700"/>
          </a:xfrm>
        </p:spPr>
        <p:txBody>
          <a:bodyPr>
            <a:normAutofit fontScale="90000"/>
          </a:bodyPr>
          <a:lstStyle/>
          <a:p>
            <a:r>
              <a:rPr lang="en-US" dirty="0">
                <a:latin typeface="Times New Roman" panose="02020603050405020304" pitchFamily="18" charset="0"/>
                <a:cs typeface="Times New Roman" panose="02020603050405020304" pitchFamily="18" charset="0"/>
              </a:rPr>
              <a:t>Problem 5</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10055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11700" y="859221"/>
            <a:ext cx="8520600" cy="3709654"/>
          </a:xfrm>
        </p:spPr>
        <p:txBody>
          <a:bodyPr/>
          <a:lstStyle/>
          <a:p>
            <a:pPr marL="114300" indent="0">
              <a:buNone/>
            </a:pPr>
            <a:r>
              <a:rPr lang="en-US" dirty="0">
                <a:solidFill>
                  <a:schemeClr val="tx1"/>
                </a:solidFill>
              </a:rPr>
              <a:t>Semaphore count is initialized to 2. Process P executes making count = 1 and x = 1, but it does not update the x variable. Then, process R executes making count = 0. It decrements x, stores x = −2, and signals semaphore making count = 1. Now, process S runs completely making count = 0, x = −4, and finally count = 1 (after signal). Now, process P stores x = 1 and signals the semaphore to count = 2. Finally, process Q making x = 2. Evidently, x cannot store a value larger than 2, since only two processes increment it (by 1).</a:t>
            </a:r>
            <a:endParaRPr lang="en-IN" dirty="0">
              <a:solidFill>
                <a:schemeClr val="tx1"/>
              </a:solidFill>
            </a:endParaRPr>
          </a:p>
        </p:txBody>
      </p:sp>
      <p:sp>
        <p:nvSpPr>
          <p:cNvPr id="4" name="Title 1">
            <a:extLst>
              <a:ext uri="{FF2B5EF4-FFF2-40B4-BE49-F238E27FC236}">
                <a16:creationId xmlns:a16="http://schemas.microsoft.com/office/drawing/2014/main" id="{3CF7FF61-D086-A543-8723-A0E9AF5ABA3A}"/>
              </a:ext>
            </a:extLst>
          </p:cNvPr>
          <p:cNvSpPr>
            <a:spLocks noGrp="1"/>
          </p:cNvSpPr>
          <p:nvPr>
            <p:ph type="title"/>
          </p:nvPr>
        </p:nvSpPr>
        <p:spPr>
          <a:xfrm>
            <a:off x="311700" y="176161"/>
            <a:ext cx="8520600" cy="572700"/>
          </a:xfrm>
        </p:spPr>
        <p:txBody>
          <a:bodyPr>
            <a:normAutofit fontScale="90000"/>
          </a:bodyPr>
          <a:lstStyle/>
          <a:p>
            <a:r>
              <a:rPr lang="en-US" dirty="0">
                <a:latin typeface="Times New Roman" panose="02020603050405020304" pitchFamily="18" charset="0"/>
                <a:cs typeface="Times New Roman" panose="02020603050405020304" pitchFamily="18" charset="0"/>
              </a:rPr>
              <a:t>Solution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033323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dirty="0">
                <a:solidFill>
                  <a:schemeClr val="tx1"/>
                </a:solidFill>
              </a:rPr>
              <a:t>Synchronization and Deadlock Practice Question</a:t>
            </a:r>
            <a:endParaRPr dirty="0">
              <a:solidFill>
                <a:schemeClr val="tx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Q1. GATE 1992</a:t>
            </a:r>
            <a:endParaRPr/>
          </a:p>
        </p:txBody>
      </p:sp>
      <p:sp>
        <p:nvSpPr>
          <p:cNvPr id="60" name="Google Shape;60;p14"/>
          <p:cNvSpPr txBox="1">
            <a:spLocks noGrp="1"/>
          </p:cNvSpPr>
          <p:nvPr>
            <p:ph type="body" idx="1"/>
          </p:nvPr>
        </p:nvSpPr>
        <p:spPr>
          <a:xfrm>
            <a:off x="311700" y="1152475"/>
            <a:ext cx="8520600" cy="14193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sz="2000" dirty="0">
                <a:solidFill>
                  <a:schemeClr val="tx1"/>
                </a:solidFill>
                <a:highlight>
                  <a:schemeClr val="lt1"/>
                </a:highlight>
                <a:latin typeface="Times New Roman"/>
                <a:ea typeface="Times New Roman"/>
                <a:cs typeface="Times New Roman"/>
                <a:sym typeface="Times New Roman"/>
              </a:rPr>
              <a:t>At a particular time of computation, the </a:t>
            </a:r>
            <a:r>
              <a:rPr lang="en" sz="2000" b="1" dirty="0">
                <a:solidFill>
                  <a:schemeClr val="tx1"/>
                </a:solidFill>
                <a:highlight>
                  <a:schemeClr val="lt1"/>
                </a:highlight>
                <a:latin typeface="Times New Roman"/>
                <a:ea typeface="Times New Roman"/>
                <a:cs typeface="Times New Roman"/>
                <a:sym typeface="Times New Roman"/>
              </a:rPr>
              <a:t>value of a counting semaphore is 7</a:t>
            </a:r>
            <a:r>
              <a:rPr lang="en" sz="2000" dirty="0">
                <a:solidFill>
                  <a:schemeClr val="tx1"/>
                </a:solidFill>
                <a:highlight>
                  <a:schemeClr val="lt1"/>
                </a:highlight>
                <a:latin typeface="Times New Roman"/>
                <a:ea typeface="Times New Roman"/>
                <a:cs typeface="Times New Roman"/>
                <a:sym typeface="Times New Roman"/>
              </a:rPr>
              <a:t>. Then </a:t>
            </a:r>
            <a:r>
              <a:rPr lang="en" sz="2000" b="1" dirty="0">
                <a:solidFill>
                  <a:schemeClr val="tx1"/>
                </a:solidFill>
                <a:highlight>
                  <a:schemeClr val="lt1"/>
                </a:highlight>
                <a:latin typeface="Times New Roman"/>
                <a:ea typeface="Times New Roman"/>
                <a:cs typeface="Times New Roman"/>
                <a:sym typeface="Times New Roman"/>
              </a:rPr>
              <a:t>20 WAIT (P)</a:t>
            </a:r>
            <a:r>
              <a:rPr lang="en" sz="2000" dirty="0">
                <a:solidFill>
                  <a:schemeClr val="tx1"/>
                </a:solidFill>
                <a:highlight>
                  <a:schemeClr val="lt1"/>
                </a:highlight>
                <a:latin typeface="Times New Roman"/>
                <a:ea typeface="Times New Roman"/>
                <a:cs typeface="Times New Roman"/>
                <a:sym typeface="Times New Roman"/>
              </a:rPr>
              <a:t>  operations and </a:t>
            </a:r>
            <a:r>
              <a:rPr lang="en" sz="2000" b="1" dirty="0">
                <a:solidFill>
                  <a:schemeClr val="tx1"/>
                </a:solidFill>
                <a:highlight>
                  <a:schemeClr val="lt1"/>
                </a:highlight>
                <a:latin typeface="Times New Roman"/>
                <a:ea typeface="Times New Roman"/>
                <a:cs typeface="Times New Roman"/>
                <a:sym typeface="Times New Roman"/>
              </a:rPr>
              <a:t>15 SIGNAL (V)</a:t>
            </a:r>
            <a:r>
              <a:rPr lang="en" sz="2000" dirty="0">
                <a:solidFill>
                  <a:schemeClr val="tx1"/>
                </a:solidFill>
                <a:highlight>
                  <a:schemeClr val="lt1"/>
                </a:highlight>
                <a:latin typeface="Times New Roman"/>
                <a:ea typeface="Times New Roman"/>
                <a:cs typeface="Times New Roman"/>
                <a:sym typeface="Times New Roman"/>
              </a:rPr>
              <a:t> operations were completed on this semaphore. The resulting value of the semaphore is :</a:t>
            </a:r>
            <a:endParaRPr sz="2000" dirty="0">
              <a:solidFill>
                <a:schemeClr val="tx1"/>
              </a:solidFill>
              <a:highlight>
                <a:schemeClr val="lt1"/>
              </a:highlight>
              <a:latin typeface="Times New Roman"/>
              <a:ea typeface="Times New Roman"/>
              <a:cs typeface="Times New Roman"/>
              <a:sym typeface="Times New Roman"/>
            </a:endParaRPr>
          </a:p>
        </p:txBody>
      </p:sp>
      <p:sp>
        <p:nvSpPr>
          <p:cNvPr id="61" name="Google Shape;61;p14"/>
          <p:cNvSpPr txBox="1"/>
          <p:nvPr/>
        </p:nvSpPr>
        <p:spPr>
          <a:xfrm>
            <a:off x="1989750" y="3351500"/>
            <a:ext cx="5164500" cy="4926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Clr>
                <a:schemeClr val="dk1"/>
              </a:buClr>
              <a:buSzPts val="1100"/>
              <a:buFont typeface="Arial"/>
              <a:buNone/>
            </a:pPr>
            <a:r>
              <a:rPr lang="en" sz="2000" b="1">
                <a:solidFill>
                  <a:schemeClr val="dk1"/>
                </a:solidFill>
                <a:highlight>
                  <a:schemeClr val="lt1"/>
                </a:highlight>
                <a:latin typeface="Times New Roman"/>
                <a:ea typeface="Times New Roman"/>
                <a:cs typeface="Times New Roman"/>
                <a:sym typeface="Times New Roman"/>
              </a:rPr>
              <a:t>7 - 15 + 15 - 5 = 2</a:t>
            </a:r>
            <a:endParaRPr sz="1800">
              <a:solidFill>
                <a:schemeClr val="dk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Q 2. GATE 2019</a:t>
            </a:r>
            <a:endParaRPr/>
          </a:p>
        </p:txBody>
      </p:sp>
      <p:sp>
        <p:nvSpPr>
          <p:cNvPr id="67" name="Google Shape;67;p15"/>
          <p:cNvSpPr txBox="1">
            <a:spLocks noGrp="1"/>
          </p:cNvSpPr>
          <p:nvPr>
            <p:ph type="body" idx="1"/>
          </p:nvPr>
        </p:nvSpPr>
        <p:spPr>
          <a:xfrm>
            <a:off x="311700" y="1152475"/>
            <a:ext cx="8520600" cy="17292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Clr>
                <a:schemeClr val="dk1"/>
              </a:buClr>
              <a:buSzPts val="1100"/>
              <a:buFont typeface="Arial"/>
              <a:buNone/>
            </a:pPr>
            <a:r>
              <a:rPr lang="en" sz="1850">
                <a:solidFill>
                  <a:schemeClr val="dk1"/>
                </a:solidFill>
                <a:highlight>
                  <a:schemeClr val="lt1"/>
                </a:highlight>
                <a:latin typeface="Times New Roman"/>
                <a:ea typeface="Times New Roman"/>
                <a:cs typeface="Times New Roman"/>
                <a:sym typeface="Times New Roman"/>
              </a:rPr>
              <a:t>Consider </a:t>
            </a:r>
            <a:r>
              <a:rPr lang="en" sz="1850" b="1">
                <a:solidFill>
                  <a:schemeClr val="dk1"/>
                </a:solidFill>
                <a:highlight>
                  <a:schemeClr val="lt1"/>
                </a:highlight>
                <a:latin typeface="Times New Roman"/>
                <a:ea typeface="Times New Roman"/>
                <a:cs typeface="Times New Roman"/>
                <a:sym typeface="Times New Roman"/>
              </a:rPr>
              <a:t>three concurrent processes P1, P2 and P3</a:t>
            </a:r>
            <a:r>
              <a:rPr lang="en" sz="1850">
                <a:solidFill>
                  <a:schemeClr val="dk1"/>
                </a:solidFill>
                <a:highlight>
                  <a:schemeClr val="lt1"/>
                </a:highlight>
                <a:latin typeface="Times New Roman"/>
                <a:ea typeface="Times New Roman"/>
                <a:cs typeface="Times New Roman"/>
                <a:sym typeface="Times New Roman"/>
              </a:rPr>
              <a:t>  as shown below, which access a </a:t>
            </a:r>
            <a:r>
              <a:rPr lang="en" sz="1850" b="1">
                <a:solidFill>
                  <a:schemeClr val="dk1"/>
                </a:solidFill>
                <a:highlight>
                  <a:schemeClr val="lt1"/>
                </a:highlight>
                <a:latin typeface="Times New Roman"/>
                <a:ea typeface="Times New Roman"/>
                <a:cs typeface="Times New Roman"/>
                <a:sym typeface="Times New Roman"/>
              </a:rPr>
              <a:t>shared variable D</a:t>
            </a:r>
            <a:r>
              <a:rPr lang="en" sz="1850">
                <a:solidFill>
                  <a:schemeClr val="dk1"/>
                </a:solidFill>
                <a:highlight>
                  <a:schemeClr val="lt1"/>
                </a:highlight>
                <a:latin typeface="Times New Roman"/>
                <a:ea typeface="Times New Roman"/>
                <a:cs typeface="Times New Roman"/>
                <a:sym typeface="Times New Roman"/>
              </a:rPr>
              <a:t>  that has been initialized to 100. </a:t>
            </a:r>
            <a:endParaRPr sz="1850">
              <a:solidFill>
                <a:schemeClr val="dk1"/>
              </a:solidFill>
              <a:highlight>
                <a:schemeClr val="lt1"/>
              </a:highlight>
              <a:latin typeface="Times New Roman"/>
              <a:ea typeface="Times New Roman"/>
              <a:cs typeface="Times New Roman"/>
              <a:sym typeface="Times New Roman"/>
            </a:endParaRPr>
          </a:p>
          <a:p>
            <a:pPr marL="0" lvl="0" indent="0" algn="l" rtl="0">
              <a:lnSpc>
                <a:spcPct val="95000"/>
              </a:lnSpc>
              <a:spcBef>
                <a:spcPts val="1200"/>
              </a:spcBef>
              <a:spcAft>
                <a:spcPts val="1200"/>
              </a:spcAft>
              <a:buNone/>
            </a:pPr>
            <a:r>
              <a:rPr lang="en" sz="1850">
                <a:solidFill>
                  <a:schemeClr val="dk1"/>
                </a:solidFill>
                <a:highlight>
                  <a:schemeClr val="lt1"/>
                </a:highlight>
                <a:latin typeface="Times New Roman"/>
                <a:ea typeface="Times New Roman"/>
                <a:cs typeface="Times New Roman"/>
                <a:sym typeface="Times New Roman"/>
              </a:rPr>
              <a:t>The processes are executed on a uniprocessor system running a time-shared operating system. If the </a:t>
            </a:r>
            <a:r>
              <a:rPr lang="en" sz="1850" b="1">
                <a:solidFill>
                  <a:schemeClr val="dk1"/>
                </a:solidFill>
                <a:highlight>
                  <a:schemeClr val="lt1"/>
                </a:highlight>
                <a:latin typeface="Times New Roman"/>
                <a:ea typeface="Times New Roman"/>
                <a:cs typeface="Times New Roman"/>
                <a:sym typeface="Times New Roman"/>
              </a:rPr>
              <a:t>minimum and maximum</a:t>
            </a:r>
            <a:r>
              <a:rPr lang="en" sz="1850">
                <a:solidFill>
                  <a:schemeClr val="dk1"/>
                </a:solidFill>
                <a:highlight>
                  <a:schemeClr val="lt1"/>
                </a:highlight>
                <a:latin typeface="Times New Roman"/>
                <a:ea typeface="Times New Roman"/>
                <a:cs typeface="Times New Roman"/>
                <a:sym typeface="Times New Roman"/>
              </a:rPr>
              <a:t> possible values of D  after the three processes have completed execution are </a:t>
            </a:r>
            <a:r>
              <a:rPr lang="en" sz="1850" b="1">
                <a:solidFill>
                  <a:schemeClr val="dk1"/>
                </a:solidFill>
                <a:highlight>
                  <a:schemeClr val="lt1"/>
                </a:highlight>
                <a:latin typeface="Times New Roman"/>
                <a:ea typeface="Times New Roman"/>
                <a:cs typeface="Times New Roman"/>
                <a:sym typeface="Times New Roman"/>
              </a:rPr>
              <a:t>X  and Y </a:t>
            </a:r>
            <a:r>
              <a:rPr lang="en" sz="1850">
                <a:solidFill>
                  <a:schemeClr val="dk1"/>
                </a:solidFill>
                <a:highlight>
                  <a:schemeClr val="lt1"/>
                </a:highlight>
                <a:latin typeface="Times New Roman"/>
                <a:ea typeface="Times New Roman"/>
                <a:cs typeface="Times New Roman"/>
                <a:sym typeface="Times New Roman"/>
              </a:rPr>
              <a:t>respectively, then the value of </a:t>
            </a:r>
            <a:r>
              <a:rPr lang="en" sz="1850" b="1">
                <a:solidFill>
                  <a:schemeClr val="dk1"/>
                </a:solidFill>
                <a:highlight>
                  <a:schemeClr val="lt1"/>
                </a:highlight>
                <a:latin typeface="Times New Roman"/>
                <a:ea typeface="Times New Roman"/>
                <a:cs typeface="Times New Roman"/>
                <a:sym typeface="Times New Roman"/>
              </a:rPr>
              <a:t>Y-X</a:t>
            </a:r>
            <a:r>
              <a:rPr lang="en" sz="1850">
                <a:solidFill>
                  <a:schemeClr val="dk1"/>
                </a:solidFill>
                <a:highlight>
                  <a:schemeClr val="lt1"/>
                </a:highlight>
                <a:latin typeface="Times New Roman"/>
                <a:ea typeface="Times New Roman"/>
                <a:cs typeface="Times New Roman"/>
                <a:sym typeface="Times New Roman"/>
              </a:rPr>
              <a:t>  is ______</a:t>
            </a:r>
            <a:endParaRPr sz="2500" b="1">
              <a:latin typeface="Times New Roman"/>
              <a:ea typeface="Times New Roman"/>
              <a:cs typeface="Times New Roman"/>
              <a:sym typeface="Times New Roman"/>
            </a:endParaRPr>
          </a:p>
        </p:txBody>
      </p:sp>
      <p:pic>
        <p:nvPicPr>
          <p:cNvPr id="68" name="Google Shape;68;p15"/>
          <p:cNvPicPr preferRelativeResize="0"/>
          <p:nvPr/>
        </p:nvPicPr>
        <p:blipFill>
          <a:blip r:embed="rId3">
            <a:alphaModFix/>
          </a:blip>
          <a:stretch>
            <a:fillRect/>
          </a:stretch>
        </p:blipFill>
        <p:spPr>
          <a:xfrm>
            <a:off x="311699" y="3016424"/>
            <a:ext cx="3566997" cy="1729200"/>
          </a:xfrm>
          <a:prstGeom prst="rect">
            <a:avLst/>
          </a:prstGeom>
          <a:noFill/>
          <a:ln>
            <a:noFill/>
          </a:ln>
        </p:spPr>
      </p:pic>
      <p:sp>
        <p:nvSpPr>
          <p:cNvPr id="69" name="Google Shape;69;p15"/>
          <p:cNvSpPr txBox="1"/>
          <p:nvPr/>
        </p:nvSpPr>
        <p:spPr>
          <a:xfrm>
            <a:off x="4171175" y="3010950"/>
            <a:ext cx="5000100" cy="212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rPr>
              <a:t>Steps to get minimum Value (X) -</a:t>
            </a:r>
            <a:endParaRPr sz="1800">
              <a:solidFill>
                <a:schemeClr val="dk1"/>
              </a:solidFill>
            </a:endParaRPr>
          </a:p>
          <a:p>
            <a:pPr marL="914400" lvl="0" indent="-342900" algn="l" rtl="0">
              <a:spcBef>
                <a:spcPts val="0"/>
              </a:spcBef>
              <a:spcAft>
                <a:spcPts val="0"/>
              </a:spcAft>
              <a:buClr>
                <a:schemeClr val="dk1"/>
              </a:buClr>
              <a:buSzPts val="1800"/>
              <a:buChar char="➔"/>
            </a:pPr>
            <a:r>
              <a:rPr lang="en" sz="1800">
                <a:solidFill>
                  <a:schemeClr val="dk1"/>
                </a:solidFill>
              </a:rPr>
              <a:t>P2 reads D=100 and then context switches</a:t>
            </a:r>
            <a:endParaRPr sz="1800">
              <a:solidFill>
                <a:schemeClr val="dk1"/>
              </a:solidFill>
            </a:endParaRPr>
          </a:p>
          <a:p>
            <a:pPr marL="914400" lvl="0" indent="-342900" algn="l" rtl="0">
              <a:spcBef>
                <a:spcPts val="0"/>
              </a:spcBef>
              <a:spcAft>
                <a:spcPts val="0"/>
              </a:spcAft>
              <a:buClr>
                <a:schemeClr val="dk1"/>
              </a:buClr>
              <a:buSzPts val="1800"/>
              <a:buChar char="➔"/>
            </a:pPr>
            <a:r>
              <a:rPr lang="en" sz="1800">
                <a:solidFill>
                  <a:schemeClr val="dk1"/>
                </a:solidFill>
              </a:rPr>
              <a:t>P1 and P3 complete, context switches to P2</a:t>
            </a:r>
            <a:endParaRPr sz="1800">
              <a:solidFill>
                <a:schemeClr val="dk1"/>
              </a:solidFill>
            </a:endParaRPr>
          </a:p>
          <a:p>
            <a:pPr marL="914400" lvl="0" indent="-342900" algn="l" rtl="0">
              <a:spcBef>
                <a:spcPts val="0"/>
              </a:spcBef>
              <a:spcAft>
                <a:spcPts val="0"/>
              </a:spcAft>
              <a:buClr>
                <a:schemeClr val="dk1"/>
              </a:buClr>
              <a:buSzPts val="1800"/>
              <a:buChar char="➔"/>
            </a:pPr>
            <a:r>
              <a:rPr lang="en" sz="1800">
                <a:solidFill>
                  <a:schemeClr val="dk1"/>
                </a:solidFill>
              </a:rPr>
              <a:t>P2 decrements D=100 by 50</a:t>
            </a:r>
            <a:endParaRPr sz="1800">
              <a:solidFill>
                <a:schemeClr val="dk1"/>
              </a:solidFill>
            </a:endParaRPr>
          </a:p>
          <a:p>
            <a:pPr marL="0" lvl="0" indent="0" algn="ctr" rtl="0">
              <a:spcBef>
                <a:spcPts val="0"/>
              </a:spcBef>
              <a:spcAft>
                <a:spcPts val="0"/>
              </a:spcAft>
              <a:buNone/>
            </a:pPr>
            <a:r>
              <a:rPr lang="en" sz="1800">
                <a:solidFill>
                  <a:schemeClr val="dk1"/>
                </a:solidFill>
              </a:rPr>
              <a:t>X = 50</a:t>
            </a:r>
            <a:endParaRPr sz="1800">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a:t>Q 2. GATE 2019 (contd.)</a:t>
            </a:r>
            <a:endParaRPr/>
          </a:p>
          <a:p>
            <a:pPr marL="0" lvl="0" indent="0" algn="l" rtl="0">
              <a:spcBef>
                <a:spcPts val="0"/>
              </a:spcBef>
              <a:spcAft>
                <a:spcPts val="0"/>
              </a:spcAft>
              <a:buNone/>
            </a:pPr>
            <a:endParaRPr/>
          </a:p>
        </p:txBody>
      </p:sp>
      <p:sp>
        <p:nvSpPr>
          <p:cNvPr id="75" name="Google Shape;75;p16"/>
          <p:cNvSpPr txBox="1">
            <a:spLocks noGrp="1"/>
          </p:cNvSpPr>
          <p:nvPr>
            <p:ph type="body" idx="1"/>
          </p:nvPr>
        </p:nvSpPr>
        <p:spPr>
          <a:xfrm>
            <a:off x="311700" y="1152475"/>
            <a:ext cx="8520600" cy="17292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None/>
            </a:pPr>
            <a:r>
              <a:rPr lang="en" sz="1850">
                <a:solidFill>
                  <a:schemeClr val="dk1"/>
                </a:solidFill>
                <a:highlight>
                  <a:schemeClr val="lt1"/>
                </a:highlight>
                <a:latin typeface="Times New Roman"/>
                <a:ea typeface="Times New Roman"/>
                <a:cs typeface="Times New Roman"/>
                <a:sym typeface="Times New Roman"/>
              </a:rPr>
              <a:t>Consider </a:t>
            </a:r>
            <a:r>
              <a:rPr lang="en" sz="1850" b="1">
                <a:solidFill>
                  <a:schemeClr val="dk1"/>
                </a:solidFill>
                <a:highlight>
                  <a:schemeClr val="lt1"/>
                </a:highlight>
                <a:latin typeface="Times New Roman"/>
                <a:ea typeface="Times New Roman"/>
                <a:cs typeface="Times New Roman"/>
                <a:sym typeface="Times New Roman"/>
              </a:rPr>
              <a:t>three concurrent processes P1, P2 and P3</a:t>
            </a:r>
            <a:r>
              <a:rPr lang="en" sz="1850">
                <a:solidFill>
                  <a:schemeClr val="dk1"/>
                </a:solidFill>
                <a:highlight>
                  <a:schemeClr val="lt1"/>
                </a:highlight>
                <a:latin typeface="Times New Roman"/>
                <a:ea typeface="Times New Roman"/>
                <a:cs typeface="Times New Roman"/>
                <a:sym typeface="Times New Roman"/>
              </a:rPr>
              <a:t>  as shown below, which access a </a:t>
            </a:r>
            <a:r>
              <a:rPr lang="en" sz="1850" b="1">
                <a:solidFill>
                  <a:schemeClr val="dk1"/>
                </a:solidFill>
                <a:highlight>
                  <a:schemeClr val="lt1"/>
                </a:highlight>
                <a:latin typeface="Times New Roman"/>
                <a:ea typeface="Times New Roman"/>
                <a:cs typeface="Times New Roman"/>
                <a:sym typeface="Times New Roman"/>
              </a:rPr>
              <a:t>shared variable D</a:t>
            </a:r>
            <a:r>
              <a:rPr lang="en" sz="1850">
                <a:solidFill>
                  <a:schemeClr val="dk1"/>
                </a:solidFill>
                <a:highlight>
                  <a:schemeClr val="lt1"/>
                </a:highlight>
                <a:latin typeface="Times New Roman"/>
                <a:ea typeface="Times New Roman"/>
                <a:cs typeface="Times New Roman"/>
                <a:sym typeface="Times New Roman"/>
              </a:rPr>
              <a:t>  that has been initialized to 100. </a:t>
            </a:r>
            <a:endParaRPr sz="1850">
              <a:solidFill>
                <a:schemeClr val="dk1"/>
              </a:solidFill>
              <a:highlight>
                <a:schemeClr val="lt1"/>
              </a:highlight>
              <a:latin typeface="Times New Roman"/>
              <a:ea typeface="Times New Roman"/>
              <a:cs typeface="Times New Roman"/>
              <a:sym typeface="Times New Roman"/>
            </a:endParaRPr>
          </a:p>
          <a:p>
            <a:pPr marL="0" lvl="0" indent="0" algn="l" rtl="0">
              <a:lnSpc>
                <a:spcPct val="95000"/>
              </a:lnSpc>
              <a:spcBef>
                <a:spcPts val="1200"/>
              </a:spcBef>
              <a:spcAft>
                <a:spcPts val="1200"/>
              </a:spcAft>
              <a:buNone/>
            </a:pPr>
            <a:r>
              <a:rPr lang="en" sz="1850">
                <a:solidFill>
                  <a:schemeClr val="dk1"/>
                </a:solidFill>
                <a:highlight>
                  <a:schemeClr val="lt1"/>
                </a:highlight>
                <a:latin typeface="Times New Roman"/>
                <a:ea typeface="Times New Roman"/>
                <a:cs typeface="Times New Roman"/>
                <a:sym typeface="Times New Roman"/>
              </a:rPr>
              <a:t>The processes are executed on a uniprocessor system running a time-shared operating system. If the </a:t>
            </a:r>
            <a:r>
              <a:rPr lang="en" sz="1850" b="1">
                <a:solidFill>
                  <a:schemeClr val="dk1"/>
                </a:solidFill>
                <a:highlight>
                  <a:schemeClr val="lt1"/>
                </a:highlight>
                <a:latin typeface="Times New Roman"/>
                <a:ea typeface="Times New Roman"/>
                <a:cs typeface="Times New Roman"/>
                <a:sym typeface="Times New Roman"/>
              </a:rPr>
              <a:t>minimum and maximum</a:t>
            </a:r>
            <a:r>
              <a:rPr lang="en" sz="1850">
                <a:solidFill>
                  <a:schemeClr val="dk1"/>
                </a:solidFill>
                <a:highlight>
                  <a:schemeClr val="lt1"/>
                </a:highlight>
                <a:latin typeface="Times New Roman"/>
                <a:ea typeface="Times New Roman"/>
                <a:cs typeface="Times New Roman"/>
                <a:sym typeface="Times New Roman"/>
              </a:rPr>
              <a:t> possible values of D  after the three processes have completed execution are </a:t>
            </a:r>
            <a:r>
              <a:rPr lang="en" sz="1850" b="1">
                <a:solidFill>
                  <a:schemeClr val="dk1"/>
                </a:solidFill>
                <a:highlight>
                  <a:schemeClr val="lt1"/>
                </a:highlight>
                <a:latin typeface="Times New Roman"/>
                <a:ea typeface="Times New Roman"/>
                <a:cs typeface="Times New Roman"/>
                <a:sym typeface="Times New Roman"/>
              </a:rPr>
              <a:t>X  and Y </a:t>
            </a:r>
            <a:r>
              <a:rPr lang="en" sz="1850">
                <a:solidFill>
                  <a:schemeClr val="dk1"/>
                </a:solidFill>
                <a:highlight>
                  <a:schemeClr val="lt1"/>
                </a:highlight>
                <a:latin typeface="Times New Roman"/>
                <a:ea typeface="Times New Roman"/>
                <a:cs typeface="Times New Roman"/>
                <a:sym typeface="Times New Roman"/>
              </a:rPr>
              <a:t>respectively, then the value of </a:t>
            </a:r>
            <a:r>
              <a:rPr lang="en" sz="1850" b="1">
                <a:solidFill>
                  <a:schemeClr val="dk1"/>
                </a:solidFill>
                <a:highlight>
                  <a:schemeClr val="lt1"/>
                </a:highlight>
                <a:latin typeface="Times New Roman"/>
                <a:ea typeface="Times New Roman"/>
                <a:cs typeface="Times New Roman"/>
                <a:sym typeface="Times New Roman"/>
              </a:rPr>
              <a:t>Y-X</a:t>
            </a:r>
            <a:r>
              <a:rPr lang="en" sz="1850">
                <a:solidFill>
                  <a:schemeClr val="dk1"/>
                </a:solidFill>
                <a:highlight>
                  <a:schemeClr val="lt1"/>
                </a:highlight>
                <a:latin typeface="Times New Roman"/>
                <a:ea typeface="Times New Roman"/>
                <a:cs typeface="Times New Roman"/>
                <a:sym typeface="Times New Roman"/>
              </a:rPr>
              <a:t>  is ______</a:t>
            </a:r>
            <a:endParaRPr sz="2500" b="1">
              <a:latin typeface="Times New Roman"/>
              <a:ea typeface="Times New Roman"/>
              <a:cs typeface="Times New Roman"/>
              <a:sym typeface="Times New Roman"/>
            </a:endParaRPr>
          </a:p>
        </p:txBody>
      </p:sp>
      <p:pic>
        <p:nvPicPr>
          <p:cNvPr id="76" name="Google Shape;76;p16"/>
          <p:cNvPicPr preferRelativeResize="0"/>
          <p:nvPr/>
        </p:nvPicPr>
        <p:blipFill>
          <a:blip r:embed="rId3">
            <a:alphaModFix/>
          </a:blip>
          <a:stretch>
            <a:fillRect/>
          </a:stretch>
        </p:blipFill>
        <p:spPr>
          <a:xfrm>
            <a:off x="311699" y="3016424"/>
            <a:ext cx="3566997" cy="1729200"/>
          </a:xfrm>
          <a:prstGeom prst="rect">
            <a:avLst/>
          </a:prstGeom>
          <a:noFill/>
          <a:ln>
            <a:noFill/>
          </a:ln>
        </p:spPr>
      </p:pic>
      <p:sp>
        <p:nvSpPr>
          <p:cNvPr id="77" name="Google Shape;77;p16"/>
          <p:cNvSpPr txBox="1"/>
          <p:nvPr/>
        </p:nvSpPr>
        <p:spPr>
          <a:xfrm>
            <a:off x="4171175" y="3010950"/>
            <a:ext cx="5000100" cy="212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rPr>
              <a:t>Steps to get maximum Value (Y) -</a:t>
            </a:r>
            <a:endParaRPr sz="1800">
              <a:solidFill>
                <a:schemeClr val="dk1"/>
              </a:solidFill>
            </a:endParaRPr>
          </a:p>
          <a:p>
            <a:pPr marL="914400" lvl="0" indent="-342900" algn="l" rtl="0">
              <a:spcBef>
                <a:spcPts val="0"/>
              </a:spcBef>
              <a:spcAft>
                <a:spcPts val="0"/>
              </a:spcAft>
              <a:buClr>
                <a:schemeClr val="dk1"/>
              </a:buClr>
              <a:buSzPts val="1800"/>
              <a:buChar char="➔"/>
            </a:pPr>
            <a:r>
              <a:rPr lang="en" sz="1800">
                <a:solidFill>
                  <a:schemeClr val="dk1"/>
                </a:solidFill>
              </a:rPr>
              <a:t>P1 reads D=100 and then context switches to P2</a:t>
            </a:r>
            <a:endParaRPr sz="1800">
              <a:solidFill>
                <a:schemeClr val="dk1"/>
              </a:solidFill>
            </a:endParaRPr>
          </a:p>
          <a:p>
            <a:pPr marL="914400" lvl="0" indent="-342900" algn="l" rtl="0">
              <a:spcBef>
                <a:spcPts val="0"/>
              </a:spcBef>
              <a:spcAft>
                <a:spcPts val="0"/>
              </a:spcAft>
              <a:buClr>
                <a:schemeClr val="dk1"/>
              </a:buClr>
              <a:buSzPts val="1800"/>
              <a:buChar char="➔"/>
            </a:pPr>
            <a:r>
              <a:rPr lang="en" sz="1800">
                <a:solidFill>
                  <a:schemeClr val="dk1"/>
                </a:solidFill>
              </a:rPr>
              <a:t>P2 complete, context switches to P1</a:t>
            </a:r>
            <a:endParaRPr sz="1800">
              <a:solidFill>
                <a:schemeClr val="dk1"/>
              </a:solidFill>
            </a:endParaRPr>
          </a:p>
          <a:p>
            <a:pPr marL="914400" lvl="0" indent="-342900" algn="l" rtl="0">
              <a:spcBef>
                <a:spcPts val="0"/>
              </a:spcBef>
              <a:spcAft>
                <a:spcPts val="0"/>
              </a:spcAft>
              <a:buClr>
                <a:schemeClr val="dk1"/>
              </a:buClr>
              <a:buSzPts val="1800"/>
              <a:buChar char="➔"/>
            </a:pPr>
            <a:r>
              <a:rPr lang="en" sz="1800">
                <a:solidFill>
                  <a:schemeClr val="dk1"/>
                </a:solidFill>
              </a:rPr>
              <a:t>P1 completes making D=120.</a:t>
            </a:r>
            <a:endParaRPr sz="1800">
              <a:solidFill>
                <a:schemeClr val="dk1"/>
              </a:solidFill>
            </a:endParaRPr>
          </a:p>
          <a:p>
            <a:pPr marL="914400" lvl="0" indent="-342900" algn="l" rtl="0">
              <a:spcBef>
                <a:spcPts val="0"/>
              </a:spcBef>
              <a:spcAft>
                <a:spcPts val="0"/>
              </a:spcAft>
              <a:buClr>
                <a:schemeClr val="dk1"/>
              </a:buClr>
              <a:buSzPts val="1800"/>
              <a:buChar char="➔"/>
            </a:pPr>
            <a:r>
              <a:rPr lang="en" sz="1800">
                <a:solidFill>
                  <a:schemeClr val="dk1"/>
                </a:solidFill>
              </a:rPr>
              <a:t>P3 reads D = 120 and writes d = 130</a:t>
            </a:r>
            <a:endParaRPr sz="1800">
              <a:solidFill>
                <a:schemeClr val="dk1"/>
              </a:solidFill>
            </a:endParaRPr>
          </a:p>
          <a:p>
            <a:pPr marL="0" lvl="0" indent="0" algn="ctr" rtl="0">
              <a:spcBef>
                <a:spcPts val="0"/>
              </a:spcBef>
              <a:spcAft>
                <a:spcPts val="0"/>
              </a:spcAft>
              <a:buNone/>
            </a:pPr>
            <a:r>
              <a:rPr lang="en" sz="1800">
                <a:solidFill>
                  <a:schemeClr val="dk1"/>
                </a:solidFill>
              </a:rPr>
              <a:t>Y = 130</a:t>
            </a:r>
            <a:endParaRPr sz="1800">
              <a:solidFill>
                <a:schemeClr val="dk1"/>
              </a:solidFill>
            </a:endParaRPr>
          </a:p>
        </p:txBody>
      </p:sp>
      <p:sp>
        <p:nvSpPr>
          <p:cNvPr id="78" name="Google Shape;78;p16"/>
          <p:cNvSpPr txBox="1"/>
          <p:nvPr/>
        </p:nvSpPr>
        <p:spPr>
          <a:xfrm>
            <a:off x="7905500" y="2310150"/>
            <a:ext cx="598800" cy="52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200" b="1">
                <a:latin typeface="Times New Roman"/>
                <a:ea typeface="Times New Roman"/>
                <a:cs typeface="Times New Roman"/>
                <a:sym typeface="Times New Roman"/>
              </a:rPr>
              <a:t>80</a:t>
            </a:r>
            <a:endParaRPr sz="2200" b="1">
              <a:latin typeface="Times New Roman"/>
              <a:ea typeface="Times New Roman"/>
              <a:cs typeface="Times New Roman"/>
              <a:sym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78"/>
                                        </p:tgtEl>
                                        <p:attrNameLst>
                                          <p:attrName>style.visibility</p:attrName>
                                        </p:attrNameLst>
                                      </p:cBhvr>
                                      <p:to>
                                        <p:strVal val="visible"/>
                                      </p:to>
                                    </p:set>
                                    <p:anim calcmode="lin" valueType="num">
                                      <p:cBhvr additive="base">
                                        <p:cTn id="31" dur="1000"/>
                                        <p:tgtEl>
                                          <p:spTgt spid="7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Q3. GATE 2016</a:t>
            </a:r>
            <a:endParaRPr/>
          </a:p>
        </p:txBody>
      </p:sp>
      <p:sp>
        <p:nvSpPr>
          <p:cNvPr id="84" name="Google Shape;84;p17"/>
          <p:cNvSpPr txBox="1">
            <a:spLocks noGrp="1"/>
          </p:cNvSpPr>
          <p:nvPr>
            <p:ph type="body" idx="1"/>
          </p:nvPr>
        </p:nvSpPr>
        <p:spPr>
          <a:xfrm>
            <a:off x="311700" y="1017725"/>
            <a:ext cx="8520600" cy="2151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highlight>
                  <a:schemeClr val="lt1"/>
                </a:highlight>
                <a:latin typeface="Times New Roman"/>
                <a:ea typeface="Times New Roman"/>
                <a:cs typeface="Times New Roman"/>
                <a:sym typeface="Times New Roman"/>
              </a:rPr>
              <a:t>Consider the following two-process synchronization solution. The shared variable turn is initialized to zero. Which one of the following is TRUE?</a:t>
            </a:r>
            <a:endParaRPr>
              <a:solidFill>
                <a:schemeClr val="dk1"/>
              </a:solidFill>
              <a:highlight>
                <a:schemeClr val="lt1"/>
              </a:highlight>
              <a:latin typeface="Times New Roman"/>
              <a:ea typeface="Times New Roman"/>
              <a:cs typeface="Times New Roman"/>
              <a:sym typeface="Times New Roman"/>
            </a:endParaRPr>
          </a:p>
          <a:p>
            <a:pPr marL="457200" lvl="0" indent="-342900" algn="l" rtl="0">
              <a:spcBef>
                <a:spcPts val="1100"/>
              </a:spcBef>
              <a:spcAft>
                <a:spcPts val="0"/>
              </a:spcAft>
              <a:buClr>
                <a:schemeClr val="dk1"/>
              </a:buClr>
              <a:buSzPts val="1800"/>
              <a:buFont typeface="Times New Roman"/>
              <a:buAutoNum type="alphaUcPeriod"/>
            </a:pPr>
            <a:r>
              <a:rPr lang="en">
                <a:solidFill>
                  <a:schemeClr val="dk1"/>
                </a:solidFill>
                <a:highlight>
                  <a:schemeClr val="lt1"/>
                </a:highlight>
                <a:latin typeface="Times New Roman"/>
                <a:ea typeface="Times New Roman"/>
                <a:cs typeface="Times New Roman"/>
                <a:sym typeface="Times New Roman"/>
              </a:rPr>
              <a:t>This is a correct two- process synchronization solution. </a:t>
            </a:r>
            <a:endParaRPr>
              <a:solidFill>
                <a:schemeClr val="dk1"/>
              </a:solidFill>
              <a:highlight>
                <a:schemeClr val="lt1"/>
              </a:highlight>
              <a:latin typeface="Times New Roman"/>
              <a:ea typeface="Times New Roman"/>
              <a:cs typeface="Times New Roman"/>
              <a:sym typeface="Times New Roman"/>
            </a:endParaRPr>
          </a:p>
          <a:p>
            <a:pPr marL="457200" lvl="0" indent="-342900" algn="l" rtl="0">
              <a:spcBef>
                <a:spcPts val="0"/>
              </a:spcBef>
              <a:spcAft>
                <a:spcPts val="0"/>
              </a:spcAft>
              <a:buClr>
                <a:schemeClr val="dk1"/>
              </a:buClr>
              <a:buSzPts val="1800"/>
              <a:buFont typeface="Times New Roman"/>
              <a:buAutoNum type="alphaUcPeriod"/>
            </a:pPr>
            <a:r>
              <a:rPr lang="en">
                <a:solidFill>
                  <a:schemeClr val="dk1"/>
                </a:solidFill>
                <a:highlight>
                  <a:schemeClr val="lt1"/>
                </a:highlight>
                <a:latin typeface="Times New Roman"/>
                <a:ea typeface="Times New Roman"/>
                <a:cs typeface="Times New Roman"/>
                <a:sym typeface="Times New Roman"/>
              </a:rPr>
              <a:t>This solution violates mutual exclusion requirement.</a:t>
            </a:r>
            <a:endParaRPr>
              <a:solidFill>
                <a:schemeClr val="dk1"/>
              </a:solidFill>
              <a:highlight>
                <a:schemeClr val="lt1"/>
              </a:highlight>
              <a:latin typeface="Times New Roman"/>
              <a:ea typeface="Times New Roman"/>
              <a:cs typeface="Times New Roman"/>
              <a:sym typeface="Times New Roman"/>
            </a:endParaRPr>
          </a:p>
          <a:p>
            <a:pPr marL="457200" lvl="0" indent="-342900" algn="l" rtl="0">
              <a:spcBef>
                <a:spcPts val="0"/>
              </a:spcBef>
              <a:spcAft>
                <a:spcPts val="0"/>
              </a:spcAft>
              <a:buClr>
                <a:schemeClr val="dk1"/>
              </a:buClr>
              <a:buSzPts val="1800"/>
              <a:buFont typeface="Times New Roman"/>
              <a:buAutoNum type="alphaUcPeriod"/>
            </a:pPr>
            <a:r>
              <a:rPr lang="en">
                <a:solidFill>
                  <a:schemeClr val="dk1"/>
                </a:solidFill>
                <a:highlight>
                  <a:schemeClr val="lt1"/>
                </a:highlight>
                <a:latin typeface="Times New Roman"/>
                <a:ea typeface="Times New Roman"/>
                <a:cs typeface="Times New Roman"/>
                <a:sym typeface="Times New Roman"/>
              </a:rPr>
              <a:t>This solution violates progress requirement.</a:t>
            </a:r>
            <a:endParaRPr>
              <a:solidFill>
                <a:schemeClr val="dk1"/>
              </a:solidFill>
              <a:highlight>
                <a:schemeClr val="lt1"/>
              </a:highlight>
              <a:latin typeface="Times New Roman"/>
              <a:ea typeface="Times New Roman"/>
              <a:cs typeface="Times New Roman"/>
              <a:sym typeface="Times New Roman"/>
            </a:endParaRPr>
          </a:p>
          <a:p>
            <a:pPr marL="457200" lvl="0" indent="-342900" algn="l" rtl="0">
              <a:spcBef>
                <a:spcPts val="0"/>
              </a:spcBef>
              <a:spcAft>
                <a:spcPts val="0"/>
              </a:spcAft>
              <a:buClr>
                <a:schemeClr val="dk1"/>
              </a:buClr>
              <a:buSzPts val="1800"/>
              <a:buFont typeface="Times New Roman"/>
              <a:buAutoNum type="alphaUcPeriod"/>
            </a:pPr>
            <a:r>
              <a:rPr lang="en">
                <a:solidFill>
                  <a:schemeClr val="dk1"/>
                </a:solidFill>
                <a:highlight>
                  <a:schemeClr val="lt1"/>
                </a:highlight>
                <a:latin typeface="Times New Roman"/>
                <a:ea typeface="Times New Roman"/>
                <a:cs typeface="Times New Roman"/>
                <a:sym typeface="Times New Roman"/>
              </a:rPr>
              <a:t>This solution violates bounded wait requirement.</a:t>
            </a:r>
            <a:endParaRPr>
              <a:solidFill>
                <a:schemeClr val="dk1"/>
              </a:solidFill>
              <a:highlight>
                <a:schemeClr val="lt1"/>
              </a:highlight>
              <a:latin typeface="Times New Roman"/>
              <a:ea typeface="Times New Roman"/>
              <a:cs typeface="Times New Roman"/>
              <a:sym typeface="Times New Roman"/>
            </a:endParaRPr>
          </a:p>
          <a:p>
            <a:pPr marL="0" lvl="0" indent="0" algn="l" rtl="0">
              <a:spcBef>
                <a:spcPts val="1100"/>
              </a:spcBef>
              <a:spcAft>
                <a:spcPts val="1200"/>
              </a:spcAft>
              <a:buNone/>
            </a:pPr>
            <a:endParaRPr>
              <a:solidFill>
                <a:schemeClr val="dk1"/>
              </a:solidFill>
              <a:highlight>
                <a:schemeClr val="lt1"/>
              </a:highlight>
              <a:latin typeface="Times New Roman"/>
              <a:ea typeface="Times New Roman"/>
              <a:cs typeface="Times New Roman"/>
              <a:sym typeface="Times New Roman"/>
            </a:endParaRPr>
          </a:p>
        </p:txBody>
      </p:sp>
      <p:pic>
        <p:nvPicPr>
          <p:cNvPr id="85" name="Google Shape;85;p17"/>
          <p:cNvPicPr preferRelativeResize="0"/>
          <p:nvPr/>
        </p:nvPicPr>
        <p:blipFill>
          <a:blip r:embed="rId3">
            <a:alphaModFix/>
          </a:blip>
          <a:stretch>
            <a:fillRect/>
          </a:stretch>
        </p:blipFill>
        <p:spPr>
          <a:xfrm>
            <a:off x="311700" y="3169625"/>
            <a:ext cx="6199475" cy="1942800"/>
          </a:xfrm>
          <a:prstGeom prst="rect">
            <a:avLst/>
          </a:prstGeom>
          <a:noFill/>
          <a:ln>
            <a:noFill/>
          </a:ln>
        </p:spPr>
      </p:pic>
      <p:sp>
        <p:nvSpPr>
          <p:cNvPr id="86" name="Google Shape;86;p17"/>
          <p:cNvSpPr txBox="1"/>
          <p:nvPr/>
        </p:nvSpPr>
        <p:spPr>
          <a:xfrm>
            <a:off x="4875775" y="2426500"/>
            <a:ext cx="8337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dirty="0">
                <a:solidFill>
                  <a:schemeClr val="tx1"/>
                </a:solidFill>
              </a:rPr>
              <a:t>TRUE</a:t>
            </a:r>
            <a:endParaRPr sz="1800" b="1" dirty="0">
              <a:solidFill>
                <a:schemeClr val="tx1"/>
              </a:solidFill>
            </a:endParaRPr>
          </a:p>
        </p:txBody>
      </p:sp>
      <p:sp>
        <p:nvSpPr>
          <p:cNvPr id="87" name="Google Shape;87;p17"/>
          <p:cNvSpPr txBox="1"/>
          <p:nvPr/>
        </p:nvSpPr>
        <p:spPr>
          <a:xfrm>
            <a:off x="6511175" y="1460850"/>
            <a:ext cx="2633100" cy="3509400"/>
          </a:xfrm>
          <a:prstGeom prst="rect">
            <a:avLst/>
          </a:prstGeom>
          <a:noFill/>
          <a:ln>
            <a:noFill/>
          </a:ln>
        </p:spPr>
        <p:txBody>
          <a:bodyPr spcFirstLastPara="1" wrap="square" lIns="91425" tIns="91425" rIns="91425" bIns="91425" anchor="t" anchorCtr="0">
            <a:spAutoFit/>
          </a:bodyPr>
          <a:lstStyle/>
          <a:p>
            <a:pPr marL="457200" lvl="0" indent="-342900" algn="l" rtl="0">
              <a:spcBef>
                <a:spcPts val="0"/>
              </a:spcBef>
              <a:spcAft>
                <a:spcPts val="0"/>
              </a:spcAft>
              <a:buClr>
                <a:schemeClr val="dk2"/>
              </a:buClr>
              <a:buSzPts val="1800"/>
              <a:buChar char="➔"/>
            </a:pPr>
            <a:r>
              <a:rPr lang="en" sz="1800" dirty="0">
                <a:solidFill>
                  <a:schemeClr val="tx1"/>
                </a:solidFill>
              </a:rPr>
              <a:t>Turn = 0</a:t>
            </a:r>
            <a:endParaRPr sz="1800" dirty="0">
              <a:solidFill>
                <a:schemeClr val="tx1"/>
              </a:solidFill>
            </a:endParaRPr>
          </a:p>
          <a:p>
            <a:pPr marL="457200" lvl="0" indent="-342900" algn="l" rtl="0">
              <a:spcBef>
                <a:spcPts val="0"/>
              </a:spcBef>
              <a:spcAft>
                <a:spcPts val="0"/>
              </a:spcAft>
              <a:buClr>
                <a:schemeClr val="dk2"/>
              </a:buClr>
              <a:buSzPts val="1800"/>
              <a:buChar char="➔"/>
            </a:pPr>
            <a:r>
              <a:rPr lang="en" sz="1800" dirty="0">
                <a:solidFill>
                  <a:schemeClr val="tx1"/>
                </a:solidFill>
              </a:rPr>
              <a:t>P0 does not want to enter CS</a:t>
            </a:r>
            <a:endParaRPr sz="1800" dirty="0">
              <a:solidFill>
                <a:schemeClr val="tx1"/>
              </a:solidFill>
            </a:endParaRPr>
          </a:p>
          <a:p>
            <a:pPr marL="457200" lvl="0" indent="-342900" algn="l" rtl="0">
              <a:spcBef>
                <a:spcPts val="0"/>
              </a:spcBef>
              <a:spcAft>
                <a:spcPts val="0"/>
              </a:spcAft>
              <a:buClr>
                <a:schemeClr val="dk2"/>
              </a:buClr>
              <a:buSzPts val="1800"/>
              <a:buChar char="➔"/>
            </a:pPr>
            <a:r>
              <a:rPr lang="en" sz="1800" dirty="0">
                <a:solidFill>
                  <a:schemeClr val="tx1"/>
                </a:solidFill>
              </a:rPr>
              <a:t>P1 wishes to enter CS, but waits for P0</a:t>
            </a:r>
            <a:endParaRPr sz="1800" dirty="0">
              <a:solidFill>
                <a:schemeClr val="tx1"/>
              </a:solidFill>
            </a:endParaRPr>
          </a:p>
          <a:p>
            <a:pPr marL="457200" lvl="0" indent="-342900" algn="l" rtl="0">
              <a:spcBef>
                <a:spcPts val="0"/>
              </a:spcBef>
              <a:spcAft>
                <a:spcPts val="0"/>
              </a:spcAft>
              <a:buClr>
                <a:schemeClr val="dk2"/>
              </a:buClr>
              <a:buSzPts val="1800"/>
              <a:buChar char="➔"/>
            </a:pPr>
            <a:r>
              <a:rPr lang="en" sz="1800" dirty="0">
                <a:solidFill>
                  <a:schemeClr val="tx1"/>
                </a:solidFill>
              </a:rPr>
              <a:t>Even though CS is empty, no one is allowed to enter. Hence, </a:t>
            </a:r>
            <a:r>
              <a:rPr lang="en" sz="1800" b="1" dirty="0">
                <a:solidFill>
                  <a:schemeClr val="tx1"/>
                </a:solidFill>
              </a:rPr>
              <a:t>PROGRESS VIOLATED</a:t>
            </a:r>
            <a:endParaRPr sz="1800" b="1"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7">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7">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Q4. GATE 2021</a:t>
            </a:r>
            <a:endParaRPr/>
          </a:p>
        </p:txBody>
      </p:sp>
      <p:sp>
        <p:nvSpPr>
          <p:cNvPr id="93" name="Google Shape;93;p18"/>
          <p:cNvSpPr txBox="1">
            <a:spLocks noGrp="1"/>
          </p:cNvSpPr>
          <p:nvPr>
            <p:ph type="body" idx="1"/>
          </p:nvPr>
        </p:nvSpPr>
        <p:spPr>
          <a:xfrm>
            <a:off x="311700" y="1152475"/>
            <a:ext cx="8520600" cy="1482600"/>
          </a:xfrm>
          <a:prstGeom prst="rect">
            <a:avLst/>
          </a:prstGeom>
        </p:spPr>
        <p:txBody>
          <a:bodyPr spcFirstLastPara="1" wrap="square" lIns="91425" tIns="91425" rIns="91425" bIns="91425" anchor="t" anchorCtr="0">
            <a:normAutofit fontScale="92500" lnSpcReduction="10000"/>
          </a:bodyPr>
          <a:lstStyle/>
          <a:p>
            <a:pPr marL="0" lvl="0" indent="0" algn="l" rtl="0">
              <a:spcBef>
                <a:spcPts val="0"/>
              </a:spcBef>
              <a:spcAft>
                <a:spcPts val="1200"/>
              </a:spcAft>
              <a:buNone/>
            </a:pPr>
            <a:r>
              <a:rPr lang="en">
                <a:solidFill>
                  <a:schemeClr val="dk1"/>
                </a:solidFill>
                <a:highlight>
                  <a:schemeClr val="lt1"/>
                </a:highlight>
                <a:latin typeface="Times New Roman"/>
                <a:ea typeface="Times New Roman"/>
                <a:cs typeface="Times New Roman"/>
                <a:sym typeface="Times New Roman"/>
              </a:rPr>
              <a:t>Consider the following pseudocode, where </a:t>
            </a:r>
            <a:r>
              <a:rPr lang="en" b="1">
                <a:solidFill>
                  <a:schemeClr val="dk1"/>
                </a:solidFill>
                <a:highlight>
                  <a:schemeClr val="lt1"/>
                </a:highlight>
                <a:latin typeface="Times New Roman"/>
                <a:ea typeface="Times New Roman"/>
                <a:cs typeface="Times New Roman"/>
                <a:sym typeface="Times New Roman"/>
              </a:rPr>
              <a:t>S  is a semaphore initialized to 5</a:t>
            </a:r>
            <a:r>
              <a:rPr lang="en">
                <a:solidFill>
                  <a:schemeClr val="dk1"/>
                </a:solidFill>
                <a:highlight>
                  <a:schemeClr val="lt1"/>
                </a:highlight>
                <a:latin typeface="Times New Roman"/>
                <a:ea typeface="Times New Roman"/>
                <a:cs typeface="Times New Roman"/>
                <a:sym typeface="Times New Roman"/>
              </a:rPr>
              <a:t> in line #2  and </a:t>
            </a:r>
            <a:r>
              <a:rPr lang="en" b="1">
                <a:solidFill>
                  <a:schemeClr val="dk1"/>
                </a:solidFill>
                <a:highlight>
                  <a:schemeClr val="lt1"/>
                </a:highlight>
                <a:latin typeface="Times New Roman"/>
                <a:ea typeface="Times New Roman"/>
                <a:cs typeface="Times New Roman"/>
                <a:sym typeface="Times New Roman"/>
              </a:rPr>
              <a:t>counter  is a shared variable</a:t>
            </a:r>
            <a:r>
              <a:rPr lang="en">
                <a:solidFill>
                  <a:schemeClr val="dk1"/>
                </a:solidFill>
                <a:highlight>
                  <a:schemeClr val="lt1"/>
                </a:highlight>
                <a:latin typeface="Times New Roman"/>
                <a:ea typeface="Times New Roman"/>
                <a:cs typeface="Times New Roman"/>
                <a:sym typeface="Times New Roman"/>
              </a:rPr>
              <a:t> </a:t>
            </a:r>
            <a:r>
              <a:rPr lang="en" b="1">
                <a:solidFill>
                  <a:schemeClr val="dk1"/>
                </a:solidFill>
                <a:highlight>
                  <a:schemeClr val="lt1"/>
                </a:highlight>
                <a:latin typeface="Times New Roman"/>
                <a:ea typeface="Times New Roman"/>
                <a:cs typeface="Times New Roman"/>
                <a:sym typeface="Times New Roman"/>
              </a:rPr>
              <a:t>initialized to 0</a:t>
            </a:r>
            <a:r>
              <a:rPr lang="en">
                <a:solidFill>
                  <a:schemeClr val="dk1"/>
                </a:solidFill>
                <a:highlight>
                  <a:schemeClr val="lt1"/>
                </a:highlight>
                <a:latin typeface="Times New Roman"/>
                <a:ea typeface="Times New Roman"/>
                <a:cs typeface="Times New Roman"/>
                <a:sym typeface="Times New Roman"/>
              </a:rPr>
              <a:t>  in line #1. Assume that the increment operation in line  is </a:t>
            </a:r>
            <a:r>
              <a:rPr lang="en" b="1">
                <a:solidFill>
                  <a:schemeClr val="dk1"/>
                </a:solidFill>
                <a:highlight>
                  <a:schemeClr val="lt1"/>
                </a:highlight>
                <a:latin typeface="Times New Roman"/>
                <a:ea typeface="Times New Roman"/>
                <a:cs typeface="Times New Roman"/>
                <a:sym typeface="Times New Roman"/>
              </a:rPr>
              <a:t>not atomic. </a:t>
            </a:r>
            <a:r>
              <a:rPr lang="en">
                <a:solidFill>
                  <a:schemeClr val="dk1"/>
                </a:solidFill>
                <a:highlight>
                  <a:schemeClr val="lt1"/>
                </a:highlight>
                <a:latin typeface="Times New Roman"/>
                <a:ea typeface="Times New Roman"/>
                <a:cs typeface="Times New Roman"/>
                <a:sym typeface="Times New Roman"/>
              </a:rPr>
              <a:t>If five threads execute the function  concurrently, which of the following program behavior(s) is/are possible?</a:t>
            </a:r>
            <a:endParaRPr b="1">
              <a:solidFill>
                <a:schemeClr val="dk1"/>
              </a:solidFill>
              <a:highlight>
                <a:schemeClr val="lt1"/>
              </a:highlight>
              <a:latin typeface="Times New Roman"/>
              <a:ea typeface="Times New Roman"/>
              <a:cs typeface="Times New Roman"/>
              <a:sym typeface="Times New Roman"/>
            </a:endParaRPr>
          </a:p>
        </p:txBody>
      </p:sp>
      <p:pic>
        <p:nvPicPr>
          <p:cNvPr id="94" name="Google Shape;94;p18"/>
          <p:cNvPicPr preferRelativeResize="0"/>
          <p:nvPr/>
        </p:nvPicPr>
        <p:blipFill>
          <a:blip r:embed="rId3">
            <a:alphaModFix/>
          </a:blip>
          <a:stretch>
            <a:fillRect/>
          </a:stretch>
        </p:blipFill>
        <p:spPr>
          <a:xfrm>
            <a:off x="93700" y="2646900"/>
            <a:ext cx="2543175" cy="2114550"/>
          </a:xfrm>
          <a:prstGeom prst="rect">
            <a:avLst/>
          </a:prstGeom>
          <a:noFill/>
          <a:ln>
            <a:noFill/>
          </a:ln>
        </p:spPr>
      </p:pic>
      <p:sp>
        <p:nvSpPr>
          <p:cNvPr id="95" name="Google Shape;95;p18"/>
          <p:cNvSpPr txBox="1"/>
          <p:nvPr/>
        </p:nvSpPr>
        <p:spPr>
          <a:xfrm>
            <a:off x="2773725" y="2646900"/>
            <a:ext cx="6370200" cy="2373600"/>
          </a:xfrm>
          <a:prstGeom prst="rect">
            <a:avLst/>
          </a:prstGeom>
          <a:noFill/>
          <a:ln>
            <a:noFill/>
          </a:ln>
        </p:spPr>
        <p:txBody>
          <a:bodyPr spcFirstLastPara="1" wrap="square" lIns="91425" tIns="91425" rIns="91425" bIns="91425" anchor="t" anchorCtr="0">
            <a:spAutoFit/>
          </a:bodyPr>
          <a:lstStyle/>
          <a:p>
            <a:pPr marL="457200" lvl="0" indent="-342900" algn="l" rtl="0">
              <a:lnSpc>
                <a:spcPct val="115000"/>
              </a:lnSpc>
              <a:spcBef>
                <a:spcPts val="1100"/>
              </a:spcBef>
              <a:spcAft>
                <a:spcPts val="0"/>
              </a:spcAft>
              <a:buClr>
                <a:schemeClr val="dk1"/>
              </a:buClr>
              <a:buSzPts val="1800"/>
              <a:buFont typeface="Times New Roman"/>
              <a:buAutoNum type="alphaUcPeriod"/>
            </a:pPr>
            <a:r>
              <a:rPr lang="en" sz="1800">
                <a:solidFill>
                  <a:schemeClr val="dk1"/>
                </a:solidFill>
                <a:highlight>
                  <a:schemeClr val="lt1"/>
                </a:highlight>
                <a:latin typeface="Times New Roman"/>
                <a:ea typeface="Times New Roman"/>
                <a:cs typeface="Times New Roman"/>
                <a:sym typeface="Times New Roman"/>
              </a:rPr>
              <a:t>The </a:t>
            </a:r>
            <a:r>
              <a:rPr lang="en" sz="1800" b="1">
                <a:solidFill>
                  <a:schemeClr val="dk1"/>
                </a:solidFill>
                <a:highlight>
                  <a:schemeClr val="lt1"/>
                </a:highlight>
                <a:latin typeface="Times New Roman"/>
                <a:ea typeface="Times New Roman"/>
                <a:cs typeface="Times New Roman"/>
                <a:sym typeface="Times New Roman"/>
              </a:rPr>
              <a:t>value of counter is 5</a:t>
            </a:r>
            <a:r>
              <a:rPr lang="en" sz="1800">
                <a:solidFill>
                  <a:schemeClr val="dk1"/>
                </a:solidFill>
                <a:highlight>
                  <a:schemeClr val="lt1"/>
                </a:highlight>
                <a:latin typeface="Times New Roman"/>
                <a:ea typeface="Times New Roman"/>
                <a:cs typeface="Times New Roman"/>
                <a:sym typeface="Times New Roman"/>
              </a:rPr>
              <a:t> after all the threads successfully complete the execution of parop</a:t>
            </a:r>
            <a:endParaRPr sz="1800">
              <a:solidFill>
                <a:schemeClr val="dk1"/>
              </a:solidFill>
              <a:highlight>
                <a:schemeClr val="lt1"/>
              </a:highlight>
              <a:latin typeface="Times New Roman"/>
              <a:ea typeface="Times New Roman"/>
              <a:cs typeface="Times New Roman"/>
              <a:sym typeface="Times New Roman"/>
            </a:endParaRPr>
          </a:p>
          <a:p>
            <a:pPr marL="457200" lvl="0" indent="-342900" algn="l" rtl="0">
              <a:lnSpc>
                <a:spcPct val="115000"/>
              </a:lnSpc>
              <a:spcBef>
                <a:spcPts val="0"/>
              </a:spcBef>
              <a:spcAft>
                <a:spcPts val="0"/>
              </a:spcAft>
              <a:buClr>
                <a:schemeClr val="dk1"/>
              </a:buClr>
              <a:buSzPts val="1800"/>
              <a:buFont typeface="Times New Roman"/>
              <a:buAutoNum type="alphaUcPeriod"/>
            </a:pPr>
            <a:r>
              <a:rPr lang="en" sz="1800">
                <a:solidFill>
                  <a:schemeClr val="dk1"/>
                </a:solidFill>
                <a:highlight>
                  <a:schemeClr val="lt1"/>
                </a:highlight>
                <a:latin typeface="Times New Roman"/>
                <a:ea typeface="Times New Roman"/>
                <a:cs typeface="Times New Roman"/>
                <a:sym typeface="Times New Roman"/>
              </a:rPr>
              <a:t>The </a:t>
            </a:r>
            <a:r>
              <a:rPr lang="en" sz="1800" b="1">
                <a:solidFill>
                  <a:schemeClr val="dk1"/>
                </a:solidFill>
                <a:highlight>
                  <a:schemeClr val="lt1"/>
                </a:highlight>
                <a:latin typeface="Times New Roman"/>
                <a:ea typeface="Times New Roman"/>
                <a:cs typeface="Times New Roman"/>
                <a:sym typeface="Times New Roman"/>
              </a:rPr>
              <a:t>value of counter is 1</a:t>
            </a:r>
            <a:r>
              <a:rPr lang="en" sz="1800">
                <a:solidFill>
                  <a:schemeClr val="dk1"/>
                </a:solidFill>
                <a:highlight>
                  <a:schemeClr val="lt1"/>
                </a:highlight>
                <a:latin typeface="Times New Roman"/>
                <a:ea typeface="Times New Roman"/>
                <a:cs typeface="Times New Roman"/>
                <a:sym typeface="Times New Roman"/>
              </a:rPr>
              <a:t> after all the threads successfully complete the execution of parop</a:t>
            </a:r>
            <a:endParaRPr sz="1800">
              <a:solidFill>
                <a:schemeClr val="dk1"/>
              </a:solidFill>
              <a:highlight>
                <a:schemeClr val="lt1"/>
              </a:highlight>
              <a:latin typeface="Times New Roman"/>
              <a:ea typeface="Times New Roman"/>
              <a:cs typeface="Times New Roman"/>
              <a:sym typeface="Times New Roman"/>
            </a:endParaRPr>
          </a:p>
          <a:p>
            <a:pPr marL="457200" lvl="0" indent="-342900" algn="l" rtl="0">
              <a:lnSpc>
                <a:spcPct val="115000"/>
              </a:lnSpc>
              <a:spcBef>
                <a:spcPts val="0"/>
              </a:spcBef>
              <a:spcAft>
                <a:spcPts val="0"/>
              </a:spcAft>
              <a:buClr>
                <a:schemeClr val="dk1"/>
              </a:buClr>
              <a:buSzPts val="1800"/>
              <a:buFont typeface="Times New Roman"/>
              <a:buAutoNum type="alphaUcPeriod"/>
            </a:pPr>
            <a:r>
              <a:rPr lang="en" sz="1800">
                <a:solidFill>
                  <a:schemeClr val="dk1"/>
                </a:solidFill>
                <a:highlight>
                  <a:schemeClr val="lt1"/>
                </a:highlight>
                <a:latin typeface="Times New Roman"/>
                <a:ea typeface="Times New Roman"/>
                <a:cs typeface="Times New Roman"/>
                <a:sym typeface="Times New Roman"/>
              </a:rPr>
              <a:t>The </a:t>
            </a:r>
            <a:r>
              <a:rPr lang="en" sz="1800" b="1">
                <a:solidFill>
                  <a:schemeClr val="dk1"/>
                </a:solidFill>
                <a:highlight>
                  <a:schemeClr val="lt1"/>
                </a:highlight>
                <a:latin typeface="Times New Roman"/>
                <a:ea typeface="Times New Roman"/>
                <a:cs typeface="Times New Roman"/>
                <a:sym typeface="Times New Roman"/>
              </a:rPr>
              <a:t>value of counter is 0</a:t>
            </a:r>
            <a:r>
              <a:rPr lang="en" sz="1800">
                <a:solidFill>
                  <a:schemeClr val="dk1"/>
                </a:solidFill>
                <a:highlight>
                  <a:schemeClr val="lt1"/>
                </a:highlight>
                <a:latin typeface="Times New Roman"/>
                <a:ea typeface="Times New Roman"/>
                <a:cs typeface="Times New Roman"/>
                <a:sym typeface="Times New Roman"/>
              </a:rPr>
              <a:t> after all the threads successfully complete the execution of parop</a:t>
            </a:r>
            <a:endParaRPr sz="1800">
              <a:solidFill>
                <a:schemeClr val="dk1"/>
              </a:solidFill>
              <a:highlight>
                <a:schemeClr val="lt1"/>
              </a:highlight>
              <a:latin typeface="Times New Roman"/>
              <a:ea typeface="Times New Roman"/>
              <a:cs typeface="Times New Roman"/>
              <a:sym typeface="Times New Roman"/>
            </a:endParaRPr>
          </a:p>
          <a:p>
            <a:pPr marL="457200" lvl="0" indent="-342900" algn="l" rtl="0">
              <a:lnSpc>
                <a:spcPct val="115000"/>
              </a:lnSpc>
              <a:spcBef>
                <a:spcPts val="0"/>
              </a:spcBef>
              <a:spcAft>
                <a:spcPts val="0"/>
              </a:spcAft>
              <a:buClr>
                <a:schemeClr val="dk1"/>
              </a:buClr>
              <a:buSzPts val="1800"/>
              <a:buFont typeface="Times New Roman"/>
              <a:buAutoNum type="alphaUcPeriod"/>
            </a:pPr>
            <a:r>
              <a:rPr lang="en" sz="1800">
                <a:solidFill>
                  <a:schemeClr val="dk1"/>
                </a:solidFill>
                <a:highlight>
                  <a:schemeClr val="lt1"/>
                </a:highlight>
                <a:latin typeface="Times New Roman"/>
                <a:ea typeface="Times New Roman"/>
                <a:cs typeface="Times New Roman"/>
                <a:sym typeface="Times New Roman"/>
              </a:rPr>
              <a:t>There is a deadlock involving all the threads</a:t>
            </a:r>
            <a:endParaRPr sz="1800">
              <a:solidFill>
                <a:schemeClr val="dk2"/>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Solution</a:t>
            </a:r>
            <a:endParaRPr/>
          </a:p>
        </p:txBody>
      </p:sp>
      <p:sp>
        <p:nvSpPr>
          <p:cNvPr id="101" name="Google Shape;101;p19"/>
          <p:cNvSpPr txBox="1">
            <a:spLocks noGrp="1"/>
          </p:cNvSpPr>
          <p:nvPr>
            <p:ph type="body" idx="1"/>
          </p:nvPr>
        </p:nvSpPr>
        <p:spPr>
          <a:xfrm>
            <a:off x="0" y="1152475"/>
            <a:ext cx="9144000" cy="3990900"/>
          </a:xfrm>
          <a:prstGeom prst="rect">
            <a:avLst/>
          </a:prstGeom>
        </p:spPr>
        <p:txBody>
          <a:bodyPr spcFirstLastPara="1" wrap="square" lIns="91425" tIns="91425" rIns="91425" bIns="91425" anchor="t" anchorCtr="0">
            <a:normAutofit fontScale="77500" lnSpcReduction="20000"/>
          </a:bodyPr>
          <a:lstStyle/>
          <a:p>
            <a:pPr marL="457200" lvl="0" indent="-325755" algn="l" rtl="0">
              <a:spcBef>
                <a:spcPts val="1100"/>
              </a:spcBef>
              <a:spcAft>
                <a:spcPts val="0"/>
              </a:spcAft>
              <a:buClr>
                <a:schemeClr val="dk1"/>
              </a:buClr>
              <a:buSzPct val="100000"/>
              <a:buFont typeface="Times New Roman"/>
              <a:buAutoNum type="alphaUcPeriod"/>
            </a:pPr>
            <a:r>
              <a:rPr lang="en">
                <a:solidFill>
                  <a:schemeClr val="dk1"/>
                </a:solidFill>
                <a:highlight>
                  <a:schemeClr val="lt1"/>
                </a:highlight>
                <a:latin typeface="Times New Roman"/>
                <a:ea typeface="Times New Roman"/>
                <a:cs typeface="Times New Roman"/>
                <a:sym typeface="Times New Roman"/>
              </a:rPr>
              <a:t>The </a:t>
            </a:r>
            <a:r>
              <a:rPr lang="en" b="1">
                <a:solidFill>
                  <a:schemeClr val="dk1"/>
                </a:solidFill>
                <a:highlight>
                  <a:schemeClr val="lt1"/>
                </a:highlight>
                <a:latin typeface="Times New Roman"/>
                <a:ea typeface="Times New Roman"/>
                <a:cs typeface="Times New Roman"/>
                <a:sym typeface="Times New Roman"/>
              </a:rPr>
              <a:t>value of counter is 5</a:t>
            </a:r>
            <a:r>
              <a:rPr lang="en">
                <a:solidFill>
                  <a:schemeClr val="dk1"/>
                </a:solidFill>
                <a:highlight>
                  <a:schemeClr val="lt1"/>
                </a:highlight>
                <a:latin typeface="Times New Roman"/>
                <a:ea typeface="Times New Roman"/>
                <a:cs typeface="Times New Roman"/>
                <a:sym typeface="Times New Roman"/>
              </a:rPr>
              <a:t> after all the threads successfully complete the execution of parop</a:t>
            </a:r>
            <a:endParaRPr>
              <a:solidFill>
                <a:schemeClr val="dk1"/>
              </a:solidFill>
              <a:highlight>
                <a:schemeClr val="lt1"/>
              </a:highlight>
              <a:latin typeface="Times New Roman"/>
              <a:ea typeface="Times New Roman"/>
              <a:cs typeface="Times New Roman"/>
              <a:sym typeface="Times New Roman"/>
            </a:endParaRPr>
          </a:p>
          <a:p>
            <a:pPr marL="0" lvl="0" indent="0" algn="l" rtl="0">
              <a:spcBef>
                <a:spcPts val="1100"/>
              </a:spcBef>
              <a:spcAft>
                <a:spcPts val="0"/>
              </a:spcAft>
              <a:buNone/>
            </a:pPr>
            <a:r>
              <a:rPr lang="en" b="1">
                <a:solidFill>
                  <a:schemeClr val="dk1"/>
                </a:solidFill>
                <a:highlight>
                  <a:schemeClr val="lt1"/>
                </a:highlight>
                <a:latin typeface="Times New Roman"/>
                <a:ea typeface="Times New Roman"/>
                <a:cs typeface="Times New Roman"/>
                <a:sym typeface="Times New Roman"/>
              </a:rPr>
              <a:t>POSSIBLE - </a:t>
            </a:r>
            <a:r>
              <a:rPr lang="en">
                <a:solidFill>
                  <a:schemeClr val="dk1"/>
                </a:solidFill>
                <a:highlight>
                  <a:schemeClr val="lt1"/>
                </a:highlight>
                <a:latin typeface="Times New Roman"/>
                <a:ea typeface="Times New Roman"/>
                <a:cs typeface="Times New Roman"/>
                <a:sym typeface="Times New Roman"/>
              </a:rPr>
              <a:t>All processes execute sequentially </a:t>
            </a:r>
            <a:endParaRPr>
              <a:solidFill>
                <a:schemeClr val="dk1"/>
              </a:solidFill>
              <a:highlight>
                <a:schemeClr val="lt1"/>
              </a:highlight>
              <a:latin typeface="Times New Roman"/>
              <a:ea typeface="Times New Roman"/>
              <a:cs typeface="Times New Roman"/>
              <a:sym typeface="Times New Roman"/>
            </a:endParaRPr>
          </a:p>
          <a:p>
            <a:pPr marL="457200" lvl="0" indent="-325755" algn="l" rtl="0">
              <a:spcBef>
                <a:spcPts val="1100"/>
              </a:spcBef>
              <a:spcAft>
                <a:spcPts val="0"/>
              </a:spcAft>
              <a:buClr>
                <a:schemeClr val="dk1"/>
              </a:buClr>
              <a:buSzPct val="100000"/>
              <a:buFont typeface="Times New Roman"/>
              <a:buAutoNum type="alphaUcPeriod"/>
            </a:pPr>
            <a:r>
              <a:rPr lang="en">
                <a:solidFill>
                  <a:schemeClr val="dk1"/>
                </a:solidFill>
                <a:highlight>
                  <a:schemeClr val="lt1"/>
                </a:highlight>
                <a:latin typeface="Times New Roman"/>
                <a:ea typeface="Times New Roman"/>
                <a:cs typeface="Times New Roman"/>
                <a:sym typeface="Times New Roman"/>
              </a:rPr>
              <a:t>The </a:t>
            </a:r>
            <a:r>
              <a:rPr lang="en" b="1">
                <a:solidFill>
                  <a:schemeClr val="dk1"/>
                </a:solidFill>
                <a:highlight>
                  <a:schemeClr val="lt1"/>
                </a:highlight>
                <a:latin typeface="Times New Roman"/>
                <a:ea typeface="Times New Roman"/>
                <a:cs typeface="Times New Roman"/>
                <a:sym typeface="Times New Roman"/>
              </a:rPr>
              <a:t>value of counter is 1</a:t>
            </a:r>
            <a:r>
              <a:rPr lang="en">
                <a:solidFill>
                  <a:schemeClr val="dk1"/>
                </a:solidFill>
                <a:highlight>
                  <a:schemeClr val="lt1"/>
                </a:highlight>
                <a:latin typeface="Times New Roman"/>
                <a:ea typeface="Times New Roman"/>
                <a:cs typeface="Times New Roman"/>
                <a:sym typeface="Times New Roman"/>
              </a:rPr>
              <a:t> after all the threads successfully complete the execution of parop</a:t>
            </a:r>
            <a:endParaRPr>
              <a:solidFill>
                <a:schemeClr val="dk1"/>
              </a:solidFill>
              <a:highlight>
                <a:schemeClr val="lt1"/>
              </a:highlight>
              <a:latin typeface="Times New Roman"/>
              <a:ea typeface="Times New Roman"/>
              <a:cs typeface="Times New Roman"/>
              <a:sym typeface="Times New Roman"/>
            </a:endParaRPr>
          </a:p>
          <a:p>
            <a:pPr marL="0" lvl="0" indent="0" algn="l" rtl="0">
              <a:spcBef>
                <a:spcPts val="1100"/>
              </a:spcBef>
              <a:spcAft>
                <a:spcPts val="0"/>
              </a:spcAft>
              <a:buNone/>
            </a:pPr>
            <a:r>
              <a:rPr lang="en" b="1">
                <a:solidFill>
                  <a:schemeClr val="dk1"/>
                </a:solidFill>
                <a:highlight>
                  <a:schemeClr val="lt1"/>
                </a:highlight>
                <a:latin typeface="Times New Roman"/>
                <a:ea typeface="Times New Roman"/>
                <a:cs typeface="Times New Roman"/>
                <a:sym typeface="Times New Roman"/>
              </a:rPr>
              <a:t>POSSIBLE -</a:t>
            </a:r>
            <a:r>
              <a:rPr lang="en">
                <a:solidFill>
                  <a:schemeClr val="dk1"/>
                </a:solidFill>
                <a:highlight>
                  <a:schemeClr val="lt1"/>
                </a:highlight>
                <a:latin typeface="Times New Roman"/>
                <a:ea typeface="Times New Roman"/>
                <a:cs typeface="Times New Roman"/>
                <a:sym typeface="Times New Roman"/>
              </a:rPr>
              <a:t> Increment operation is not atomic. Suppose,</a:t>
            </a:r>
            <a:endParaRPr>
              <a:solidFill>
                <a:schemeClr val="dk1"/>
              </a:solidFill>
              <a:highlight>
                <a:schemeClr val="lt1"/>
              </a:highlight>
              <a:latin typeface="Times New Roman"/>
              <a:ea typeface="Times New Roman"/>
              <a:cs typeface="Times New Roman"/>
              <a:sym typeface="Times New Roman"/>
            </a:endParaRPr>
          </a:p>
          <a:p>
            <a:pPr marL="914400" lvl="0" indent="-325755" algn="l" rtl="0">
              <a:spcBef>
                <a:spcPts val="1100"/>
              </a:spcBef>
              <a:spcAft>
                <a:spcPts val="0"/>
              </a:spcAft>
              <a:buClr>
                <a:schemeClr val="dk1"/>
              </a:buClr>
              <a:buSzPct val="100000"/>
              <a:buFont typeface="Times New Roman"/>
              <a:buChar char="➔"/>
            </a:pPr>
            <a:r>
              <a:rPr lang="en">
                <a:solidFill>
                  <a:schemeClr val="dk1"/>
                </a:solidFill>
                <a:highlight>
                  <a:schemeClr val="lt1"/>
                </a:highlight>
                <a:latin typeface="Times New Roman"/>
                <a:ea typeface="Times New Roman"/>
                <a:cs typeface="Times New Roman"/>
                <a:sym typeface="Times New Roman"/>
              </a:rPr>
              <a:t>P1 reads counter value and there is a context switch</a:t>
            </a:r>
            <a:endParaRPr>
              <a:solidFill>
                <a:schemeClr val="dk1"/>
              </a:solidFill>
              <a:highlight>
                <a:schemeClr val="lt1"/>
              </a:highlight>
              <a:latin typeface="Times New Roman"/>
              <a:ea typeface="Times New Roman"/>
              <a:cs typeface="Times New Roman"/>
              <a:sym typeface="Times New Roman"/>
            </a:endParaRPr>
          </a:p>
          <a:p>
            <a:pPr marL="914400" lvl="0" indent="-325755" algn="l" rtl="0">
              <a:spcBef>
                <a:spcPts val="0"/>
              </a:spcBef>
              <a:spcAft>
                <a:spcPts val="0"/>
              </a:spcAft>
              <a:buClr>
                <a:schemeClr val="dk1"/>
              </a:buClr>
              <a:buSzPct val="100000"/>
              <a:buFont typeface="Times New Roman"/>
              <a:buChar char="➔"/>
            </a:pPr>
            <a:r>
              <a:rPr lang="en">
                <a:solidFill>
                  <a:schemeClr val="dk1"/>
                </a:solidFill>
                <a:highlight>
                  <a:schemeClr val="lt1"/>
                </a:highlight>
                <a:latin typeface="Times New Roman"/>
                <a:ea typeface="Times New Roman"/>
                <a:cs typeface="Times New Roman"/>
                <a:sym typeface="Times New Roman"/>
              </a:rPr>
              <a:t>P2 - P5 complete execution making counter 4, then context switches back to P1</a:t>
            </a:r>
            <a:endParaRPr>
              <a:solidFill>
                <a:schemeClr val="dk1"/>
              </a:solidFill>
              <a:highlight>
                <a:schemeClr val="lt1"/>
              </a:highlight>
              <a:latin typeface="Times New Roman"/>
              <a:ea typeface="Times New Roman"/>
              <a:cs typeface="Times New Roman"/>
              <a:sym typeface="Times New Roman"/>
            </a:endParaRPr>
          </a:p>
          <a:p>
            <a:pPr marL="914400" lvl="0" indent="-325755" algn="l" rtl="0">
              <a:spcBef>
                <a:spcPts val="0"/>
              </a:spcBef>
              <a:spcAft>
                <a:spcPts val="0"/>
              </a:spcAft>
              <a:buClr>
                <a:schemeClr val="dk1"/>
              </a:buClr>
              <a:buSzPct val="100000"/>
              <a:buFont typeface="Times New Roman"/>
              <a:buChar char="➔"/>
            </a:pPr>
            <a:r>
              <a:rPr lang="en">
                <a:solidFill>
                  <a:schemeClr val="dk1"/>
                </a:solidFill>
                <a:highlight>
                  <a:schemeClr val="lt1"/>
                </a:highlight>
                <a:latin typeface="Times New Roman"/>
                <a:ea typeface="Times New Roman"/>
                <a:cs typeface="Times New Roman"/>
                <a:sym typeface="Times New Roman"/>
              </a:rPr>
              <a:t>Before switching P1 read value of counter to be 0, hence does 0++, making the final value of counter to be 1</a:t>
            </a:r>
            <a:endParaRPr>
              <a:solidFill>
                <a:schemeClr val="dk1"/>
              </a:solidFill>
              <a:highlight>
                <a:schemeClr val="lt1"/>
              </a:highlight>
              <a:latin typeface="Times New Roman"/>
              <a:ea typeface="Times New Roman"/>
              <a:cs typeface="Times New Roman"/>
              <a:sym typeface="Times New Roman"/>
            </a:endParaRPr>
          </a:p>
          <a:p>
            <a:pPr marL="457200" lvl="0" indent="-325755" algn="l" rtl="0">
              <a:spcBef>
                <a:spcPts val="0"/>
              </a:spcBef>
              <a:spcAft>
                <a:spcPts val="0"/>
              </a:spcAft>
              <a:buClr>
                <a:schemeClr val="dk1"/>
              </a:buClr>
              <a:buSzPct val="100000"/>
              <a:buFont typeface="Times New Roman"/>
              <a:buAutoNum type="alphaUcPeriod"/>
            </a:pPr>
            <a:r>
              <a:rPr lang="en">
                <a:solidFill>
                  <a:schemeClr val="dk1"/>
                </a:solidFill>
                <a:highlight>
                  <a:schemeClr val="lt1"/>
                </a:highlight>
                <a:latin typeface="Times New Roman"/>
                <a:ea typeface="Times New Roman"/>
                <a:cs typeface="Times New Roman"/>
                <a:sym typeface="Times New Roman"/>
              </a:rPr>
              <a:t>The </a:t>
            </a:r>
            <a:r>
              <a:rPr lang="en" b="1">
                <a:solidFill>
                  <a:schemeClr val="dk1"/>
                </a:solidFill>
                <a:highlight>
                  <a:schemeClr val="lt1"/>
                </a:highlight>
                <a:latin typeface="Times New Roman"/>
                <a:ea typeface="Times New Roman"/>
                <a:cs typeface="Times New Roman"/>
                <a:sym typeface="Times New Roman"/>
              </a:rPr>
              <a:t>value of counter is 0</a:t>
            </a:r>
            <a:r>
              <a:rPr lang="en">
                <a:solidFill>
                  <a:schemeClr val="dk1"/>
                </a:solidFill>
                <a:highlight>
                  <a:schemeClr val="lt1"/>
                </a:highlight>
                <a:latin typeface="Times New Roman"/>
                <a:ea typeface="Times New Roman"/>
                <a:cs typeface="Times New Roman"/>
                <a:sym typeface="Times New Roman"/>
              </a:rPr>
              <a:t> after all the threads successfully complete the execution of parop</a:t>
            </a:r>
            <a:endParaRPr>
              <a:solidFill>
                <a:schemeClr val="dk1"/>
              </a:solidFill>
              <a:highlight>
                <a:schemeClr val="lt1"/>
              </a:highlight>
              <a:latin typeface="Times New Roman"/>
              <a:ea typeface="Times New Roman"/>
              <a:cs typeface="Times New Roman"/>
              <a:sym typeface="Times New Roman"/>
            </a:endParaRPr>
          </a:p>
          <a:p>
            <a:pPr marL="0" lvl="0" indent="0" algn="l" rtl="0">
              <a:spcBef>
                <a:spcPts val="1100"/>
              </a:spcBef>
              <a:spcAft>
                <a:spcPts val="0"/>
              </a:spcAft>
              <a:buNone/>
            </a:pPr>
            <a:r>
              <a:rPr lang="en" b="1">
                <a:solidFill>
                  <a:schemeClr val="dk1"/>
                </a:solidFill>
                <a:highlight>
                  <a:schemeClr val="lt1"/>
                </a:highlight>
                <a:latin typeface="Times New Roman"/>
                <a:ea typeface="Times New Roman"/>
                <a:cs typeface="Times New Roman"/>
                <a:sym typeface="Times New Roman"/>
              </a:rPr>
              <a:t>NOT POSSIBLE!!</a:t>
            </a:r>
            <a:endParaRPr b="1">
              <a:solidFill>
                <a:schemeClr val="dk1"/>
              </a:solidFill>
              <a:highlight>
                <a:schemeClr val="lt1"/>
              </a:highlight>
              <a:latin typeface="Times New Roman"/>
              <a:ea typeface="Times New Roman"/>
              <a:cs typeface="Times New Roman"/>
              <a:sym typeface="Times New Roman"/>
            </a:endParaRPr>
          </a:p>
          <a:p>
            <a:pPr marL="457200" lvl="0" indent="-325755" algn="l" rtl="0">
              <a:spcBef>
                <a:spcPts val="1100"/>
              </a:spcBef>
              <a:spcAft>
                <a:spcPts val="0"/>
              </a:spcAft>
              <a:buClr>
                <a:schemeClr val="dk1"/>
              </a:buClr>
              <a:buSzPct val="100000"/>
              <a:buFont typeface="Times New Roman"/>
              <a:buAutoNum type="alphaUcPeriod"/>
            </a:pPr>
            <a:r>
              <a:rPr lang="en">
                <a:solidFill>
                  <a:schemeClr val="dk1"/>
                </a:solidFill>
                <a:highlight>
                  <a:schemeClr val="lt1"/>
                </a:highlight>
                <a:latin typeface="Times New Roman"/>
                <a:ea typeface="Times New Roman"/>
                <a:cs typeface="Times New Roman"/>
                <a:sym typeface="Times New Roman"/>
              </a:rPr>
              <a:t>There is a </a:t>
            </a:r>
            <a:r>
              <a:rPr lang="en" b="1">
                <a:solidFill>
                  <a:schemeClr val="dk1"/>
                </a:solidFill>
                <a:highlight>
                  <a:schemeClr val="lt1"/>
                </a:highlight>
                <a:latin typeface="Times New Roman"/>
                <a:ea typeface="Times New Roman"/>
                <a:cs typeface="Times New Roman"/>
                <a:sym typeface="Times New Roman"/>
              </a:rPr>
              <a:t>deadlock </a:t>
            </a:r>
            <a:r>
              <a:rPr lang="en">
                <a:solidFill>
                  <a:schemeClr val="dk1"/>
                </a:solidFill>
                <a:highlight>
                  <a:schemeClr val="lt1"/>
                </a:highlight>
                <a:latin typeface="Times New Roman"/>
                <a:ea typeface="Times New Roman"/>
                <a:cs typeface="Times New Roman"/>
                <a:sym typeface="Times New Roman"/>
              </a:rPr>
              <a:t>involving all the threads</a:t>
            </a:r>
            <a:endParaRPr>
              <a:solidFill>
                <a:schemeClr val="dk1"/>
              </a:solidFill>
              <a:highlight>
                <a:schemeClr val="lt1"/>
              </a:highlight>
              <a:latin typeface="Times New Roman"/>
              <a:ea typeface="Times New Roman"/>
              <a:cs typeface="Times New Roman"/>
              <a:sym typeface="Times New Roman"/>
            </a:endParaRPr>
          </a:p>
          <a:p>
            <a:pPr marL="0" lvl="0" indent="0" algn="l" rtl="0">
              <a:spcBef>
                <a:spcPts val="1100"/>
              </a:spcBef>
              <a:spcAft>
                <a:spcPts val="1100"/>
              </a:spcAft>
              <a:buNone/>
            </a:pPr>
            <a:r>
              <a:rPr lang="en" b="1">
                <a:solidFill>
                  <a:schemeClr val="dk1"/>
                </a:solidFill>
                <a:highlight>
                  <a:schemeClr val="lt1"/>
                </a:highlight>
                <a:latin typeface="Times New Roman"/>
                <a:ea typeface="Times New Roman"/>
                <a:cs typeface="Times New Roman"/>
                <a:sym typeface="Times New Roman"/>
              </a:rPr>
              <a:t>POSSIBLE - </a:t>
            </a:r>
            <a:r>
              <a:rPr lang="en">
                <a:solidFill>
                  <a:schemeClr val="dk1"/>
                </a:solidFill>
                <a:highlight>
                  <a:schemeClr val="lt1"/>
                </a:highlight>
                <a:latin typeface="Times New Roman"/>
                <a:ea typeface="Times New Roman"/>
                <a:cs typeface="Times New Roman"/>
                <a:sym typeface="Times New Roman"/>
              </a:rPr>
              <a:t>P1-P5 execute first wait(S) and gets blocked on the second one as S=0.</a:t>
            </a:r>
            <a:endParaRPr>
              <a:solidFill>
                <a:schemeClr val="dk1"/>
              </a:solidFill>
              <a:highlight>
                <a:schemeClr val="lt1"/>
              </a:highlight>
              <a:latin typeface="Times New Roman"/>
              <a:ea typeface="Times New Roman"/>
              <a:cs typeface="Times New Roman"/>
              <a:sym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1">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1">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01">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01">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20"/>
          <p:cNvSpPr txBox="1">
            <a:spLocks noGrp="1"/>
          </p:cNvSpPr>
          <p:nvPr>
            <p:ph type="title"/>
          </p:nvPr>
        </p:nvSpPr>
        <p:spPr>
          <a:xfrm>
            <a:off x="311700" y="85718"/>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Q5. (Gate 2016)</a:t>
            </a:r>
            <a:endParaRPr/>
          </a:p>
        </p:txBody>
      </p:sp>
      <p:sp>
        <p:nvSpPr>
          <p:cNvPr id="107" name="Google Shape;107;p20"/>
          <p:cNvSpPr txBox="1">
            <a:spLocks noGrp="1"/>
          </p:cNvSpPr>
          <p:nvPr>
            <p:ph type="body" idx="1"/>
          </p:nvPr>
        </p:nvSpPr>
        <p:spPr>
          <a:xfrm>
            <a:off x="121050" y="631850"/>
            <a:ext cx="8634300" cy="3921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solidFill>
                  <a:schemeClr val="dk1"/>
                </a:solidFill>
              </a:rPr>
              <a:t>Consider the following proposed solution for the critical section problem. There are n processes : P</a:t>
            </a:r>
            <a:r>
              <a:rPr lang="en" baseline="-25000">
                <a:solidFill>
                  <a:schemeClr val="dk1"/>
                </a:solidFill>
              </a:rPr>
              <a:t>0</a:t>
            </a:r>
            <a:r>
              <a:rPr lang="en">
                <a:solidFill>
                  <a:schemeClr val="dk1"/>
                </a:solidFill>
              </a:rPr>
              <a:t>, P</a:t>
            </a:r>
            <a:r>
              <a:rPr lang="en" baseline="-25000">
                <a:solidFill>
                  <a:schemeClr val="dk1"/>
                </a:solidFill>
              </a:rPr>
              <a:t>1</a:t>
            </a:r>
            <a:r>
              <a:rPr lang="en">
                <a:solidFill>
                  <a:schemeClr val="dk1"/>
                </a:solidFill>
              </a:rPr>
              <a:t>, …, P</a:t>
            </a:r>
            <a:r>
              <a:rPr lang="en" baseline="-25000">
                <a:solidFill>
                  <a:schemeClr val="dk1"/>
                </a:solidFill>
              </a:rPr>
              <a:t>n-1</a:t>
            </a:r>
            <a:r>
              <a:rPr lang="en">
                <a:solidFill>
                  <a:schemeClr val="dk1"/>
                </a:solidFill>
              </a:rPr>
              <a:t>. In the code, function returns an integer not smaller than any of its arguments. For all i, t[i] is initialized to zero.</a:t>
            </a:r>
            <a:endParaRPr>
              <a:solidFill>
                <a:schemeClr val="dk1"/>
              </a:solidFill>
            </a:endParaRPr>
          </a:p>
          <a:p>
            <a:pPr marL="0" lvl="0" indent="0" algn="l" rtl="0">
              <a:spcBef>
                <a:spcPts val="1200"/>
              </a:spcBef>
              <a:spcAft>
                <a:spcPts val="0"/>
              </a:spcAft>
              <a:buNone/>
            </a:pPr>
            <a:r>
              <a:rPr lang="en">
                <a:solidFill>
                  <a:schemeClr val="dk1"/>
                </a:solidFill>
              </a:rPr>
              <a:t>Code for P</a:t>
            </a:r>
            <a:r>
              <a:rPr lang="en" baseline="-25000">
                <a:solidFill>
                  <a:schemeClr val="dk1"/>
                </a:solidFill>
              </a:rPr>
              <a:t>i</a:t>
            </a:r>
            <a:r>
              <a:rPr lang="en">
                <a:solidFill>
                  <a:schemeClr val="dk1"/>
                </a:solidFill>
              </a:rPr>
              <a:t>;</a:t>
            </a:r>
            <a:endParaRPr>
              <a:solidFill>
                <a:schemeClr val="dk1"/>
              </a:solidFill>
            </a:endParaRPr>
          </a:p>
          <a:p>
            <a:pPr marL="0" lvl="0" indent="0" algn="l" rtl="0">
              <a:spcBef>
                <a:spcPts val="1200"/>
              </a:spcBef>
              <a:spcAft>
                <a:spcPts val="1200"/>
              </a:spcAft>
              <a:buNone/>
            </a:pPr>
            <a:endParaRPr>
              <a:solidFill>
                <a:schemeClr val="dk1"/>
              </a:solidFill>
            </a:endParaRPr>
          </a:p>
        </p:txBody>
      </p:sp>
      <p:pic>
        <p:nvPicPr>
          <p:cNvPr id="108" name="Google Shape;108;p20" title="Screenshot from 2026-02-17 17-20-20.png"/>
          <p:cNvPicPr preferRelativeResize="0"/>
          <p:nvPr/>
        </p:nvPicPr>
        <p:blipFill>
          <a:blip r:embed="rId3">
            <a:alphaModFix/>
          </a:blip>
          <a:stretch>
            <a:fillRect/>
          </a:stretch>
        </p:blipFill>
        <p:spPr>
          <a:xfrm>
            <a:off x="205838" y="2102888"/>
            <a:ext cx="4010025" cy="2066925"/>
          </a:xfrm>
          <a:prstGeom prst="rect">
            <a:avLst/>
          </a:prstGeom>
          <a:noFill/>
          <a:ln>
            <a:noFill/>
          </a:ln>
        </p:spPr>
      </p:pic>
      <p:sp>
        <p:nvSpPr>
          <p:cNvPr id="109" name="Google Shape;109;p20"/>
          <p:cNvSpPr txBox="1"/>
          <p:nvPr/>
        </p:nvSpPr>
        <p:spPr>
          <a:xfrm>
            <a:off x="4311694" y="1657225"/>
            <a:ext cx="4230900" cy="2846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Clr>
                <a:schemeClr val="dk1"/>
              </a:buClr>
              <a:buSzPts val="1100"/>
              <a:buFont typeface="Arial"/>
              <a:buNone/>
            </a:pPr>
            <a:r>
              <a:rPr lang="en" sz="1800">
                <a:solidFill>
                  <a:schemeClr val="dk1"/>
                </a:solidFill>
              </a:rPr>
              <a:t>Which of the following is TRUE about the above solution?</a:t>
            </a:r>
            <a:endParaRPr sz="1800">
              <a:solidFill>
                <a:schemeClr val="dk1"/>
              </a:solidFill>
            </a:endParaRPr>
          </a:p>
          <a:p>
            <a:pPr marL="457200" lvl="0" indent="-298450" algn="l" rtl="0">
              <a:lnSpc>
                <a:spcPct val="115000"/>
              </a:lnSpc>
              <a:spcBef>
                <a:spcPts val="1200"/>
              </a:spcBef>
              <a:spcAft>
                <a:spcPts val="0"/>
              </a:spcAft>
              <a:buClr>
                <a:schemeClr val="dk1"/>
              </a:buClr>
              <a:buSzPts val="1100"/>
              <a:buAutoNum type="alphaUcPeriod"/>
            </a:pPr>
            <a:r>
              <a:rPr lang="en" sz="1800">
                <a:solidFill>
                  <a:schemeClr val="dk1"/>
                </a:solidFill>
              </a:rPr>
              <a:t>At most one process can be in the critical section at any time</a:t>
            </a:r>
            <a:endParaRPr sz="1800">
              <a:solidFill>
                <a:schemeClr val="dk1"/>
              </a:solidFill>
            </a:endParaRPr>
          </a:p>
          <a:p>
            <a:pPr marL="457200" lvl="0" indent="-298450" algn="l" rtl="0">
              <a:lnSpc>
                <a:spcPct val="115000"/>
              </a:lnSpc>
              <a:spcBef>
                <a:spcPts val="0"/>
              </a:spcBef>
              <a:spcAft>
                <a:spcPts val="0"/>
              </a:spcAft>
              <a:buClr>
                <a:schemeClr val="dk1"/>
              </a:buClr>
              <a:buSzPts val="1100"/>
              <a:buAutoNum type="alphaUcPeriod"/>
            </a:pPr>
            <a:r>
              <a:rPr lang="en" sz="1800">
                <a:solidFill>
                  <a:schemeClr val="dk1"/>
                </a:solidFill>
              </a:rPr>
              <a:t>The bounded wait condition is satisfied</a:t>
            </a:r>
            <a:endParaRPr sz="1800">
              <a:solidFill>
                <a:schemeClr val="dk1"/>
              </a:solidFill>
            </a:endParaRPr>
          </a:p>
          <a:p>
            <a:pPr marL="457200" lvl="0" indent="-298450" algn="l" rtl="0">
              <a:lnSpc>
                <a:spcPct val="115000"/>
              </a:lnSpc>
              <a:spcBef>
                <a:spcPts val="0"/>
              </a:spcBef>
              <a:spcAft>
                <a:spcPts val="0"/>
              </a:spcAft>
              <a:buClr>
                <a:schemeClr val="dk1"/>
              </a:buClr>
              <a:buSzPts val="1100"/>
              <a:buAutoNum type="alphaUcPeriod"/>
            </a:pPr>
            <a:r>
              <a:rPr lang="en" sz="1800">
                <a:solidFill>
                  <a:schemeClr val="dk1"/>
                </a:solidFill>
              </a:rPr>
              <a:t>The progress condition is satisfied</a:t>
            </a:r>
            <a:endParaRPr sz="1800">
              <a:solidFill>
                <a:schemeClr val="dk1"/>
              </a:solidFill>
            </a:endParaRPr>
          </a:p>
          <a:p>
            <a:pPr marL="457200" lvl="0" indent="-298450" algn="l" rtl="0">
              <a:lnSpc>
                <a:spcPct val="115000"/>
              </a:lnSpc>
              <a:spcBef>
                <a:spcPts val="0"/>
              </a:spcBef>
              <a:spcAft>
                <a:spcPts val="0"/>
              </a:spcAft>
              <a:buClr>
                <a:schemeClr val="dk1"/>
              </a:buClr>
              <a:buSzPts val="1100"/>
              <a:buAutoNum type="alphaUcPeriod"/>
            </a:pPr>
            <a:r>
              <a:rPr lang="en" sz="1800">
                <a:solidFill>
                  <a:schemeClr val="dk1"/>
                </a:solidFill>
              </a:rPr>
              <a:t>It cannot cause a deadlock</a:t>
            </a:r>
            <a:endParaRPr sz="1800">
              <a:solidFill>
                <a:schemeClr val="dk1"/>
              </a:solidFill>
            </a:endParaRPr>
          </a:p>
        </p:txBody>
      </p:sp>
      <p:sp>
        <p:nvSpPr>
          <p:cNvPr id="110" name="Google Shape;110;p20"/>
          <p:cNvSpPr/>
          <p:nvPr/>
        </p:nvSpPr>
        <p:spPr>
          <a:xfrm>
            <a:off x="4172375" y="2610475"/>
            <a:ext cx="330000" cy="227400"/>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accent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Reasoning:-</a:t>
            </a:r>
            <a:endParaRPr/>
          </a:p>
        </p:txBody>
      </p:sp>
      <p:sp>
        <p:nvSpPr>
          <p:cNvPr id="116" name="Google Shape;116;p2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92500" lnSpcReduction="20000"/>
          </a:bodyPr>
          <a:lstStyle/>
          <a:p>
            <a:pPr marL="457200" lvl="0" indent="-342900" algn="l" rtl="0">
              <a:spcBef>
                <a:spcPts val="0"/>
              </a:spcBef>
              <a:spcAft>
                <a:spcPts val="0"/>
              </a:spcAft>
              <a:buClr>
                <a:schemeClr val="dk1"/>
              </a:buClr>
              <a:buSzPts val="1800"/>
              <a:buAutoNum type="alphaUcPeriod"/>
            </a:pPr>
            <a:r>
              <a:rPr lang="en">
                <a:solidFill>
                  <a:schemeClr val="dk1"/>
                </a:solidFill>
              </a:rPr>
              <a:t>At most 1 process can be in CS at a time </a:t>
            </a:r>
            <a:endParaRPr>
              <a:solidFill>
                <a:schemeClr val="dk1"/>
              </a:solidFill>
            </a:endParaRPr>
          </a:p>
          <a:p>
            <a:pPr marL="0" lvl="0" indent="0" algn="l" rtl="0">
              <a:spcBef>
                <a:spcPts val="1200"/>
              </a:spcBef>
              <a:spcAft>
                <a:spcPts val="0"/>
              </a:spcAft>
              <a:buNone/>
            </a:pPr>
            <a:r>
              <a:rPr lang="en" b="1">
                <a:solidFill>
                  <a:schemeClr val="dk1"/>
                </a:solidFill>
              </a:rPr>
              <a:t>TRUE</a:t>
            </a:r>
            <a:r>
              <a:rPr lang="en">
                <a:solidFill>
                  <a:schemeClr val="dk1"/>
                </a:solidFill>
              </a:rPr>
              <a:t> - When t[i] = t[j] and i != j, then both processes wait but never enter together</a:t>
            </a:r>
            <a:endParaRPr>
              <a:solidFill>
                <a:schemeClr val="dk1"/>
              </a:solidFill>
            </a:endParaRPr>
          </a:p>
          <a:p>
            <a:pPr marL="457200" lvl="0" indent="-342900" algn="l" rtl="0">
              <a:spcBef>
                <a:spcPts val="1200"/>
              </a:spcBef>
              <a:spcAft>
                <a:spcPts val="0"/>
              </a:spcAft>
              <a:buClr>
                <a:schemeClr val="dk1"/>
              </a:buClr>
              <a:buSzPts val="1800"/>
              <a:buAutoNum type="alphaUcPeriod"/>
            </a:pPr>
            <a:r>
              <a:rPr lang="en">
                <a:solidFill>
                  <a:schemeClr val="dk1"/>
                </a:solidFill>
              </a:rPr>
              <a:t>Bounded waiting is satisfied</a:t>
            </a:r>
            <a:endParaRPr>
              <a:solidFill>
                <a:schemeClr val="dk1"/>
              </a:solidFill>
            </a:endParaRPr>
          </a:p>
          <a:p>
            <a:pPr marL="0" lvl="0" indent="0" algn="l" rtl="0">
              <a:spcBef>
                <a:spcPts val="1200"/>
              </a:spcBef>
              <a:spcAft>
                <a:spcPts val="0"/>
              </a:spcAft>
              <a:buNone/>
            </a:pPr>
            <a:r>
              <a:rPr lang="en" b="1">
                <a:solidFill>
                  <a:schemeClr val="dk1"/>
                </a:solidFill>
              </a:rPr>
              <a:t>FALSE</a:t>
            </a:r>
            <a:r>
              <a:rPr lang="en">
                <a:solidFill>
                  <a:schemeClr val="dk1"/>
                </a:solidFill>
              </a:rPr>
              <a:t> - When same token is assigned to 2 processes, both wait indefinitely</a:t>
            </a:r>
            <a:endParaRPr>
              <a:solidFill>
                <a:schemeClr val="dk1"/>
              </a:solidFill>
            </a:endParaRPr>
          </a:p>
          <a:p>
            <a:pPr marL="457200" lvl="0" indent="-342900" algn="l" rtl="0">
              <a:spcBef>
                <a:spcPts val="1200"/>
              </a:spcBef>
              <a:spcAft>
                <a:spcPts val="0"/>
              </a:spcAft>
              <a:buClr>
                <a:schemeClr val="dk1"/>
              </a:buClr>
              <a:buSzPts val="1800"/>
              <a:buAutoNum type="alphaUcPeriod"/>
            </a:pPr>
            <a:r>
              <a:rPr lang="en">
                <a:solidFill>
                  <a:schemeClr val="dk1"/>
                </a:solidFill>
              </a:rPr>
              <a:t>Progress condition is satisfied</a:t>
            </a:r>
            <a:endParaRPr>
              <a:solidFill>
                <a:schemeClr val="dk1"/>
              </a:solidFill>
            </a:endParaRPr>
          </a:p>
          <a:p>
            <a:pPr marL="0" lvl="0" indent="0" algn="l" rtl="0">
              <a:spcBef>
                <a:spcPts val="1200"/>
              </a:spcBef>
              <a:spcAft>
                <a:spcPts val="0"/>
              </a:spcAft>
              <a:buNone/>
            </a:pPr>
            <a:r>
              <a:rPr lang="en" b="1">
                <a:solidFill>
                  <a:schemeClr val="dk1"/>
                </a:solidFill>
              </a:rPr>
              <a:t>FALSE</a:t>
            </a:r>
            <a:r>
              <a:rPr lang="en">
                <a:solidFill>
                  <a:schemeClr val="dk1"/>
                </a:solidFill>
              </a:rPr>
              <a:t> - 2 processes with same token number wait even though the CS is empty</a:t>
            </a:r>
            <a:endParaRPr>
              <a:solidFill>
                <a:schemeClr val="dk1"/>
              </a:solidFill>
            </a:endParaRPr>
          </a:p>
          <a:p>
            <a:pPr marL="457200" lvl="0" indent="-342900" algn="l" rtl="0">
              <a:spcBef>
                <a:spcPts val="1200"/>
              </a:spcBef>
              <a:spcAft>
                <a:spcPts val="0"/>
              </a:spcAft>
              <a:buClr>
                <a:schemeClr val="dk1"/>
              </a:buClr>
              <a:buSzPts val="1800"/>
              <a:buAutoNum type="alphaUcPeriod"/>
            </a:pPr>
            <a:r>
              <a:rPr lang="en">
                <a:solidFill>
                  <a:schemeClr val="dk1"/>
                </a:solidFill>
              </a:rPr>
              <a:t>Cannot cause Deadlock</a:t>
            </a:r>
            <a:endParaRPr>
              <a:solidFill>
                <a:schemeClr val="dk1"/>
              </a:solidFill>
            </a:endParaRPr>
          </a:p>
          <a:p>
            <a:pPr marL="0" lvl="0" indent="0" algn="l" rtl="0">
              <a:spcBef>
                <a:spcPts val="1200"/>
              </a:spcBef>
              <a:spcAft>
                <a:spcPts val="1200"/>
              </a:spcAft>
              <a:buNone/>
            </a:pPr>
            <a:r>
              <a:rPr lang="en" b="1">
                <a:solidFill>
                  <a:schemeClr val="dk1"/>
                </a:solidFill>
              </a:rPr>
              <a:t>FALSE</a:t>
            </a:r>
            <a:r>
              <a:rPr lang="en">
                <a:solidFill>
                  <a:schemeClr val="dk1"/>
                </a:solidFill>
              </a:rPr>
              <a:t> - Progress is violated</a:t>
            </a:r>
            <a:endParaRPr>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Q6. GATE 2022</a:t>
            </a:r>
            <a:endParaRPr/>
          </a:p>
        </p:txBody>
      </p:sp>
      <p:sp>
        <p:nvSpPr>
          <p:cNvPr id="122" name="Google Shape;122;p22"/>
          <p:cNvSpPr txBox="1">
            <a:spLocks noGrp="1"/>
          </p:cNvSpPr>
          <p:nvPr>
            <p:ph type="body" idx="1"/>
          </p:nvPr>
        </p:nvSpPr>
        <p:spPr>
          <a:xfrm>
            <a:off x="311700" y="1152475"/>
            <a:ext cx="8520600" cy="1353600"/>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1100"/>
              </a:spcAft>
              <a:buNone/>
            </a:pPr>
            <a:r>
              <a:rPr lang="en">
                <a:solidFill>
                  <a:schemeClr val="dk1"/>
                </a:solidFill>
                <a:highlight>
                  <a:schemeClr val="lt1"/>
                </a:highlight>
                <a:latin typeface="Times New Roman"/>
                <a:ea typeface="Times New Roman"/>
                <a:cs typeface="Times New Roman"/>
                <a:sym typeface="Times New Roman"/>
              </a:rPr>
              <a:t>Consider the following threads, </a:t>
            </a:r>
            <a:r>
              <a:rPr lang="en" b="1">
                <a:solidFill>
                  <a:schemeClr val="dk1"/>
                </a:solidFill>
                <a:highlight>
                  <a:schemeClr val="lt1"/>
                </a:highlight>
                <a:latin typeface="Times New Roman"/>
                <a:ea typeface="Times New Roman"/>
                <a:cs typeface="Times New Roman"/>
                <a:sym typeface="Times New Roman"/>
              </a:rPr>
              <a:t>T1, T2 and T3</a:t>
            </a:r>
            <a:r>
              <a:rPr lang="en">
                <a:solidFill>
                  <a:schemeClr val="dk1"/>
                </a:solidFill>
                <a:highlight>
                  <a:schemeClr val="lt1"/>
                </a:highlight>
                <a:latin typeface="Times New Roman"/>
                <a:ea typeface="Times New Roman"/>
                <a:cs typeface="Times New Roman"/>
                <a:sym typeface="Times New Roman"/>
              </a:rPr>
              <a:t> executing on a </a:t>
            </a:r>
            <a:r>
              <a:rPr lang="en" b="1">
                <a:solidFill>
                  <a:schemeClr val="dk1"/>
                </a:solidFill>
                <a:highlight>
                  <a:schemeClr val="lt1"/>
                </a:highlight>
                <a:latin typeface="Times New Roman"/>
                <a:ea typeface="Times New Roman"/>
                <a:cs typeface="Times New Roman"/>
                <a:sym typeface="Times New Roman"/>
              </a:rPr>
              <a:t>single processor</a:t>
            </a:r>
            <a:r>
              <a:rPr lang="en">
                <a:solidFill>
                  <a:schemeClr val="dk1"/>
                </a:solidFill>
                <a:highlight>
                  <a:schemeClr val="lt1"/>
                </a:highlight>
                <a:latin typeface="Times New Roman"/>
                <a:ea typeface="Times New Roman"/>
                <a:cs typeface="Times New Roman"/>
                <a:sym typeface="Times New Roman"/>
              </a:rPr>
              <a:t>, synchronized using three </a:t>
            </a:r>
            <a:r>
              <a:rPr lang="en" b="1">
                <a:solidFill>
                  <a:schemeClr val="dk1"/>
                </a:solidFill>
                <a:highlight>
                  <a:schemeClr val="lt1"/>
                </a:highlight>
                <a:latin typeface="Times New Roman"/>
                <a:ea typeface="Times New Roman"/>
                <a:cs typeface="Times New Roman"/>
                <a:sym typeface="Times New Roman"/>
              </a:rPr>
              <a:t>binary semaphore variables, S1, S2 and S3</a:t>
            </a:r>
            <a:r>
              <a:rPr lang="en">
                <a:solidFill>
                  <a:schemeClr val="dk1"/>
                </a:solidFill>
                <a:highlight>
                  <a:schemeClr val="lt1"/>
                </a:highlight>
                <a:latin typeface="Times New Roman"/>
                <a:ea typeface="Times New Roman"/>
                <a:cs typeface="Times New Roman"/>
                <a:sym typeface="Times New Roman"/>
              </a:rPr>
              <a:t> operated upon using standard wait() and signal(). The </a:t>
            </a:r>
            <a:r>
              <a:rPr lang="en" b="1">
                <a:solidFill>
                  <a:schemeClr val="dk1"/>
                </a:solidFill>
                <a:highlight>
                  <a:schemeClr val="lt1"/>
                </a:highlight>
                <a:latin typeface="Times New Roman"/>
                <a:ea typeface="Times New Roman"/>
                <a:cs typeface="Times New Roman"/>
                <a:sym typeface="Times New Roman"/>
              </a:rPr>
              <a:t>threads can be context switched in any order and at any time</a:t>
            </a:r>
            <a:r>
              <a:rPr lang="en">
                <a:solidFill>
                  <a:schemeClr val="dk1"/>
                </a:solidFill>
                <a:highlight>
                  <a:schemeClr val="lt1"/>
                </a:highlight>
                <a:latin typeface="Times New Roman"/>
                <a:ea typeface="Times New Roman"/>
                <a:cs typeface="Times New Roman"/>
                <a:sym typeface="Times New Roman"/>
              </a:rPr>
              <a:t>. What initialization of the semaphores would print the sequence </a:t>
            </a:r>
            <a:r>
              <a:rPr lang="en" b="1">
                <a:solidFill>
                  <a:schemeClr val="dk1"/>
                </a:solidFill>
                <a:highlight>
                  <a:schemeClr val="lt1"/>
                </a:highlight>
                <a:latin typeface="Times New Roman"/>
                <a:ea typeface="Times New Roman"/>
                <a:cs typeface="Times New Roman"/>
                <a:sym typeface="Times New Roman"/>
              </a:rPr>
              <a:t>BCABCABCA…</a:t>
            </a:r>
            <a:r>
              <a:rPr lang="en">
                <a:solidFill>
                  <a:schemeClr val="dk1"/>
                </a:solidFill>
                <a:highlight>
                  <a:schemeClr val="lt1"/>
                </a:highlight>
                <a:latin typeface="Times New Roman"/>
                <a:ea typeface="Times New Roman"/>
                <a:cs typeface="Times New Roman"/>
                <a:sym typeface="Times New Roman"/>
              </a:rPr>
              <a:t>? </a:t>
            </a:r>
            <a:endParaRPr>
              <a:solidFill>
                <a:schemeClr val="dk1"/>
              </a:solidFill>
              <a:highlight>
                <a:schemeClr val="lt1"/>
              </a:highlight>
              <a:latin typeface="Times New Roman"/>
              <a:ea typeface="Times New Roman"/>
              <a:cs typeface="Times New Roman"/>
              <a:sym typeface="Times New Roman"/>
            </a:endParaRPr>
          </a:p>
        </p:txBody>
      </p:sp>
      <p:pic>
        <p:nvPicPr>
          <p:cNvPr id="123" name="Google Shape;123;p22"/>
          <p:cNvPicPr preferRelativeResize="0"/>
          <p:nvPr/>
        </p:nvPicPr>
        <p:blipFill>
          <a:blip r:embed="rId3">
            <a:alphaModFix/>
          </a:blip>
          <a:stretch>
            <a:fillRect/>
          </a:stretch>
        </p:blipFill>
        <p:spPr>
          <a:xfrm>
            <a:off x="105425" y="2640825"/>
            <a:ext cx="4347575" cy="2272500"/>
          </a:xfrm>
          <a:prstGeom prst="rect">
            <a:avLst/>
          </a:prstGeom>
          <a:noFill/>
          <a:ln>
            <a:noFill/>
          </a:ln>
        </p:spPr>
      </p:pic>
      <p:sp>
        <p:nvSpPr>
          <p:cNvPr id="124" name="Google Shape;124;p22"/>
          <p:cNvSpPr txBox="1"/>
          <p:nvPr/>
        </p:nvSpPr>
        <p:spPr>
          <a:xfrm>
            <a:off x="4605675" y="2670400"/>
            <a:ext cx="4565700" cy="184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rPr>
              <a:t>We want these to execute as: T2, T1, T3 and repeat. </a:t>
            </a:r>
            <a:endParaRPr sz="1800">
              <a:solidFill>
                <a:schemeClr val="dk1"/>
              </a:solidFill>
            </a:endParaRPr>
          </a:p>
          <a:p>
            <a:pPr marL="0" lvl="0" indent="0" algn="l" rtl="0">
              <a:spcBef>
                <a:spcPts val="0"/>
              </a:spcBef>
              <a:spcAft>
                <a:spcPts val="0"/>
              </a:spcAft>
              <a:buNone/>
            </a:pPr>
            <a:endParaRPr sz="1800">
              <a:solidFill>
                <a:schemeClr val="dk1"/>
              </a:solidFill>
            </a:endParaRPr>
          </a:p>
          <a:p>
            <a:pPr marL="0" lvl="0" indent="0" algn="l" rtl="0">
              <a:spcBef>
                <a:spcPts val="0"/>
              </a:spcBef>
              <a:spcAft>
                <a:spcPts val="0"/>
              </a:spcAft>
              <a:buNone/>
            </a:pPr>
            <a:r>
              <a:rPr lang="en" sz="1800">
                <a:solidFill>
                  <a:schemeClr val="dk1"/>
                </a:solidFill>
              </a:rPr>
              <a:t>Initialize S1 = 1</a:t>
            </a:r>
            <a:endParaRPr sz="1800">
              <a:solidFill>
                <a:schemeClr val="dk1"/>
              </a:solidFill>
            </a:endParaRPr>
          </a:p>
          <a:p>
            <a:pPr marL="0" lvl="0" indent="0" algn="l" rtl="0">
              <a:spcBef>
                <a:spcPts val="0"/>
              </a:spcBef>
              <a:spcAft>
                <a:spcPts val="0"/>
              </a:spcAft>
              <a:buNone/>
            </a:pPr>
            <a:r>
              <a:rPr lang="en" sz="1800">
                <a:solidFill>
                  <a:schemeClr val="dk1"/>
                </a:solidFill>
              </a:rPr>
              <a:t>		S2 = 0</a:t>
            </a:r>
            <a:endParaRPr sz="1800">
              <a:solidFill>
                <a:schemeClr val="dk1"/>
              </a:solidFill>
            </a:endParaRPr>
          </a:p>
          <a:p>
            <a:pPr marL="0" lvl="0" indent="0" algn="l" rtl="0">
              <a:spcBef>
                <a:spcPts val="0"/>
              </a:spcBef>
              <a:spcAft>
                <a:spcPts val="0"/>
              </a:spcAft>
              <a:buNone/>
            </a:pPr>
            <a:r>
              <a:rPr lang="en" sz="1800">
                <a:solidFill>
                  <a:schemeClr val="dk1"/>
                </a:solidFill>
              </a:rPr>
              <a:t>		S3 = 0</a:t>
            </a:r>
            <a:endParaRPr sz="1800">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3"/>
          <p:cNvSpPr txBox="1">
            <a:spLocks noGrp="1"/>
          </p:cNvSpPr>
          <p:nvPr>
            <p:ph type="title"/>
          </p:nvPr>
        </p:nvSpPr>
        <p:spPr>
          <a:xfrm>
            <a:off x="311700" y="214003"/>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Q7. (Gate 2026)</a:t>
            </a:r>
            <a:endParaRPr/>
          </a:p>
        </p:txBody>
      </p:sp>
      <p:sp>
        <p:nvSpPr>
          <p:cNvPr id="130" name="Google Shape;130;p23"/>
          <p:cNvSpPr txBox="1">
            <a:spLocks noGrp="1"/>
          </p:cNvSpPr>
          <p:nvPr>
            <p:ph type="body" idx="1"/>
          </p:nvPr>
        </p:nvSpPr>
        <p:spPr>
          <a:xfrm>
            <a:off x="311700" y="876750"/>
            <a:ext cx="8520600" cy="2439600"/>
          </a:xfrm>
          <a:prstGeom prst="rect">
            <a:avLst/>
          </a:prstGeom>
        </p:spPr>
        <p:txBody>
          <a:bodyPr spcFirstLastPara="1" wrap="square" lIns="91425" tIns="91425" rIns="91425" bIns="91425" anchor="t" anchorCtr="0">
            <a:normAutofit fontScale="85000" lnSpcReduction="10000"/>
          </a:bodyPr>
          <a:lstStyle/>
          <a:p>
            <a:pPr marL="0" lvl="0" indent="0" algn="l" rtl="0">
              <a:spcBef>
                <a:spcPts val="1200"/>
              </a:spcBef>
              <a:spcAft>
                <a:spcPts val="1200"/>
              </a:spcAft>
              <a:buNone/>
            </a:pPr>
            <a:r>
              <a:rPr lang="en">
                <a:solidFill>
                  <a:schemeClr val="dk1"/>
                </a:solidFill>
              </a:rPr>
              <a:t>A system has 5 processes and k instances of a resource R.  </a:t>
            </a:r>
            <a:br>
              <a:rPr lang="en">
                <a:solidFill>
                  <a:schemeClr val="dk1"/>
                </a:solidFill>
              </a:rPr>
            </a:br>
            <a:br>
              <a:rPr lang="en">
                <a:solidFill>
                  <a:schemeClr val="dk1"/>
                </a:solidFill>
              </a:rPr>
            </a:br>
            <a:r>
              <a:rPr lang="en">
                <a:solidFill>
                  <a:schemeClr val="dk1"/>
                </a:solidFill>
              </a:rPr>
              <a:t>Assume each process requires a maximum of 2 instances of R. A process can request or release only one instance at a time. Further, a process can request the second instance of R only after acquiring the first instance.</a:t>
            </a:r>
            <a:br>
              <a:rPr lang="en">
                <a:solidFill>
                  <a:schemeClr val="dk1"/>
                </a:solidFill>
              </a:rPr>
            </a:br>
            <a:br>
              <a:rPr lang="en">
                <a:solidFill>
                  <a:schemeClr val="dk1"/>
                </a:solidFill>
              </a:rPr>
            </a:br>
            <a:r>
              <a:rPr lang="en">
                <a:solidFill>
                  <a:schemeClr val="dk1"/>
                </a:solidFill>
              </a:rPr>
              <a:t>The minimum possible value of k required to ensure a deadlock-free environment is ____.</a:t>
            </a:r>
            <a:endParaRPr>
              <a:solidFill>
                <a:schemeClr val="dk1"/>
              </a:solidFill>
            </a:endParaRPr>
          </a:p>
        </p:txBody>
      </p:sp>
      <p:sp>
        <p:nvSpPr>
          <p:cNvPr id="131" name="Google Shape;131;p23"/>
          <p:cNvSpPr txBox="1"/>
          <p:nvPr/>
        </p:nvSpPr>
        <p:spPr>
          <a:xfrm>
            <a:off x="0" y="3331375"/>
            <a:ext cx="8950200" cy="1728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sz="1800">
                <a:solidFill>
                  <a:schemeClr val="dk1"/>
                </a:solidFill>
              </a:rPr>
              <a:t>For n processes where each process P</a:t>
            </a:r>
            <a:r>
              <a:rPr lang="en" sz="1800" baseline="-25000">
                <a:solidFill>
                  <a:schemeClr val="dk1"/>
                </a:solidFill>
              </a:rPr>
              <a:t>i</a:t>
            </a:r>
            <a:r>
              <a:rPr lang="en" sz="1800">
                <a:solidFill>
                  <a:schemeClr val="dk1"/>
                </a:solidFill>
              </a:rPr>
              <a:t> has a maximum demand :      The condition for a deadlock-free environment is: </a:t>
            </a:r>
            <a:endParaRPr sz="18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sz="1800">
                <a:solidFill>
                  <a:schemeClr val="dk1"/>
                </a:solidFill>
              </a:rPr>
              <a:t>Plugging in your values:(2−1)+(2−1)+(2−1)+(2−1)+(2−1)&lt;k    implies, 5&lt;k</a:t>
            </a:r>
            <a:endParaRPr sz="1800">
              <a:solidFill>
                <a:schemeClr val="dk1"/>
              </a:solidFill>
            </a:endParaRPr>
          </a:p>
          <a:p>
            <a:pPr marL="0" lvl="0" indent="0" algn="l" rtl="0">
              <a:lnSpc>
                <a:spcPct val="115000"/>
              </a:lnSpc>
              <a:spcBef>
                <a:spcPts val="1200"/>
              </a:spcBef>
              <a:spcAft>
                <a:spcPts val="1200"/>
              </a:spcAft>
              <a:buNone/>
            </a:pPr>
            <a:r>
              <a:rPr lang="en" sz="1800">
                <a:solidFill>
                  <a:schemeClr val="dk1"/>
                </a:solidFill>
              </a:rPr>
              <a:t>Since k must be an integer, the minimum value is </a:t>
            </a:r>
            <a:r>
              <a:rPr lang="en" sz="1800" b="1">
                <a:solidFill>
                  <a:schemeClr val="dk1"/>
                </a:solidFill>
              </a:rPr>
              <a:t>6</a:t>
            </a:r>
            <a:r>
              <a:rPr lang="en" sz="1800">
                <a:solidFill>
                  <a:schemeClr val="dk1"/>
                </a:solidFill>
              </a:rPr>
              <a:t>.</a:t>
            </a:r>
            <a:endParaRPr sz="1800">
              <a:solidFill>
                <a:schemeClr val="dk2"/>
              </a:solidFill>
            </a:endParaRPr>
          </a:p>
        </p:txBody>
      </p:sp>
      <p:pic>
        <p:nvPicPr>
          <p:cNvPr id="132" name="Google Shape;132;p23" title="{&quot;red&quot;:0,&quot;green&quot;:0,&quot;blue&quot;:0,&quot;origURL&quot;:&quot;https://www.codecogs.com/eqnedit.php?latex=%5Csum_%7Bi%3D1%7D%5E%7Bn%7DM_i%20%3C%20k#0&quot;,&quot;size&quot;:11,&quot;width&quot;:704.7401574803149,&quot;height&quot;:98.10236220472441}"/>
          <p:cNvPicPr preferRelativeResize="0"/>
          <p:nvPr/>
        </p:nvPicPr>
        <p:blipFill>
          <a:blip r:embed="rId3">
            <a:alphaModFix/>
          </a:blip>
          <a:stretch>
            <a:fillRect/>
          </a:stretch>
        </p:blipFill>
        <p:spPr>
          <a:xfrm>
            <a:off x="3703975" y="3742150"/>
            <a:ext cx="827700" cy="487225"/>
          </a:xfrm>
          <a:prstGeom prst="rect">
            <a:avLst/>
          </a:prstGeom>
          <a:noFill/>
          <a:ln>
            <a:noFill/>
          </a:ln>
        </p:spPr>
      </p:pic>
      <p:pic>
        <p:nvPicPr>
          <p:cNvPr id="133" name="Google Shape;133;p23" title="{&quot;red&quot;:0,&quot;green&quot;:0,&quot;blue&quot;:0,&quot;origURL&quot;:&quot;https://www.codecogs.com/eqnedit.php?latex=M_i#0&quot;,&quot;size&quot;:11,&quot;width&quot;:704.7401574803149,&quot;height&quot;:98.10236220472441}"/>
          <p:cNvPicPr preferRelativeResize="0"/>
          <p:nvPr/>
        </p:nvPicPr>
        <p:blipFill>
          <a:blip r:embed="rId4">
            <a:alphaModFix/>
          </a:blip>
          <a:stretch>
            <a:fillRect/>
          </a:stretch>
        </p:blipFill>
        <p:spPr>
          <a:xfrm>
            <a:off x="6846800" y="3656762"/>
            <a:ext cx="226350" cy="1707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Q8. ISI M.Tech CS Semester Exam 2005</a:t>
            </a:r>
            <a:endParaRPr/>
          </a:p>
        </p:txBody>
      </p:sp>
      <p:sp>
        <p:nvSpPr>
          <p:cNvPr id="139" name="Google Shape;139;p24"/>
          <p:cNvSpPr txBox="1">
            <a:spLocks noGrp="1"/>
          </p:cNvSpPr>
          <p:nvPr>
            <p:ph type="body" idx="1"/>
          </p:nvPr>
        </p:nvSpPr>
        <p:spPr>
          <a:xfrm>
            <a:off x="311700" y="1152475"/>
            <a:ext cx="8520600" cy="770700"/>
          </a:xfrm>
          <a:prstGeom prst="rect">
            <a:avLst/>
          </a:prstGeom>
        </p:spPr>
        <p:txBody>
          <a:bodyPr spcFirstLastPara="1" wrap="square" lIns="91425" tIns="91425" rIns="91425" bIns="91425" anchor="t" anchorCtr="0">
            <a:normAutofit fontScale="85000" lnSpcReduction="20000"/>
          </a:bodyPr>
          <a:lstStyle/>
          <a:p>
            <a:pPr marL="0" lvl="0" indent="0" algn="l" rtl="0">
              <a:spcBef>
                <a:spcPts val="0"/>
              </a:spcBef>
              <a:spcAft>
                <a:spcPts val="1200"/>
              </a:spcAft>
              <a:buNone/>
            </a:pPr>
            <a:r>
              <a:rPr lang="en">
                <a:solidFill>
                  <a:schemeClr val="dk1"/>
                </a:solidFill>
              </a:rPr>
              <a:t>State the four necessary conditions for deadlock and briefly explain how these conditions are fulfilled by the dining philosophers problem.</a:t>
            </a:r>
            <a:endParaRPr>
              <a:solidFill>
                <a:schemeClr val="dk1"/>
              </a:solidFill>
            </a:endParaRPr>
          </a:p>
        </p:txBody>
      </p:sp>
      <p:sp>
        <p:nvSpPr>
          <p:cNvPr id="140" name="Google Shape;140;p24"/>
          <p:cNvSpPr txBox="1"/>
          <p:nvPr/>
        </p:nvSpPr>
        <p:spPr>
          <a:xfrm>
            <a:off x="505300" y="2126775"/>
            <a:ext cx="7768200" cy="212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dk1"/>
                </a:solidFill>
              </a:rPr>
              <a:t>Four Necessary Conditions for Deadlock:-</a:t>
            </a:r>
            <a:endParaRPr>
              <a:solidFill>
                <a:schemeClr val="dk1"/>
              </a:solidFill>
            </a:endParaRPr>
          </a:p>
          <a:p>
            <a:pPr marL="457200" lvl="0" indent="-317500" algn="l" rtl="0">
              <a:spcBef>
                <a:spcPts val="0"/>
              </a:spcBef>
              <a:spcAft>
                <a:spcPts val="0"/>
              </a:spcAft>
              <a:buClr>
                <a:schemeClr val="dk1"/>
              </a:buClr>
              <a:buSzPts val="1400"/>
              <a:buAutoNum type="arabicPeriod"/>
            </a:pPr>
            <a:r>
              <a:rPr lang="en" b="1">
                <a:solidFill>
                  <a:schemeClr val="dk1"/>
                </a:solidFill>
              </a:rPr>
              <a:t>Mutual Exclusion:</a:t>
            </a:r>
            <a:r>
              <a:rPr lang="en">
                <a:solidFill>
                  <a:schemeClr val="dk1"/>
                </a:solidFill>
              </a:rPr>
              <a:t> At least one resource must be held in a non-sharable mode (only one process can use it at a time).</a:t>
            </a:r>
            <a:endParaRPr>
              <a:solidFill>
                <a:schemeClr val="dk1"/>
              </a:solidFill>
            </a:endParaRPr>
          </a:p>
          <a:p>
            <a:pPr marL="457200" lvl="0" indent="-317500" algn="l" rtl="0">
              <a:spcBef>
                <a:spcPts val="0"/>
              </a:spcBef>
              <a:spcAft>
                <a:spcPts val="0"/>
              </a:spcAft>
              <a:buClr>
                <a:schemeClr val="dk1"/>
              </a:buClr>
              <a:buSzPts val="1400"/>
              <a:buAutoNum type="arabicPeriod"/>
            </a:pPr>
            <a:r>
              <a:rPr lang="en" b="1">
                <a:solidFill>
                  <a:schemeClr val="dk1"/>
                </a:solidFill>
              </a:rPr>
              <a:t>Hold and Wait:</a:t>
            </a:r>
            <a:r>
              <a:rPr lang="en">
                <a:solidFill>
                  <a:schemeClr val="dk1"/>
                </a:solidFill>
              </a:rPr>
              <a:t> A process is holding at least one resource and waiting to acquire additional resources held by others.</a:t>
            </a:r>
            <a:endParaRPr>
              <a:solidFill>
                <a:schemeClr val="dk1"/>
              </a:solidFill>
            </a:endParaRPr>
          </a:p>
          <a:p>
            <a:pPr marL="457200" lvl="0" indent="-317500" algn="l" rtl="0">
              <a:spcBef>
                <a:spcPts val="0"/>
              </a:spcBef>
              <a:spcAft>
                <a:spcPts val="0"/>
              </a:spcAft>
              <a:buClr>
                <a:schemeClr val="dk1"/>
              </a:buClr>
              <a:buSzPts val="1400"/>
              <a:buAutoNum type="arabicPeriod"/>
            </a:pPr>
            <a:r>
              <a:rPr lang="en" b="1">
                <a:solidFill>
                  <a:schemeClr val="dk1"/>
                </a:solidFill>
              </a:rPr>
              <a:t>No Preemption:</a:t>
            </a:r>
            <a:r>
              <a:rPr lang="en">
                <a:solidFill>
                  <a:schemeClr val="dk1"/>
                </a:solidFill>
              </a:rPr>
              <a:t> Resources cannot be forcibly taken from a process; they must be released voluntarily.</a:t>
            </a:r>
            <a:endParaRPr>
              <a:solidFill>
                <a:schemeClr val="dk1"/>
              </a:solidFill>
            </a:endParaRPr>
          </a:p>
          <a:p>
            <a:pPr marL="457200" lvl="0" indent="-317500" algn="l" rtl="0">
              <a:spcBef>
                <a:spcPts val="0"/>
              </a:spcBef>
              <a:spcAft>
                <a:spcPts val="0"/>
              </a:spcAft>
              <a:buClr>
                <a:schemeClr val="dk1"/>
              </a:buClr>
              <a:buSzPts val="1400"/>
              <a:buAutoNum type="arabicPeriod"/>
            </a:pPr>
            <a:r>
              <a:rPr lang="en" b="1">
                <a:solidFill>
                  <a:schemeClr val="dk1"/>
                </a:solidFill>
              </a:rPr>
              <a:t>Circular Wait:</a:t>
            </a:r>
            <a:r>
              <a:rPr lang="en">
                <a:solidFill>
                  <a:schemeClr val="dk1"/>
                </a:solidFill>
              </a:rPr>
              <a:t> A set of processes exists such that each is waiting for a resource held by the next member in the chain.</a:t>
            </a:r>
            <a:endParaRPr>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40">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0">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40">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40">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4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Solution to Q8 (contd.)</a:t>
            </a:r>
            <a:endParaRPr/>
          </a:p>
        </p:txBody>
      </p:sp>
      <p:sp>
        <p:nvSpPr>
          <p:cNvPr id="146" name="Google Shape;146;p25"/>
          <p:cNvSpPr txBox="1">
            <a:spLocks noGrp="1"/>
          </p:cNvSpPr>
          <p:nvPr>
            <p:ph type="body" idx="1"/>
          </p:nvPr>
        </p:nvSpPr>
        <p:spPr>
          <a:xfrm>
            <a:off x="311700" y="1152475"/>
            <a:ext cx="8520600" cy="665100"/>
          </a:xfrm>
          <a:prstGeom prst="rect">
            <a:avLst/>
          </a:prstGeom>
        </p:spPr>
        <p:txBody>
          <a:bodyPr spcFirstLastPara="1" wrap="square" lIns="91425" tIns="91425" rIns="91425" bIns="91425" anchor="t" anchorCtr="0">
            <a:normAutofit fontScale="77500" lnSpcReduction="20000"/>
          </a:bodyPr>
          <a:lstStyle/>
          <a:p>
            <a:pPr marL="0" lvl="0" indent="0" algn="l" rtl="0">
              <a:spcBef>
                <a:spcPts val="0"/>
              </a:spcBef>
              <a:spcAft>
                <a:spcPts val="1200"/>
              </a:spcAft>
              <a:buNone/>
            </a:pPr>
            <a:r>
              <a:rPr lang="en" sz="1400"/>
              <a:t>Dining Philosophers Problem: </a:t>
            </a:r>
            <a:r>
              <a:rPr lang="en" sz="1400">
                <a:solidFill>
                  <a:schemeClr val="dk1"/>
                </a:solidFill>
              </a:rPr>
              <a:t>Five philosophers sit at a round table with a bowl of rice and five single chopsticks placed between them. To eat, a philosopher must acquire </a:t>
            </a:r>
            <a:r>
              <a:rPr lang="en" sz="1400" b="1">
                <a:solidFill>
                  <a:schemeClr val="dk1"/>
                </a:solidFill>
              </a:rPr>
              <a:t>two chopsticks</a:t>
            </a:r>
            <a:r>
              <a:rPr lang="en" sz="1400">
                <a:solidFill>
                  <a:schemeClr val="dk1"/>
                </a:solidFill>
              </a:rPr>
              <a:t> (left and right).</a:t>
            </a:r>
            <a:endParaRPr sz="1400"/>
          </a:p>
        </p:txBody>
      </p:sp>
      <p:sp>
        <p:nvSpPr>
          <p:cNvPr id="147" name="Google Shape;147;p25"/>
          <p:cNvSpPr txBox="1"/>
          <p:nvPr/>
        </p:nvSpPr>
        <p:spPr>
          <a:xfrm>
            <a:off x="311650" y="1968400"/>
            <a:ext cx="8520600" cy="1539300"/>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Clr>
                <a:schemeClr val="dk1"/>
              </a:buClr>
              <a:buSzPts val="1400"/>
              <a:buAutoNum type="arabicPeriod"/>
            </a:pPr>
            <a:r>
              <a:rPr lang="en" b="1">
                <a:solidFill>
                  <a:schemeClr val="dk1"/>
                </a:solidFill>
              </a:rPr>
              <a:t>Mutual Exclusion:</a:t>
            </a:r>
            <a:r>
              <a:rPr lang="en">
                <a:solidFill>
                  <a:schemeClr val="dk1"/>
                </a:solidFill>
              </a:rPr>
              <a:t> A chopstick can be held by only one philosopher at a time.</a:t>
            </a:r>
            <a:endParaRPr>
              <a:solidFill>
                <a:schemeClr val="dk1"/>
              </a:solidFill>
            </a:endParaRPr>
          </a:p>
          <a:p>
            <a:pPr marL="457200" lvl="0" indent="-317500" algn="l" rtl="0">
              <a:spcBef>
                <a:spcPts val="0"/>
              </a:spcBef>
              <a:spcAft>
                <a:spcPts val="0"/>
              </a:spcAft>
              <a:buClr>
                <a:schemeClr val="dk1"/>
              </a:buClr>
              <a:buSzPts val="1400"/>
              <a:buAutoNum type="arabicPeriod"/>
            </a:pPr>
            <a:r>
              <a:rPr lang="en" b="1">
                <a:solidFill>
                  <a:schemeClr val="dk1"/>
                </a:solidFill>
              </a:rPr>
              <a:t>Hold and Wait:</a:t>
            </a:r>
            <a:r>
              <a:rPr lang="en">
                <a:solidFill>
                  <a:schemeClr val="dk1"/>
                </a:solidFill>
              </a:rPr>
              <a:t> A philosopher picks up one chopstick (Hold) and waits for the second one (Wait).</a:t>
            </a:r>
            <a:endParaRPr>
              <a:solidFill>
                <a:schemeClr val="dk1"/>
              </a:solidFill>
            </a:endParaRPr>
          </a:p>
          <a:p>
            <a:pPr marL="457200" lvl="0" indent="-317500" algn="l" rtl="0">
              <a:spcBef>
                <a:spcPts val="0"/>
              </a:spcBef>
              <a:spcAft>
                <a:spcPts val="0"/>
              </a:spcAft>
              <a:buClr>
                <a:schemeClr val="dk1"/>
              </a:buClr>
              <a:buSzPts val="1400"/>
              <a:buAutoNum type="arabicPeriod"/>
            </a:pPr>
            <a:r>
              <a:rPr lang="en" b="1">
                <a:solidFill>
                  <a:schemeClr val="dk1"/>
                </a:solidFill>
              </a:rPr>
              <a:t>No Preemption:</a:t>
            </a:r>
            <a:r>
              <a:rPr lang="en">
                <a:solidFill>
                  <a:schemeClr val="dk1"/>
                </a:solidFill>
              </a:rPr>
              <a:t> A philosopher will not drop their chopstick until they have finished eating.</a:t>
            </a:r>
            <a:endParaRPr>
              <a:solidFill>
                <a:schemeClr val="dk1"/>
              </a:solidFill>
            </a:endParaRPr>
          </a:p>
          <a:p>
            <a:pPr marL="457200" lvl="0" indent="-317500" algn="l" rtl="0">
              <a:spcBef>
                <a:spcPts val="0"/>
              </a:spcBef>
              <a:spcAft>
                <a:spcPts val="0"/>
              </a:spcAft>
              <a:buClr>
                <a:schemeClr val="dk1"/>
              </a:buClr>
              <a:buSzPts val="1400"/>
              <a:buAutoNum type="arabicPeriod"/>
            </a:pPr>
            <a:r>
              <a:rPr lang="en" b="1">
                <a:solidFill>
                  <a:schemeClr val="dk1"/>
                </a:solidFill>
              </a:rPr>
              <a:t>Circular Wait:</a:t>
            </a:r>
            <a:r>
              <a:rPr lang="en">
                <a:solidFill>
                  <a:schemeClr val="dk1"/>
                </a:solidFill>
              </a:rPr>
              <a:t> If every philosopher picks up their left chopstick simultaneously, they all wait indefinitely for the right chopstick held by their neighbor, forming a closed loop.</a:t>
            </a:r>
            <a:endParaRPr>
              <a:solidFill>
                <a:schemeClr val="dk1"/>
              </a:solidFill>
            </a:endParaRPr>
          </a:p>
          <a:p>
            <a:pPr marL="0" lvl="0" indent="0" algn="l" rtl="0">
              <a:spcBef>
                <a:spcPts val="0"/>
              </a:spcBef>
              <a:spcAft>
                <a:spcPts val="0"/>
              </a:spcAft>
              <a:buNone/>
            </a:pPr>
            <a:endParaRPr sz="1800">
              <a:solidFill>
                <a:schemeClr val="dk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47">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7">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47">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47">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4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6"/>
          <p:cNvSpPr txBox="1">
            <a:spLocks noGrp="1"/>
          </p:cNvSpPr>
          <p:nvPr>
            <p:ph type="title"/>
          </p:nvPr>
        </p:nvSpPr>
        <p:spPr>
          <a:xfrm>
            <a:off x="311700" y="165979"/>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a:t>Q9. ISI M.Tech CS Semester Exam 2010</a:t>
            </a:r>
            <a:endParaRPr/>
          </a:p>
        </p:txBody>
      </p:sp>
      <p:sp>
        <p:nvSpPr>
          <p:cNvPr id="153" name="Google Shape;153;p26"/>
          <p:cNvSpPr txBox="1">
            <a:spLocks noGrp="1"/>
          </p:cNvSpPr>
          <p:nvPr>
            <p:ph type="body" idx="1"/>
          </p:nvPr>
        </p:nvSpPr>
        <p:spPr>
          <a:xfrm>
            <a:off x="113125" y="738675"/>
            <a:ext cx="8929500" cy="4329300"/>
          </a:xfrm>
          <a:prstGeom prst="rect">
            <a:avLst/>
          </a:prstGeom>
        </p:spPr>
        <p:txBody>
          <a:bodyPr spcFirstLastPara="1" wrap="square" lIns="91425" tIns="91425" rIns="91425" bIns="91425" anchor="t" anchorCtr="0">
            <a:normAutofit fontScale="77500" lnSpcReduction="20000"/>
          </a:bodyPr>
          <a:lstStyle/>
          <a:p>
            <a:pPr marL="0" lvl="0" indent="0" algn="l" rtl="0">
              <a:spcBef>
                <a:spcPts val="0"/>
              </a:spcBef>
              <a:spcAft>
                <a:spcPts val="0"/>
              </a:spcAft>
              <a:buNone/>
            </a:pPr>
            <a:r>
              <a:rPr lang="en" dirty="0">
                <a:solidFill>
                  <a:schemeClr val="dk1"/>
                </a:solidFill>
              </a:rPr>
              <a:t>Consider the following implementation of a producer and a consumer process:</a:t>
            </a:r>
            <a:endParaRPr dirty="0">
              <a:solidFill>
                <a:schemeClr val="dk1"/>
              </a:solidFill>
            </a:endParaRPr>
          </a:p>
          <a:p>
            <a:pPr marL="0" lvl="0" indent="0" algn="l" rtl="0">
              <a:spcBef>
                <a:spcPts val="1200"/>
              </a:spcBef>
              <a:spcAft>
                <a:spcPts val="0"/>
              </a:spcAft>
              <a:buClr>
                <a:schemeClr val="dk1"/>
              </a:buClr>
              <a:buSzPct val="61111"/>
              <a:buFont typeface="Arial"/>
              <a:buNone/>
            </a:pPr>
            <a:r>
              <a:rPr lang="en" u="sng" dirty="0">
                <a:solidFill>
                  <a:schemeClr val="dk1"/>
                </a:solidFill>
              </a:rPr>
              <a:t>Producer</a:t>
            </a:r>
            <a:r>
              <a:rPr lang="en" dirty="0">
                <a:solidFill>
                  <a:schemeClr val="dk1"/>
                </a:solidFill>
              </a:rPr>
              <a:t>						</a:t>
            </a:r>
            <a:r>
              <a:rPr lang="en" u="sng" dirty="0">
                <a:solidFill>
                  <a:schemeClr val="dk1"/>
                </a:solidFill>
              </a:rPr>
              <a:t>Consumer</a:t>
            </a:r>
            <a:endParaRPr u="sng" dirty="0">
              <a:solidFill>
                <a:schemeClr val="dk1"/>
              </a:solidFill>
            </a:endParaRPr>
          </a:p>
          <a:p>
            <a:pPr marL="0" lvl="0" indent="0" algn="l" rtl="0">
              <a:spcBef>
                <a:spcPts val="1200"/>
              </a:spcBef>
              <a:spcAft>
                <a:spcPts val="0"/>
              </a:spcAft>
              <a:buClr>
                <a:schemeClr val="dk1"/>
              </a:buClr>
              <a:buSzPct val="61111"/>
              <a:buFont typeface="Arial"/>
              <a:buNone/>
            </a:pPr>
            <a:r>
              <a:rPr lang="en" dirty="0">
                <a:solidFill>
                  <a:schemeClr val="dk1"/>
                </a:solidFill>
              </a:rPr>
              <a:t>p = produce();					while (count==0); // empty</a:t>
            </a:r>
            <a:endParaRPr dirty="0">
              <a:solidFill>
                <a:schemeClr val="dk1"/>
              </a:solidFill>
            </a:endParaRPr>
          </a:p>
          <a:p>
            <a:pPr marL="0" lvl="0" indent="0" algn="l" rtl="0">
              <a:spcBef>
                <a:spcPts val="1200"/>
              </a:spcBef>
              <a:spcAft>
                <a:spcPts val="0"/>
              </a:spcAft>
              <a:buClr>
                <a:schemeClr val="dk1"/>
              </a:buClr>
              <a:buSzPct val="61111"/>
              <a:buFont typeface="Arial"/>
              <a:buNone/>
            </a:pPr>
            <a:r>
              <a:rPr lang="en" dirty="0">
                <a:solidFill>
                  <a:schemeClr val="dk1"/>
                </a:solidFill>
              </a:rPr>
              <a:t>while (count==n); // full					p = buffer[out];</a:t>
            </a:r>
            <a:endParaRPr dirty="0">
              <a:solidFill>
                <a:schemeClr val="dk1"/>
              </a:solidFill>
            </a:endParaRPr>
          </a:p>
          <a:p>
            <a:pPr marL="0" lvl="0" indent="0" algn="l" rtl="0">
              <a:spcBef>
                <a:spcPts val="1200"/>
              </a:spcBef>
              <a:spcAft>
                <a:spcPts val="0"/>
              </a:spcAft>
              <a:buClr>
                <a:schemeClr val="dk1"/>
              </a:buClr>
              <a:buSzPct val="61111"/>
              <a:buFont typeface="Arial"/>
              <a:buNone/>
            </a:pPr>
            <a:r>
              <a:rPr lang="en" dirty="0">
                <a:solidFill>
                  <a:schemeClr val="dk1"/>
                </a:solidFill>
              </a:rPr>
              <a:t>buffer[in] = p;					out = (out+1) % n;</a:t>
            </a:r>
            <a:endParaRPr dirty="0">
              <a:solidFill>
                <a:schemeClr val="dk1"/>
              </a:solidFill>
            </a:endParaRPr>
          </a:p>
          <a:p>
            <a:pPr marL="0" lvl="0" indent="0" algn="l" rtl="0">
              <a:spcBef>
                <a:spcPts val="1200"/>
              </a:spcBef>
              <a:spcAft>
                <a:spcPts val="0"/>
              </a:spcAft>
              <a:buClr>
                <a:schemeClr val="dk1"/>
              </a:buClr>
              <a:buSzPct val="61111"/>
              <a:buFont typeface="Arial"/>
              <a:buNone/>
            </a:pPr>
            <a:r>
              <a:rPr lang="en" dirty="0">
                <a:solidFill>
                  <a:schemeClr val="dk1"/>
                </a:solidFill>
              </a:rPr>
              <a:t>in = (in+1) % n;					count- -;</a:t>
            </a:r>
            <a:endParaRPr dirty="0">
              <a:solidFill>
                <a:schemeClr val="dk1"/>
              </a:solidFill>
            </a:endParaRPr>
          </a:p>
          <a:p>
            <a:pPr marL="0" lvl="0" indent="0" algn="l" rtl="0">
              <a:spcBef>
                <a:spcPts val="1200"/>
              </a:spcBef>
              <a:spcAft>
                <a:spcPts val="0"/>
              </a:spcAft>
              <a:buNone/>
            </a:pPr>
            <a:r>
              <a:rPr lang="en" dirty="0">
                <a:solidFill>
                  <a:schemeClr val="dk1"/>
                </a:solidFill>
              </a:rPr>
              <a:t>count++;						consume(p);</a:t>
            </a:r>
            <a:endParaRPr dirty="0">
              <a:solidFill>
                <a:schemeClr val="dk1"/>
              </a:solidFill>
            </a:endParaRPr>
          </a:p>
          <a:p>
            <a:pPr marL="0" lvl="0" indent="0" algn="l" rtl="0">
              <a:spcBef>
                <a:spcPts val="1200"/>
              </a:spcBef>
              <a:spcAft>
                <a:spcPts val="0"/>
              </a:spcAft>
              <a:buNone/>
            </a:pPr>
            <a:r>
              <a:rPr lang="en" dirty="0">
                <a:solidFill>
                  <a:schemeClr val="dk1"/>
                </a:solidFill>
              </a:rPr>
              <a:t>The producer and consumer have to be synchronized using a single semaphore, S.</a:t>
            </a:r>
            <a:endParaRPr dirty="0">
              <a:solidFill>
                <a:schemeClr val="dk1"/>
              </a:solidFill>
            </a:endParaRPr>
          </a:p>
          <a:p>
            <a:pPr marL="0" lvl="0" indent="0" algn="l" rtl="0">
              <a:spcBef>
                <a:spcPts val="1200"/>
              </a:spcBef>
              <a:spcAft>
                <a:spcPts val="0"/>
              </a:spcAft>
              <a:buNone/>
            </a:pPr>
            <a:r>
              <a:rPr lang="en" dirty="0">
                <a:solidFill>
                  <a:schemeClr val="dk1"/>
                </a:solidFill>
              </a:rPr>
              <a:t>(i) Insert appropriate calls to wait(S) and signal(S) in the above code, so that the processes are properly synchronized.</a:t>
            </a:r>
            <a:endParaRPr dirty="0">
              <a:solidFill>
                <a:schemeClr val="dk1"/>
              </a:solidFill>
            </a:endParaRPr>
          </a:p>
          <a:p>
            <a:pPr marL="0" lvl="0" indent="0" algn="l" rtl="0">
              <a:spcBef>
                <a:spcPts val="1200"/>
              </a:spcBef>
              <a:spcAft>
                <a:spcPts val="0"/>
              </a:spcAft>
              <a:buNone/>
            </a:pPr>
            <a:r>
              <a:rPr lang="en" strike="sngStrike" dirty="0">
                <a:solidFill>
                  <a:schemeClr val="dk1"/>
                </a:solidFill>
              </a:rPr>
              <a:t>(ii)</a:t>
            </a:r>
            <a:r>
              <a:rPr lang="en" dirty="0">
                <a:solidFill>
                  <a:schemeClr val="dk1"/>
                </a:solidFill>
              </a:rPr>
              <a:t> Show how you would use the semget() and semctl() system calls to create and initialize S.</a:t>
            </a:r>
            <a:endParaRPr dirty="0">
              <a:solidFill>
                <a:schemeClr val="dk1"/>
              </a:solidFill>
            </a:endParaRPr>
          </a:p>
          <a:p>
            <a:pPr marL="0" lvl="0" indent="0" algn="l" rtl="0">
              <a:spcBef>
                <a:spcPts val="1200"/>
              </a:spcBef>
              <a:spcAft>
                <a:spcPts val="1200"/>
              </a:spcAft>
              <a:buNone/>
            </a:pPr>
            <a:r>
              <a:rPr lang="en" strike="sngStrike" dirty="0">
                <a:solidFill>
                  <a:schemeClr val="dk1"/>
                </a:solidFill>
              </a:rPr>
              <a:t>(iii)</a:t>
            </a:r>
            <a:r>
              <a:rPr lang="en" dirty="0">
                <a:solidFill>
                  <a:schemeClr val="dk1"/>
                </a:solidFill>
              </a:rPr>
              <a:t> Show how you would implement the wait(S) and signal(S) functions using the semop() system call.</a:t>
            </a:r>
            <a:endParaRPr dirty="0">
              <a:solidFill>
                <a:schemeClr val="dk1"/>
              </a:solidFill>
            </a:endParaRPr>
          </a:p>
        </p:txBody>
      </p:sp>
      <p:sp>
        <p:nvSpPr>
          <p:cNvPr id="154" name="Google Shape;154;p26"/>
          <p:cNvSpPr/>
          <p:nvPr/>
        </p:nvSpPr>
        <p:spPr>
          <a:xfrm>
            <a:off x="181014" y="2903600"/>
            <a:ext cx="761700" cy="27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5" name="Google Shape;155;p26"/>
          <p:cNvSpPr/>
          <p:nvPr/>
        </p:nvSpPr>
        <p:spPr>
          <a:xfrm>
            <a:off x="5671439" y="2549125"/>
            <a:ext cx="686400" cy="27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Solution to Q9</a:t>
            </a:r>
            <a:endParaRPr/>
          </a:p>
        </p:txBody>
      </p:sp>
      <p:sp>
        <p:nvSpPr>
          <p:cNvPr id="161" name="Google Shape;161;p27"/>
          <p:cNvSpPr txBox="1">
            <a:spLocks noGrp="1"/>
          </p:cNvSpPr>
          <p:nvPr>
            <p:ph type="body" idx="1"/>
          </p:nvPr>
        </p:nvSpPr>
        <p:spPr>
          <a:xfrm>
            <a:off x="311700" y="1152475"/>
            <a:ext cx="8520600" cy="3738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dirty="0"/>
              <a:t>(i) </a:t>
            </a:r>
            <a:r>
              <a:rPr lang="en" sz="1400" dirty="0">
                <a:solidFill>
                  <a:schemeClr val="dk1"/>
                </a:solidFill>
              </a:rPr>
              <a:t>To protect the shared data and prevent a </a:t>
            </a:r>
            <a:r>
              <a:rPr lang="en" sz="1400" b="1" dirty="0">
                <a:solidFill>
                  <a:schemeClr val="dk1"/>
                </a:solidFill>
              </a:rPr>
              <a:t>Race Condition</a:t>
            </a:r>
            <a:r>
              <a:rPr lang="en" sz="1400" dirty="0">
                <a:solidFill>
                  <a:schemeClr val="dk1"/>
                </a:solidFill>
              </a:rPr>
              <a:t>, the semaphore S (initialized to 1) acts as a </a:t>
            </a:r>
            <a:r>
              <a:rPr lang="en" sz="1400" b="1" dirty="0">
                <a:solidFill>
                  <a:schemeClr val="dk1"/>
                </a:solidFill>
              </a:rPr>
              <a:t>mutex</a:t>
            </a:r>
            <a:r>
              <a:rPr lang="en" sz="1400" dirty="0">
                <a:solidFill>
                  <a:schemeClr val="dk1"/>
                </a:solidFill>
              </a:rPr>
              <a:t>.</a:t>
            </a:r>
            <a:endParaRPr sz="1400" dirty="0">
              <a:solidFill>
                <a:schemeClr val="dk1"/>
              </a:solidFill>
            </a:endParaRPr>
          </a:p>
          <a:p>
            <a:pPr marL="0" lvl="0" indent="0" algn="l" rtl="0">
              <a:spcBef>
                <a:spcPts val="1200"/>
              </a:spcBef>
              <a:spcAft>
                <a:spcPts val="0"/>
              </a:spcAft>
              <a:buNone/>
            </a:pPr>
            <a:r>
              <a:rPr lang="en" sz="1400" u="sng" dirty="0">
                <a:solidFill>
                  <a:schemeClr val="dk1"/>
                </a:solidFill>
              </a:rPr>
              <a:t>Producer</a:t>
            </a:r>
            <a:r>
              <a:rPr lang="en" sz="1400" dirty="0">
                <a:solidFill>
                  <a:schemeClr val="dk1"/>
                </a:solidFill>
              </a:rPr>
              <a:t>					</a:t>
            </a:r>
            <a:r>
              <a:rPr lang="en" sz="1400" u="sng" dirty="0">
                <a:solidFill>
                  <a:schemeClr val="dk1"/>
                </a:solidFill>
              </a:rPr>
              <a:t>Consumer</a:t>
            </a:r>
            <a:endParaRPr sz="1400" u="sng" dirty="0">
              <a:solidFill>
                <a:schemeClr val="dk1"/>
              </a:solidFill>
            </a:endParaRPr>
          </a:p>
          <a:p>
            <a:pPr marL="0" lvl="0" indent="0" algn="l" rtl="0">
              <a:spcBef>
                <a:spcPts val="1200"/>
              </a:spcBef>
              <a:spcAft>
                <a:spcPts val="0"/>
              </a:spcAft>
              <a:buClr>
                <a:schemeClr val="dk1"/>
              </a:buClr>
              <a:buSzPts val="1100"/>
              <a:buFont typeface="Arial"/>
              <a:buNone/>
            </a:pPr>
            <a:r>
              <a:rPr lang="en" sz="1400" dirty="0">
                <a:solidFill>
                  <a:schemeClr val="dk1"/>
                </a:solidFill>
              </a:rPr>
              <a:t>p = produce();				while (count==0); // empty</a:t>
            </a:r>
            <a:endParaRPr sz="1400" dirty="0">
              <a:solidFill>
                <a:schemeClr val="dk1"/>
              </a:solidFill>
            </a:endParaRPr>
          </a:p>
          <a:p>
            <a:pPr marL="0" lvl="0" indent="0" algn="l" rtl="0">
              <a:spcBef>
                <a:spcPts val="1200"/>
              </a:spcBef>
              <a:spcAft>
                <a:spcPts val="0"/>
              </a:spcAft>
              <a:buClr>
                <a:schemeClr val="dk1"/>
              </a:buClr>
              <a:buSzPts val="1100"/>
              <a:buFont typeface="Arial"/>
              <a:buNone/>
            </a:pPr>
            <a:r>
              <a:rPr lang="en" sz="1400" dirty="0">
                <a:solidFill>
                  <a:schemeClr val="dk1"/>
                </a:solidFill>
              </a:rPr>
              <a:t>while (count==n); // full				</a:t>
            </a:r>
            <a:r>
              <a:rPr lang="en" sz="1400" b="1" dirty="0">
                <a:solidFill>
                  <a:schemeClr val="dk1"/>
                </a:solidFill>
              </a:rPr>
              <a:t>Wait (S)</a:t>
            </a:r>
            <a:endParaRPr sz="1400" b="1" dirty="0">
              <a:solidFill>
                <a:schemeClr val="dk1"/>
              </a:solidFill>
            </a:endParaRPr>
          </a:p>
          <a:p>
            <a:pPr marL="0" lvl="0" indent="0" algn="l" rtl="0">
              <a:spcBef>
                <a:spcPts val="1200"/>
              </a:spcBef>
              <a:spcAft>
                <a:spcPts val="0"/>
              </a:spcAft>
              <a:buClr>
                <a:schemeClr val="dk1"/>
              </a:buClr>
              <a:buSzPts val="1100"/>
              <a:buFont typeface="Arial"/>
              <a:buNone/>
            </a:pPr>
            <a:r>
              <a:rPr lang="en" sz="1400" b="1" dirty="0">
                <a:solidFill>
                  <a:schemeClr val="dk1"/>
                </a:solidFill>
              </a:rPr>
              <a:t>Wait (S)</a:t>
            </a:r>
            <a:r>
              <a:rPr lang="en" sz="1400" dirty="0">
                <a:solidFill>
                  <a:schemeClr val="dk1"/>
                </a:solidFill>
              </a:rPr>
              <a:t>					p = buffer[out];</a:t>
            </a:r>
            <a:endParaRPr sz="1400" dirty="0">
              <a:solidFill>
                <a:schemeClr val="dk1"/>
              </a:solidFill>
            </a:endParaRPr>
          </a:p>
          <a:p>
            <a:pPr marL="0" lvl="0" indent="0" algn="l" rtl="0">
              <a:spcBef>
                <a:spcPts val="1200"/>
              </a:spcBef>
              <a:spcAft>
                <a:spcPts val="0"/>
              </a:spcAft>
              <a:buClr>
                <a:schemeClr val="dk1"/>
              </a:buClr>
              <a:buSzPts val="1100"/>
              <a:buFont typeface="Arial"/>
              <a:buNone/>
            </a:pPr>
            <a:r>
              <a:rPr lang="en" sz="1400" dirty="0">
                <a:solidFill>
                  <a:schemeClr val="dk1"/>
                </a:solidFill>
              </a:rPr>
              <a:t>buffer[in] = p;				out = (out+1) % n;</a:t>
            </a:r>
            <a:endParaRPr sz="1400" dirty="0">
              <a:solidFill>
                <a:schemeClr val="dk1"/>
              </a:solidFill>
            </a:endParaRPr>
          </a:p>
          <a:p>
            <a:pPr marL="0" lvl="0" indent="0" algn="l" rtl="0">
              <a:spcBef>
                <a:spcPts val="1200"/>
              </a:spcBef>
              <a:spcAft>
                <a:spcPts val="0"/>
              </a:spcAft>
              <a:buClr>
                <a:schemeClr val="dk1"/>
              </a:buClr>
              <a:buSzPts val="1100"/>
              <a:buFont typeface="Arial"/>
              <a:buNone/>
            </a:pPr>
            <a:r>
              <a:rPr lang="en" sz="1400" dirty="0">
                <a:solidFill>
                  <a:schemeClr val="dk1"/>
                </a:solidFill>
              </a:rPr>
              <a:t>in = (in+1) % n;				count- -;</a:t>
            </a:r>
            <a:endParaRPr sz="1400" dirty="0">
              <a:solidFill>
                <a:schemeClr val="dk1"/>
              </a:solidFill>
            </a:endParaRPr>
          </a:p>
          <a:p>
            <a:pPr marL="0" lvl="0" indent="0" algn="l" rtl="0">
              <a:spcBef>
                <a:spcPts val="1200"/>
              </a:spcBef>
              <a:spcAft>
                <a:spcPts val="0"/>
              </a:spcAft>
              <a:buClr>
                <a:schemeClr val="dk1"/>
              </a:buClr>
              <a:buSzPts val="1100"/>
              <a:buFont typeface="Arial"/>
              <a:buNone/>
            </a:pPr>
            <a:r>
              <a:rPr lang="en" sz="1400" dirty="0">
                <a:solidFill>
                  <a:schemeClr val="dk1"/>
                </a:solidFill>
              </a:rPr>
              <a:t>count++;					</a:t>
            </a:r>
            <a:r>
              <a:rPr lang="en" sz="1400" b="1" dirty="0">
                <a:solidFill>
                  <a:schemeClr val="dk1"/>
                </a:solidFill>
              </a:rPr>
              <a:t>Signal(S)</a:t>
            </a:r>
            <a:endParaRPr sz="1400" b="1" dirty="0">
              <a:solidFill>
                <a:schemeClr val="dk1"/>
              </a:solidFill>
            </a:endParaRPr>
          </a:p>
          <a:p>
            <a:pPr marL="0" lvl="0" indent="0" algn="l" rtl="0">
              <a:spcBef>
                <a:spcPts val="1200"/>
              </a:spcBef>
              <a:spcAft>
                <a:spcPts val="0"/>
              </a:spcAft>
              <a:buClr>
                <a:schemeClr val="dk1"/>
              </a:buClr>
              <a:buSzPts val="1100"/>
              <a:buFont typeface="Arial"/>
              <a:buNone/>
            </a:pPr>
            <a:r>
              <a:rPr lang="en" sz="1400" b="1" dirty="0">
                <a:solidFill>
                  <a:schemeClr val="dk1"/>
                </a:solidFill>
              </a:rPr>
              <a:t>Signal (S)</a:t>
            </a:r>
            <a:r>
              <a:rPr lang="en" sz="1400" dirty="0">
                <a:solidFill>
                  <a:schemeClr val="dk1"/>
                </a:solidFill>
              </a:rPr>
              <a:t>					consume(p);</a:t>
            </a:r>
            <a:endParaRPr sz="1400" dirty="0">
              <a:solidFill>
                <a:schemeClr val="dk1"/>
              </a:solidFill>
            </a:endParaRPr>
          </a:p>
          <a:p>
            <a:pPr marL="0" lvl="0" indent="0" algn="l" rtl="0">
              <a:spcBef>
                <a:spcPts val="1200"/>
              </a:spcBef>
              <a:spcAft>
                <a:spcPts val="1200"/>
              </a:spcAft>
              <a:buNone/>
            </a:pPr>
            <a:endParaRPr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Shape 165"/>
        <p:cNvGrpSpPr/>
        <p:nvPr/>
      </p:nvGrpSpPr>
      <p:grpSpPr>
        <a:xfrm>
          <a:off x="0" y="0"/>
          <a:ext cx="0" cy="0"/>
          <a:chOff x="0" y="0"/>
          <a:chExt cx="0" cy="0"/>
        </a:xfrm>
      </p:grpSpPr>
      <p:sp>
        <p:nvSpPr>
          <p:cNvPr id="166" name="Google Shape;166;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Solution to Q9 (contd.)</a:t>
            </a:r>
            <a:endParaRPr/>
          </a:p>
        </p:txBody>
      </p:sp>
      <p:sp>
        <p:nvSpPr>
          <p:cNvPr id="167" name="Google Shape;167;p2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0"/>
              </a:spcAft>
              <a:buNone/>
            </a:pPr>
            <a:r>
              <a:rPr lang="en"/>
              <a:t>(ii) </a:t>
            </a:r>
            <a:r>
              <a:rPr lang="en" sz="1400">
                <a:solidFill>
                  <a:schemeClr val="dk1"/>
                </a:solidFill>
              </a:rPr>
              <a:t>In Unix-based systems, we use </a:t>
            </a:r>
            <a:r>
              <a:rPr lang="en" sz="1400">
                <a:solidFill>
                  <a:srgbClr val="188038"/>
                </a:solidFill>
                <a:latin typeface="Roboto Mono"/>
                <a:ea typeface="Roboto Mono"/>
                <a:cs typeface="Roboto Mono"/>
                <a:sym typeface="Roboto Mono"/>
              </a:rPr>
              <a:t>semget</a:t>
            </a:r>
            <a:r>
              <a:rPr lang="en" sz="1400">
                <a:solidFill>
                  <a:schemeClr val="dk1"/>
                </a:solidFill>
              </a:rPr>
              <a:t> to create the semaphore set and </a:t>
            </a:r>
            <a:r>
              <a:rPr lang="en" sz="1400">
                <a:solidFill>
                  <a:srgbClr val="188038"/>
                </a:solidFill>
                <a:latin typeface="Roboto Mono"/>
                <a:ea typeface="Roboto Mono"/>
                <a:cs typeface="Roboto Mono"/>
                <a:sym typeface="Roboto Mono"/>
              </a:rPr>
              <a:t>semctl</a:t>
            </a:r>
            <a:r>
              <a:rPr lang="en" sz="1400">
                <a:solidFill>
                  <a:schemeClr val="dk1"/>
                </a:solidFill>
              </a:rPr>
              <a:t> to set the initial value.</a:t>
            </a:r>
            <a:endParaRPr sz="1400">
              <a:solidFill>
                <a:schemeClr val="dk1"/>
              </a:solidFill>
            </a:endParaRPr>
          </a:p>
          <a:p>
            <a:pPr marL="0" lvl="0" indent="0" algn="l" rtl="0">
              <a:spcBef>
                <a:spcPts val="1200"/>
              </a:spcBef>
              <a:spcAft>
                <a:spcPts val="0"/>
              </a:spcAft>
              <a:buClr>
                <a:schemeClr val="dk1"/>
              </a:buClr>
              <a:buSzPct val="78571"/>
              <a:buFont typeface="Arial"/>
              <a:buNone/>
            </a:pPr>
            <a:r>
              <a:rPr lang="en" sz="1400">
                <a:solidFill>
                  <a:schemeClr val="dk1"/>
                </a:solidFill>
              </a:rPr>
              <a:t>// 1. Create a semaphore set with 1 semaphore</a:t>
            </a:r>
            <a:endParaRPr sz="1400">
              <a:solidFill>
                <a:schemeClr val="dk1"/>
              </a:solidFill>
            </a:endParaRPr>
          </a:p>
          <a:p>
            <a:pPr marL="0" lvl="0" indent="0" algn="l" rtl="0">
              <a:spcBef>
                <a:spcPts val="1200"/>
              </a:spcBef>
              <a:spcAft>
                <a:spcPts val="0"/>
              </a:spcAft>
              <a:buClr>
                <a:schemeClr val="dk1"/>
              </a:buClr>
              <a:buSzPct val="78571"/>
              <a:buFont typeface="Arial"/>
              <a:buNone/>
            </a:pPr>
            <a:r>
              <a:rPr lang="en" sz="1400">
                <a:solidFill>
                  <a:schemeClr val="dk1"/>
                </a:solidFill>
              </a:rPr>
              <a:t>int semid = semget(IPC_PRIVATE, 1, 0666 | IPC_CREAT);</a:t>
            </a:r>
            <a:endParaRPr sz="1400">
              <a:solidFill>
                <a:schemeClr val="dk1"/>
              </a:solidFill>
            </a:endParaRPr>
          </a:p>
          <a:p>
            <a:pPr marL="0" lvl="0" indent="0" algn="l" rtl="0">
              <a:spcBef>
                <a:spcPts val="1200"/>
              </a:spcBef>
              <a:spcAft>
                <a:spcPts val="0"/>
              </a:spcAft>
              <a:buClr>
                <a:schemeClr val="dk1"/>
              </a:buClr>
              <a:buSzPct val="78571"/>
              <a:buFont typeface="Arial"/>
              <a:buNone/>
            </a:pPr>
            <a:r>
              <a:rPr lang="en" sz="1400">
                <a:solidFill>
                  <a:schemeClr val="dk1"/>
                </a:solidFill>
              </a:rPr>
              <a:t>// 2. Initialize the semaphore (index 0) to 1 (Binary Semaphore/Mutex)</a:t>
            </a:r>
            <a:endParaRPr sz="1400">
              <a:solidFill>
                <a:schemeClr val="dk1"/>
              </a:solidFill>
            </a:endParaRPr>
          </a:p>
          <a:p>
            <a:pPr marL="0" lvl="0" indent="0" algn="l" rtl="0">
              <a:spcBef>
                <a:spcPts val="1200"/>
              </a:spcBef>
              <a:spcAft>
                <a:spcPts val="0"/>
              </a:spcAft>
              <a:buClr>
                <a:schemeClr val="dk1"/>
              </a:buClr>
              <a:buSzPct val="78571"/>
              <a:buFont typeface="Arial"/>
              <a:buNone/>
            </a:pPr>
            <a:r>
              <a:rPr lang="en" sz="1400">
                <a:solidFill>
                  <a:schemeClr val="dk1"/>
                </a:solidFill>
              </a:rPr>
              <a:t>union semun {</a:t>
            </a:r>
            <a:endParaRPr sz="1400">
              <a:solidFill>
                <a:schemeClr val="dk1"/>
              </a:solidFill>
            </a:endParaRPr>
          </a:p>
          <a:p>
            <a:pPr marL="0" lvl="0" indent="0" algn="l" rtl="0">
              <a:spcBef>
                <a:spcPts val="1200"/>
              </a:spcBef>
              <a:spcAft>
                <a:spcPts val="0"/>
              </a:spcAft>
              <a:buClr>
                <a:schemeClr val="dk1"/>
              </a:buClr>
              <a:buSzPct val="78571"/>
              <a:buFont typeface="Arial"/>
              <a:buNone/>
            </a:pPr>
            <a:r>
              <a:rPr lang="en" sz="1400">
                <a:solidFill>
                  <a:schemeClr val="dk1"/>
                </a:solidFill>
              </a:rPr>
              <a:t>    int val;</a:t>
            </a:r>
            <a:endParaRPr sz="1400">
              <a:solidFill>
                <a:schemeClr val="dk1"/>
              </a:solidFill>
            </a:endParaRPr>
          </a:p>
          <a:p>
            <a:pPr marL="0" lvl="0" indent="0" algn="l" rtl="0">
              <a:spcBef>
                <a:spcPts val="1200"/>
              </a:spcBef>
              <a:spcAft>
                <a:spcPts val="0"/>
              </a:spcAft>
              <a:buClr>
                <a:schemeClr val="dk1"/>
              </a:buClr>
              <a:buSzPct val="78571"/>
              <a:buFont typeface="Arial"/>
              <a:buNone/>
            </a:pPr>
            <a:r>
              <a:rPr lang="en" sz="1400">
                <a:solidFill>
                  <a:schemeClr val="dk1"/>
                </a:solidFill>
              </a:rPr>
              <a:t>} argument;</a:t>
            </a:r>
            <a:endParaRPr sz="1400">
              <a:solidFill>
                <a:schemeClr val="dk1"/>
              </a:solidFill>
            </a:endParaRPr>
          </a:p>
          <a:p>
            <a:pPr marL="0" lvl="0" indent="0" algn="l" rtl="0">
              <a:spcBef>
                <a:spcPts val="1200"/>
              </a:spcBef>
              <a:spcAft>
                <a:spcPts val="0"/>
              </a:spcAft>
              <a:buClr>
                <a:schemeClr val="dk1"/>
              </a:buClr>
              <a:buSzPct val="78571"/>
              <a:buFont typeface="Arial"/>
              <a:buNone/>
            </a:pPr>
            <a:r>
              <a:rPr lang="en" sz="1400">
                <a:solidFill>
                  <a:schemeClr val="dk1"/>
                </a:solidFill>
              </a:rPr>
              <a:t>argument.val = 1; </a:t>
            </a:r>
            <a:endParaRPr sz="1400">
              <a:solidFill>
                <a:schemeClr val="dk1"/>
              </a:solidFill>
            </a:endParaRPr>
          </a:p>
          <a:p>
            <a:pPr marL="0" lvl="0" indent="0" algn="l" rtl="0">
              <a:spcBef>
                <a:spcPts val="1200"/>
              </a:spcBef>
              <a:spcAft>
                <a:spcPts val="1200"/>
              </a:spcAft>
              <a:buNone/>
            </a:pPr>
            <a:r>
              <a:rPr lang="en" sz="1400">
                <a:solidFill>
                  <a:schemeClr val="dk1"/>
                </a:solidFill>
              </a:rPr>
              <a:t>semctl(semid, 0, SETVAL, argument);</a:t>
            </a:r>
            <a:endParaRPr sz="1400">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Shape 171"/>
        <p:cNvGrpSpPr/>
        <p:nvPr/>
      </p:nvGrpSpPr>
      <p:grpSpPr>
        <a:xfrm>
          <a:off x="0" y="0"/>
          <a:ext cx="0" cy="0"/>
          <a:chOff x="0" y="0"/>
          <a:chExt cx="0" cy="0"/>
        </a:xfrm>
      </p:grpSpPr>
      <p:sp>
        <p:nvSpPr>
          <p:cNvPr id="172" name="Google Shape;172;p29"/>
          <p:cNvSpPr txBox="1">
            <a:spLocks noGrp="1"/>
          </p:cNvSpPr>
          <p:nvPr>
            <p:ph type="title"/>
          </p:nvPr>
        </p:nvSpPr>
        <p:spPr>
          <a:xfrm>
            <a:off x="311700" y="218771"/>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Solution to Q9 (contd.)</a:t>
            </a:r>
            <a:endParaRPr/>
          </a:p>
        </p:txBody>
      </p:sp>
      <p:sp>
        <p:nvSpPr>
          <p:cNvPr id="173" name="Google Shape;173;p29"/>
          <p:cNvSpPr txBox="1">
            <a:spLocks noGrp="1"/>
          </p:cNvSpPr>
          <p:nvPr>
            <p:ph type="body" idx="1"/>
          </p:nvPr>
        </p:nvSpPr>
        <p:spPr>
          <a:xfrm>
            <a:off x="311700" y="791475"/>
            <a:ext cx="8520600" cy="4208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a:t>(iii)</a:t>
            </a:r>
            <a:r>
              <a:rPr lang="en" sz="1400">
                <a:solidFill>
                  <a:schemeClr val="dk1"/>
                </a:solidFill>
              </a:rPr>
              <a:t>The </a:t>
            </a:r>
            <a:r>
              <a:rPr lang="en" sz="1400">
                <a:solidFill>
                  <a:srgbClr val="188038"/>
                </a:solidFill>
                <a:latin typeface="Roboto Mono"/>
                <a:ea typeface="Roboto Mono"/>
                <a:cs typeface="Roboto Mono"/>
                <a:sym typeface="Roboto Mono"/>
              </a:rPr>
              <a:t>semop()</a:t>
            </a:r>
            <a:r>
              <a:rPr lang="en" sz="1400">
                <a:solidFill>
                  <a:schemeClr val="dk1"/>
                </a:solidFill>
              </a:rPr>
              <a:t> system call performs atomic operations on semaphores using the </a:t>
            </a:r>
            <a:r>
              <a:rPr lang="en" sz="1400">
                <a:solidFill>
                  <a:srgbClr val="188038"/>
                </a:solidFill>
                <a:latin typeface="Roboto Mono"/>
                <a:ea typeface="Roboto Mono"/>
                <a:cs typeface="Roboto Mono"/>
                <a:sym typeface="Roboto Mono"/>
              </a:rPr>
              <a:t>sembuf</a:t>
            </a:r>
            <a:r>
              <a:rPr lang="en" sz="1400">
                <a:solidFill>
                  <a:schemeClr val="dk1"/>
                </a:solidFill>
              </a:rPr>
              <a:t> structure.</a:t>
            </a:r>
            <a:endParaRPr sz="1400">
              <a:solidFill>
                <a:schemeClr val="dk1"/>
              </a:solidFill>
            </a:endParaRPr>
          </a:p>
          <a:p>
            <a:pPr marL="0" lvl="0" indent="0" algn="l" rtl="0">
              <a:spcBef>
                <a:spcPts val="1200"/>
              </a:spcBef>
              <a:spcAft>
                <a:spcPts val="0"/>
              </a:spcAft>
              <a:buNone/>
            </a:pPr>
            <a:r>
              <a:rPr lang="en" sz="1400" b="1">
                <a:solidFill>
                  <a:schemeClr val="dk1"/>
                </a:solidFill>
              </a:rPr>
              <a:t>wait(S) Implementation:</a:t>
            </a:r>
            <a:endParaRPr sz="1400" b="1">
              <a:solidFill>
                <a:schemeClr val="dk1"/>
              </a:solidFill>
            </a:endParaRPr>
          </a:p>
          <a:p>
            <a:pPr marL="0" lvl="0" indent="0" algn="l" rtl="0">
              <a:spcBef>
                <a:spcPts val="1200"/>
              </a:spcBef>
              <a:spcAft>
                <a:spcPts val="0"/>
              </a:spcAft>
              <a:buClr>
                <a:schemeClr val="dk1"/>
              </a:buClr>
              <a:buSzPts val="1100"/>
              <a:buFont typeface="Arial"/>
              <a:buNone/>
            </a:pPr>
            <a:r>
              <a:rPr lang="en" sz="1400">
                <a:solidFill>
                  <a:schemeClr val="dk1"/>
                </a:solidFill>
              </a:rPr>
              <a:t>void wait(int semid) {</a:t>
            </a:r>
            <a:endParaRPr sz="1400">
              <a:solidFill>
                <a:schemeClr val="dk1"/>
              </a:solidFill>
            </a:endParaRPr>
          </a:p>
          <a:p>
            <a:pPr marL="0" lvl="0" indent="0" algn="l" rtl="0">
              <a:spcBef>
                <a:spcPts val="1200"/>
              </a:spcBef>
              <a:spcAft>
                <a:spcPts val="0"/>
              </a:spcAft>
              <a:buClr>
                <a:schemeClr val="dk1"/>
              </a:buClr>
              <a:buSzPts val="1100"/>
              <a:buFont typeface="Arial"/>
              <a:buNone/>
            </a:pPr>
            <a:r>
              <a:rPr lang="en" sz="1400">
                <a:solidFill>
                  <a:schemeClr val="dk1"/>
                </a:solidFill>
              </a:rPr>
              <a:t>    struct sembuf sb = {0, -1, 0}; // Index 0, Decrement by 1, No flags</a:t>
            </a:r>
            <a:endParaRPr sz="1400">
              <a:solidFill>
                <a:schemeClr val="dk1"/>
              </a:solidFill>
            </a:endParaRPr>
          </a:p>
          <a:p>
            <a:pPr marL="0" lvl="0" indent="0" algn="l" rtl="0">
              <a:spcBef>
                <a:spcPts val="1200"/>
              </a:spcBef>
              <a:spcAft>
                <a:spcPts val="0"/>
              </a:spcAft>
              <a:buClr>
                <a:schemeClr val="dk1"/>
              </a:buClr>
              <a:buSzPts val="1100"/>
              <a:buFont typeface="Arial"/>
              <a:buNone/>
            </a:pPr>
            <a:r>
              <a:rPr lang="en" sz="1400">
                <a:solidFill>
                  <a:schemeClr val="dk1"/>
                </a:solidFill>
              </a:rPr>
              <a:t>    semop(semid, &amp;sb, 1);</a:t>
            </a:r>
            <a:endParaRPr sz="1400">
              <a:solidFill>
                <a:schemeClr val="dk1"/>
              </a:solidFill>
            </a:endParaRPr>
          </a:p>
          <a:p>
            <a:pPr marL="0" lvl="0" indent="0" algn="l" rtl="0">
              <a:spcBef>
                <a:spcPts val="1200"/>
              </a:spcBef>
              <a:spcAft>
                <a:spcPts val="0"/>
              </a:spcAft>
              <a:buNone/>
            </a:pPr>
            <a:r>
              <a:rPr lang="en" sz="1400">
                <a:solidFill>
                  <a:schemeClr val="dk1"/>
                </a:solidFill>
              </a:rPr>
              <a:t>}</a:t>
            </a:r>
            <a:endParaRPr sz="1400">
              <a:solidFill>
                <a:schemeClr val="dk1"/>
              </a:solidFill>
            </a:endParaRPr>
          </a:p>
          <a:p>
            <a:pPr marL="0" lvl="0" indent="0" algn="l" rtl="0">
              <a:spcBef>
                <a:spcPts val="1200"/>
              </a:spcBef>
              <a:spcAft>
                <a:spcPts val="0"/>
              </a:spcAft>
              <a:buNone/>
            </a:pPr>
            <a:r>
              <a:rPr lang="en" sz="1400" b="1">
                <a:solidFill>
                  <a:schemeClr val="dk1"/>
                </a:solidFill>
              </a:rPr>
              <a:t>signal(S) Implementation:</a:t>
            </a:r>
            <a:endParaRPr sz="1400" b="1">
              <a:solidFill>
                <a:schemeClr val="dk1"/>
              </a:solidFill>
            </a:endParaRPr>
          </a:p>
          <a:p>
            <a:pPr marL="0" lvl="0" indent="0" algn="l" rtl="0">
              <a:spcBef>
                <a:spcPts val="1200"/>
              </a:spcBef>
              <a:spcAft>
                <a:spcPts val="0"/>
              </a:spcAft>
              <a:buClr>
                <a:schemeClr val="dk1"/>
              </a:buClr>
              <a:buSzPts val="1100"/>
              <a:buFont typeface="Arial"/>
              <a:buNone/>
            </a:pPr>
            <a:r>
              <a:rPr lang="en" sz="1400">
                <a:solidFill>
                  <a:schemeClr val="dk1"/>
                </a:solidFill>
              </a:rPr>
              <a:t>void signal(int semid) {</a:t>
            </a:r>
            <a:endParaRPr sz="1400">
              <a:solidFill>
                <a:schemeClr val="dk1"/>
              </a:solidFill>
            </a:endParaRPr>
          </a:p>
          <a:p>
            <a:pPr marL="0" lvl="0" indent="0" algn="l" rtl="0">
              <a:spcBef>
                <a:spcPts val="1200"/>
              </a:spcBef>
              <a:spcAft>
                <a:spcPts val="0"/>
              </a:spcAft>
              <a:buClr>
                <a:schemeClr val="dk1"/>
              </a:buClr>
              <a:buSzPts val="1100"/>
              <a:buFont typeface="Arial"/>
              <a:buNone/>
            </a:pPr>
            <a:r>
              <a:rPr lang="en" sz="1400">
                <a:solidFill>
                  <a:schemeClr val="dk1"/>
                </a:solidFill>
              </a:rPr>
              <a:t>    struct sembuf sb = {0, 1, 0};  // Index 0, Increment by 1, No flags</a:t>
            </a:r>
            <a:endParaRPr sz="1400">
              <a:solidFill>
                <a:schemeClr val="dk1"/>
              </a:solidFill>
            </a:endParaRPr>
          </a:p>
          <a:p>
            <a:pPr marL="0" lvl="0" indent="0" algn="l" rtl="0">
              <a:spcBef>
                <a:spcPts val="1200"/>
              </a:spcBef>
              <a:spcAft>
                <a:spcPts val="0"/>
              </a:spcAft>
              <a:buClr>
                <a:schemeClr val="dk1"/>
              </a:buClr>
              <a:buSzPts val="1100"/>
              <a:buFont typeface="Arial"/>
              <a:buNone/>
            </a:pPr>
            <a:r>
              <a:rPr lang="en" sz="1400">
                <a:solidFill>
                  <a:schemeClr val="dk1"/>
                </a:solidFill>
              </a:rPr>
              <a:t>    semop(semid, &amp;sb, 1);</a:t>
            </a:r>
            <a:endParaRPr sz="1400">
              <a:solidFill>
                <a:schemeClr val="dk1"/>
              </a:solidFill>
            </a:endParaRPr>
          </a:p>
          <a:p>
            <a:pPr marL="0" lvl="0" indent="0" algn="l" rtl="0">
              <a:spcBef>
                <a:spcPts val="1200"/>
              </a:spcBef>
              <a:spcAft>
                <a:spcPts val="1200"/>
              </a:spcAft>
              <a:buNone/>
            </a:pPr>
            <a:r>
              <a:rPr lang="en" sz="1400">
                <a:solidFill>
                  <a:schemeClr val="dk1"/>
                </a:solidFill>
              </a:rPr>
              <a:t>}</a:t>
            </a:r>
            <a:endParaRPr sz="1400">
              <a:solidFill>
                <a:schemeClr val="dk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30"/>
          <p:cNvSpPr txBox="1">
            <a:spLocks noGrp="1"/>
          </p:cNvSpPr>
          <p:nvPr>
            <p:ph type="title"/>
          </p:nvPr>
        </p:nvSpPr>
        <p:spPr>
          <a:xfrm>
            <a:off x="311700" y="143724"/>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a:t>Q10. ISI M.Tech CS Semester Exam 2011</a:t>
            </a:r>
            <a:endParaRPr/>
          </a:p>
          <a:p>
            <a:pPr marL="0" lvl="0" indent="0" algn="l" rtl="0">
              <a:spcBef>
                <a:spcPts val="0"/>
              </a:spcBef>
              <a:spcAft>
                <a:spcPts val="0"/>
              </a:spcAft>
              <a:buNone/>
            </a:pPr>
            <a:endParaRPr/>
          </a:p>
        </p:txBody>
      </p:sp>
      <p:sp>
        <p:nvSpPr>
          <p:cNvPr id="179" name="Google Shape;179;p30"/>
          <p:cNvSpPr txBox="1">
            <a:spLocks noGrp="1"/>
          </p:cNvSpPr>
          <p:nvPr>
            <p:ph type="body" idx="1"/>
          </p:nvPr>
        </p:nvSpPr>
        <p:spPr>
          <a:xfrm>
            <a:off x="108525" y="716425"/>
            <a:ext cx="8723700" cy="39522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Clr>
                <a:schemeClr val="dk1"/>
              </a:buClr>
              <a:buSzPts val="770"/>
              <a:buFont typeface="Arial"/>
              <a:buNone/>
            </a:pPr>
            <a:r>
              <a:rPr lang="en" sz="1400" dirty="0">
                <a:solidFill>
                  <a:schemeClr val="dk1"/>
                </a:solidFill>
              </a:rPr>
              <a:t>Consider the following Resource Allocation State involving 5 processes and 5 resources. Total = [ 5 4 5 3 6 ]</a:t>
            </a:r>
            <a:endParaRPr sz="1400" dirty="0">
              <a:solidFill>
                <a:schemeClr val="dk1"/>
              </a:solidFill>
            </a:endParaRPr>
          </a:p>
          <a:p>
            <a:pPr marL="0" lvl="0" indent="0" algn="l" rtl="0">
              <a:lnSpc>
                <a:spcPct val="95000"/>
              </a:lnSpc>
              <a:spcBef>
                <a:spcPts val="1200"/>
              </a:spcBef>
              <a:spcAft>
                <a:spcPts val="0"/>
              </a:spcAft>
              <a:buSzPts val="770"/>
              <a:buNone/>
            </a:pPr>
            <a:endParaRPr sz="1400" dirty="0">
              <a:solidFill>
                <a:schemeClr val="dk1"/>
              </a:solidFill>
            </a:endParaRPr>
          </a:p>
          <a:p>
            <a:pPr marL="0" lvl="0" indent="0" algn="l" rtl="0">
              <a:lnSpc>
                <a:spcPct val="95000"/>
              </a:lnSpc>
              <a:spcBef>
                <a:spcPts val="1200"/>
              </a:spcBef>
              <a:spcAft>
                <a:spcPts val="0"/>
              </a:spcAft>
              <a:buSzPts val="770"/>
              <a:buNone/>
            </a:pPr>
            <a:r>
              <a:rPr lang="en" sz="1400" dirty="0">
                <a:solidFill>
                  <a:schemeClr val="dk1"/>
                </a:solidFill>
              </a:rPr>
              <a:t>Max = 		          Alloc =			Req = </a:t>
            </a:r>
            <a:endParaRPr sz="1400" dirty="0">
              <a:solidFill>
                <a:schemeClr val="dk1"/>
              </a:solidFill>
            </a:endParaRPr>
          </a:p>
          <a:p>
            <a:pPr marL="0" lvl="0" indent="0" algn="l" rtl="0">
              <a:lnSpc>
                <a:spcPct val="95000"/>
              </a:lnSpc>
              <a:spcBef>
                <a:spcPts val="1200"/>
              </a:spcBef>
              <a:spcAft>
                <a:spcPts val="0"/>
              </a:spcAft>
              <a:buSzPts val="770"/>
              <a:buNone/>
            </a:pPr>
            <a:endParaRPr sz="1400" dirty="0">
              <a:solidFill>
                <a:schemeClr val="dk1"/>
              </a:solidFill>
            </a:endParaRPr>
          </a:p>
          <a:p>
            <a:pPr marL="0" lvl="0" indent="0" algn="l" rtl="0">
              <a:lnSpc>
                <a:spcPct val="95000"/>
              </a:lnSpc>
              <a:spcBef>
                <a:spcPts val="1200"/>
              </a:spcBef>
              <a:spcAft>
                <a:spcPts val="0"/>
              </a:spcAft>
              <a:buSzPts val="770"/>
              <a:buNone/>
            </a:pPr>
            <a:endParaRPr sz="1400" dirty="0">
              <a:solidFill>
                <a:schemeClr val="dk1"/>
              </a:solidFill>
            </a:endParaRPr>
          </a:p>
          <a:p>
            <a:pPr marL="0" lvl="0" indent="0" algn="l" rtl="0">
              <a:lnSpc>
                <a:spcPct val="95000"/>
              </a:lnSpc>
              <a:spcBef>
                <a:spcPts val="1200"/>
              </a:spcBef>
              <a:spcAft>
                <a:spcPts val="0"/>
              </a:spcAft>
              <a:buClr>
                <a:schemeClr val="dk1"/>
              </a:buClr>
              <a:buSzPts val="770"/>
              <a:buFont typeface="Arial"/>
              <a:buNone/>
            </a:pPr>
            <a:r>
              <a:rPr lang="en" sz="1400" dirty="0">
                <a:solidFill>
                  <a:schemeClr val="dk1"/>
                </a:solidFill>
              </a:rPr>
              <a:t>Total[i] specifies the total number of instances of resource i that exist in the system (including both allocated and free instances). Max [i, j], Alloc[i, j], and Req[i, j] denote, respectively:</a:t>
            </a:r>
            <a:endParaRPr sz="1400" dirty="0">
              <a:solidFill>
                <a:schemeClr val="dk1"/>
              </a:solidFill>
            </a:endParaRPr>
          </a:p>
          <a:p>
            <a:pPr marL="0" lvl="0" indent="0" algn="l" rtl="0">
              <a:lnSpc>
                <a:spcPct val="95000"/>
              </a:lnSpc>
              <a:spcBef>
                <a:spcPts val="1200"/>
              </a:spcBef>
              <a:spcAft>
                <a:spcPts val="0"/>
              </a:spcAft>
              <a:buClr>
                <a:schemeClr val="dk1"/>
              </a:buClr>
              <a:buSzPts val="770"/>
              <a:buFont typeface="Arial"/>
              <a:buNone/>
            </a:pPr>
            <a:r>
              <a:rPr lang="en" sz="1400" dirty="0">
                <a:solidFill>
                  <a:schemeClr val="dk1"/>
                </a:solidFill>
              </a:rPr>
              <a:t>• the maximum number of instances that process i may request of resource j,</a:t>
            </a:r>
            <a:endParaRPr sz="1400" dirty="0">
              <a:solidFill>
                <a:schemeClr val="dk1"/>
              </a:solidFill>
            </a:endParaRPr>
          </a:p>
          <a:p>
            <a:pPr marL="0" lvl="0" indent="0" algn="l" rtl="0">
              <a:lnSpc>
                <a:spcPct val="95000"/>
              </a:lnSpc>
              <a:spcBef>
                <a:spcPts val="1200"/>
              </a:spcBef>
              <a:spcAft>
                <a:spcPts val="0"/>
              </a:spcAft>
              <a:buClr>
                <a:schemeClr val="dk1"/>
              </a:buClr>
              <a:buSzPts val="770"/>
              <a:buFont typeface="Arial"/>
              <a:buNone/>
            </a:pPr>
            <a:r>
              <a:rPr lang="en" sz="1400" dirty="0">
                <a:solidFill>
                  <a:schemeClr val="dk1"/>
                </a:solidFill>
              </a:rPr>
              <a:t>• the number of instances of resource j currently allocated to process i, and</a:t>
            </a:r>
            <a:endParaRPr sz="1400" dirty="0">
              <a:solidFill>
                <a:schemeClr val="dk1"/>
              </a:solidFill>
            </a:endParaRPr>
          </a:p>
          <a:p>
            <a:pPr marL="0" lvl="0" indent="0" algn="l" rtl="0">
              <a:lnSpc>
                <a:spcPct val="95000"/>
              </a:lnSpc>
              <a:spcBef>
                <a:spcPts val="1200"/>
              </a:spcBef>
              <a:spcAft>
                <a:spcPts val="0"/>
              </a:spcAft>
              <a:buClr>
                <a:schemeClr val="dk1"/>
              </a:buClr>
              <a:buSzPts val="770"/>
              <a:buFont typeface="Arial"/>
              <a:buNone/>
            </a:pPr>
            <a:r>
              <a:rPr lang="en" sz="1400" dirty="0">
                <a:solidFill>
                  <a:schemeClr val="dk1"/>
                </a:solidFill>
              </a:rPr>
              <a:t>• the number of instances of resource j that process i is currently requesting.</a:t>
            </a:r>
            <a:endParaRPr sz="1400" dirty="0">
              <a:solidFill>
                <a:schemeClr val="dk1"/>
              </a:solidFill>
            </a:endParaRPr>
          </a:p>
          <a:p>
            <a:pPr marL="0" lvl="0" indent="0" algn="l" rtl="0">
              <a:lnSpc>
                <a:spcPct val="95000"/>
              </a:lnSpc>
              <a:spcBef>
                <a:spcPts val="1200"/>
              </a:spcBef>
              <a:spcAft>
                <a:spcPts val="1200"/>
              </a:spcAft>
              <a:buSzPts val="770"/>
              <a:buNone/>
            </a:pPr>
            <a:r>
              <a:rPr lang="en" sz="1400" dirty="0">
                <a:solidFill>
                  <a:schemeClr val="dk1"/>
                </a:solidFill>
              </a:rPr>
              <a:t>Show that the system is neither in a safe state nor in a deadlocked state.</a:t>
            </a:r>
            <a:endParaRPr sz="1400" dirty="0">
              <a:solidFill>
                <a:schemeClr val="dk1"/>
              </a:solidFill>
            </a:endParaRPr>
          </a:p>
        </p:txBody>
      </p:sp>
      <p:pic>
        <p:nvPicPr>
          <p:cNvPr id="180" name="Google Shape;180;p30" title="{&quot;red&quot;:89,&quot;green&quot;:89,&quot;blue&quot;:89,&quot;origURL&quot;:&quot;https://www.codecogs.com/eqnedit.php?latex=%5Cbegin%7Bbmatrix%7D%205%20%26%201%20%26%201%20%26%201%20%26%205%20%5C%5C%202%20%26%202%20%26%202%20%26%202%20%26%202%20%5C%5C%200%20%26%201%20%26%202%20%26%203%20%26%204%20%5C%5C%204%20%26%200%20%26%204%20%26%200%20%26%204%20%5C%5C%202%20%26%200%20%26%201%20%26%202%20%26%203%5Cend%7Bbmatrix%7D#0&quot;,&quot;size&quot;:18,&quot;width&quot;:670.9133858267717,&quot;height&quot;:303.3543307086614}"/>
          <p:cNvPicPr preferRelativeResize="0"/>
          <p:nvPr/>
        </p:nvPicPr>
        <p:blipFill>
          <a:blip r:embed="rId3">
            <a:alphaModFix/>
          </a:blip>
          <a:stretch>
            <a:fillRect/>
          </a:stretch>
        </p:blipFill>
        <p:spPr>
          <a:xfrm>
            <a:off x="972625" y="1167900"/>
            <a:ext cx="1116051" cy="1036324"/>
          </a:xfrm>
          <a:prstGeom prst="rect">
            <a:avLst/>
          </a:prstGeom>
          <a:noFill/>
          <a:ln>
            <a:noFill/>
          </a:ln>
        </p:spPr>
      </p:pic>
      <p:pic>
        <p:nvPicPr>
          <p:cNvPr id="181" name="Google Shape;181;p30" title="{&quot;red&quot;:89,&quot;green&quot;:89,&quot;blue&quot;:89,&quot;origURL&quot;:&quot;https://www.codecogs.com/eqnedit.php?latex=%5Cbegin%7Bbmatrix%7D%201%20%26%201%20%26%201%20%26%201%20%26%201%20%5C%5C%201%20%26%201%20%26%201%20%26%200%20%26%200%20%5C%5C%200%20%26%200%20%26%200%20%26%200%20%26%202%20%5C%5C%202%20%26%200%20%26%202%20%26%200%20%26%200%20%5C%5C%200%20%26%200%20%26%200%20%26%201%20%26%201%5Cend%7Bbmatrix%7D#0&quot;,&quot;size&quot;:12.599999785423279,&quot;width&quot;:670.9133858267717,&quot;height&quot;:303.3543307086614}"/>
          <p:cNvPicPr preferRelativeResize="0"/>
          <p:nvPr/>
        </p:nvPicPr>
        <p:blipFill>
          <a:blip r:embed="rId4">
            <a:alphaModFix/>
          </a:blip>
          <a:stretch>
            <a:fillRect/>
          </a:stretch>
        </p:blipFill>
        <p:spPr>
          <a:xfrm>
            <a:off x="3139569" y="1167900"/>
            <a:ext cx="1172299" cy="1088575"/>
          </a:xfrm>
          <a:prstGeom prst="rect">
            <a:avLst/>
          </a:prstGeom>
          <a:noFill/>
          <a:ln>
            <a:noFill/>
          </a:ln>
        </p:spPr>
      </p:pic>
      <p:pic>
        <p:nvPicPr>
          <p:cNvPr id="182" name="Google Shape;182;p30" title="{&quot;red&quot;:89,&quot;green&quot;:89,&quot;blue&quot;:89,&quot;origURL&quot;:&quot;https://www.codecogs.com/eqnedit.php?latex=%5Cbegin%7Bbmatrix%7D%201%20%26%200%20%26%200%20%26%200%20%26%204%20%5C%5C%201%20%26%201%20%26%201%20%26%201%20%26%201%5C%5C%200%20%26%200%20%26%200%20%26%202%20%26%202%20%5C%5C%201%20%26%200%20%26%200%20%26%200%20%26%203%20%5C%5C%202%20%26%20%200%20%26%201%20%26%201%20%26%201%20%5Cend%7Bbmatrix%7D#0&quot;,&quot;size&quot;:12.599999785423279,&quot;width&quot;:670.9133858267717,&quot;height&quot;:303.3543307086614}"/>
          <p:cNvPicPr preferRelativeResize="0"/>
          <p:nvPr/>
        </p:nvPicPr>
        <p:blipFill>
          <a:blip r:embed="rId5">
            <a:alphaModFix/>
          </a:blip>
          <a:stretch>
            <a:fillRect/>
          </a:stretch>
        </p:blipFill>
        <p:spPr>
          <a:xfrm>
            <a:off x="6201675" y="1141775"/>
            <a:ext cx="1172299" cy="1088568"/>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31"/>
          <p:cNvSpPr txBox="1">
            <a:spLocks noGrp="1"/>
          </p:cNvSpPr>
          <p:nvPr>
            <p:ph type="title"/>
          </p:nvPr>
        </p:nvSpPr>
        <p:spPr>
          <a:xfrm>
            <a:off x="311700" y="153443"/>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Solution to Q10</a:t>
            </a:r>
            <a:endParaRPr/>
          </a:p>
        </p:txBody>
      </p:sp>
      <p:sp>
        <p:nvSpPr>
          <p:cNvPr id="188" name="Google Shape;188;p31"/>
          <p:cNvSpPr txBox="1">
            <a:spLocks noGrp="1"/>
          </p:cNvSpPr>
          <p:nvPr>
            <p:ph type="body" idx="1"/>
          </p:nvPr>
        </p:nvSpPr>
        <p:spPr>
          <a:xfrm>
            <a:off x="311700" y="726150"/>
            <a:ext cx="8520600" cy="419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b="1"/>
              <a:t>General Formulation:- </a:t>
            </a:r>
            <a:r>
              <a:rPr lang="en" sz="1400"/>
              <a:t>Let n be the number of processes and m be the number of resource types.</a:t>
            </a:r>
            <a:endParaRPr sz="1400"/>
          </a:p>
          <a:p>
            <a:pPr marL="457200" lvl="0" indent="-317500" algn="l" rtl="0">
              <a:spcBef>
                <a:spcPts val="1200"/>
              </a:spcBef>
              <a:spcAft>
                <a:spcPts val="0"/>
              </a:spcAft>
              <a:buClr>
                <a:schemeClr val="dk1"/>
              </a:buClr>
              <a:buSzPts val="1400"/>
              <a:buChar char="●"/>
            </a:pPr>
            <a:r>
              <a:rPr lang="en" sz="1400" b="1">
                <a:solidFill>
                  <a:schemeClr val="dk1"/>
                </a:solidFill>
              </a:rPr>
              <a:t>Available:</a:t>
            </a:r>
            <a:r>
              <a:rPr lang="en" sz="1400">
                <a:solidFill>
                  <a:schemeClr val="dk1"/>
                </a:solidFill>
              </a:rPr>
              <a:t> A vector of length m indicating the number of available resources of each type. Available[j]=Total[j]−</a:t>
            </a:r>
            <a:endParaRPr sz="1400">
              <a:solidFill>
                <a:schemeClr val="dk1"/>
              </a:solidFill>
            </a:endParaRPr>
          </a:p>
          <a:p>
            <a:pPr marL="457200" lvl="0" indent="-317500" algn="l" rtl="0">
              <a:spcBef>
                <a:spcPts val="0"/>
              </a:spcBef>
              <a:spcAft>
                <a:spcPts val="0"/>
              </a:spcAft>
              <a:buClr>
                <a:schemeClr val="dk1"/>
              </a:buClr>
              <a:buSzPts val="1400"/>
              <a:buChar char="●"/>
            </a:pPr>
            <a:r>
              <a:rPr lang="en" sz="1400" b="1">
                <a:solidFill>
                  <a:schemeClr val="dk1"/>
                </a:solidFill>
              </a:rPr>
              <a:t>Max:</a:t>
            </a:r>
            <a:r>
              <a:rPr lang="en" sz="1400">
                <a:solidFill>
                  <a:schemeClr val="dk1"/>
                </a:solidFill>
              </a:rPr>
              <a:t> An n×m matrix defining the maximum demand of each process.</a:t>
            </a:r>
            <a:endParaRPr sz="1400">
              <a:solidFill>
                <a:schemeClr val="dk1"/>
              </a:solidFill>
            </a:endParaRPr>
          </a:p>
          <a:p>
            <a:pPr marL="457200" lvl="0" indent="-317500" algn="l" rtl="0">
              <a:spcBef>
                <a:spcPts val="0"/>
              </a:spcBef>
              <a:spcAft>
                <a:spcPts val="0"/>
              </a:spcAft>
              <a:buClr>
                <a:schemeClr val="dk1"/>
              </a:buClr>
              <a:buSzPts val="1400"/>
              <a:buChar char="●"/>
            </a:pPr>
            <a:r>
              <a:rPr lang="en" sz="1400" b="1">
                <a:solidFill>
                  <a:schemeClr val="dk1"/>
                </a:solidFill>
              </a:rPr>
              <a:t>Allocation:</a:t>
            </a:r>
            <a:r>
              <a:rPr lang="en" sz="1400">
                <a:solidFill>
                  <a:schemeClr val="dk1"/>
                </a:solidFill>
              </a:rPr>
              <a:t> An n×m matrix defining the number of resources currently allocated to each process.</a:t>
            </a:r>
            <a:endParaRPr sz="1400">
              <a:solidFill>
                <a:schemeClr val="dk1"/>
              </a:solidFill>
            </a:endParaRPr>
          </a:p>
          <a:p>
            <a:pPr marL="457200" lvl="0" indent="-317500" algn="l" rtl="0">
              <a:spcBef>
                <a:spcPts val="0"/>
              </a:spcBef>
              <a:spcAft>
                <a:spcPts val="0"/>
              </a:spcAft>
              <a:buClr>
                <a:schemeClr val="dk1"/>
              </a:buClr>
              <a:buSzPts val="1400"/>
              <a:buChar char="●"/>
            </a:pPr>
            <a:r>
              <a:rPr lang="en" sz="1400" b="1">
                <a:solidFill>
                  <a:schemeClr val="dk1"/>
                </a:solidFill>
              </a:rPr>
              <a:t>Need:</a:t>
            </a:r>
            <a:r>
              <a:rPr lang="en" sz="1400">
                <a:solidFill>
                  <a:schemeClr val="dk1"/>
                </a:solidFill>
              </a:rPr>
              <a:t> An n×m matrix indicating the remaining resource need of each process (Need=Max−Allocation).</a:t>
            </a:r>
            <a:endParaRPr sz="1400">
              <a:solidFill>
                <a:schemeClr val="dk1"/>
              </a:solidFill>
            </a:endParaRPr>
          </a:p>
          <a:p>
            <a:pPr marL="457200" lvl="0" indent="-317500" algn="l" rtl="0">
              <a:spcBef>
                <a:spcPts val="0"/>
              </a:spcBef>
              <a:spcAft>
                <a:spcPts val="0"/>
              </a:spcAft>
              <a:buClr>
                <a:schemeClr val="dk1"/>
              </a:buClr>
              <a:buSzPts val="1400"/>
              <a:buChar char="●"/>
            </a:pPr>
            <a:r>
              <a:rPr lang="en" sz="1400" b="1">
                <a:solidFill>
                  <a:schemeClr val="dk1"/>
                </a:solidFill>
              </a:rPr>
              <a:t>Request:</a:t>
            </a:r>
            <a:r>
              <a:rPr lang="en" sz="1400">
                <a:solidFill>
                  <a:schemeClr val="dk1"/>
                </a:solidFill>
              </a:rPr>
              <a:t> An n×m matrix indicating the current outstanding requests of each process.</a:t>
            </a:r>
            <a:endParaRPr sz="1400">
              <a:solidFill>
                <a:schemeClr val="dk1"/>
              </a:solidFill>
            </a:endParaRPr>
          </a:p>
          <a:p>
            <a:pPr marL="0" lvl="0" indent="0" algn="l" rtl="0">
              <a:spcBef>
                <a:spcPts val="1400"/>
              </a:spcBef>
              <a:spcAft>
                <a:spcPts val="0"/>
              </a:spcAft>
              <a:buNone/>
            </a:pPr>
            <a:r>
              <a:rPr lang="en" sz="1400" b="1">
                <a:solidFill>
                  <a:schemeClr val="dk1"/>
                </a:solidFill>
              </a:rPr>
              <a:t>Safety Analysis (Is the system Safe?)</a:t>
            </a:r>
            <a:endParaRPr sz="1400" b="1">
              <a:solidFill>
                <a:schemeClr val="dk1"/>
              </a:solidFill>
            </a:endParaRPr>
          </a:p>
          <a:p>
            <a:pPr marL="0" lvl="0" indent="0" algn="l" rtl="0">
              <a:spcBef>
                <a:spcPts val="1200"/>
              </a:spcBef>
              <a:spcAft>
                <a:spcPts val="0"/>
              </a:spcAft>
              <a:buNone/>
            </a:pPr>
            <a:r>
              <a:rPr lang="en" sz="1400">
                <a:solidFill>
                  <a:schemeClr val="dk1"/>
                </a:solidFill>
              </a:rPr>
              <a:t>A state is </a:t>
            </a:r>
            <a:r>
              <a:rPr lang="en" sz="1400" b="1">
                <a:solidFill>
                  <a:schemeClr val="dk1"/>
                </a:solidFill>
              </a:rPr>
              <a:t>Safe</a:t>
            </a:r>
            <a:r>
              <a:rPr lang="en" sz="1400">
                <a:solidFill>
                  <a:schemeClr val="dk1"/>
                </a:solidFill>
              </a:rPr>
              <a:t> if there exists a sequence of processes such that all can finish (Need≤Available).</a:t>
            </a:r>
            <a:endParaRPr sz="1400">
              <a:solidFill>
                <a:schemeClr val="dk1"/>
              </a:solidFill>
            </a:endParaRPr>
          </a:p>
          <a:p>
            <a:pPr marL="0" lvl="0" indent="0" algn="l" rtl="0">
              <a:spcBef>
                <a:spcPts val="1400"/>
              </a:spcBef>
              <a:spcAft>
                <a:spcPts val="0"/>
              </a:spcAft>
              <a:buClr>
                <a:schemeClr val="dk1"/>
              </a:buClr>
              <a:buSzPts val="1100"/>
              <a:buFont typeface="Arial"/>
              <a:buNone/>
            </a:pPr>
            <a:r>
              <a:rPr lang="en" sz="1400" b="1">
                <a:solidFill>
                  <a:schemeClr val="dk1"/>
                </a:solidFill>
              </a:rPr>
              <a:t>Deadlock Detection (Is the system Deadlocked?)</a:t>
            </a:r>
            <a:endParaRPr sz="1400" b="1">
              <a:solidFill>
                <a:schemeClr val="dk1"/>
              </a:solidFill>
            </a:endParaRPr>
          </a:p>
          <a:p>
            <a:pPr marL="0" lvl="0" indent="0" algn="l" rtl="0">
              <a:spcBef>
                <a:spcPts val="1200"/>
              </a:spcBef>
              <a:spcAft>
                <a:spcPts val="1200"/>
              </a:spcAft>
              <a:buNone/>
            </a:pPr>
            <a:r>
              <a:rPr lang="en" sz="1400">
                <a:solidFill>
                  <a:schemeClr val="dk1"/>
                </a:solidFill>
              </a:rPr>
              <a:t>A system is </a:t>
            </a:r>
            <a:r>
              <a:rPr lang="en" sz="1400" b="1">
                <a:solidFill>
                  <a:schemeClr val="dk1"/>
                </a:solidFill>
              </a:rPr>
              <a:t>Deadlocked</a:t>
            </a:r>
            <a:r>
              <a:rPr lang="en" sz="1400">
                <a:solidFill>
                  <a:schemeClr val="dk1"/>
                </a:solidFill>
              </a:rPr>
              <a:t> only if no process can make progress based on its </a:t>
            </a:r>
            <a:r>
              <a:rPr lang="en" sz="1400" i="1">
                <a:solidFill>
                  <a:schemeClr val="dk1"/>
                </a:solidFill>
              </a:rPr>
              <a:t>current</a:t>
            </a:r>
            <a:r>
              <a:rPr lang="en" sz="1400">
                <a:solidFill>
                  <a:schemeClr val="dk1"/>
                </a:solidFill>
              </a:rPr>
              <a:t> </a:t>
            </a:r>
            <a:r>
              <a:rPr lang="en" sz="1400" b="1">
                <a:solidFill>
                  <a:schemeClr val="dk1"/>
                </a:solidFill>
              </a:rPr>
              <a:t>Request</a:t>
            </a:r>
            <a:r>
              <a:rPr lang="en" sz="1400">
                <a:solidFill>
                  <a:schemeClr val="dk1"/>
                </a:solidFill>
              </a:rPr>
              <a:t> matrix. We check if any Request</a:t>
            </a:r>
            <a:r>
              <a:rPr lang="en" sz="1400" baseline="-25000">
                <a:solidFill>
                  <a:schemeClr val="dk1"/>
                </a:solidFill>
              </a:rPr>
              <a:t>i</a:t>
            </a:r>
            <a:r>
              <a:rPr lang="en" sz="1400">
                <a:solidFill>
                  <a:schemeClr val="dk1"/>
                </a:solidFill>
              </a:rPr>
              <a:t> ​≤ Available. For sequence (P1​,P4​,P2​,P3​,P0​), all current requests are met.</a:t>
            </a:r>
            <a:endParaRPr sz="1400"/>
          </a:p>
        </p:txBody>
      </p:sp>
      <p:pic>
        <p:nvPicPr>
          <p:cNvPr id="189" name="Google Shape;189;p31" title="{&quot;red&quot;:0,&quot;green&quot;:0,&quot;blue&quot;:0,&quot;origURL&quot;:&quot;https://www.codecogs.com/eqnedit.php?latex=%5Csum_%7Bi%3D0%7D%5E%7Bn-1%7D%E2%80%8B%20%7B%5Ctextbf%7BAllocation%5Bi%2Cj%5D%7D%7D#0&quot;,&quot;size&quot;:11,&quot;width&quot;:670.9133858267717,&quot;height&quot;:302.5748031496063}"/>
          <p:cNvPicPr preferRelativeResize="0"/>
          <p:nvPr/>
        </p:nvPicPr>
        <p:blipFill>
          <a:blip r:embed="rId3">
            <a:alphaModFix/>
          </a:blip>
          <a:stretch>
            <a:fillRect/>
          </a:stretch>
        </p:blipFill>
        <p:spPr>
          <a:xfrm>
            <a:off x="2518000" y="1435675"/>
            <a:ext cx="1074850" cy="3170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2"/>
          <p:cNvSpPr txBox="1">
            <a:spLocks noGrp="1"/>
          </p:cNvSpPr>
          <p:nvPr>
            <p:ph type="title"/>
          </p:nvPr>
        </p:nvSpPr>
        <p:spPr>
          <a:xfrm>
            <a:off x="311700" y="139568"/>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a:t>Solution to Q10 (contd.) Non-deadlocked Sequence</a:t>
            </a:r>
            <a:endParaRPr/>
          </a:p>
          <a:p>
            <a:pPr marL="0" lvl="0" indent="0" algn="l" rtl="0">
              <a:spcBef>
                <a:spcPts val="0"/>
              </a:spcBef>
              <a:spcAft>
                <a:spcPts val="0"/>
              </a:spcAft>
              <a:buNone/>
            </a:pPr>
            <a:endParaRPr/>
          </a:p>
        </p:txBody>
      </p:sp>
      <p:sp>
        <p:nvSpPr>
          <p:cNvPr id="195" name="Google Shape;195;p32"/>
          <p:cNvSpPr txBox="1">
            <a:spLocks noGrp="1"/>
          </p:cNvSpPr>
          <p:nvPr>
            <p:ph type="body" idx="1"/>
          </p:nvPr>
        </p:nvSpPr>
        <p:spPr>
          <a:xfrm>
            <a:off x="311700" y="712275"/>
            <a:ext cx="8520600" cy="4306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400" b="1">
                <a:solidFill>
                  <a:schemeClr val="dk1"/>
                </a:solidFill>
              </a:rPr>
              <a:t>Check P1​</a:t>
            </a:r>
            <a:r>
              <a:rPr lang="en" sz="1400">
                <a:solidFill>
                  <a:schemeClr val="dk1"/>
                </a:solidFill>
              </a:rPr>
              <a:t>: Request [1,1,1,1,1]≤Available[1,2,1,1,2]. </a:t>
            </a:r>
            <a:r>
              <a:rPr lang="en" sz="1400" b="1">
                <a:solidFill>
                  <a:schemeClr val="dk1"/>
                </a:solidFill>
              </a:rPr>
              <a:t>True</a:t>
            </a:r>
            <a:r>
              <a:rPr lang="en" sz="1400">
                <a:solidFill>
                  <a:schemeClr val="dk1"/>
                </a:solidFill>
              </a:rPr>
              <a:t>.</a:t>
            </a:r>
            <a:endParaRPr sz="1400">
              <a:solidFill>
                <a:schemeClr val="dk1"/>
              </a:solidFill>
            </a:endParaRPr>
          </a:p>
          <a:p>
            <a:pPr marL="457200" lvl="0" indent="-317500" algn="l" rtl="0">
              <a:spcBef>
                <a:spcPts val="1200"/>
              </a:spcBef>
              <a:spcAft>
                <a:spcPts val="0"/>
              </a:spcAft>
              <a:buClr>
                <a:schemeClr val="dk1"/>
              </a:buClr>
              <a:buSzPts val="1400"/>
              <a:buChar char="●"/>
            </a:pPr>
            <a:r>
              <a:rPr lang="en" sz="1400">
                <a:solidFill>
                  <a:schemeClr val="dk1"/>
                </a:solidFill>
              </a:rPr>
              <a:t>P1​ can finish. New Available=Available+Alloc(P1)​=[1,2,1,1,2]+[1,1,1,0,0]=[2,3,2,1,2].</a:t>
            </a:r>
            <a:endParaRPr sz="1400">
              <a:solidFill>
                <a:schemeClr val="dk1"/>
              </a:solidFill>
            </a:endParaRPr>
          </a:p>
          <a:p>
            <a:pPr marL="0" lvl="0" indent="0" algn="l" rtl="0">
              <a:spcBef>
                <a:spcPts val="1200"/>
              </a:spcBef>
              <a:spcAft>
                <a:spcPts val="0"/>
              </a:spcAft>
              <a:buClr>
                <a:schemeClr val="dk1"/>
              </a:buClr>
              <a:buSzPts val="1100"/>
              <a:buFont typeface="Arial"/>
              <a:buNone/>
            </a:pPr>
            <a:r>
              <a:rPr lang="en" sz="1400" b="1">
                <a:solidFill>
                  <a:schemeClr val="dk1"/>
                </a:solidFill>
              </a:rPr>
              <a:t>Check P3​</a:t>
            </a:r>
            <a:r>
              <a:rPr lang="en" sz="1400">
                <a:solidFill>
                  <a:schemeClr val="dk1"/>
                </a:solidFill>
              </a:rPr>
              <a:t>: Request [1,0,0,0,3]≤Available[2,3,2,1,2]. </a:t>
            </a:r>
            <a:r>
              <a:rPr lang="en" sz="1400" b="1">
                <a:solidFill>
                  <a:schemeClr val="dk1"/>
                </a:solidFill>
              </a:rPr>
              <a:t>False</a:t>
            </a:r>
            <a:r>
              <a:rPr lang="en" sz="1400">
                <a:solidFill>
                  <a:schemeClr val="dk1"/>
                </a:solidFill>
              </a:rPr>
              <a:t> (needs 3 of R4​).</a:t>
            </a:r>
            <a:endParaRPr sz="1400">
              <a:solidFill>
                <a:schemeClr val="dk1"/>
              </a:solidFill>
            </a:endParaRPr>
          </a:p>
          <a:p>
            <a:pPr marL="0" lvl="0" indent="0" algn="l" rtl="0">
              <a:spcBef>
                <a:spcPts val="0"/>
              </a:spcBef>
              <a:spcAft>
                <a:spcPts val="0"/>
              </a:spcAft>
              <a:buClr>
                <a:schemeClr val="dk1"/>
              </a:buClr>
              <a:buSzPts val="1100"/>
              <a:buFont typeface="Arial"/>
              <a:buNone/>
            </a:pPr>
            <a:r>
              <a:rPr lang="en" sz="1400" b="1">
                <a:solidFill>
                  <a:schemeClr val="dk1"/>
                </a:solidFill>
              </a:rPr>
              <a:t>Check P4​</a:t>
            </a:r>
            <a:r>
              <a:rPr lang="en" sz="1400">
                <a:solidFill>
                  <a:schemeClr val="dk1"/>
                </a:solidFill>
              </a:rPr>
              <a:t>: Request [2,0,1,1,1]≤Available[2,3,2,1,2]. </a:t>
            </a:r>
            <a:r>
              <a:rPr lang="en" sz="1400" b="1">
                <a:solidFill>
                  <a:schemeClr val="dk1"/>
                </a:solidFill>
              </a:rPr>
              <a:t>True</a:t>
            </a:r>
            <a:r>
              <a:rPr lang="en" sz="1400">
                <a:solidFill>
                  <a:schemeClr val="dk1"/>
                </a:solidFill>
              </a:rPr>
              <a:t>.</a:t>
            </a:r>
            <a:endParaRPr sz="1400">
              <a:solidFill>
                <a:schemeClr val="dk1"/>
              </a:solidFill>
            </a:endParaRPr>
          </a:p>
          <a:p>
            <a:pPr marL="457200" lvl="0" indent="-317500" algn="l" rtl="0">
              <a:spcBef>
                <a:spcPts val="1200"/>
              </a:spcBef>
              <a:spcAft>
                <a:spcPts val="0"/>
              </a:spcAft>
              <a:buClr>
                <a:schemeClr val="dk1"/>
              </a:buClr>
              <a:buSzPts val="1400"/>
              <a:buChar char="●"/>
            </a:pPr>
            <a:r>
              <a:rPr lang="en" sz="1400">
                <a:solidFill>
                  <a:schemeClr val="dk1"/>
                </a:solidFill>
              </a:rPr>
              <a:t>P4​ can finish. New Available=Available+Alloc(P4)​=[2,3,2,1,2]+[0,0,0,1,1]=[2,3,2,2,3].</a:t>
            </a:r>
            <a:endParaRPr sz="1400">
              <a:solidFill>
                <a:schemeClr val="dk1"/>
              </a:solidFill>
            </a:endParaRPr>
          </a:p>
          <a:p>
            <a:pPr marL="0" lvl="0" indent="0" algn="l" rtl="0">
              <a:spcBef>
                <a:spcPts val="1200"/>
              </a:spcBef>
              <a:spcAft>
                <a:spcPts val="0"/>
              </a:spcAft>
              <a:buClr>
                <a:schemeClr val="dk1"/>
              </a:buClr>
              <a:buSzPts val="1100"/>
              <a:buFont typeface="Arial"/>
              <a:buNone/>
            </a:pPr>
            <a:r>
              <a:rPr lang="en" sz="1400" b="1">
                <a:solidFill>
                  <a:schemeClr val="dk1"/>
                </a:solidFill>
              </a:rPr>
              <a:t>Check P2​</a:t>
            </a:r>
            <a:r>
              <a:rPr lang="en" sz="1400">
                <a:solidFill>
                  <a:schemeClr val="dk1"/>
                </a:solidFill>
              </a:rPr>
              <a:t>: Request [0,0,0,2,2]≤Available[2,3,2,2,3]. </a:t>
            </a:r>
            <a:r>
              <a:rPr lang="en" sz="1400" b="1">
                <a:solidFill>
                  <a:schemeClr val="dk1"/>
                </a:solidFill>
              </a:rPr>
              <a:t>True</a:t>
            </a:r>
            <a:r>
              <a:rPr lang="en" sz="1400">
                <a:solidFill>
                  <a:schemeClr val="dk1"/>
                </a:solidFill>
              </a:rPr>
              <a:t>.</a:t>
            </a:r>
            <a:endParaRPr sz="1400">
              <a:solidFill>
                <a:schemeClr val="dk1"/>
              </a:solidFill>
            </a:endParaRPr>
          </a:p>
          <a:p>
            <a:pPr marL="457200" lvl="0" indent="-317500" algn="l" rtl="0">
              <a:spcBef>
                <a:spcPts val="1200"/>
              </a:spcBef>
              <a:spcAft>
                <a:spcPts val="0"/>
              </a:spcAft>
              <a:buClr>
                <a:schemeClr val="dk1"/>
              </a:buClr>
              <a:buSzPts val="1400"/>
              <a:buChar char="●"/>
            </a:pPr>
            <a:r>
              <a:rPr lang="en" sz="1400">
                <a:solidFill>
                  <a:schemeClr val="dk1"/>
                </a:solidFill>
              </a:rPr>
              <a:t>P2​ can finish. New Available=[2,3,2,2,3]+[0,0,0,0,2]=[2,3,2,2,5].</a:t>
            </a:r>
            <a:endParaRPr sz="1400">
              <a:solidFill>
                <a:schemeClr val="dk1"/>
              </a:solidFill>
            </a:endParaRPr>
          </a:p>
          <a:p>
            <a:pPr marL="0" lvl="0" indent="0" algn="l" rtl="0">
              <a:spcBef>
                <a:spcPts val="1200"/>
              </a:spcBef>
              <a:spcAft>
                <a:spcPts val="0"/>
              </a:spcAft>
              <a:buClr>
                <a:schemeClr val="dk1"/>
              </a:buClr>
              <a:buSzPts val="1100"/>
              <a:buFont typeface="Arial"/>
              <a:buNone/>
            </a:pPr>
            <a:r>
              <a:rPr lang="en" sz="1400" b="1">
                <a:solidFill>
                  <a:schemeClr val="dk1"/>
                </a:solidFill>
              </a:rPr>
              <a:t>Check P3​</a:t>
            </a:r>
            <a:r>
              <a:rPr lang="en" sz="1400">
                <a:solidFill>
                  <a:schemeClr val="dk1"/>
                </a:solidFill>
              </a:rPr>
              <a:t>: Request [1,0,0,0,3]≤Available[2,3,2,2,5]. </a:t>
            </a:r>
            <a:r>
              <a:rPr lang="en" sz="1400" b="1">
                <a:solidFill>
                  <a:schemeClr val="dk1"/>
                </a:solidFill>
              </a:rPr>
              <a:t>True</a:t>
            </a:r>
            <a:r>
              <a:rPr lang="en" sz="1400">
                <a:solidFill>
                  <a:schemeClr val="dk1"/>
                </a:solidFill>
              </a:rPr>
              <a:t>.</a:t>
            </a:r>
            <a:endParaRPr sz="1400">
              <a:solidFill>
                <a:schemeClr val="dk1"/>
              </a:solidFill>
            </a:endParaRPr>
          </a:p>
          <a:p>
            <a:pPr marL="457200" lvl="0" indent="-317500" algn="l" rtl="0">
              <a:spcBef>
                <a:spcPts val="1200"/>
              </a:spcBef>
              <a:spcAft>
                <a:spcPts val="0"/>
              </a:spcAft>
              <a:buClr>
                <a:schemeClr val="dk1"/>
              </a:buClr>
              <a:buSzPts val="1400"/>
              <a:buChar char="●"/>
            </a:pPr>
            <a:r>
              <a:rPr lang="en" sz="1400">
                <a:solidFill>
                  <a:schemeClr val="dk1"/>
                </a:solidFill>
              </a:rPr>
              <a:t>P3​ can finish. New Available=[2,3,2,2,5]+[2,0,2,0,0]=[4,3,4,2,5].</a:t>
            </a:r>
            <a:endParaRPr sz="1400">
              <a:solidFill>
                <a:schemeClr val="dk1"/>
              </a:solidFill>
            </a:endParaRPr>
          </a:p>
          <a:p>
            <a:pPr marL="0" lvl="0" indent="0" algn="l" rtl="0">
              <a:spcBef>
                <a:spcPts val="1200"/>
              </a:spcBef>
              <a:spcAft>
                <a:spcPts val="0"/>
              </a:spcAft>
              <a:buClr>
                <a:schemeClr val="dk1"/>
              </a:buClr>
              <a:buSzPts val="1100"/>
              <a:buFont typeface="Arial"/>
              <a:buNone/>
            </a:pPr>
            <a:r>
              <a:rPr lang="en" sz="1400" b="1">
                <a:solidFill>
                  <a:schemeClr val="dk1"/>
                </a:solidFill>
              </a:rPr>
              <a:t>Check P0​</a:t>
            </a:r>
            <a:r>
              <a:rPr lang="en" sz="1400">
                <a:solidFill>
                  <a:schemeClr val="dk1"/>
                </a:solidFill>
              </a:rPr>
              <a:t>: Request [1,0,0,0,4]≤Available[4,3,4,2,5]. </a:t>
            </a:r>
            <a:r>
              <a:rPr lang="en" sz="1400" b="1">
                <a:solidFill>
                  <a:schemeClr val="dk1"/>
                </a:solidFill>
              </a:rPr>
              <a:t>True</a:t>
            </a:r>
            <a:r>
              <a:rPr lang="en" sz="1400">
                <a:solidFill>
                  <a:schemeClr val="dk1"/>
                </a:solidFill>
              </a:rPr>
              <a:t>.</a:t>
            </a:r>
            <a:endParaRPr sz="1400">
              <a:solidFill>
                <a:schemeClr val="dk1"/>
              </a:solidFill>
            </a:endParaRPr>
          </a:p>
          <a:p>
            <a:pPr marL="457200" lvl="0" indent="-317500" algn="l" rtl="0">
              <a:spcBef>
                <a:spcPts val="1200"/>
              </a:spcBef>
              <a:spcAft>
                <a:spcPts val="0"/>
              </a:spcAft>
              <a:buClr>
                <a:schemeClr val="dk1"/>
              </a:buClr>
              <a:buSzPts val="1400"/>
              <a:buChar char="●"/>
            </a:pPr>
            <a:r>
              <a:rPr lang="en" sz="1400">
                <a:solidFill>
                  <a:schemeClr val="dk1"/>
                </a:solidFill>
              </a:rPr>
              <a:t>All processes can finish.</a:t>
            </a:r>
            <a:endParaRPr sz="1400">
              <a:solidFill>
                <a:schemeClr val="dk1"/>
              </a:solidFill>
            </a:endParaRPr>
          </a:p>
          <a:p>
            <a:pPr marL="0" lvl="0" indent="0" algn="l" rtl="0">
              <a:spcBef>
                <a:spcPts val="1200"/>
              </a:spcBef>
              <a:spcAft>
                <a:spcPts val="1200"/>
              </a:spcAft>
              <a:buNone/>
            </a:pP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3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Q11. Gate 2018</a:t>
            </a:r>
            <a:endParaRPr/>
          </a:p>
        </p:txBody>
      </p:sp>
      <p:sp>
        <p:nvSpPr>
          <p:cNvPr id="201" name="Google Shape;201;p33"/>
          <p:cNvSpPr txBox="1">
            <a:spLocks noGrp="1"/>
          </p:cNvSpPr>
          <p:nvPr>
            <p:ph type="body" idx="1"/>
          </p:nvPr>
        </p:nvSpPr>
        <p:spPr>
          <a:xfrm>
            <a:off x="311700" y="1152475"/>
            <a:ext cx="8520600" cy="15900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1200"/>
              </a:spcAft>
              <a:buNone/>
            </a:pPr>
            <a:r>
              <a:rPr lang="en"/>
              <a:t>Consider a system with 3 processes that share 4 instances of the same resource type. Each process can request a maximum of K instances. Resources can be requested and releases only one at a time. The largest value of K that will always avoid deadlock is ___</a:t>
            </a:r>
            <a:endParaRPr/>
          </a:p>
        </p:txBody>
      </p:sp>
      <p:sp>
        <p:nvSpPr>
          <p:cNvPr id="202" name="Google Shape;202;p33"/>
          <p:cNvSpPr txBox="1"/>
          <p:nvPr/>
        </p:nvSpPr>
        <p:spPr>
          <a:xfrm>
            <a:off x="311700" y="2949475"/>
            <a:ext cx="8520600" cy="1451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dirty="0">
                <a:solidFill>
                  <a:schemeClr val="dk1"/>
                </a:solidFill>
              </a:rPr>
              <a:t>For n processes where each process P</a:t>
            </a:r>
            <a:r>
              <a:rPr lang="en" baseline="-25000" dirty="0">
                <a:solidFill>
                  <a:schemeClr val="dk1"/>
                </a:solidFill>
              </a:rPr>
              <a:t>i</a:t>
            </a:r>
            <a:r>
              <a:rPr lang="en" dirty="0">
                <a:solidFill>
                  <a:schemeClr val="dk1"/>
                </a:solidFill>
              </a:rPr>
              <a:t> has a maximum demand :      The condition for a deadlock-free environment is: </a:t>
            </a:r>
            <a:endParaRPr dirty="0">
              <a:solidFill>
                <a:schemeClr val="dk1"/>
              </a:solidFill>
            </a:endParaRPr>
          </a:p>
          <a:p>
            <a:pPr marL="0" lvl="0" indent="0" algn="l" rtl="0">
              <a:lnSpc>
                <a:spcPct val="115000"/>
              </a:lnSpc>
              <a:spcBef>
                <a:spcPts val="1200"/>
              </a:spcBef>
              <a:spcAft>
                <a:spcPts val="0"/>
              </a:spcAft>
              <a:buNone/>
            </a:pPr>
            <a:endParaRPr dirty="0">
              <a:solidFill>
                <a:schemeClr val="dk1"/>
              </a:solidFill>
            </a:endParaRPr>
          </a:p>
          <a:p>
            <a:pPr marL="0" lvl="0" indent="0" algn="l" rtl="0">
              <a:lnSpc>
                <a:spcPct val="115000"/>
              </a:lnSpc>
              <a:spcBef>
                <a:spcPts val="1200"/>
              </a:spcBef>
              <a:spcAft>
                <a:spcPts val="1200"/>
              </a:spcAft>
              <a:buClr>
                <a:schemeClr val="dk1"/>
              </a:buClr>
              <a:buSzPts val="1100"/>
              <a:buFont typeface="Arial"/>
              <a:buNone/>
            </a:pPr>
            <a:r>
              <a:rPr lang="en" dirty="0">
                <a:solidFill>
                  <a:schemeClr val="dk1"/>
                </a:solidFill>
              </a:rPr>
              <a:t>Here, 3(K-1) &lt; 4. Hence, largest value of K is </a:t>
            </a:r>
            <a:r>
              <a:rPr lang="en" b="1" dirty="0">
                <a:solidFill>
                  <a:schemeClr val="dk1"/>
                </a:solidFill>
              </a:rPr>
              <a:t>2</a:t>
            </a:r>
            <a:r>
              <a:rPr lang="en" dirty="0">
                <a:solidFill>
                  <a:schemeClr val="dk1"/>
                </a:solidFill>
              </a:rPr>
              <a:t>.</a:t>
            </a:r>
            <a:endParaRPr dirty="0">
              <a:solidFill>
                <a:schemeClr val="dk1"/>
              </a:solidFill>
            </a:endParaRPr>
          </a:p>
        </p:txBody>
      </p:sp>
      <p:pic>
        <p:nvPicPr>
          <p:cNvPr id="203" name="Google Shape;203;p33" title="{&quot;red&quot;:0,&quot;green&quot;:0,&quot;blue&quot;:0,&quot;origURL&quot;:&quot;https://www.codecogs.com/eqnedit.php?latex=%5Csum_%7Bi%3D1%7D%5E%7Bn%7DM_i%20%3C%20k#0&quot;,&quot;size&quot;:11,&quot;width&quot;:704.7401574803149,&quot;height&quot;:98.10236220472441}"/>
          <p:cNvPicPr preferRelativeResize="0"/>
          <p:nvPr/>
        </p:nvPicPr>
        <p:blipFill>
          <a:blip r:embed="rId3">
            <a:alphaModFix/>
          </a:blip>
          <a:stretch>
            <a:fillRect/>
          </a:stretch>
        </p:blipFill>
        <p:spPr>
          <a:xfrm>
            <a:off x="1760894" y="3431562"/>
            <a:ext cx="827700" cy="487225"/>
          </a:xfrm>
          <a:prstGeom prst="rect">
            <a:avLst/>
          </a:prstGeom>
          <a:noFill/>
          <a:ln>
            <a:noFill/>
          </a:ln>
        </p:spPr>
      </p:pic>
      <p:pic>
        <p:nvPicPr>
          <p:cNvPr id="204" name="Google Shape;204;p33" title="{&quot;red&quot;:0,&quot;green&quot;:0,&quot;blue&quot;:0,&quot;origURL&quot;:&quot;https://www.codecogs.com/eqnedit.php?latex=M_i#0&quot;,&quot;size&quot;:11,&quot;width&quot;:704.7401574803149,&quot;height&quot;:98.10236220472441}"/>
          <p:cNvPicPr preferRelativeResize="0"/>
          <p:nvPr/>
        </p:nvPicPr>
        <p:blipFill>
          <a:blip r:embed="rId4">
            <a:alphaModFix/>
          </a:blip>
          <a:stretch>
            <a:fillRect/>
          </a:stretch>
        </p:blipFill>
        <p:spPr>
          <a:xfrm>
            <a:off x="5597272" y="3260787"/>
            <a:ext cx="226350" cy="1707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0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34"/>
          <p:cNvSpPr txBox="1">
            <a:spLocks noGrp="1"/>
          </p:cNvSpPr>
          <p:nvPr>
            <p:ph type="title"/>
          </p:nvPr>
        </p:nvSpPr>
        <p:spPr>
          <a:xfrm>
            <a:off x="311700" y="159275"/>
            <a:ext cx="8520600" cy="46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500"/>
              <a:t>Q12. Gate 2021</a:t>
            </a:r>
            <a:endParaRPr sz="2500"/>
          </a:p>
        </p:txBody>
      </p:sp>
      <p:sp>
        <p:nvSpPr>
          <p:cNvPr id="210" name="Google Shape;210;p34"/>
          <p:cNvSpPr txBox="1">
            <a:spLocks noGrp="1"/>
          </p:cNvSpPr>
          <p:nvPr>
            <p:ph type="body" idx="1"/>
          </p:nvPr>
        </p:nvSpPr>
        <p:spPr>
          <a:xfrm>
            <a:off x="218425" y="624042"/>
            <a:ext cx="8818800" cy="44736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Clr>
                <a:schemeClr val="dk1"/>
              </a:buClr>
              <a:buSzPts val="1100"/>
              <a:buFont typeface="Arial"/>
              <a:buNone/>
            </a:pPr>
            <a:r>
              <a:rPr lang="en" sz="1400">
                <a:solidFill>
                  <a:schemeClr val="dk1"/>
                </a:solidFill>
              </a:rPr>
              <a:t>Consider a computer system with multiple shared resource types, with one instance per resource type. Each instance can be owned by only one process at a time. Owning and freeing of resources are done by holding a global lock . The following scheme is used to own a resource instance:</a:t>
            </a:r>
            <a:endParaRPr sz="1400">
              <a:solidFill>
                <a:schemeClr val="dk1"/>
              </a:solidFill>
            </a:endParaRPr>
          </a:p>
          <a:p>
            <a:pPr marL="457200" lvl="0" indent="-317500" algn="l" rtl="0">
              <a:spcBef>
                <a:spcPts val="1200"/>
              </a:spcBef>
              <a:spcAft>
                <a:spcPts val="0"/>
              </a:spcAft>
              <a:buClr>
                <a:schemeClr val="dk1"/>
              </a:buClr>
              <a:buSzPts val="1400"/>
              <a:buAutoNum type="arabicPeriod"/>
            </a:pPr>
            <a:r>
              <a:rPr lang="en" sz="1400">
                <a:solidFill>
                  <a:schemeClr val="dk1"/>
                </a:solidFill>
              </a:rPr>
              <a:t>function OWNRESOURCE(Resource R)</a:t>
            </a:r>
            <a:endParaRPr sz="1400">
              <a:solidFill>
                <a:schemeClr val="dk1"/>
              </a:solidFill>
            </a:endParaRPr>
          </a:p>
          <a:p>
            <a:pPr marL="457200" lvl="0" indent="-317500" algn="l" rtl="0">
              <a:spcBef>
                <a:spcPts val="0"/>
              </a:spcBef>
              <a:spcAft>
                <a:spcPts val="0"/>
              </a:spcAft>
              <a:buClr>
                <a:schemeClr val="dk1"/>
              </a:buClr>
              <a:buSzPts val="1400"/>
              <a:buAutoNum type="arabicPeriod"/>
            </a:pPr>
            <a:r>
              <a:rPr lang="en" sz="1400">
                <a:solidFill>
                  <a:schemeClr val="dk1"/>
                </a:solidFill>
              </a:rPr>
              <a:t>   Acquire lock L // a global lock</a:t>
            </a:r>
            <a:endParaRPr sz="1400">
              <a:solidFill>
                <a:schemeClr val="dk1"/>
              </a:solidFill>
            </a:endParaRPr>
          </a:p>
          <a:p>
            <a:pPr marL="457200" lvl="0" indent="-317500" algn="l" rtl="0">
              <a:spcBef>
                <a:spcPts val="0"/>
              </a:spcBef>
              <a:spcAft>
                <a:spcPts val="0"/>
              </a:spcAft>
              <a:buClr>
                <a:schemeClr val="dk1"/>
              </a:buClr>
              <a:buSzPts val="1400"/>
              <a:buAutoNum type="arabicPeriod"/>
            </a:pPr>
            <a:r>
              <a:rPr lang="en" sz="1400">
                <a:solidFill>
                  <a:schemeClr val="dk1"/>
                </a:solidFill>
              </a:rPr>
              <a:t>   if R is available then</a:t>
            </a:r>
            <a:endParaRPr sz="1400">
              <a:solidFill>
                <a:schemeClr val="dk1"/>
              </a:solidFill>
            </a:endParaRPr>
          </a:p>
          <a:p>
            <a:pPr marL="457200" lvl="0" indent="-317500" algn="l" rtl="0">
              <a:spcBef>
                <a:spcPts val="0"/>
              </a:spcBef>
              <a:spcAft>
                <a:spcPts val="0"/>
              </a:spcAft>
              <a:buClr>
                <a:schemeClr val="dk1"/>
              </a:buClr>
              <a:buSzPts val="1400"/>
              <a:buAutoNum type="arabicPeriod"/>
            </a:pPr>
            <a:r>
              <a:rPr lang="en" sz="1400">
                <a:solidFill>
                  <a:schemeClr val="dk1"/>
                </a:solidFill>
              </a:rPr>
              <a:t>       Acquire R   </a:t>
            </a:r>
            <a:endParaRPr sz="1400">
              <a:solidFill>
                <a:schemeClr val="dk1"/>
              </a:solidFill>
            </a:endParaRPr>
          </a:p>
          <a:p>
            <a:pPr marL="457200" lvl="0" indent="-317500" algn="l" rtl="0">
              <a:spcBef>
                <a:spcPts val="0"/>
              </a:spcBef>
              <a:spcAft>
                <a:spcPts val="0"/>
              </a:spcAft>
              <a:buClr>
                <a:schemeClr val="dk1"/>
              </a:buClr>
              <a:buSzPts val="1400"/>
              <a:buAutoNum type="arabicPeriod"/>
            </a:pPr>
            <a:r>
              <a:rPr lang="en" sz="1400">
                <a:solidFill>
                  <a:schemeClr val="dk1"/>
                </a:solidFill>
              </a:rPr>
              <a:t>       Release lock L</a:t>
            </a:r>
            <a:endParaRPr sz="1400">
              <a:solidFill>
                <a:schemeClr val="dk1"/>
              </a:solidFill>
            </a:endParaRPr>
          </a:p>
          <a:p>
            <a:pPr marL="457200" lvl="0" indent="-317500" algn="l" rtl="0">
              <a:spcBef>
                <a:spcPts val="0"/>
              </a:spcBef>
              <a:spcAft>
                <a:spcPts val="0"/>
              </a:spcAft>
              <a:buClr>
                <a:schemeClr val="dk1"/>
              </a:buClr>
              <a:buSzPts val="1400"/>
              <a:buAutoNum type="arabicPeriod"/>
            </a:pPr>
            <a:r>
              <a:rPr lang="en" sz="1400">
                <a:solidFill>
                  <a:schemeClr val="dk1"/>
                </a:solidFill>
              </a:rPr>
              <a:t>   else</a:t>
            </a:r>
            <a:endParaRPr sz="1400">
              <a:solidFill>
                <a:schemeClr val="dk1"/>
              </a:solidFill>
            </a:endParaRPr>
          </a:p>
          <a:p>
            <a:pPr marL="457200" lvl="0" indent="-317500" algn="l" rtl="0">
              <a:spcBef>
                <a:spcPts val="0"/>
              </a:spcBef>
              <a:spcAft>
                <a:spcPts val="0"/>
              </a:spcAft>
              <a:buClr>
                <a:schemeClr val="dk1"/>
              </a:buClr>
              <a:buSzPts val="1400"/>
              <a:buAutoNum type="arabicPeriod"/>
            </a:pPr>
            <a:r>
              <a:rPr lang="en" sz="1400">
                <a:solidFill>
                  <a:schemeClr val="dk1"/>
                </a:solidFill>
              </a:rPr>
              <a:t>       if R is owned by another process P then    </a:t>
            </a:r>
            <a:endParaRPr sz="1400">
              <a:solidFill>
                <a:schemeClr val="dk1"/>
              </a:solidFill>
            </a:endParaRPr>
          </a:p>
          <a:p>
            <a:pPr marL="457200" lvl="0" indent="-317500" algn="l" rtl="0">
              <a:spcBef>
                <a:spcPts val="0"/>
              </a:spcBef>
              <a:spcAft>
                <a:spcPts val="0"/>
              </a:spcAft>
              <a:buClr>
                <a:schemeClr val="dk1"/>
              </a:buClr>
              <a:buSzPts val="1400"/>
              <a:buAutoNum type="arabicPeriod"/>
            </a:pPr>
            <a:r>
              <a:rPr lang="en" sz="1400">
                <a:solidFill>
                  <a:schemeClr val="dk1"/>
                </a:solidFill>
              </a:rPr>
              <a:t>       Terminate P, after releasing all resources owned by P   </a:t>
            </a:r>
            <a:endParaRPr sz="1400">
              <a:solidFill>
                <a:schemeClr val="dk1"/>
              </a:solidFill>
            </a:endParaRPr>
          </a:p>
          <a:p>
            <a:pPr marL="457200" lvl="0" indent="-317500" algn="l" rtl="0">
              <a:spcBef>
                <a:spcPts val="0"/>
              </a:spcBef>
              <a:spcAft>
                <a:spcPts val="0"/>
              </a:spcAft>
              <a:buClr>
                <a:schemeClr val="dk1"/>
              </a:buClr>
              <a:buSzPts val="1400"/>
              <a:buAutoNum type="arabicPeriod"/>
            </a:pPr>
            <a:r>
              <a:rPr lang="en" sz="1400">
                <a:solidFill>
                  <a:schemeClr val="dk1"/>
                </a:solidFill>
              </a:rPr>
              <a:t>       Acquire R   </a:t>
            </a:r>
            <a:endParaRPr sz="1400">
              <a:solidFill>
                <a:schemeClr val="dk1"/>
              </a:solidFill>
            </a:endParaRPr>
          </a:p>
          <a:p>
            <a:pPr marL="457200" lvl="0" indent="-317500" algn="l" rtl="0">
              <a:spcBef>
                <a:spcPts val="0"/>
              </a:spcBef>
              <a:spcAft>
                <a:spcPts val="0"/>
              </a:spcAft>
              <a:buClr>
                <a:schemeClr val="dk1"/>
              </a:buClr>
              <a:buSzPts val="1400"/>
              <a:buAutoNum type="arabicPeriod"/>
            </a:pPr>
            <a:r>
              <a:rPr lang="en" sz="1400">
                <a:solidFill>
                  <a:schemeClr val="dk1"/>
                </a:solidFill>
              </a:rPr>
              <a:t>       Restart P  </a:t>
            </a:r>
            <a:endParaRPr sz="1400">
              <a:solidFill>
                <a:schemeClr val="dk1"/>
              </a:solidFill>
            </a:endParaRPr>
          </a:p>
          <a:p>
            <a:pPr marL="457200" lvl="0" indent="-317500" algn="l" rtl="0">
              <a:spcBef>
                <a:spcPts val="0"/>
              </a:spcBef>
              <a:spcAft>
                <a:spcPts val="0"/>
              </a:spcAft>
              <a:buClr>
                <a:schemeClr val="dk1"/>
              </a:buClr>
              <a:buSzPts val="1400"/>
              <a:buAutoNum type="arabicPeriod"/>
            </a:pPr>
            <a:r>
              <a:rPr lang="en" sz="1400">
                <a:solidFill>
                  <a:schemeClr val="dk1"/>
                </a:solidFill>
              </a:rPr>
              <a:t>       Release lock L  </a:t>
            </a:r>
            <a:endParaRPr sz="1400">
              <a:solidFill>
                <a:schemeClr val="dk1"/>
              </a:solidFill>
            </a:endParaRPr>
          </a:p>
          <a:p>
            <a:pPr marL="457200" lvl="0" indent="-317500" algn="l" rtl="0">
              <a:spcBef>
                <a:spcPts val="0"/>
              </a:spcBef>
              <a:spcAft>
                <a:spcPts val="0"/>
              </a:spcAft>
              <a:buClr>
                <a:schemeClr val="dk1"/>
              </a:buClr>
              <a:buSzPts val="1400"/>
              <a:buAutoNum type="arabicPeriod"/>
            </a:pPr>
            <a:r>
              <a:rPr lang="en" sz="1400">
                <a:solidFill>
                  <a:schemeClr val="dk1"/>
                </a:solidFill>
              </a:rPr>
              <a:t>       end if  </a:t>
            </a:r>
            <a:endParaRPr sz="1400">
              <a:solidFill>
                <a:schemeClr val="dk1"/>
              </a:solidFill>
            </a:endParaRPr>
          </a:p>
          <a:p>
            <a:pPr marL="457200" lvl="0" indent="-317500" algn="l" rtl="0">
              <a:spcBef>
                <a:spcPts val="0"/>
              </a:spcBef>
              <a:spcAft>
                <a:spcPts val="0"/>
              </a:spcAft>
              <a:buClr>
                <a:schemeClr val="dk1"/>
              </a:buClr>
              <a:buSzPts val="1400"/>
              <a:buAutoNum type="arabicPeriod"/>
            </a:pPr>
            <a:r>
              <a:rPr lang="en" sz="1400">
                <a:solidFill>
                  <a:schemeClr val="dk1"/>
                </a:solidFill>
              </a:rPr>
              <a:t>   end if   </a:t>
            </a:r>
            <a:endParaRPr sz="1400">
              <a:solidFill>
                <a:schemeClr val="dk1"/>
              </a:solidFill>
            </a:endParaRPr>
          </a:p>
          <a:p>
            <a:pPr marL="457200" lvl="0" indent="-317500" algn="l" rtl="0">
              <a:spcBef>
                <a:spcPts val="0"/>
              </a:spcBef>
              <a:spcAft>
                <a:spcPts val="0"/>
              </a:spcAft>
              <a:buClr>
                <a:schemeClr val="dk1"/>
              </a:buClr>
              <a:buSzPts val="1400"/>
              <a:buAutoNum type="arabicPeriod"/>
            </a:pPr>
            <a:r>
              <a:rPr lang="en" sz="1400">
                <a:solidFill>
                  <a:schemeClr val="dk1"/>
                </a:solidFill>
              </a:rPr>
              <a:t>end function </a:t>
            </a:r>
            <a:endParaRPr sz="1400">
              <a:solidFill>
                <a:schemeClr val="dk1"/>
              </a:solidFill>
            </a:endParaRPr>
          </a:p>
        </p:txBody>
      </p:sp>
      <p:sp>
        <p:nvSpPr>
          <p:cNvPr id="211" name="Google Shape;211;p34"/>
          <p:cNvSpPr txBox="1"/>
          <p:nvPr/>
        </p:nvSpPr>
        <p:spPr>
          <a:xfrm>
            <a:off x="5913700" y="1573275"/>
            <a:ext cx="3005400" cy="3032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Clr>
                <a:schemeClr val="dk1"/>
              </a:buClr>
              <a:buSzPts val="1100"/>
              <a:buFont typeface="Arial"/>
              <a:buNone/>
            </a:pPr>
            <a:r>
              <a:rPr lang="en">
                <a:solidFill>
                  <a:schemeClr val="dk1"/>
                </a:solidFill>
              </a:rPr>
              <a:t>Which of the following choice(s) about the given scheme is/are correct?</a:t>
            </a:r>
            <a:endParaRPr>
              <a:solidFill>
                <a:schemeClr val="dk1"/>
              </a:solidFill>
            </a:endParaRPr>
          </a:p>
          <a:p>
            <a:pPr marL="457200" lvl="0" indent="-317500" algn="l" rtl="0">
              <a:lnSpc>
                <a:spcPct val="115000"/>
              </a:lnSpc>
              <a:spcBef>
                <a:spcPts val="1200"/>
              </a:spcBef>
              <a:spcAft>
                <a:spcPts val="0"/>
              </a:spcAft>
              <a:buClr>
                <a:schemeClr val="dk1"/>
              </a:buClr>
              <a:buSzPts val="1400"/>
              <a:buAutoNum type="alphaUcPeriod"/>
            </a:pPr>
            <a:r>
              <a:rPr lang="en">
                <a:solidFill>
                  <a:schemeClr val="dk1"/>
                </a:solidFill>
              </a:rPr>
              <a:t>The scheme ensures that deadlocks will not occur</a:t>
            </a:r>
            <a:endParaRPr>
              <a:solidFill>
                <a:schemeClr val="dk1"/>
              </a:solidFill>
            </a:endParaRPr>
          </a:p>
          <a:p>
            <a:pPr marL="457200" lvl="0" indent="-317500" algn="l" rtl="0">
              <a:lnSpc>
                <a:spcPct val="115000"/>
              </a:lnSpc>
              <a:spcBef>
                <a:spcPts val="0"/>
              </a:spcBef>
              <a:spcAft>
                <a:spcPts val="0"/>
              </a:spcAft>
              <a:buClr>
                <a:schemeClr val="dk1"/>
              </a:buClr>
              <a:buSzPts val="1400"/>
              <a:buAutoNum type="alphaUcPeriod"/>
            </a:pPr>
            <a:r>
              <a:rPr lang="en">
                <a:solidFill>
                  <a:schemeClr val="dk1"/>
                </a:solidFill>
              </a:rPr>
              <a:t>The scheme may lead to live-lock</a:t>
            </a:r>
            <a:endParaRPr>
              <a:solidFill>
                <a:schemeClr val="dk1"/>
              </a:solidFill>
            </a:endParaRPr>
          </a:p>
          <a:p>
            <a:pPr marL="457200" lvl="0" indent="-317500" algn="l" rtl="0">
              <a:lnSpc>
                <a:spcPct val="115000"/>
              </a:lnSpc>
              <a:spcBef>
                <a:spcPts val="0"/>
              </a:spcBef>
              <a:spcAft>
                <a:spcPts val="0"/>
              </a:spcAft>
              <a:buClr>
                <a:schemeClr val="dk1"/>
              </a:buClr>
              <a:buSzPts val="1400"/>
              <a:buAutoNum type="alphaUcPeriod"/>
            </a:pPr>
            <a:r>
              <a:rPr lang="en">
                <a:solidFill>
                  <a:schemeClr val="dk1"/>
                </a:solidFill>
              </a:rPr>
              <a:t>The scheme may lead to starvation</a:t>
            </a:r>
            <a:endParaRPr>
              <a:solidFill>
                <a:schemeClr val="dk1"/>
              </a:solidFill>
            </a:endParaRPr>
          </a:p>
          <a:p>
            <a:pPr marL="457200" lvl="0" indent="-317500" algn="l" rtl="0">
              <a:lnSpc>
                <a:spcPct val="115000"/>
              </a:lnSpc>
              <a:spcBef>
                <a:spcPts val="0"/>
              </a:spcBef>
              <a:spcAft>
                <a:spcPts val="0"/>
              </a:spcAft>
              <a:buClr>
                <a:schemeClr val="dk1"/>
              </a:buClr>
              <a:buSzPts val="1400"/>
              <a:buAutoNum type="alphaUcPeriod"/>
            </a:pPr>
            <a:r>
              <a:rPr lang="en">
                <a:solidFill>
                  <a:schemeClr val="dk1"/>
                </a:solidFill>
              </a:rPr>
              <a:t>The scheme violates the mutual exclusion property</a:t>
            </a:r>
            <a:endParaRPr>
              <a:solidFill>
                <a:schemeClr val="dk2"/>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35"/>
          <p:cNvSpPr txBox="1">
            <a:spLocks noGrp="1"/>
          </p:cNvSpPr>
          <p:nvPr>
            <p:ph type="title"/>
          </p:nvPr>
        </p:nvSpPr>
        <p:spPr>
          <a:xfrm>
            <a:off x="311700" y="198689"/>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Solution to Q12</a:t>
            </a:r>
            <a:endParaRPr/>
          </a:p>
        </p:txBody>
      </p:sp>
      <p:sp>
        <p:nvSpPr>
          <p:cNvPr id="217" name="Google Shape;217;p35"/>
          <p:cNvSpPr txBox="1">
            <a:spLocks noGrp="1"/>
          </p:cNvSpPr>
          <p:nvPr>
            <p:ph type="body" idx="1"/>
          </p:nvPr>
        </p:nvSpPr>
        <p:spPr>
          <a:xfrm>
            <a:off x="311700" y="787897"/>
            <a:ext cx="8520600" cy="38859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 sz="1400">
                <a:solidFill>
                  <a:schemeClr val="dk1"/>
                </a:solidFill>
              </a:rPr>
              <a:t>A system is in</a:t>
            </a:r>
            <a:r>
              <a:rPr lang="en" sz="1400">
                <a:solidFill>
                  <a:schemeClr val="dk1"/>
                </a:solidFill>
                <a:uFill>
                  <a:noFill/>
                </a:uFill>
                <a:hlinkClick r:id="rId3">
                  <a:extLst>
                    <a:ext uri="{A12FA001-AC4F-418D-AE19-62706E023703}">
                      <ahyp:hlinkClr xmlns:ahyp="http://schemas.microsoft.com/office/drawing/2018/hyperlinkcolor" val="tx"/>
                    </a:ext>
                  </a:extLst>
                </a:hlinkClick>
              </a:rPr>
              <a:t> </a:t>
            </a:r>
            <a:r>
              <a:rPr lang="en" sz="1400" b="1">
                <a:solidFill>
                  <a:schemeClr val="dk1"/>
                </a:solidFill>
                <a:uFill>
                  <a:noFill/>
                </a:uFill>
                <a:hlinkClick r:id="rId3">
                  <a:extLst>
                    <a:ext uri="{A12FA001-AC4F-418D-AE19-62706E023703}">
                      <ahyp:hlinkClr xmlns:ahyp="http://schemas.microsoft.com/office/drawing/2018/hyperlinkcolor" val="tx"/>
                    </a:ext>
                  </a:extLst>
                </a:hlinkClick>
              </a:rPr>
              <a:t>Deadlock</a:t>
            </a:r>
            <a:r>
              <a:rPr lang="en" sz="1400">
                <a:solidFill>
                  <a:schemeClr val="dk1"/>
                </a:solidFill>
              </a:rPr>
              <a:t> when all the processes are in </a:t>
            </a:r>
            <a:r>
              <a:rPr lang="en" sz="1400" b="1">
                <a:solidFill>
                  <a:schemeClr val="dk1"/>
                </a:solidFill>
              </a:rPr>
              <a:t>Waiting </a:t>
            </a:r>
            <a:r>
              <a:rPr lang="en" sz="1400">
                <a:solidFill>
                  <a:schemeClr val="dk1"/>
                </a:solidFill>
              </a:rPr>
              <a:t>state. </a:t>
            </a:r>
            <a:endParaRPr sz="1400">
              <a:solidFill>
                <a:schemeClr val="dk1"/>
              </a:solidFill>
            </a:endParaRPr>
          </a:p>
          <a:p>
            <a:pPr marL="0" lvl="0" indent="0" algn="l" rtl="0">
              <a:spcBef>
                <a:spcPts val="1200"/>
              </a:spcBef>
              <a:spcAft>
                <a:spcPts val="0"/>
              </a:spcAft>
              <a:buNone/>
            </a:pPr>
            <a:r>
              <a:rPr lang="en" sz="1400">
                <a:solidFill>
                  <a:schemeClr val="dk1"/>
                </a:solidFill>
              </a:rPr>
              <a:t>A system is in Livelock when the processes do </a:t>
            </a:r>
            <a:r>
              <a:rPr lang="en" sz="1400" b="1">
                <a:solidFill>
                  <a:schemeClr val="dk1"/>
                </a:solidFill>
              </a:rPr>
              <a:t>repeated</a:t>
            </a:r>
            <a:r>
              <a:rPr lang="en" sz="1400">
                <a:solidFill>
                  <a:schemeClr val="dk1"/>
                </a:solidFill>
              </a:rPr>
              <a:t> work without any progress for the system (still no useful work). </a:t>
            </a:r>
            <a:endParaRPr sz="1400">
              <a:solidFill>
                <a:schemeClr val="dk1"/>
              </a:solidFill>
            </a:endParaRPr>
          </a:p>
          <a:p>
            <a:pPr marL="0" lvl="0" indent="0" algn="l" rtl="0">
              <a:spcBef>
                <a:spcPts val="1200"/>
              </a:spcBef>
              <a:spcAft>
                <a:spcPts val="0"/>
              </a:spcAft>
              <a:buClr>
                <a:schemeClr val="dk1"/>
              </a:buClr>
              <a:buSzPts val="1100"/>
              <a:buFont typeface="Arial"/>
              <a:buNone/>
            </a:pPr>
            <a:r>
              <a:rPr lang="en" sz="1400">
                <a:solidFill>
                  <a:schemeClr val="dk1"/>
                </a:solidFill>
              </a:rPr>
              <a:t>Now, both deadlock and livelock are </a:t>
            </a:r>
            <a:r>
              <a:rPr lang="en" sz="1400" b="1">
                <a:solidFill>
                  <a:schemeClr val="dk1"/>
                </a:solidFill>
              </a:rPr>
              <a:t>mutually exclusive</a:t>
            </a:r>
            <a:r>
              <a:rPr lang="en" sz="1400">
                <a:solidFill>
                  <a:schemeClr val="dk1"/>
                </a:solidFill>
              </a:rPr>
              <a:t> – at any point of time only one can happen in a system. But both of them imply no progress for system and hence starvation for the processes involved.</a:t>
            </a:r>
            <a:endParaRPr sz="1400">
              <a:solidFill>
                <a:schemeClr val="dk1"/>
              </a:solidFill>
            </a:endParaRPr>
          </a:p>
          <a:p>
            <a:pPr marL="0" lvl="0" indent="0" algn="l" rtl="0">
              <a:spcBef>
                <a:spcPts val="1200"/>
              </a:spcBef>
              <a:spcAft>
                <a:spcPts val="0"/>
              </a:spcAft>
              <a:buClr>
                <a:schemeClr val="dk1"/>
              </a:buClr>
              <a:buSzPts val="1100"/>
              <a:buFont typeface="Arial"/>
              <a:buNone/>
            </a:pPr>
            <a:r>
              <a:rPr lang="en" sz="1400">
                <a:solidFill>
                  <a:schemeClr val="dk1"/>
                </a:solidFill>
              </a:rPr>
              <a:t>Now, coming to the given question, any process can kick out another process and then acquire the nedeed resource and this can go in a </a:t>
            </a:r>
            <a:r>
              <a:rPr lang="en" sz="1400" b="1">
                <a:solidFill>
                  <a:schemeClr val="dk1"/>
                </a:solidFill>
              </a:rPr>
              <a:t>cyclic fashion ensuring a livelock</a:t>
            </a:r>
            <a:r>
              <a:rPr lang="en" sz="1400">
                <a:solidFill>
                  <a:schemeClr val="dk1"/>
                </a:solidFill>
              </a:rPr>
              <a:t>. There is no possibility of a deadlock as at any time a process is free to kick out another process. Since there is a possibility of livelock, starvation possibility is also there. So, options A, B and C are TRUE. </a:t>
            </a:r>
            <a:endParaRPr sz="1400">
              <a:solidFill>
                <a:schemeClr val="dk1"/>
              </a:solidFill>
            </a:endParaRPr>
          </a:p>
          <a:p>
            <a:pPr marL="0" lvl="0" indent="0" algn="l" rtl="0">
              <a:spcBef>
                <a:spcPts val="1200"/>
              </a:spcBef>
              <a:spcAft>
                <a:spcPts val="0"/>
              </a:spcAft>
              <a:buClr>
                <a:schemeClr val="dk1"/>
              </a:buClr>
              <a:buSzPts val="1100"/>
              <a:buFont typeface="Arial"/>
              <a:buNone/>
            </a:pPr>
            <a:r>
              <a:rPr lang="en" sz="1400">
                <a:solidFill>
                  <a:schemeClr val="dk1"/>
                </a:solidFill>
              </a:rPr>
              <a:t>A process is acquiring the resource owned by another process only after terminating the other process. Hence there is no violation of mutual exclusion property here.</a:t>
            </a:r>
            <a:endParaRPr sz="1400">
              <a:solidFill>
                <a:schemeClr val="dk1"/>
              </a:solidFill>
            </a:endParaRPr>
          </a:p>
          <a:p>
            <a:pPr marL="0" lvl="0" indent="0" algn="l" rtl="0">
              <a:spcBef>
                <a:spcPts val="1200"/>
              </a:spcBef>
              <a:spcAft>
                <a:spcPts val="1200"/>
              </a:spcAft>
              <a:buNone/>
            </a:pPr>
            <a:r>
              <a:rPr lang="en" sz="1400">
                <a:solidFill>
                  <a:schemeClr val="dk1"/>
                </a:solidFill>
              </a:rPr>
              <a:t>Correct Answer: A;B;C. </a:t>
            </a:r>
            <a:endParaRPr sz="14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3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ISI MTech - 2010</a:t>
            </a:r>
            <a:endParaRPr/>
          </a:p>
        </p:txBody>
      </p:sp>
      <p:sp>
        <p:nvSpPr>
          <p:cNvPr id="223" name="Google Shape;223;p36"/>
          <p:cNvSpPr txBox="1">
            <a:spLocks noGrp="1"/>
          </p:cNvSpPr>
          <p:nvPr>
            <p:ph type="body" idx="1"/>
          </p:nvPr>
        </p:nvSpPr>
        <p:spPr>
          <a:xfrm>
            <a:off x="311700" y="116422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a:solidFill>
                  <a:schemeClr val="dk1"/>
                </a:solidFill>
                <a:latin typeface="Times New Roman"/>
                <a:ea typeface="Times New Roman"/>
                <a:cs typeface="Times New Roman"/>
                <a:sym typeface="Times New Roman"/>
              </a:rPr>
              <a:t>Let </a:t>
            </a:r>
            <a:r>
              <a:rPr lang="en" b="1">
                <a:solidFill>
                  <a:schemeClr val="dk1"/>
                </a:solidFill>
                <a:latin typeface="Times New Roman"/>
                <a:ea typeface="Times New Roman"/>
                <a:cs typeface="Times New Roman"/>
                <a:sym typeface="Times New Roman"/>
              </a:rPr>
              <a:t>P = {P1, P2, P3, P4}</a:t>
            </a:r>
            <a:r>
              <a:rPr lang="en">
                <a:solidFill>
                  <a:schemeClr val="dk1"/>
                </a:solidFill>
                <a:latin typeface="Times New Roman"/>
                <a:ea typeface="Times New Roman"/>
                <a:cs typeface="Times New Roman"/>
                <a:sym typeface="Times New Roman"/>
              </a:rPr>
              <a:t> be a set of processes, and </a:t>
            </a:r>
            <a:r>
              <a:rPr lang="en" b="1">
                <a:solidFill>
                  <a:schemeClr val="dk1"/>
                </a:solidFill>
                <a:latin typeface="Times New Roman"/>
                <a:ea typeface="Times New Roman"/>
                <a:cs typeface="Times New Roman"/>
                <a:sym typeface="Times New Roman"/>
              </a:rPr>
              <a:t>R = {R1, R2, R3, R4}</a:t>
            </a:r>
            <a:r>
              <a:rPr lang="en">
                <a:solidFill>
                  <a:schemeClr val="dk1"/>
                </a:solidFill>
                <a:latin typeface="Times New Roman"/>
                <a:ea typeface="Times New Roman"/>
                <a:cs typeface="Times New Roman"/>
                <a:sym typeface="Times New Roman"/>
              </a:rPr>
              <a:t> be a set of resources. You are told that each resource </a:t>
            </a:r>
            <a:r>
              <a:rPr lang="en" b="1">
                <a:solidFill>
                  <a:schemeClr val="dk1"/>
                </a:solidFill>
                <a:latin typeface="Times New Roman"/>
                <a:ea typeface="Times New Roman"/>
                <a:cs typeface="Times New Roman"/>
                <a:sym typeface="Times New Roman"/>
              </a:rPr>
              <a:t>Ri (1 ≤ i ≤ 4) has exactly two instances</a:t>
            </a:r>
            <a:r>
              <a:rPr lang="en">
                <a:solidFill>
                  <a:schemeClr val="dk1"/>
                </a:solidFill>
                <a:latin typeface="Times New Roman"/>
                <a:ea typeface="Times New Roman"/>
                <a:cs typeface="Times New Roman"/>
                <a:sym typeface="Times New Roman"/>
              </a:rPr>
              <a:t> and </a:t>
            </a:r>
            <a:r>
              <a:rPr lang="en" b="1">
                <a:solidFill>
                  <a:schemeClr val="dk1"/>
                </a:solidFill>
                <a:latin typeface="Times New Roman"/>
                <a:ea typeface="Times New Roman"/>
                <a:cs typeface="Times New Roman"/>
                <a:sym typeface="Times New Roman"/>
              </a:rPr>
              <a:t>each process Pi (1 ≤ i ≤ 4) requires at most one instance of any resource.</a:t>
            </a:r>
            <a:r>
              <a:rPr lang="en">
                <a:solidFill>
                  <a:schemeClr val="dk1"/>
                </a:solidFill>
                <a:latin typeface="Times New Roman"/>
                <a:ea typeface="Times New Roman"/>
                <a:cs typeface="Times New Roman"/>
                <a:sym typeface="Times New Roman"/>
              </a:rPr>
              <a:t> Construct a RAG G = (P ∪ R, E), such that</a:t>
            </a:r>
            <a:endParaRPr>
              <a:solidFill>
                <a:schemeClr val="dk1"/>
              </a:solidFill>
              <a:latin typeface="Times New Roman"/>
              <a:ea typeface="Times New Roman"/>
              <a:cs typeface="Times New Roman"/>
              <a:sym typeface="Times New Roman"/>
            </a:endParaRPr>
          </a:p>
          <a:p>
            <a:pPr marL="0" lvl="0" indent="0" algn="l" rtl="0">
              <a:spcBef>
                <a:spcPts val="1200"/>
              </a:spcBef>
              <a:spcAft>
                <a:spcPts val="0"/>
              </a:spcAft>
              <a:buClr>
                <a:schemeClr val="dk1"/>
              </a:buClr>
              <a:buSzPts val="1100"/>
              <a:buFont typeface="Arial"/>
              <a:buNone/>
            </a:pPr>
            <a:r>
              <a:rPr lang="en">
                <a:solidFill>
                  <a:schemeClr val="dk1"/>
                </a:solidFill>
                <a:latin typeface="Times New Roman"/>
                <a:ea typeface="Times New Roman"/>
                <a:cs typeface="Times New Roman"/>
                <a:sym typeface="Times New Roman"/>
              </a:rPr>
              <a:t>(i) G has a cycle and P1, P2, P3 and P4 are </a:t>
            </a:r>
            <a:r>
              <a:rPr lang="en" b="1">
                <a:solidFill>
                  <a:schemeClr val="dk1"/>
                </a:solidFill>
                <a:latin typeface="Times New Roman"/>
                <a:ea typeface="Times New Roman"/>
                <a:cs typeface="Times New Roman"/>
                <a:sym typeface="Times New Roman"/>
              </a:rPr>
              <a:t>deadlocked</a:t>
            </a:r>
            <a:endParaRPr>
              <a:solidFill>
                <a:schemeClr val="dk1"/>
              </a:solidFill>
              <a:latin typeface="Times New Roman"/>
              <a:ea typeface="Times New Roman"/>
              <a:cs typeface="Times New Roman"/>
              <a:sym typeface="Times New Roman"/>
            </a:endParaRPr>
          </a:p>
          <a:p>
            <a:pPr marL="0" lvl="0" indent="0" algn="l" rtl="0">
              <a:spcBef>
                <a:spcPts val="1200"/>
              </a:spcBef>
              <a:spcAft>
                <a:spcPts val="0"/>
              </a:spcAft>
              <a:buClr>
                <a:schemeClr val="dk1"/>
              </a:buClr>
              <a:buSzPts val="1100"/>
              <a:buFont typeface="Arial"/>
              <a:buNone/>
            </a:pPr>
            <a:r>
              <a:rPr lang="en">
                <a:solidFill>
                  <a:schemeClr val="dk1"/>
                </a:solidFill>
                <a:latin typeface="Times New Roman"/>
                <a:ea typeface="Times New Roman"/>
                <a:cs typeface="Times New Roman"/>
                <a:sym typeface="Times New Roman"/>
              </a:rPr>
              <a:t>(ii) G has a cycle but P1, P2, P3 and P4 are </a:t>
            </a:r>
            <a:r>
              <a:rPr lang="en" b="1">
                <a:solidFill>
                  <a:schemeClr val="dk1"/>
                </a:solidFill>
                <a:latin typeface="Times New Roman"/>
                <a:ea typeface="Times New Roman"/>
                <a:cs typeface="Times New Roman"/>
                <a:sym typeface="Times New Roman"/>
              </a:rPr>
              <a:t>not deadlocked</a:t>
            </a:r>
            <a:endParaRPr>
              <a:solidFill>
                <a:schemeClr val="dk1"/>
              </a:solidFill>
              <a:latin typeface="Times New Roman"/>
              <a:ea typeface="Times New Roman"/>
              <a:cs typeface="Times New Roman"/>
              <a:sym typeface="Times New Roman"/>
            </a:endParaRPr>
          </a:p>
          <a:p>
            <a:pPr marL="0" lvl="0" indent="0" algn="l" rtl="0">
              <a:spcBef>
                <a:spcPts val="1200"/>
              </a:spcBef>
              <a:spcAft>
                <a:spcPts val="1200"/>
              </a:spcAft>
              <a:buNone/>
            </a:pPr>
            <a:endParaRPr>
              <a:solidFill>
                <a:schemeClr val="dk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3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Q13. ISI MTech - 2010</a:t>
            </a:r>
            <a:endParaRPr/>
          </a:p>
        </p:txBody>
      </p:sp>
      <p:sp>
        <p:nvSpPr>
          <p:cNvPr id="229" name="Google Shape;229;p37"/>
          <p:cNvSpPr txBox="1">
            <a:spLocks noGrp="1"/>
          </p:cNvSpPr>
          <p:nvPr>
            <p:ph type="body" idx="1"/>
          </p:nvPr>
        </p:nvSpPr>
        <p:spPr>
          <a:xfrm>
            <a:off x="311700" y="1164225"/>
            <a:ext cx="8520600" cy="1647000"/>
          </a:xfrm>
          <a:prstGeom prst="rect">
            <a:avLst/>
          </a:prstGeom>
        </p:spPr>
        <p:txBody>
          <a:bodyPr spcFirstLastPara="1" wrap="square" lIns="91425" tIns="91425" rIns="91425" bIns="91425" anchor="t" anchorCtr="0">
            <a:normAutofit fontScale="85000" lnSpcReduction="10000"/>
          </a:bodyPr>
          <a:lstStyle/>
          <a:p>
            <a:pPr marL="0" lvl="0" indent="0" algn="l" rtl="0">
              <a:spcBef>
                <a:spcPts val="0"/>
              </a:spcBef>
              <a:spcAft>
                <a:spcPts val="0"/>
              </a:spcAft>
              <a:buNone/>
            </a:pPr>
            <a:r>
              <a:rPr lang="en">
                <a:solidFill>
                  <a:schemeClr val="dk1"/>
                </a:solidFill>
                <a:latin typeface="Times New Roman"/>
                <a:ea typeface="Times New Roman"/>
                <a:cs typeface="Times New Roman"/>
                <a:sym typeface="Times New Roman"/>
              </a:rPr>
              <a:t>Let </a:t>
            </a:r>
            <a:r>
              <a:rPr lang="en" b="1">
                <a:solidFill>
                  <a:schemeClr val="dk1"/>
                </a:solidFill>
                <a:latin typeface="Times New Roman"/>
                <a:ea typeface="Times New Roman"/>
                <a:cs typeface="Times New Roman"/>
                <a:sym typeface="Times New Roman"/>
              </a:rPr>
              <a:t>P = {P1, P2, P3, P4}</a:t>
            </a:r>
            <a:r>
              <a:rPr lang="en">
                <a:solidFill>
                  <a:schemeClr val="dk1"/>
                </a:solidFill>
                <a:latin typeface="Times New Roman"/>
                <a:ea typeface="Times New Roman"/>
                <a:cs typeface="Times New Roman"/>
                <a:sym typeface="Times New Roman"/>
              </a:rPr>
              <a:t> be a set of processes, and </a:t>
            </a:r>
            <a:r>
              <a:rPr lang="en" b="1">
                <a:solidFill>
                  <a:schemeClr val="dk1"/>
                </a:solidFill>
                <a:latin typeface="Times New Roman"/>
                <a:ea typeface="Times New Roman"/>
                <a:cs typeface="Times New Roman"/>
                <a:sym typeface="Times New Roman"/>
              </a:rPr>
              <a:t>R = {R1, R2, R3, R4}</a:t>
            </a:r>
            <a:r>
              <a:rPr lang="en">
                <a:solidFill>
                  <a:schemeClr val="dk1"/>
                </a:solidFill>
                <a:latin typeface="Times New Roman"/>
                <a:ea typeface="Times New Roman"/>
                <a:cs typeface="Times New Roman"/>
                <a:sym typeface="Times New Roman"/>
              </a:rPr>
              <a:t> be a set of resources. You are told that each resource </a:t>
            </a:r>
            <a:r>
              <a:rPr lang="en" b="1">
                <a:solidFill>
                  <a:schemeClr val="dk1"/>
                </a:solidFill>
                <a:latin typeface="Times New Roman"/>
                <a:ea typeface="Times New Roman"/>
                <a:cs typeface="Times New Roman"/>
                <a:sym typeface="Times New Roman"/>
              </a:rPr>
              <a:t>Ri (1 ≤ i ≤ 4) has exactly two instances</a:t>
            </a:r>
            <a:r>
              <a:rPr lang="en">
                <a:solidFill>
                  <a:schemeClr val="dk1"/>
                </a:solidFill>
                <a:latin typeface="Times New Roman"/>
                <a:ea typeface="Times New Roman"/>
                <a:cs typeface="Times New Roman"/>
                <a:sym typeface="Times New Roman"/>
              </a:rPr>
              <a:t> and </a:t>
            </a:r>
            <a:r>
              <a:rPr lang="en" b="1">
                <a:solidFill>
                  <a:schemeClr val="dk1"/>
                </a:solidFill>
                <a:latin typeface="Times New Roman"/>
                <a:ea typeface="Times New Roman"/>
                <a:cs typeface="Times New Roman"/>
                <a:sym typeface="Times New Roman"/>
              </a:rPr>
              <a:t>each process Pi (1 ≤ i ≤ 4) requires at most one instance of any resource.</a:t>
            </a:r>
            <a:r>
              <a:rPr lang="en">
                <a:solidFill>
                  <a:schemeClr val="dk1"/>
                </a:solidFill>
                <a:latin typeface="Times New Roman"/>
                <a:ea typeface="Times New Roman"/>
                <a:cs typeface="Times New Roman"/>
                <a:sym typeface="Times New Roman"/>
              </a:rPr>
              <a:t> Construct a RAG G = (P ∪ R, E), such that</a:t>
            </a:r>
            <a:endParaRPr>
              <a:solidFill>
                <a:schemeClr val="dk1"/>
              </a:solidFill>
              <a:latin typeface="Times New Roman"/>
              <a:ea typeface="Times New Roman"/>
              <a:cs typeface="Times New Roman"/>
              <a:sym typeface="Times New Roman"/>
            </a:endParaRPr>
          </a:p>
          <a:p>
            <a:pPr marL="0" lvl="0" indent="0" algn="l" rtl="0">
              <a:spcBef>
                <a:spcPts val="1200"/>
              </a:spcBef>
              <a:spcAft>
                <a:spcPts val="1200"/>
              </a:spcAft>
              <a:buNone/>
            </a:pPr>
            <a:r>
              <a:rPr lang="en">
                <a:solidFill>
                  <a:schemeClr val="dk1"/>
                </a:solidFill>
                <a:latin typeface="Times New Roman"/>
                <a:ea typeface="Times New Roman"/>
                <a:cs typeface="Times New Roman"/>
                <a:sym typeface="Times New Roman"/>
              </a:rPr>
              <a:t>(i) G has a cycle and P1, P2, P3 and P4 are </a:t>
            </a:r>
            <a:r>
              <a:rPr lang="en" b="1">
                <a:solidFill>
                  <a:schemeClr val="dk1"/>
                </a:solidFill>
                <a:latin typeface="Times New Roman"/>
                <a:ea typeface="Times New Roman"/>
                <a:cs typeface="Times New Roman"/>
                <a:sym typeface="Times New Roman"/>
              </a:rPr>
              <a:t>deadlocked</a:t>
            </a:r>
            <a:endParaRPr>
              <a:solidFill>
                <a:schemeClr val="dk1"/>
              </a:solidFill>
            </a:endParaRPr>
          </a:p>
        </p:txBody>
      </p:sp>
      <p:sp>
        <p:nvSpPr>
          <p:cNvPr id="230" name="Google Shape;230;p37"/>
          <p:cNvSpPr/>
          <p:nvPr/>
        </p:nvSpPr>
        <p:spPr>
          <a:xfrm>
            <a:off x="3396125" y="2881775"/>
            <a:ext cx="716400" cy="4227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R1</a:t>
            </a:r>
            <a:endParaRPr/>
          </a:p>
        </p:txBody>
      </p:sp>
      <p:sp>
        <p:nvSpPr>
          <p:cNvPr id="231" name="Google Shape;231;p37"/>
          <p:cNvSpPr/>
          <p:nvPr/>
        </p:nvSpPr>
        <p:spPr>
          <a:xfrm>
            <a:off x="4572000" y="2881775"/>
            <a:ext cx="716400" cy="4227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R3</a:t>
            </a:r>
            <a:endParaRPr/>
          </a:p>
        </p:txBody>
      </p:sp>
      <p:sp>
        <p:nvSpPr>
          <p:cNvPr id="232" name="Google Shape;232;p37"/>
          <p:cNvSpPr/>
          <p:nvPr/>
        </p:nvSpPr>
        <p:spPr>
          <a:xfrm>
            <a:off x="3419350" y="4720800"/>
            <a:ext cx="716400" cy="4227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R2</a:t>
            </a:r>
            <a:endParaRPr/>
          </a:p>
        </p:txBody>
      </p:sp>
      <p:sp>
        <p:nvSpPr>
          <p:cNvPr id="233" name="Google Shape;233;p37"/>
          <p:cNvSpPr/>
          <p:nvPr/>
        </p:nvSpPr>
        <p:spPr>
          <a:xfrm>
            <a:off x="4595225" y="4720800"/>
            <a:ext cx="716400" cy="4227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R4</a:t>
            </a:r>
            <a:endParaRPr/>
          </a:p>
        </p:txBody>
      </p:sp>
      <p:sp>
        <p:nvSpPr>
          <p:cNvPr id="234" name="Google Shape;234;p37"/>
          <p:cNvSpPr/>
          <p:nvPr/>
        </p:nvSpPr>
        <p:spPr>
          <a:xfrm>
            <a:off x="2057400" y="3801288"/>
            <a:ext cx="716400" cy="4227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P1</a:t>
            </a:r>
            <a:endParaRPr/>
          </a:p>
        </p:txBody>
      </p:sp>
      <p:sp>
        <p:nvSpPr>
          <p:cNvPr id="235" name="Google Shape;235;p37"/>
          <p:cNvSpPr/>
          <p:nvPr/>
        </p:nvSpPr>
        <p:spPr>
          <a:xfrm>
            <a:off x="3395850" y="3801288"/>
            <a:ext cx="716400" cy="4227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P2</a:t>
            </a:r>
            <a:endParaRPr/>
          </a:p>
        </p:txBody>
      </p:sp>
      <p:sp>
        <p:nvSpPr>
          <p:cNvPr id="236" name="Google Shape;236;p37"/>
          <p:cNvSpPr/>
          <p:nvPr/>
        </p:nvSpPr>
        <p:spPr>
          <a:xfrm>
            <a:off x="4441000" y="3801288"/>
            <a:ext cx="716400" cy="4227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P3</a:t>
            </a:r>
            <a:endParaRPr/>
          </a:p>
        </p:txBody>
      </p:sp>
      <p:sp>
        <p:nvSpPr>
          <p:cNvPr id="237" name="Google Shape;237;p37"/>
          <p:cNvSpPr/>
          <p:nvPr/>
        </p:nvSpPr>
        <p:spPr>
          <a:xfrm>
            <a:off x="5779450" y="3801288"/>
            <a:ext cx="716400" cy="4227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P4</a:t>
            </a:r>
            <a:endParaRPr/>
          </a:p>
        </p:txBody>
      </p:sp>
      <p:cxnSp>
        <p:nvCxnSpPr>
          <p:cNvPr id="238" name="Google Shape;238;p37"/>
          <p:cNvCxnSpPr>
            <a:stCxn id="230" idx="2"/>
            <a:endCxn id="235" idx="0"/>
          </p:cNvCxnSpPr>
          <p:nvPr/>
        </p:nvCxnSpPr>
        <p:spPr>
          <a:xfrm flipH="1">
            <a:off x="3754025" y="3304475"/>
            <a:ext cx="300" cy="496800"/>
          </a:xfrm>
          <a:prstGeom prst="straightConnector1">
            <a:avLst/>
          </a:prstGeom>
          <a:noFill/>
          <a:ln w="19050" cap="flat" cmpd="sng">
            <a:solidFill>
              <a:srgbClr val="93C47D"/>
            </a:solidFill>
            <a:prstDash val="solid"/>
            <a:round/>
            <a:headEnd type="none" w="med" len="med"/>
            <a:tailEnd type="triangle" w="med" len="med"/>
          </a:ln>
        </p:spPr>
      </p:cxnSp>
      <p:cxnSp>
        <p:nvCxnSpPr>
          <p:cNvPr id="239" name="Google Shape;239;p37"/>
          <p:cNvCxnSpPr>
            <a:stCxn id="230" idx="2"/>
            <a:endCxn id="234" idx="7"/>
          </p:cNvCxnSpPr>
          <p:nvPr/>
        </p:nvCxnSpPr>
        <p:spPr>
          <a:xfrm flipH="1">
            <a:off x="2668925" y="3304475"/>
            <a:ext cx="1085400" cy="558600"/>
          </a:xfrm>
          <a:prstGeom prst="straightConnector1">
            <a:avLst/>
          </a:prstGeom>
          <a:noFill/>
          <a:ln w="19050" cap="flat" cmpd="sng">
            <a:solidFill>
              <a:srgbClr val="93C47D"/>
            </a:solidFill>
            <a:prstDash val="solid"/>
            <a:round/>
            <a:headEnd type="none" w="med" len="med"/>
            <a:tailEnd type="triangle" w="med" len="med"/>
          </a:ln>
        </p:spPr>
      </p:cxnSp>
      <p:cxnSp>
        <p:nvCxnSpPr>
          <p:cNvPr id="240" name="Google Shape;240;p37"/>
          <p:cNvCxnSpPr>
            <a:stCxn id="232" idx="0"/>
            <a:endCxn id="235" idx="4"/>
          </p:cNvCxnSpPr>
          <p:nvPr/>
        </p:nvCxnSpPr>
        <p:spPr>
          <a:xfrm rot="10800000">
            <a:off x="3754150" y="4224000"/>
            <a:ext cx="23400" cy="496800"/>
          </a:xfrm>
          <a:prstGeom prst="straightConnector1">
            <a:avLst/>
          </a:prstGeom>
          <a:noFill/>
          <a:ln w="19050" cap="flat" cmpd="sng">
            <a:solidFill>
              <a:srgbClr val="93C47D"/>
            </a:solidFill>
            <a:prstDash val="solid"/>
            <a:round/>
            <a:headEnd type="none" w="med" len="med"/>
            <a:tailEnd type="triangle" w="med" len="med"/>
          </a:ln>
        </p:spPr>
      </p:cxnSp>
      <p:cxnSp>
        <p:nvCxnSpPr>
          <p:cNvPr id="241" name="Google Shape;241;p37"/>
          <p:cNvCxnSpPr>
            <a:stCxn id="232" idx="0"/>
            <a:endCxn id="236" idx="4"/>
          </p:cNvCxnSpPr>
          <p:nvPr/>
        </p:nvCxnSpPr>
        <p:spPr>
          <a:xfrm rot="10800000" flipH="1">
            <a:off x="3777550" y="4224000"/>
            <a:ext cx="1021800" cy="496800"/>
          </a:xfrm>
          <a:prstGeom prst="straightConnector1">
            <a:avLst/>
          </a:prstGeom>
          <a:noFill/>
          <a:ln w="19050" cap="flat" cmpd="sng">
            <a:solidFill>
              <a:srgbClr val="93C47D"/>
            </a:solidFill>
            <a:prstDash val="solid"/>
            <a:round/>
            <a:headEnd type="none" w="med" len="med"/>
            <a:tailEnd type="triangle" w="med" len="med"/>
          </a:ln>
        </p:spPr>
      </p:cxnSp>
      <p:cxnSp>
        <p:nvCxnSpPr>
          <p:cNvPr id="242" name="Google Shape;242;p37"/>
          <p:cNvCxnSpPr>
            <a:stCxn id="231" idx="2"/>
            <a:endCxn id="236" idx="0"/>
          </p:cNvCxnSpPr>
          <p:nvPr/>
        </p:nvCxnSpPr>
        <p:spPr>
          <a:xfrm flipH="1">
            <a:off x="4799100" y="3304475"/>
            <a:ext cx="131100" cy="496800"/>
          </a:xfrm>
          <a:prstGeom prst="straightConnector1">
            <a:avLst/>
          </a:prstGeom>
          <a:noFill/>
          <a:ln w="19050" cap="flat" cmpd="sng">
            <a:solidFill>
              <a:srgbClr val="93C47D"/>
            </a:solidFill>
            <a:prstDash val="solid"/>
            <a:round/>
            <a:headEnd type="none" w="med" len="med"/>
            <a:tailEnd type="triangle" w="med" len="med"/>
          </a:ln>
        </p:spPr>
      </p:cxnSp>
      <p:cxnSp>
        <p:nvCxnSpPr>
          <p:cNvPr id="243" name="Google Shape;243;p37"/>
          <p:cNvCxnSpPr>
            <a:stCxn id="231" idx="2"/>
            <a:endCxn id="237" idx="1"/>
          </p:cNvCxnSpPr>
          <p:nvPr/>
        </p:nvCxnSpPr>
        <p:spPr>
          <a:xfrm>
            <a:off x="4930200" y="3304475"/>
            <a:ext cx="954300" cy="558600"/>
          </a:xfrm>
          <a:prstGeom prst="straightConnector1">
            <a:avLst/>
          </a:prstGeom>
          <a:noFill/>
          <a:ln w="19050" cap="flat" cmpd="sng">
            <a:solidFill>
              <a:srgbClr val="93C47D"/>
            </a:solidFill>
            <a:prstDash val="solid"/>
            <a:round/>
            <a:headEnd type="none" w="med" len="med"/>
            <a:tailEnd type="triangle" w="med" len="med"/>
          </a:ln>
        </p:spPr>
      </p:cxnSp>
      <p:cxnSp>
        <p:nvCxnSpPr>
          <p:cNvPr id="244" name="Google Shape;244;p37"/>
          <p:cNvCxnSpPr>
            <a:stCxn id="233" idx="0"/>
            <a:endCxn id="237" idx="4"/>
          </p:cNvCxnSpPr>
          <p:nvPr/>
        </p:nvCxnSpPr>
        <p:spPr>
          <a:xfrm rot="10800000" flipH="1">
            <a:off x="4953425" y="4224000"/>
            <a:ext cx="1184100" cy="496800"/>
          </a:xfrm>
          <a:prstGeom prst="straightConnector1">
            <a:avLst/>
          </a:prstGeom>
          <a:noFill/>
          <a:ln w="19050" cap="flat" cmpd="sng">
            <a:solidFill>
              <a:srgbClr val="93C47D"/>
            </a:solidFill>
            <a:prstDash val="solid"/>
            <a:round/>
            <a:headEnd type="none" w="med" len="med"/>
            <a:tailEnd type="triangle" w="med" len="med"/>
          </a:ln>
        </p:spPr>
      </p:cxnSp>
      <p:cxnSp>
        <p:nvCxnSpPr>
          <p:cNvPr id="245" name="Google Shape;245;p37"/>
          <p:cNvCxnSpPr>
            <a:stCxn id="233" idx="0"/>
            <a:endCxn id="234" idx="5"/>
          </p:cNvCxnSpPr>
          <p:nvPr/>
        </p:nvCxnSpPr>
        <p:spPr>
          <a:xfrm rot="10800000">
            <a:off x="2668925" y="4162200"/>
            <a:ext cx="2284500" cy="558600"/>
          </a:xfrm>
          <a:prstGeom prst="straightConnector1">
            <a:avLst/>
          </a:prstGeom>
          <a:noFill/>
          <a:ln w="19050" cap="flat" cmpd="sng">
            <a:solidFill>
              <a:srgbClr val="93C47D"/>
            </a:solidFill>
            <a:prstDash val="solid"/>
            <a:round/>
            <a:headEnd type="none" w="med" len="med"/>
            <a:tailEnd type="triangle" w="med" len="med"/>
          </a:ln>
        </p:spPr>
      </p:cxnSp>
      <p:sp>
        <p:nvSpPr>
          <p:cNvPr id="246" name="Google Shape;246;p37"/>
          <p:cNvSpPr txBox="1"/>
          <p:nvPr/>
        </p:nvSpPr>
        <p:spPr>
          <a:xfrm>
            <a:off x="7138200" y="3709000"/>
            <a:ext cx="20058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rgbClr val="93C47D"/>
                </a:solidFill>
              </a:rPr>
              <a:t>Assignment Edge</a:t>
            </a:r>
            <a:endParaRPr sz="1800">
              <a:solidFill>
                <a:srgbClr val="93C47D"/>
              </a:solidFill>
            </a:endParaRPr>
          </a:p>
        </p:txBody>
      </p:sp>
      <p:sp>
        <p:nvSpPr>
          <p:cNvPr id="247" name="Google Shape;247;p37"/>
          <p:cNvSpPr txBox="1"/>
          <p:nvPr/>
        </p:nvSpPr>
        <p:spPr>
          <a:xfrm>
            <a:off x="7138200" y="3247300"/>
            <a:ext cx="2005800" cy="461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a:solidFill>
                  <a:srgbClr val="E06666"/>
                </a:solidFill>
              </a:rPr>
              <a:t>Request Edge</a:t>
            </a:r>
            <a:endParaRPr sz="1800">
              <a:solidFill>
                <a:srgbClr val="E06666"/>
              </a:solidFill>
            </a:endParaRPr>
          </a:p>
        </p:txBody>
      </p:sp>
      <p:cxnSp>
        <p:nvCxnSpPr>
          <p:cNvPr id="248" name="Google Shape;248;p37"/>
          <p:cNvCxnSpPr>
            <a:stCxn id="234" idx="4"/>
            <a:endCxn id="232" idx="1"/>
          </p:cNvCxnSpPr>
          <p:nvPr/>
        </p:nvCxnSpPr>
        <p:spPr>
          <a:xfrm>
            <a:off x="2415600" y="4223988"/>
            <a:ext cx="1003800" cy="708300"/>
          </a:xfrm>
          <a:prstGeom prst="straightConnector1">
            <a:avLst/>
          </a:prstGeom>
          <a:noFill/>
          <a:ln w="28575" cap="flat" cmpd="sng">
            <a:solidFill>
              <a:srgbClr val="E06666"/>
            </a:solidFill>
            <a:prstDash val="solid"/>
            <a:round/>
            <a:headEnd type="none" w="med" len="med"/>
            <a:tailEnd type="triangle" w="med" len="med"/>
          </a:ln>
        </p:spPr>
      </p:cxnSp>
      <p:cxnSp>
        <p:nvCxnSpPr>
          <p:cNvPr id="249" name="Google Shape;249;p37"/>
          <p:cNvCxnSpPr>
            <a:stCxn id="235" idx="7"/>
            <a:endCxn id="231" idx="1"/>
          </p:cNvCxnSpPr>
          <p:nvPr/>
        </p:nvCxnSpPr>
        <p:spPr>
          <a:xfrm rot="10800000" flipH="1">
            <a:off x="4007336" y="3093090"/>
            <a:ext cx="564600" cy="770100"/>
          </a:xfrm>
          <a:prstGeom prst="straightConnector1">
            <a:avLst/>
          </a:prstGeom>
          <a:noFill/>
          <a:ln w="28575" cap="flat" cmpd="sng">
            <a:solidFill>
              <a:srgbClr val="E06666"/>
            </a:solidFill>
            <a:prstDash val="solid"/>
            <a:round/>
            <a:headEnd type="none" w="med" len="med"/>
            <a:tailEnd type="triangle" w="med" len="med"/>
          </a:ln>
        </p:spPr>
      </p:cxnSp>
      <p:cxnSp>
        <p:nvCxnSpPr>
          <p:cNvPr id="250" name="Google Shape;250;p37"/>
          <p:cNvCxnSpPr>
            <a:stCxn id="236" idx="5"/>
            <a:endCxn id="233" idx="0"/>
          </p:cNvCxnSpPr>
          <p:nvPr/>
        </p:nvCxnSpPr>
        <p:spPr>
          <a:xfrm flipH="1">
            <a:off x="4953486" y="4162085"/>
            <a:ext cx="99000" cy="558600"/>
          </a:xfrm>
          <a:prstGeom prst="straightConnector1">
            <a:avLst/>
          </a:prstGeom>
          <a:noFill/>
          <a:ln w="28575" cap="flat" cmpd="sng">
            <a:solidFill>
              <a:srgbClr val="E06666"/>
            </a:solidFill>
            <a:prstDash val="solid"/>
            <a:round/>
            <a:headEnd type="none" w="med" len="med"/>
            <a:tailEnd type="triangle" w="med" len="med"/>
          </a:ln>
        </p:spPr>
      </p:cxnSp>
      <p:cxnSp>
        <p:nvCxnSpPr>
          <p:cNvPr id="251" name="Google Shape;251;p37"/>
          <p:cNvCxnSpPr>
            <a:stCxn id="237" idx="0"/>
            <a:endCxn id="230" idx="2"/>
          </p:cNvCxnSpPr>
          <p:nvPr/>
        </p:nvCxnSpPr>
        <p:spPr>
          <a:xfrm rot="10800000">
            <a:off x="3754450" y="3304488"/>
            <a:ext cx="2383200" cy="496800"/>
          </a:xfrm>
          <a:prstGeom prst="straightConnector1">
            <a:avLst/>
          </a:prstGeom>
          <a:noFill/>
          <a:ln w="28575" cap="flat" cmpd="sng">
            <a:solidFill>
              <a:srgbClr val="E06666"/>
            </a:solidFill>
            <a:prstDash val="solid"/>
            <a:round/>
            <a:headEnd type="none" w="med" len="med"/>
            <a:tailEnd type="triangle" w="med" len="med"/>
          </a:ln>
        </p:spPr>
      </p:cxnSp>
      <p:sp>
        <p:nvSpPr>
          <p:cNvPr id="252" name="Google Shape;252;p37"/>
          <p:cNvSpPr txBox="1"/>
          <p:nvPr/>
        </p:nvSpPr>
        <p:spPr>
          <a:xfrm>
            <a:off x="51000" y="2936825"/>
            <a:ext cx="31104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a:solidFill>
                  <a:schemeClr val="dk2"/>
                </a:solidFill>
                <a:latin typeface="Times New Roman"/>
                <a:ea typeface="Times New Roman"/>
                <a:cs typeface="Times New Roman"/>
                <a:sym typeface="Times New Roman"/>
              </a:rPr>
              <a:t>Cycle:</a:t>
            </a:r>
            <a:r>
              <a:rPr lang="en" sz="1800">
                <a:solidFill>
                  <a:schemeClr val="dk2"/>
                </a:solidFill>
                <a:latin typeface="Times New Roman"/>
                <a:ea typeface="Times New Roman"/>
                <a:cs typeface="Times New Roman"/>
                <a:sym typeface="Times New Roman"/>
              </a:rPr>
              <a:t> </a:t>
            </a:r>
            <a:endParaRPr sz="1800">
              <a:solidFill>
                <a:schemeClr val="dk2"/>
              </a:solidFill>
              <a:latin typeface="Times New Roman"/>
              <a:ea typeface="Times New Roman"/>
              <a:cs typeface="Times New Roman"/>
              <a:sym typeface="Times New Roman"/>
            </a:endParaRPr>
          </a:p>
          <a:p>
            <a:pPr marL="0" lvl="0" indent="0" algn="l" rtl="0">
              <a:spcBef>
                <a:spcPts val="0"/>
              </a:spcBef>
              <a:spcAft>
                <a:spcPts val="0"/>
              </a:spcAft>
              <a:buNone/>
            </a:pPr>
            <a:r>
              <a:rPr lang="en" sz="1800">
                <a:solidFill>
                  <a:schemeClr val="dk2"/>
                </a:solidFill>
                <a:latin typeface="Times New Roman"/>
                <a:ea typeface="Times New Roman"/>
                <a:cs typeface="Times New Roman"/>
                <a:sym typeface="Times New Roman"/>
              </a:rPr>
              <a:t>P1, R2, P3, R4, P4, R1, P1,..</a:t>
            </a:r>
            <a:endParaRPr sz="1800">
              <a:solidFill>
                <a:schemeClr val="dk2"/>
              </a:solidFill>
              <a:latin typeface="Times New Roman"/>
              <a:ea typeface="Times New Roman"/>
              <a:cs typeface="Times New Roman"/>
              <a:sym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4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4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4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4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4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4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4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5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5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4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3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Q13. ISI MTech - 2010</a:t>
            </a:r>
            <a:endParaRPr/>
          </a:p>
        </p:txBody>
      </p:sp>
      <p:sp>
        <p:nvSpPr>
          <p:cNvPr id="258" name="Google Shape;258;p38"/>
          <p:cNvSpPr txBox="1">
            <a:spLocks noGrp="1"/>
          </p:cNvSpPr>
          <p:nvPr>
            <p:ph type="body" idx="1"/>
          </p:nvPr>
        </p:nvSpPr>
        <p:spPr>
          <a:xfrm>
            <a:off x="311700" y="1164225"/>
            <a:ext cx="8520600" cy="1647000"/>
          </a:xfrm>
          <a:prstGeom prst="rect">
            <a:avLst/>
          </a:prstGeom>
        </p:spPr>
        <p:txBody>
          <a:bodyPr spcFirstLastPara="1" wrap="square" lIns="91425" tIns="91425" rIns="91425" bIns="91425" anchor="t" anchorCtr="0">
            <a:normAutofit fontScale="85000" lnSpcReduction="10000"/>
          </a:bodyPr>
          <a:lstStyle/>
          <a:p>
            <a:pPr marL="0" lvl="0" indent="0" algn="l" rtl="0">
              <a:spcBef>
                <a:spcPts val="0"/>
              </a:spcBef>
              <a:spcAft>
                <a:spcPts val="0"/>
              </a:spcAft>
              <a:buNone/>
            </a:pPr>
            <a:r>
              <a:rPr lang="en">
                <a:solidFill>
                  <a:schemeClr val="dk1"/>
                </a:solidFill>
                <a:latin typeface="Times New Roman"/>
                <a:ea typeface="Times New Roman"/>
                <a:cs typeface="Times New Roman"/>
                <a:sym typeface="Times New Roman"/>
              </a:rPr>
              <a:t>Let </a:t>
            </a:r>
            <a:r>
              <a:rPr lang="en" b="1">
                <a:solidFill>
                  <a:schemeClr val="dk1"/>
                </a:solidFill>
                <a:latin typeface="Times New Roman"/>
                <a:ea typeface="Times New Roman"/>
                <a:cs typeface="Times New Roman"/>
                <a:sym typeface="Times New Roman"/>
              </a:rPr>
              <a:t>P = {P1, P2, P3, P4}</a:t>
            </a:r>
            <a:r>
              <a:rPr lang="en">
                <a:solidFill>
                  <a:schemeClr val="dk1"/>
                </a:solidFill>
                <a:latin typeface="Times New Roman"/>
                <a:ea typeface="Times New Roman"/>
                <a:cs typeface="Times New Roman"/>
                <a:sym typeface="Times New Roman"/>
              </a:rPr>
              <a:t> be a set of processes, and </a:t>
            </a:r>
            <a:r>
              <a:rPr lang="en" b="1">
                <a:solidFill>
                  <a:schemeClr val="dk1"/>
                </a:solidFill>
                <a:latin typeface="Times New Roman"/>
                <a:ea typeface="Times New Roman"/>
                <a:cs typeface="Times New Roman"/>
                <a:sym typeface="Times New Roman"/>
              </a:rPr>
              <a:t>R = {R1, R2, R3, R4}</a:t>
            </a:r>
            <a:r>
              <a:rPr lang="en">
                <a:solidFill>
                  <a:schemeClr val="dk1"/>
                </a:solidFill>
                <a:latin typeface="Times New Roman"/>
                <a:ea typeface="Times New Roman"/>
                <a:cs typeface="Times New Roman"/>
                <a:sym typeface="Times New Roman"/>
              </a:rPr>
              <a:t> be a set of resources. You are told that each resource </a:t>
            </a:r>
            <a:r>
              <a:rPr lang="en" b="1">
                <a:solidFill>
                  <a:schemeClr val="dk1"/>
                </a:solidFill>
                <a:latin typeface="Times New Roman"/>
                <a:ea typeface="Times New Roman"/>
                <a:cs typeface="Times New Roman"/>
                <a:sym typeface="Times New Roman"/>
              </a:rPr>
              <a:t>Ri (1 ≤ i ≤ 4) has exactly two instances</a:t>
            </a:r>
            <a:r>
              <a:rPr lang="en">
                <a:solidFill>
                  <a:schemeClr val="dk1"/>
                </a:solidFill>
                <a:latin typeface="Times New Roman"/>
                <a:ea typeface="Times New Roman"/>
                <a:cs typeface="Times New Roman"/>
                <a:sym typeface="Times New Roman"/>
              </a:rPr>
              <a:t> and </a:t>
            </a:r>
            <a:r>
              <a:rPr lang="en" b="1">
                <a:solidFill>
                  <a:schemeClr val="dk1"/>
                </a:solidFill>
                <a:latin typeface="Times New Roman"/>
                <a:ea typeface="Times New Roman"/>
                <a:cs typeface="Times New Roman"/>
                <a:sym typeface="Times New Roman"/>
              </a:rPr>
              <a:t>each process Pi (1 ≤ i ≤ 4) requires at most one instance of any resource.</a:t>
            </a:r>
            <a:r>
              <a:rPr lang="en">
                <a:solidFill>
                  <a:schemeClr val="dk1"/>
                </a:solidFill>
                <a:latin typeface="Times New Roman"/>
                <a:ea typeface="Times New Roman"/>
                <a:cs typeface="Times New Roman"/>
                <a:sym typeface="Times New Roman"/>
              </a:rPr>
              <a:t> Construct a RAG G = (P ∪ R, E), such that</a:t>
            </a:r>
            <a:endParaRPr>
              <a:solidFill>
                <a:schemeClr val="dk1"/>
              </a:solidFill>
              <a:latin typeface="Times New Roman"/>
              <a:ea typeface="Times New Roman"/>
              <a:cs typeface="Times New Roman"/>
              <a:sym typeface="Times New Roman"/>
            </a:endParaRPr>
          </a:p>
          <a:p>
            <a:pPr marL="0" lvl="0" indent="0" algn="l" rtl="0">
              <a:spcBef>
                <a:spcPts val="1200"/>
              </a:spcBef>
              <a:spcAft>
                <a:spcPts val="1200"/>
              </a:spcAft>
              <a:buNone/>
            </a:pPr>
            <a:r>
              <a:rPr lang="en">
                <a:solidFill>
                  <a:schemeClr val="dk1"/>
                </a:solidFill>
                <a:latin typeface="Times New Roman"/>
                <a:ea typeface="Times New Roman"/>
                <a:cs typeface="Times New Roman"/>
                <a:sym typeface="Times New Roman"/>
              </a:rPr>
              <a:t>(ii) G has a cycle but P1, P2, P3 and P4 are </a:t>
            </a:r>
            <a:r>
              <a:rPr lang="en" b="1">
                <a:solidFill>
                  <a:schemeClr val="dk1"/>
                </a:solidFill>
                <a:latin typeface="Times New Roman"/>
                <a:ea typeface="Times New Roman"/>
                <a:cs typeface="Times New Roman"/>
                <a:sym typeface="Times New Roman"/>
              </a:rPr>
              <a:t>not deadlocked</a:t>
            </a:r>
            <a:endParaRPr>
              <a:solidFill>
                <a:schemeClr val="dk1"/>
              </a:solidFill>
            </a:endParaRPr>
          </a:p>
        </p:txBody>
      </p:sp>
      <p:sp>
        <p:nvSpPr>
          <p:cNvPr id="259" name="Google Shape;259;p38"/>
          <p:cNvSpPr/>
          <p:nvPr/>
        </p:nvSpPr>
        <p:spPr>
          <a:xfrm>
            <a:off x="3396125" y="2881775"/>
            <a:ext cx="716400" cy="4227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R1</a:t>
            </a:r>
            <a:endParaRPr/>
          </a:p>
        </p:txBody>
      </p:sp>
      <p:sp>
        <p:nvSpPr>
          <p:cNvPr id="260" name="Google Shape;260;p38"/>
          <p:cNvSpPr/>
          <p:nvPr/>
        </p:nvSpPr>
        <p:spPr>
          <a:xfrm>
            <a:off x="4572000" y="2881775"/>
            <a:ext cx="716400" cy="4227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R3</a:t>
            </a:r>
            <a:endParaRPr/>
          </a:p>
        </p:txBody>
      </p:sp>
      <p:sp>
        <p:nvSpPr>
          <p:cNvPr id="261" name="Google Shape;261;p38"/>
          <p:cNvSpPr/>
          <p:nvPr/>
        </p:nvSpPr>
        <p:spPr>
          <a:xfrm>
            <a:off x="3419350" y="4720800"/>
            <a:ext cx="716400" cy="4227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R2</a:t>
            </a:r>
            <a:endParaRPr/>
          </a:p>
        </p:txBody>
      </p:sp>
      <p:sp>
        <p:nvSpPr>
          <p:cNvPr id="262" name="Google Shape;262;p38"/>
          <p:cNvSpPr/>
          <p:nvPr/>
        </p:nvSpPr>
        <p:spPr>
          <a:xfrm>
            <a:off x="4595225" y="4720800"/>
            <a:ext cx="716400" cy="4227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R4</a:t>
            </a:r>
            <a:endParaRPr/>
          </a:p>
        </p:txBody>
      </p:sp>
      <p:sp>
        <p:nvSpPr>
          <p:cNvPr id="263" name="Google Shape;263;p38"/>
          <p:cNvSpPr/>
          <p:nvPr/>
        </p:nvSpPr>
        <p:spPr>
          <a:xfrm>
            <a:off x="2057400" y="3801288"/>
            <a:ext cx="716400" cy="4227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P1</a:t>
            </a:r>
            <a:endParaRPr/>
          </a:p>
        </p:txBody>
      </p:sp>
      <p:sp>
        <p:nvSpPr>
          <p:cNvPr id="264" name="Google Shape;264;p38"/>
          <p:cNvSpPr/>
          <p:nvPr/>
        </p:nvSpPr>
        <p:spPr>
          <a:xfrm>
            <a:off x="3395850" y="3801288"/>
            <a:ext cx="716400" cy="4227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P2</a:t>
            </a:r>
            <a:endParaRPr/>
          </a:p>
        </p:txBody>
      </p:sp>
      <p:sp>
        <p:nvSpPr>
          <p:cNvPr id="265" name="Google Shape;265;p38"/>
          <p:cNvSpPr/>
          <p:nvPr/>
        </p:nvSpPr>
        <p:spPr>
          <a:xfrm>
            <a:off x="4441000" y="3801288"/>
            <a:ext cx="716400" cy="4227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P3</a:t>
            </a:r>
            <a:endParaRPr/>
          </a:p>
        </p:txBody>
      </p:sp>
      <p:sp>
        <p:nvSpPr>
          <p:cNvPr id="266" name="Google Shape;266;p38"/>
          <p:cNvSpPr/>
          <p:nvPr/>
        </p:nvSpPr>
        <p:spPr>
          <a:xfrm>
            <a:off x="5779450" y="3801288"/>
            <a:ext cx="716400" cy="4227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P4</a:t>
            </a:r>
            <a:endParaRPr/>
          </a:p>
        </p:txBody>
      </p:sp>
      <p:cxnSp>
        <p:nvCxnSpPr>
          <p:cNvPr id="267" name="Google Shape;267;p38"/>
          <p:cNvCxnSpPr>
            <a:stCxn id="259" idx="2"/>
            <a:endCxn id="263" idx="7"/>
          </p:cNvCxnSpPr>
          <p:nvPr/>
        </p:nvCxnSpPr>
        <p:spPr>
          <a:xfrm flipH="1">
            <a:off x="2668925" y="3304475"/>
            <a:ext cx="1085400" cy="558600"/>
          </a:xfrm>
          <a:prstGeom prst="straightConnector1">
            <a:avLst/>
          </a:prstGeom>
          <a:noFill/>
          <a:ln w="19050" cap="flat" cmpd="sng">
            <a:solidFill>
              <a:srgbClr val="93C47D"/>
            </a:solidFill>
            <a:prstDash val="solid"/>
            <a:round/>
            <a:headEnd type="none" w="med" len="med"/>
            <a:tailEnd type="triangle" w="med" len="med"/>
          </a:ln>
        </p:spPr>
      </p:cxnSp>
      <p:cxnSp>
        <p:nvCxnSpPr>
          <p:cNvPr id="268" name="Google Shape;268;p38"/>
          <p:cNvCxnSpPr>
            <a:stCxn id="261" idx="0"/>
            <a:endCxn id="264" idx="4"/>
          </p:cNvCxnSpPr>
          <p:nvPr/>
        </p:nvCxnSpPr>
        <p:spPr>
          <a:xfrm rot="10800000">
            <a:off x="3754150" y="4224000"/>
            <a:ext cx="23400" cy="496800"/>
          </a:xfrm>
          <a:prstGeom prst="straightConnector1">
            <a:avLst/>
          </a:prstGeom>
          <a:noFill/>
          <a:ln w="19050" cap="flat" cmpd="sng">
            <a:solidFill>
              <a:srgbClr val="93C47D"/>
            </a:solidFill>
            <a:prstDash val="solid"/>
            <a:round/>
            <a:headEnd type="none" w="med" len="med"/>
            <a:tailEnd type="triangle" w="med" len="med"/>
          </a:ln>
        </p:spPr>
      </p:cxnSp>
      <p:cxnSp>
        <p:nvCxnSpPr>
          <p:cNvPr id="269" name="Google Shape;269;p38"/>
          <p:cNvCxnSpPr>
            <a:stCxn id="260" idx="2"/>
            <a:endCxn id="265" idx="0"/>
          </p:cNvCxnSpPr>
          <p:nvPr/>
        </p:nvCxnSpPr>
        <p:spPr>
          <a:xfrm flipH="1">
            <a:off x="4799100" y="3304475"/>
            <a:ext cx="131100" cy="496800"/>
          </a:xfrm>
          <a:prstGeom prst="straightConnector1">
            <a:avLst/>
          </a:prstGeom>
          <a:noFill/>
          <a:ln w="19050" cap="flat" cmpd="sng">
            <a:solidFill>
              <a:srgbClr val="93C47D"/>
            </a:solidFill>
            <a:prstDash val="solid"/>
            <a:round/>
            <a:headEnd type="none" w="med" len="med"/>
            <a:tailEnd type="triangle" w="med" len="med"/>
          </a:ln>
        </p:spPr>
      </p:cxnSp>
      <p:cxnSp>
        <p:nvCxnSpPr>
          <p:cNvPr id="270" name="Google Shape;270;p38"/>
          <p:cNvCxnSpPr>
            <a:stCxn id="262" idx="0"/>
            <a:endCxn id="266" idx="4"/>
          </p:cNvCxnSpPr>
          <p:nvPr/>
        </p:nvCxnSpPr>
        <p:spPr>
          <a:xfrm rot="10800000" flipH="1">
            <a:off x="4953425" y="4224000"/>
            <a:ext cx="1184100" cy="496800"/>
          </a:xfrm>
          <a:prstGeom prst="straightConnector1">
            <a:avLst/>
          </a:prstGeom>
          <a:noFill/>
          <a:ln w="19050" cap="flat" cmpd="sng">
            <a:solidFill>
              <a:srgbClr val="93C47D"/>
            </a:solidFill>
            <a:prstDash val="solid"/>
            <a:round/>
            <a:headEnd type="none" w="med" len="med"/>
            <a:tailEnd type="triangle" w="med" len="med"/>
          </a:ln>
        </p:spPr>
      </p:cxnSp>
      <p:sp>
        <p:nvSpPr>
          <p:cNvPr id="271" name="Google Shape;271;p38"/>
          <p:cNvSpPr txBox="1"/>
          <p:nvPr/>
        </p:nvSpPr>
        <p:spPr>
          <a:xfrm>
            <a:off x="7138200" y="3709000"/>
            <a:ext cx="20058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rgbClr val="93C47D"/>
                </a:solidFill>
              </a:rPr>
              <a:t>Assignment Edge</a:t>
            </a:r>
            <a:endParaRPr sz="1800">
              <a:solidFill>
                <a:srgbClr val="93C47D"/>
              </a:solidFill>
            </a:endParaRPr>
          </a:p>
        </p:txBody>
      </p:sp>
      <p:sp>
        <p:nvSpPr>
          <p:cNvPr id="272" name="Google Shape;272;p38"/>
          <p:cNvSpPr txBox="1"/>
          <p:nvPr/>
        </p:nvSpPr>
        <p:spPr>
          <a:xfrm>
            <a:off x="7138200" y="3247300"/>
            <a:ext cx="2005800" cy="461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a:solidFill>
                  <a:srgbClr val="E06666"/>
                </a:solidFill>
              </a:rPr>
              <a:t>Request Edge</a:t>
            </a:r>
            <a:endParaRPr sz="1800">
              <a:solidFill>
                <a:srgbClr val="E06666"/>
              </a:solidFill>
            </a:endParaRPr>
          </a:p>
        </p:txBody>
      </p:sp>
      <p:cxnSp>
        <p:nvCxnSpPr>
          <p:cNvPr id="273" name="Google Shape;273;p38"/>
          <p:cNvCxnSpPr>
            <a:stCxn id="263" idx="4"/>
            <a:endCxn id="261" idx="1"/>
          </p:cNvCxnSpPr>
          <p:nvPr/>
        </p:nvCxnSpPr>
        <p:spPr>
          <a:xfrm>
            <a:off x="2415600" y="4223988"/>
            <a:ext cx="1003800" cy="708300"/>
          </a:xfrm>
          <a:prstGeom prst="straightConnector1">
            <a:avLst/>
          </a:prstGeom>
          <a:noFill/>
          <a:ln w="28575" cap="flat" cmpd="sng">
            <a:solidFill>
              <a:srgbClr val="E06666"/>
            </a:solidFill>
            <a:prstDash val="solid"/>
            <a:round/>
            <a:headEnd type="none" w="med" len="med"/>
            <a:tailEnd type="triangle" w="med" len="med"/>
          </a:ln>
        </p:spPr>
      </p:cxnSp>
      <p:cxnSp>
        <p:nvCxnSpPr>
          <p:cNvPr id="274" name="Google Shape;274;p38"/>
          <p:cNvCxnSpPr>
            <a:stCxn id="264" idx="0"/>
            <a:endCxn id="259" idx="2"/>
          </p:cNvCxnSpPr>
          <p:nvPr/>
        </p:nvCxnSpPr>
        <p:spPr>
          <a:xfrm rot="10800000" flipH="1">
            <a:off x="3754050" y="3304488"/>
            <a:ext cx="300" cy="496800"/>
          </a:xfrm>
          <a:prstGeom prst="straightConnector1">
            <a:avLst/>
          </a:prstGeom>
          <a:noFill/>
          <a:ln w="28575" cap="flat" cmpd="sng">
            <a:solidFill>
              <a:srgbClr val="E06666"/>
            </a:solidFill>
            <a:prstDash val="solid"/>
            <a:round/>
            <a:headEnd type="none" w="med" len="med"/>
            <a:tailEnd type="triangle" w="med" len="med"/>
          </a:ln>
        </p:spPr>
      </p:cxnSp>
      <p:cxnSp>
        <p:nvCxnSpPr>
          <p:cNvPr id="275" name="Google Shape;275;p38"/>
          <p:cNvCxnSpPr>
            <a:stCxn id="259" idx="2"/>
            <a:endCxn id="265" idx="0"/>
          </p:cNvCxnSpPr>
          <p:nvPr/>
        </p:nvCxnSpPr>
        <p:spPr>
          <a:xfrm>
            <a:off x="3754325" y="3304475"/>
            <a:ext cx="1044900" cy="496800"/>
          </a:xfrm>
          <a:prstGeom prst="straightConnector1">
            <a:avLst/>
          </a:prstGeom>
          <a:noFill/>
          <a:ln w="19050" cap="flat" cmpd="sng">
            <a:solidFill>
              <a:srgbClr val="93C47D"/>
            </a:solidFill>
            <a:prstDash val="solid"/>
            <a:round/>
            <a:headEnd type="none" w="med" len="med"/>
            <a:tailEnd type="triangle" w="med" len="med"/>
          </a:ln>
        </p:spPr>
      </p:cxnSp>
      <p:cxnSp>
        <p:nvCxnSpPr>
          <p:cNvPr id="276" name="Google Shape;276;p38"/>
          <p:cNvCxnSpPr>
            <a:stCxn id="261" idx="0"/>
            <a:endCxn id="266" idx="3"/>
          </p:cNvCxnSpPr>
          <p:nvPr/>
        </p:nvCxnSpPr>
        <p:spPr>
          <a:xfrm rot="10800000" flipH="1">
            <a:off x="3777550" y="4162200"/>
            <a:ext cx="2106900" cy="558600"/>
          </a:xfrm>
          <a:prstGeom prst="straightConnector1">
            <a:avLst/>
          </a:prstGeom>
          <a:noFill/>
          <a:ln w="19050" cap="flat" cmpd="sng">
            <a:solidFill>
              <a:srgbClr val="93C47D"/>
            </a:solidFill>
            <a:prstDash val="solid"/>
            <a:round/>
            <a:headEnd type="none" w="med" len="med"/>
            <a:tailEnd type="triangle" w="med" len="med"/>
          </a:ln>
        </p:spPr>
      </p:cxnSp>
      <p:sp>
        <p:nvSpPr>
          <p:cNvPr id="277" name="Google Shape;277;p38"/>
          <p:cNvSpPr txBox="1"/>
          <p:nvPr/>
        </p:nvSpPr>
        <p:spPr>
          <a:xfrm>
            <a:off x="51000" y="2936813"/>
            <a:ext cx="27228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a:solidFill>
                  <a:schemeClr val="dk2"/>
                </a:solidFill>
                <a:latin typeface="Times New Roman"/>
                <a:ea typeface="Times New Roman"/>
                <a:cs typeface="Times New Roman"/>
                <a:sym typeface="Times New Roman"/>
              </a:rPr>
              <a:t>Cycle:</a:t>
            </a:r>
            <a:r>
              <a:rPr lang="en" sz="1800">
                <a:solidFill>
                  <a:schemeClr val="dk2"/>
                </a:solidFill>
                <a:latin typeface="Times New Roman"/>
                <a:ea typeface="Times New Roman"/>
                <a:cs typeface="Times New Roman"/>
                <a:sym typeface="Times New Roman"/>
              </a:rPr>
              <a:t> </a:t>
            </a:r>
            <a:endParaRPr sz="1800">
              <a:solidFill>
                <a:schemeClr val="dk2"/>
              </a:solidFill>
              <a:latin typeface="Times New Roman"/>
              <a:ea typeface="Times New Roman"/>
              <a:cs typeface="Times New Roman"/>
              <a:sym typeface="Times New Roman"/>
            </a:endParaRPr>
          </a:p>
          <a:p>
            <a:pPr marL="0" lvl="0" indent="0" algn="l" rtl="0">
              <a:spcBef>
                <a:spcPts val="0"/>
              </a:spcBef>
              <a:spcAft>
                <a:spcPts val="0"/>
              </a:spcAft>
              <a:buNone/>
            </a:pPr>
            <a:r>
              <a:rPr lang="en" sz="1800">
                <a:solidFill>
                  <a:schemeClr val="dk2"/>
                </a:solidFill>
                <a:latin typeface="Times New Roman"/>
                <a:ea typeface="Times New Roman"/>
                <a:cs typeface="Times New Roman"/>
                <a:sym typeface="Times New Roman"/>
              </a:rPr>
              <a:t>P1, R2, P2, R1, P1..</a:t>
            </a:r>
            <a:endParaRPr sz="1800">
              <a:solidFill>
                <a:schemeClr val="dk2"/>
              </a:solidFill>
              <a:latin typeface="Times New Roman"/>
              <a:ea typeface="Times New Roman"/>
              <a:cs typeface="Times New Roman"/>
              <a:sym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6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6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7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7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7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3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Q14. ISI MTech 2010</a:t>
            </a:r>
            <a:endParaRPr/>
          </a:p>
        </p:txBody>
      </p:sp>
      <p:sp>
        <p:nvSpPr>
          <p:cNvPr id="283" name="Google Shape;283;p3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284" name="Google Shape;284;p39"/>
          <p:cNvPicPr preferRelativeResize="0"/>
          <p:nvPr/>
        </p:nvPicPr>
        <p:blipFill>
          <a:blip r:embed="rId3">
            <a:alphaModFix/>
          </a:blip>
          <a:stretch>
            <a:fillRect/>
          </a:stretch>
        </p:blipFill>
        <p:spPr>
          <a:xfrm>
            <a:off x="0" y="1069654"/>
            <a:ext cx="9144001" cy="3802743"/>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4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Solution</a:t>
            </a:r>
            <a:endParaRPr/>
          </a:p>
        </p:txBody>
      </p:sp>
      <p:sp>
        <p:nvSpPr>
          <p:cNvPr id="290" name="Google Shape;290;p40"/>
          <p:cNvSpPr txBox="1">
            <a:spLocks noGrp="1"/>
          </p:cNvSpPr>
          <p:nvPr>
            <p:ph type="body" idx="1"/>
          </p:nvPr>
        </p:nvSpPr>
        <p:spPr>
          <a:xfrm>
            <a:off x="311700" y="1017725"/>
            <a:ext cx="8520600" cy="4125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solidFill>
                  <a:schemeClr val="dk1"/>
                </a:solidFill>
              </a:rPr>
              <a:t>P0 - increments x 10 times</a:t>
            </a:r>
            <a:endParaRPr>
              <a:solidFill>
                <a:schemeClr val="dk1"/>
              </a:solidFill>
            </a:endParaRPr>
          </a:p>
          <a:p>
            <a:pPr marL="0" lvl="0" indent="0" algn="l" rtl="0">
              <a:spcBef>
                <a:spcPts val="1200"/>
              </a:spcBef>
              <a:spcAft>
                <a:spcPts val="0"/>
              </a:spcAft>
              <a:buNone/>
            </a:pPr>
            <a:r>
              <a:rPr lang="en">
                <a:solidFill>
                  <a:schemeClr val="dk1"/>
                </a:solidFill>
              </a:rPr>
              <a:t>P1 - decrements x 10 times</a:t>
            </a:r>
            <a:endParaRPr>
              <a:solidFill>
                <a:schemeClr val="dk1"/>
              </a:solidFill>
            </a:endParaRPr>
          </a:p>
          <a:p>
            <a:pPr marL="457200" lvl="0" indent="-342900" algn="l" rtl="0">
              <a:spcBef>
                <a:spcPts val="1200"/>
              </a:spcBef>
              <a:spcAft>
                <a:spcPts val="0"/>
              </a:spcAft>
              <a:buClr>
                <a:schemeClr val="dk1"/>
              </a:buClr>
              <a:buSzPts val="1800"/>
              <a:buChar char="➔"/>
            </a:pPr>
            <a:r>
              <a:rPr lang="en">
                <a:solidFill>
                  <a:schemeClr val="dk1"/>
                </a:solidFill>
              </a:rPr>
              <a:t>Increment and decrement operations are not atomic </a:t>
            </a:r>
            <a:endParaRPr>
              <a:solidFill>
                <a:schemeClr val="dk1"/>
              </a:solidFill>
            </a:endParaRPr>
          </a:p>
          <a:p>
            <a:pPr marL="914400" lvl="1" indent="-317500" algn="l" rtl="0">
              <a:spcBef>
                <a:spcPts val="0"/>
              </a:spcBef>
              <a:spcAft>
                <a:spcPts val="0"/>
              </a:spcAft>
              <a:buClr>
                <a:schemeClr val="dk1"/>
              </a:buClr>
              <a:buSzPts val="1400"/>
              <a:buChar char="◆"/>
            </a:pPr>
            <a:r>
              <a:rPr lang="en">
                <a:solidFill>
                  <a:schemeClr val="dk1"/>
                </a:solidFill>
              </a:rPr>
              <a:t>Read x</a:t>
            </a:r>
            <a:endParaRPr>
              <a:solidFill>
                <a:schemeClr val="dk1"/>
              </a:solidFill>
            </a:endParaRPr>
          </a:p>
          <a:p>
            <a:pPr marL="914400" lvl="1" indent="-317500" algn="l" rtl="0">
              <a:spcBef>
                <a:spcPts val="0"/>
              </a:spcBef>
              <a:spcAft>
                <a:spcPts val="0"/>
              </a:spcAft>
              <a:buClr>
                <a:schemeClr val="dk1"/>
              </a:buClr>
              <a:buSzPts val="1400"/>
              <a:buChar char="◆"/>
            </a:pPr>
            <a:r>
              <a:rPr lang="en">
                <a:solidFill>
                  <a:schemeClr val="dk1"/>
                </a:solidFill>
              </a:rPr>
              <a:t>Modify </a:t>
            </a:r>
            <a:endParaRPr>
              <a:solidFill>
                <a:schemeClr val="dk1"/>
              </a:solidFill>
            </a:endParaRPr>
          </a:p>
          <a:p>
            <a:pPr marL="914400" lvl="1" indent="-317500" algn="l" rtl="0">
              <a:spcBef>
                <a:spcPts val="0"/>
              </a:spcBef>
              <a:spcAft>
                <a:spcPts val="0"/>
              </a:spcAft>
              <a:buClr>
                <a:schemeClr val="dk1"/>
              </a:buClr>
              <a:buSzPts val="1400"/>
              <a:buChar char="◆"/>
            </a:pPr>
            <a:r>
              <a:rPr lang="en">
                <a:solidFill>
                  <a:schemeClr val="dk1"/>
                </a:solidFill>
              </a:rPr>
              <a:t>Write x</a:t>
            </a:r>
            <a:endParaRPr>
              <a:solidFill>
                <a:schemeClr val="dk1"/>
              </a:solidFill>
            </a:endParaRPr>
          </a:p>
          <a:p>
            <a:pPr marL="457200" lvl="0" indent="-342900" algn="l" rtl="0">
              <a:spcBef>
                <a:spcPts val="0"/>
              </a:spcBef>
              <a:spcAft>
                <a:spcPts val="0"/>
              </a:spcAft>
              <a:buClr>
                <a:schemeClr val="dk1"/>
              </a:buClr>
              <a:buSzPts val="1800"/>
              <a:buChar char="➔"/>
            </a:pPr>
            <a:r>
              <a:rPr lang="en">
                <a:solidFill>
                  <a:schemeClr val="dk1"/>
                </a:solidFill>
              </a:rPr>
              <a:t>If operations are perfectly synchronized, x = 0</a:t>
            </a:r>
            <a:endParaRPr>
              <a:solidFill>
                <a:schemeClr val="dk1"/>
              </a:solidFill>
            </a:endParaRPr>
          </a:p>
          <a:p>
            <a:pPr marL="457200" lvl="0" indent="-342900" algn="l" rtl="0">
              <a:spcBef>
                <a:spcPts val="0"/>
              </a:spcBef>
              <a:spcAft>
                <a:spcPts val="0"/>
              </a:spcAft>
              <a:buClr>
                <a:schemeClr val="dk1"/>
              </a:buClr>
              <a:buSzPts val="1800"/>
              <a:buChar char="➔"/>
            </a:pPr>
            <a:r>
              <a:rPr lang="en">
                <a:solidFill>
                  <a:schemeClr val="dk1"/>
                </a:solidFill>
              </a:rPr>
              <a:t>Race condition: </a:t>
            </a:r>
            <a:endParaRPr>
              <a:solidFill>
                <a:schemeClr val="dk1"/>
              </a:solidFill>
            </a:endParaRPr>
          </a:p>
          <a:p>
            <a:pPr marL="914400" lvl="1" indent="-317500" algn="l" rtl="0">
              <a:spcBef>
                <a:spcPts val="0"/>
              </a:spcBef>
              <a:spcAft>
                <a:spcPts val="0"/>
              </a:spcAft>
              <a:buClr>
                <a:schemeClr val="dk1"/>
              </a:buClr>
              <a:buSzPts val="1400"/>
              <a:buChar char="◆"/>
            </a:pPr>
            <a:r>
              <a:rPr lang="en">
                <a:solidFill>
                  <a:schemeClr val="dk1"/>
                </a:solidFill>
              </a:rPr>
              <a:t>For a pair of increment and decrement operations,</a:t>
            </a:r>
            <a:endParaRPr>
              <a:solidFill>
                <a:schemeClr val="dk1"/>
              </a:solidFill>
            </a:endParaRPr>
          </a:p>
          <a:p>
            <a:pPr marL="1371600" lvl="2" indent="-317500" algn="l" rtl="0">
              <a:spcBef>
                <a:spcPts val="0"/>
              </a:spcBef>
              <a:spcAft>
                <a:spcPts val="0"/>
              </a:spcAft>
              <a:buClr>
                <a:schemeClr val="dk1"/>
              </a:buClr>
              <a:buSzPts val="1400"/>
              <a:buChar char="●"/>
            </a:pPr>
            <a:r>
              <a:rPr lang="en">
                <a:solidFill>
                  <a:schemeClr val="dk1"/>
                </a:solidFill>
              </a:rPr>
              <a:t>Both successfully execute, net effect,  x = 0</a:t>
            </a:r>
            <a:endParaRPr>
              <a:solidFill>
                <a:schemeClr val="dk1"/>
              </a:solidFill>
            </a:endParaRPr>
          </a:p>
          <a:p>
            <a:pPr marL="1371600" lvl="2" indent="-317500" algn="l" rtl="0">
              <a:spcBef>
                <a:spcPts val="0"/>
              </a:spcBef>
              <a:spcAft>
                <a:spcPts val="0"/>
              </a:spcAft>
              <a:buClr>
                <a:schemeClr val="dk1"/>
              </a:buClr>
              <a:buSzPts val="1400"/>
              <a:buChar char="●"/>
            </a:pPr>
            <a:r>
              <a:rPr lang="en">
                <a:solidFill>
                  <a:schemeClr val="dk1"/>
                </a:solidFill>
              </a:rPr>
              <a:t>Increment overwrites decrements, net effect is +1</a:t>
            </a:r>
            <a:endParaRPr>
              <a:solidFill>
                <a:schemeClr val="dk1"/>
              </a:solidFill>
            </a:endParaRPr>
          </a:p>
          <a:p>
            <a:pPr marL="1371600" lvl="2" indent="-317500" algn="l" rtl="0">
              <a:spcBef>
                <a:spcPts val="0"/>
              </a:spcBef>
              <a:spcAft>
                <a:spcPts val="0"/>
              </a:spcAft>
              <a:buClr>
                <a:schemeClr val="dk1"/>
              </a:buClr>
              <a:buSzPts val="1400"/>
              <a:buChar char="●"/>
            </a:pPr>
            <a:r>
              <a:rPr lang="en">
                <a:solidFill>
                  <a:schemeClr val="dk1"/>
                </a:solidFill>
              </a:rPr>
              <a:t>Decrement overwrites increment, net effect is -1</a:t>
            </a:r>
            <a:endParaRPr>
              <a:solidFill>
                <a:schemeClr val="dk1"/>
              </a:solidFill>
            </a:endParaRPr>
          </a:p>
          <a:p>
            <a:pPr marL="914400" lvl="1" indent="-317500" algn="l" rtl="0">
              <a:spcBef>
                <a:spcPts val="0"/>
              </a:spcBef>
              <a:spcAft>
                <a:spcPts val="0"/>
              </a:spcAft>
              <a:buClr>
                <a:schemeClr val="dk1"/>
              </a:buClr>
              <a:buSzPts val="1400"/>
              <a:buChar char="◆"/>
            </a:pPr>
            <a:r>
              <a:rPr lang="en">
                <a:solidFill>
                  <a:schemeClr val="dk1"/>
                </a:solidFill>
              </a:rPr>
              <a:t>There are 10 such pairs, therefore -10 &lt;= x &lt;= 10</a:t>
            </a:r>
            <a:endParaRPr>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9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9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90">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90">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90">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90">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90">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90">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90">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90">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4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Q15. ISI MTech 2010</a:t>
            </a:r>
            <a:endParaRPr/>
          </a:p>
        </p:txBody>
      </p:sp>
      <p:sp>
        <p:nvSpPr>
          <p:cNvPr id="296" name="Google Shape;296;p4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2500">
                <a:solidFill>
                  <a:schemeClr val="dk1"/>
                </a:solidFill>
                <a:latin typeface="Times New Roman"/>
                <a:ea typeface="Times New Roman"/>
                <a:cs typeface="Times New Roman"/>
                <a:sym typeface="Times New Roman"/>
              </a:rPr>
              <a:t>Consider the first readers-writers problem (where </a:t>
            </a:r>
            <a:r>
              <a:rPr lang="en" sz="2500" b="1">
                <a:solidFill>
                  <a:schemeClr val="dk1"/>
                </a:solidFill>
                <a:latin typeface="Times New Roman"/>
                <a:ea typeface="Times New Roman"/>
                <a:cs typeface="Times New Roman"/>
                <a:sym typeface="Times New Roman"/>
              </a:rPr>
              <a:t>readers have priorit</a:t>
            </a:r>
            <a:r>
              <a:rPr lang="en" sz="2500">
                <a:solidFill>
                  <a:schemeClr val="dk1"/>
                </a:solidFill>
                <a:latin typeface="Times New Roman"/>
                <a:ea typeface="Times New Roman"/>
                <a:cs typeface="Times New Roman"/>
                <a:sym typeface="Times New Roman"/>
              </a:rPr>
              <a:t>y). Suppose that the readers and writers use semaphores to synchronise their operation. Write the algorithm/pseudo-code for the reader and writer processes.</a:t>
            </a:r>
            <a:endParaRPr sz="2500">
              <a:solidFill>
                <a:schemeClr val="dk1"/>
              </a:solidFill>
              <a:latin typeface="Times New Roman"/>
              <a:ea typeface="Times New Roman"/>
              <a:cs typeface="Times New Roman"/>
              <a:sym typeface="Times New Roman"/>
            </a:endParaRPr>
          </a:p>
          <a:p>
            <a:pPr marL="0" lvl="0" indent="0" algn="l" rtl="0">
              <a:spcBef>
                <a:spcPts val="1200"/>
              </a:spcBef>
              <a:spcAft>
                <a:spcPts val="0"/>
              </a:spcAft>
              <a:buClr>
                <a:schemeClr val="dk1"/>
              </a:buClr>
              <a:buSzPts val="1100"/>
              <a:buFont typeface="Arial"/>
              <a:buNone/>
            </a:pPr>
            <a:r>
              <a:rPr lang="en" sz="2500">
                <a:solidFill>
                  <a:schemeClr val="dk1"/>
                </a:solidFill>
                <a:latin typeface="Times New Roman"/>
                <a:ea typeface="Times New Roman"/>
                <a:cs typeface="Times New Roman"/>
                <a:sym typeface="Times New Roman"/>
              </a:rPr>
              <a:t>Explain whether your solution satisfies the</a:t>
            </a:r>
            <a:r>
              <a:rPr lang="en" sz="2500" b="1">
                <a:solidFill>
                  <a:schemeClr val="dk1"/>
                </a:solidFill>
                <a:latin typeface="Times New Roman"/>
                <a:ea typeface="Times New Roman"/>
                <a:cs typeface="Times New Roman"/>
                <a:sym typeface="Times New Roman"/>
              </a:rPr>
              <a:t> bounded-waiting property.</a:t>
            </a:r>
            <a:endParaRPr sz="2500" b="1">
              <a:solidFill>
                <a:schemeClr val="dk1"/>
              </a:solidFill>
              <a:latin typeface="Times New Roman"/>
              <a:ea typeface="Times New Roman"/>
              <a:cs typeface="Times New Roman"/>
              <a:sym typeface="Times New Roman"/>
            </a:endParaRPr>
          </a:p>
          <a:p>
            <a:pPr marL="0" lvl="0" indent="0" algn="l" rtl="0">
              <a:spcBef>
                <a:spcPts val="1200"/>
              </a:spcBef>
              <a:spcAft>
                <a:spcPts val="1200"/>
              </a:spcAft>
              <a:buNone/>
            </a:pPr>
            <a:endParaRPr sz="2500">
              <a:solidFill>
                <a:schemeClr val="dk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4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Solution </a:t>
            </a:r>
            <a:endParaRPr/>
          </a:p>
        </p:txBody>
      </p:sp>
      <p:sp>
        <p:nvSpPr>
          <p:cNvPr id="302" name="Google Shape;302;p42"/>
          <p:cNvSpPr txBox="1">
            <a:spLocks noGrp="1"/>
          </p:cNvSpPr>
          <p:nvPr>
            <p:ph type="body" idx="1"/>
          </p:nvPr>
        </p:nvSpPr>
        <p:spPr>
          <a:xfrm>
            <a:off x="311700" y="1152475"/>
            <a:ext cx="8520600" cy="1857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2500">
                <a:solidFill>
                  <a:schemeClr val="dk1"/>
                </a:solidFill>
                <a:latin typeface="Times New Roman"/>
                <a:ea typeface="Times New Roman"/>
                <a:cs typeface="Times New Roman"/>
                <a:sym typeface="Times New Roman"/>
              </a:rPr>
              <a:t>semaphore wrt = 1;            // controls access to shared resource</a:t>
            </a:r>
            <a:endParaRPr sz="2500">
              <a:solidFill>
                <a:schemeClr val="dk1"/>
              </a:solidFill>
              <a:latin typeface="Times New Roman"/>
              <a:ea typeface="Times New Roman"/>
              <a:cs typeface="Times New Roman"/>
              <a:sym typeface="Times New Roman"/>
            </a:endParaRPr>
          </a:p>
          <a:p>
            <a:pPr marL="0" lvl="0" indent="0" algn="l" rtl="0">
              <a:spcBef>
                <a:spcPts val="1200"/>
              </a:spcBef>
              <a:spcAft>
                <a:spcPts val="0"/>
              </a:spcAft>
              <a:buNone/>
            </a:pPr>
            <a:r>
              <a:rPr lang="en" sz="2500">
                <a:solidFill>
                  <a:schemeClr val="dk1"/>
                </a:solidFill>
                <a:latin typeface="Times New Roman"/>
                <a:ea typeface="Times New Roman"/>
                <a:cs typeface="Times New Roman"/>
                <a:sym typeface="Times New Roman"/>
              </a:rPr>
              <a:t>int readcount = 0;              // number of active readers</a:t>
            </a:r>
            <a:endParaRPr sz="2500">
              <a:solidFill>
                <a:schemeClr val="dk1"/>
              </a:solidFill>
              <a:latin typeface="Times New Roman"/>
              <a:ea typeface="Times New Roman"/>
              <a:cs typeface="Times New Roman"/>
              <a:sym typeface="Times New Roman"/>
            </a:endParaRPr>
          </a:p>
          <a:p>
            <a:pPr marL="0" lvl="0" indent="0" algn="l" rtl="0">
              <a:spcBef>
                <a:spcPts val="1200"/>
              </a:spcBef>
              <a:spcAft>
                <a:spcPts val="1200"/>
              </a:spcAft>
              <a:buNone/>
            </a:pPr>
            <a:r>
              <a:rPr lang="en" sz="2500">
                <a:solidFill>
                  <a:schemeClr val="dk1"/>
                </a:solidFill>
                <a:latin typeface="Times New Roman"/>
                <a:ea typeface="Times New Roman"/>
                <a:cs typeface="Times New Roman"/>
                <a:sym typeface="Times New Roman"/>
              </a:rPr>
              <a:t>semaphore mutex = 1;      // protects readcount</a:t>
            </a:r>
            <a:endParaRPr sz="2500">
              <a:solidFill>
                <a:schemeClr val="dk1"/>
              </a:solidFill>
              <a:latin typeface="Times New Roman"/>
              <a:ea typeface="Times New Roman"/>
              <a:cs typeface="Times New Roman"/>
              <a:sym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43"/>
          <p:cNvSpPr txBox="1">
            <a:spLocks noGrp="1"/>
          </p:cNvSpPr>
          <p:nvPr>
            <p:ph type="title"/>
          </p:nvPr>
        </p:nvSpPr>
        <p:spPr>
          <a:xfrm>
            <a:off x="311700" y="1241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Solution </a:t>
            </a:r>
            <a:endParaRPr/>
          </a:p>
        </p:txBody>
      </p:sp>
      <p:sp>
        <p:nvSpPr>
          <p:cNvPr id="308" name="Google Shape;308;p43"/>
          <p:cNvSpPr txBox="1">
            <a:spLocks noGrp="1"/>
          </p:cNvSpPr>
          <p:nvPr>
            <p:ph type="body" idx="1"/>
          </p:nvPr>
        </p:nvSpPr>
        <p:spPr>
          <a:xfrm>
            <a:off x="311700" y="696875"/>
            <a:ext cx="4503300" cy="43581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700" b="1">
                <a:solidFill>
                  <a:schemeClr val="dk1"/>
                </a:solidFill>
                <a:latin typeface="Times New Roman"/>
                <a:ea typeface="Times New Roman"/>
                <a:cs typeface="Times New Roman"/>
                <a:sym typeface="Times New Roman"/>
              </a:rPr>
              <a:t>Reader() {</a:t>
            </a:r>
            <a:endParaRPr sz="1700" b="1">
              <a:solidFill>
                <a:schemeClr val="dk1"/>
              </a:solidFill>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1700">
                <a:solidFill>
                  <a:schemeClr val="dk1"/>
                </a:solidFill>
                <a:latin typeface="Times New Roman"/>
                <a:ea typeface="Times New Roman"/>
                <a:cs typeface="Times New Roman"/>
                <a:sym typeface="Times New Roman"/>
              </a:rPr>
              <a:t>    wait(mutex);</a:t>
            </a:r>
            <a:endParaRPr sz="1700">
              <a:solidFill>
                <a:schemeClr val="dk1"/>
              </a:solidFill>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1700">
                <a:solidFill>
                  <a:schemeClr val="dk1"/>
                </a:solidFill>
                <a:latin typeface="Times New Roman"/>
                <a:ea typeface="Times New Roman"/>
                <a:cs typeface="Times New Roman"/>
                <a:sym typeface="Times New Roman"/>
              </a:rPr>
              <a:t>    readcount++;</a:t>
            </a:r>
            <a:endParaRPr sz="1700">
              <a:solidFill>
                <a:schemeClr val="dk1"/>
              </a:solidFill>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1700">
                <a:solidFill>
                  <a:schemeClr val="dk1"/>
                </a:solidFill>
                <a:latin typeface="Times New Roman"/>
                <a:ea typeface="Times New Roman"/>
                <a:cs typeface="Times New Roman"/>
                <a:sym typeface="Times New Roman"/>
              </a:rPr>
              <a:t>    if (readcount == 1)</a:t>
            </a:r>
            <a:endParaRPr sz="1700">
              <a:solidFill>
                <a:schemeClr val="dk1"/>
              </a:solidFill>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1700">
                <a:solidFill>
                  <a:schemeClr val="dk1"/>
                </a:solidFill>
                <a:latin typeface="Times New Roman"/>
                <a:ea typeface="Times New Roman"/>
                <a:cs typeface="Times New Roman"/>
                <a:sym typeface="Times New Roman"/>
              </a:rPr>
              <a:t>        wait(wrt);        // first reader blocks writers</a:t>
            </a:r>
            <a:endParaRPr sz="1700">
              <a:solidFill>
                <a:schemeClr val="dk1"/>
              </a:solidFill>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1700">
                <a:solidFill>
                  <a:schemeClr val="dk1"/>
                </a:solidFill>
                <a:latin typeface="Times New Roman"/>
                <a:ea typeface="Times New Roman"/>
                <a:cs typeface="Times New Roman"/>
                <a:sym typeface="Times New Roman"/>
              </a:rPr>
              <a:t>    signal(mutex);</a:t>
            </a:r>
            <a:endParaRPr sz="1700">
              <a:solidFill>
                <a:schemeClr val="dk1"/>
              </a:solidFill>
              <a:latin typeface="Times New Roman"/>
              <a:ea typeface="Times New Roman"/>
              <a:cs typeface="Times New Roman"/>
              <a:sym typeface="Times New Roman"/>
            </a:endParaRPr>
          </a:p>
          <a:p>
            <a:pPr marL="0" lvl="0" indent="0" algn="l" rtl="0">
              <a:lnSpc>
                <a:spcPct val="100000"/>
              </a:lnSpc>
              <a:spcBef>
                <a:spcPts val="0"/>
              </a:spcBef>
              <a:spcAft>
                <a:spcPts val="0"/>
              </a:spcAft>
              <a:buNone/>
            </a:pPr>
            <a:endParaRPr sz="1700">
              <a:solidFill>
                <a:schemeClr val="dk1"/>
              </a:solidFill>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1700">
                <a:solidFill>
                  <a:schemeClr val="dk1"/>
                </a:solidFill>
                <a:latin typeface="Times New Roman"/>
                <a:ea typeface="Times New Roman"/>
                <a:cs typeface="Times New Roman"/>
                <a:sym typeface="Times New Roman"/>
              </a:rPr>
              <a:t>    // --- Reading (CS) —</a:t>
            </a:r>
            <a:endParaRPr sz="1700">
              <a:solidFill>
                <a:schemeClr val="dk1"/>
              </a:solidFill>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1700">
                <a:solidFill>
                  <a:schemeClr val="dk1"/>
                </a:solidFill>
                <a:latin typeface="Times New Roman"/>
                <a:ea typeface="Times New Roman"/>
                <a:cs typeface="Times New Roman"/>
                <a:sym typeface="Times New Roman"/>
              </a:rPr>
              <a:t>    read();</a:t>
            </a:r>
            <a:endParaRPr sz="1700">
              <a:solidFill>
                <a:schemeClr val="dk1"/>
              </a:solidFill>
              <a:latin typeface="Times New Roman"/>
              <a:ea typeface="Times New Roman"/>
              <a:cs typeface="Times New Roman"/>
              <a:sym typeface="Times New Roman"/>
            </a:endParaRPr>
          </a:p>
          <a:p>
            <a:pPr marL="0" lvl="0" indent="0" algn="l" rtl="0">
              <a:lnSpc>
                <a:spcPct val="100000"/>
              </a:lnSpc>
              <a:spcBef>
                <a:spcPts val="0"/>
              </a:spcBef>
              <a:spcAft>
                <a:spcPts val="0"/>
              </a:spcAft>
              <a:buNone/>
            </a:pPr>
            <a:endParaRPr sz="1700">
              <a:solidFill>
                <a:schemeClr val="dk1"/>
              </a:solidFill>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1700">
                <a:solidFill>
                  <a:schemeClr val="dk1"/>
                </a:solidFill>
                <a:latin typeface="Times New Roman"/>
                <a:ea typeface="Times New Roman"/>
                <a:cs typeface="Times New Roman"/>
                <a:sym typeface="Times New Roman"/>
              </a:rPr>
              <a:t>    wait(mutex);</a:t>
            </a:r>
            <a:endParaRPr sz="1700">
              <a:solidFill>
                <a:schemeClr val="dk1"/>
              </a:solidFill>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1700">
                <a:solidFill>
                  <a:schemeClr val="dk1"/>
                </a:solidFill>
                <a:latin typeface="Times New Roman"/>
                <a:ea typeface="Times New Roman"/>
                <a:cs typeface="Times New Roman"/>
                <a:sym typeface="Times New Roman"/>
              </a:rPr>
              <a:t>    readcount--;</a:t>
            </a:r>
            <a:endParaRPr sz="1700">
              <a:solidFill>
                <a:schemeClr val="dk1"/>
              </a:solidFill>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1700">
                <a:solidFill>
                  <a:schemeClr val="dk1"/>
                </a:solidFill>
                <a:latin typeface="Times New Roman"/>
                <a:ea typeface="Times New Roman"/>
                <a:cs typeface="Times New Roman"/>
                <a:sym typeface="Times New Roman"/>
              </a:rPr>
              <a:t>    if (readcount == 0)</a:t>
            </a:r>
            <a:endParaRPr sz="1700">
              <a:solidFill>
                <a:schemeClr val="dk1"/>
              </a:solidFill>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1700">
                <a:solidFill>
                  <a:schemeClr val="dk1"/>
                </a:solidFill>
                <a:latin typeface="Times New Roman"/>
                <a:ea typeface="Times New Roman"/>
                <a:cs typeface="Times New Roman"/>
                <a:sym typeface="Times New Roman"/>
              </a:rPr>
              <a:t>        signal(wrt);      // last reader allows writers</a:t>
            </a:r>
            <a:endParaRPr sz="1700">
              <a:solidFill>
                <a:schemeClr val="dk1"/>
              </a:solidFill>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1700">
                <a:solidFill>
                  <a:schemeClr val="dk1"/>
                </a:solidFill>
                <a:latin typeface="Times New Roman"/>
                <a:ea typeface="Times New Roman"/>
                <a:cs typeface="Times New Roman"/>
                <a:sym typeface="Times New Roman"/>
              </a:rPr>
              <a:t>    signal(mutex);</a:t>
            </a:r>
            <a:endParaRPr sz="1700">
              <a:solidFill>
                <a:schemeClr val="dk1"/>
              </a:solidFill>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1700" b="1">
                <a:solidFill>
                  <a:schemeClr val="dk1"/>
                </a:solidFill>
                <a:latin typeface="Times New Roman"/>
                <a:ea typeface="Times New Roman"/>
                <a:cs typeface="Times New Roman"/>
                <a:sym typeface="Times New Roman"/>
              </a:rPr>
              <a:t>}</a:t>
            </a:r>
            <a:endParaRPr sz="1700" b="1">
              <a:solidFill>
                <a:schemeClr val="dk1"/>
              </a:solidFill>
              <a:latin typeface="Times New Roman"/>
              <a:ea typeface="Times New Roman"/>
              <a:cs typeface="Times New Roman"/>
              <a:sym typeface="Times New Roman"/>
            </a:endParaRPr>
          </a:p>
          <a:p>
            <a:pPr marL="0" lvl="0" indent="0" algn="l" rtl="0">
              <a:lnSpc>
                <a:spcPct val="100000"/>
              </a:lnSpc>
              <a:spcBef>
                <a:spcPts val="0"/>
              </a:spcBef>
              <a:spcAft>
                <a:spcPts val="0"/>
              </a:spcAft>
              <a:buNone/>
            </a:pPr>
            <a:endParaRPr sz="1700">
              <a:solidFill>
                <a:schemeClr val="dk1"/>
              </a:solidFill>
              <a:latin typeface="Times New Roman"/>
              <a:ea typeface="Times New Roman"/>
              <a:cs typeface="Times New Roman"/>
              <a:sym typeface="Times New Roman"/>
            </a:endParaRPr>
          </a:p>
          <a:p>
            <a:pPr marL="0" lvl="0" indent="0" algn="l" rtl="0">
              <a:lnSpc>
                <a:spcPct val="100000"/>
              </a:lnSpc>
              <a:spcBef>
                <a:spcPts val="0"/>
              </a:spcBef>
              <a:spcAft>
                <a:spcPts val="0"/>
              </a:spcAft>
              <a:buNone/>
            </a:pPr>
            <a:endParaRPr sz="1700">
              <a:solidFill>
                <a:schemeClr val="dk1"/>
              </a:solidFill>
              <a:latin typeface="Times New Roman"/>
              <a:ea typeface="Times New Roman"/>
              <a:cs typeface="Times New Roman"/>
              <a:sym typeface="Times New Roman"/>
            </a:endParaRPr>
          </a:p>
        </p:txBody>
      </p:sp>
      <p:sp>
        <p:nvSpPr>
          <p:cNvPr id="309" name="Google Shape;309;p43"/>
          <p:cNvSpPr txBox="1"/>
          <p:nvPr/>
        </p:nvSpPr>
        <p:spPr>
          <a:xfrm>
            <a:off x="5196400" y="559050"/>
            <a:ext cx="2957700" cy="2801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 sz="1700" b="1">
                <a:solidFill>
                  <a:schemeClr val="dk1"/>
                </a:solidFill>
                <a:latin typeface="Times New Roman"/>
                <a:ea typeface="Times New Roman"/>
                <a:cs typeface="Times New Roman"/>
                <a:sym typeface="Times New Roman"/>
              </a:rPr>
              <a:t>Writer() {</a:t>
            </a:r>
            <a:endParaRPr sz="17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 sz="1700">
                <a:solidFill>
                  <a:schemeClr val="dk1"/>
                </a:solidFill>
                <a:latin typeface="Times New Roman"/>
                <a:ea typeface="Times New Roman"/>
                <a:cs typeface="Times New Roman"/>
                <a:sym typeface="Times New Roman"/>
              </a:rPr>
              <a:t>    wait(wrt);</a:t>
            </a:r>
            <a:endParaRPr sz="17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endParaRPr sz="17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 sz="1700">
                <a:solidFill>
                  <a:schemeClr val="dk1"/>
                </a:solidFill>
                <a:latin typeface="Times New Roman"/>
                <a:ea typeface="Times New Roman"/>
                <a:cs typeface="Times New Roman"/>
                <a:sym typeface="Times New Roman"/>
              </a:rPr>
              <a:t>    // --- Writing (CS) ---</a:t>
            </a:r>
            <a:endParaRPr sz="17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1700">
                <a:solidFill>
                  <a:schemeClr val="dk1"/>
                </a:solidFill>
                <a:latin typeface="Times New Roman"/>
                <a:ea typeface="Times New Roman"/>
                <a:cs typeface="Times New Roman"/>
                <a:sym typeface="Times New Roman"/>
              </a:rPr>
              <a:t>    write();</a:t>
            </a:r>
            <a:endParaRPr sz="17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endParaRPr sz="17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 sz="1700">
                <a:solidFill>
                  <a:schemeClr val="dk1"/>
                </a:solidFill>
                <a:latin typeface="Times New Roman"/>
                <a:ea typeface="Times New Roman"/>
                <a:cs typeface="Times New Roman"/>
                <a:sym typeface="Times New Roman"/>
              </a:rPr>
              <a:t>    signal(wrt);</a:t>
            </a:r>
            <a:endParaRPr sz="17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 sz="1700" b="1">
                <a:solidFill>
                  <a:schemeClr val="dk1"/>
                </a:solidFill>
                <a:latin typeface="Times New Roman"/>
                <a:ea typeface="Times New Roman"/>
                <a:cs typeface="Times New Roman"/>
                <a:sym typeface="Times New Roman"/>
              </a:rPr>
              <a:t>}</a:t>
            </a:r>
            <a:endParaRPr sz="1700" b="1">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endParaRPr sz="17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sz="1700">
              <a:solidFill>
                <a:schemeClr val="dk1"/>
              </a:solidFill>
              <a:latin typeface="Times New Roman"/>
              <a:ea typeface="Times New Roman"/>
              <a:cs typeface="Times New Roman"/>
              <a:sym typeface="Times New Roman"/>
            </a:endParaRPr>
          </a:p>
        </p:txBody>
      </p:sp>
      <p:sp>
        <p:nvSpPr>
          <p:cNvPr id="310" name="Google Shape;310;p43"/>
          <p:cNvSpPr txBox="1"/>
          <p:nvPr/>
        </p:nvSpPr>
        <p:spPr>
          <a:xfrm>
            <a:off x="4815000" y="3576825"/>
            <a:ext cx="4415400" cy="1231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b="1" dirty="0">
                <a:solidFill>
                  <a:schemeClr val="dk1"/>
                </a:solidFill>
                <a:latin typeface="Times New Roman"/>
                <a:ea typeface="Times New Roman"/>
                <a:cs typeface="Times New Roman"/>
                <a:sym typeface="Times New Roman"/>
              </a:rPr>
              <a:t>Bounded Waiting: </a:t>
            </a:r>
            <a:r>
              <a:rPr lang="en" sz="1700" dirty="0">
                <a:solidFill>
                  <a:schemeClr val="dk1"/>
                </a:solidFill>
                <a:latin typeface="Times New Roman"/>
                <a:ea typeface="Times New Roman"/>
                <a:cs typeface="Times New Roman"/>
                <a:sym typeface="Times New Roman"/>
              </a:rPr>
              <a:t>Not satisfied as a writer might have to wait when the readers keep on coming, making the wait time for writer unbounded.</a:t>
            </a:r>
            <a:endParaRPr sz="1700" dirty="0">
              <a:solidFill>
                <a:schemeClr val="dk1"/>
              </a:solidFill>
              <a:latin typeface="Times New Roman"/>
              <a:ea typeface="Times New Roman"/>
              <a:cs typeface="Times New Roman"/>
              <a:sym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4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Q16. ISI MTech 2012</a:t>
            </a:r>
            <a:endParaRPr/>
          </a:p>
        </p:txBody>
      </p:sp>
      <p:sp>
        <p:nvSpPr>
          <p:cNvPr id="316" name="Google Shape;316;p4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85000" lnSpcReduction="20000"/>
          </a:bodyPr>
          <a:lstStyle/>
          <a:p>
            <a:pPr marL="0" lvl="0" indent="0" algn="l" rtl="0">
              <a:lnSpc>
                <a:spcPct val="100000"/>
              </a:lnSpc>
              <a:spcBef>
                <a:spcPts val="0"/>
              </a:spcBef>
              <a:spcAft>
                <a:spcPts val="0"/>
              </a:spcAft>
              <a:buClr>
                <a:schemeClr val="dk1"/>
              </a:buClr>
              <a:buSzPct val="61111"/>
              <a:buFont typeface="Arial"/>
              <a:buNone/>
            </a:pPr>
            <a:r>
              <a:rPr lang="en">
                <a:solidFill>
                  <a:schemeClr val="dk1"/>
                </a:solidFill>
                <a:latin typeface="Times New Roman"/>
                <a:ea typeface="Times New Roman"/>
                <a:cs typeface="Times New Roman"/>
                <a:sym typeface="Times New Roman"/>
              </a:rPr>
              <a:t>Consider the following solution to the standard Dining Philosophers problem.</a:t>
            </a:r>
            <a:endParaRPr>
              <a:solidFill>
                <a:schemeClr val="dk1"/>
              </a:solidFill>
              <a:latin typeface="Times New Roman"/>
              <a:ea typeface="Times New Roman"/>
              <a:cs typeface="Times New Roman"/>
              <a:sym typeface="Times New Roman"/>
            </a:endParaRPr>
          </a:p>
          <a:p>
            <a:pPr marL="0" lvl="0" indent="457200" algn="l" rtl="0">
              <a:lnSpc>
                <a:spcPct val="100000"/>
              </a:lnSpc>
              <a:spcBef>
                <a:spcPts val="1200"/>
              </a:spcBef>
              <a:spcAft>
                <a:spcPts val="0"/>
              </a:spcAft>
              <a:buClr>
                <a:schemeClr val="dk1"/>
              </a:buClr>
              <a:buSzPct val="61111"/>
              <a:buFont typeface="Arial"/>
              <a:buNone/>
            </a:pPr>
            <a:r>
              <a:rPr lang="en">
                <a:solidFill>
                  <a:schemeClr val="dk1"/>
                </a:solidFill>
                <a:latin typeface="Times New Roman"/>
                <a:ea typeface="Times New Roman"/>
                <a:cs typeface="Times New Roman"/>
                <a:sym typeface="Times New Roman"/>
              </a:rPr>
              <a:t>semaphore chopstick[5] = {1,1,1,1,1};</a:t>
            </a:r>
            <a:endParaRPr>
              <a:solidFill>
                <a:schemeClr val="dk1"/>
              </a:solidFill>
              <a:latin typeface="Times New Roman"/>
              <a:ea typeface="Times New Roman"/>
              <a:cs typeface="Times New Roman"/>
              <a:sym typeface="Times New Roman"/>
            </a:endParaRPr>
          </a:p>
          <a:p>
            <a:pPr marL="457200" lvl="0" indent="0" algn="l" rtl="0">
              <a:lnSpc>
                <a:spcPct val="100000"/>
              </a:lnSpc>
              <a:spcBef>
                <a:spcPts val="1200"/>
              </a:spcBef>
              <a:spcAft>
                <a:spcPts val="0"/>
              </a:spcAft>
              <a:buClr>
                <a:schemeClr val="dk1"/>
              </a:buClr>
              <a:buSzPct val="61111"/>
              <a:buFont typeface="Arial"/>
              <a:buNone/>
            </a:pPr>
            <a:r>
              <a:rPr lang="en">
                <a:solidFill>
                  <a:schemeClr val="dk1"/>
                </a:solidFill>
                <a:latin typeface="Times New Roman"/>
                <a:ea typeface="Times New Roman"/>
                <a:cs typeface="Times New Roman"/>
                <a:sym typeface="Times New Roman"/>
              </a:rPr>
              <a:t>while (1) {</a:t>
            </a:r>
            <a:endParaRPr>
              <a:solidFill>
                <a:schemeClr val="dk1"/>
              </a:solidFill>
              <a:latin typeface="Times New Roman"/>
              <a:ea typeface="Times New Roman"/>
              <a:cs typeface="Times New Roman"/>
              <a:sym typeface="Times New Roman"/>
            </a:endParaRPr>
          </a:p>
          <a:p>
            <a:pPr marL="457200" lvl="0" indent="457200" algn="l" rtl="0">
              <a:lnSpc>
                <a:spcPct val="100000"/>
              </a:lnSpc>
              <a:spcBef>
                <a:spcPts val="1200"/>
              </a:spcBef>
              <a:spcAft>
                <a:spcPts val="0"/>
              </a:spcAft>
              <a:buClr>
                <a:schemeClr val="dk1"/>
              </a:buClr>
              <a:buSzPct val="61111"/>
              <a:buFont typeface="Arial"/>
              <a:buNone/>
            </a:pPr>
            <a:r>
              <a:rPr lang="en">
                <a:solidFill>
                  <a:schemeClr val="dk1"/>
                </a:solidFill>
                <a:latin typeface="Times New Roman"/>
                <a:ea typeface="Times New Roman"/>
                <a:cs typeface="Times New Roman"/>
                <a:sym typeface="Times New Roman"/>
              </a:rPr>
              <a:t>think();</a:t>
            </a:r>
            <a:endParaRPr>
              <a:solidFill>
                <a:schemeClr val="dk1"/>
              </a:solidFill>
              <a:latin typeface="Times New Roman"/>
              <a:ea typeface="Times New Roman"/>
              <a:cs typeface="Times New Roman"/>
              <a:sym typeface="Times New Roman"/>
            </a:endParaRPr>
          </a:p>
          <a:p>
            <a:pPr marL="914400" lvl="0" indent="0" algn="l" rtl="0">
              <a:lnSpc>
                <a:spcPct val="100000"/>
              </a:lnSpc>
              <a:spcBef>
                <a:spcPts val="1200"/>
              </a:spcBef>
              <a:spcAft>
                <a:spcPts val="0"/>
              </a:spcAft>
              <a:buClr>
                <a:schemeClr val="dk1"/>
              </a:buClr>
              <a:buSzPct val="61111"/>
              <a:buFont typeface="Arial"/>
              <a:buNone/>
            </a:pPr>
            <a:r>
              <a:rPr lang="en">
                <a:solidFill>
                  <a:schemeClr val="dk1"/>
                </a:solidFill>
                <a:latin typeface="Times New Roman"/>
                <a:ea typeface="Times New Roman"/>
                <a:cs typeface="Times New Roman"/>
                <a:sym typeface="Times New Roman"/>
              </a:rPr>
              <a:t>wait(chopstick[i]); wait(chopstick[(i+1) % 5]);</a:t>
            </a:r>
            <a:endParaRPr>
              <a:solidFill>
                <a:schemeClr val="dk1"/>
              </a:solidFill>
              <a:latin typeface="Times New Roman"/>
              <a:ea typeface="Times New Roman"/>
              <a:cs typeface="Times New Roman"/>
              <a:sym typeface="Times New Roman"/>
            </a:endParaRPr>
          </a:p>
          <a:p>
            <a:pPr marL="914400" lvl="0" indent="0" algn="l" rtl="0">
              <a:lnSpc>
                <a:spcPct val="100000"/>
              </a:lnSpc>
              <a:spcBef>
                <a:spcPts val="0"/>
              </a:spcBef>
              <a:spcAft>
                <a:spcPts val="0"/>
              </a:spcAft>
              <a:buClr>
                <a:schemeClr val="dk1"/>
              </a:buClr>
              <a:buSzPct val="61111"/>
              <a:buFont typeface="Arial"/>
              <a:buNone/>
            </a:pPr>
            <a:r>
              <a:rPr lang="en">
                <a:solidFill>
                  <a:schemeClr val="dk1"/>
                </a:solidFill>
                <a:latin typeface="Times New Roman"/>
                <a:ea typeface="Times New Roman"/>
                <a:cs typeface="Times New Roman"/>
                <a:sym typeface="Times New Roman"/>
              </a:rPr>
              <a:t>eat();</a:t>
            </a:r>
            <a:endParaRPr>
              <a:solidFill>
                <a:schemeClr val="dk1"/>
              </a:solidFill>
              <a:latin typeface="Times New Roman"/>
              <a:ea typeface="Times New Roman"/>
              <a:cs typeface="Times New Roman"/>
              <a:sym typeface="Times New Roman"/>
            </a:endParaRPr>
          </a:p>
          <a:p>
            <a:pPr marL="914400" lvl="0" indent="0" algn="l" rtl="0">
              <a:lnSpc>
                <a:spcPct val="100000"/>
              </a:lnSpc>
              <a:spcBef>
                <a:spcPts val="0"/>
              </a:spcBef>
              <a:spcAft>
                <a:spcPts val="0"/>
              </a:spcAft>
              <a:buClr>
                <a:schemeClr val="dk1"/>
              </a:buClr>
              <a:buSzPct val="61111"/>
              <a:buFont typeface="Arial"/>
              <a:buNone/>
            </a:pPr>
            <a:r>
              <a:rPr lang="en">
                <a:solidFill>
                  <a:schemeClr val="dk1"/>
                </a:solidFill>
                <a:latin typeface="Times New Roman"/>
                <a:ea typeface="Times New Roman"/>
                <a:cs typeface="Times New Roman"/>
                <a:sym typeface="Times New Roman"/>
              </a:rPr>
              <a:t>signal(chopstick[i]); signal(chopstick[(i+1) % 5]);</a:t>
            </a:r>
            <a:endParaRPr>
              <a:solidFill>
                <a:schemeClr val="dk1"/>
              </a:solidFill>
              <a:latin typeface="Times New Roman"/>
              <a:ea typeface="Times New Roman"/>
              <a:cs typeface="Times New Roman"/>
              <a:sym typeface="Times New Roman"/>
            </a:endParaRPr>
          </a:p>
          <a:p>
            <a:pPr marL="457200" lvl="0" indent="0" algn="l" rtl="0">
              <a:lnSpc>
                <a:spcPct val="100000"/>
              </a:lnSpc>
              <a:spcBef>
                <a:spcPts val="0"/>
              </a:spcBef>
              <a:spcAft>
                <a:spcPts val="0"/>
              </a:spcAft>
              <a:buClr>
                <a:schemeClr val="dk1"/>
              </a:buClr>
              <a:buSzPct val="61111"/>
              <a:buFont typeface="Arial"/>
              <a:buNone/>
            </a:pPr>
            <a:r>
              <a:rPr lang="en">
                <a:solidFill>
                  <a:schemeClr val="dk1"/>
                </a:solidFill>
                <a:latin typeface="Times New Roman"/>
                <a:ea typeface="Times New Roman"/>
                <a:cs typeface="Times New Roman"/>
                <a:sym typeface="Times New Roman"/>
              </a:rPr>
              <a:t>}</a:t>
            </a:r>
            <a:endParaRPr>
              <a:solidFill>
                <a:schemeClr val="dk1"/>
              </a:solidFill>
              <a:latin typeface="Times New Roman"/>
              <a:ea typeface="Times New Roman"/>
              <a:cs typeface="Times New Roman"/>
              <a:sym typeface="Times New Roman"/>
            </a:endParaRPr>
          </a:p>
          <a:p>
            <a:pPr marL="0" lvl="0" indent="0" algn="l" rtl="0">
              <a:lnSpc>
                <a:spcPct val="100000"/>
              </a:lnSpc>
              <a:spcBef>
                <a:spcPts val="1200"/>
              </a:spcBef>
              <a:spcAft>
                <a:spcPts val="1200"/>
              </a:spcAft>
              <a:buNone/>
            </a:pPr>
            <a:r>
              <a:rPr lang="en">
                <a:solidFill>
                  <a:schemeClr val="dk1"/>
                </a:solidFill>
                <a:latin typeface="Times New Roman"/>
                <a:ea typeface="Times New Roman"/>
                <a:cs typeface="Times New Roman"/>
                <a:sym typeface="Times New Roman"/>
              </a:rPr>
              <a:t>Recall that the above solution is not deadlock-free. One way to avoid deadlock is to have odd philosophers pick up their left chopstick first, while even philosophers pick up their right chopstick first (or vice versa). Suggest an alternate deadlock-free, semaphore-based solution to this synchronisation problem. (hint: Use 1b.)</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4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Solution</a:t>
            </a:r>
            <a:endParaRPr/>
          </a:p>
        </p:txBody>
      </p:sp>
      <p:sp>
        <p:nvSpPr>
          <p:cNvPr id="322" name="Google Shape;322;p4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solidFill>
                  <a:schemeClr val="dk1"/>
                </a:solidFill>
              </a:rPr>
              <a:t>Allow only 4 philosophers to compete at a time by using semaphores</a:t>
            </a:r>
            <a:endParaRPr dirty="0">
              <a:solidFill>
                <a:schemeClr val="dk1"/>
              </a:solidFill>
            </a:endParaRPr>
          </a:p>
          <a:p>
            <a:pPr marL="0" lvl="0" indent="0" algn="l" rtl="0">
              <a:spcBef>
                <a:spcPts val="1200"/>
              </a:spcBef>
              <a:spcAft>
                <a:spcPts val="0"/>
              </a:spcAft>
              <a:buNone/>
            </a:pPr>
            <a:endParaRPr dirty="0">
              <a:solidFill>
                <a:schemeClr val="dk1"/>
              </a:solidFill>
            </a:endParaRPr>
          </a:p>
          <a:p>
            <a:pPr marL="0" lvl="0" indent="0" algn="l" rtl="0">
              <a:spcBef>
                <a:spcPts val="1200"/>
              </a:spcBef>
              <a:spcAft>
                <a:spcPts val="0"/>
              </a:spcAft>
              <a:buClr>
                <a:schemeClr val="dk1"/>
              </a:buClr>
              <a:buSzPts val="1100"/>
              <a:buFont typeface="Arial"/>
              <a:buNone/>
            </a:pPr>
            <a:r>
              <a:rPr lang="en" dirty="0">
                <a:solidFill>
                  <a:schemeClr val="dk1"/>
                </a:solidFill>
              </a:rPr>
              <a:t>semaphore chopstick[5] = {1,1,1,1,1};     // 5 chopsticks are available</a:t>
            </a:r>
            <a:endParaRPr dirty="0">
              <a:solidFill>
                <a:schemeClr val="dk1"/>
              </a:solidFill>
            </a:endParaRPr>
          </a:p>
          <a:p>
            <a:pPr marL="0" lvl="0" indent="0" algn="l" rtl="0">
              <a:spcBef>
                <a:spcPts val="1200"/>
              </a:spcBef>
              <a:spcAft>
                <a:spcPts val="0"/>
              </a:spcAft>
              <a:buClr>
                <a:schemeClr val="dk1"/>
              </a:buClr>
              <a:buSzPts val="1100"/>
              <a:buFont typeface="Arial"/>
              <a:buNone/>
            </a:pPr>
            <a:r>
              <a:rPr lang="en" dirty="0">
                <a:solidFill>
                  <a:schemeClr val="dk1"/>
                </a:solidFill>
              </a:rPr>
              <a:t>semaphore room = 4;   		       // at most 4 philosophers allowed to try</a:t>
            </a:r>
            <a:endParaRPr dirty="0">
              <a:solidFill>
                <a:schemeClr val="dk1"/>
              </a:solidFill>
            </a:endParaRPr>
          </a:p>
          <a:p>
            <a:pPr marL="0" lvl="0" indent="0" algn="l" rtl="0">
              <a:spcBef>
                <a:spcPts val="1200"/>
              </a:spcBef>
              <a:spcAft>
                <a:spcPts val="0"/>
              </a:spcAft>
              <a:buClr>
                <a:schemeClr val="dk1"/>
              </a:buClr>
              <a:buSzPts val="1100"/>
              <a:buFont typeface="Arial"/>
              <a:buNone/>
            </a:pPr>
            <a:endParaRPr dirty="0">
              <a:solidFill>
                <a:schemeClr val="dk1"/>
              </a:solidFill>
            </a:endParaRPr>
          </a:p>
          <a:p>
            <a:pPr marL="0" lvl="0" indent="0" algn="l" rtl="0">
              <a:spcBef>
                <a:spcPts val="1200"/>
              </a:spcBef>
              <a:spcAft>
                <a:spcPts val="1200"/>
              </a:spcAft>
              <a:buNone/>
            </a:pPr>
            <a:endParaRPr dirty="0">
              <a:solidFill>
                <a:schemeClr val="dk1"/>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4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Solution</a:t>
            </a:r>
            <a:endParaRPr/>
          </a:p>
        </p:txBody>
      </p:sp>
      <p:sp>
        <p:nvSpPr>
          <p:cNvPr id="328" name="Google Shape;328;p46"/>
          <p:cNvSpPr txBox="1">
            <a:spLocks noGrp="1"/>
          </p:cNvSpPr>
          <p:nvPr>
            <p:ph type="body" idx="1"/>
          </p:nvPr>
        </p:nvSpPr>
        <p:spPr>
          <a:xfrm>
            <a:off x="311700" y="979325"/>
            <a:ext cx="5592486" cy="4106400"/>
          </a:xfrm>
          <a:prstGeom prst="rect">
            <a:avLst/>
          </a:prstGeom>
        </p:spPr>
        <p:txBody>
          <a:bodyPr spcFirstLastPara="1" wrap="square" lIns="91425" tIns="91425" rIns="91425" bIns="91425" anchor="t" anchorCtr="0">
            <a:noAutofit/>
          </a:bodyPr>
          <a:lstStyle/>
          <a:p>
            <a:pPr marL="0" lvl="0" indent="0" algn="l" rtl="0">
              <a:lnSpc>
                <a:spcPct val="105000"/>
              </a:lnSpc>
              <a:spcBef>
                <a:spcPts val="0"/>
              </a:spcBef>
              <a:spcAft>
                <a:spcPts val="0"/>
              </a:spcAft>
              <a:buClr>
                <a:schemeClr val="dk1"/>
              </a:buClr>
              <a:buSzPts val="688"/>
              <a:buFont typeface="Arial"/>
              <a:buNone/>
            </a:pPr>
            <a:r>
              <a:rPr lang="en" sz="1400" dirty="0">
                <a:solidFill>
                  <a:schemeClr val="dk1"/>
                </a:solidFill>
              </a:rPr>
              <a:t>while (1) {</a:t>
            </a:r>
            <a:endParaRPr sz="1400" dirty="0">
              <a:solidFill>
                <a:schemeClr val="dk1"/>
              </a:solidFill>
            </a:endParaRPr>
          </a:p>
          <a:p>
            <a:pPr marL="0" lvl="0" indent="0" algn="l" rtl="0">
              <a:lnSpc>
                <a:spcPct val="105000"/>
              </a:lnSpc>
              <a:spcBef>
                <a:spcPts val="0"/>
              </a:spcBef>
              <a:spcAft>
                <a:spcPts val="0"/>
              </a:spcAft>
              <a:buClr>
                <a:schemeClr val="dk1"/>
              </a:buClr>
              <a:buSzPts val="688"/>
              <a:buFont typeface="Arial"/>
              <a:buNone/>
            </a:pPr>
            <a:endParaRPr sz="1400" dirty="0">
              <a:solidFill>
                <a:schemeClr val="dk1"/>
              </a:solidFill>
            </a:endParaRPr>
          </a:p>
          <a:p>
            <a:pPr marL="0" lvl="0" indent="0" algn="l" rtl="0">
              <a:lnSpc>
                <a:spcPct val="105000"/>
              </a:lnSpc>
              <a:spcBef>
                <a:spcPts val="0"/>
              </a:spcBef>
              <a:spcAft>
                <a:spcPts val="0"/>
              </a:spcAft>
              <a:buClr>
                <a:schemeClr val="dk1"/>
              </a:buClr>
              <a:buSzPts val="688"/>
              <a:buFont typeface="Arial"/>
              <a:buNone/>
            </a:pPr>
            <a:r>
              <a:rPr lang="en" sz="1400" dirty="0">
                <a:solidFill>
                  <a:schemeClr val="dk1"/>
                </a:solidFill>
              </a:rPr>
              <a:t>    think();</a:t>
            </a:r>
            <a:endParaRPr sz="1400" dirty="0">
              <a:solidFill>
                <a:schemeClr val="dk1"/>
              </a:solidFill>
            </a:endParaRPr>
          </a:p>
          <a:p>
            <a:pPr marL="0" lvl="0" indent="0" algn="l" rtl="0">
              <a:lnSpc>
                <a:spcPct val="105000"/>
              </a:lnSpc>
              <a:spcBef>
                <a:spcPts val="0"/>
              </a:spcBef>
              <a:spcAft>
                <a:spcPts val="0"/>
              </a:spcAft>
              <a:buClr>
                <a:schemeClr val="dk1"/>
              </a:buClr>
              <a:buSzPts val="688"/>
              <a:buFont typeface="Arial"/>
              <a:buNone/>
            </a:pPr>
            <a:endParaRPr sz="1400" dirty="0">
              <a:solidFill>
                <a:schemeClr val="dk1"/>
              </a:solidFill>
            </a:endParaRPr>
          </a:p>
          <a:p>
            <a:pPr marL="0" lvl="0" indent="0" algn="l" rtl="0">
              <a:lnSpc>
                <a:spcPct val="105000"/>
              </a:lnSpc>
              <a:spcBef>
                <a:spcPts val="0"/>
              </a:spcBef>
              <a:spcAft>
                <a:spcPts val="0"/>
              </a:spcAft>
              <a:buClr>
                <a:schemeClr val="dk1"/>
              </a:buClr>
              <a:buSzPts val="688"/>
              <a:buFont typeface="Arial"/>
              <a:buNone/>
            </a:pPr>
            <a:r>
              <a:rPr lang="en" sz="1400" dirty="0">
                <a:solidFill>
                  <a:schemeClr val="dk1"/>
                </a:solidFill>
              </a:rPr>
              <a:t>    wait(room);                     		// enter room</a:t>
            </a:r>
            <a:endParaRPr sz="1400" dirty="0">
              <a:solidFill>
                <a:schemeClr val="dk1"/>
              </a:solidFill>
            </a:endParaRPr>
          </a:p>
          <a:p>
            <a:pPr marL="0" lvl="0" indent="0" algn="l" rtl="0">
              <a:lnSpc>
                <a:spcPct val="105000"/>
              </a:lnSpc>
              <a:spcBef>
                <a:spcPts val="0"/>
              </a:spcBef>
              <a:spcAft>
                <a:spcPts val="0"/>
              </a:spcAft>
              <a:buClr>
                <a:schemeClr val="dk1"/>
              </a:buClr>
              <a:buSzPts val="688"/>
              <a:buFont typeface="Arial"/>
              <a:buNone/>
            </a:pPr>
            <a:endParaRPr sz="1400" dirty="0">
              <a:solidFill>
                <a:schemeClr val="dk1"/>
              </a:solidFill>
            </a:endParaRPr>
          </a:p>
          <a:p>
            <a:pPr marL="0" lvl="0" indent="0" algn="l" rtl="0">
              <a:lnSpc>
                <a:spcPct val="105000"/>
              </a:lnSpc>
              <a:spcBef>
                <a:spcPts val="0"/>
              </a:spcBef>
              <a:spcAft>
                <a:spcPts val="0"/>
              </a:spcAft>
              <a:buClr>
                <a:schemeClr val="dk1"/>
              </a:buClr>
              <a:buSzPts val="688"/>
              <a:buFont typeface="Arial"/>
              <a:buNone/>
            </a:pPr>
            <a:r>
              <a:rPr lang="en" sz="1400" dirty="0">
                <a:solidFill>
                  <a:schemeClr val="dk1"/>
                </a:solidFill>
              </a:rPr>
              <a:t>    wait(chopstick[i]);             	// left chopstick availability check</a:t>
            </a:r>
            <a:endParaRPr sz="1400" dirty="0">
              <a:solidFill>
                <a:schemeClr val="dk1"/>
              </a:solidFill>
            </a:endParaRPr>
          </a:p>
          <a:p>
            <a:pPr marL="0" lvl="0" indent="0" algn="l" rtl="0">
              <a:lnSpc>
                <a:spcPct val="105000"/>
              </a:lnSpc>
              <a:spcBef>
                <a:spcPts val="0"/>
              </a:spcBef>
              <a:spcAft>
                <a:spcPts val="0"/>
              </a:spcAft>
              <a:buClr>
                <a:schemeClr val="dk1"/>
              </a:buClr>
              <a:buSzPts val="688"/>
              <a:buFont typeface="Arial"/>
              <a:buNone/>
            </a:pPr>
            <a:r>
              <a:rPr lang="en" sz="1400" dirty="0">
                <a:solidFill>
                  <a:schemeClr val="dk1"/>
                </a:solidFill>
              </a:rPr>
              <a:t>    wait(chopstick[(i+1) % 5]);     	// right chopstick availability check</a:t>
            </a:r>
            <a:endParaRPr sz="1400" dirty="0">
              <a:solidFill>
                <a:schemeClr val="dk1"/>
              </a:solidFill>
            </a:endParaRPr>
          </a:p>
          <a:p>
            <a:pPr marL="0" lvl="0" indent="0" algn="l" rtl="0">
              <a:lnSpc>
                <a:spcPct val="105000"/>
              </a:lnSpc>
              <a:spcBef>
                <a:spcPts val="0"/>
              </a:spcBef>
              <a:spcAft>
                <a:spcPts val="0"/>
              </a:spcAft>
              <a:buClr>
                <a:schemeClr val="dk1"/>
              </a:buClr>
              <a:buSzPts val="688"/>
              <a:buFont typeface="Arial"/>
              <a:buNone/>
            </a:pPr>
            <a:endParaRPr sz="1400" dirty="0">
              <a:solidFill>
                <a:schemeClr val="dk1"/>
              </a:solidFill>
            </a:endParaRPr>
          </a:p>
          <a:p>
            <a:pPr marL="0" lvl="0" indent="0" algn="l" rtl="0">
              <a:lnSpc>
                <a:spcPct val="105000"/>
              </a:lnSpc>
              <a:spcBef>
                <a:spcPts val="0"/>
              </a:spcBef>
              <a:spcAft>
                <a:spcPts val="0"/>
              </a:spcAft>
              <a:buClr>
                <a:schemeClr val="dk1"/>
              </a:buClr>
              <a:buSzPts val="688"/>
              <a:buFont typeface="Arial"/>
              <a:buNone/>
            </a:pPr>
            <a:r>
              <a:rPr lang="en" sz="1400" dirty="0">
                <a:solidFill>
                  <a:schemeClr val="dk1"/>
                </a:solidFill>
              </a:rPr>
              <a:t>    eat();</a:t>
            </a:r>
            <a:endParaRPr sz="1400" dirty="0">
              <a:solidFill>
                <a:schemeClr val="dk1"/>
              </a:solidFill>
            </a:endParaRPr>
          </a:p>
          <a:p>
            <a:pPr marL="0" lvl="0" indent="0" algn="l" rtl="0">
              <a:lnSpc>
                <a:spcPct val="105000"/>
              </a:lnSpc>
              <a:spcBef>
                <a:spcPts val="0"/>
              </a:spcBef>
              <a:spcAft>
                <a:spcPts val="0"/>
              </a:spcAft>
              <a:buClr>
                <a:schemeClr val="dk1"/>
              </a:buClr>
              <a:buSzPts val="688"/>
              <a:buFont typeface="Arial"/>
              <a:buNone/>
            </a:pPr>
            <a:endParaRPr sz="1400" dirty="0">
              <a:solidFill>
                <a:schemeClr val="dk1"/>
              </a:solidFill>
            </a:endParaRPr>
          </a:p>
          <a:p>
            <a:pPr marL="0" lvl="0" indent="0" algn="l" rtl="0">
              <a:lnSpc>
                <a:spcPct val="105000"/>
              </a:lnSpc>
              <a:spcBef>
                <a:spcPts val="0"/>
              </a:spcBef>
              <a:spcAft>
                <a:spcPts val="0"/>
              </a:spcAft>
              <a:buClr>
                <a:schemeClr val="dk1"/>
              </a:buClr>
              <a:buSzPts val="688"/>
              <a:buFont typeface="Arial"/>
              <a:buNone/>
            </a:pPr>
            <a:r>
              <a:rPr lang="en" sz="1400" dirty="0">
                <a:solidFill>
                  <a:schemeClr val="dk1"/>
                </a:solidFill>
              </a:rPr>
              <a:t>    signal(chopstick[i]);		// put back left chopstick</a:t>
            </a:r>
            <a:endParaRPr sz="1400" dirty="0">
              <a:solidFill>
                <a:schemeClr val="dk1"/>
              </a:solidFill>
            </a:endParaRPr>
          </a:p>
          <a:p>
            <a:pPr marL="0" lvl="0" indent="0" algn="l" rtl="0">
              <a:lnSpc>
                <a:spcPct val="105000"/>
              </a:lnSpc>
              <a:spcBef>
                <a:spcPts val="0"/>
              </a:spcBef>
              <a:spcAft>
                <a:spcPts val="0"/>
              </a:spcAft>
              <a:buClr>
                <a:schemeClr val="dk1"/>
              </a:buClr>
              <a:buSzPts val="688"/>
              <a:buFont typeface="Arial"/>
              <a:buNone/>
            </a:pPr>
            <a:r>
              <a:rPr lang="en" sz="1400" dirty="0">
                <a:solidFill>
                  <a:schemeClr val="dk1"/>
                </a:solidFill>
              </a:rPr>
              <a:t>    signal(chopstick[(i+1) % 5]);	// put back the right chopstick</a:t>
            </a:r>
            <a:endParaRPr sz="1400" dirty="0">
              <a:solidFill>
                <a:schemeClr val="dk1"/>
              </a:solidFill>
            </a:endParaRPr>
          </a:p>
          <a:p>
            <a:pPr marL="0" lvl="0" indent="0" algn="l" rtl="0">
              <a:lnSpc>
                <a:spcPct val="105000"/>
              </a:lnSpc>
              <a:spcBef>
                <a:spcPts val="0"/>
              </a:spcBef>
              <a:spcAft>
                <a:spcPts val="0"/>
              </a:spcAft>
              <a:buClr>
                <a:schemeClr val="dk1"/>
              </a:buClr>
              <a:buSzPts val="688"/>
              <a:buFont typeface="Arial"/>
              <a:buNone/>
            </a:pPr>
            <a:endParaRPr sz="1400" dirty="0">
              <a:solidFill>
                <a:schemeClr val="dk1"/>
              </a:solidFill>
            </a:endParaRPr>
          </a:p>
          <a:p>
            <a:pPr marL="0" lvl="0" indent="0" algn="l" rtl="0">
              <a:lnSpc>
                <a:spcPct val="105000"/>
              </a:lnSpc>
              <a:spcBef>
                <a:spcPts val="0"/>
              </a:spcBef>
              <a:spcAft>
                <a:spcPts val="0"/>
              </a:spcAft>
              <a:buClr>
                <a:schemeClr val="dk1"/>
              </a:buClr>
              <a:buSzPts val="688"/>
              <a:buFont typeface="Arial"/>
              <a:buNone/>
            </a:pPr>
            <a:r>
              <a:rPr lang="en" sz="1400" dirty="0">
                <a:solidFill>
                  <a:schemeClr val="dk1"/>
                </a:solidFill>
              </a:rPr>
              <a:t>    signal(room);                   		// leave room</a:t>
            </a:r>
            <a:endParaRPr sz="1400" dirty="0">
              <a:solidFill>
                <a:schemeClr val="dk1"/>
              </a:solidFill>
            </a:endParaRPr>
          </a:p>
          <a:p>
            <a:pPr marL="0" lvl="0" indent="0" algn="l" rtl="0">
              <a:lnSpc>
                <a:spcPct val="105000"/>
              </a:lnSpc>
              <a:spcBef>
                <a:spcPts val="0"/>
              </a:spcBef>
              <a:spcAft>
                <a:spcPts val="0"/>
              </a:spcAft>
              <a:buClr>
                <a:schemeClr val="dk1"/>
              </a:buClr>
              <a:buSzPts val="688"/>
              <a:buFont typeface="Arial"/>
              <a:buNone/>
            </a:pPr>
            <a:r>
              <a:rPr lang="en" sz="1400" dirty="0">
                <a:solidFill>
                  <a:schemeClr val="dk1"/>
                </a:solidFill>
              </a:rPr>
              <a:t>}</a:t>
            </a:r>
            <a:endParaRPr sz="1400" dirty="0">
              <a:solidFill>
                <a:schemeClr val="dk1"/>
              </a:solidFill>
            </a:endParaRPr>
          </a:p>
        </p:txBody>
      </p:sp>
      <p:sp>
        <p:nvSpPr>
          <p:cNvPr id="329" name="Google Shape;329;p46"/>
          <p:cNvSpPr txBox="1"/>
          <p:nvPr/>
        </p:nvSpPr>
        <p:spPr>
          <a:xfrm>
            <a:off x="6076800" y="1934990"/>
            <a:ext cx="3067200" cy="1569900"/>
          </a:xfrm>
          <a:prstGeom prst="rect">
            <a:avLst/>
          </a:prstGeom>
          <a:noFill/>
          <a:ln>
            <a:noFill/>
          </a:ln>
        </p:spPr>
        <p:txBody>
          <a:bodyPr spcFirstLastPara="1" wrap="square" lIns="91425" tIns="91425" rIns="91425" bIns="91425" anchor="t" anchorCtr="0">
            <a:spAutoFit/>
          </a:bodyPr>
          <a:lstStyle/>
          <a:p>
            <a:pPr marL="457200" lvl="0" indent="-342900" algn="l" rtl="0">
              <a:spcBef>
                <a:spcPts val="0"/>
              </a:spcBef>
              <a:spcAft>
                <a:spcPts val="0"/>
              </a:spcAft>
              <a:buClr>
                <a:schemeClr val="dk1"/>
              </a:buClr>
              <a:buSzPts val="1800"/>
              <a:buChar char="➔"/>
            </a:pPr>
            <a:r>
              <a:rPr lang="en" sz="1800" dirty="0">
                <a:solidFill>
                  <a:schemeClr val="dk1"/>
                </a:solidFill>
              </a:rPr>
              <a:t>Even if everyone simultaneously grabs a chopstick we still have 1 left to break the deadlock</a:t>
            </a:r>
            <a:endParaRPr sz="1800" dirty="0">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9" grpId="0"/>
    </p:bldLst>
  </p:timing>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4682</Words>
  <Application>Microsoft Office PowerPoint</Application>
  <PresentationFormat>On-screen Show (16:9)</PresentationFormat>
  <Paragraphs>376</Paragraphs>
  <Slides>44</Slides>
  <Notes>34</Notes>
  <HiddenSlides>2</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44</vt:i4>
      </vt:variant>
    </vt:vector>
  </HeadingPairs>
  <TitlesOfParts>
    <vt:vector size="48" baseType="lpstr">
      <vt:lpstr>Roboto Mono</vt:lpstr>
      <vt:lpstr>Times New Roman</vt:lpstr>
      <vt:lpstr>Arial</vt:lpstr>
      <vt:lpstr>Simple Light</vt:lpstr>
      <vt:lpstr>Miscellaneous Practice Problems</vt:lpstr>
      <vt:lpstr>PowerPoint Presentation</vt:lpstr>
      <vt:lpstr>Problem 2</vt:lpstr>
      <vt:lpstr>Problem 3 – Extend Petersons Algorithm to 3 processes</vt:lpstr>
      <vt:lpstr>Solution</vt:lpstr>
      <vt:lpstr>Three processes P0, P1, and P2 are running concurrently on a single-CPU system, where P2 has the highest priority. Currently, Process P1 is in the running state, P0 is waiting in the ready queue, and P2 is doing an I/O operation. After some time, P1 terminates and P2 completes I/O, simultaneously. Clearly list step by step all the events that will take place in the system, before the next process gets allocated to the CPU. Assume that the system implements a preemptive priority scheduler.</vt:lpstr>
      <vt:lpstr>1. The resources allocated to P1 are released, and the PCB for P1 is removed from the process table.   2. The state in the PCB of P2 is changed from waiting to ready.   3. Now, there are two processes P0 and P2 in the ready state. The scheduler finds that P2 has higher priority than P0.   4. The scheduler changes the state in the PCB of P2 from ready to running.   5. The scheduler restores the context (registers) of P2 from its PCB to the CPU.   6. The scheduler loads the PC (program counter) of the CPU by the saved PC value in the PCB of P2.</vt:lpstr>
      <vt:lpstr>Different possible values  of x, y when P1, P2 finish?</vt:lpstr>
      <vt:lpstr>Problem 5</vt:lpstr>
      <vt:lpstr>Solution</vt:lpstr>
      <vt:lpstr>Synchronization and Deadlock Practice Question</vt:lpstr>
      <vt:lpstr>Q1. GATE 1992</vt:lpstr>
      <vt:lpstr>Q 2. GATE 2019</vt:lpstr>
      <vt:lpstr>Q 2. GATE 2019 (contd.) </vt:lpstr>
      <vt:lpstr>Q3. GATE 2016</vt:lpstr>
      <vt:lpstr>Q4. GATE 2021</vt:lpstr>
      <vt:lpstr>Solution</vt:lpstr>
      <vt:lpstr>Q5. (Gate 2016)</vt:lpstr>
      <vt:lpstr>Reasoning:-</vt:lpstr>
      <vt:lpstr>Q6. GATE 2022</vt:lpstr>
      <vt:lpstr>Q7. (Gate 2026)</vt:lpstr>
      <vt:lpstr>Q8. ISI M.Tech CS Semester Exam 2005</vt:lpstr>
      <vt:lpstr>Solution to Q8 (contd.)</vt:lpstr>
      <vt:lpstr>Q9. ISI M.Tech CS Semester Exam 2010</vt:lpstr>
      <vt:lpstr>Solution to Q9</vt:lpstr>
      <vt:lpstr>Solution to Q9 (contd.)</vt:lpstr>
      <vt:lpstr>Solution to Q9 (contd.)</vt:lpstr>
      <vt:lpstr>Q10. ISI M.Tech CS Semester Exam 2011 </vt:lpstr>
      <vt:lpstr>Solution to Q10</vt:lpstr>
      <vt:lpstr>Solution to Q10 (contd.) Non-deadlocked Sequence </vt:lpstr>
      <vt:lpstr>Q11. Gate 2018</vt:lpstr>
      <vt:lpstr>Q12. Gate 2021</vt:lpstr>
      <vt:lpstr>Solution to Q12</vt:lpstr>
      <vt:lpstr>ISI MTech - 2010</vt:lpstr>
      <vt:lpstr>Q13. ISI MTech - 2010</vt:lpstr>
      <vt:lpstr>Q13. ISI MTech - 2010</vt:lpstr>
      <vt:lpstr>Q14. ISI MTech 2010</vt:lpstr>
      <vt:lpstr>Solution</vt:lpstr>
      <vt:lpstr>Q15. ISI MTech 2010</vt:lpstr>
      <vt:lpstr>Solution </vt:lpstr>
      <vt:lpstr>Solution </vt:lpstr>
      <vt:lpstr>Q16. ISI MTech 2012</vt:lpstr>
      <vt:lpstr>Solution</vt:lpstr>
      <vt:lpstr>Solution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Saumya Jaipuria</cp:lastModifiedBy>
  <cp:revision>3</cp:revision>
  <dcterms:modified xsi:type="dcterms:W3CDTF">2026-02-20T02:31:47Z</dcterms:modified>
</cp:coreProperties>
</file>