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69"/>
  </p:notesMasterIdLst>
  <p:handoutMasterIdLst>
    <p:handoutMasterId r:id="rId70"/>
  </p:handoutMasterIdLst>
  <p:sldIdLst>
    <p:sldId id="331" r:id="rId2"/>
    <p:sldId id="486" r:id="rId3"/>
    <p:sldId id="487" r:id="rId4"/>
    <p:sldId id="488" r:id="rId5"/>
    <p:sldId id="548" r:id="rId6"/>
    <p:sldId id="549" r:id="rId7"/>
    <p:sldId id="550" r:id="rId8"/>
    <p:sldId id="551" r:id="rId9"/>
    <p:sldId id="552" r:id="rId10"/>
    <p:sldId id="490" r:id="rId11"/>
    <p:sldId id="491" r:id="rId12"/>
    <p:sldId id="492" r:id="rId13"/>
    <p:sldId id="493" r:id="rId14"/>
    <p:sldId id="494" r:id="rId15"/>
    <p:sldId id="495" r:id="rId16"/>
    <p:sldId id="496" r:id="rId17"/>
    <p:sldId id="497" r:id="rId18"/>
    <p:sldId id="498" r:id="rId19"/>
    <p:sldId id="499" r:id="rId20"/>
    <p:sldId id="500" r:id="rId21"/>
    <p:sldId id="501" r:id="rId22"/>
    <p:sldId id="502" r:id="rId23"/>
    <p:sldId id="503" r:id="rId24"/>
    <p:sldId id="504" r:id="rId25"/>
    <p:sldId id="505" r:id="rId26"/>
    <p:sldId id="506" r:id="rId27"/>
    <p:sldId id="507" r:id="rId28"/>
    <p:sldId id="508" r:id="rId29"/>
    <p:sldId id="509" r:id="rId30"/>
    <p:sldId id="510" r:id="rId31"/>
    <p:sldId id="511" r:id="rId32"/>
    <p:sldId id="512" r:id="rId33"/>
    <p:sldId id="513" r:id="rId34"/>
    <p:sldId id="514" r:id="rId35"/>
    <p:sldId id="547" r:id="rId36"/>
    <p:sldId id="515" r:id="rId37"/>
    <p:sldId id="516" r:id="rId38"/>
    <p:sldId id="517" r:id="rId39"/>
    <p:sldId id="545" r:id="rId40"/>
    <p:sldId id="546" r:id="rId41"/>
    <p:sldId id="518" r:id="rId42"/>
    <p:sldId id="519" r:id="rId43"/>
    <p:sldId id="520" r:id="rId44"/>
    <p:sldId id="521" r:id="rId45"/>
    <p:sldId id="522" r:id="rId46"/>
    <p:sldId id="523" r:id="rId47"/>
    <p:sldId id="524" r:id="rId48"/>
    <p:sldId id="525" r:id="rId49"/>
    <p:sldId id="526" r:id="rId50"/>
    <p:sldId id="527" r:id="rId51"/>
    <p:sldId id="528" r:id="rId52"/>
    <p:sldId id="529" r:id="rId53"/>
    <p:sldId id="530" r:id="rId54"/>
    <p:sldId id="531" r:id="rId55"/>
    <p:sldId id="532" r:id="rId56"/>
    <p:sldId id="533" r:id="rId57"/>
    <p:sldId id="534" r:id="rId58"/>
    <p:sldId id="535" r:id="rId59"/>
    <p:sldId id="536" r:id="rId60"/>
    <p:sldId id="537" r:id="rId61"/>
    <p:sldId id="538" r:id="rId62"/>
    <p:sldId id="539" r:id="rId63"/>
    <p:sldId id="540" r:id="rId64"/>
    <p:sldId id="541" r:id="rId65"/>
    <p:sldId id="542" r:id="rId66"/>
    <p:sldId id="543" r:id="rId67"/>
    <p:sldId id="544" r:id="rId6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CCECFF"/>
    <a:srgbClr val="FF0000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7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782" y="108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2226"/>
    </p:cViewPr>
  </p:sorterViewPr>
  <p:notesViewPr>
    <p:cSldViewPr snapToGrid="0">
      <p:cViewPr varScale="1">
        <p:scale>
          <a:sx n="65" d="100"/>
          <a:sy n="65" d="100"/>
        </p:scale>
        <p:origin x="312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241D02D-F0BE-479D-BFAE-28F6DABC06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9A33344-A246-47EE-87AD-DC2B769C31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F886B7E-9DF3-450F-92F2-1A3BF26B8AC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3339C26-84D6-4CAB-9ACB-F216D653813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DF7B4608-F3D0-4E52-ABA4-6F2681683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45CDFB-7A76-4C4D-913D-3C7D6FE5DE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FB24A69-0B86-44C0-95FA-F8D9A69311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AA27146D-C92E-4EEF-9F79-56BA93AB219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01186F9-B596-4A19-9264-7D2B4FC636C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C645014-0F43-4A0F-901D-B500E062F2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87C6AF3-49D0-4016-A1FB-7B03E0453D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47794835-A72A-4AEF-B6EC-BD8CE85FBF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9622B3D-0367-4444-9539-0A19B9C5C9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F231A0-42E6-42C1-AA16-355CDC8B6E93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A8275E6-FD6A-48F9-B73C-B9CBBABB9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E929097-3E92-4823-A49C-65FB8759C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395AA5DD-A159-4BC8-B0B4-62C228F8A8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A29CC0-F102-4AA1-A9A2-5E8696EDCEA1}" type="slidenum">
              <a:rPr lang="en-US" altLang="en-US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72118A2F-2588-4308-98F3-4C540E0194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D0D00539-4C19-4343-8F60-D0ECE1BCE7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770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2869BB6A-A424-4A9F-8F08-9E5CED4A36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D26438-1D7C-4B65-BD22-47AB5585AE9F}" type="slidenum">
              <a:rPr lang="en-US" altLang="en-US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7C562C5D-B6F1-410C-9C15-862B61F47E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CCCFBF8B-BAA5-4791-B56F-89AE8DECA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46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71000D4E-8A67-4003-8E87-772D9024C6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F365149-E38C-4DAC-84B8-8F4AFF2A5D63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D4E0BBA3-E5B3-4DF0-BCF9-576ABB3C3B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822619B1-76CC-405A-8360-27F1944D1B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328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7EDF6219-82C1-4A93-ABED-5E34596BBC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A3B3F0-AAF5-4CFC-A7B5-497CCE8C3F5E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1956D3A9-AF53-4EE2-8367-5C87C40B8B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EDD8E06E-9ABA-4101-95DC-533C74A921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348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2E8E951B-6D4F-4F3C-BA0F-CE3137BC43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EBF62B-A5D8-4ED3-B7C7-E5B4C8E4833B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609817C1-9D09-405F-A4BE-35AA840FB3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3C7757C3-4E01-44F0-9943-4A8D5D2ED2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661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7412E0F5-3DB3-4276-9E28-E97E37598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7D0DB0-2893-40A2-A92B-B204CAA7AA0A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76849717-E504-4367-AE73-45E1924842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E07A02F3-4A7A-4C49-8E28-03B39609B5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373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CABBBA32-327C-4520-BB88-E93BCE413C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553D4C-F3A2-40EC-A353-CAF60F6FAB16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D77ED832-6662-429B-8811-E6909535F8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01340DBE-8380-4A63-8CC7-AB75088D56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249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C32FEA61-84E0-4F6E-A5DE-438DD3F1BB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98E264-0F87-448A-8621-D998F18CE072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70867D87-173B-443F-8109-C247DF5105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72E0E792-E4EE-44D7-9914-9DC91BCBD3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732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9EE992A3-26D2-44B8-92BB-28FFF646A2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55654F-329B-48DD-8FA1-1D00BD4AA2CD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3C5E8084-CD27-45F0-948B-527CF3E8CC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01C2F6CE-343E-4E7D-B50B-7FBBE87E4F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9454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FBD6615-ED48-4079-BAA7-A84844D677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8E5558-88DF-40FE-90FF-9EB1FEE63A86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825ED8D-9E3E-4698-BB5C-C026B0475B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0D5306E4-3AAE-4121-B023-8B43D082CA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643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0BFD4EBE-353D-4C31-99D7-B7C3FEC6C1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B80A18-0C17-4A8A-A28E-1B3AD0E8B888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8A02C982-0312-4EC7-A741-67B0BEDA49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11F7861C-35C5-4B12-8A55-F7A16557D9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5643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E2EC3CC7-E29A-4D50-9A98-532553638A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6C72E5-BDBA-4628-BBAF-85FBB5CCE3BE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B01CE6FA-B36D-49C3-8371-51A4E97645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A8274DE9-BC41-40F6-83AC-5A3D3773C2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3421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AA015233-DFC5-4181-9DBD-191581D3DF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AA9686-8C45-4B6B-B192-53184893EC9B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D606F670-2456-4E74-98E3-6F89925388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81CE9A51-74EA-466B-956F-199FC346E1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044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6551FA5F-3DAF-4F79-96DF-B76D1641D9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44D4E91-7487-49F0-9D91-43B839F06F41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167C6B9E-26B1-4F34-923D-B2966B8944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C351E2D8-3E9B-4911-A879-EA20F380F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6928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A8A00347-BFEB-47CE-B8F7-F4A3E8EC8E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FB8A3B8-FFC6-4EAE-BC20-3413272D7E23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29DEC50F-F8EB-47B2-9592-C432BA44F4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7B4D387E-81FF-4C55-AE2B-EDD0B9D58D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7754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BB9D8362-CFFE-4239-A0CE-16166762BF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54A397-8FAE-4C30-A05F-CF91331CD813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00D4DD15-6D6E-4697-8517-23E5CECAC2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3F296D03-4616-4EA3-8B0A-A93A466732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3316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3BE82472-66AF-4BF7-A2A7-57FD11ECB4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E009F0B-5F82-4126-923B-E013C3AAF972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93C9793E-0DAB-48C2-A22A-A9ACDD8828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7AC332B0-F66D-4C3F-8DDB-E1E0D7FC2D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1234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66F09507-C2E2-47B2-82A8-B5E3C87D79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B546AF-CFB6-4A26-A155-B7AC52B1171E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84A5CD44-BF84-48EC-B0BC-E076CADF8C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F26D7BA3-2768-4887-B710-E8BBC3F5A3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4065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3ABA041F-CBD6-47AF-B833-FA2229A9BA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018407F-AAA5-4963-A6A5-D6FE6F7F8BA8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76824097-C234-4268-8A44-3B4C9960D1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27E9339F-4D5C-4423-AB79-A4E63110E9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0835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26C1E9B0-A878-46DB-8C55-CED0E9E892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802788-C8C7-415D-889B-42AFD28A494F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70E474D5-321A-4ED0-BC07-F4E9910BD7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C002F093-C941-47F5-A1B8-8DC559F3F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1520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8A49125B-F571-4E5D-9BAD-1D212CCFBF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0FA2C5A-08D3-4CEE-94AC-EFFD301638E0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AD870FB1-A095-437C-B6D2-2B1B4AAB9A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F501E773-1178-4204-823A-15B92DFAFB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8326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BEDA1708-FBD0-46B6-B6E0-9DACFC6E82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1FD1554-F607-4188-A668-41EC0D745C1C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360FA1B4-6A09-4A5E-8B97-24767F39BC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F52D03A7-D598-4B7B-B4F2-C1353D7B2B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8533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8047A01C-D4F1-483C-95F6-D9DE64F05F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9C2251A-E27D-4976-912A-372946474BDD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377D733F-0F22-4399-A6D3-B09E70F2D1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6FF7E3D3-1282-4112-B6EE-171A10838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3277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6694149F-4152-4367-835B-291215C667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08CBD02-7938-4655-89C2-245E2DD80BF2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2F98E2D8-A745-4482-8D31-1C44102899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4AD3CFA0-D397-4059-BF40-57150D5F1A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7213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90C51AA2-08CA-4188-A0D0-CDB58CB18B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E4C9D0-7D0A-45DF-B0CE-6AB3AEE439B1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99033DF3-330A-4632-AE16-C1DAED31B0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EC5A0E66-0ED9-4D39-8C8C-9D502F65B2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0581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9C520A68-97AF-4954-BF27-3B60903A2D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6D5DB69-22AD-4E1E-A59B-E2B46FD50CA7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6D96FEF4-316D-4EC7-948A-A33AE5D7CB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2B50E5CE-2EAD-485C-9DC4-25D3E4546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4692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A64CD54C-44CE-436F-93BE-552425E6C2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9EFB345-C37B-41EB-99D5-09E432045D94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29DAD370-8DFA-4D0F-8574-87D667E474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AA98057B-1F4A-419C-B813-443BAD14DB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8324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9E6F61F9-6FB5-4918-9153-29413636AE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2A2CBD-2239-4BE7-9133-34E34F8619C7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4C82101A-24CB-4B36-B9D2-613DABCA4C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204C5FBE-F01E-4B1E-BA23-180B64B1E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9673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69926037-2DFC-49C1-BFE5-BEEB906707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720897-7524-49C1-AB7E-87D63B342608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31EBDBDF-5FCA-4213-A6C0-A7B61F0EDD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4B5706BF-EA71-4A33-91AF-EA4A2A0C5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6770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96CBA23C-2721-468E-BF26-9B4A852354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665F5A3-B020-4290-AD98-D5279638C08E}" type="slidenum">
              <a:rPr lang="en-US" altLang="en-US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20008BC1-ECF1-41C8-9E3A-3EF0899AF3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AE97A9E2-2C5D-40BF-956A-508D26D46D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7642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779C6C28-A40F-4623-9D7D-7346DF865F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E5443D-CFE2-4772-BFAF-AEDA3BB82639}" type="slidenum">
              <a:rPr lang="en-US" altLang="en-US">
                <a:latin typeface="Times New Roman" panose="02020603050405020304" pitchFamily="18" charset="0"/>
              </a:rPr>
              <a:pPr/>
              <a:t>44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AB53808-5F2A-46E3-A99B-9661F40E0F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8D83F4BE-5527-406F-84C4-756486D50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7689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779C6C28-A40F-4623-9D7D-7346DF865F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E5443D-CFE2-4772-BFAF-AEDA3BB82639}" type="slidenum">
              <a:rPr lang="en-US" altLang="en-US">
                <a:latin typeface="Times New Roman" panose="02020603050405020304" pitchFamily="18" charset="0"/>
              </a:rPr>
              <a:pPr/>
              <a:t>45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AB53808-5F2A-46E3-A99B-9661F40E0F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8D83F4BE-5527-406F-84C4-756486D50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81398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779C6C28-A40F-4623-9D7D-7346DF865F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E5443D-CFE2-4772-BFAF-AEDA3BB82639}" type="slidenum">
              <a:rPr lang="en-US" altLang="en-US">
                <a:latin typeface="Times New Roman" panose="02020603050405020304" pitchFamily="18" charset="0"/>
              </a:rPr>
              <a:pPr/>
              <a:t>46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AB53808-5F2A-46E3-A99B-9661F40E0F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8D83F4BE-5527-406F-84C4-756486D50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0190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9B12ECC0-6236-49B0-ADB5-B045D66C40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0AF29B-E1F3-4565-9FEC-4E13442F52B7}" type="slidenum">
              <a:rPr lang="en-US" altLang="en-US">
                <a:latin typeface="Times New Roman" panose="02020603050405020304" pitchFamily="18" charset="0"/>
              </a:rPr>
              <a:pPr/>
              <a:t>47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9D1B6244-C5E7-4D86-A203-764BEF822B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E5412847-FD60-400B-AA9D-2092F9AB4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521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9B12ECC0-6236-49B0-ADB5-B045D66C40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0AF29B-E1F3-4565-9FEC-4E13442F52B7}" type="slidenum">
              <a:rPr lang="en-US" altLang="en-US">
                <a:latin typeface="Times New Roman" panose="02020603050405020304" pitchFamily="18" charset="0"/>
              </a:rPr>
              <a:pPr/>
              <a:t>48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9D1B6244-C5E7-4D86-A203-764BEF822B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E5412847-FD60-400B-AA9D-2092F9AB4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3389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35D95203-074A-4EA2-A43A-43C79DFAF0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14756FE-28C0-4689-86B3-AA8D861AF58F}" type="slidenum">
              <a:rPr lang="en-US" altLang="en-US">
                <a:latin typeface="Times New Roman" panose="02020603050405020304" pitchFamily="18" charset="0"/>
              </a:rPr>
              <a:pPr/>
              <a:t>49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BD125F85-1222-4EE5-8421-F621F6A6C5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53A3A95C-A148-408D-A44E-6944866E30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37449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65DA9622-ECD4-4E4D-A9C5-B037F3BF22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E872443-CB56-4F1E-A9D0-0CA6A3CCD69F}" type="slidenum">
              <a:rPr lang="en-US" altLang="en-US">
                <a:latin typeface="Times New Roman" panose="02020603050405020304" pitchFamily="18" charset="0"/>
              </a:rPr>
              <a:pPr/>
              <a:t>50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A18C2702-4265-41C0-BAB1-23B3407FB8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639B9B21-AD3F-4EC3-88E5-425A7776CE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42824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173C5A7B-AD1F-42C6-ACEC-C22E37FDEF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9E28EDC-8892-4BD4-9B03-820979DFF076}" type="slidenum">
              <a:rPr lang="en-US" altLang="en-US">
                <a:latin typeface="Times New Roman" panose="02020603050405020304" pitchFamily="18" charset="0"/>
              </a:rPr>
              <a:pPr/>
              <a:t>51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D57D674F-0290-48DC-AE81-36542FB42F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3DD1A532-1569-4A5E-88FC-8C5BA0E7A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1126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>
            <a:extLst>
              <a:ext uri="{FF2B5EF4-FFF2-40B4-BE49-F238E27FC236}">
                <a16:creationId xmlns:a16="http://schemas.microsoft.com/office/drawing/2014/main" id="{D517E168-3094-4E5B-84D7-5C0153B13B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00E586-48D7-4940-A2DF-E461BD85B025}" type="slidenum">
              <a:rPr lang="en-US" altLang="en-US">
                <a:latin typeface="Times New Roman" panose="02020603050405020304" pitchFamily="18" charset="0"/>
              </a:rPr>
              <a:pPr/>
              <a:t>52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A319D073-D867-48CB-B66A-DADB82FB0E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57FA871D-7C7C-49FB-B8AC-D03BA6E06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94743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805B1C17-66FA-4D85-BCF6-7A91DE02FC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5281E3-0C39-498B-AF39-48565B4544FA}" type="slidenum">
              <a:rPr lang="en-US" altLang="en-US">
                <a:latin typeface="Times New Roman" panose="02020603050405020304" pitchFamily="18" charset="0"/>
              </a:rPr>
              <a:pPr/>
              <a:t>53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1F9038FE-BD6E-44F1-ACE4-DD73792DB1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6096AB29-C31A-45C0-B5E1-9D36AC040B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88021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>
            <a:extLst>
              <a:ext uri="{FF2B5EF4-FFF2-40B4-BE49-F238E27FC236}">
                <a16:creationId xmlns:a16="http://schemas.microsoft.com/office/drawing/2014/main" id="{4F2D9B1C-DEA5-4665-B47D-209786DA89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D877D31-AB4E-4210-B2DB-080238C5EE9B}" type="slidenum">
              <a:rPr lang="en-US" altLang="en-US">
                <a:latin typeface="Times New Roman" panose="02020603050405020304" pitchFamily="18" charset="0"/>
              </a:rPr>
              <a:pPr/>
              <a:t>54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4FEDE9AA-CD44-4982-B7AE-FB416BFCBF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49FDFE4F-372F-44B2-A051-88D045B25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65229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BE2D0BFB-ECA4-4C07-8994-8A88F29AAD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C82682-D545-467D-8124-18513B1E9CEB}" type="slidenum">
              <a:rPr lang="en-US" altLang="en-US">
                <a:latin typeface="Times New Roman" panose="02020603050405020304" pitchFamily="18" charset="0"/>
              </a:rPr>
              <a:pPr/>
              <a:t>57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5A43AED6-E6E9-43A7-AC93-64E1E9990A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772FBEB7-042D-4152-8A9C-1370E47C76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35378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>
            <a:extLst>
              <a:ext uri="{FF2B5EF4-FFF2-40B4-BE49-F238E27FC236}">
                <a16:creationId xmlns:a16="http://schemas.microsoft.com/office/drawing/2014/main" id="{28D453DF-2D5F-4B73-B4AC-B5CF546FD1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7D4C080-24BF-412B-8F06-E36EDFECF8DD}" type="slidenum">
              <a:rPr lang="en-US" altLang="en-US">
                <a:latin typeface="Times New Roman" panose="02020603050405020304" pitchFamily="18" charset="0"/>
              </a:rPr>
              <a:pPr/>
              <a:t>58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9267" name="Rectangle 2">
            <a:extLst>
              <a:ext uri="{FF2B5EF4-FFF2-40B4-BE49-F238E27FC236}">
                <a16:creationId xmlns:a16="http://schemas.microsoft.com/office/drawing/2014/main" id="{5B0E173E-03EA-4E90-8188-93FE2E0C3F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>
            <a:extLst>
              <a:ext uri="{FF2B5EF4-FFF2-40B4-BE49-F238E27FC236}">
                <a16:creationId xmlns:a16="http://schemas.microsoft.com/office/drawing/2014/main" id="{52774992-1B31-4E69-A7C1-2E636C6DFB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32857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>
            <a:extLst>
              <a:ext uri="{FF2B5EF4-FFF2-40B4-BE49-F238E27FC236}">
                <a16:creationId xmlns:a16="http://schemas.microsoft.com/office/drawing/2014/main" id="{7EC77DD2-9B86-424C-BB4C-63BF79E105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38AE1AD-3F56-4889-BDA2-43C04193A71C}" type="slidenum">
              <a:rPr lang="en-US" altLang="en-US">
                <a:latin typeface="Times New Roman" panose="02020603050405020304" pitchFamily="18" charset="0"/>
              </a:rPr>
              <a:pPr/>
              <a:t>59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7459" name="Rectangle 2">
            <a:extLst>
              <a:ext uri="{FF2B5EF4-FFF2-40B4-BE49-F238E27FC236}">
                <a16:creationId xmlns:a16="http://schemas.microsoft.com/office/drawing/2014/main" id="{9ACCB673-3231-4E3A-8A17-1FEB8B70B1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>
            <a:extLst>
              <a:ext uri="{FF2B5EF4-FFF2-40B4-BE49-F238E27FC236}">
                <a16:creationId xmlns:a16="http://schemas.microsoft.com/office/drawing/2014/main" id="{CA63D3B0-42BE-44B8-A3E2-964AF31408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24928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>
            <a:extLst>
              <a:ext uri="{FF2B5EF4-FFF2-40B4-BE49-F238E27FC236}">
                <a16:creationId xmlns:a16="http://schemas.microsoft.com/office/drawing/2014/main" id="{EC2E17CB-4D30-407C-BFB4-332CEFB719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3E10020-71C2-454F-B242-56666943DF34}" type="slidenum">
              <a:rPr lang="en-US" altLang="en-US">
                <a:latin typeface="Times New Roman" panose="02020603050405020304" pitchFamily="18" charset="0"/>
              </a:rPr>
              <a:pPr/>
              <a:t>60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4627" name="Rectangle 2">
            <a:extLst>
              <a:ext uri="{FF2B5EF4-FFF2-40B4-BE49-F238E27FC236}">
                <a16:creationId xmlns:a16="http://schemas.microsoft.com/office/drawing/2014/main" id="{F12DF0AA-3AA1-48FF-AE11-5633BA1365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>
            <a:extLst>
              <a:ext uri="{FF2B5EF4-FFF2-40B4-BE49-F238E27FC236}">
                <a16:creationId xmlns:a16="http://schemas.microsoft.com/office/drawing/2014/main" id="{5CCB7352-60B6-4ACB-9204-DD7FB14CB8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10116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>
            <a:extLst>
              <a:ext uri="{FF2B5EF4-FFF2-40B4-BE49-F238E27FC236}">
                <a16:creationId xmlns:a16="http://schemas.microsoft.com/office/drawing/2014/main" id="{56B4D174-7712-4CB1-A41E-3E47996C66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B090860-9AF5-424D-A333-7DC8522BDD90}" type="slidenum">
              <a:rPr lang="en-US" altLang="en-US">
                <a:latin typeface="Times New Roman" panose="02020603050405020304" pitchFamily="18" charset="0"/>
              </a:rPr>
              <a:pPr/>
              <a:t>61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7699" name="Rectangle 2">
            <a:extLst>
              <a:ext uri="{FF2B5EF4-FFF2-40B4-BE49-F238E27FC236}">
                <a16:creationId xmlns:a16="http://schemas.microsoft.com/office/drawing/2014/main" id="{D34CB649-2117-4081-91C0-CE968BFCFC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>
            <a:extLst>
              <a:ext uri="{FF2B5EF4-FFF2-40B4-BE49-F238E27FC236}">
                <a16:creationId xmlns:a16="http://schemas.microsoft.com/office/drawing/2014/main" id="{1E59B376-3E44-42AB-A505-B2EEEB3625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3917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>
            <a:extLst>
              <a:ext uri="{FF2B5EF4-FFF2-40B4-BE49-F238E27FC236}">
                <a16:creationId xmlns:a16="http://schemas.microsoft.com/office/drawing/2014/main" id="{C5866CDD-4811-42A2-B280-A13D1C6C07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75CAD1E-1E22-4637-B2E6-50F21264D3FA}" type="slidenum">
              <a:rPr lang="en-US" altLang="en-US">
                <a:latin typeface="Times New Roman" panose="02020603050405020304" pitchFamily="18" charset="0"/>
              </a:rPr>
              <a:pPr/>
              <a:t>62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8723" name="Rectangle 2">
            <a:extLst>
              <a:ext uri="{FF2B5EF4-FFF2-40B4-BE49-F238E27FC236}">
                <a16:creationId xmlns:a16="http://schemas.microsoft.com/office/drawing/2014/main" id="{C26A336E-B0A4-4355-9177-376B281134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>
            <a:extLst>
              <a:ext uri="{FF2B5EF4-FFF2-40B4-BE49-F238E27FC236}">
                <a16:creationId xmlns:a16="http://schemas.microsoft.com/office/drawing/2014/main" id="{A2DC4382-E997-4207-A545-B2CB280F0B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331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CCE4291-D714-4279-B2A7-8F16FBBE145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7EC0B7F-4FC3-4478-9027-E8EE05E8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2D394CA-65D6-4B9E-8B3A-820F32DF2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B53706C-F40D-4391-BED3-927BEFA5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DBF7E6E-01C9-4F8E-8169-2A534741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A712DA-57B7-4C35-AF2D-585D6C4C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23FF6E01-B082-4987-9C4A-C0A440FA8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F35C5DFA-BB79-4089-88B7-D92F5341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845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984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51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356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573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575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7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52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90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3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23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1AB84DD3-4A46-4765-841C-BF9DFC087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8B8B9C40-FB55-4BC1-9678-A5A9E978A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491697-DEDE-4F27-95FC-692C936D7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5AC41D-CD6D-4AA1-A267-3D1BBA2D3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82C41C68-24EF-44DE-8ADF-448757180C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DE0286C-F756-496E-ABEB-5613EE236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8630376-BF82-4C11-BC51-C4D2919A3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051F425-51BF-47D4-98B0-661C9EA6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A1B636A9-AB21-4ABC-8AA3-56D421424B49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6623C3AB-13C0-4491-A41B-99C50D89D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8853500B-FBC1-47E1-B755-E9D8F229B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E96BDB3D-3FA1-40ED-87F9-5B9873450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9.png"/><Relationship Id="rId5" Type="http://schemas.openxmlformats.org/officeDocument/2006/relationships/image" Target="../media/image38.wmf"/><Relationship Id="rId4" Type="http://schemas.openxmlformats.org/officeDocument/2006/relationships/oleObject" Target="../embeddings/oleObject1.bin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9997BE-9BB1-4138-B224-8F7553DD50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93750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Paging and Virtual Memory</a:t>
            </a:r>
            <a:endParaRPr lang="en-US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746916" y="6279614"/>
            <a:ext cx="33970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Additional slide courtesy: </a:t>
            </a:r>
            <a:r>
              <a:rPr lang="en-IN" sz="1100" dirty="0" err="1"/>
              <a:t>Prof.</a:t>
            </a:r>
            <a:r>
              <a:rPr lang="en-IN" sz="1100" dirty="0"/>
              <a:t> </a:t>
            </a:r>
            <a:r>
              <a:rPr lang="en-IN" sz="1100" dirty="0" err="1"/>
              <a:t>Mandar</a:t>
            </a:r>
            <a:r>
              <a:rPr lang="en-IN" sz="1100" dirty="0"/>
              <a:t> </a:t>
            </a:r>
            <a:r>
              <a:rPr lang="en-IN" sz="1100" dirty="0" err="1"/>
              <a:t>Mitra</a:t>
            </a:r>
            <a:r>
              <a:rPr lang="en-IN" sz="11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C2EE1F7-80AE-4AE9-B1C5-B0DAB9FC6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2092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 (IPT) / Frame Table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A433C570-E431-49CB-92BC-66AFF909B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6960" y="954222"/>
            <a:ext cx="8039840" cy="4792663"/>
          </a:xfrm>
        </p:spPr>
        <p:txBody>
          <a:bodyPr/>
          <a:lstStyle/>
          <a:p>
            <a:r>
              <a:rPr lang="en-US" altLang="en-US" dirty="0"/>
              <a:t>Rather than each process having a page table and keeping track of all possible logical pages, track all physical pages</a:t>
            </a:r>
          </a:p>
          <a:p>
            <a:endParaRPr lang="en-US" altLang="en-US" dirty="0"/>
          </a:p>
          <a:p>
            <a:r>
              <a:rPr lang="en-US" altLang="en-US" dirty="0"/>
              <a:t>One entry for each </a:t>
            </a:r>
            <a:r>
              <a:rPr lang="en-US" altLang="en-US" dirty="0" smtClean="0"/>
              <a:t>frame of physical memory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Entry consists of the virtual address of the page stored in that real memory location, with information about the process that owns that page</a:t>
            </a:r>
          </a:p>
          <a:p>
            <a:endParaRPr lang="en-US" altLang="en-US" dirty="0"/>
          </a:p>
          <a:p>
            <a:r>
              <a:rPr lang="en-US" altLang="en-US" dirty="0"/>
              <a:t>Decreases memory needed to store each page table, but increases time needed to search the table when a page reference occurs</a:t>
            </a:r>
          </a:p>
          <a:p>
            <a:endParaRPr lang="en-US" altLang="en-US" dirty="0"/>
          </a:p>
          <a:p>
            <a:r>
              <a:rPr lang="en-US" altLang="en-US" dirty="0"/>
              <a:t>TLB can accelerate access</a:t>
            </a:r>
          </a:p>
        </p:txBody>
      </p:sp>
    </p:spTree>
    <p:extLst>
      <p:ext uri="{BB962C8B-B14F-4D97-AF65-F5344CB8AC3E}">
        <p14:creationId xmlns:p14="http://schemas.microsoft.com/office/powerpoint/2010/main" val="418844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9CA5047-53DC-42C0-8BA2-9A66CB1D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8850" y="23854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 Architecture</a:t>
            </a:r>
            <a:endParaRPr lang="en-US" altLang="en-US" sz="2400" dirty="0"/>
          </a:p>
        </p:txBody>
      </p:sp>
      <p:pic>
        <p:nvPicPr>
          <p:cNvPr id="51203" name="Picture 6">
            <a:extLst>
              <a:ext uri="{FF2B5EF4-FFF2-40B4-BE49-F238E27FC236}">
                <a16:creationId xmlns:a16="http://schemas.microsoft.com/office/drawing/2014/main" id="{CD658555-7800-4FD5-8FAB-B83171CC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675" y="1274763"/>
            <a:ext cx="6057900" cy="418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533313" y="5279509"/>
            <a:ext cx="949910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IN" sz="1000" dirty="0"/>
              <a:t>Frame Table / IPT</a:t>
            </a:r>
          </a:p>
        </p:txBody>
      </p:sp>
    </p:spTree>
    <p:extLst>
      <p:ext uri="{BB962C8B-B14F-4D97-AF65-F5344CB8AC3E}">
        <p14:creationId xmlns:p14="http://schemas.microsoft.com/office/powerpoint/2010/main" val="1670930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Inverted </a:t>
            </a:r>
            <a:r>
              <a:rPr lang="en-US" dirty="0" err="1"/>
              <a:t>P</a:t>
            </a:r>
            <a:r>
              <a:rPr lang="en-US"/>
              <a:t>age </a:t>
            </a:r>
            <a:r>
              <a:rPr lang="en-US" dirty="0"/>
              <a:t>Table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8471"/>
            <a:ext cx="8394889" cy="366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31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Page Table: Memory Protection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73" y="828312"/>
            <a:ext cx="8087854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3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Swapping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1744"/>
            <a:ext cx="8354591" cy="201958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35823"/>
            <a:ext cx="7992590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7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Swapping: Choosing processes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74427"/>
            <a:ext cx="7392432" cy="285789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24" y="4295419"/>
            <a:ext cx="7678222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8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Swapping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03" y="1156265"/>
            <a:ext cx="7802064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943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Swapping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04" y="1088614"/>
            <a:ext cx="8354591" cy="14670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25" y="3574361"/>
            <a:ext cx="7563906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76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CCC7638-093C-4CC4-960F-79B01FBE9F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Taking advantages </a:t>
            </a:r>
            <a:r>
              <a:rPr lang="en-US" altLang="en-US" dirty="0"/>
              <a:t>of paging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8BAF45D-7AF6-46D9-974E-C552BF29A1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7" y="1195229"/>
            <a:ext cx="7993072" cy="4530725"/>
          </a:xfrm>
        </p:spPr>
        <p:txBody>
          <a:bodyPr/>
          <a:lstStyle/>
          <a:p>
            <a:r>
              <a:rPr lang="en-US" altLang="en-US" dirty="0"/>
              <a:t>Code needs to be in memory to execute, but entire program rarely used</a:t>
            </a:r>
          </a:p>
          <a:p>
            <a:pPr lvl="1"/>
            <a:r>
              <a:rPr lang="en-US" altLang="en-US" dirty="0"/>
              <a:t>Error code, unusual routines, large data structures</a:t>
            </a:r>
          </a:p>
          <a:p>
            <a:endParaRPr lang="en-US" altLang="en-US" dirty="0"/>
          </a:p>
          <a:p>
            <a:r>
              <a:rPr lang="en-US" altLang="en-US" dirty="0"/>
              <a:t>Entire program code not needed at same time</a:t>
            </a:r>
          </a:p>
          <a:p>
            <a:endParaRPr lang="en-US" altLang="en-US" dirty="0"/>
          </a:p>
          <a:p>
            <a:r>
              <a:rPr lang="en-US" altLang="en-US" dirty="0"/>
              <a:t>Program no longer constrained by limits of physical memory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30499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BD8A388-8E27-4EE5-81A8-60463D778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memory 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522901F-947A-433D-9A89-77363C3CEF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7" y="1231579"/>
            <a:ext cx="7679094" cy="45291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 memory </a:t>
            </a:r>
            <a:r>
              <a:rPr lang="en-US" altLang="en-US" dirty="0"/>
              <a:t>– separation of user logical memory from physical memory</a:t>
            </a:r>
          </a:p>
          <a:p>
            <a:pPr lvl="1"/>
            <a:r>
              <a:rPr lang="en-US" altLang="en-US" dirty="0"/>
              <a:t>Only part of the program needs to be in memory for execution</a:t>
            </a:r>
          </a:p>
          <a:p>
            <a:pPr lvl="1"/>
            <a:r>
              <a:rPr lang="en-US" altLang="en-US" dirty="0"/>
              <a:t>Logical address space can therefore be much larger than physical address space</a:t>
            </a:r>
          </a:p>
          <a:p>
            <a:pPr lvl="1"/>
            <a:r>
              <a:rPr lang="en-US" altLang="en-US" dirty="0"/>
              <a:t>Allows address spaces to be shared by several processes</a:t>
            </a:r>
          </a:p>
          <a:p>
            <a:pPr lvl="1"/>
            <a:r>
              <a:rPr lang="en-US" altLang="en-US" dirty="0"/>
              <a:t>Allows for more efficient process creation</a:t>
            </a:r>
          </a:p>
          <a:p>
            <a:pPr lvl="1"/>
            <a:r>
              <a:rPr lang="en-US" altLang="en-US" dirty="0"/>
              <a:t>More programs running concurrently</a:t>
            </a:r>
          </a:p>
          <a:p>
            <a:pPr lvl="1"/>
            <a:r>
              <a:rPr lang="en-US" altLang="en-US" dirty="0"/>
              <a:t>Less I/O needed to load or swap processes</a:t>
            </a:r>
          </a:p>
          <a:p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13303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D98FEA7-C7CA-4225-97D5-87D05E0B6A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memory  (Cont.)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EAA72FA-32BB-4333-A973-F0773984B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7" y="1244666"/>
            <a:ext cx="7688424" cy="45291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 address space</a:t>
            </a:r>
            <a:r>
              <a:rPr lang="en-US" altLang="en-US" dirty="0"/>
              <a:t> – logical view of how process is stored in memory</a:t>
            </a:r>
          </a:p>
          <a:p>
            <a:pPr lvl="1"/>
            <a:r>
              <a:rPr lang="en-US" altLang="en-US" dirty="0"/>
              <a:t>Usually start at address 0, contiguous addresses until end of space</a:t>
            </a:r>
          </a:p>
          <a:p>
            <a:pPr lvl="1"/>
            <a:r>
              <a:rPr lang="en-US" altLang="en-US" dirty="0"/>
              <a:t>Meanwhile, physical memory organized in page frames</a:t>
            </a:r>
          </a:p>
          <a:p>
            <a:pPr lvl="1"/>
            <a:r>
              <a:rPr lang="en-US" altLang="en-US" dirty="0"/>
              <a:t>MMU must map logical to physical</a:t>
            </a:r>
          </a:p>
          <a:p>
            <a:endParaRPr lang="en-US" altLang="en-US" dirty="0"/>
          </a:p>
          <a:p>
            <a:r>
              <a:rPr lang="en-US" altLang="en-US" dirty="0"/>
              <a:t>Virtual memory can be implemented via:</a:t>
            </a:r>
          </a:p>
          <a:p>
            <a:pPr lvl="1"/>
            <a:r>
              <a:rPr lang="en-US" altLang="en-US" dirty="0"/>
              <a:t>Demand paging </a:t>
            </a:r>
          </a:p>
          <a:p>
            <a:pPr lvl="1"/>
            <a:r>
              <a:rPr lang="en-US" altLang="en-US" dirty="0"/>
              <a:t>Demand segmentation</a:t>
            </a:r>
          </a:p>
        </p:txBody>
      </p:sp>
    </p:spTree>
    <p:extLst>
      <p:ext uri="{BB962C8B-B14F-4D97-AF65-F5344CB8AC3E}">
        <p14:creationId xmlns:p14="http://schemas.microsoft.com/office/powerpoint/2010/main" val="343208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8334937-C42E-4E7B-B0E3-358B7E8083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5713" y="216162"/>
            <a:ext cx="8080375" cy="608013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Virtual Memory That is Larger Than Physical Memory</a:t>
            </a:r>
          </a:p>
        </p:txBody>
      </p:sp>
      <p:pic>
        <p:nvPicPr>
          <p:cNvPr id="10243" name="Picture 4" descr="B:\os-book\os10-dir\Slides-WORK-area\Figures-dir\ch10\JPG-dir\10_01.jpg">
            <a:extLst>
              <a:ext uri="{FF2B5EF4-FFF2-40B4-BE49-F238E27FC236}">
                <a16:creationId xmlns:a16="http://schemas.microsoft.com/office/drawing/2014/main" id="{75959D58-FD0D-4362-987B-001456C2B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1457325"/>
            <a:ext cx="5459413" cy="432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9661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0F0B8DB-E097-4BE3-81BB-00866E68FD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2975" y="232199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Virtual-address Space</a:t>
            </a:r>
          </a:p>
        </p:txBody>
      </p:sp>
      <p:pic>
        <p:nvPicPr>
          <p:cNvPr id="11267" name="Picture 5">
            <a:extLst>
              <a:ext uri="{FF2B5EF4-FFF2-40B4-BE49-F238E27FC236}">
                <a16:creationId xmlns:a16="http://schemas.microsoft.com/office/drawing/2014/main" id="{E67654BE-83C9-4844-8B55-CE9FFDB0F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600" y="1274763"/>
            <a:ext cx="2063750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Rectangle 3">
            <a:extLst>
              <a:ext uri="{FF2B5EF4-FFF2-40B4-BE49-F238E27FC236}">
                <a16:creationId xmlns:a16="http://schemas.microsoft.com/office/drawing/2014/main" id="{2B1431A7-1D96-4E21-A5C9-CBD53450B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3" y="1119188"/>
            <a:ext cx="4404599" cy="500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550988" indent="-32543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Usually design logical address space for stack to start at Max logical address and grow “down” while heap grows “up”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Maximizes address space use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Unused address space between the two is hole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System libraries shared via mapping into virtual address space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Shared memory by mapping pages read-write into virtual address space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Pages can be shared during </a:t>
            </a:r>
            <a:r>
              <a:rPr kumimoji="1"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kumimoji="1" lang="en-US" altLang="en-US" sz="1600" dirty="0">
                <a:latin typeface="Helvetica" panose="020B0604020202020204" pitchFamily="34" charset="0"/>
                <a:cs typeface="Courier New" panose="02070309020205020404" pitchFamily="49" charset="0"/>
              </a:rPr>
              <a:t>, speeding process creation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None/>
            </a:pPr>
            <a:r>
              <a:rPr kumimoji="1" lang="en-US" altLang="en-US" sz="1600" dirty="0">
                <a:latin typeface="Helvetica" panose="020B0604020202020204" pitchFamily="34" charset="0"/>
              </a:rPr>
              <a:t> 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None/>
            </a:pPr>
            <a:endParaRPr kumimoji="1" lang="en-US" altLang="en-US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35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82E1AA8-C0F1-47D6-90C4-29E3C8F7FB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3656" y="235568"/>
            <a:ext cx="75612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Library Using Virtual Memory</a:t>
            </a:r>
          </a:p>
        </p:txBody>
      </p:sp>
      <p:pic>
        <p:nvPicPr>
          <p:cNvPr id="12291" name="Picture 6">
            <a:extLst>
              <a:ext uri="{FF2B5EF4-FFF2-40B4-BE49-F238E27FC236}">
                <a16:creationId xmlns:a16="http://schemas.microsoft.com/office/drawing/2014/main" id="{C513F0E0-9020-4F02-8008-BA6516EC2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1404938"/>
            <a:ext cx="6070600" cy="400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026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F69F4A5-E6CB-4B0B-8299-F4A8C1CEFA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738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D2BC1A3-DFC6-4D60-B5FB-EA52511A2F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6" y="1261355"/>
            <a:ext cx="7604158" cy="50974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Bring a page into memory only when it is needed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 I/O needed, no unnecessary I/O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 memory needed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Faster response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More users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Page is needed </a:t>
            </a:r>
            <a:r>
              <a:rPr lang="en-US" altLang="en-US" dirty="0">
                <a:sym typeface="Symbol" panose="05050102010706020507" pitchFamily="18" charset="2"/>
              </a:rPr>
              <a:t> reference to it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invalid reference </a:t>
            </a:r>
            <a:r>
              <a:rPr lang="en-US" altLang="en-US" dirty="0">
                <a:sym typeface="Symbol" panose="05050102010706020507" pitchFamily="18" charset="2"/>
              </a:rPr>
              <a:t> abort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not-in-memory  bring to memory</a:t>
            </a:r>
          </a:p>
          <a:p>
            <a:pPr lvl="1">
              <a:lnSpc>
                <a:spcPct val="90000"/>
              </a:lnSpc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Similar to paging system with swapping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006699"/>
              </a:solidFill>
              <a:latin typeface="+mj-lt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6699"/>
              </a:solidFill>
              <a:latin typeface="+mj-lt"/>
              <a:sym typeface="Symbol" panose="05050102010706020507" pitchFamily="18" charset="2"/>
            </a:endParaRPr>
          </a:p>
        </p:txBody>
      </p:sp>
      <p:pic>
        <p:nvPicPr>
          <p:cNvPr id="4" name="Picture 4" descr="9">
            <a:extLst>
              <a:ext uri="{FF2B5EF4-FFF2-40B4-BE49-F238E27FC236}">
                <a16:creationId xmlns:a16="http://schemas.microsoft.com/office/drawing/2014/main" id="{A3D70552-8B37-46D6-A4A0-489B357F4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5272" y="2700291"/>
            <a:ext cx="3265664" cy="2990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286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C06DF40-C8BE-4D63-864C-842E26CBB1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738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FA26912-DDBD-4FE1-BFA7-E72BE4D7C0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303338"/>
            <a:ext cx="4049745" cy="53514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Could bring entire process into memory at load time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Or bring a page into memory only when it is needed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 I/O needed, no unnecessary I/O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 memory needed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Faster response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More users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Similar to paging system with swapping (diagram on right)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  <p:pic>
        <p:nvPicPr>
          <p:cNvPr id="14340" name="Picture 4" descr="9">
            <a:extLst>
              <a:ext uri="{FF2B5EF4-FFF2-40B4-BE49-F238E27FC236}">
                <a16:creationId xmlns:a16="http://schemas.microsoft.com/office/drawing/2014/main" id="{A3D70552-8B37-46D6-A4A0-489B357F4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675" y="1701800"/>
            <a:ext cx="3878263" cy="355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2225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0264511C-9394-4FB0-8A88-DD12566F9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r>
              <a:rPr lang="en-US" altLang="en-US" dirty="0"/>
              <a:t>Basic Concepts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5F816111-C06D-4FA2-86A2-9368F11D4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671" y="960423"/>
            <a:ext cx="7697755" cy="4530725"/>
          </a:xfrm>
        </p:spPr>
        <p:txBody>
          <a:bodyPr/>
          <a:lstStyle/>
          <a:p>
            <a:r>
              <a:rPr lang="en-US" altLang="en-US" dirty="0"/>
              <a:t>If pages needed are already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resident</a:t>
            </a:r>
          </a:p>
          <a:p>
            <a:pPr lvl="1"/>
            <a:r>
              <a:rPr lang="en-US" altLang="en-US" dirty="0"/>
              <a:t>No difference from non demand-paging</a:t>
            </a:r>
          </a:p>
          <a:p>
            <a:endParaRPr lang="en-US" altLang="en-US" dirty="0"/>
          </a:p>
          <a:p>
            <a:r>
              <a:rPr lang="en-US" altLang="en-US" dirty="0"/>
              <a:t>If page needed and not memory resident</a:t>
            </a:r>
          </a:p>
          <a:p>
            <a:pPr lvl="1"/>
            <a:r>
              <a:rPr lang="en-US" altLang="en-US" dirty="0"/>
              <a:t>Need to detect and load the page into memory from storage</a:t>
            </a:r>
          </a:p>
        </p:txBody>
      </p:sp>
    </p:spTree>
    <p:extLst>
      <p:ext uri="{BB962C8B-B14F-4D97-AF65-F5344CB8AC3E}">
        <p14:creationId xmlns:p14="http://schemas.microsoft.com/office/powerpoint/2010/main" val="3108744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D871474-8C29-4C4D-A06C-A16B6A83DC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Valid-Invalid Bit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2DE0254-5503-4CC6-82D6-9AD27FDC12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1046163"/>
            <a:ext cx="7688424" cy="5472112"/>
          </a:xfrm>
        </p:spPr>
        <p:txBody>
          <a:bodyPr/>
          <a:lstStyle/>
          <a:p>
            <a:r>
              <a:rPr lang="en-US" altLang="en-US" dirty="0"/>
              <a:t>With each page table entry a valid–invalid bit is associated</a:t>
            </a:r>
            <a:br>
              <a:rPr lang="en-US" altLang="en-US" dirty="0"/>
            </a:br>
            <a:r>
              <a:rPr lang="en-US" altLang="en-US" dirty="0"/>
              <a:t>(</a:t>
            </a:r>
            <a:r>
              <a:rPr lang="en-US" altLang="en-US" b="1" dirty="0">
                <a:solidFill>
                  <a:srgbClr val="FF0000"/>
                </a:solidFill>
              </a:rPr>
              <a:t>v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 in-memory –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memory</a:t>
            </a:r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resident</a:t>
            </a:r>
            <a:r>
              <a:rPr lang="en-US" altLang="en-US" dirty="0">
                <a:sym typeface="Symbol" panose="05050102010706020507" pitchFamily="18" charset="2"/>
              </a:rPr>
              <a:t>,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 not-in-memory)</a:t>
            </a:r>
          </a:p>
          <a:p>
            <a:pPr lvl="1"/>
            <a:r>
              <a:rPr lang="en-US" altLang="en-US" dirty="0"/>
              <a:t>Last n-bits are 0, use 3 of them to set </a:t>
            </a:r>
            <a:r>
              <a:rPr lang="en-US" altLang="en-US" dirty="0" err="1"/>
              <a:t>rd</a:t>
            </a:r>
            <a:r>
              <a:rPr lang="en-US" altLang="en-US" dirty="0"/>
              <a:t> / </a:t>
            </a:r>
            <a:r>
              <a:rPr lang="en-US" altLang="en-US" dirty="0" err="1"/>
              <a:t>wr</a:t>
            </a:r>
            <a:r>
              <a:rPr lang="en-US" altLang="en-US" dirty="0"/>
              <a:t> / x permission</a:t>
            </a:r>
          </a:p>
          <a:p>
            <a:pPr lvl="1"/>
            <a:r>
              <a:rPr lang="en-US" altLang="en-US" dirty="0"/>
              <a:t>One more bit </a:t>
            </a:r>
            <a:r>
              <a:rPr lang="en-US" altLang="en-US" dirty="0" smtClean="0"/>
              <a:t>to mark illegal entry (compiler did not generate this)</a:t>
            </a:r>
            <a:endParaRPr lang="en-US" altLang="en-US" dirty="0"/>
          </a:p>
          <a:p>
            <a:r>
              <a:rPr lang="en-US" altLang="en-US" dirty="0">
                <a:sym typeface="Symbol" panose="05050102010706020507" pitchFamily="18" charset="2"/>
              </a:rPr>
              <a:t>Initially valid–invalid bit is set to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 i </a:t>
            </a:r>
            <a:r>
              <a:rPr lang="en-US" altLang="en-US" dirty="0">
                <a:sym typeface="Symbol" panose="05050102010706020507" pitchFamily="18" charset="2"/>
              </a:rPr>
              <a:t>on all entries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Example of a page table snapshot: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sz="1600" dirty="0">
                <a:sym typeface="Symbol" panose="05050102010706020507" pitchFamily="18" charset="2"/>
              </a:rPr>
              <a:t/>
            </a:r>
            <a:br>
              <a:rPr lang="en-US" altLang="en-US" sz="1600" dirty="0">
                <a:sym typeface="Symbol" panose="05050102010706020507" pitchFamily="18" charset="2"/>
              </a:rPr>
            </a:br>
            <a:r>
              <a:rPr lang="en-US" altLang="en-US" sz="1600" dirty="0">
                <a:sym typeface="Symbol" panose="05050102010706020507" pitchFamily="18" charset="2"/>
              </a:rPr>
              <a:t/>
            </a:r>
            <a:br>
              <a:rPr lang="en-US" altLang="en-US" sz="1600" dirty="0">
                <a:sym typeface="Symbol" panose="05050102010706020507" pitchFamily="18" charset="2"/>
              </a:rPr>
            </a:br>
            <a:r>
              <a:rPr lang="en-US" altLang="en-US" sz="1600" dirty="0">
                <a:sym typeface="Symbol" panose="05050102010706020507" pitchFamily="18" charset="2"/>
              </a:rPr>
              <a:t/>
            </a:r>
            <a:br>
              <a:rPr lang="en-US" altLang="en-US" sz="1600" dirty="0">
                <a:sym typeface="Symbol" panose="05050102010706020507" pitchFamily="18" charset="2"/>
              </a:rPr>
            </a:br>
            <a:r>
              <a:rPr lang="en-US" altLang="en-US" sz="1600" dirty="0">
                <a:sym typeface="Symbol" panose="05050102010706020507" pitchFamily="18" charset="2"/>
              </a:rPr>
              <a:t/>
            </a:r>
            <a:br>
              <a:rPr lang="en-US" altLang="en-US" sz="1600" dirty="0">
                <a:sym typeface="Symbol" panose="05050102010706020507" pitchFamily="18" charset="2"/>
              </a:rPr>
            </a:br>
            <a:r>
              <a:rPr lang="en-US" altLang="en-US" sz="1600" dirty="0">
                <a:sym typeface="Symbol" panose="05050102010706020507" pitchFamily="18" charset="2"/>
              </a:rPr>
              <a:t/>
            </a:r>
            <a:br>
              <a:rPr lang="en-US" altLang="en-US" sz="1600" dirty="0">
                <a:sym typeface="Symbol" panose="05050102010706020507" pitchFamily="18" charset="2"/>
              </a:rPr>
            </a:br>
            <a:r>
              <a:rPr lang="en-US" altLang="en-US" sz="1600" dirty="0">
                <a:sym typeface="Symbol" panose="05050102010706020507" pitchFamily="18" charset="2"/>
              </a:rPr>
              <a:t/>
            </a:r>
            <a:br>
              <a:rPr lang="en-US" altLang="en-US" sz="1600" dirty="0">
                <a:sym typeface="Symbol" panose="05050102010706020507" pitchFamily="18" charset="2"/>
              </a:rPr>
            </a:br>
            <a:r>
              <a:rPr lang="en-US" altLang="en-US" sz="1600" dirty="0">
                <a:sym typeface="Symbol" panose="05050102010706020507" pitchFamily="18" charset="2"/>
              </a:rPr>
              <a:t/>
            </a:r>
            <a:br>
              <a:rPr lang="en-US" altLang="en-US" sz="1600" dirty="0">
                <a:sym typeface="Symbol" panose="05050102010706020507" pitchFamily="18" charset="2"/>
              </a:rPr>
            </a:br>
            <a:r>
              <a:rPr lang="en-US" altLang="en-US" sz="1600" dirty="0">
                <a:sym typeface="Symbol" panose="05050102010706020507" pitchFamily="18" charset="2"/>
              </a:rPr>
              <a:t/>
            </a:r>
            <a:br>
              <a:rPr lang="en-US" altLang="en-US" sz="1600" dirty="0">
                <a:sym typeface="Symbol" panose="05050102010706020507" pitchFamily="18" charset="2"/>
              </a:rPr>
            </a:br>
            <a:r>
              <a:rPr lang="en-US" altLang="en-US" sz="1600" dirty="0">
                <a:sym typeface="Symbol" panose="05050102010706020507" pitchFamily="18" charset="2"/>
              </a:rPr>
              <a:t/>
            </a:r>
            <a:br>
              <a:rPr lang="en-US" altLang="en-US" sz="1600" dirty="0">
                <a:sym typeface="Symbol" panose="05050102010706020507" pitchFamily="18" charset="2"/>
              </a:rPr>
            </a:br>
            <a:r>
              <a:rPr lang="en-US" altLang="en-US" sz="1600" dirty="0">
                <a:sym typeface="Symbol" panose="05050102010706020507" pitchFamily="18" charset="2"/>
              </a:rPr>
              <a:t/>
            </a:r>
            <a:br>
              <a:rPr lang="en-US" altLang="en-US" sz="1600" dirty="0">
                <a:sym typeface="Symbol" panose="05050102010706020507" pitchFamily="18" charset="2"/>
              </a:rPr>
            </a:br>
            <a:r>
              <a:rPr lang="en-US" altLang="en-US" sz="1600" dirty="0">
                <a:sym typeface="Symbol" panose="05050102010706020507" pitchFamily="18" charset="2"/>
              </a:rPr>
              <a:t/>
            </a:r>
            <a:br>
              <a:rPr lang="en-US" altLang="en-US" sz="1600" dirty="0">
                <a:sym typeface="Symbol" panose="05050102010706020507" pitchFamily="18" charset="2"/>
              </a:rPr>
            </a:br>
            <a:endParaRPr lang="en-US" altLang="en-US" sz="800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During MMU address translation, if valid–invalid bit in page table entry is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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page fault</a:t>
            </a:r>
          </a:p>
        </p:txBody>
      </p:sp>
      <p:pic>
        <p:nvPicPr>
          <p:cNvPr id="16388" name="Picture 1">
            <a:extLst>
              <a:ext uri="{FF2B5EF4-FFF2-40B4-BE49-F238E27FC236}">
                <a16:creationId xmlns:a16="http://schemas.microsoft.com/office/drawing/2014/main" id="{6076F79C-4BBB-4218-90FB-18A6D83B8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300" y="3352800"/>
            <a:ext cx="2370138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 bwMode="auto">
          <a:xfrm flipH="1">
            <a:off x="4693298" y="3361984"/>
            <a:ext cx="23446" cy="2605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693298" y="3352800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 smtClean="0"/>
              <a:t>4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113855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B154921-491D-443E-816A-3E1D64EAD9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3143" y="344979"/>
            <a:ext cx="7884368" cy="50165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Page Table When Some Pages Are Not</a:t>
            </a:r>
            <a:br>
              <a:rPr lang="en-US" altLang="en-US" sz="2400" dirty="0"/>
            </a:br>
            <a:r>
              <a:rPr lang="en-US" altLang="en-US" sz="2400" dirty="0"/>
              <a:t>in Main Memory</a:t>
            </a:r>
          </a:p>
        </p:txBody>
      </p:sp>
      <p:pic>
        <p:nvPicPr>
          <p:cNvPr id="17411" name="Picture 2" descr="B:\os-book\os10-dir\Slides-WORK-area\Figures-dir\ch10\JPG-dir\10_04.jpg">
            <a:extLst>
              <a:ext uri="{FF2B5EF4-FFF2-40B4-BE49-F238E27FC236}">
                <a16:creationId xmlns:a16="http://schemas.microsoft.com/office/drawing/2014/main" id="{EE8B21A0-27D4-48EC-AA1E-673C6BCAF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1246188"/>
            <a:ext cx="4805362" cy="465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8337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614AF0F-0564-40AA-8F76-6152AC6E0C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82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Steps in Handling Page Fault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663B1E5A-B195-422A-B1B4-080156B3A5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5367" y="981888"/>
            <a:ext cx="7707086" cy="4010414"/>
          </a:xfrm>
        </p:spPr>
        <p:txBody>
          <a:bodyPr/>
          <a:lstStyle/>
          <a:p>
            <a:pPr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altLang="en-US" dirty="0"/>
              <a:t>If there is a reference to a page, first reference to that page will trap to operating system 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dirty="0">
                <a:sym typeface="Symbol" pitchFamily="18" charset="2"/>
              </a:rPr>
              <a:t>Page fault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Operating system </a:t>
            </a:r>
            <a:r>
              <a:rPr lang="en-US" altLang="en-US" dirty="0" smtClean="0">
                <a:sym typeface="Symbol" pitchFamily="18" charset="2"/>
              </a:rPr>
              <a:t>needs </a:t>
            </a:r>
            <a:r>
              <a:rPr lang="en-US" altLang="en-US" dirty="0" smtClean="0">
                <a:sym typeface="Symbol" pitchFamily="18" charset="2"/>
              </a:rPr>
              <a:t>to </a:t>
            </a:r>
            <a:r>
              <a:rPr lang="en-US" altLang="en-US" dirty="0">
                <a:sym typeface="Symbol" pitchFamily="18" charset="2"/>
              </a:rPr>
              <a:t>decide:</a:t>
            </a:r>
          </a:p>
          <a:p>
            <a:pPr marL="798513" lvl="1" indent="-341313">
              <a:lnSpc>
                <a:spcPct val="90000"/>
              </a:lnSpc>
              <a:defRPr/>
            </a:pPr>
            <a:r>
              <a:rPr lang="en-US" altLang="en-US" dirty="0"/>
              <a:t>Invalid reference </a:t>
            </a:r>
            <a:r>
              <a:rPr lang="en-US" altLang="en-US" dirty="0">
                <a:sym typeface="Symbol" pitchFamily="18" charset="2"/>
              </a:rPr>
              <a:t> abort</a:t>
            </a:r>
          </a:p>
          <a:p>
            <a:pPr marL="798513" lvl="1" indent="-341313">
              <a:lnSpc>
                <a:spcPct val="90000"/>
              </a:lnSpc>
              <a:defRPr/>
            </a:pPr>
            <a:r>
              <a:rPr lang="en-US" altLang="en-US" dirty="0">
                <a:sym typeface="Symbol" pitchFamily="18" charset="2"/>
              </a:rPr>
              <a:t>Just not in memory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Find free frame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Swap page into frame via scheduled disk operation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Reset tables to indicate page now in memory</a:t>
            </a:r>
            <a:br>
              <a:rPr lang="en-US" altLang="en-US" dirty="0">
                <a:sym typeface="Symbol" pitchFamily="18" charset="2"/>
              </a:rPr>
            </a:br>
            <a:r>
              <a:rPr lang="en-US" altLang="en-US" dirty="0">
                <a:sym typeface="Symbol" pitchFamily="18" charset="2"/>
              </a:rPr>
              <a:t>Set validation bit = </a:t>
            </a:r>
            <a:r>
              <a:rPr lang="en-US" altLang="en-US" b="1" dirty="0">
                <a:solidFill>
                  <a:srgbClr val="FF0000"/>
                </a:solidFill>
                <a:sym typeface="Symbol" pitchFamily="18" charset="2"/>
              </a:rPr>
              <a:t>v</a:t>
            </a: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Restart the instruction that caused the page fault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defRPr/>
            </a:pPr>
            <a:endParaRPr lang="en-US" altLang="en-US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54811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45744E8-6995-495D-B4E9-CB8155552B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804" y="244899"/>
            <a:ext cx="851505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Steps in Handling a Page Fault (Cont.)</a:t>
            </a:r>
          </a:p>
        </p:txBody>
      </p:sp>
      <p:pic>
        <p:nvPicPr>
          <p:cNvPr id="19459" name="Picture 4" descr="9">
            <a:extLst>
              <a:ext uri="{FF2B5EF4-FFF2-40B4-BE49-F238E27FC236}">
                <a16:creationId xmlns:a16="http://schemas.microsoft.com/office/drawing/2014/main" id="{4C87B603-A2E7-4FAE-A0CB-D034C6085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900" y="1217613"/>
            <a:ext cx="5800725" cy="484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4084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455FCDC-9CE5-4011-94EB-761285813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r>
              <a:rPr lang="en-US" altLang="en-US" dirty="0"/>
              <a:t>Aspects of Demand Paging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AAD11580-A239-44B3-BA48-43549630E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416" y="1239708"/>
            <a:ext cx="7651102" cy="4887912"/>
          </a:xfrm>
        </p:spPr>
        <p:txBody>
          <a:bodyPr/>
          <a:lstStyle/>
          <a:p>
            <a:r>
              <a:rPr lang="en-US" altLang="en-US" dirty="0"/>
              <a:t>Extreme case – start process with </a:t>
            </a:r>
            <a:r>
              <a:rPr lang="en-US" altLang="en-US" i="1" dirty="0"/>
              <a:t>no</a:t>
            </a:r>
            <a:r>
              <a:rPr lang="en-US" altLang="en-US" dirty="0"/>
              <a:t> pages in memory</a:t>
            </a:r>
          </a:p>
          <a:p>
            <a:pPr lvl="1"/>
            <a:r>
              <a:rPr lang="en-US" altLang="en-US" dirty="0"/>
              <a:t>OS sets instruction pointer to first instruction of process, non-memory-resident -&gt; page fault</a:t>
            </a:r>
          </a:p>
          <a:p>
            <a:pPr lvl="1"/>
            <a:r>
              <a:rPr lang="en-US" altLang="en-US" dirty="0"/>
              <a:t>And for every other process pages on first access</a:t>
            </a:r>
          </a:p>
          <a:p>
            <a:endParaRPr lang="en-US" altLang="en-US" dirty="0"/>
          </a:p>
          <a:p>
            <a:r>
              <a:rPr lang="en-US" altLang="en-US" dirty="0"/>
              <a:t>A given instruction could access multiple pages -&gt; multiple page faults</a:t>
            </a:r>
          </a:p>
          <a:p>
            <a:endParaRPr lang="en-US" altLang="en-US" dirty="0"/>
          </a:p>
          <a:p>
            <a:r>
              <a:rPr lang="en-US" altLang="en-US" dirty="0"/>
              <a:t>Hardware support needed for demand paging</a:t>
            </a:r>
          </a:p>
          <a:p>
            <a:pPr lvl="1"/>
            <a:r>
              <a:rPr lang="en-US" altLang="en-US" dirty="0"/>
              <a:t>Page table with valid / invalid bit</a:t>
            </a:r>
          </a:p>
          <a:p>
            <a:pPr lvl="1"/>
            <a:r>
              <a:rPr lang="en-US" altLang="en-US" dirty="0"/>
              <a:t>Secondary memory (swap device with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swap space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Instruction restart</a:t>
            </a:r>
          </a:p>
        </p:txBody>
      </p:sp>
    </p:spTree>
    <p:extLst>
      <p:ext uri="{BB962C8B-B14F-4D97-AF65-F5344CB8AC3E}">
        <p14:creationId xmlns:p14="http://schemas.microsoft.com/office/powerpoint/2010/main" val="4002870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8DBC94B-798D-408F-B016-8235AA92A7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82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Instruction Restart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09283A3-41F7-4BC9-BF2A-D4DB982A5E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8" y="1399891"/>
            <a:ext cx="7432708" cy="4114800"/>
          </a:xfrm>
        </p:spPr>
        <p:txBody>
          <a:bodyPr/>
          <a:lstStyle/>
          <a:p>
            <a:r>
              <a:rPr lang="en-US" altLang="en-US" dirty="0"/>
              <a:t>Consider an instruction that could access several different locations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Block move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sz="1600" dirty="0">
                <a:sym typeface="Symbol" panose="05050102010706020507" pitchFamily="18" charset="2"/>
              </a:rPr>
              <a:t/>
            </a:r>
            <a:br>
              <a:rPr lang="en-US" altLang="en-US" sz="1600" dirty="0">
                <a:sym typeface="Symbol" panose="05050102010706020507" pitchFamily="18" charset="2"/>
              </a:rPr>
            </a:br>
            <a:r>
              <a:rPr lang="en-US" altLang="en-US" sz="1600" dirty="0">
                <a:sym typeface="Symbol" panose="05050102010706020507" pitchFamily="18" charset="2"/>
              </a:rPr>
              <a:t/>
            </a:r>
            <a:br>
              <a:rPr lang="en-US" altLang="en-US" sz="1600" dirty="0">
                <a:sym typeface="Symbol" panose="05050102010706020507" pitchFamily="18" charset="2"/>
              </a:rPr>
            </a:br>
            <a:r>
              <a:rPr lang="en-US" altLang="en-US" sz="1600" dirty="0">
                <a:sym typeface="Symbol" panose="05050102010706020507" pitchFamily="18" charset="2"/>
              </a:rPr>
              <a:t/>
            </a:r>
            <a:br>
              <a:rPr lang="en-US" altLang="en-US" sz="1600" dirty="0">
                <a:sym typeface="Symbol" panose="05050102010706020507" pitchFamily="18" charset="2"/>
              </a:rPr>
            </a:br>
            <a:r>
              <a:rPr lang="en-US" altLang="en-US" sz="1600" dirty="0">
                <a:sym typeface="Symbol" panose="05050102010706020507" pitchFamily="18" charset="2"/>
              </a:rPr>
              <a:t/>
            </a:r>
            <a:br>
              <a:rPr lang="en-US" altLang="en-US" sz="1600" dirty="0">
                <a:sym typeface="Symbol" panose="05050102010706020507" pitchFamily="18" charset="2"/>
              </a:rPr>
            </a:br>
            <a:endParaRPr lang="en-US" altLang="en-US" sz="16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Auto increment/decrement location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Restart the whole operation?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What if source and destination overlap?</a:t>
            </a:r>
          </a:p>
        </p:txBody>
      </p:sp>
      <p:pic>
        <p:nvPicPr>
          <p:cNvPr id="21508" name="Picture 2">
            <a:extLst>
              <a:ext uri="{FF2B5EF4-FFF2-40B4-BE49-F238E27FC236}">
                <a16:creationId xmlns:a16="http://schemas.microsoft.com/office/drawing/2014/main" id="{8E395989-C37C-4C8C-8157-9861CCB88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813" y="2268538"/>
            <a:ext cx="1563687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4388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1A455AE-86AA-4EA2-9575-6B5ABC9901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Free-Frame List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1D3A033-F636-4DD5-B0D9-B3C0BC32B5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343903"/>
            <a:ext cx="7669764" cy="4114800"/>
          </a:xfrm>
        </p:spPr>
        <p:txBody>
          <a:bodyPr/>
          <a:lstStyle/>
          <a:p>
            <a:r>
              <a:rPr lang="en-US" altLang="en-US" dirty="0"/>
              <a:t>When a page fault occurs, the operating system must bring the desired page from secondary storage into main memory. </a:t>
            </a:r>
          </a:p>
          <a:p>
            <a:endParaRPr lang="en-US" altLang="en-US" dirty="0"/>
          </a:p>
          <a:p>
            <a:r>
              <a:rPr lang="en-US" altLang="en-US" dirty="0"/>
              <a:t>Most operating systems maintain a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free-frame</a:t>
            </a:r>
            <a:r>
              <a:rPr lang="en-US" altLang="en-US" b="1" dirty="0">
                <a:solidFill>
                  <a:srgbClr val="0070C0"/>
                </a:solidFill>
              </a:rPr>
              <a:t> list</a:t>
            </a:r>
            <a:r>
              <a:rPr lang="en-US" altLang="en-US" dirty="0"/>
              <a:t> -- a pool of free frames for satisfying such requests.</a:t>
            </a:r>
          </a:p>
          <a:p>
            <a:endParaRPr lang="en-US" altLang="en-US" dirty="0"/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When a system starts up, all available memory is placed on the free-frame list. 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22532" name="Picture 2" descr="B:\os-book\os10-dir\Slides-WORK-area\Figures-dir\ch10\JPG-dir\10_06.jpg">
            <a:extLst>
              <a:ext uri="{FF2B5EF4-FFF2-40B4-BE49-F238E27FC236}">
                <a16:creationId xmlns:a16="http://schemas.microsoft.com/office/drawing/2014/main" id="{74C1D426-4DEE-495E-BFD2-9DDD43D14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208" y="3262997"/>
            <a:ext cx="45466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881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3106162-FA5D-4204-BC6B-FC492CAB83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8621" y="242727"/>
            <a:ext cx="7869237" cy="576263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/>
            </a:r>
            <a:br>
              <a:rPr lang="en-US" altLang="en-US" sz="3000" dirty="0"/>
            </a:br>
            <a:r>
              <a:rPr lang="en-US" altLang="en-US" sz="3000" dirty="0"/>
              <a:t>Stages in Demand Paging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D59FD618-6420-46F8-ADA3-3B84918F6C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3" y="1324271"/>
            <a:ext cx="7651101" cy="4849812"/>
          </a:xfrm>
        </p:spPr>
        <p:txBody>
          <a:bodyPr/>
          <a:lstStyle/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Trap to the operating system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Save the user registers and process state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Determine that the interrupt was a page fault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Check that the page reference was legal and determine the location of the page on the disk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Issue a read from the disk to a free frame:</a:t>
            </a:r>
          </a:p>
          <a:p>
            <a:pPr marL="800100" lvl="1" indent="-342900">
              <a:buFont typeface="+mj-lt"/>
              <a:buAutoNum type="alphaLcParenR"/>
              <a:tabLst>
                <a:tab pos="2163763" algn="l"/>
                <a:tab pos="2855913" algn="l"/>
              </a:tabLst>
            </a:pPr>
            <a:r>
              <a:rPr lang="en-US" altLang="en-US" dirty="0"/>
              <a:t>Wait in a queue for this device until the read request is serviced</a:t>
            </a:r>
          </a:p>
          <a:p>
            <a:pPr marL="798513" lvl="1" indent="-341313">
              <a:buFont typeface="Arial" panose="020B0604020202020204" pitchFamily="34" charset="0"/>
              <a:buAutoNum type="alphaLcParenR"/>
              <a:tabLst>
                <a:tab pos="2163763" algn="l"/>
                <a:tab pos="2855913" algn="l"/>
              </a:tabLst>
            </a:pPr>
            <a:r>
              <a:rPr lang="en-US" altLang="en-US" dirty="0"/>
              <a:t>Wait for the device seek and/or latency time</a:t>
            </a:r>
          </a:p>
          <a:p>
            <a:pPr marL="798513" lvl="1" indent="-341313">
              <a:buFont typeface="Arial" panose="020B0604020202020204" pitchFamily="34" charset="0"/>
              <a:buAutoNum type="alphaLcParenR"/>
              <a:tabLst>
                <a:tab pos="2163763" algn="l"/>
                <a:tab pos="2855913" algn="l"/>
              </a:tabLst>
            </a:pPr>
            <a:r>
              <a:rPr lang="en-US" altLang="en-US" dirty="0"/>
              <a:t>Begin the transfer of the page to a free frame</a:t>
            </a:r>
          </a:p>
          <a:p>
            <a:pPr>
              <a:tabLst>
                <a:tab pos="2163763" algn="l"/>
                <a:tab pos="2855913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98404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F1F3F51-F06E-4908-B338-588E54F1A2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3961" y="238937"/>
            <a:ext cx="7315200" cy="569912"/>
          </a:xfrm>
        </p:spPr>
        <p:txBody>
          <a:bodyPr/>
          <a:lstStyle/>
          <a:p>
            <a:pPr eaLnBrk="1" hangingPunct="1"/>
            <a:r>
              <a:rPr lang="en-US" altLang="en-US" dirty="0"/>
              <a:t>Stages in Demand Paging  (Cont.)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04CF6A9-3B99-4D5B-BF8C-4531B09133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6201" y="1377046"/>
            <a:ext cx="8036541" cy="4849813"/>
          </a:xfrm>
        </p:spPr>
        <p:txBody>
          <a:bodyPr/>
          <a:lstStyle/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While waiting, allocate the CPU to some other user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Receive an interrupt from the disk I/O subsystem (I/O   completed)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Save the registers and process state for the other user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Determine that the interrupt was from the disk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Correct the page table and other tables to show page is now in memory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Wait for the CPU to be allocated to this process again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Restore the user registers, process state, and new page table, and then  </a:t>
            </a:r>
          </a:p>
          <a:p>
            <a:pPr marL="0" indent="0">
              <a:spcBef>
                <a:spcPts val="0"/>
              </a:spcBef>
              <a:buNone/>
              <a:tabLst>
                <a:tab pos="2163763" algn="l"/>
                <a:tab pos="2855913" algn="l"/>
              </a:tabLst>
            </a:pPr>
            <a:r>
              <a:rPr lang="en-US" altLang="en-US" dirty="0"/>
              <a:t>        resume the interrupted instruction</a:t>
            </a:r>
          </a:p>
          <a:p>
            <a:pPr>
              <a:tabLst>
                <a:tab pos="2163763" algn="l"/>
                <a:tab pos="2855913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2924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49FB98C-679E-4682-BAE7-A7064CABE0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4060" y="202036"/>
            <a:ext cx="7272338" cy="611188"/>
          </a:xfrm>
        </p:spPr>
        <p:txBody>
          <a:bodyPr/>
          <a:lstStyle/>
          <a:p>
            <a:pPr eaLnBrk="1" hangingPunct="1"/>
            <a:r>
              <a:rPr lang="en-US" altLang="en-US" dirty="0"/>
              <a:t>Performance of Demand Paging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F03B7D4-70F1-48B6-8A00-4D9695B105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1119188"/>
            <a:ext cx="7716416" cy="4646612"/>
          </a:xfrm>
        </p:spPr>
        <p:txBody>
          <a:bodyPr/>
          <a:lstStyle/>
          <a:p>
            <a:pPr>
              <a:tabLst>
                <a:tab pos="2163763" algn="l"/>
                <a:tab pos="2855913" algn="l"/>
              </a:tabLst>
            </a:pPr>
            <a:r>
              <a:rPr lang="en-US" altLang="en-US" dirty="0"/>
              <a:t>Three major activities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/>
              <a:t>Service the interrupt 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/>
              <a:t>Read the page – lots of time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/>
              <a:t>Restart the </a:t>
            </a:r>
            <a:r>
              <a:rPr lang="en-US" altLang="en-US" dirty="0" smtClean="0"/>
              <a:t>process</a:t>
            </a:r>
            <a:endParaRPr lang="en-US" altLang="en-US" dirty="0"/>
          </a:p>
          <a:p>
            <a:pPr>
              <a:tabLst>
                <a:tab pos="2163763" algn="l"/>
                <a:tab pos="2855913" algn="l"/>
              </a:tabLst>
            </a:pPr>
            <a:endParaRPr lang="en-US" altLang="en-US" dirty="0"/>
          </a:p>
          <a:p>
            <a:pPr>
              <a:tabLst>
                <a:tab pos="2163763" algn="l"/>
                <a:tab pos="2855913" algn="l"/>
              </a:tabLst>
            </a:pPr>
            <a:r>
              <a:rPr lang="en-US" altLang="en-US" dirty="0"/>
              <a:t>Page Fault Rate 0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 1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= 0 no page faults 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= 1, every reference is a fault</a:t>
            </a:r>
          </a:p>
          <a:p>
            <a:pPr>
              <a:tabLst>
                <a:tab pos="2163763" algn="l"/>
                <a:tab pos="2855913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Effective Access Time (EAT)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      EAT = (1 –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) x memory access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               +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(page fault overhead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                 + swap page out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                 + swap page in )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			</a:t>
            </a:r>
          </a:p>
        </p:txBody>
      </p:sp>
    </p:spTree>
    <p:extLst>
      <p:ext uri="{BB962C8B-B14F-4D97-AF65-F5344CB8AC3E}">
        <p14:creationId xmlns:p14="http://schemas.microsoft.com/office/powerpoint/2010/main" val="253292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0E62A0B-D955-48F0-A13C-C90B2C1490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085" y="223644"/>
            <a:ext cx="77517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 Example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C8756104-BFEE-4B66-8D8E-DC274456D3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6" y="1068388"/>
            <a:ext cx="7669762" cy="4849812"/>
          </a:xfrm>
        </p:spPr>
        <p:txBody>
          <a:bodyPr/>
          <a:lstStyle/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Memory access time = 200 nanoseconds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Average page-fault service time = 8 milliseconds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EAT = (1 – p) x 200 + p (8 milliseconds) 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	        = (1 – p)  x 200 + p x 8,000,000 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              = 200 + p x 7,999,800</a:t>
            </a:r>
          </a:p>
          <a:p>
            <a:pPr>
              <a:tabLst>
                <a:tab pos="1773238" algn="l"/>
                <a:tab pos="2278063" algn="l"/>
              </a:tabLst>
            </a:pPr>
            <a:endParaRPr lang="en-US" altLang="en-US" dirty="0"/>
          </a:p>
          <a:p>
            <a:pPr>
              <a:tabLst>
                <a:tab pos="1773238" algn="l"/>
                <a:tab pos="2278063" algn="l"/>
              </a:tabLst>
            </a:pPr>
            <a:endParaRPr lang="en-US" altLang="en-US" dirty="0"/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If want performance degradation &lt; 10 percent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 dirty="0"/>
              <a:t>220 &gt; 200 + 7,999,800 x p</a:t>
            </a:r>
            <a:br>
              <a:rPr lang="en-US" altLang="en-US" dirty="0"/>
            </a:br>
            <a:r>
              <a:rPr lang="en-US" altLang="en-US" dirty="0"/>
              <a:t>20 &gt; 7,999,800 x p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 dirty="0"/>
              <a:t>p &lt; .0000025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 dirty="0"/>
              <a:t>&lt; one page fault in every 400,000 memory accesses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847518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1B22C3E1-32B8-4B21-A8D6-B32484188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005" y="238159"/>
            <a:ext cx="8229600" cy="576262"/>
          </a:xfrm>
        </p:spPr>
        <p:txBody>
          <a:bodyPr/>
          <a:lstStyle/>
          <a:p>
            <a:r>
              <a:rPr lang="en-US" altLang="en-US" dirty="0"/>
              <a:t>Demand Paging Optimizations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8BEE743C-DD76-4F41-B07D-C4DE4208A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52" y="1028700"/>
            <a:ext cx="7922507" cy="5232400"/>
          </a:xfrm>
        </p:spPr>
        <p:txBody>
          <a:bodyPr/>
          <a:lstStyle/>
          <a:p>
            <a:r>
              <a:rPr lang="en-US" altLang="en-US" sz="1600" dirty="0"/>
              <a:t>Swap space I/O faster than file system I/O even if on the same device</a:t>
            </a:r>
          </a:p>
          <a:p>
            <a:pPr lvl="1"/>
            <a:r>
              <a:rPr lang="en-US" altLang="en-US" sz="1600" dirty="0"/>
              <a:t>Swap allocated in larger chunks, less management needed than file system</a:t>
            </a:r>
          </a:p>
          <a:p>
            <a:endParaRPr lang="en-US" altLang="en-US" sz="1600" dirty="0"/>
          </a:p>
          <a:p>
            <a:r>
              <a:rPr lang="en-US" altLang="en-US" sz="1600" dirty="0"/>
              <a:t>Copy entire process image to swap space at process load time</a:t>
            </a:r>
          </a:p>
          <a:p>
            <a:pPr lvl="1"/>
            <a:r>
              <a:rPr lang="en-US" altLang="en-US" sz="1600" dirty="0"/>
              <a:t>Then page in and out of swap space</a:t>
            </a:r>
          </a:p>
          <a:p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398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6C488EA0-8C3D-457E-9DD0-39B9790740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7909" y="237771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What Happens if There is no Free Frame?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C4E993E-0F50-409F-A8A7-195A5B940B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7" y="1133475"/>
            <a:ext cx="7679093" cy="4511675"/>
          </a:xfrm>
        </p:spPr>
        <p:txBody>
          <a:bodyPr/>
          <a:lstStyle/>
          <a:p>
            <a:r>
              <a:rPr lang="en-US" altLang="en-US" dirty="0"/>
              <a:t>Used up by process pages</a:t>
            </a:r>
          </a:p>
          <a:p>
            <a:endParaRPr lang="en-US" altLang="en-US" dirty="0"/>
          </a:p>
          <a:p>
            <a:r>
              <a:rPr lang="en-US" altLang="en-US" dirty="0"/>
              <a:t>Also in demand from the kernel, I/O buffers, </a:t>
            </a:r>
            <a:r>
              <a:rPr lang="en-US" altLang="en-US" dirty="0" err="1"/>
              <a:t>etc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How much to allocate to each?</a:t>
            </a:r>
          </a:p>
          <a:p>
            <a:endParaRPr lang="en-US" altLang="en-US" dirty="0"/>
          </a:p>
          <a:p>
            <a:r>
              <a:rPr lang="en-US" altLang="en-US" dirty="0"/>
              <a:t>Page replacement – find some page in memory, but not really in use, page it out</a:t>
            </a:r>
          </a:p>
          <a:p>
            <a:pPr lvl="1"/>
            <a:r>
              <a:rPr lang="en-US" altLang="en-US" dirty="0"/>
              <a:t>Algorithm – terminate? swap out? replace the page?</a:t>
            </a:r>
          </a:p>
          <a:p>
            <a:pPr lvl="1"/>
            <a:r>
              <a:rPr lang="en-US" altLang="en-US" dirty="0"/>
              <a:t>Performance – want an algorithm which will result in minimum number of page faults</a:t>
            </a:r>
          </a:p>
          <a:p>
            <a:endParaRPr lang="en-US" altLang="en-US" dirty="0"/>
          </a:p>
          <a:p>
            <a:r>
              <a:rPr lang="en-US" altLang="en-US" dirty="0"/>
              <a:t>Same page may be brought into memory several times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6428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760E5859-1ADF-409F-B8A3-01A46FD0E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775" y="235568"/>
            <a:ext cx="7693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Need For Page Replacement</a:t>
            </a:r>
          </a:p>
        </p:txBody>
      </p:sp>
      <p:pic>
        <p:nvPicPr>
          <p:cNvPr id="33795" name="Picture 4" descr="B:\os-book\os10-dir\Slides-WORK-area\Figures-dir\ch10\JPG-dir\10_09.jpg">
            <a:extLst>
              <a:ext uri="{FF2B5EF4-FFF2-40B4-BE49-F238E27FC236}">
                <a16:creationId xmlns:a16="http://schemas.microsoft.com/office/drawing/2014/main" id="{74BEFCE0-4636-4163-8B0B-DF7F5FF02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950" y="1357313"/>
            <a:ext cx="6786563" cy="441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80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A23D0E3-2B35-4747-8B9E-6B7BFD7D40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6860" y="238161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Basic Page Replacement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6D9B5FA-26B2-48A5-8A7B-413D74146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122363"/>
            <a:ext cx="7607299" cy="4457700"/>
          </a:xfrm>
        </p:spPr>
        <p:txBody>
          <a:bodyPr/>
          <a:lstStyle/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Find the location of the desired page on disk</a:t>
            </a:r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Find a free frame:</a:t>
            </a:r>
            <a:br>
              <a:rPr lang="en-US" altLang="en-US" dirty="0"/>
            </a:br>
            <a:r>
              <a:rPr lang="en-US" altLang="en-US" dirty="0"/>
              <a:t>   -  If there is a free frame, use it</a:t>
            </a:r>
            <a:br>
              <a:rPr lang="en-US" altLang="en-US" dirty="0"/>
            </a:br>
            <a:r>
              <a:rPr lang="en-US" altLang="en-US" dirty="0"/>
              <a:t>   -  If there is no free frame, use a page replacement algorithm to select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victim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</a:t>
            </a:r>
            <a:r>
              <a:rPr lang="en-US" altLang="en-US" b="1" dirty="0">
                <a:solidFill>
                  <a:srgbClr val="3366FF"/>
                </a:solidFill>
              </a:rPr>
              <a:t/>
            </a:r>
            <a:br>
              <a:rPr lang="en-US" altLang="en-US" b="1" dirty="0">
                <a:solidFill>
                  <a:srgbClr val="3366FF"/>
                </a:solidFill>
              </a:rPr>
            </a:br>
            <a:r>
              <a:rPr lang="en-US" altLang="en-US" b="1" dirty="0">
                <a:solidFill>
                  <a:srgbClr val="3366FF"/>
                </a:solidFill>
              </a:rPr>
              <a:t>   </a:t>
            </a:r>
            <a:r>
              <a:rPr lang="en-US" altLang="en-US" dirty="0"/>
              <a:t>-</a:t>
            </a:r>
            <a:r>
              <a:rPr lang="en-US" altLang="en-US" b="1" dirty="0"/>
              <a:t>  </a:t>
            </a:r>
            <a:r>
              <a:rPr lang="en-US" altLang="en-US" dirty="0"/>
              <a:t>Write victim frame to disk if dirty</a:t>
            </a:r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Bring  the desired page into the (newly) free frame; update the page and frame tables</a:t>
            </a:r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Continue the process by restarting the instruction that caused the trap</a:t>
            </a:r>
          </a:p>
          <a:p>
            <a:pPr marL="379413" indent="-379413">
              <a:buFont typeface="Monotype Sorts" pitchFamily="-84" charset="2"/>
              <a:buNone/>
            </a:pPr>
            <a:r>
              <a:rPr lang="en-US" altLang="en-US" dirty="0"/>
              <a:t> </a:t>
            </a:r>
          </a:p>
          <a:p>
            <a:pPr marL="379413" indent="-379413">
              <a:buFont typeface="Monotype Sorts" pitchFamily="-84" charset="2"/>
              <a:buNone/>
            </a:pPr>
            <a:r>
              <a:rPr lang="en-US" altLang="en-US" dirty="0"/>
              <a:t>Note now potentially 2 page transfers for page fault – increasing EAT</a:t>
            </a:r>
          </a:p>
        </p:txBody>
      </p:sp>
    </p:spTree>
    <p:extLst>
      <p:ext uri="{BB962C8B-B14F-4D97-AF65-F5344CB8AC3E}">
        <p14:creationId xmlns:p14="http://schemas.microsoft.com/office/powerpoint/2010/main" val="421141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2C4BFB3-B09C-4707-8DF8-9335F3398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2389" y="222868"/>
            <a:ext cx="7664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Replacement</a:t>
            </a:r>
          </a:p>
        </p:txBody>
      </p:sp>
      <p:pic>
        <p:nvPicPr>
          <p:cNvPr id="35843" name="Picture 4" descr="9">
            <a:extLst>
              <a:ext uri="{FF2B5EF4-FFF2-40B4-BE49-F238E27FC236}">
                <a16:creationId xmlns:a16="http://schemas.microsoft.com/office/drawing/2014/main" id="{632D2467-D729-4E96-ABE0-D5CF1AD39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1223963"/>
            <a:ext cx="626745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1706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Modify / Dirty bit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32" y="1131539"/>
            <a:ext cx="8207925" cy="325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8625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47214C7-1AE6-4D0E-9FB9-EBC768731F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4945" y="175298"/>
            <a:ext cx="7861041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Page and Frame Replacement Algorithms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7C092E50-7A55-4657-89B6-77C0309E7E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928" y="1062454"/>
            <a:ext cx="7887901" cy="4899025"/>
          </a:xfrm>
        </p:spPr>
        <p:txBody>
          <a:bodyPr/>
          <a:lstStyle/>
          <a:p>
            <a:pPr>
              <a:tabLst>
                <a:tab pos="3144838" algn="ctr"/>
              </a:tabLst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Frame-allocation algorithm </a:t>
            </a:r>
            <a:r>
              <a:rPr lang="en-US" altLang="en-US" dirty="0"/>
              <a:t>determines 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How many frames to give each process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Which frames to replace</a:t>
            </a:r>
          </a:p>
          <a:p>
            <a:pPr>
              <a:tabLst>
                <a:tab pos="3144838" algn="ctr"/>
              </a:tabLst>
            </a:pP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>
              <a:tabLst>
                <a:tab pos="3144838" algn="ctr"/>
              </a:tabLst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Page-replacement algorithm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Want lowest page-fault rate on both first access and re-access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Repeated access to the same page does not cause a page fault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Results depend on number of frames available</a:t>
            </a:r>
          </a:p>
          <a:p>
            <a:pPr>
              <a:tabLst>
                <a:tab pos="3144838" algn="ctr"/>
              </a:tabLst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04751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38E9DE7-317A-4964-80E7-85DD040FFD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4155" y="60152"/>
            <a:ext cx="8662696" cy="58998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Graph of Page Faults Versus the Number of Frames</a:t>
            </a:r>
          </a:p>
        </p:txBody>
      </p:sp>
      <p:pic>
        <p:nvPicPr>
          <p:cNvPr id="37891" name="Picture 5">
            <a:extLst>
              <a:ext uri="{FF2B5EF4-FFF2-40B4-BE49-F238E27FC236}">
                <a16:creationId xmlns:a16="http://schemas.microsoft.com/office/drawing/2014/main" id="{6305A72B-A5ED-415A-9B8C-D45FEB5F4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1238250"/>
            <a:ext cx="6045200" cy="355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286000" y="5920154"/>
            <a:ext cx="234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Expected </a:t>
            </a:r>
            <a:r>
              <a:rPr lang="en-IN" dirty="0" err="1" smtClean="0"/>
              <a:t>Behavior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6093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CA6CF77-12AF-4EC2-89B1-0E20EC3A22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4735" y="241529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/>
              <a:t>First-In-First-Out (FIFO) Algorithm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D1D5755-163C-4203-ABC8-2DA1622DF8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4735" y="1052513"/>
            <a:ext cx="7582515" cy="5762625"/>
          </a:xfrm>
        </p:spPr>
        <p:txBody>
          <a:bodyPr/>
          <a:lstStyle/>
          <a:p>
            <a:r>
              <a:rPr lang="en-US" altLang="en-US" dirty="0"/>
              <a:t>Reference string: </a:t>
            </a:r>
            <a:r>
              <a:rPr lang="en-US" altLang="en-US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dirty="0"/>
          </a:p>
          <a:p>
            <a:r>
              <a:rPr lang="en-US" altLang="en-US" dirty="0"/>
              <a:t>3 frames (3 pages can be in memory at a time per process)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Can vary by reference string: consider 1,2,3,4,1,2,5,1,2,3,4,5</a:t>
            </a:r>
          </a:p>
          <a:p>
            <a:pPr lvl="1"/>
            <a:r>
              <a:rPr lang="en-US" altLang="en-US" dirty="0"/>
              <a:t>Adding more frames can cause more page faults!</a:t>
            </a:r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Belady</a:t>
            </a:r>
            <a:r>
              <a:rPr lang="ja-JP" altLang="en-US" b="1" dirty="0">
                <a:solidFill>
                  <a:srgbClr val="006699"/>
                </a:solidFill>
                <a:latin typeface="+mj-lt"/>
              </a:rPr>
              <a:t>’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s Anomaly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How to track ages of pages? </a:t>
            </a:r>
          </a:p>
          <a:p>
            <a:pPr lvl="1"/>
            <a:r>
              <a:rPr lang="en-US" altLang="en-US" dirty="0"/>
              <a:t>Just use a FIFO queue</a:t>
            </a:r>
          </a:p>
        </p:txBody>
      </p:sp>
      <p:sp>
        <p:nvSpPr>
          <p:cNvPr id="38916" name="Text Box 16">
            <a:extLst>
              <a:ext uri="{FF2B5EF4-FFF2-40B4-BE49-F238E27FC236}">
                <a16:creationId xmlns:a16="http://schemas.microsoft.com/office/drawing/2014/main" id="{70D1F977-A605-4231-817D-50B414BD8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925" y="3546475"/>
            <a:ext cx="1697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15 page faults</a:t>
            </a:r>
          </a:p>
        </p:txBody>
      </p:sp>
      <p:pic>
        <p:nvPicPr>
          <p:cNvPr id="38917" name="Picture 1">
            <a:extLst>
              <a:ext uri="{FF2B5EF4-FFF2-40B4-BE49-F238E27FC236}">
                <a16:creationId xmlns:a16="http://schemas.microsoft.com/office/drawing/2014/main" id="{308629FE-BC55-408D-8CD8-72B5F6984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75" y="1854200"/>
            <a:ext cx="5327650" cy="169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8866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Belady’s</a:t>
            </a:r>
            <a:r>
              <a:rPr lang="en-IN" dirty="0" smtClean="0"/>
              <a:t> Anomaly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67346"/>
            <a:ext cx="5391902" cy="9240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2493464"/>
            <a:ext cx="5391902" cy="24427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980" y="2827174"/>
            <a:ext cx="2584684" cy="19353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1134" y="5566299"/>
            <a:ext cx="2583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No. of page faults: 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96148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Belady’s</a:t>
            </a:r>
            <a:r>
              <a:rPr lang="en-IN" dirty="0"/>
              <a:t> Anomaly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0279"/>
            <a:ext cx="5420799" cy="28732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999" y="2592280"/>
            <a:ext cx="2480881" cy="22412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1134" y="5566299"/>
            <a:ext cx="2731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No. of page faults: 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51522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D6B9E3A-361D-4D6C-9A7F-B0347118A9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7769" y="232975"/>
            <a:ext cx="77343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FIFO Illustrating Belady</a:t>
            </a:r>
            <a:r>
              <a:rPr lang="ja-JP" altLang="en-US" dirty="0"/>
              <a:t>’</a:t>
            </a:r>
            <a:r>
              <a:rPr lang="en-US" altLang="ja-JP" dirty="0"/>
              <a:t>s Anomaly</a:t>
            </a:r>
            <a:endParaRPr lang="en-US" altLang="en-US" dirty="0"/>
          </a:p>
        </p:txBody>
      </p:sp>
      <p:pic>
        <p:nvPicPr>
          <p:cNvPr id="39939" name="Picture 1" descr="9_13.pdf">
            <a:extLst>
              <a:ext uri="{FF2B5EF4-FFF2-40B4-BE49-F238E27FC236}">
                <a16:creationId xmlns:a16="http://schemas.microsoft.com/office/drawing/2014/main" id="{EE4A1B7A-865F-4B41-AE5D-E878A1F8D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538" y="1303338"/>
            <a:ext cx="5676900" cy="406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0364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6095923-7FD6-4706-A8FA-9ABF051469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31422"/>
            <a:ext cx="7937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Optimal Algorithm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5D0553F-9E25-4083-8F1B-77A52F70DB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119188"/>
            <a:ext cx="7495397" cy="2052637"/>
          </a:xfrm>
        </p:spPr>
        <p:txBody>
          <a:bodyPr/>
          <a:lstStyle/>
          <a:p>
            <a:pPr>
              <a:tabLst>
                <a:tab pos="1889125" algn="l"/>
              </a:tabLst>
            </a:pPr>
            <a:r>
              <a:rPr lang="en-US" altLang="en-US" dirty="0"/>
              <a:t>Replace page that will not be used for longest period of time</a:t>
            </a:r>
          </a:p>
          <a:p>
            <a:pPr lvl="1">
              <a:tabLst>
                <a:tab pos="1889125" algn="l"/>
              </a:tabLst>
            </a:pPr>
            <a:r>
              <a:rPr lang="en-US" altLang="en-US" dirty="0"/>
              <a:t>9 is optimal for the example</a:t>
            </a:r>
          </a:p>
          <a:p>
            <a:pPr>
              <a:tabLst>
                <a:tab pos="1889125" algn="l"/>
              </a:tabLst>
            </a:pPr>
            <a:r>
              <a:rPr lang="en-US" altLang="en-US" dirty="0"/>
              <a:t>How do you know this?</a:t>
            </a:r>
          </a:p>
          <a:p>
            <a:pPr lvl="1">
              <a:tabLst>
                <a:tab pos="1889125" algn="l"/>
              </a:tabLst>
            </a:pPr>
            <a:r>
              <a:rPr lang="en-US" altLang="en-US" dirty="0"/>
              <a:t>Can</a:t>
            </a:r>
            <a:r>
              <a:rPr lang="ja-JP" altLang="en-US" dirty="0"/>
              <a:t>’</a:t>
            </a:r>
            <a:r>
              <a:rPr lang="en-US" altLang="ja-JP" dirty="0"/>
              <a:t>t read the future</a:t>
            </a:r>
            <a:endParaRPr lang="en-US" altLang="en-US" dirty="0"/>
          </a:p>
          <a:p>
            <a:pPr>
              <a:tabLst>
                <a:tab pos="1889125" algn="l"/>
              </a:tabLst>
            </a:pPr>
            <a:r>
              <a:rPr lang="en-US" altLang="en-US" dirty="0"/>
              <a:t>Used for measuring how well your algorithm performs</a:t>
            </a:r>
          </a:p>
        </p:txBody>
      </p:sp>
      <p:pic>
        <p:nvPicPr>
          <p:cNvPr id="40964" name="Picture 3">
            <a:extLst>
              <a:ext uri="{FF2B5EF4-FFF2-40B4-BE49-F238E27FC236}">
                <a16:creationId xmlns:a16="http://schemas.microsoft.com/office/drawing/2014/main" id="{0C2DEEDF-7F2E-4341-B388-D27259850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3159125"/>
            <a:ext cx="6259513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7102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696FD466-53D6-40D8-87A0-F9D0699FA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73" y="185249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Least Recently Used (LRU) Algorithm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B3F137F8-4D5E-42D0-B9E4-ACCE3B23C8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079" y="1260964"/>
            <a:ext cx="7751989" cy="48355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Use past knowledge rather than future</a:t>
            </a:r>
          </a:p>
          <a:p>
            <a:pPr>
              <a:defRPr/>
            </a:pPr>
            <a:r>
              <a:rPr lang="en-US" altLang="en-US" dirty="0"/>
              <a:t>Replace page that has not been used in the most amount of time</a:t>
            </a:r>
          </a:p>
          <a:p>
            <a:pPr>
              <a:defRPr/>
            </a:pPr>
            <a:r>
              <a:rPr lang="en-US" altLang="en-US" dirty="0"/>
              <a:t>Associate time of last use with each page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12 faults – better than FIFO but worse than OPT</a:t>
            </a:r>
          </a:p>
          <a:p>
            <a:pPr>
              <a:defRPr/>
            </a:pPr>
            <a:r>
              <a:rPr lang="en-US" altLang="en-US" dirty="0"/>
              <a:t>Generally good algorithm and frequently used</a:t>
            </a:r>
          </a:p>
          <a:p>
            <a:pPr>
              <a:defRPr/>
            </a:pPr>
            <a:r>
              <a:rPr lang="en-US" altLang="en-US" dirty="0"/>
              <a:t>But how to implement?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</p:txBody>
      </p:sp>
      <p:pic>
        <p:nvPicPr>
          <p:cNvPr id="41988" name="Picture 4" descr="9">
            <a:extLst>
              <a:ext uri="{FF2B5EF4-FFF2-40B4-BE49-F238E27FC236}">
                <a16:creationId xmlns:a16="http://schemas.microsoft.com/office/drawing/2014/main" id="{1C494269-8B4A-4BA9-9CC1-ED6087AC3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363" y="2635545"/>
            <a:ext cx="6170612" cy="168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174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89E2401-57E2-4A14-B834-943CD6AD5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Algorithm (Cont.)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0218A1E-F600-4BE7-9C24-6205C33F8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950913"/>
            <a:ext cx="7728177" cy="5246687"/>
          </a:xfrm>
        </p:spPr>
        <p:txBody>
          <a:bodyPr/>
          <a:lstStyle/>
          <a:p>
            <a:r>
              <a:rPr lang="en-US" altLang="en-US" dirty="0"/>
              <a:t>Counter implementation</a:t>
            </a:r>
          </a:p>
          <a:p>
            <a:pPr lvl="1"/>
            <a:r>
              <a:rPr lang="en-US" altLang="en-US" dirty="0"/>
              <a:t>Every page entry has a counter; every time page is referenced through this entry, copy the clock into the counter</a:t>
            </a:r>
          </a:p>
          <a:p>
            <a:pPr lvl="1"/>
            <a:r>
              <a:rPr lang="en-US" altLang="en-US" dirty="0"/>
              <a:t>When a page needs to be changed, look at the counters to find smallest value</a:t>
            </a:r>
          </a:p>
          <a:p>
            <a:pPr lvl="2"/>
            <a:r>
              <a:rPr lang="en-US" altLang="en-US" dirty="0"/>
              <a:t>Search through table needed</a:t>
            </a:r>
          </a:p>
          <a:p>
            <a:endParaRPr lang="en-US" altLang="en-US" dirty="0"/>
          </a:p>
          <a:p>
            <a:r>
              <a:rPr lang="en-US" altLang="en-US" dirty="0"/>
              <a:t>Stack implementation</a:t>
            </a:r>
          </a:p>
          <a:p>
            <a:pPr lvl="1"/>
            <a:r>
              <a:rPr lang="en-US" altLang="en-US" dirty="0"/>
              <a:t>Keep a stack of page numbers in a double link form:</a:t>
            </a:r>
          </a:p>
          <a:p>
            <a:pPr lvl="1"/>
            <a:r>
              <a:rPr lang="en-US" altLang="en-US" dirty="0"/>
              <a:t>Page referenced:</a:t>
            </a:r>
          </a:p>
          <a:p>
            <a:pPr lvl="2"/>
            <a:r>
              <a:rPr lang="en-US" altLang="en-US" dirty="0"/>
              <a:t>move it to the top</a:t>
            </a:r>
          </a:p>
          <a:p>
            <a:pPr lvl="2"/>
            <a:r>
              <a:rPr lang="en-US" altLang="en-US" dirty="0"/>
              <a:t>requires 6 pointers to be changed</a:t>
            </a:r>
          </a:p>
          <a:p>
            <a:pPr lvl="1"/>
            <a:r>
              <a:rPr lang="en-US" altLang="en-US" dirty="0"/>
              <a:t>But each update more expensive</a:t>
            </a:r>
          </a:p>
          <a:p>
            <a:pPr lvl="1"/>
            <a:r>
              <a:rPr lang="en-US" altLang="en-US" dirty="0"/>
              <a:t>No search for replacement</a:t>
            </a:r>
          </a:p>
        </p:txBody>
      </p:sp>
    </p:spTree>
    <p:extLst>
      <p:ext uri="{BB962C8B-B14F-4D97-AF65-F5344CB8AC3E}">
        <p14:creationId xmlns:p14="http://schemas.microsoft.com/office/powerpoint/2010/main" val="36382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89E2401-57E2-4A14-B834-943CD6AD5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Algorithm (Cont.)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0218A1E-F600-4BE7-9C24-6205C33F8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950913"/>
            <a:ext cx="7728177" cy="5246687"/>
          </a:xfrm>
        </p:spPr>
        <p:txBody>
          <a:bodyPr/>
          <a:lstStyle/>
          <a:p>
            <a:r>
              <a:rPr lang="en-US" altLang="en-US" dirty="0"/>
              <a:t>LRU and OPT are cases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stack algorithms </a:t>
            </a:r>
            <a:r>
              <a:rPr lang="en-US" altLang="en-US" dirty="0"/>
              <a:t>that don</a:t>
            </a:r>
            <a:r>
              <a:rPr lang="ja-JP" altLang="en-US" dirty="0"/>
              <a:t>’</a:t>
            </a:r>
            <a:r>
              <a:rPr lang="en-US" altLang="ja-JP" dirty="0"/>
              <a:t>t have Belady</a:t>
            </a:r>
            <a:r>
              <a:rPr lang="ja-JP" altLang="en-US" dirty="0"/>
              <a:t>’</a:t>
            </a:r>
            <a:r>
              <a:rPr lang="en-US" altLang="ja-JP" dirty="0"/>
              <a:t>s Anomaly</a:t>
            </a:r>
          </a:p>
          <a:p>
            <a:r>
              <a:rPr lang="en-US" altLang="en-US" dirty="0"/>
              <a:t>Use Of A Stack to Record Most Recent Page References</a:t>
            </a:r>
            <a:endParaRPr lang="en-US" dirty="0"/>
          </a:p>
          <a:p>
            <a:endParaRPr lang="en-US" altLang="en-US" dirty="0"/>
          </a:p>
        </p:txBody>
      </p:sp>
      <p:pic>
        <p:nvPicPr>
          <p:cNvPr id="4" name="Picture 1" descr="9_16.pdf">
            <a:extLst>
              <a:ext uri="{FF2B5EF4-FFF2-40B4-BE49-F238E27FC236}">
                <a16:creationId xmlns:a16="http://schemas.microsoft.com/office/drawing/2014/main" id="{650D8023-264A-4AC3-B430-E0C59C953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038" y="2260350"/>
            <a:ext cx="47021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9036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89E2401-57E2-4A14-B834-943CD6AD5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Algorithm (Cont.)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0218A1E-F600-4BE7-9C24-6205C33F8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950913"/>
            <a:ext cx="7728177" cy="5246687"/>
          </a:xfrm>
        </p:spPr>
        <p:txBody>
          <a:bodyPr/>
          <a:lstStyle/>
          <a:p>
            <a:r>
              <a:rPr lang="en-US" altLang="en-US" dirty="0"/>
              <a:t>LRU and OPT are cases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stack algorithms </a:t>
            </a:r>
            <a:r>
              <a:rPr lang="en-US" altLang="en-US" dirty="0"/>
              <a:t>that don</a:t>
            </a:r>
            <a:r>
              <a:rPr lang="ja-JP" altLang="en-US" dirty="0"/>
              <a:t>’</a:t>
            </a:r>
            <a:r>
              <a:rPr lang="en-US" altLang="ja-JP" dirty="0"/>
              <a:t>t have Belady</a:t>
            </a:r>
            <a:r>
              <a:rPr lang="ja-JP" altLang="en-US" dirty="0"/>
              <a:t>’</a:t>
            </a:r>
            <a:r>
              <a:rPr lang="en-US" altLang="ja-JP" dirty="0"/>
              <a:t>s Anomaly</a:t>
            </a:r>
          </a:p>
          <a:p>
            <a:r>
              <a:rPr lang="en-US" altLang="en-US" dirty="0"/>
              <a:t>Use Of A Stack to Record Most Recent Page References</a:t>
            </a:r>
            <a:endParaRPr lang="en-US" dirty="0"/>
          </a:p>
          <a:p>
            <a:endParaRPr lang="en-US" altLang="en-US" dirty="0"/>
          </a:p>
        </p:txBody>
      </p:sp>
      <p:pic>
        <p:nvPicPr>
          <p:cNvPr id="4" name="Picture 1" descr="9_16.pdf">
            <a:extLst>
              <a:ext uri="{FF2B5EF4-FFF2-40B4-BE49-F238E27FC236}">
                <a16:creationId xmlns:a16="http://schemas.microsoft.com/office/drawing/2014/main" id="{650D8023-264A-4AC3-B430-E0C59C953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038" y="2260350"/>
            <a:ext cx="47021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143348" y="4367814"/>
            <a:ext cx="22685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/>
              <a:t>6 pointer changes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768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033BF15-EA5A-4A49-BB65-331FF866E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54" y="234791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Approximation Algorithms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C57D3A7-FA71-4D00-9C2E-051C34BFA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59949"/>
            <a:ext cx="7664484" cy="5146675"/>
          </a:xfrm>
        </p:spPr>
        <p:txBody>
          <a:bodyPr/>
          <a:lstStyle/>
          <a:p>
            <a:r>
              <a:rPr lang="en-US" altLang="en-US" dirty="0"/>
              <a:t>LRU needs special hardware and still slow</a:t>
            </a:r>
          </a:p>
          <a:p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Reference bit</a:t>
            </a:r>
          </a:p>
          <a:p>
            <a:pPr lvl="1"/>
            <a:r>
              <a:rPr lang="en-US" altLang="en-US" dirty="0"/>
              <a:t>With each page associate a bit, initially = 0</a:t>
            </a:r>
          </a:p>
          <a:p>
            <a:pPr lvl="1"/>
            <a:r>
              <a:rPr lang="en-US" altLang="en-US" dirty="0"/>
              <a:t>When page is referenced bit set to 1</a:t>
            </a:r>
          </a:p>
          <a:p>
            <a:pPr lvl="1"/>
            <a:r>
              <a:rPr lang="en-US" altLang="en-US" dirty="0"/>
              <a:t>Replace any with reference bit = 0 (if one exists)</a:t>
            </a:r>
          </a:p>
          <a:p>
            <a:pPr lvl="2"/>
            <a:r>
              <a:rPr lang="en-US" altLang="en-US" dirty="0"/>
              <a:t>We do not know the order, however</a:t>
            </a:r>
            <a:endParaRPr lang="en-US" altLang="en-US" sz="800" dirty="0"/>
          </a:p>
        </p:txBody>
      </p:sp>
    </p:spTree>
    <p:extLst>
      <p:ext uri="{BB962C8B-B14F-4D97-AF65-F5344CB8AC3E}">
        <p14:creationId xmlns:p14="http://schemas.microsoft.com/office/powerpoint/2010/main" val="1827925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033BF15-EA5A-4A49-BB65-331FF866E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6801" y="179021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LRU Approximation Algorithms (cont.)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C57D3A7-FA71-4D00-9C2E-051C34BFA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59949"/>
            <a:ext cx="7664484" cy="514667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Second-chance algorithm</a:t>
            </a:r>
          </a:p>
          <a:p>
            <a:pPr lvl="1"/>
            <a:r>
              <a:rPr lang="en-US" altLang="en-US" dirty="0"/>
              <a:t>Generally FIFO, plus hardware-provided reference bit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Clock </a:t>
            </a:r>
            <a:r>
              <a:rPr lang="en-US" altLang="en-US" dirty="0"/>
              <a:t>replacement</a:t>
            </a:r>
          </a:p>
          <a:p>
            <a:pPr lvl="1"/>
            <a:r>
              <a:rPr lang="en-US" altLang="en-US" dirty="0"/>
              <a:t>If page to be replaced has </a:t>
            </a:r>
          </a:p>
          <a:p>
            <a:pPr lvl="2"/>
            <a:r>
              <a:rPr lang="en-US" altLang="en-US" dirty="0"/>
              <a:t>Reference bit = 0 -&gt; replace it</a:t>
            </a:r>
          </a:p>
          <a:p>
            <a:pPr lvl="2"/>
            <a:r>
              <a:rPr lang="en-US" altLang="en-US" dirty="0"/>
              <a:t>reference bit = 1 then:</a:t>
            </a:r>
          </a:p>
          <a:p>
            <a:pPr lvl="3"/>
            <a:r>
              <a:rPr lang="en-US" altLang="en-US" dirty="0"/>
              <a:t>set reference bit 0, leave page in memory</a:t>
            </a:r>
          </a:p>
          <a:p>
            <a:pPr lvl="3"/>
            <a:r>
              <a:rPr lang="en-US" altLang="en-US" dirty="0"/>
              <a:t>replace next page, subject to same rules</a:t>
            </a:r>
          </a:p>
        </p:txBody>
      </p:sp>
    </p:spTree>
    <p:extLst>
      <p:ext uri="{BB962C8B-B14F-4D97-AF65-F5344CB8AC3E}">
        <p14:creationId xmlns:p14="http://schemas.microsoft.com/office/powerpoint/2010/main" val="2602371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2AF32FC-4A14-4E1E-8D4F-440BF4A3EC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7892" y="290747"/>
            <a:ext cx="8010525" cy="46355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/>
            </a:r>
            <a:br>
              <a:rPr lang="en-US" altLang="en-US" sz="2800" dirty="0"/>
            </a:br>
            <a:r>
              <a:rPr lang="en-US" altLang="en-US" dirty="0"/>
              <a:t>Second-chance Algorithm</a:t>
            </a:r>
          </a:p>
        </p:txBody>
      </p:sp>
      <p:pic>
        <p:nvPicPr>
          <p:cNvPr id="46083" name="Picture 1" descr="9_17.pdf">
            <a:extLst>
              <a:ext uri="{FF2B5EF4-FFF2-40B4-BE49-F238E27FC236}">
                <a16:creationId xmlns:a16="http://schemas.microsoft.com/office/drawing/2014/main" id="{5B0ED9B7-9A22-4A06-8760-CF9EC5AFD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525" y="1092200"/>
            <a:ext cx="4402138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8981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96CF5A4B-5B56-4850-890B-CBC91DFC97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7926" y="24075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Enhanced Second-Chance Algorithm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9C55B83-EA3F-497C-A3D1-F3E32BFFAD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9" y="1250302"/>
            <a:ext cx="7609925" cy="4967936"/>
          </a:xfrm>
        </p:spPr>
        <p:txBody>
          <a:bodyPr/>
          <a:lstStyle/>
          <a:p>
            <a:r>
              <a:rPr lang="en-US" altLang="en-US" dirty="0"/>
              <a:t>Improve algorithm by using reference bit and modify bit (if available) in concert</a:t>
            </a:r>
          </a:p>
          <a:p>
            <a:endParaRPr lang="en-US" altLang="en-US" dirty="0"/>
          </a:p>
          <a:p>
            <a:r>
              <a:rPr lang="en-US" altLang="en-US" dirty="0"/>
              <a:t>Take ordered pair (reference, modify):</a:t>
            </a:r>
          </a:p>
          <a:p>
            <a:pPr lvl="1"/>
            <a:r>
              <a:rPr lang="en-US" altLang="en-US" dirty="0"/>
              <a:t>(0, 0) neither recently used not modified – best page to replace</a:t>
            </a:r>
          </a:p>
          <a:p>
            <a:pPr lvl="1"/>
            <a:r>
              <a:rPr lang="en-US" altLang="en-US" dirty="0"/>
              <a:t>(0, 1) not recently used but modified – not quite as good, must write out before replacement</a:t>
            </a:r>
          </a:p>
          <a:p>
            <a:pPr lvl="1"/>
            <a:r>
              <a:rPr lang="en-US" altLang="en-US" dirty="0"/>
              <a:t>(1, 0) recently used but clean – probably will be used again soon</a:t>
            </a:r>
          </a:p>
          <a:p>
            <a:pPr lvl="1"/>
            <a:r>
              <a:rPr lang="en-US" altLang="en-US" dirty="0"/>
              <a:t>(1, 1) recently used and modified – probably will be used again soon and need to write out before replacement</a:t>
            </a:r>
          </a:p>
          <a:p>
            <a:endParaRPr lang="en-US" altLang="en-US" dirty="0"/>
          </a:p>
          <a:p>
            <a:r>
              <a:rPr lang="en-US" altLang="en-US" dirty="0"/>
              <a:t>When page replacement called for, use the clock scheme  but use the four classes replace page in lowest non-empty class</a:t>
            </a:r>
          </a:p>
          <a:p>
            <a:pPr lvl="1"/>
            <a:r>
              <a:rPr lang="en-US" altLang="en-US" dirty="0"/>
              <a:t>Might need to search circular queue several times</a:t>
            </a:r>
          </a:p>
        </p:txBody>
      </p:sp>
    </p:spTree>
    <p:extLst>
      <p:ext uri="{BB962C8B-B14F-4D97-AF65-F5344CB8AC3E}">
        <p14:creationId xmlns:p14="http://schemas.microsoft.com/office/powerpoint/2010/main" val="2778671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E1C6E0A3-953D-4211-ACA7-F7B6931BDD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816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Counting Algorithms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B52D61FC-D241-4C09-9149-F474825897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9" y="1230348"/>
            <a:ext cx="7311024" cy="4556841"/>
          </a:xfrm>
        </p:spPr>
        <p:txBody>
          <a:bodyPr/>
          <a:lstStyle/>
          <a:p>
            <a:r>
              <a:rPr lang="en-US" altLang="en-US" dirty="0"/>
              <a:t>Keep a counter of the number of references that have been made to each page</a:t>
            </a:r>
          </a:p>
          <a:p>
            <a:pPr lvl="1"/>
            <a:r>
              <a:rPr lang="en-US" altLang="en-US" dirty="0"/>
              <a:t>Not common</a:t>
            </a:r>
          </a:p>
          <a:p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Lease Frequently Used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LFU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Algorithm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  Replaces page with smallest count</a:t>
            </a:r>
          </a:p>
          <a:p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Most Frequently Used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MFU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Algorithm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dirty="0"/>
              <a:t>Based on the argument that the page with the smallest count was probably just brought in and has yet to be used</a:t>
            </a:r>
          </a:p>
        </p:txBody>
      </p:sp>
    </p:spTree>
    <p:extLst>
      <p:ext uri="{BB962C8B-B14F-4D97-AF65-F5344CB8AC3E}">
        <p14:creationId xmlns:p14="http://schemas.microsoft.com/office/powerpoint/2010/main" val="199337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362AB2CE-BAAA-4052-BCA8-703C3DC64D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8038" y="238158"/>
            <a:ext cx="78787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Allocation of Frames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700FB4A8-565F-4B3F-9EE9-D1D1028D44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7129" y="996487"/>
            <a:ext cx="7735078" cy="4483100"/>
          </a:xfrm>
        </p:spPr>
        <p:txBody>
          <a:bodyPr/>
          <a:lstStyle/>
          <a:p>
            <a:r>
              <a:rPr lang="en-US" altLang="en-US" dirty="0"/>
              <a:t>Each process needs </a:t>
            </a:r>
            <a:r>
              <a:rPr lang="en-US" altLang="en-US" b="1" i="1" dirty="0"/>
              <a:t>minimum</a:t>
            </a:r>
            <a:r>
              <a:rPr lang="en-US" altLang="en-US" dirty="0"/>
              <a:t> number of frames</a:t>
            </a:r>
          </a:p>
          <a:p>
            <a:endParaRPr lang="en-US" altLang="en-US" dirty="0"/>
          </a:p>
          <a:p>
            <a:r>
              <a:rPr lang="en-US" altLang="en-US" dirty="0"/>
              <a:t>Example:  IBM 370 – 6 pages to handle SS MOVE instruction:</a:t>
            </a:r>
          </a:p>
          <a:p>
            <a:pPr lvl="1"/>
            <a:r>
              <a:rPr lang="en-US" altLang="en-US" dirty="0"/>
              <a:t>instruction is 6 bytes, might span 2 pages</a:t>
            </a:r>
          </a:p>
          <a:p>
            <a:pPr lvl="1"/>
            <a:r>
              <a:rPr lang="en-US" altLang="en-US" dirty="0"/>
              <a:t>2 pages to handle </a:t>
            </a:r>
            <a:r>
              <a:rPr lang="en-US" altLang="en-US" i="1" dirty="0"/>
              <a:t>from</a:t>
            </a:r>
          </a:p>
          <a:p>
            <a:pPr lvl="1"/>
            <a:r>
              <a:rPr lang="en-US" altLang="en-US" dirty="0"/>
              <a:t>2 pages to handle </a:t>
            </a:r>
            <a:r>
              <a:rPr lang="en-US" altLang="en-US" i="1" dirty="0"/>
              <a:t>to</a:t>
            </a:r>
          </a:p>
          <a:p>
            <a:endParaRPr lang="en-US" altLang="en-US" b="1" i="1" dirty="0"/>
          </a:p>
          <a:p>
            <a:r>
              <a:rPr lang="en-US" altLang="en-US" b="1" i="1" dirty="0"/>
              <a:t>Maximum</a:t>
            </a:r>
            <a:r>
              <a:rPr lang="en-US" altLang="en-US" i="1" dirty="0"/>
              <a:t> </a:t>
            </a:r>
            <a:r>
              <a:rPr lang="en-US" altLang="en-US" dirty="0"/>
              <a:t>of course is total frames in the system</a:t>
            </a:r>
          </a:p>
          <a:p>
            <a:endParaRPr lang="en-US" altLang="en-US" dirty="0"/>
          </a:p>
          <a:p>
            <a:r>
              <a:rPr lang="en-US" altLang="en-US" dirty="0"/>
              <a:t>Two major allocation schemes</a:t>
            </a:r>
          </a:p>
          <a:p>
            <a:pPr lvl="1"/>
            <a:r>
              <a:rPr lang="en-US" altLang="en-US" dirty="0"/>
              <a:t>fixed allocation</a:t>
            </a:r>
          </a:p>
          <a:p>
            <a:pPr lvl="1"/>
            <a:r>
              <a:rPr lang="en-US" altLang="en-US" dirty="0"/>
              <a:t>priority allocation</a:t>
            </a:r>
          </a:p>
          <a:p>
            <a:endParaRPr lang="en-US" altLang="en-US" dirty="0"/>
          </a:p>
          <a:p>
            <a:r>
              <a:rPr lang="en-US" altLang="en-US" dirty="0"/>
              <a:t>Many variations</a:t>
            </a:r>
          </a:p>
        </p:txBody>
      </p:sp>
    </p:spTree>
    <p:extLst>
      <p:ext uri="{BB962C8B-B14F-4D97-AF65-F5344CB8AC3E}">
        <p14:creationId xmlns:p14="http://schemas.microsoft.com/office/powerpoint/2010/main" val="3757604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>
            <a:extLst>
              <a:ext uri="{FF2B5EF4-FFF2-40B4-BE49-F238E27FC236}">
                <a16:creationId xmlns:a16="http://schemas.microsoft.com/office/drawing/2014/main" id="{70E5B077-B145-42CF-B6DE-2F59CC8999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8188" y="235568"/>
            <a:ext cx="7948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Fixed Allocation</a:t>
            </a:r>
          </a:p>
        </p:txBody>
      </p:sp>
      <p:sp>
        <p:nvSpPr>
          <p:cNvPr id="1029" name="Rectangle 3">
            <a:extLst>
              <a:ext uri="{FF2B5EF4-FFF2-40B4-BE49-F238E27FC236}">
                <a16:creationId xmlns:a16="http://schemas.microsoft.com/office/drawing/2014/main" id="{0FF48B9C-0D56-4D18-919D-070428F3BB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044" y="1119999"/>
            <a:ext cx="7969359" cy="4645025"/>
          </a:xfrm>
        </p:spPr>
        <p:txBody>
          <a:bodyPr/>
          <a:lstStyle/>
          <a:p>
            <a:r>
              <a:rPr lang="en-US" altLang="en-US" dirty="0"/>
              <a:t>Equal allocation – For example, if there are 100 frames (after allocating frames for the OS) and 5 processes, give each process 20 frames</a:t>
            </a:r>
          </a:p>
          <a:p>
            <a:endParaRPr lang="en-US" altLang="en-US" sz="800" dirty="0"/>
          </a:p>
          <a:p>
            <a:endParaRPr lang="en-US" altLang="en-US" sz="800" dirty="0"/>
          </a:p>
          <a:p>
            <a:r>
              <a:rPr lang="en-US" altLang="en-US" dirty="0"/>
              <a:t>Proportional allocation – Allocate according to the size of process</a:t>
            </a:r>
          </a:p>
          <a:p>
            <a:pPr lvl="1"/>
            <a:r>
              <a:rPr lang="en-US" altLang="en-US" dirty="0"/>
              <a:t>Dynamic as degree of multiprogramming, process sizes change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60101F45-DE12-4B60-9040-E3AC5E8C55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6438" y="3630613"/>
          <a:ext cx="2857500" cy="161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Equation" r:id="rId4" imgW="2857500" imgH="1612900" progId="Equation.3">
                  <p:embed/>
                </p:oleObj>
              </mc:Choice>
              <mc:Fallback>
                <p:oleObj name="Equation" r:id="rId4" imgW="2857500" imgH="1612900" progId="Equation.3">
                  <p:embed/>
                  <p:pic>
                    <p:nvPicPr>
                      <p:cNvPr id="1026" name="Object 2">
                        <a:extLst>
                          <a:ext uri="{FF2B5EF4-FFF2-40B4-BE49-F238E27FC236}">
                            <a16:creationId xmlns:a16="http://schemas.microsoft.com/office/drawing/2014/main" id="{60101F45-DE12-4B60-9040-E3AC5E8C55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438" y="3630613"/>
                        <a:ext cx="2857500" cy="161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Line 5">
            <a:extLst>
              <a:ext uri="{FF2B5EF4-FFF2-40B4-BE49-F238E27FC236}">
                <a16:creationId xmlns:a16="http://schemas.microsoft.com/office/drawing/2014/main" id="{8888DB1A-25C9-4D76-AE59-B4B5C1E6F5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2763" y="379253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1" name="Line 6">
            <a:extLst>
              <a:ext uri="{FF2B5EF4-FFF2-40B4-BE49-F238E27FC236}">
                <a16:creationId xmlns:a16="http://schemas.microsoft.com/office/drawing/2014/main" id="{ECC2003F-96B6-47ED-AF4F-07170847DC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2763" y="412908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2" name="Line 7">
            <a:extLst>
              <a:ext uri="{FF2B5EF4-FFF2-40B4-BE49-F238E27FC236}">
                <a16:creationId xmlns:a16="http://schemas.microsoft.com/office/drawing/2014/main" id="{5847D2CD-ECAD-4BC8-86B1-C8CE5E3430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2763" y="498951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3" name="Line 8">
            <a:extLst>
              <a:ext uri="{FF2B5EF4-FFF2-40B4-BE49-F238E27FC236}">
                <a16:creationId xmlns:a16="http://schemas.microsoft.com/office/drawing/2014/main" id="{B1B7ADDF-04E5-45DA-B979-4FC4DE3E11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6413" y="445611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533965" y="3923930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 = 62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4836" y="4813745"/>
            <a:ext cx="2461964" cy="64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2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F01C6E52-51B6-4080-B3CB-DA269501CF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0288" y="235568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Global vs. Local Allocation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4BDEEC50-DE5B-4191-A4E4-940F9E965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116013"/>
            <a:ext cx="7656512" cy="44704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Global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replacement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process selects a replacement frame from the set of all frames; one process can take a frame from another</a:t>
            </a:r>
          </a:p>
          <a:p>
            <a:pPr lvl="1"/>
            <a:r>
              <a:rPr lang="en-US" altLang="en-US" dirty="0"/>
              <a:t>But then process execution time can vary greatly</a:t>
            </a:r>
          </a:p>
          <a:p>
            <a:pPr lvl="1"/>
            <a:r>
              <a:rPr lang="en-US" altLang="en-US" dirty="0"/>
              <a:t>But greater throughput so more common</a:t>
            </a:r>
          </a:p>
          <a:p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replacement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each process selects from only its own set of allocated frames</a:t>
            </a:r>
          </a:p>
          <a:p>
            <a:pPr lvl="1"/>
            <a:r>
              <a:rPr lang="en-US" altLang="en-US" dirty="0"/>
              <a:t>More consistent per-process performance</a:t>
            </a:r>
          </a:p>
          <a:p>
            <a:pPr lvl="1"/>
            <a:r>
              <a:rPr lang="en-US" altLang="en-US" dirty="0"/>
              <a:t>But possibly underutilized memory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90748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49F6A49F-25D8-4FD7-9583-FB679D00D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392" y="238937"/>
            <a:ext cx="7632441" cy="576262"/>
          </a:xfrm>
        </p:spPr>
        <p:txBody>
          <a:bodyPr/>
          <a:lstStyle/>
          <a:p>
            <a:r>
              <a:rPr lang="en-US" altLang="en-US" dirty="0"/>
              <a:t>Non-Uniform Memory Access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DF2C4F7F-CB17-4666-828B-D606BF41D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413" y="1081088"/>
            <a:ext cx="7472946" cy="1905000"/>
          </a:xfrm>
        </p:spPr>
        <p:txBody>
          <a:bodyPr/>
          <a:lstStyle/>
          <a:p>
            <a:r>
              <a:rPr lang="en-US" altLang="en-US" dirty="0"/>
              <a:t>So far, we assumed that all memory accessed equally</a:t>
            </a:r>
          </a:p>
          <a:p>
            <a:r>
              <a:rPr lang="en-US" altLang="en-US" dirty="0"/>
              <a:t>Many systems are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NUMA</a:t>
            </a:r>
            <a:r>
              <a:rPr lang="en-US" altLang="en-US" dirty="0"/>
              <a:t> – speed of access to memory varies</a:t>
            </a:r>
          </a:p>
          <a:p>
            <a:pPr lvl="1"/>
            <a:r>
              <a:rPr lang="en-US" altLang="en-US" dirty="0"/>
              <a:t>Consider system boards containing CPUs and memory, interconnected over a system bus</a:t>
            </a:r>
          </a:p>
          <a:p>
            <a:r>
              <a:rPr lang="en-US" altLang="en-US" dirty="0"/>
              <a:t>NUMA multiprocessing architecture</a:t>
            </a:r>
          </a:p>
        </p:txBody>
      </p:sp>
      <p:pic>
        <p:nvPicPr>
          <p:cNvPr id="55300" name="Picture 2" descr="B:\os-book\os10-dir\Slides-WORK-area\Figures-dir\ch10\JPG-dir\10_19.jpg">
            <a:extLst>
              <a:ext uri="{FF2B5EF4-FFF2-40B4-BE49-F238E27FC236}">
                <a16:creationId xmlns:a16="http://schemas.microsoft.com/office/drawing/2014/main" id="{DD1213BD-2F99-4C6A-82F6-7FDD33098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525" y="3001963"/>
            <a:ext cx="2895600" cy="274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8891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1ACF6E52-DB8A-4979-975A-39B4DEC9E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04" y="238937"/>
            <a:ext cx="7458075" cy="576262"/>
          </a:xfrm>
        </p:spPr>
        <p:txBody>
          <a:bodyPr/>
          <a:lstStyle/>
          <a:p>
            <a:r>
              <a:rPr lang="en-US" altLang="en-US" dirty="0"/>
              <a:t>Non-Uniform Memory Access (Cont.)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B7EC66A7-FFCE-4360-BFC4-3184B57E7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419" y="1221047"/>
            <a:ext cx="7529801" cy="4530725"/>
          </a:xfrm>
        </p:spPr>
        <p:txBody>
          <a:bodyPr/>
          <a:lstStyle/>
          <a:p>
            <a:r>
              <a:rPr lang="en-US" altLang="en-US" dirty="0"/>
              <a:t>Optimal performance comes from allocating memory </a:t>
            </a:r>
            <a:r>
              <a:rPr lang="ja-JP" altLang="en-US" dirty="0"/>
              <a:t>“</a:t>
            </a:r>
            <a:r>
              <a:rPr lang="en-US" altLang="ja-JP" dirty="0"/>
              <a:t>close to</a:t>
            </a:r>
            <a:r>
              <a:rPr lang="ja-JP" altLang="en-US" dirty="0"/>
              <a:t>”</a:t>
            </a:r>
            <a:r>
              <a:rPr lang="en-US" altLang="ja-JP" dirty="0"/>
              <a:t> the CPU on which the thread is scheduled</a:t>
            </a:r>
          </a:p>
          <a:p>
            <a:pPr lvl="1"/>
            <a:r>
              <a:rPr lang="en-US" altLang="en-US" dirty="0"/>
              <a:t>And modifying the scheduler to schedule the thread on the same system board when possible</a:t>
            </a:r>
          </a:p>
          <a:p>
            <a:pPr lvl="1"/>
            <a:r>
              <a:rPr lang="en-US" altLang="en-US" dirty="0"/>
              <a:t>Solved by Solaris by creating </a:t>
            </a:r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lgroups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</a:p>
          <a:p>
            <a:pPr lvl="2"/>
            <a:r>
              <a:rPr lang="en-US" altLang="en-US" dirty="0"/>
              <a:t>Structure to track CPU / Memory low latency groups</a:t>
            </a:r>
          </a:p>
          <a:p>
            <a:pPr lvl="2"/>
            <a:r>
              <a:rPr lang="en-US" altLang="en-US" dirty="0"/>
              <a:t>Used my schedule and pager</a:t>
            </a:r>
          </a:p>
          <a:p>
            <a:pPr lvl="2"/>
            <a:r>
              <a:rPr lang="en-US" altLang="en-US" dirty="0"/>
              <a:t>When possible schedule all threads of a process and allocate all memory for that process within the </a:t>
            </a:r>
            <a:r>
              <a:rPr lang="en-US" altLang="en-US" dirty="0" err="1"/>
              <a:t>lgroup</a:t>
            </a:r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22453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4F731FD3-D4BB-4495-AA41-BEE2A772C8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Thrashing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1BFB067A-221A-4384-BE53-811322B7EC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7" y="1234526"/>
            <a:ext cx="7669763" cy="4483100"/>
          </a:xfrm>
        </p:spPr>
        <p:txBody>
          <a:bodyPr/>
          <a:lstStyle/>
          <a:p>
            <a:r>
              <a:rPr lang="en-US" altLang="en-US" dirty="0"/>
              <a:t>If a process does not have </a:t>
            </a:r>
            <a:r>
              <a:rPr lang="ja-JP" altLang="en-US" dirty="0"/>
              <a:t>“</a:t>
            </a:r>
            <a:r>
              <a:rPr lang="en-US" altLang="ja-JP" dirty="0"/>
              <a:t>enough</a:t>
            </a:r>
            <a:r>
              <a:rPr lang="ja-JP" altLang="en-US" dirty="0"/>
              <a:t>”</a:t>
            </a:r>
            <a:r>
              <a:rPr lang="en-US" altLang="ja-JP" dirty="0"/>
              <a:t> pages, the page-fault rate is very high</a:t>
            </a:r>
          </a:p>
          <a:p>
            <a:pPr lvl="1"/>
            <a:r>
              <a:rPr lang="en-US" altLang="en-US" dirty="0"/>
              <a:t>Page fault to get page</a:t>
            </a:r>
          </a:p>
          <a:p>
            <a:pPr lvl="1"/>
            <a:r>
              <a:rPr lang="en-US" altLang="en-US" dirty="0"/>
              <a:t>Replace existing frame</a:t>
            </a:r>
          </a:p>
          <a:p>
            <a:pPr lvl="1"/>
            <a:r>
              <a:rPr lang="en-US" altLang="en-US" dirty="0"/>
              <a:t>But quickly need replaced frame back</a:t>
            </a:r>
          </a:p>
          <a:p>
            <a:pPr lvl="1"/>
            <a:r>
              <a:rPr lang="en-US" altLang="en-US" dirty="0"/>
              <a:t>This leads to:</a:t>
            </a:r>
          </a:p>
          <a:p>
            <a:pPr lvl="2"/>
            <a:r>
              <a:rPr lang="en-US" altLang="en-US" dirty="0"/>
              <a:t>Low CPU utilization</a:t>
            </a:r>
          </a:p>
          <a:p>
            <a:pPr lvl="2"/>
            <a:r>
              <a:rPr lang="en-US" altLang="en-US" dirty="0"/>
              <a:t>Operating system thinking that it needs to increase the degree of multiprogramming</a:t>
            </a:r>
          </a:p>
          <a:p>
            <a:pPr lvl="2"/>
            <a:r>
              <a:rPr lang="en-US" altLang="en-US" dirty="0"/>
              <a:t>Another process added to the system</a:t>
            </a:r>
            <a:br>
              <a:rPr lang="en-US" alt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21903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F37029F3-575E-45E9-8727-29B42A6C29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Thrashing (Cont.)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1466EF36-C0B0-44EF-8514-5525DA5E5C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080" y="1206536"/>
            <a:ext cx="7265631" cy="9398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Thrashing</a:t>
            </a:r>
            <a:r>
              <a:rPr lang="en-US" altLang="en-US" dirty="0">
                <a:solidFill>
                  <a:srgbClr val="3366FF"/>
                </a:solidFill>
              </a:rPr>
              <a:t>. </a:t>
            </a:r>
            <a:r>
              <a:rPr lang="en-US" altLang="en-US" dirty="0">
                <a:sym typeface="Symbol" panose="05050102010706020507" pitchFamily="18" charset="2"/>
              </a:rPr>
              <a:t> A process is busy swapping pages in and out</a:t>
            </a:r>
            <a:endParaRPr lang="en-US" altLang="en-US" dirty="0"/>
          </a:p>
        </p:txBody>
      </p:sp>
      <p:pic>
        <p:nvPicPr>
          <p:cNvPr id="58372" name="Picture 4" descr="B:\os-book\os10-dir\Slides-WORK-area\Figures-dir\ch10\JPG-dir\10_20.jpg">
            <a:extLst>
              <a:ext uri="{FF2B5EF4-FFF2-40B4-BE49-F238E27FC236}">
                <a16:creationId xmlns:a16="http://schemas.microsoft.com/office/drawing/2014/main" id="{94F4115B-BBC6-4F1B-BBD0-84201898A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225" y="1974886"/>
            <a:ext cx="4868863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3330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D2F1A281-A3F7-478D-8F22-6700032BE4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3613" y="238161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Allocating Kernel Memory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02CE61BF-9E24-439E-BBC6-87B0D25B1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012" y="1093788"/>
            <a:ext cx="7677150" cy="4530725"/>
          </a:xfrm>
        </p:spPr>
        <p:txBody>
          <a:bodyPr/>
          <a:lstStyle/>
          <a:p>
            <a:r>
              <a:rPr lang="en-US" altLang="en-US" dirty="0"/>
              <a:t>Treated differently from user memory</a:t>
            </a:r>
          </a:p>
          <a:p>
            <a:endParaRPr lang="en-US" altLang="en-US" dirty="0"/>
          </a:p>
          <a:p>
            <a:r>
              <a:rPr lang="en-US" altLang="en-US" dirty="0"/>
              <a:t>Often allocated from a free-memory pool</a:t>
            </a:r>
          </a:p>
          <a:p>
            <a:pPr lvl="1"/>
            <a:r>
              <a:rPr lang="en-US" altLang="en-US" dirty="0"/>
              <a:t>Kernel requests memory for structures of varying sizes</a:t>
            </a:r>
          </a:p>
          <a:p>
            <a:pPr lvl="1"/>
            <a:r>
              <a:rPr lang="en-US" altLang="en-US" dirty="0"/>
              <a:t>Some kernel memory needs to be contiguous</a:t>
            </a:r>
          </a:p>
          <a:p>
            <a:pPr lvl="2"/>
            <a:r>
              <a:rPr lang="en-US" altLang="en-US" dirty="0"/>
              <a:t>i.e., for device I/O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4417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6B76758C-1E6C-4B95-A8AA-7E0A28DAC0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867" y="24489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Other Considerations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48081149-F761-4B98-AC52-65D65BDA95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4570" y="1170217"/>
            <a:ext cx="7027251" cy="4908550"/>
          </a:xfrm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altLang="en-US" dirty="0"/>
              <a:t>Prepaging </a:t>
            </a:r>
          </a:p>
          <a:p>
            <a:pPr>
              <a:defRPr/>
            </a:pPr>
            <a:r>
              <a:rPr lang="en-US" altLang="en-US" dirty="0"/>
              <a:t>Page size</a:t>
            </a:r>
          </a:p>
          <a:p>
            <a:pPr>
              <a:defRPr/>
            </a:pPr>
            <a:r>
              <a:rPr lang="en-US" altLang="en-US" dirty="0"/>
              <a:t>TLB reach</a:t>
            </a:r>
          </a:p>
          <a:p>
            <a:pPr>
              <a:defRPr/>
            </a:pPr>
            <a:r>
              <a:rPr lang="en-US" altLang="en-US" dirty="0"/>
              <a:t>Inverted page table</a:t>
            </a:r>
          </a:p>
          <a:p>
            <a:pPr>
              <a:defRPr/>
            </a:pPr>
            <a:r>
              <a:rPr lang="en-US" altLang="en-US" dirty="0"/>
              <a:t>Program structure</a:t>
            </a:r>
          </a:p>
          <a:p>
            <a:pPr>
              <a:defRPr/>
            </a:pPr>
            <a:endParaRPr lang="en-US" altLang="en-US" dirty="0"/>
          </a:p>
          <a:p>
            <a:pPr lvl="8">
              <a:buFontTx/>
              <a:buNone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5254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9FEBEE20-4A5C-413A-B000-3484CAD427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7921691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TLB Reach 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EA8B1F0E-2841-4D45-8806-4D0968518C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0070" y="952161"/>
            <a:ext cx="7694612" cy="4418013"/>
          </a:xfrm>
        </p:spPr>
        <p:txBody>
          <a:bodyPr/>
          <a:lstStyle/>
          <a:p>
            <a:r>
              <a:rPr lang="en-US" altLang="en-US" dirty="0"/>
              <a:t>TLB Reach - The amount of memory accessible from the TLB</a:t>
            </a:r>
            <a:endParaRPr lang="en-US" altLang="en-US" sz="800" dirty="0"/>
          </a:p>
          <a:p>
            <a:endParaRPr lang="en-US" altLang="en-US" dirty="0"/>
          </a:p>
          <a:p>
            <a:r>
              <a:rPr lang="en-US" altLang="en-US" dirty="0"/>
              <a:t>TLB Reach = (TLB Size) X (Page Size)</a:t>
            </a:r>
            <a:endParaRPr lang="en-US" altLang="en-US" sz="800" dirty="0"/>
          </a:p>
          <a:p>
            <a:endParaRPr lang="en-US" altLang="en-US" dirty="0"/>
          </a:p>
          <a:p>
            <a:r>
              <a:rPr lang="en-US" altLang="en-US" dirty="0"/>
              <a:t>Ideally, the working set of each process is stored in the TLB</a:t>
            </a:r>
          </a:p>
          <a:p>
            <a:pPr lvl="1"/>
            <a:r>
              <a:rPr lang="en-US" altLang="en-US" dirty="0"/>
              <a:t>Otherwise there is a high degree of page faults</a:t>
            </a:r>
            <a:endParaRPr lang="en-US" altLang="en-US" sz="800" dirty="0"/>
          </a:p>
          <a:p>
            <a:endParaRPr lang="en-US" altLang="en-US" dirty="0"/>
          </a:p>
          <a:p>
            <a:r>
              <a:rPr lang="en-US" altLang="en-US" dirty="0"/>
              <a:t>Increase the Page Size</a:t>
            </a:r>
          </a:p>
          <a:p>
            <a:pPr lvl="1"/>
            <a:r>
              <a:rPr lang="en-US" altLang="en-US" dirty="0"/>
              <a:t>This may lead to an increase in fragmentation as not all applications require a large page size</a:t>
            </a:r>
            <a:endParaRPr lang="en-US" altLang="en-US" sz="800" dirty="0"/>
          </a:p>
          <a:p>
            <a:endParaRPr lang="en-US" altLang="en-US" dirty="0"/>
          </a:p>
          <a:p>
            <a:r>
              <a:rPr lang="en-US" altLang="en-US" dirty="0"/>
              <a:t>Provide Multiple Page Sizes</a:t>
            </a:r>
          </a:p>
          <a:p>
            <a:pPr lvl="1"/>
            <a:r>
              <a:rPr lang="en-US" altLang="en-US" dirty="0"/>
              <a:t>This allows applications that require larger page sizes the opportunity to use them without an increase in fragmentation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78077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15C91CD0-BB6D-4937-B73B-85F51EAE2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7928" y="238161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Program Structure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29508830-6713-4F82-846C-6E4BBB6AC8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887" y="1104900"/>
            <a:ext cx="8017537" cy="499586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 dirty="0"/>
              <a:t>Program structure, Assume pages are 128 words in size, 1 </a:t>
            </a:r>
            <a:r>
              <a:rPr lang="en-US" altLang="en-US" dirty="0" err="1"/>
              <a:t>int</a:t>
            </a:r>
            <a:r>
              <a:rPr lang="en-US" altLang="en-US" dirty="0"/>
              <a:t> = 1 word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 dirty="0" err="1">
                <a:latin typeface="Courier New" panose="02070309020205020404" pitchFamily="49" charset="0"/>
              </a:rPr>
              <a:t>int</a:t>
            </a:r>
            <a:r>
              <a:rPr lang="en-US" altLang="en-US" dirty="0">
                <a:latin typeface="Courier New" panose="02070309020205020404" pitchFamily="49" charset="0"/>
              </a:rPr>
              <a:t>[128,128] data;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 dirty="0"/>
              <a:t>Each row is stored in one page 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 dirty="0"/>
              <a:t>Program 1 	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 dirty="0">
                <a:latin typeface="Courier New" panose="02070309020205020404" pitchFamily="49" charset="0"/>
              </a:rPr>
              <a:t>                for (j = 0; j &lt;128; </a:t>
            </a:r>
            <a:r>
              <a:rPr lang="en-US" altLang="en-US" dirty="0" err="1">
                <a:latin typeface="Courier New" panose="02070309020205020404" pitchFamily="49" charset="0"/>
              </a:rPr>
              <a:t>j++</a:t>
            </a:r>
            <a:r>
              <a:rPr lang="en-US" altLang="en-US" dirty="0">
                <a:latin typeface="Courier New" panose="02070309020205020404" pitchFamily="49" charset="0"/>
              </a:rPr>
              <a:t>)</a:t>
            </a:r>
            <a:br>
              <a:rPr lang="en-US" altLang="en-US" dirty="0">
                <a:latin typeface="Courier New" panose="02070309020205020404" pitchFamily="49" charset="0"/>
              </a:rPr>
            </a:br>
            <a:r>
              <a:rPr lang="en-US" altLang="en-US" dirty="0">
                <a:latin typeface="Courier New" panose="02070309020205020404" pitchFamily="49" charset="0"/>
              </a:rPr>
              <a:t>                  for (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 = 0; 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 &lt; 128; 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++)</a:t>
            </a:r>
            <a:br>
              <a:rPr lang="en-US" altLang="en-US" dirty="0">
                <a:latin typeface="Courier New" panose="02070309020205020404" pitchFamily="49" charset="0"/>
              </a:rPr>
            </a:br>
            <a:r>
              <a:rPr lang="en-US" altLang="en-US" dirty="0">
                <a:latin typeface="Courier New" panose="02070309020205020404" pitchFamily="49" charset="0"/>
              </a:rPr>
              <a:t>                        data[</a:t>
            </a:r>
            <a:r>
              <a:rPr lang="en-US" altLang="en-US" dirty="0" err="1">
                <a:latin typeface="Courier New" panose="02070309020205020404" pitchFamily="49" charset="0"/>
              </a:rPr>
              <a:t>i,j</a:t>
            </a:r>
            <a:r>
              <a:rPr lang="en-US" altLang="en-US" dirty="0">
                <a:latin typeface="Courier New" panose="02070309020205020404" pitchFamily="49" charset="0"/>
              </a:rPr>
              <a:t>] = 0;</a:t>
            </a:r>
            <a:br>
              <a:rPr lang="en-US" altLang="en-US" dirty="0">
                <a:latin typeface="Courier New" panose="02070309020205020404" pitchFamily="49" charset="0"/>
              </a:rPr>
            </a:br>
            <a:endParaRPr lang="en-US" altLang="en-US" dirty="0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 dirty="0"/>
              <a:t>     128 x 128 = 16,384 page faults </a:t>
            </a:r>
            <a:br>
              <a:rPr lang="en-US" altLang="en-US" dirty="0"/>
            </a:br>
            <a:endParaRPr lang="en-US" altLang="en-US" dirty="0"/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 dirty="0"/>
              <a:t>Program 2 	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 dirty="0">
                <a:latin typeface="Courier New" panose="02070309020205020404" pitchFamily="49" charset="0"/>
              </a:rPr>
              <a:t>             for (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 = 0; 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 &lt; 128; 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++)</a:t>
            </a:r>
            <a:br>
              <a:rPr lang="en-US" altLang="en-US" dirty="0">
                <a:latin typeface="Courier New" panose="02070309020205020404" pitchFamily="49" charset="0"/>
              </a:rPr>
            </a:br>
            <a:r>
              <a:rPr lang="en-US" altLang="en-US" dirty="0">
                <a:latin typeface="Courier New" panose="02070309020205020404" pitchFamily="49" charset="0"/>
              </a:rPr>
              <a:t>               for (j = 0; j &lt; 128; </a:t>
            </a:r>
            <a:r>
              <a:rPr lang="en-US" altLang="en-US" dirty="0" err="1">
                <a:latin typeface="Courier New" panose="02070309020205020404" pitchFamily="49" charset="0"/>
              </a:rPr>
              <a:t>j++</a:t>
            </a:r>
            <a:r>
              <a:rPr lang="en-US" altLang="en-US" dirty="0">
                <a:latin typeface="Courier New" panose="02070309020205020404" pitchFamily="49" charset="0"/>
              </a:rPr>
              <a:t>)</a:t>
            </a:r>
            <a:br>
              <a:rPr lang="en-US" altLang="en-US" dirty="0">
                <a:latin typeface="Courier New" panose="02070309020205020404" pitchFamily="49" charset="0"/>
              </a:rPr>
            </a:br>
            <a:r>
              <a:rPr lang="en-US" altLang="en-US" dirty="0">
                <a:latin typeface="Courier New" panose="02070309020205020404" pitchFamily="49" charset="0"/>
              </a:rPr>
              <a:t>                     data[</a:t>
            </a:r>
            <a:r>
              <a:rPr lang="en-US" altLang="en-US" dirty="0" err="1">
                <a:latin typeface="Courier New" panose="02070309020205020404" pitchFamily="49" charset="0"/>
              </a:rPr>
              <a:t>i,j</a:t>
            </a:r>
            <a:r>
              <a:rPr lang="en-US" altLang="en-US" dirty="0">
                <a:latin typeface="Courier New" panose="02070309020205020404" pitchFamily="49" charset="0"/>
              </a:rPr>
              <a:t>] = 0;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128 page faults</a:t>
            </a:r>
          </a:p>
        </p:txBody>
      </p:sp>
    </p:spTree>
    <p:extLst>
      <p:ext uri="{BB962C8B-B14F-4D97-AF65-F5344CB8AC3E}">
        <p14:creationId xmlns:p14="http://schemas.microsoft.com/office/powerpoint/2010/main" val="3154176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85" y="997527"/>
            <a:ext cx="6372711" cy="168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3930732"/>
            <a:ext cx="6751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n-IN" dirty="0"/>
              <a:t>n</a:t>
            </a:r>
          </a:p>
          <a:p>
            <a:pPr marL="342900" indent="-342900">
              <a:buFont typeface="+mj-lt"/>
              <a:buAutoNum type="alphaLcParenR"/>
            </a:pPr>
            <a:endParaRPr lang="en-IN" dirty="0"/>
          </a:p>
          <a:p>
            <a:pPr marL="342900" indent="-342900">
              <a:buFont typeface="+mj-lt"/>
              <a:buAutoNum type="alphaLcParenR"/>
            </a:pPr>
            <a:r>
              <a:rPr lang="en-IN" dirty="0"/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233738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11" y="985652"/>
            <a:ext cx="6427932" cy="2055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085" y="3721709"/>
            <a:ext cx="5875558" cy="185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71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1982" y="3180269"/>
            <a:ext cx="6334457" cy="22739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982" y="954811"/>
            <a:ext cx="7132418" cy="9689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1982" y="1923803"/>
            <a:ext cx="6478847" cy="1424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857" y="4317223"/>
            <a:ext cx="2201827" cy="1359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8769" y="5830784"/>
            <a:ext cx="49146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b) Every 200</a:t>
            </a:r>
            <a:r>
              <a:rPr lang="en-IN" baseline="30000" dirty="0"/>
              <a:t>th</a:t>
            </a:r>
            <a:r>
              <a:rPr lang="en-IN" dirty="0"/>
              <a:t> element gets a page fault</a:t>
            </a:r>
          </a:p>
          <a:p>
            <a:r>
              <a:rPr lang="en-IN" dirty="0"/>
              <a:t>a) Every alternate gets a page fault</a:t>
            </a:r>
          </a:p>
        </p:txBody>
      </p:sp>
    </p:spTree>
    <p:extLst>
      <p:ext uri="{BB962C8B-B14F-4D97-AF65-F5344CB8AC3E}">
        <p14:creationId xmlns:p14="http://schemas.microsoft.com/office/powerpoint/2010/main" val="25286135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33" y="934537"/>
            <a:ext cx="8128783" cy="9439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25106"/>
            <a:ext cx="8485984" cy="214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77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STUDY the concept of Segmentation</a:t>
            </a:r>
          </a:p>
          <a:p>
            <a:endParaRPr lang="en-IN" dirty="0"/>
          </a:p>
          <a:p>
            <a:r>
              <a:rPr lang="en-IN" dirty="0"/>
              <a:t>STUDY the concept of PROTECTION</a:t>
            </a:r>
          </a:p>
          <a:p>
            <a:endParaRPr lang="en-IN" dirty="0"/>
          </a:p>
          <a:p>
            <a:r>
              <a:rPr lang="en-IN" dirty="0"/>
              <a:t>STUDY the concept of Valid / Invalid Bit</a:t>
            </a:r>
          </a:p>
        </p:txBody>
      </p:sp>
    </p:spTree>
    <p:extLst>
      <p:ext uri="{BB962C8B-B14F-4D97-AF65-F5344CB8AC3E}">
        <p14:creationId xmlns:p14="http://schemas.microsoft.com/office/powerpoint/2010/main" val="2541509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18041</TotalTime>
  <Words>2420</Words>
  <Application>Microsoft Office PowerPoint</Application>
  <PresentationFormat>On-screen Show (4:3)</PresentationFormat>
  <Paragraphs>473</Paragraphs>
  <Slides>67</Slides>
  <Notes>48</Notes>
  <HiddenSlides>5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80" baseType="lpstr">
      <vt:lpstr>MS PGothic</vt:lpstr>
      <vt:lpstr>MS PGothic</vt:lpstr>
      <vt:lpstr>Arial</vt:lpstr>
      <vt:lpstr>Courier New</vt:lpstr>
      <vt:lpstr>Helvetica</vt:lpstr>
      <vt:lpstr>Monotype Sorts</vt:lpstr>
      <vt:lpstr>Symbol</vt:lpstr>
      <vt:lpstr>Times New Roman</vt:lpstr>
      <vt:lpstr>Verdana</vt:lpstr>
      <vt:lpstr>Webdings</vt:lpstr>
      <vt:lpstr>Wingdings</vt:lpstr>
      <vt:lpstr>os-8</vt:lpstr>
      <vt:lpstr>Equation</vt:lpstr>
      <vt:lpstr>Paging and Virtual Memory</vt:lpstr>
      <vt:lpstr>Inverted Page Table (IPT) / Frame Table</vt:lpstr>
      <vt:lpstr>Inverted Page Table Architecture</vt:lpstr>
      <vt:lpstr>Inverted Page Table</vt:lpstr>
      <vt:lpstr>Page Table: Memory Protection</vt:lpstr>
      <vt:lpstr>Swapping</vt:lpstr>
      <vt:lpstr>Swapping: Choosing processes</vt:lpstr>
      <vt:lpstr>Swapping</vt:lpstr>
      <vt:lpstr>Swapping</vt:lpstr>
      <vt:lpstr>Taking advantages of paging</vt:lpstr>
      <vt:lpstr>Virtual memory </vt:lpstr>
      <vt:lpstr>Virtual memory  (Cont.)</vt:lpstr>
      <vt:lpstr>Virtual Memory That is Larger Than Physical Memory</vt:lpstr>
      <vt:lpstr>Virtual-address Space</vt:lpstr>
      <vt:lpstr>Shared Library Using Virtual Memory</vt:lpstr>
      <vt:lpstr>Demand Paging</vt:lpstr>
      <vt:lpstr>Demand Paging</vt:lpstr>
      <vt:lpstr>Basic Concepts</vt:lpstr>
      <vt:lpstr>Valid-Invalid Bit</vt:lpstr>
      <vt:lpstr>Page Table When Some Pages Are Not in Main Memory</vt:lpstr>
      <vt:lpstr>Steps in Handling Page Fault</vt:lpstr>
      <vt:lpstr>Steps in Handling a Page Fault (Cont.)</vt:lpstr>
      <vt:lpstr>Aspects of Demand Paging</vt:lpstr>
      <vt:lpstr>Instruction Restart</vt:lpstr>
      <vt:lpstr>Free-Frame List</vt:lpstr>
      <vt:lpstr> Stages in Demand Paging</vt:lpstr>
      <vt:lpstr>Stages in Demand Paging  (Cont.)</vt:lpstr>
      <vt:lpstr>Performance of Demand Paging</vt:lpstr>
      <vt:lpstr>Demand Paging Example</vt:lpstr>
      <vt:lpstr>Demand Paging Optimizations</vt:lpstr>
      <vt:lpstr>What Happens if There is no Free Frame?</vt:lpstr>
      <vt:lpstr>Need For Page Replacement</vt:lpstr>
      <vt:lpstr>Basic Page Replacement</vt:lpstr>
      <vt:lpstr>Page Replacement</vt:lpstr>
      <vt:lpstr>Modify / Dirty bit</vt:lpstr>
      <vt:lpstr>Page and Frame Replacement Algorithms</vt:lpstr>
      <vt:lpstr>Graph of Page Faults Versus the Number of Frames</vt:lpstr>
      <vt:lpstr>First-In-First-Out (FIFO) Algorithm</vt:lpstr>
      <vt:lpstr>Belady’s Anomaly</vt:lpstr>
      <vt:lpstr>Belady’s Anomaly</vt:lpstr>
      <vt:lpstr>FIFO Illustrating Belady’s Anomaly</vt:lpstr>
      <vt:lpstr>Optimal Algorithm</vt:lpstr>
      <vt:lpstr>Least Recently Used (LRU) Algorithm</vt:lpstr>
      <vt:lpstr>LRU Algorithm (Cont.)</vt:lpstr>
      <vt:lpstr>LRU Algorithm (Cont.)</vt:lpstr>
      <vt:lpstr>LRU Algorithm (Cont.)</vt:lpstr>
      <vt:lpstr>LRU Approximation Algorithms</vt:lpstr>
      <vt:lpstr>LRU Approximation Algorithms (cont.)</vt:lpstr>
      <vt:lpstr> Second-chance Algorithm</vt:lpstr>
      <vt:lpstr>Enhanced Second-Chance Algorithm</vt:lpstr>
      <vt:lpstr>Counting Algorithms</vt:lpstr>
      <vt:lpstr>Allocation of Frames</vt:lpstr>
      <vt:lpstr>Fixed Allocation</vt:lpstr>
      <vt:lpstr>Global vs. Local Allocation</vt:lpstr>
      <vt:lpstr>Non-Uniform Memory Access</vt:lpstr>
      <vt:lpstr>Non-Uniform Memory Access (Cont.)</vt:lpstr>
      <vt:lpstr>Thrashing</vt:lpstr>
      <vt:lpstr>Thrashing (Cont.)</vt:lpstr>
      <vt:lpstr>Allocating Kernel Memory</vt:lpstr>
      <vt:lpstr>Other Considerations</vt:lpstr>
      <vt:lpstr>TLB Reach </vt:lpstr>
      <vt:lpstr>Program Structure</vt:lpstr>
      <vt:lpstr>Exercises</vt:lpstr>
      <vt:lpstr>PowerPoint Presentation</vt:lpstr>
      <vt:lpstr>PowerPoint Presentation</vt:lpstr>
      <vt:lpstr>PowerPoint Presentation</vt:lpstr>
      <vt:lpstr>HOMEWORK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PC</cp:lastModifiedBy>
  <cp:revision>435</cp:revision>
  <cp:lastPrinted>2013-09-30T19:34:56Z</cp:lastPrinted>
  <dcterms:created xsi:type="dcterms:W3CDTF">2011-01-13T23:43:38Z</dcterms:created>
  <dcterms:modified xsi:type="dcterms:W3CDTF">2026-03-19T05:01:20Z</dcterms:modified>
</cp:coreProperties>
</file>