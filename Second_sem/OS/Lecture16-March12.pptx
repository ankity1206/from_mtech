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4"/>
  </p:notesMasterIdLst>
  <p:handoutMasterIdLst>
    <p:handoutMasterId r:id="rId35"/>
  </p:handoutMasterIdLst>
  <p:sldIdLst>
    <p:sldId id="331" r:id="rId2"/>
    <p:sldId id="546" r:id="rId3"/>
    <p:sldId id="565" r:id="rId4"/>
    <p:sldId id="567" r:id="rId5"/>
    <p:sldId id="566" r:id="rId6"/>
    <p:sldId id="360" r:id="rId7"/>
    <p:sldId id="545" r:id="rId8"/>
    <p:sldId id="361" r:id="rId9"/>
    <p:sldId id="457" r:id="rId10"/>
    <p:sldId id="461" r:id="rId11"/>
    <p:sldId id="547" r:id="rId12"/>
    <p:sldId id="463" r:id="rId13"/>
    <p:sldId id="464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548" r:id="rId24"/>
    <p:sldId id="475" r:id="rId25"/>
    <p:sldId id="476" r:id="rId26"/>
    <p:sldId id="477" r:id="rId27"/>
    <p:sldId id="478" r:id="rId28"/>
    <p:sldId id="479" r:id="rId29"/>
    <p:sldId id="480" r:id="rId30"/>
    <p:sldId id="481" r:id="rId31"/>
    <p:sldId id="482" r:id="rId32"/>
    <p:sldId id="483" r:id="rId3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CCECFF"/>
    <a:srgbClr val="FF0000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82" y="10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582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62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248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14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34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580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90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428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1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47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448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078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0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46916" y="6279614"/>
            <a:ext cx="3397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Additional slide courtesy: </a:t>
            </a:r>
            <a:r>
              <a:rPr lang="en-IN" sz="1100" dirty="0" err="1"/>
              <a:t>Prof.</a:t>
            </a:r>
            <a:r>
              <a:rPr lang="en-IN" sz="1100" dirty="0"/>
              <a:t> </a:t>
            </a:r>
            <a:r>
              <a:rPr lang="en-IN" sz="1100" dirty="0" err="1"/>
              <a:t>Mandar</a:t>
            </a:r>
            <a:r>
              <a:rPr lang="en-IN" sz="1100" dirty="0"/>
              <a:t> </a:t>
            </a:r>
            <a:r>
              <a:rPr lang="en-IN" sz="1100" dirty="0" err="1"/>
              <a:t>Mitra</a:t>
            </a:r>
            <a:r>
              <a:rPr lang="en-IN" sz="11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50" y="245576"/>
            <a:ext cx="8229600" cy="576262"/>
          </a:xfrm>
        </p:spPr>
        <p:txBody>
          <a:bodyPr/>
          <a:lstStyle/>
          <a:p>
            <a:r>
              <a:rPr lang="en-IN" dirty="0"/>
              <a:t>A relook at run-time address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047" y="960622"/>
            <a:ext cx="3323806" cy="4530725"/>
          </a:xfrm>
        </p:spPr>
        <p:txBody>
          <a:bodyPr/>
          <a:lstStyle/>
          <a:p>
            <a:r>
              <a:rPr lang="en-IN" sz="1400" dirty="0"/>
              <a:t>Logical address / virtual address </a:t>
            </a:r>
            <a:r>
              <a:rPr lang="en-IN" sz="1400" dirty="0">
                <a:sym typeface="Wingdings" panose="05000000000000000000" pitchFamily="2" charset="2"/>
              </a:rPr>
              <a:t> Compiler generated</a:t>
            </a:r>
          </a:p>
          <a:p>
            <a:r>
              <a:rPr lang="en-IN" sz="1400" dirty="0" smtClean="0">
                <a:sym typeface="Wingdings" panose="05000000000000000000" pitchFamily="2" charset="2"/>
              </a:rPr>
              <a:t>Physical </a:t>
            </a:r>
            <a:r>
              <a:rPr lang="en-IN" sz="1400" dirty="0">
                <a:sym typeface="Wingdings" panose="05000000000000000000" pitchFamily="2" charset="2"/>
              </a:rPr>
              <a:t>address  What goes on the bus to address physical memory</a:t>
            </a:r>
          </a:p>
          <a:p>
            <a:endParaRPr lang="en-IN" sz="1400" dirty="0">
              <a:sym typeface="Wingdings" panose="05000000000000000000" pitchFamily="2" charset="2"/>
            </a:endParaRPr>
          </a:p>
          <a:p>
            <a:endParaRPr lang="en-IN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98" y="2730231"/>
            <a:ext cx="5922663" cy="36341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619" y="1265673"/>
            <a:ext cx="1127231" cy="16861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32965" y="917086"/>
            <a:ext cx="1906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u="sng" dirty="0" smtClean="0"/>
              <a:t>Logical Address Space</a:t>
            </a:r>
            <a:endParaRPr lang="en-IN" sz="1200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6987907" y="1159014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0</a:t>
            </a:r>
            <a:endParaRPr lang="en-I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6832024" y="1945678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1004</a:t>
            </a:r>
            <a:endParaRPr lang="en-IN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6832023" y="2730231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MAX</a:t>
            </a:r>
            <a:endParaRPr lang="en-IN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112" y="1846315"/>
            <a:ext cx="438333" cy="43207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252" y="1380075"/>
            <a:ext cx="2436978" cy="1305372"/>
          </a:xfrm>
          <a:prstGeom prst="rect">
            <a:avLst/>
          </a:prstGeom>
        </p:spPr>
      </p:pic>
      <p:sp>
        <p:nvSpPr>
          <p:cNvPr id="16" name="Right Arrow 15"/>
          <p:cNvSpPr/>
          <p:nvPr/>
        </p:nvSpPr>
        <p:spPr bwMode="auto">
          <a:xfrm>
            <a:off x="6305549" y="1846315"/>
            <a:ext cx="471213" cy="36097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099" y="3391225"/>
            <a:ext cx="2490951" cy="272687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179" y="4716160"/>
            <a:ext cx="699055" cy="10456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89234" y="4890368"/>
            <a:ext cx="5517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err="1" smtClean="0"/>
              <a:t>a.out</a:t>
            </a:r>
            <a:endParaRPr lang="en-IN" sz="1100" dirty="0"/>
          </a:p>
        </p:txBody>
      </p:sp>
      <p:sp>
        <p:nvSpPr>
          <p:cNvPr id="20" name="Down Arrow 19"/>
          <p:cNvSpPr/>
          <p:nvPr/>
        </p:nvSpPr>
        <p:spPr bwMode="auto">
          <a:xfrm>
            <a:off x="7617041" y="3060728"/>
            <a:ext cx="272193" cy="39268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510" y="3706000"/>
            <a:ext cx="1077769" cy="118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67279" y="3599464"/>
            <a:ext cx="4619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14K</a:t>
            </a:r>
            <a:endParaRPr lang="en-IN" sz="1100" dirty="0"/>
          </a:p>
        </p:txBody>
      </p:sp>
      <p:sp>
        <p:nvSpPr>
          <p:cNvPr id="23" name="Right Arrow 22"/>
          <p:cNvSpPr/>
          <p:nvPr/>
        </p:nvSpPr>
        <p:spPr bwMode="auto">
          <a:xfrm rot="10800000">
            <a:off x="5007702" y="4476392"/>
            <a:ext cx="1540387" cy="25964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45838" y="4112582"/>
            <a:ext cx="6335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15004</a:t>
            </a:r>
            <a:endParaRPr lang="en-IN" sz="11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980" y="4078752"/>
            <a:ext cx="438333" cy="43207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217" y="3299385"/>
            <a:ext cx="955920" cy="3345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35688" y="4172026"/>
            <a:ext cx="614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LOAD</a:t>
            </a:r>
            <a:endParaRPr lang="en-IN" dirty="0"/>
          </a:p>
        </p:txBody>
      </p:sp>
      <p:sp>
        <p:nvSpPr>
          <p:cNvPr id="28" name="Right Arrow 27"/>
          <p:cNvSpPr/>
          <p:nvPr/>
        </p:nvSpPr>
        <p:spPr bwMode="auto">
          <a:xfrm rot="10800000">
            <a:off x="2723980" y="3664605"/>
            <a:ext cx="940187" cy="1999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57931" y="3402995"/>
            <a:ext cx="504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RUN</a:t>
            </a:r>
            <a:endParaRPr lang="en-IN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6004283" y="1565250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COMPILE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34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6" grpId="0" animBg="1"/>
      <p:bldP spid="19" grpId="0"/>
      <p:bldP spid="20" grpId="0" animBg="1"/>
      <p:bldP spid="22" grpId="0"/>
      <p:bldP spid="23" grpId="0" animBg="1"/>
      <p:bldP spid="24" grpId="0"/>
      <p:bldP spid="27" grpId="0"/>
      <p:bldP spid="28" grpId="0" animBg="1"/>
      <p:bldP spid="29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Runtime address binding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008" y="1747911"/>
            <a:ext cx="5239428" cy="37887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 bwMode="auto">
          <a:xfrm>
            <a:off x="3231471" y="3835153"/>
            <a:ext cx="381740" cy="18643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1004</a:t>
            </a:r>
            <a:endParaRPr kumimoji="0" lang="en-I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5287453" y="3861787"/>
            <a:ext cx="500788" cy="15979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15004</a:t>
            </a:r>
            <a:endParaRPr kumimoji="0" lang="en-I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092" y="3242969"/>
            <a:ext cx="1077769" cy="1184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5301" y="3112164"/>
            <a:ext cx="4619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14K</a:t>
            </a:r>
            <a:endParaRPr lang="en-IN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051" y="3562725"/>
            <a:ext cx="955920" cy="3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9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50" y="245576"/>
            <a:ext cx="8229600" cy="576262"/>
          </a:xfrm>
        </p:spPr>
        <p:txBody>
          <a:bodyPr/>
          <a:lstStyle/>
          <a:p>
            <a:r>
              <a:rPr lang="en-IN" dirty="0" smtClean="0"/>
              <a:t>Context Switch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047" y="960622"/>
            <a:ext cx="3323806" cy="4530725"/>
          </a:xfrm>
        </p:spPr>
        <p:txBody>
          <a:bodyPr/>
          <a:lstStyle/>
          <a:p>
            <a:endParaRPr lang="en-IN" sz="1400" dirty="0">
              <a:sym typeface="Wingdings" panose="05000000000000000000" pitchFamily="2" charset="2"/>
            </a:endParaRPr>
          </a:p>
          <a:p>
            <a:endParaRPr lang="en-IN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98" y="2730231"/>
            <a:ext cx="5922663" cy="36341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619" y="1265673"/>
            <a:ext cx="1127231" cy="16861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32965" y="917086"/>
            <a:ext cx="1906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u="sng" dirty="0" smtClean="0"/>
              <a:t>Logical Address Space</a:t>
            </a:r>
            <a:endParaRPr lang="en-IN" sz="1200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6987907" y="1159014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0</a:t>
            </a:r>
            <a:endParaRPr lang="en-I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6832024" y="1945678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1004</a:t>
            </a:r>
            <a:endParaRPr lang="en-IN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6832023" y="2730231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MAX</a:t>
            </a:r>
            <a:endParaRPr lang="en-IN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112" y="1846315"/>
            <a:ext cx="438333" cy="43207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099" y="3391225"/>
            <a:ext cx="2490951" cy="272687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179" y="4730306"/>
            <a:ext cx="699055" cy="10456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89234" y="4890368"/>
            <a:ext cx="5517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err="1" smtClean="0"/>
              <a:t>a.out</a:t>
            </a:r>
            <a:endParaRPr lang="en-IN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4867279" y="3599464"/>
            <a:ext cx="4619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14K</a:t>
            </a:r>
            <a:endParaRPr lang="en-IN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3145838" y="4112582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4</a:t>
            </a:r>
            <a:r>
              <a:rPr lang="en-IN" sz="1100" dirty="0" smtClean="0"/>
              <a:t>004</a:t>
            </a:r>
            <a:endParaRPr lang="en-IN" sz="1100" dirty="0"/>
          </a:p>
        </p:txBody>
      </p:sp>
      <p:sp>
        <p:nvSpPr>
          <p:cNvPr id="5" name="Right Arrow 4"/>
          <p:cNvSpPr/>
          <p:nvPr/>
        </p:nvSpPr>
        <p:spPr bwMode="auto">
          <a:xfrm>
            <a:off x="5024761" y="4510823"/>
            <a:ext cx="1520338" cy="30975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7767961" y="3861074"/>
            <a:ext cx="550416" cy="649749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1" name="Right Arrow 30"/>
          <p:cNvSpPr/>
          <p:nvPr/>
        </p:nvSpPr>
        <p:spPr bwMode="auto">
          <a:xfrm rot="10800000">
            <a:off x="4938980" y="3838207"/>
            <a:ext cx="2663236" cy="25964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3801899" y="3645037"/>
            <a:ext cx="1065379" cy="1085269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29265" y="423603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PCB 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157274" y="1748901"/>
            <a:ext cx="219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For </a:t>
            </a:r>
            <a:r>
              <a:rPr lang="en-IN" dirty="0" err="1" smtClean="0"/>
              <a:t>a.out</a:t>
            </a:r>
            <a:r>
              <a:rPr lang="en-IN" dirty="0" smtClean="0"/>
              <a:t> process</a:t>
            </a:r>
            <a:endParaRPr lang="en-IN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037" y="3656194"/>
            <a:ext cx="1077241" cy="123417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 bwMode="auto">
          <a:xfrm>
            <a:off x="3865357" y="3643151"/>
            <a:ext cx="978189" cy="1177423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6" name="Rounded Rectangle 35"/>
          <p:cNvSpPr/>
          <p:nvPr/>
        </p:nvSpPr>
        <p:spPr bwMode="auto">
          <a:xfrm>
            <a:off x="1615736" y="3462291"/>
            <a:ext cx="1012054" cy="180860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95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2" grpId="0"/>
      <p:bldP spid="24" grpId="0"/>
      <p:bldP spid="5" grpId="0" animBg="1"/>
      <p:bldP spid="6" grpId="0" animBg="1"/>
      <p:bldP spid="31" grpId="0" animBg="1"/>
      <p:bldP spid="33" grpId="0" animBg="1"/>
      <p:bldP spid="7" grpId="0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Memory Management Unit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008" y="1747911"/>
            <a:ext cx="5239428" cy="37887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 bwMode="auto">
          <a:xfrm>
            <a:off x="3231471" y="3835153"/>
            <a:ext cx="381740" cy="18643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1004</a:t>
            </a:r>
            <a:endParaRPr kumimoji="0" lang="en-I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5287453" y="3861787"/>
            <a:ext cx="500788" cy="15979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4004</a:t>
            </a:r>
            <a:endParaRPr kumimoji="0" lang="en-I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092" y="2285082"/>
            <a:ext cx="1077769" cy="11843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 bwMode="auto">
          <a:xfrm>
            <a:off x="4199139" y="3151573"/>
            <a:ext cx="550414" cy="1712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3000</a:t>
            </a:r>
            <a:endParaRPr kumimoji="0" lang="en-I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80106" y="2154277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3</a:t>
            </a:r>
            <a:r>
              <a:rPr lang="en-IN" sz="1100" dirty="0" smtClean="0"/>
              <a:t>K</a:t>
            </a:r>
            <a:endParaRPr lang="en-IN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3561349" y="1198309"/>
            <a:ext cx="222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a.out</a:t>
            </a:r>
            <a:r>
              <a:rPr lang="en-IN" dirty="0" smtClean="0"/>
              <a:t> comes back</a:t>
            </a:r>
            <a:endParaRPr lang="en-IN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008" y="3607114"/>
            <a:ext cx="955920" cy="3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defined by hardware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endParaRPr lang="en-US" altLang="en-US" dirty="0"/>
          </a:p>
          <a:p>
            <a:r>
              <a:rPr lang="en-US" altLang="en-US" dirty="0"/>
              <a:t>Kernel to keep track of all free frames</a:t>
            </a:r>
            <a:endParaRPr lang="en-US" altLang="en-US" sz="800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678723" y="1347488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678723" y="1758466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678723" y="2157508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678723" y="2541472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678723" y="2952450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691550" y="1335766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5691550" y="174674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691550" y="2145786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691550" y="2529750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5691550" y="2940728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691550" y="335103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5691550" y="3762012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5691550" y="416105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5691550" y="4545018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5691550" y="4955996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04385" y="923398"/>
            <a:ext cx="3496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Logical Address Space (LAS)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555" y="929871"/>
            <a:ext cx="3630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Physical Address Space (PAS)</a:t>
            </a:r>
          </a:p>
        </p:txBody>
      </p:sp>
      <p:cxnSp>
        <p:nvCxnSpPr>
          <p:cNvPr id="37" name="Straight Arrow Connector 36"/>
          <p:cNvCxnSpPr>
            <a:stCxn id="4" idx="3"/>
            <a:endCxn id="10" idx="1"/>
          </p:cNvCxnSpPr>
          <p:nvPr/>
        </p:nvCxnSpPr>
        <p:spPr bwMode="auto">
          <a:xfrm>
            <a:off x="3464169" y="1546780"/>
            <a:ext cx="2227381" cy="3992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/>
          <p:cNvCxnSpPr>
            <a:stCxn id="5" idx="3"/>
          </p:cNvCxnSpPr>
          <p:nvPr/>
        </p:nvCxnSpPr>
        <p:spPr bwMode="auto">
          <a:xfrm>
            <a:off x="3464169" y="1957758"/>
            <a:ext cx="2127739" cy="27865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/>
          <p:cNvCxnSpPr>
            <a:stCxn id="6" idx="3"/>
          </p:cNvCxnSpPr>
          <p:nvPr/>
        </p:nvCxnSpPr>
        <p:spPr bwMode="auto">
          <a:xfrm flipV="1">
            <a:off x="3464169" y="1535058"/>
            <a:ext cx="2183419" cy="8217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/>
          <p:cNvCxnSpPr/>
          <p:nvPr/>
        </p:nvCxnSpPr>
        <p:spPr bwMode="auto">
          <a:xfrm>
            <a:off x="3487614" y="2767442"/>
            <a:ext cx="2227381" cy="3992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 flipV="1">
            <a:off x="3464169" y="2368240"/>
            <a:ext cx="2183419" cy="8217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6712028" y="129920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2028" y="175282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3752" y="217485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12030" y="251482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8638" y="133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4" name="Right Brace 53"/>
          <p:cNvSpPr/>
          <p:nvPr/>
        </p:nvSpPr>
        <p:spPr bwMode="auto">
          <a:xfrm>
            <a:off x="6588603" y="1358238"/>
            <a:ext cx="126021" cy="310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55" name="Left Brace 54"/>
          <p:cNvSpPr/>
          <p:nvPr/>
        </p:nvSpPr>
        <p:spPr bwMode="auto">
          <a:xfrm>
            <a:off x="2503530" y="1358238"/>
            <a:ext cx="87270" cy="376112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0344" y="4139289"/>
            <a:ext cx="60805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Given a logical address </a:t>
            </a:r>
            <a:r>
              <a:rPr lang="en-IN" dirty="0" err="1"/>
              <a:t>a</a:t>
            </a:r>
            <a:r>
              <a:rPr lang="en-IN" baseline="-25000" dirty="0" err="1"/>
              <a:t>L</a:t>
            </a:r>
            <a:r>
              <a:rPr lang="en-IN" dirty="0"/>
              <a:t>,</a:t>
            </a:r>
          </a:p>
          <a:p>
            <a:r>
              <a:rPr lang="en-IN" dirty="0"/>
              <a:t>compute the page </a:t>
            </a:r>
            <a:r>
              <a:rPr lang="en-IN" i="1" dirty="0"/>
              <a:t>number</a:t>
            </a:r>
            <a:r>
              <a:rPr lang="en-IN" dirty="0"/>
              <a:t> as  </a:t>
            </a:r>
          </a:p>
          <a:p>
            <a:r>
              <a:rPr lang="en-IN" dirty="0">
                <a:solidFill>
                  <a:srgbClr val="FF0000"/>
                </a:solidFill>
              </a:rPr>
              <a:t>floor (</a:t>
            </a:r>
            <a:r>
              <a:rPr lang="en-IN" dirty="0" err="1">
                <a:solidFill>
                  <a:srgbClr val="FF0000"/>
                </a:solidFill>
              </a:rPr>
              <a:t>a</a:t>
            </a:r>
            <a:r>
              <a:rPr lang="en-IN" baseline="-25000" dirty="0" err="1">
                <a:solidFill>
                  <a:srgbClr val="FF0000"/>
                </a:solidFill>
              </a:rPr>
              <a:t>L</a:t>
            </a:r>
            <a:r>
              <a:rPr lang="en-IN" baseline="-25000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/ s) </a:t>
            </a:r>
            <a:r>
              <a:rPr lang="en-IN" dirty="0"/>
              <a:t>and the offset d as </a:t>
            </a:r>
            <a:r>
              <a:rPr lang="en-IN" dirty="0" err="1">
                <a:solidFill>
                  <a:srgbClr val="FF0000"/>
                </a:solidFill>
              </a:rPr>
              <a:t>a</a:t>
            </a:r>
            <a:r>
              <a:rPr lang="en-IN" baseline="-25000" dirty="0" err="1">
                <a:solidFill>
                  <a:srgbClr val="FF0000"/>
                </a:solidFill>
              </a:rPr>
              <a:t>L</a:t>
            </a:r>
            <a:r>
              <a:rPr lang="en-IN" baseline="-25000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mod s</a:t>
            </a:r>
          </a:p>
          <a:p>
            <a:endParaRPr lang="en-IN" dirty="0"/>
          </a:p>
          <a:p>
            <a:r>
              <a:rPr lang="en-IN" dirty="0"/>
              <a:t>If we take s = 2</a:t>
            </a:r>
            <a:r>
              <a:rPr lang="en-IN" baseline="30000" dirty="0"/>
              <a:t>n</a:t>
            </a:r>
            <a:r>
              <a:rPr lang="en-IN" dirty="0"/>
              <a:t>, then we have the lower </a:t>
            </a:r>
          </a:p>
          <a:p>
            <a:r>
              <a:rPr lang="en-IN" dirty="0"/>
              <a:t>n bits of </a:t>
            </a:r>
            <a:r>
              <a:rPr lang="en-IN" dirty="0" err="1"/>
              <a:t>a</a:t>
            </a:r>
            <a:r>
              <a:rPr lang="en-IN" baseline="-25000" dirty="0" err="1"/>
              <a:t>L</a:t>
            </a:r>
            <a:r>
              <a:rPr lang="en-IN" baseline="-25000" dirty="0"/>
              <a:t> </a:t>
            </a:r>
            <a:r>
              <a:rPr lang="en-IN" dirty="0"/>
              <a:t>selecting the offset, and the higher bits</a:t>
            </a:r>
          </a:p>
          <a:p>
            <a:r>
              <a:rPr lang="en-IN" dirty="0"/>
              <a:t>selecting the logical page number</a:t>
            </a:r>
          </a:p>
        </p:txBody>
      </p:sp>
      <p:cxnSp>
        <p:nvCxnSpPr>
          <p:cNvPr id="58" name="Straight Arrow Connector 57"/>
          <p:cNvCxnSpPr/>
          <p:nvPr/>
        </p:nvCxnSpPr>
        <p:spPr bwMode="auto">
          <a:xfrm>
            <a:off x="1477108" y="2368240"/>
            <a:ext cx="129596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956270" y="220715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a</a:t>
            </a:r>
            <a:r>
              <a:rPr lang="en-IN" baseline="-25000" dirty="0" err="1"/>
              <a:t>L</a:t>
            </a:r>
            <a:endParaRPr lang="en-IN" dirty="0"/>
          </a:p>
        </p:txBody>
      </p:sp>
      <p:sp>
        <p:nvSpPr>
          <p:cNvPr id="60" name="Left Brace 59"/>
          <p:cNvSpPr/>
          <p:nvPr/>
        </p:nvSpPr>
        <p:spPr bwMode="auto">
          <a:xfrm>
            <a:off x="2503530" y="2174858"/>
            <a:ext cx="45719" cy="161224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65121" y="2094250"/>
            <a:ext cx="296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</a:t>
            </a:r>
          </a:p>
        </p:txBody>
      </p:sp>
      <p:sp>
        <p:nvSpPr>
          <p:cNvPr id="62" name="Left Brace 61"/>
          <p:cNvSpPr/>
          <p:nvPr/>
        </p:nvSpPr>
        <p:spPr bwMode="auto">
          <a:xfrm>
            <a:off x="5591908" y="1358238"/>
            <a:ext cx="45719" cy="176820"/>
          </a:xfrm>
          <a:prstGeom prst="lef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69169" y="1277152"/>
            <a:ext cx="296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</a:t>
            </a:r>
            <a:endParaRPr lang="en-IN" dirty="0"/>
          </a:p>
        </p:txBody>
      </p:sp>
      <p:cxnSp>
        <p:nvCxnSpPr>
          <p:cNvPr id="66" name="Straight Arrow Connector 65"/>
          <p:cNvCxnSpPr/>
          <p:nvPr/>
        </p:nvCxnSpPr>
        <p:spPr bwMode="auto">
          <a:xfrm>
            <a:off x="1383323" y="1358238"/>
            <a:ext cx="0" cy="10100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1985963" y="3287342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r>
              <a:rPr lang="en-IN" baseline="30000" dirty="0" smtClean="0"/>
              <a:t>m</a:t>
            </a:r>
            <a:endParaRPr lang="en-IN" baseline="30000" dirty="0"/>
          </a:p>
        </p:txBody>
      </p:sp>
    </p:spTree>
    <p:extLst>
      <p:ext uri="{BB962C8B-B14F-4D97-AF65-F5344CB8AC3E}">
        <p14:creationId xmlns:p14="http://schemas.microsoft.com/office/powerpoint/2010/main" val="262797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4938301" cy="4764087"/>
          </a:xfrm>
        </p:spPr>
        <p:txBody>
          <a:bodyPr/>
          <a:lstStyle/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Still have Internal fragmentation</a:t>
            </a:r>
          </a:p>
          <a:p>
            <a:pPr lvl="1"/>
            <a:r>
              <a:rPr lang="en-US" altLang="en-US" dirty="0"/>
              <a:t>If things are uniformly distributed, waste about half a page per process</a:t>
            </a:r>
          </a:p>
          <a:p>
            <a:pPr lvl="1"/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929" y="1476260"/>
            <a:ext cx="3344384" cy="41423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5432535"/>
            <a:ext cx="59037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en-US" dirty="0"/>
              <a:t>For given logical address space </a:t>
            </a:r>
            <a:r>
              <a:rPr lang="en-US" altLang="en-US" dirty="0">
                <a:solidFill>
                  <a:srgbClr val="FF0000"/>
                </a:solidFill>
              </a:rPr>
              <a:t>2</a:t>
            </a:r>
            <a:r>
              <a:rPr lang="en-US" altLang="en-US" i="1" baseline="30000" dirty="0">
                <a:solidFill>
                  <a:srgbClr val="FF0000"/>
                </a:solidFill>
              </a:rPr>
              <a:t>m</a:t>
            </a:r>
            <a:r>
              <a:rPr lang="en-US" altLang="en-US" i="1" baseline="30000" dirty="0"/>
              <a:t>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>
                <a:solidFill>
                  <a:srgbClr val="FF0000"/>
                </a:solidFill>
              </a:rPr>
              <a:t>2</a:t>
            </a:r>
            <a:r>
              <a:rPr lang="en-US" altLang="en-US" baseline="30000" dirty="0">
                <a:solidFill>
                  <a:srgbClr val="FF0000"/>
                </a:solidFill>
              </a:rPr>
              <a:t>n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FF0000"/>
                </a:solidFill>
              </a:rPr>
              <a:t>2</a:t>
            </a:r>
            <a:r>
              <a:rPr lang="en-US" altLang="en-US" baseline="30000" dirty="0">
                <a:solidFill>
                  <a:srgbClr val="FF0000"/>
                </a:solidFill>
              </a:rPr>
              <a:t>m-n</a:t>
            </a:r>
            <a:r>
              <a:rPr lang="en-US" altLang="en-US" dirty="0"/>
              <a:t> entries in PT</a:t>
            </a:r>
            <a:r>
              <a:rPr lang="en-US" altLang="en-US" baseline="30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033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2431" y="1107182"/>
            <a:ext cx="61624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Address translation from LAS to PAS done by MMU</a:t>
            </a:r>
          </a:p>
          <a:p>
            <a:endParaRPr lang="en-US" altLang="en-US" dirty="0"/>
          </a:p>
          <a:p>
            <a:r>
              <a:rPr lang="en-US" altLang="en-US" dirty="0"/>
              <a:t>Question: Page size depends on OS or hardware dependent?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431" y="5519599"/>
            <a:ext cx="5756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Question: What all circuits for implementation? </a:t>
            </a:r>
          </a:p>
        </p:txBody>
      </p:sp>
    </p:spTree>
    <p:extLst>
      <p:ext uri="{BB962C8B-B14F-4D97-AF65-F5344CB8AC3E}">
        <p14:creationId xmlns:p14="http://schemas.microsoft.com/office/powerpoint/2010/main" val="284959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678723" y="1347488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678723" y="1758466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678723" y="2157508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678723" y="2541472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678723" y="2952450"/>
            <a:ext cx="785446" cy="3985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734898" y="1335766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734898" y="174674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6734898" y="2145786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734898" y="2529750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6734898" y="2940728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734898" y="335103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734898" y="3762012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6734898" y="416105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6734898" y="4545018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6734898" y="4955996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00637" y="958010"/>
            <a:ext cx="2765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Logical Address 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4245" y="929871"/>
            <a:ext cx="2893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Physical Address Space</a:t>
            </a:r>
          </a:p>
        </p:txBody>
      </p:sp>
      <p:cxnSp>
        <p:nvCxnSpPr>
          <p:cNvPr id="39" name="Straight Arrow Connector 38"/>
          <p:cNvCxnSpPr>
            <a:endCxn id="42" idx="1"/>
          </p:cNvCxnSpPr>
          <p:nvPr/>
        </p:nvCxnSpPr>
        <p:spPr bwMode="auto">
          <a:xfrm>
            <a:off x="3464169" y="1476447"/>
            <a:ext cx="1078522" cy="4571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/>
          <p:cNvCxnSpPr>
            <a:stCxn id="5" idx="3"/>
          </p:cNvCxnSpPr>
          <p:nvPr/>
        </p:nvCxnSpPr>
        <p:spPr bwMode="auto">
          <a:xfrm>
            <a:off x="3464169" y="1957758"/>
            <a:ext cx="1078522" cy="509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7755376" y="129920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5376" y="175282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67100" y="217485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5378" y="251482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8638" y="133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</a:t>
            </a:r>
          </a:p>
        </p:txBody>
      </p:sp>
      <p:sp>
        <p:nvSpPr>
          <p:cNvPr id="54" name="Right Brace 53"/>
          <p:cNvSpPr/>
          <p:nvPr/>
        </p:nvSpPr>
        <p:spPr bwMode="auto">
          <a:xfrm>
            <a:off x="7631951" y="1358238"/>
            <a:ext cx="126021" cy="31029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55" name="Left Brace 54"/>
          <p:cNvSpPr/>
          <p:nvPr/>
        </p:nvSpPr>
        <p:spPr bwMode="auto">
          <a:xfrm>
            <a:off x="2503530" y="1358238"/>
            <a:ext cx="87270" cy="376112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 bwMode="auto">
          <a:xfrm>
            <a:off x="1249069" y="2368240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841585" y="215141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a</a:t>
            </a:r>
            <a:r>
              <a:rPr lang="en-IN" baseline="-25000" dirty="0" err="1"/>
              <a:t>L</a:t>
            </a:r>
            <a:endParaRPr lang="en-IN" dirty="0"/>
          </a:p>
        </p:txBody>
      </p:sp>
      <p:sp>
        <p:nvSpPr>
          <p:cNvPr id="60" name="Left Brace 59"/>
          <p:cNvSpPr/>
          <p:nvPr/>
        </p:nvSpPr>
        <p:spPr bwMode="auto">
          <a:xfrm>
            <a:off x="2503530" y="2174858"/>
            <a:ext cx="45719" cy="161224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65121" y="2094250"/>
            <a:ext cx="296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</a:t>
            </a:r>
          </a:p>
        </p:txBody>
      </p:sp>
      <p:sp>
        <p:nvSpPr>
          <p:cNvPr id="62" name="Left Brace 61"/>
          <p:cNvSpPr/>
          <p:nvPr/>
        </p:nvSpPr>
        <p:spPr bwMode="auto">
          <a:xfrm>
            <a:off x="6635256" y="1358238"/>
            <a:ext cx="45719" cy="176820"/>
          </a:xfrm>
          <a:prstGeom prst="lef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365625" y="1277152"/>
            <a:ext cx="296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</a:t>
            </a:r>
            <a:endParaRPr lang="en-IN" dirty="0"/>
          </a:p>
        </p:txBody>
      </p:sp>
      <p:sp>
        <p:nvSpPr>
          <p:cNvPr id="42" name="Rectangle 41"/>
          <p:cNvSpPr/>
          <p:nvPr/>
        </p:nvSpPr>
        <p:spPr bwMode="auto">
          <a:xfrm>
            <a:off x="4542691" y="1734348"/>
            <a:ext cx="785446" cy="398584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Addr</a:t>
            </a:r>
            <a:r>
              <a:rPr kumimoji="0" lang="en-I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(f2)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4542691" y="2145326"/>
            <a:ext cx="785446" cy="398584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542691" y="2544368"/>
            <a:ext cx="785446" cy="398584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4542691" y="2928332"/>
            <a:ext cx="785446" cy="398584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542691" y="3339310"/>
            <a:ext cx="785446" cy="398584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3429405" y="2286378"/>
            <a:ext cx="1078522" cy="509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Straight Arrow Connector 63"/>
          <p:cNvCxnSpPr/>
          <p:nvPr/>
        </p:nvCxnSpPr>
        <p:spPr bwMode="auto">
          <a:xfrm>
            <a:off x="3446787" y="2637109"/>
            <a:ext cx="1078522" cy="509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/>
          <p:cNvCxnSpPr/>
          <p:nvPr/>
        </p:nvCxnSpPr>
        <p:spPr bwMode="auto">
          <a:xfrm>
            <a:off x="3440233" y="3048314"/>
            <a:ext cx="1078522" cy="509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>
            <a:stCxn id="42" idx="3"/>
            <a:endCxn id="11" idx="1"/>
          </p:cNvCxnSpPr>
          <p:nvPr/>
        </p:nvCxnSpPr>
        <p:spPr bwMode="auto">
          <a:xfrm>
            <a:off x="5328137" y="1933640"/>
            <a:ext cx="1406761" cy="4114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43" idx="3"/>
            <a:endCxn id="30" idx="1"/>
          </p:cNvCxnSpPr>
          <p:nvPr/>
        </p:nvCxnSpPr>
        <p:spPr bwMode="auto">
          <a:xfrm>
            <a:off x="5328137" y="2344618"/>
            <a:ext cx="1406761" cy="16166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/>
          <p:cNvCxnSpPr>
            <a:stCxn id="44" idx="3"/>
          </p:cNvCxnSpPr>
          <p:nvPr/>
        </p:nvCxnSpPr>
        <p:spPr bwMode="auto">
          <a:xfrm flipV="1">
            <a:off x="5328137" y="1594093"/>
            <a:ext cx="1406761" cy="11495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/>
          <p:cNvCxnSpPr>
            <a:stCxn id="45" idx="3"/>
            <a:endCxn id="32" idx="1"/>
          </p:cNvCxnSpPr>
          <p:nvPr/>
        </p:nvCxnSpPr>
        <p:spPr bwMode="auto">
          <a:xfrm>
            <a:off x="5328137" y="3127624"/>
            <a:ext cx="1406761" cy="16166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/>
          <p:cNvCxnSpPr>
            <a:stCxn id="48" idx="3"/>
            <a:endCxn id="12" idx="1"/>
          </p:cNvCxnSpPr>
          <p:nvPr/>
        </p:nvCxnSpPr>
        <p:spPr bwMode="auto">
          <a:xfrm flipV="1">
            <a:off x="5328137" y="2729042"/>
            <a:ext cx="1406761" cy="8095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Rectangle 65"/>
          <p:cNvSpPr/>
          <p:nvPr/>
        </p:nvSpPr>
        <p:spPr bwMode="auto">
          <a:xfrm>
            <a:off x="4566138" y="2144654"/>
            <a:ext cx="785446" cy="398584"/>
          </a:xfrm>
          <a:prstGeom prst="rect">
            <a:avLst/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Addr</a:t>
            </a:r>
            <a:r>
              <a:rPr kumimoji="0" lang="en-I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(f6)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79451" y="3507635"/>
            <a:ext cx="811754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Given a logical address </a:t>
            </a:r>
            <a:r>
              <a:rPr lang="en-IN" sz="1600" dirty="0" err="1"/>
              <a:t>a</a:t>
            </a:r>
            <a:r>
              <a:rPr lang="en-IN" sz="1600" baseline="-25000" dirty="0" err="1"/>
              <a:t>L</a:t>
            </a:r>
            <a:r>
              <a:rPr lang="en-IN" sz="1600" dirty="0"/>
              <a:t>,</a:t>
            </a:r>
          </a:p>
          <a:p>
            <a:r>
              <a:rPr lang="en-IN" sz="1600" dirty="0"/>
              <a:t>compute the page </a:t>
            </a:r>
            <a:r>
              <a:rPr lang="en-IN" sz="1600" i="1" dirty="0"/>
              <a:t>number</a:t>
            </a:r>
            <a:r>
              <a:rPr lang="en-IN" sz="1600" dirty="0"/>
              <a:t> as  </a:t>
            </a:r>
          </a:p>
          <a:p>
            <a:r>
              <a:rPr lang="en-IN" sz="1600" dirty="0"/>
              <a:t>floor (</a:t>
            </a:r>
            <a:r>
              <a:rPr lang="en-IN" sz="1600" dirty="0" err="1"/>
              <a:t>a</a:t>
            </a:r>
            <a:r>
              <a:rPr lang="en-IN" sz="1600" baseline="-25000" dirty="0" err="1"/>
              <a:t>L</a:t>
            </a:r>
            <a:r>
              <a:rPr lang="en-IN" sz="1600" baseline="-25000" dirty="0"/>
              <a:t> </a:t>
            </a:r>
            <a:r>
              <a:rPr lang="en-IN" sz="1600" dirty="0"/>
              <a:t>/ s) and the offset d as </a:t>
            </a:r>
            <a:r>
              <a:rPr lang="en-IN" sz="1600" dirty="0" err="1"/>
              <a:t>a</a:t>
            </a:r>
            <a:r>
              <a:rPr lang="en-IN" sz="1600" baseline="-25000" dirty="0" err="1"/>
              <a:t>L</a:t>
            </a:r>
            <a:r>
              <a:rPr lang="en-IN" sz="1600" baseline="-25000" dirty="0"/>
              <a:t> </a:t>
            </a:r>
            <a:r>
              <a:rPr lang="en-IN" sz="1600" dirty="0"/>
              <a:t>% s</a:t>
            </a:r>
          </a:p>
          <a:p>
            <a:endParaRPr lang="en-IN" sz="1600" dirty="0"/>
          </a:p>
          <a:p>
            <a:r>
              <a:rPr lang="en-IN" sz="1600" dirty="0"/>
              <a:t>If we take s = 2</a:t>
            </a:r>
            <a:r>
              <a:rPr lang="en-IN" sz="1600" baseline="30000" dirty="0"/>
              <a:t>n</a:t>
            </a:r>
            <a:r>
              <a:rPr lang="en-IN" sz="1600" dirty="0"/>
              <a:t>, then we have the lower </a:t>
            </a:r>
          </a:p>
          <a:p>
            <a:r>
              <a:rPr lang="en-IN" sz="1600" dirty="0"/>
              <a:t>n bits of </a:t>
            </a:r>
            <a:r>
              <a:rPr lang="en-IN" sz="1600" dirty="0" err="1"/>
              <a:t>a</a:t>
            </a:r>
            <a:r>
              <a:rPr lang="en-IN" sz="1600" baseline="-25000" dirty="0" err="1"/>
              <a:t>L</a:t>
            </a:r>
            <a:r>
              <a:rPr lang="en-IN" sz="1600" baseline="-25000" dirty="0"/>
              <a:t> </a:t>
            </a:r>
            <a:r>
              <a:rPr lang="en-IN" sz="1600" dirty="0"/>
              <a:t>selecting the offset, and the higher bits</a:t>
            </a:r>
          </a:p>
          <a:p>
            <a:r>
              <a:rPr lang="en-IN" sz="1600" dirty="0"/>
              <a:t>selecting the logical page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Multiplexer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dirty="0"/>
              <a:t>Also, we have all frame addresses as multiples of s (</a:t>
            </a:r>
            <a:r>
              <a:rPr lang="en-IN" sz="1600" dirty="0">
                <a:solidFill>
                  <a:srgbClr val="FF0000"/>
                </a:solidFill>
              </a:rPr>
              <a:t>2</a:t>
            </a:r>
            <a:r>
              <a:rPr lang="en-IN" sz="1600" baseline="30000" dirty="0">
                <a:solidFill>
                  <a:srgbClr val="FF0000"/>
                </a:solidFill>
              </a:rPr>
              <a:t>n</a:t>
            </a:r>
            <a:r>
              <a:rPr lang="en-IN" sz="1600" dirty="0"/>
              <a:t>), so lower n bits of </a:t>
            </a:r>
          </a:p>
          <a:p>
            <a:r>
              <a:rPr lang="en-IN" sz="1600" dirty="0"/>
              <a:t>Frame address are definitely 0. So addition of page number with d is simply </a:t>
            </a:r>
          </a:p>
          <a:p>
            <a:r>
              <a:rPr lang="en-IN" sz="1600" dirty="0"/>
              <a:t>address concatenation </a:t>
            </a:r>
            <a:r>
              <a:rPr lang="en-IN" sz="1600" dirty="0">
                <a:sym typeface="Wingdings" panose="05000000000000000000" pitchFamily="2" charset="2"/>
              </a:rPr>
              <a:t> MMU is very simple.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3322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414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9631" y="4223520"/>
            <a:ext cx="24893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Implementation?</a:t>
            </a:r>
          </a:p>
          <a:p>
            <a:endParaRPr lang="en-IN" dirty="0"/>
          </a:p>
          <a:p>
            <a:r>
              <a:rPr lang="en-IN" dirty="0"/>
              <a:t>A simple bit vector?</a:t>
            </a:r>
          </a:p>
        </p:txBody>
      </p:sp>
    </p:spTree>
    <p:extLst>
      <p:ext uri="{BB962C8B-B14F-4D97-AF65-F5344CB8AC3E}">
        <p14:creationId xmlns:p14="http://schemas.microsoft.com/office/powerpoint/2010/main" val="77276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72" y="1090899"/>
            <a:ext cx="7942056" cy="21260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8" y="3497710"/>
            <a:ext cx="7765594" cy="23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9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</a:t>
            </a:r>
          </a:p>
          <a:p>
            <a:pPr lvl="1"/>
            <a:r>
              <a:rPr lang="en-US" altLang="en-US" dirty="0"/>
              <a:t>Memory within a partition may be left unused</a:t>
            </a:r>
          </a:p>
          <a:p>
            <a:pPr marL="457200" lvl="1" indent="0">
              <a:buNone/>
            </a:pPr>
            <a:endParaRPr lang="en-US" alt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37" y="2577373"/>
            <a:ext cx="40481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3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08" y="1046602"/>
            <a:ext cx="8429584" cy="508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6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Implementation of Page Table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63" y="915764"/>
            <a:ext cx="8655137" cy="535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7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Implementation of Page Table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3401"/>
            <a:ext cx="8334260" cy="5313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9811" y="6038241"/>
            <a:ext cx="6322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One for the page table and one for the data /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01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Implementation of Page Table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44" y="943871"/>
            <a:ext cx="8069855" cy="507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3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8098973" cy="4606925"/>
          </a:xfrm>
        </p:spPr>
        <p:txBody>
          <a:bodyPr/>
          <a:lstStyle/>
          <a:p>
            <a:r>
              <a:rPr lang="en-US" altLang="en-US" dirty="0"/>
              <a:t>TLBs typically small (64 to 1,024 entries)</a:t>
            </a:r>
          </a:p>
          <a:p>
            <a:endParaRPr lang="en-US" altLang="en-US" dirty="0"/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Question: What kind of TLB hit ratio do you expect to get?</a:t>
            </a:r>
          </a:p>
        </p:txBody>
      </p:sp>
    </p:spTree>
    <p:extLst>
      <p:ext uri="{BB962C8B-B14F-4D97-AF65-F5344CB8AC3E}">
        <p14:creationId xmlns:p14="http://schemas.microsoft.com/office/powerpoint/2010/main" val="139362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8724" y="1022317"/>
            <a:ext cx="8565276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b="1" dirty="0">
              <a:solidFill>
                <a:srgbClr val="006699"/>
              </a:solidFill>
              <a:latin typeface="+mj-lt"/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): average time for  memory access (including TLB lookup)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 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138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4211" y="1063786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Individual process</a:t>
            </a:r>
          </a:p>
          <a:p>
            <a:pPr lvl="2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Example: Jump instruction to a target address</a:t>
            </a:r>
          </a:p>
          <a:p>
            <a:pPr lvl="3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While I am executing an instruction, can I edit my code section during execution?</a:t>
            </a:r>
          </a:p>
          <a:p>
            <a:pPr lvl="3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How does the kernel enforce this?</a:t>
            </a:r>
          </a:p>
          <a:p>
            <a:pPr lvl="4"/>
            <a:r>
              <a:rPr lang="en-US" dirty="0"/>
              <a:t>protection bit checked in parallel with address computation</a:t>
            </a:r>
          </a:p>
          <a:p>
            <a:pPr lvl="4"/>
            <a:r>
              <a:rPr lang="en-US" altLang="en-US" dirty="0"/>
              <a:t>MMU can raise a memory </a:t>
            </a:r>
          </a:p>
          <a:p>
            <a:pPr marL="1543050" lvl="4" indent="0">
              <a:buNone/>
            </a:pPr>
            <a:r>
              <a:rPr lang="en-US" altLang="en-US" dirty="0"/>
              <a:t>    exception when needed</a:t>
            </a:r>
          </a:p>
          <a:p>
            <a:pPr lvl="4"/>
            <a:endParaRPr lang="en-US" altLang="en-US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altLang="en-US" dirty="0"/>
              <a:t>Across processes</a:t>
            </a:r>
          </a:p>
          <a:p>
            <a:pPr lvl="2"/>
            <a:r>
              <a:rPr lang="en-US" altLang="en-US" dirty="0"/>
              <a:t>Automatically ensured</a:t>
            </a:r>
          </a:p>
          <a:p>
            <a:pPr lvl="2"/>
            <a:r>
              <a:rPr lang="en-US" altLang="en-US" dirty="0"/>
              <a:t>Think: structure of logical </a:t>
            </a:r>
          </a:p>
          <a:p>
            <a:pPr marL="857250" lvl="2" indent="0">
              <a:buNone/>
            </a:pPr>
            <a:r>
              <a:rPr lang="en-US" altLang="en-US" dirty="0"/>
              <a:t>    address</a:t>
            </a:r>
          </a:p>
          <a:p>
            <a:pPr lvl="1"/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47" y="4160915"/>
            <a:ext cx="3140353" cy="10842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4554406" y="505198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1600" dirty="0">
                <a:latin typeface="Verdana" charset="0"/>
              </a:rPr>
              <a:t>Kernel</a:t>
            </a:r>
            <a:endParaRPr kumimoji="0" lang="en-I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554406" y="5462962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P1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54406" y="5862004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P2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54406" y="6245968"/>
            <a:ext cx="785446" cy="3985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351655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 / Invalid it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442" y="970001"/>
            <a:ext cx="7651102" cy="4468812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Question: </a:t>
            </a:r>
            <a:r>
              <a:rPr lang="en-US" altLang="en-US" b="1" dirty="0">
                <a:latin typeface="+mj-lt"/>
              </a:rPr>
              <a:t>What happens if the program generates an invalid logical address?</a:t>
            </a:r>
          </a:p>
          <a:p>
            <a:pPr lvl="1"/>
            <a:r>
              <a:rPr lang="en-US" altLang="en-US" dirty="0">
                <a:latin typeface="+mj-lt"/>
              </a:rPr>
              <a:t>Last n-bits are 0, use 3 of them to set </a:t>
            </a:r>
            <a:r>
              <a:rPr lang="en-US" altLang="en-US" dirty="0" err="1">
                <a:latin typeface="+mj-lt"/>
              </a:rPr>
              <a:t>rd</a:t>
            </a:r>
            <a:r>
              <a:rPr lang="en-US" altLang="en-US" dirty="0">
                <a:latin typeface="+mj-lt"/>
              </a:rPr>
              <a:t> / </a:t>
            </a:r>
            <a:r>
              <a:rPr lang="en-US" altLang="en-US" dirty="0" err="1">
                <a:latin typeface="+mj-lt"/>
              </a:rPr>
              <a:t>wr</a:t>
            </a:r>
            <a:r>
              <a:rPr lang="en-US" altLang="en-US" dirty="0">
                <a:latin typeface="+mj-lt"/>
              </a:rPr>
              <a:t> / x permission</a:t>
            </a:r>
          </a:p>
          <a:p>
            <a:pPr lvl="1"/>
            <a:r>
              <a:rPr lang="en-US" altLang="en-US" dirty="0">
                <a:latin typeface="+mj-lt"/>
              </a:rPr>
              <a:t>One more bit </a:t>
            </a: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 (did the compiler map to this page?)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endParaRPr lang="en-US" altLang="en-US" dirty="0"/>
          </a:p>
          <a:p>
            <a:r>
              <a:rPr lang="en-US" dirty="0"/>
              <a:t>Violation causes hardware trap to kernel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13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602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code shared among processes (i.e., text editors, compilers, window systems)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  <p:extLst>
      <p:ext uri="{BB962C8B-B14F-4D97-AF65-F5344CB8AC3E}">
        <p14:creationId xmlns:p14="http://schemas.microsoft.com/office/powerpoint/2010/main" val="15697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99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Structure of the Page Table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57200" y="1007910"/>
            <a:ext cx="33105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NimbusSanL-Regu"/>
              </a:rPr>
              <a:t>Multi-level paging I</a:t>
            </a: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56" y="1469575"/>
            <a:ext cx="7951483" cy="491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808" y="233853"/>
            <a:ext cx="8229600" cy="576262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NimbusSanL-Regu"/>
              </a:rPr>
              <a:t>Multi-level paging I</a:t>
            </a:r>
            <a:r>
              <a:rPr lang="en-IN" dirty="0">
                <a:solidFill>
                  <a:srgbClr val="FF0000"/>
                </a:solidFill>
              </a:rPr>
              <a:t>I / Hierarchical PT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39" y="1089669"/>
            <a:ext cx="8187301" cy="52560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53359" y="3505325"/>
            <a:ext cx="4786828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200" dirty="0"/>
              <a:t>where</a:t>
            </a:r>
            <a:r>
              <a:rPr lang="en-US" altLang="en-US" sz="1200" i="1" dirty="0"/>
              <a:t> p</a:t>
            </a:r>
            <a:r>
              <a:rPr lang="en-US" altLang="en-US" sz="1200" i="1" baseline="-25000" dirty="0"/>
              <a:t>1</a:t>
            </a:r>
            <a:r>
              <a:rPr lang="en-US" altLang="en-US" sz="1200" dirty="0"/>
              <a:t> is an index into the outer page table, and 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2</a:t>
            </a:r>
            <a:r>
              <a:rPr lang="en-US" altLang="en-US" sz="1200" dirty="0"/>
              <a:t> is the displacement within the page of the inner page table</a:t>
            </a:r>
          </a:p>
        </p:txBody>
      </p:sp>
    </p:spTree>
    <p:extLst>
      <p:ext uri="{BB962C8B-B14F-4D97-AF65-F5344CB8AC3E}">
        <p14:creationId xmlns:p14="http://schemas.microsoft.com/office/powerpoint/2010/main" val="367039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2-level Page Table example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95329" y="1961540"/>
            <a:ext cx="549190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59397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256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1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455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17805</TotalTime>
  <Words>1180</Words>
  <Application>Microsoft Office PowerPoint</Application>
  <PresentationFormat>On-screen Show (4:3)</PresentationFormat>
  <Paragraphs>236</Paragraphs>
  <Slides>32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MS PGothic</vt:lpstr>
      <vt:lpstr>MS PGothic</vt:lpstr>
      <vt:lpstr>Arial</vt:lpstr>
      <vt:lpstr>Helvetica</vt:lpstr>
      <vt:lpstr>Monotype Sorts</vt:lpstr>
      <vt:lpstr>NimbusSanL-Regu</vt:lpstr>
      <vt:lpstr>Symbol</vt:lpstr>
      <vt:lpstr>Times New Roman</vt:lpstr>
      <vt:lpstr>Verdana</vt:lpstr>
      <vt:lpstr>Webdings</vt:lpstr>
      <vt:lpstr>Wingdings</vt:lpstr>
      <vt:lpstr>os-8</vt:lpstr>
      <vt:lpstr>Paging</vt:lpstr>
      <vt:lpstr>A relook at run-time address binding</vt:lpstr>
      <vt:lpstr>Runtime address binding</vt:lpstr>
      <vt:lpstr>Context Switch</vt:lpstr>
      <vt:lpstr>Memory Management Unit</vt:lpstr>
      <vt:lpstr>Paging</vt:lpstr>
      <vt:lpstr>Paging</vt:lpstr>
      <vt:lpstr>Address Translation Scheme</vt:lpstr>
      <vt:lpstr>Paging</vt:lpstr>
      <vt:lpstr>Paging Hardware</vt:lpstr>
      <vt:lpstr>Paging</vt:lpstr>
      <vt:lpstr>Paging Example </vt:lpstr>
      <vt:lpstr>Free Frames</vt:lpstr>
      <vt:lpstr>Paging</vt:lpstr>
      <vt:lpstr>Internal Fragmentation</vt:lpstr>
      <vt:lpstr>Paging</vt:lpstr>
      <vt:lpstr>Implementation of Page Table</vt:lpstr>
      <vt:lpstr>Implementation of Page Table</vt:lpstr>
      <vt:lpstr>Implementation of Page Table</vt:lpstr>
      <vt:lpstr>Translation Look-Aside Buffer </vt:lpstr>
      <vt:lpstr>Effective Access Time</vt:lpstr>
      <vt:lpstr>Memory Protection</vt:lpstr>
      <vt:lpstr>Valid / Invalid it</vt:lpstr>
      <vt:lpstr>Valid (v) or Invalid (i) Bit In A Page Table</vt:lpstr>
      <vt:lpstr>Shared Pages</vt:lpstr>
      <vt:lpstr>Shared Pages Example</vt:lpstr>
      <vt:lpstr>Structure of the Page Table</vt:lpstr>
      <vt:lpstr>Multi-level paging II / Hierarchical PT</vt:lpstr>
      <vt:lpstr>2-level Page Table example</vt:lpstr>
      <vt:lpstr>Address-Translation Scheme</vt:lpstr>
      <vt:lpstr>64-bit Logical Address Space</vt:lpstr>
      <vt:lpstr>Three-level Paging Scheme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420</cp:revision>
  <cp:lastPrinted>2013-09-30T19:34:56Z</cp:lastPrinted>
  <dcterms:created xsi:type="dcterms:W3CDTF">2011-01-13T23:43:38Z</dcterms:created>
  <dcterms:modified xsi:type="dcterms:W3CDTF">2026-03-12T12:04:47Z</dcterms:modified>
</cp:coreProperties>
</file>