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4"/>
  </p:notesMasterIdLst>
  <p:handoutMasterIdLst>
    <p:handoutMasterId r:id="rId45"/>
  </p:handoutMasterIdLst>
  <p:sldIdLst>
    <p:sldId id="331" r:id="rId2"/>
    <p:sldId id="334" r:id="rId3"/>
    <p:sldId id="399" r:id="rId4"/>
    <p:sldId id="400" r:id="rId5"/>
    <p:sldId id="377" r:id="rId6"/>
    <p:sldId id="419" r:id="rId7"/>
    <p:sldId id="420" r:id="rId8"/>
    <p:sldId id="421" r:id="rId9"/>
    <p:sldId id="422" r:id="rId10"/>
    <p:sldId id="423" r:id="rId11"/>
    <p:sldId id="335" r:id="rId12"/>
    <p:sldId id="402" r:id="rId13"/>
    <p:sldId id="337" r:id="rId14"/>
    <p:sldId id="338" r:id="rId15"/>
    <p:sldId id="374" r:id="rId16"/>
    <p:sldId id="378" r:id="rId17"/>
    <p:sldId id="340" r:id="rId18"/>
    <p:sldId id="379" r:id="rId19"/>
    <p:sldId id="341" r:id="rId20"/>
    <p:sldId id="409" r:id="rId21"/>
    <p:sldId id="410" r:id="rId22"/>
    <p:sldId id="380" r:id="rId23"/>
    <p:sldId id="342" r:id="rId24"/>
    <p:sldId id="343" r:id="rId25"/>
    <p:sldId id="344" r:id="rId26"/>
    <p:sldId id="345" r:id="rId27"/>
    <p:sldId id="348" r:id="rId28"/>
    <p:sldId id="424" r:id="rId29"/>
    <p:sldId id="425" r:id="rId30"/>
    <p:sldId id="403" r:id="rId31"/>
    <p:sldId id="404" r:id="rId32"/>
    <p:sldId id="426" r:id="rId33"/>
    <p:sldId id="405" r:id="rId34"/>
    <p:sldId id="427" r:id="rId35"/>
    <p:sldId id="406" r:id="rId36"/>
    <p:sldId id="351" r:id="rId37"/>
    <p:sldId id="357" r:id="rId38"/>
    <p:sldId id="413" r:id="rId39"/>
    <p:sldId id="414" r:id="rId40"/>
    <p:sldId id="415" r:id="rId41"/>
    <p:sldId id="416" r:id="rId42"/>
    <p:sldId id="417" r:id="rId4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FF0000"/>
    <a:srgbClr val="CCE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6" autoAdjust="0"/>
    <p:restoredTop sz="94626"/>
  </p:normalViewPr>
  <p:slideViewPr>
    <p:cSldViewPr snapToGrid="0">
      <p:cViewPr varScale="1">
        <p:scale>
          <a:sx n="78" d="100"/>
          <a:sy n="78" d="100"/>
        </p:scale>
        <p:origin x="1445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When to use threads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--- imagine a piece of code executing in multiplie instances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--- eg. Each webpage in a browser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CFEA9E-E002-444B-9ECB-611E4EBDFE00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39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307F2A2-9C89-4CCD-8947-EF9F7A7F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6883D-676A-482F-9E14-FE9A4AE24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F62D35-9C65-414C-A86A-3FDBE9961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2803BA9-336C-40B8-B240-AE76B19DB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18FFA9-F8CF-48E9-8DBD-7D20A0B41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D8A752-1AAD-4C50-BBDA-5D51338F2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Attribute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thread attributes,,, can for instance set stack size, scheduling policy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1766CD-25F1-49B4-8E71-98FBD1CBB77F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803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Attribute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thread attributes,,, can for instance set stack size, scheduling policy</a:t>
            </a: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Difference with wait..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 waits only for child process.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Thread can wait for any other thread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0A076F-0746-46C7-8193-269FE6D74576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294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Attribute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thread attributes,,, can for instance set stack size, scheduling policy</a:t>
            </a: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Difference with wait..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 waits only for child process.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Thread can wait for any other thread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0A076F-0746-46C7-8193-269FE6D74576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607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138F16E-13F8-41D7-B487-0ED9345CC7BC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02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6A7FF68-58C7-42C2-9B8C-94CFFBC9801A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121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Thread </a:t>
            </a:r>
            <a:br>
              <a:rPr lang="en-US" altLang="en-US" dirty="0"/>
            </a:br>
            <a:r>
              <a:rPr lang="en-US" altLang="en-US" dirty="0"/>
              <a:t>(Light Weight Process)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18200" y="5943600"/>
            <a:ext cx="3710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These slides are prepared </a:t>
            </a:r>
          </a:p>
          <a:p>
            <a:r>
              <a:rPr lang="en-IN" sz="1400" dirty="0"/>
              <a:t>On top of </a:t>
            </a:r>
            <a:r>
              <a:rPr lang="en-IN" sz="1400"/>
              <a:t>textbook slides</a:t>
            </a:r>
            <a:endParaRPr lang="en-IN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/>
              <a:t>Most modern applications are multithreaded</a:t>
            </a:r>
          </a:p>
          <a:p>
            <a:r>
              <a:rPr lang="en-US" altLang="en-US"/>
              <a:t>Threads run within application</a:t>
            </a:r>
          </a:p>
          <a:p>
            <a:r>
              <a:rPr lang="en-US" altLang="en-US"/>
              <a:t>Multiple tasks with the application can be implemented by separate threads</a:t>
            </a:r>
          </a:p>
          <a:p>
            <a:pPr lvl="1"/>
            <a:r>
              <a:rPr lang="en-US" altLang="en-US"/>
              <a:t>Update display</a:t>
            </a:r>
          </a:p>
          <a:p>
            <a:pPr lvl="1"/>
            <a:r>
              <a:rPr lang="en-US" altLang="en-US"/>
              <a:t>Fetch data</a:t>
            </a:r>
          </a:p>
          <a:p>
            <a:pPr lvl="1"/>
            <a:r>
              <a:rPr lang="en-US" altLang="en-US"/>
              <a:t>Spell checking</a:t>
            </a:r>
          </a:p>
          <a:p>
            <a:pPr lvl="1"/>
            <a:r>
              <a:rPr lang="en-US" altLang="en-US"/>
              <a:t>Answer a network request</a:t>
            </a:r>
          </a:p>
          <a:p>
            <a:r>
              <a:rPr lang="en-US" altLang="en-US"/>
              <a:t>Process creation is heavy-weight while thread creation is light-weight</a:t>
            </a:r>
          </a:p>
          <a:p>
            <a:r>
              <a:rPr lang="en-US" altLang="en-US"/>
              <a:t>Can simplify code, increase efficiency</a:t>
            </a:r>
          </a:p>
          <a:p>
            <a:r>
              <a:rPr lang="en-US" altLang="en-US"/>
              <a:t>Kernels are generally multithreaded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Processes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6030"/>
            <a:ext cx="4572000" cy="4525963"/>
          </a:xfrm>
        </p:spPr>
        <p:txBody>
          <a:bodyPr/>
          <a:lstStyle/>
          <a:p>
            <a:r>
              <a:rPr lang="en-US" altLang="en-US" sz="2000"/>
              <a:t>Separate streams of execution</a:t>
            </a:r>
          </a:p>
          <a:p>
            <a:r>
              <a:rPr lang="en-US" altLang="en-US" sz="2000"/>
              <a:t>Each process isolated from the other</a:t>
            </a:r>
          </a:p>
          <a:p>
            <a:r>
              <a:rPr lang="en-US" altLang="en-US" sz="2000"/>
              <a:t>Process state contains</a:t>
            </a:r>
          </a:p>
          <a:p>
            <a:pPr lvl="1"/>
            <a:r>
              <a:rPr lang="en-US" altLang="en-US" sz="1600"/>
              <a:t>Process ID</a:t>
            </a:r>
          </a:p>
          <a:p>
            <a:pPr lvl="1"/>
            <a:r>
              <a:rPr lang="en-US" altLang="en-US" sz="1600"/>
              <a:t>Environment</a:t>
            </a:r>
          </a:p>
          <a:p>
            <a:pPr lvl="1"/>
            <a:r>
              <a:rPr lang="en-US" altLang="en-US" sz="1600"/>
              <a:t>Working directory.</a:t>
            </a:r>
          </a:p>
          <a:p>
            <a:pPr lvl="1"/>
            <a:r>
              <a:rPr lang="en-US" altLang="en-US" sz="1600"/>
              <a:t>Program instructions</a:t>
            </a:r>
          </a:p>
          <a:p>
            <a:pPr lvl="1"/>
            <a:r>
              <a:rPr lang="en-US" altLang="en-US" sz="1600"/>
              <a:t>Registers</a:t>
            </a:r>
          </a:p>
          <a:p>
            <a:pPr lvl="1"/>
            <a:r>
              <a:rPr lang="en-US" altLang="en-US" sz="1600"/>
              <a:t>Stack</a:t>
            </a:r>
          </a:p>
          <a:p>
            <a:pPr lvl="1"/>
            <a:r>
              <a:rPr lang="en-US" altLang="en-US" sz="1600"/>
              <a:t>Heap</a:t>
            </a:r>
          </a:p>
          <a:p>
            <a:pPr lvl="1"/>
            <a:r>
              <a:rPr lang="en-US" altLang="en-US" sz="1600"/>
              <a:t>File descriptors</a:t>
            </a:r>
          </a:p>
          <a:p>
            <a:r>
              <a:rPr lang="en-US" altLang="en-US" sz="2000"/>
              <a:t>Created by the OS using fork</a:t>
            </a:r>
          </a:p>
          <a:p>
            <a:pPr lvl="1"/>
            <a:r>
              <a:rPr lang="en-US" altLang="en-US" sz="1600">
                <a:solidFill>
                  <a:srgbClr val="FF0000"/>
                </a:solidFill>
              </a:rPr>
              <a:t>Significant overheads</a:t>
            </a:r>
          </a:p>
          <a:p>
            <a:endParaRPr lang="en-US" altLang="en-US" sz="2000"/>
          </a:p>
          <a:p>
            <a:pPr lvl="1">
              <a:buFontTx/>
              <a:buNone/>
            </a:pPr>
            <a:endParaRPr lang="en-US" altLang="en-US" sz="1600"/>
          </a:p>
          <a:p>
            <a:pPr lvl="1">
              <a:buFontTx/>
              <a:buNone/>
            </a:pPr>
            <a:endParaRPr lang="en-US" altLang="en-US" sz="1800"/>
          </a:p>
          <a:p>
            <a:pPr lvl="1"/>
            <a:endParaRPr lang="en-US" altLang="en-US" sz="1800"/>
          </a:p>
          <a:p>
            <a:pPr lvl="1"/>
            <a:endParaRPr lang="en-US" altLang="en-US" sz="180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676400"/>
            <a:ext cx="22479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2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Threads</a:t>
            </a:r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419600" cy="2743200"/>
          </a:xfrm>
        </p:spPr>
        <p:txBody>
          <a:bodyPr/>
          <a:lstStyle/>
          <a:p>
            <a:r>
              <a:rPr lang="en-US" altLang="en-US" sz="2000" dirty="0"/>
              <a:t>Separate streams of execution within a single process</a:t>
            </a:r>
            <a:endParaRPr lang="en-US" altLang="en-US" sz="1600" dirty="0"/>
          </a:p>
          <a:p>
            <a:r>
              <a:rPr lang="en-US" altLang="en-US" sz="2000" dirty="0"/>
              <a:t>Threads in a process </a:t>
            </a:r>
            <a:r>
              <a:rPr lang="en-US" altLang="en-US" sz="2000" u="sng" dirty="0"/>
              <a:t>not</a:t>
            </a:r>
            <a:r>
              <a:rPr lang="en-US" altLang="en-US" sz="2000" dirty="0"/>
              <a:t> isolated from each other</a:t>
            </a:r>
          </a:p>
          <a:p>
            <a:r>
              <a:rPr lang="en-US" altLang="en-US" sz="2000" dirty="0"/>
              <a:t>Each thread state (thread control block) contains</a:t>
            </a:r>
          </a:p>
          <a:p>
            <a:pPr lvl="1"/>
            <a:r>
              <a:rPr lang="en-US" altLang="en-US" sz="1600" dirty="0"/>
              <a:t>Thread ID</a:t>
            </a:r>
          </a:p>
          <a:p>
            <a:pPr lvl="1"/>
            <a:r>
              <a:rPr lang="en-US" altLang="en-US" sz="1600" dirty="0"/>
              <a:t>Registers (including PC, EIP, ESP)</a:t>
            </a:r>
          </a:p>
          <a:p>
            <a:pPr lvl="1"/>
            <a:r>
              <a:rPr lang="en-US" altLang="en-US" sz="1600" dirty="0"/>
              <a:t>Stack</a:t>
            </a:r>
          </a:p>
          <a:p>
            <a:pPr lvl="1"/>
            <a:endParaRPr lang="en-US" altLang="en-US" sz="1600" dirty="0"/>
          </a:p>
          <a:p>
            <a:pPr lvl="1"/>
            <a:endParaRPr lang="en-US" altLang="en-US" sz="1600" dirty="0"/>
          </a:p>
          <a:p>
            <a:endParaRPr lang="en-US" altLang="en-US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425" y="1752600"/>
            <a:ext cx="391477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35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 Control Block</a:t>
            </a:r>
          </a:p>
        </p:txBody>
      </p:sp>
      <p:sp>
        <p:nvSpPr>
          <p:cNvPr id="3" name="Content Placeholder 2"/>
          <p:cNvSpPr txBox="1">
            <a:spLocks noChangeArrowheads="1"/>
          </p:cNvSpPr>
          <p:nvPr/>
        </p:nvSpPr>
        <p:spPr>
          <a:xfrm>
            <a:off x="457200" y="1229498"/>
            <a:ext cx="7945395" cy="274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000" kern="0" dirty="0"/>
              <a:t>Data Structure in the kernel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Contains thread-specific information needed to manage it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Thread ID: Unique </a:t>
            </a:r>
            <a:r>
              <a:rPr lang="en-US" altLang="en-US" sz="2000" kern="0" dirty="0" err="1"/>
              <a:t>tid</a:t>
            </a:r>
            <a:r>
              <a:rPr lang="en-US" altLang="en-US" sz="2000" kern="0" dirty="0"/>
              <a:t> (</a:t>
            </a:r>
            <a:r>
              <a:rPr lang="en-US" altLang="en-US" sz="2000" kern="0" dirty="0" err="1"/>
              <a:t>tid</a:t>
            </a:r>
            <a:r>
              <a:rPr lang="en-US" altLang="en-US" sz="2000" kern="0" dirty="0"/>
              <a:t>) assigned to every thread</a:t>
            </a:r>
          </a:p>
          <a:p>
            <a:r>
              <a:rPr lang="en-US" altLang="en-US" sz="2000" kern="0" dirty="0"/>
              <a:t>State of the thread (running, ready, waiting)</a:t>
            </a:r>
          </a:p>
          <a:p>
            <a:r>
              <a:rPr lang="en-US" altLang="en-US" sz="2000" kern="0" dirty="0"/>
              <a:t>Thread’s register values</a:t>
            </a:r>
          </a:p>
          <a:p>
            <a:r>
              <a:rPr lang="en-US" altLang="en-US" sz="2000" kern="0" dirty="0"/>
              <a:t>Stack pointer: Pointer to the stack of the thread</a:t>
            </a:r>
          </a:p>
          <a:p>
            <a:r>
              <a:rPr lang="en-US" altLang="en-US" sz="2000" kern="0" dirty="0"/>
              <a:t>Pointer to the PCB of the process that created it</a:t>
            </a:r>
          </a:p>
          <a:p>
            <a:r>
              <a:rPr lang="en-US" altLang="en-US" sz="2000" kern="0" dirty="0"/>
              <a:t>Pointer(s) to the other threads that were created by this thread</a:t>
            </a:r>
          </a:p>
          <a:p>
            <a:pPr lvl="1"/>
            <a:endParaRPr lang="en-US" altLang="en-US" sz="1600" kern="0" dirty="0"/>
          </a:p>
          <a:p>
            <a:pPr lvl="1"/>
            <a:endParaRPr lang="en-US" altLang="en-US" sz="1600" kern="0" dirty="0"/>
          </a:p>
          <a:p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165165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Threads as Lightweight processes</a:t>
            </a:r>
          </a:p>
        </p:txBody>
      </p:sp>
      <p:sp>
        <p:nvSpPr>
          <p:cNvPr id="3" name="Content Placeholder 2"/>
          <p:cNvSpPr txBox="1">
            <a:spLocks noChangeArrowheads="1"/>
          </p:cNvSpPr>
          <p:nvPr/>
        </p:nvSpPr>
        <p:spPr>
          <a:xfrm>
            <a:off x="457200" y="1229498"/>
            <a:ext cx="7945395" cy="274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000" kern="0" dirty="0"/>
              <a:t>Threads of same process share </a:t>
            </a:r>
          </a:p>
          <a:p>
            <a:pPr lvl="1"/>
            <a:r>
              <a:rPr lang="en-US" altLang="en-US" sz="2000" kern="0" dirty="0"/>
              <a:t>Code Section </a:t>
            </a:r>
          </a:p>
          <a:p>
            <a:pPr lvl="1"/>
            <a:r>
              <a:rPr lang="en-US" altLang="en-US" sz="2000" kern="0" dirty="0"/>
              <a:t>Data Section </a:t>
            </a:r>
          </a:p>
          <a:p>
            <a:pPr lvl="1"/>
            <a:r>
              <a:rPr lang="en-US" altLang="en-US" sz="2000" kern="0" dirty="0"/>
              <a:t>Resources like open files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Share the address space of the same process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Threads share</a:t>
            </a:r>
          </a:p>
          <a:p>
            <a:pPr lvl="1"/>
            <a:r>
              <a:rPr lang="en-US" altLang="en-US" sz="1600" kern="0" dirty="0"/>
              <a:t>Global variables</a:t>
            </a:r>
          </a:p>
          <a:p>
            <a:pPr lvl="1"/>
            <a:r>
              <a:rPr lang="en-US" altLang="en-US" sz="1600" kern="0" dirty="0"/>
              <a:t>Dynamically created variables</a:t>
            </a:r>
          </a:p>
          <a:p>
            <a:endParaRPr lang="en-US" altLang="en-US" kern="0" dirty="0"/>
          </a:p>
        </p:txBody>
      </p:sp>
    </p:spTree>
    <p:extLst>
      <p:ext uri="{BB962C8B-B14F-4D97-AF65-F5344CB8AC3E}">
        <p14:creationId xmlns:p14="http://schemas.microsoft.com/office/powerpoint/2010/main" val="77559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Threads as Lightweight processes</a:t>
            </a:r>
          </a:p>
        </p:txBody>
      </p:sp>
      <p:sp>
        <p:nvSpPr>
          <p:cNvPr id="3" name="Content Placeholder 2"/>
          <p:cNvSpPr txBox="1">
            <a:spLocks noChangeArrowheads="1"/>
          </p:cNvSpPr>
          <p:nvPr/>
        </p:nvSpPr>
        <p:spPr>
          <a:xfrm>
            <a:off x="457200" y="1229498"/>
            <a:ext cx="7945395" cy="274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000" kern="0" dirty="0"/>
              <a:t>Process creation is more expensive</a:t>
            </a:r>
          </a:p>
          <a:p>
            <a:pPr lvl="1"/>
            <a:r>
              <a:rPr lang="en-US" altLang="en-US" sz="2000" kern="0" dirty="0"/>
              <a:t>Need to set up the entire address space </a:t>
            </a:r>
          </a:p>
          <a:p>
            <a:pPr lvl="1"/>
            <a:r>
              <a:rPr lang="en-US" altLang="en-US" sz="2000" kern="0" dirty="0"/>
              <a:t>Allocation involves the MMU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Thread creation is much less expensive</a:t>
            </a:r>
          </a:p>
          <a:p>
            <a:pPr lvl="1"/>
            <a:r>
              <a:rPr lang="en-US" altLang="en-US" sz="2000" kern="0" dirty="0"/>
              <a:t>Example: A process already contains 3 threads, another thread created will be running in the same address space of the associated process, share all </a:t>
            </a:r>
            <a:r>
              <a:rPr lang="en-US" altLang="en-US" sz="2000" kern="0" dirty="0" err="1"/>
              <a:t>globals</a:t>
            </a:r>
            <a:r>
              <a:rPr lang="en-US" altLang="en-US" sz="2000" kern="0" dirty="0"/>
              <a:t>…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Threads can interact without any inter-process communication mechanisms (no pipes, no sockets necessary)</a:t>
            </a:r>
            <a:endParaRPr lang="en-US" altLang="en-US" sz="1600" kern="0" dirty="0"/>
          </a:p>
          <a:p>
            <a:endParaRPr lang="en-US" altLang="en-US" kern="0" dirty="0"/>
          </a:p>
          <a:p>
            <a:r>
              <a:rPr lang="en-US" altLang="en-US" kern="0" dirty="0"/>
              <a:t>NOTE: Threads DO NOT share the stack – no sharing of local variables</a:t>
            </a:r>
          </a:p>
          <a:p>
            <a:pPr lvl="1"/>
            <a:r>
              <a:rPr lang="en-US" altLang="en-US" kern="0" dirty="0"/>
              <a:t>Even if 2 threads call the same function, their stacks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404993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switch</a:t>
            </a:r>
          </a:p>
        </p:txBody>
      </p:sp>
      <p:sp>
        <p:nvSpPr>
          <p:cNvPr id="3" name="Content Placeholder 2"/>
          <p:cNvSpPr txBox="1">
            <a:spLocks noChangeArrowheads="1"/>
          </p:cNvSpPr>
          <p:nvPr/>
        </p:nvSpPr>
        <p:spPr>
          <a:xfrm>
            <a:off x="457200" y="1229498"/>
            <a:ext cx="7945395" cy="274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000" kern="0" dirty="0"/>
              <a:t>Process context switch</a:t>
            </a:r>
          </a:p>
          <a:p>
            <a:pPr lvl="1"/>
            <a:r>
              <a:rPr lang="en-US" altLang="en-US" sz="2000" kern="0" dirty="0"/>
              <a:t>Load entire PCB contents</a:t>
            </a:r>
          </a:p>
          <a:p>
            <a:pPr lvl="1"/>
            <a:r>
              <a:rPr lang="en-US" altLang="en-US" sz="2000" kern="0" dirty="0"/>
              <a:t>Need to change to a different address space</a:t>
            </a:r>
          </a:p>
          <a:p>
            <a:pPr lvl="1"/>
            <a:endParaRPr lang="en-US" altLang="en-US" sz="2000" kern="0" dirty="0"/>
          </a:p>
          <a:p>
            <a:r>
              <a:rPr lang="en-US" altLang="en-US" sz="2000" kern="0" dirty="0"/>
              <a:t>Thread context switch</a:t>
            </a:r>
          </a:p>
          <a:p>
            <a:pPr lvl="1"/>
            <a:r>
              <a:rPr lang="en-US" altLang="en-US" sz="2000" kern="0" dirty="0"/>
              <a:t>No need to change address space</a:t>
            </a:r>
          </a:p>
          <a:p>
            <a:pPr lvl="1"/>
            <a:r>
              <a:rPr lang="en-US" altLang="en-US" sz="2000" kern="0" dirty="0"/>
              <a:t>Only switch (a) stack (b) register set</a:t>
            </a:r>
          </a:p>
          <a:p>
            <a:pPr lvl="1"/>
            <a:endParaRPr lang="en-US" altLang="en-US" sz="2000" kern="0" dirty="0"/>
          </a:p>
          <a:p>
            <a:r>
              <a:rPr lang="en-US" altLang="en-US" sz="2000" kern="0" dirty="0"/>
              <a:t>Major overhead of address space switching is saved</a:t>
            </a:r>
          </a:p>
          <a:p>
            <a:pPr lvl="1"/>
            <a:endParaRPr lang="en-US" altLang="en-US" sz="2000" kern="0" dirty="0"/>
          </a:p>
          <a:p>
            <a:pPr lvl="1"/>
            <a:endParaRPr lang="en-US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25768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/>
          <p:cNvSpPr txBox="1">
            <a:spLocks noChangeArrowheads="1"/>
          </p:cNvSpPr>
          <p:nvPr/>
        </p:nvSpPr>
        <p:spPr>
          <a:xfrm>
            <a:off x="457200" y="1229498"/>
            <a:ext cx="7945395" cy="2743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000" kern="0" dirty="0"/>
              <a:t>Modern software applications are multi-threaded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Each thread performs a task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User can interact with multiple aspects of the same application</a:t>
            </a:r>
          </a:p>
          <a:p>
            <a:endParaRPr lang="en-US" altLang="en-US" sz="2000" kern="0" dirty="0"/>
          </a:p>
          <a:p>
            <a:r>
              <a:rPr lang="en-US" altLang="en-US" sz="2000" kern="0" dirty="0"/>
              <a:t>Allows an application to execute multiple similar tasks</a:t>
            </a:r>
          </a:p>
          <a:p>
            <a:endParaRPr lang="en-US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85909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Threads vs Processes</a:t>
            </a:r>
          </a:p>
        </p:txBody>
      </p:sp>
      <p:sp>
        <p:nvSpPr>
          <p:cNvPr id="2048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130643"/>
            <a:ext cx="4114800" cy="4525963"/>
          </a:xfrm>
        </p:spPr>
        <p:txBody>
          <a:bodyPr/>
          <a:lstStyle/>
          <a:p>
            <a:r>
              <a:rPr lang="en-US" altLang="en-US" sz="2000" dirty="0"/>
              <a:t>A thread has no data segment or heap</a:t>
            </a:r>
          </a:p>
          <a:p>
            <a:r>
              <a:rPr lang="en-US" altLang="en-US" sz="2000" dirty="0"/>
              <a:t>A thread cannot live on its own. It needs to be attached to a process</a:t>
            </a:r>
          </a:p>
          <a:p>
            <a:r>
              <a:rPr lang="en-US" altLang="en-US" sz="2000" dirty="0"/>
              <a:t>There can be more than one thread in a process. Each thread has its own stack</a:t>
            </a:r>
          </a:p>
          <a:p>
            <a:r>
              <a:rPr lang="en-US" altLang="en-US" sz="2000" dirty="0"/>
              <a:t>If a thread dies, its stack is reclaimed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462848" y="1130643"/>
            <a:ext cx="4495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cs typeface="+mn-cs"/>
              </a:rPr>
              <a:t>A process has code, heap, stack, other segments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cs typeface="+mn-cs"/>
              </a:rPr>
              <a:t>A process has at-least one thread.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cs typeface="+mn-cs"/>
              </a:rPr>
              <a:t>Threads within a process share the same I/O, code, files.  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  <a:cs typeface="+mn-cs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cs typeface="+mn-cs"/>
              </a:rPr>
              <a:t>If a process dies, all threads die.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5471940"/>
            <a:ext cx="88420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/>
              <a:t>Benefits</a:t>
            </a:r>
            <a:r>
              <a:rPr lang="en-IN" dirty="0"/>
              <a:t>: Lightweight, improves responsiveness, simultaneous execution,</a:t>
            </a:r>
          </a:p>
          <a:p>
            <a:r>
              <a:rPr lang="en-IN" dirty="0"/>
              <a:t>One single lengthy task does not block other tasks, less context switching</a:t>
            </a:r>
          </a:p>
          <a:p>
            <a:r>
              <a:rPr lang="en-IN" dirty="0"/>
              <a:t>Overhead, scalability (if multiple cores)</a:t>
            </a:r>
          </a:p>
        </p:txBody>
      </p:sp>
    </p:spTree>
    <p:extLst>
      <p:ext uri="{BB962C8B-B14F-4D97-AF65-F5344CB8AC3E}">
        <p14:creationId xmlns:p14="http://schemas.microsoft.com/office/powerpoint/2010/main" val="417674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  <a:ln>
            <a:solidFill>
              <a:srgbClr val="66CCFF"/>
            </a:solidFill>
          </a:ln>
        </p:spPr>
        <p:txBody>
          <a:bodyPr/>
          <a:lstStyle/>
          <a:p>
            <a:r>
              <a:rPr lang="en-US" altLang="en-US" dirty="0"/>
              <a:t>Divide an application into several tasks</a:t>
            </a:r>
          </a:p>
          <a:p>
            <a:r>
              <a:rPr lang="en-US" altLang="en-US" dirty="0"/>
              <a:t>Assign each task to a thread</a:t>
            </a:r>
          </a:p>
          <a:p>
            <a:r>
              <a:rPr lang="en-US" altLang="en-US" dirty="0"/>
              <a:t>Execute each thread on a separate processor (core)</a:t>
            </a:r>
          </a:p>
          <a:p>
            <a:r>
              <a:rPr lang="en-US" altLang="en-US" dirty="0"/>
              <a:t>Speedup and Cost benefit (Why?)</a:t>
            </a:r>
          </a:p>
          <a:p>
            <a:r>
              <a:rPr lang="en-US" altLang="en-US" dirty="0"/>
              <a:t>Tasks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endParaRPr lang="en-US" altLang="en-US" b="1" i="1" dirty="0"/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 [Requires multiple cores]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/>
            <a:r>
              <a:rPr lang="en-US" altLang="en-US" dirty="0"/>
              <a:t>Illusion of parallelism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003918" cy="4530725"/>
          </a:xfrm>
        </p:spPr>
        <p:txBody>
          <a:bodyPr/>
          <a:lstStyle/>
          <a:p>
            <a:r>
              <a:rPr lang="en-US" altLang="en-US" sz="2400" dirty="0"/>
              <a:t>Types of parallelism </a:t>
            </a: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sz="2400" dirty="0"/>
              <a:t>– distributes subsets of the same data across multiple cores, same operation on each</a:t>
            </a:r>
          </a:p>
          <a:p>
            <a:pPr lvl="1"/>
            <a:endParaRPr lang="en-US" altLang="en-US" sz="24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sz="2400" dirty="0"/>
              <a:t>– distributing threads across cores, each thread performing unique operation</a:t>
            </a:r>
          </a:p>
          <a:p>
            <a:pPr lvl="1"/>
            <a:endParaRPr lang="en-US" altLang="en-US" sz="2400" dirty="0"/>
          </a:p>
          <a:p>
            <a:r>
              <a:rPr lang="en-US" altLang="en-US" sz="2400" dirty="0"/>
              <a:t>Homework: Study Flynn’s Taxonomy</a:t>
            </a:r>
          </a:p>
          <a:p>
            <a:pPr lvl="1">
              <a:buFont typeface="Monotype Sorts" pitchFamily="-84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81C5BE-54CB-4060-BFB3-18429EA4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A1AEDCB-DDB2-4B98-87D9-BFA079D3C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900988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>
            <a:extLst>
              <a:ext uri="{FF2B5EF4-FFF2-40B4-BE49-F238E27FC236}">
                <a16:creationId xmlns:a16="http://schemas.microsoft.com/office/drawing/2014/main" id="{73692B8D-A89E-4AD0-A1E3-ED895D4F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681CBC2B-DB28-4332-A1D1-A5123743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411288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173" y="986353"/>
            <a:ext cx="8485831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sz="1600" dirty="0"/>
              <a:t>- management done by user-level threads library </a:t>
            </a:r>
          </a:p>
          <a:p>
            <a:pPr lvl="1"/>
            <a:r>
              <a:rPr lang="en-US" altLang="en-US" sz="1600" dirty="0"/>
              <a:t>No kernel support</a:t>
            </a:r>
          </a:p>
          <a:p>
            <a:pPr lvl="1"/>
            <a:r>
              <a:rPr lang="en-US" altLang="en-US" sz="1600" dirty="0"/>
              <a:t>Not recognized by kernel</a:t>
            </a:r>
          </a:p>
          <a:p>
            <a:pPr lvl="1"/>
            <a:r>
              <a:rPr lang="en-US" altLang="en-US" sz="1600" dirty="0"/>
              <a:t>All codes and data structures exist in user space</a:t>
            </a:r>
          </a:p>
          <a:p>
            <a:pPr lvl="1"/>
            <a:r>
              <a:rPr lang="en-US" altLang="en-US" sz="1600" dirty="0"/>
              <a:t>Multithreaded user space process is treated as </a:t>
            </a:r>
            <a:r>
              <a:rPr lang="en-US" altLang="en-US" sz="1600" u="sng" dirty="0"/>
              <a:t>single-threaded</a:t>
            </a:r>
            <a:r>
              <a:rPr lang="en-US" altLang="en-US" sz="1600" dirty="0"/>
              <a:t> by kernel</a:t>
            </a:r>
          </a:p>
          <a:p>
            <a:pPr lvl="1"/>
            <a:r>
              <a:rPr lang="en-US" altLang="en-US" sz="1600" dirty="0"/>
              <a:t>One user thread performs a blocking operation </a:t>
            </a:r>
            <a:r>
              <a:rPr lang="en-US" altLang="en-US" sz="1600" dirty="0">
                <a:sym typeface="Wingdings" panose="05000000000000000000" pitchFamily="2" charset="2"/>
              </a:rPr>
              <a:t> entire application blocks</a:t>
            </a:r>
          </a:p>
          <a:p>
            <a:pPr lvl="1"/>
            <a:r>
              <a:rPr lang="en-US" altLang="en-US" sz="1600" dirty="0">
                <a:sym typeface="Wingdings" panose="05000000000000000000" pitchFamily="2" charset="2"/>
              </a:rPr>
              <a:t>Thread context switching does not require kernel privileges</a:t>
            </a:r>
          </a:p>
          <a:p>
            <a:pPr lvl="1"/>
            <a:r>
              <a:rPr lang="en-US" altLang="en-US" sz="1600" dirty="0"/>
              <a:t>Three primary thread libraries:</a:t>
            </a:r>
          </a:p>
          <a:p>
            <a:pPr lvl="2"/>
            <a:r>
              <a:rPr lang="en-US" altLang="en-US" sz="1600" dirty="0"/>
              <a:t> POSIX </a:t>
            </a:r>
            <a:r>
              <a:rPr lang="en-US" altLang="en-US" sz="1600" b="1" dirty="0" err="1">
                <a:solidFill>
                  <a:srgbClr val="006699"/>
                </a:solidFill>
                <a:latin typeface="+mj-lt"/>
              </a:rPr>
              <a:t>Pthreads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, </a:t>
            </a:r>
            <a:r>
              <a:rPr lang="en-US" altLang="en-US" sz="1600" dirty="0"/>
              <a:t>Windows threads, Java threads</a:t>
            </a:r>
          </a:p>
          <a:p>
            <a:endParaRPr lang="en-US" altLang="en-US" sz="16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sz="1600" dirty="0"/>
              <a:t>- Supported by the Kernel</a:t>
            </a:r>
          </a:p>
          <a:p>
            <a:pPr lvl="1"/>
            <a:r>
              <a:rPr lang="en-US" altLang="en-US" sz="1600" dirty="0"/>
              <a:t>System calls are provided to create and manage threads by OS</a:t>
            </a:r>
          </a:p>
          <a:p>
            <a:pPr lvl="1"/>
            <a:r>
              <a:rPr lang="en-US" altLang="en-US" sz="1600" dirty="0"/>
              <a:t>All codes and data structure exist in kernel space</a:t>
            </a:r>
          </a:p>
          <a:p>
            <a:pPr lvl="1"/>
            <a:r>
              <a:rPr lang="en-US" altLang="en-US" sz="1600" dirty="0"/>
              <a:t>Can utilize multiple cores effectively</a:t>
            </a:r>
          </a:p>
          <a:p>
            <a:pPr lvl="1"/>
            <a:r>
              <a:rPr lang="en-US" altLang="en-US" sz="1600" dirty="0"/>
              <a:t>Multi-threaded application does not block even if one thread blocks</a:t>
            </a:r>
          </a:p>
          <a:p>
            <a:pPr lvl="1"/>
            <a:r>
              <a:rPr lang="en-US" altLang="en-US" sz="1600" dirty="0"/>
              <a:t>Thread context switching involves kernel</a:t>
            </a:r>
          </a:p>
          <a:p>
            <a:pPr lvl="1"/>
            <a:r>
              <a:rPr lang="en-US" altLang="en-US" sz="1600" dirty="0"/>
              <a:t>Examples: Windows, Linux, </a:t>
            </a:r>
            <a:r>
              <a:rPr lang="en-US" altLang="en-US" sz="1600" dirty="0" err="1"/>
              <a:t>MacOS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level threads</a:t>
            </a:r>
          </a:p>
        </p:txBody>
      </p:sp>
      <p:sp>
        <p:nvSpPr>
          <p:cNvPr id="348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r>
              <a:rPr lang="en-US" altLang="en-US" sz="2400"/>
              <a:t>Advantages:</a:t>
            </a:r>
          </a:p>
          <a:p>
            <a:pPr lvl="1"/>
            <a:r>
              <a:rPr lang="en-US" altLang="en-US" sz="1400"/>
              <a:t>Fast (really lightweight)</a:t>
            </a:r>
          </a:p>
          <a:p>
            <a:pPr lvl="1">
              <a:buFontTx/>
              <a:buNone/>
            </a:pPr>
            <a:r>
              <a:rPr lang="en-US" altLang="en-US" sz="1400"/>
              <a:t> (no system call to manage threads. The thread library does everything).</a:t>
            </a:r>
          </a:p>
          <a:p>
            <a:pPr lvl="1"/>
            <a:r>
              <a:rPr lang="en-US" altLang="en-US" sz="1400"/>
              <a:t>Can be implemented on an OS that does not support threading.</a:t>
            </a:r>
          </a:p>
          <a:p>
            <a:pPr lvl="1"/>
            <a:r>
              <a:rPr lang="en-US" altLang="en-US" sz="1400"/>
              <a:t>Switching is fast. No, switch from user to protected mode.</a:t>
            </a:r>
          </a:p>
          <a:p>
            <a:pPr lvl="1"/>
            <a:endParaRPr lang="en-US" altLang="en-US" sz="1400"/>
          </a:p>
          <a:p>
            <a:r>
              <a:rPr lang="en-US" altLang="en-US" sz="1800"/>
              <a:t>Disadvantages:</a:t>
            </a:r>
          </a:p>
          <a:p>
            <a:pPr lvl="1"/>
            <a:r>
              <a:rPr lang="en-US" altLang="en-US" sz="1400"/>
              <a:t>Scheduling can be an issue. (Consider, one thread that is blocked on an IO and another runnable.)</a:t>
            </a:r>
          </a:p>
          <a:p>
            <a:pPr lvl="1"/>
            <a:r>
              <a:rPr lang="en-US" altLang="en-US" sz="1400"/>
              <a:t>Lack of coordination between kernel and threads. (A process with 1000 threads competes for a timeslice with a process having just 1 thread.)</a:t>
            </a:r>
          </a:p>
          <a:p>
            <a:pPr lvl="1"/>
            <a:r>
              <a:rPr lang="en-US" altLang="en-US" sz="1400"/>
              <a:t>Requires non-blocking system calls. (If one thread invokes a system call, all threads need to wait)</a:t>
            </a:r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828800"/>
            <a:ext cx="2851150" cy="2652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775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Kernel level threads</a:t>
            </a:r>
          </a:p>
        </p:txBody>
      </p:sp>
      <p:sp>
        <p:nvSpPr>
          <p:cNvPr id="358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/>
          <a:lstStyle/>
          <a:p>
            <a:r>
              <a:rPr lang="en-US" altLang="en-US"/>
              <a:t>Advantages:</a:t>
            </a:r>
          </a:p>
          <a:p>
            <a:pPr lvl="1"/>
            <a:r>
              <a:rPr lang="en-US" altLang="en-US" sz="1800"/>
              <a:t>Scheduler can decide to give more time to a process having large number of threads than process having small number of threads.</a:t>
            </a:r>
          </a:p>
          <a:p>
            <a:pPr lvl="1"/>
            <a:r>
              <a:rPr lang="en-US" altLang="en-US" sz="1800"/>
              <a:t>Kernel-level threads are especially good for applications that frequently block.</a:t>
            </a:r>
            <a:endParaRPr lang="en-US" altLang="en-US"/>
          </a:p>
          <a:p>
            <a:r>
              <a:rPr lang="en-US" altLang="en-US"/>
              <a:t>Disadvantages:</a:t>
            </a:r>
          </a:p>
          <a:p>
            <a:pPr lvl="1"/>
            <a:r>
              <a:rPr lang="en-US" altLang="en-US" sz="1200"/>
              <a:t>The kernel-level threads are slow (they involve kernel invocations.) </a:t>
            </a:r>
          </a:p>
          <a:p>
            <a:pPr lvl="1"/>
            <a:r>
              <a:rPr lang="en-US" altLang="en-US" sz="1200"/>
              <a:t>Overheads in the kernel. (Since kernel must manage and schedule threads as well as processes. It require a full thread control block (TCB) for each thread to maintain information about threads.)</a:t>
            </a:r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47800"/>
            <a:ext cx="3048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6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13ED592C-0C4E-45A3-A96C-C192AD9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901825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7C60FED-BD89-4655-8023-6D89846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986761F-3FB5-4AD0-B6CE-CA9BD246E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Many-to-One</a:t>
            </a:r>
          </a:p>
          <a:p>
            <a:r>
              <a:rPr lang="en-US" altLang="en-US" sz="2800" dirty="0"/>
              <a:t>One-to-One</a:t>
            </a:r>
          </a:p>
          <a:p>
            <a:r>
              <a:rPr lang="en-US" altLang="en-US" sz="2800" dirty="0"/>
              <a:t>Many-to-Many</a:t>
            </a:r>
          </a:p>
          <a:p>
            <a:endParaRPr lang="en-US" alt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/>
          <a:lstStyle/>
          <a:p>
            <a:r>
              <a:rPr lang="en-US" altLang="en-US" sz="2000" dirty="0"/>
              <a:t>Many user-level threads mapped to single kernel thread</a:t>
            </a:r>
          </a:p>
          <a:p>
            <a:r>
              <a:rPr lang="en-US" altLang="en-US" sz="2000" dirty="0"/>
              <a:t>One thread blocking causes all to block</a:t>
            </a:r>
          </a:p>
          <a:p>
            <a:r>
              <a:rPr lang="en-US" altLang="en-US" sz="2000" dirty="0"/>
              <a:t>Multiple threads may not run in parallel on multicore system because only one may be in kernel at a time</a:t>
            </a:r>
          </a:p>
          <a:p>
            <a:r>
              <a:rPr lang="en-US" altLang="en-US" sz="2000" dirty="0"/>
              <a:t>Few systems currently use this model</a:t>
            </a:r>
          </a:p>
          <a:p>
            <a:r>
              <a:rPr lang="en-US" altLang="en-US" sz="2000" dirty="0"/>
              <a:t>Examples: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955" y="3672082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882" y="936923"/>
            <a:ext cx="7628423" cy="4530725"/>
          </a:xfrm>
        </p:spPr>
        <p:txBody>
          <a:bodyPr/>
          <a:lstStyle/>
          <a:p>
            <a:r>
              <a:rPr lang="en-US" altLang="en-US" sz="2400" dirty="0"/>
              <a:t>Each user-level thread maps to kernel thread</a:t>
            </a:r>
          </a:p>
          <a:p>
            <a:r>
              <a:rPr lang="en-US" altLang="en-US" sz="2400" dirty="0"/>
              <a:t>Creating a user-level thread creates a kernel thread</a:t>
            </a:r>
          </a:p>
          <a:p>
            <a:pPr lvl="1"/>
            <a:r>
              <a:rPr lang="en-US" altLang="en-US" sz="2400" dirty="0"/>
              <a:t>Some overhead</a:t>
            </a:r>
          </a:p>
          <a:p>
            <a:r>
              <a:rPr lang="en-US" altLang="en-US" sz="2400" dirty="0"/>
              <a:t>More concurrency than many-to-one</a:t>
            </a:r>
          </a:p>
          <a:p>
            <a:r>
              <a:rPr lang="en-US" altLang="en-US" sz="2400" dirty="0"/>
              <a:t>Number of threads per process sometimes restricted due to overhead</a:t>
            </a:r>
          </a:p>
          <a:p>
            <a:r>
              <a:rPr lang="en-US" altLang="en-US" sz="2400" dirty="0"/>
              <a:t>Examples</a:t>
            </a:r>
          </a:p>
          <a:p>
            <a:pPr lvl="1"/>
            <a:r>
              <a:rPr lang="en-US" altLang="en-US" sz="2400" dirty="0"/>
              <a:t>Windows</a:t>
            </a:r>
          </a:p>
          <a:p>
            <a:pPr lvl="1"/>
            <a:r>
              <a:rPr lang="en-US" altLang="en-US" sz="2400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3496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sz="2000" dirty="0"/>
              <a:t>Allows many user level threads to be mapped to many kernel threads</a:t>
            </a:r>
          </a:p>
          <a:p>
            <a:r>
              <a:rPr lang="en-US" altLang="en-US" sz="2000" dirty="0"/>
              <a:t>Allows the  operating system to create a sufficient number of kernel threads</a:t>
            </a:r>
          </a:p>
          <a:p>
            <a:r>
              <a:rPr lang="en-US" altLang="en-US" sz="2000" dirty="0"/>
              <a:t>Windows  with the </a:t>
            </a:r>
            <a:r>
              <a:rPr lang="en-US" altLang="en-US" sz="2000" i="1" dirty="0" err="1"/>
              <a:t>ThreadFiber</a:t>
            </a:r>
            <a:r>
              <a:rPr lang="en-US" altLang="en-US" sz="2000" dirty="0"/>
              <a:t> package</a:t>
            </a:r>
          </a:p>
          <a:p>
            <a:r>
              <a:rPr lang="en-US" altLang="en-US" sz="2000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82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Pthreads</a:t>
            </a:r>
            <a:r>
              <a:rPr lang="en-US" dirty="0"/>
              <a:t> Data </a:t>
            </a:r>
            <a:r>
              <a:rPr lang="en-US" dirty="0" err="1"/>
              <a:t>stucture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5207"/>
            <a:ext cx="8427308" cy="4530725"/>
          </a:xfrm>
        </p:spPr>
        <p:txBody>
          <a:bodyPr/>
          <a:lstStyle/>
          <a:p>
            <a:r>
              <a:rPr lang="en-US" b="1" dirty="0" err="1"/>
              <a:t>pthread_t</a:t>
            </a:r>
            <a:r>
              <a:rPr lang="en-US" dirty="0"/>
              <a:t>: used to identify a thread</a:t>
            </a:r>
          </a:p>
          <a:p>
            <a:pPr lvl="1"/>
            <a:r>
              <a:rPr lang="en-US" dirty="0"/>
              <a:t>Defined in </a:t>
            </a:r>
            <a:r>
              <a:rPr lang="en-US" dirty="0" err="1"/>
              <a:t>pthread.h</a:t>
            </a:r>
            <a:endParaRPr lang="en-US" dirty="0"/>
          </a:p>
          <a:p>
            <a:pPr lvl="1"/>
            <a:r>
              <a:rPr lang="en-US" dirty="0"/>
              <a:t>Should be an opaque data type (not any specific primitive data type)</a:t>
            </a:r>
          </a:p>
          <a:p>
            <a:pPr lvl="1"/>
            <a:r>
              <a:rPr lang="en-US" dirty="0"/>
              <a:t>Actual implementation of </a:t>
            </a:r>
            <a:r>
              <a:rPr lang="en-US" dirty="0" err="1"/>
              <a:t>pthread_t</a:t>
            </a:r>
            <a:r>
              <a:rPr lang="en-US" dirty="0"/>
              <a:t> can be (a) any data type (b) structure</a:t>
            </a:r>
          </a:p>
          <a:p>
            <a:pPr lvl="1"/>
            <a:endParaRPr lang="en-US" dirty="0"/>
          </a:p>
          <a:p>
            <a:r>
              <a:rPr lang="en-US" b="1" dirty="0" err="1"/>
              <a:t>pthread_attr_t</a:t>
            </a:r>
            <a:endParaRPr lang="en-US" b="1" dirty="0"/>
          </a:p>
          <a:p>
            <a:pPr lvl="1"/>
            <a:r>
              <a:rPr lang="en-US" dirty="0"/>
              <a:t>Thread attributes object</a:t>
            </a:r>
          </a:p>
          <a:p>
            <a:pPr lvl="1"/>
            <a:r>
              <a:rPr lang="en-US" dirty="0"/>
              <a:t>Defined in </a:t>
            </a:r>
            <a:r>
              <a:rPr lang="en-US" dirty="0" err="1"/>
              <a:t>pthread.h</a:t>
            </a:r>
            <a:endParaRPr lang="en-US" dirty="0"/>
          </a:p>
          <a:p>
            <a:pPr lvl="1"/>
            <a:r>
              <a:rPr lang="en-US" dirty="0"/>
              <a:t>Attributes</a:t>
            </a:r>
          </a:p>
          <a:p>
            <a:pPr lvl="2"/>
            <a:r>
              <a:rPr lang="en-US" dirty="0"/>
              <a:t>Detach state</a:t>
            </a:r>
          </a:p>
          <a:p>
            <a:pPr lvl="2"/>
            <a:r>
              <a:rPr lang="en-US" dirty="0"/>
              <a:t>Scope</a:t>
            </a:r>
          </a:p>
          <a:p>
            <a:pPr lvl="2"/>
            <a:r>
              <a:rPr lang="en-US" dirty="0"/>
              <a:t>Stack address</a:t>
            </a:r>
          </a:p>
          <a:p>
            <a:pPr lvl="2"/>
            <a:r>
              <a:rPr lang="en-US" dirty="0"/>
              <a:t>Stack size</a:t>
            </a:r>
          </a:p>
          <a:p>
            <a:pPr lvl="2"/>
            <a:r>
              <a:rPr lang="en-US" dirty="0"/>
              <a:t>Scheduling policy</a:t>
            </a:r>
          </a:p>
          <a:p>
            <a:pPr lvl="2"/>
            <a:r>
              <a:rPr lang="en-US" dirty="0"/>
              <a:t>Scheduling priority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33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pthread_attr_init</a:t>
            </a:r>
            <a:r>
              <a:rPr lang="en-US" b="1" dirty="0"/>
              <a:t> (</a:t>
            </a:r>
            <a:r>
              <a:rPr lang="en-US" b="1" dirty="0" err="1"/>
              <a:t>pthread_attr_t</a:t>
            </a:r>
            <a:r>
              <a:rPr lang="en-US" b="1" dirty="0"/>
              <a:t> *</a:t>
            </a:r>
            <a:r>
              <a:rPr lang="en-US" b="1" dirty="0" err="1"/>
              <a:t>attr</a:t>
            </a:r>
            <a:r>
              <a:rPr lang="en-US" b="1" dirty="0"/>
              <a:t>);</a:t>
            </a:r>
          </a:p>
          <a:p>
            <a:pPr lvl="1"/>
            <a:r>
              <a:rPr lang="en-US" dirty="0"/>
              <a:t>Takes the thread attributes object pointed to by </a:t>
            </a:r>
            <a:r>
              <a:rPr lang="en-US" dirty="0" err="1"/>
              <a:t>attr</a:t>
            </a:r>
            <a:endParaRPr lang="en-US" dirty="0"/>
          </a:p>
          <a:p>
            <a:pPr lvl="1"/>
            <a:r>
              <a:rPr lang="en-US" dirty="0"/>
              <a:t>Initializes this object using default attribute values</a:t>
            </a:r>
          </a:p>
          <a:p>
            <a:pPr lvl="1"/>
            <a:r>
              <a:rPr lang="en-US" dirty="0"/>
              <a:t>On success, returns 0</a:t>
            </a:r>
          </a:p>
          <a:p>
            <a:pPr lvl="1"/>
            <a:r>
              <a:rPr lang="en-US" dirty="0"/>
              <a:t>On failure, non-zero error number</a:t>
            </a:r>
          </a:p>
          <a:p>
            <a:pPr lvl="1"/>
            <a:endParaRPr lang="en-US" dirty="0"/>
          </a:p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pthread_attr_destroy</a:t>
            </a:r>
            <a:r>
              <a:rPr lang="en-US" b="1" dirty="0"/>
              <a:t> (</a:t>
            </a:r>
            <a:r>
              <a:rPr lang="en-US" b="1" dirty="0" err="1"/>
              <a:t>pthread_attr_t</a:t>
            </a:r>
            <a:r>
              <a:rPr lang="en-US" b="1" dirty="0"/>
              <a:t> *</a:t>
            </a:r>
            <a:r>
              <a:rPr lang="en-US" b="1" dirty="0" err="1"/>
              <a:t>attr</a:t>
            </a:r>
            <a:r>
              <a:rPr lang="en-US" b="1" dirty="0"/>
              <a:t>);</a:t>
            </a:r>
          </a:p>
          <a:p>
            <a:pPr lvl="1"/>
            <a:r>
              <a:rPr lang="en-US" dirty="0"/>
              <a:t>Destroy the thread attributes object pointed to by </a:t>
            </a:r>
            <a:r>
              <a:rPr lang="en-US" dirty="0" err="1"/>
              <a:t>attr</a:t>
            </a:r>
            <a:endParaRPr lang="en-US" dirty="0"/>
          </a:p>
          <a:p>
            <a:pPr lvl="1"/>
            <a:r>
              <a:rPr lang="en-US" dirty="0"/>
              <a:t>Done when the object when is no longer needed</a:t>
            </a:r>
          </a:p>
          <a:p>
            <a:pPr lvl="2"/>
            <a:r>
              <a:rPr lang="en-US" dirty="0"/>
              <a:t>Have to reinitialize it if destroyed again</a:t>
            </a:r>
          </a:p>
          <a:p>
            <a:pPr lvl="1"/>
            <a:r>
              <a:rPr lang="en-US" dirty="0"/>
              <a:t>On success, returns 0, while a non-zero error number on failure indicating what kind of error has happened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39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 bwMode="auto">
          <a:xfrm>
            <a:off x="3200400" y="2057400"/>
            <a:ext cx="679622" cy="38923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pthread library</a:t>
            </a: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19236" y="1272381"/>
            <a:ext cx="8065272" cy="4530725"/>
          </a:xfrm>
        </p:spPr>
        <p:txBody>
          <a:bodyPr/>
          <a:lstStyle/>
          <a:p>
            <a:r>
              <a:rPr lang="en-US" altLang="en-US" sz="2400" dirty="0"/>
              <a:t>Create a thread in a process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</a:t>
            </a:r>
            <a:r>
              <a:rPr lang="en-US" altLang="en-US" sz="1800" b="1" dirty="0" err="1">
                <a:solidFill>
                  <a:srgbClr val="3333FF"/>
                </a:solidFill>
              </a:rPr>
              <a:t>int</a:t>
            </a:r>
            <a:r>
              <a:rPr lang="en-US" altLang="en-US" sz="1800" b="1" dirty="0">
                <a:solidFill>
                  <a:srgbClr val="3333FF"/>
                </a:solidFill>
              </a:rPr>
              <a:t> 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pthread_create</a:t>
            </a:r>
            <a:r>
              <a:rPr lang="en-US" altLang="en-US" sz="1800" b="1" dirty="0">
                <a:solidFill>
                  <a:srgbClr val="3333FF"/>
                </a:solidFill>
              </a:rPr>
              <a:t>(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pthread_t</a:t>
            </a:r>
            <a:r>
              <a:rPr lang="en-US" altLang="en-US" sz="1800" b="1" dirty="0">
                <a:solidFill>
                  <a:srgbClr val="3333FF"/>
                </a:solidFill>
              </a:rPr>
              <a:t> *thread, 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                               </a:t>
            </a:r>
            <a:r>
              <a:rPr lang="en-US" altLang="en-US" sz="1800" b="1" dirty="0" err="1">
                <a:solidFill>
                  <a:srgbClr val="3333FF"/>
                </a:solidFill>
              </a:rPr>
              <a:t>const</a:t>
            </a:r>
            <a:r>
              <a:rPr lang="en-US" altLang="en-US" sz="1800" b="1" dirty="0">
                <a:solidFill>
                  <a:srgbClr val="3333FF"/>
                </a:solidFill>
              </a:rPr>
              <a:t> 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pthread_attr_t</a:t>
            </a:r>
            <a:r>
              <a:rPr lang="en-US" altLang="en-US" sz="1800" b="1" dirty="0">
                <a:solidFill>
                  <a:srgbClr val="3333FF"/>
                </a:solidFill>
              </a:rPr>
              <a:t> *</a:t>
            </a:r>
            <a:r>
              <a:rPr lang="en-US" altLang="en-US" sz="1800" b="1" dirty="0" err="1">
                <a:solidFill>
                  <a:srgbClr val="3333FF"/>
                </a:solidFill>
              </a:rPr>
              <a:t>attr</a:t>
            </a:r>
            <a:r>
              <a:rPr lang="en-US" altLang="en-US" sz="1800" b="1" dirty="0">
                <a:solidFill>
                  <a:srgbClr val="3333FF"/>
                </a:solidFill>
              </a:rPr>
              <a:t>,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                               void *(*</a:t>
            </a:r>
            <a:r>
              <a:rPr lang="en-US" altLang="en-US" sz="1800" b="1" dirty="0" err="1">
                <a:solidFill>
                  <a:srgbClr val="3333FF"/>
                </a:solidFill>
              </a:rPr>
              <a:t>start_routine</a:t>
            </a:r>
            <a:r>
              <a:rPr lang="en-US" altLang="en-US" sz="1800" b="1" dirty="0">
                <a:solidFill>
                  <a:srgbClr val="3333FF"/>
                </a:solidFill>
              </a:rPr>
              <a:t>) (void *), 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                                void *</a:t>
            </a:r>
            <a:r>
              <a:rPr lang="en-US" altLang="en-US" sz="1800" b="1" dirty="0" err="1">
                <a:solidFill>
                  <a:srgbClr val="3333FF"/>
                </a:solidFill>
              </a:rPr>
              <a:t>arg</a:t>
            </a:r>
            <a:r>
              <a:rPr lang="en-US" altLang="en-US" sz="1800" b="1" dirty="0">
                <a:solidFill>
                  <a:srgbClr val="3333FF"/>
                </a:solidFill>
              </a:rPr>
              <a:t>);</a:t>
            </a:r>
          </a:p>
          <a:p>
            <a:pPr>
              <a:buFontTx/>
              <a:buNone/>
            </a:pPr>
            <a:endParaRPr lang="en-US" altLang="en-US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en-US" b="1" dirty="0">
              <a:solidFill>
                <a:srgbClr val="3333FF"/>
              </a:solidFill>
            </a:endParaRPr>
          </a:p>
          <a:p>
            <a:r>
              <a:rPr lang="en-US" altLang="en-US" sz="2400" dirty="0"/>
              <a:t>New thread starts execution by invoking </a:t>
            </a:r>
            <a:r>
              <a:rPr lang="en-US" altLang="en-US" sz="2400" dirty="0" err="1"/>
              <a:t>start_routine</a:t>
            </a:r>
            <a:r>
              <a:rPr lang="en-US" altLang="en-US" sz="2400" dirty="0"/>
              <a:t>()</a:t>
            </a:r>
          </a:p>
          <a:p>
            <a:pPr lvl="1"/>
            <a:r>
              <a:rPr lang="en-US" altLang="en-US" sz="2400" dirty="0" err="1"/>
              <a:t>arg</a:t>
            </a:r>
            <a:r>
              <a:rPr lang="en-US" altLang="en-US" sz="2400" dirty="0"/>
              <a:t> is passed to </a:t>
            </a:r>
            <a:r>
              <a:rPr lang="en-US" altLang="en-US" sz="2400" dirty="0" err="1"/>
              <a:t>start_routine</a:t>
            </a:r>
            <a:r>
              <a:rPr lang="en-US" altLang="en-US" sz="2400" dirty="0"/>
              <a:t>() </a:t>
            </a:r>
          </a:p>
          <a:p>
            <a:endParaRPr lang="en-US" altLang="en-US" sz="2400" dirty="0"/>
          </a:p>
          <a:p>
            <a:r>
              <a:rPr lang="en-US" altLang="en-US" sz="2400" dirty="0"/>
              <a:t>Destroying a thread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void 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pthread_exit</a:t>
            </a:r>
            <a:r>
              <a:rPr lang="en-US" altLang="en-US" sz="1800" b="1" dirty="0">
                <a:solidFill>
                  <a:srgbClr val="3333FF"/>
                </a:solidFill>
              </a:rPr>
              <a:t>(void *</a:t>
            </a:r>
            <a:r>
              <a:rPr lang="en-US" altLang="en-US" sz="1800" b="1" dirty="0" err="1">
                <a:solidFill>
                  <a:srgbClr val="3333FF"/>
                </a:solidFill>
              </a:rPr>
              <a:t>retval</a:t>
            </a:r>
            <a:r>
              <a:rPr lang="en-US" altLang="en-US" sz="1800" b="1" dirty="0">
                <a:solidFill>
                  <a:srgbClr val="3333FF"/>
                </a:solidFill>
              </a:rPr>
              <a:t>);</a:t>
            </a:r>
          </a:p>
          <a:p>
            <a:pPr>
              <a:buFontTx/>
              <a:buNone/>
            </a:pPr>
            <a:r>
              <a:rPr lang="en-US" altLang="en-US" b="1" dirty="0"/>
              <a:t>    Can return a value to waiting threads about its exit status</a:t>
            </a:r>
            <a:endParaRPr lang="en-US" altLang="en-US" sz="1800" b="1" dirty="0"/>
          </a:p>
          <a:p>
            <a:pPr>
              <a:buFontTx/>
              <a:buNone/>
            </a:pPr>
            <a:endParaRPr lang="en-US" altLang="en-US" sz="1800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6" name="Freeform 5"/>
          <p:cNvSpPr/>
          <p:nvPr/>
        </p:nvSpPr>
        <p:spPr>
          <a:xfrm>
            <a:off x="4424363" y="2557463"/>
            <a:ext cx="1976437" cy="871537"/>
          </a:xfrm>
          <a:custGeom>
            <a:avLst/>
            <a:gdLst>
              <a:gd name="connsiteX0" fmla="*/ 0 w 1964724"/>
              <a:gd name="connsiteY0" fmla="*/ 543697 h 992659"/>
              <a:gd name="connsiteX1" fmla="*/ 1037967 w 1964724"/>
              <a:gd name="connsiteY1" fmla="*/ 902043 h 992659"/>
              <a:gd name="connsiteX2" fmla="*/ 1964724 w 1964724"/>
              <a:gd name="connsiteY2" fmla="*/ 0 h 992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4724" h="992659">
                <a:moveTo>
                  <a:pt x="0" y="543697"/>
                </a:moveTo>
                <a:cubicBezTo>
                  <a:pt x="355256" y="768178"/>
                  <a:pt x="710513" y="992659"/>
                  <a:pt x="1037967" y="902043"/>
                </a:cubicBezTo>
                <a:cubicBezTo>
                  <a:pt x="1365421" y="811427"/>
                  <a:pt x="1665072" y="405713"/>
                  <a:pt x="1964724" y="0"/>
                </a:cubicBezTo>
              </a:path>
            </a:pathLst>
          </a:cu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509" name="TextBox 6"/>
          <p:cNvSpPr txBox="1">
            <a:spLocks noChangeArrowheads="1"/>
          </p:cNvSpPr>
          <p:nvPr/>
        </p:nvSpPr>
        <p:spPr bwMode="auto">
          <a:xfrm>
            <a:off x="6248400" y="1981200"/>
            <a:ext cx="2895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Pointer to a function, which starts execution in a different thread</a:t>
            </a:r>
          </a:p>
        </p:txBody>
      </p:sp>
      <p:sp>
        <p:nvSpPr>
          <p:cNvPr id="10" name="Freeform 9"/>
          <p:cNvSpPr/>
          <p:nvPr/>
        </p:nvSpPr>
        <p:spPr>
          <a:xfrm>
            <a:off x="4003675" y="3348038"/>
            <a:ext cx="2138363" cy="466725"/>
          </a:xfrm>
          <a:custGeom>
            <a:avLst/>
            <a:gdLst>
              <a:gd name="connsiteX0" fmla="*/ 0 w 2137719"/>
              <a:gd name="connsiteY0" fmla="*/ 0 h 465438"/>
              <a:gd name="connsiteX1" fmla="*/ 1112108 w 2137719"/>
              <a:gd name="connsiteY1" fmla="*/ 432487 h 465438"/>
              <a:gd name="connsiteX2" fmla="*/ 2137719 w 2137719"/>
              <a:gd name="connsiteY2" fmla="*/ 197708 h 465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7719" h="465438">
                <a:moveTo>
                  <a:pt x="0" y="0"/>
                </a:moveTo>
                <a:cubicBezTo>
                  <a:pt x="377911" y="199768"/>
                  <a:pt x="755822" y="399536"/>
                  <a:pt x="1112108" y="432487"/>
                </a:cubicBezTo>
                <a:cubicBezTo>
                  <a:pt x="1468394" y="465438"/>
                  <a:pt x="1803056" y="331573"/>
                  <a:pt x="2137719" y="197708"/>
                </a:cubicBezTo>
              </a:path>
            </a:pathLst>
          </a:cu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511" name="TextBox 10"/>
          <p:cNvSpPr txBox="1">
            <a:spLocks noChangeArrowheads="1"/>
          </p:cNvSpPr>
          <p:nvPr/>
        </p:nvSpPr>
        <p:spPr bwMode="auto">
          <a:xfrm>
            <a:off x="6248400" y="3352800"/>
            <a:ext cx="289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Arguments to the function</a:t>
            </a:r>
          </a:p>
        </p:txBody>
      </p:sp>
      <p:sp>
        <p:nvSpPr>
          <p:cNvPr id="12" name="Freeform 11"/>
          <p:cNvSpPr/>
          <p:nvPr/>
        </p:nvSpPr>
        <p:spPr>
          <a:xfrm>
            <a:off x="3880022" y="5294312"/>
            <a:ext cx="2368378" cy="956470"/>
          </a:xfrm>
          <a:custGeom>
            <a:avLst/>
            <a:gdLst>
              <a:gd name="connsiteX0" fmla="*/ 0 w 2236573"/>
              <a:gd name="connsiteY0" fmla="*/ 296562 h 568410"/>
              <a:gd name="connsiteX1" fmla="*/ 630195 w 2236573"/>
              <a:gd name="connsiteY1" fmla="*/ 518983 h 568410"/>
              <a:gd name="connsiteX2" fmla="*/ 2236573 w 2236573"/>
              <a:gd name="connsiteY2" fmla="*/ 0 h 56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6573" h="568410">
                <a:moveTo>
                  <a:pt x="0" y="296562"/>
                </a:moveTo>
                <a:cubicBezTo>
                  <a:pt x="128716" y="432486"/>
                  <a:pt x="257433" y="568410"/>
                  <a:pt x="630195" y="518983"/>
                </a:cubicBezTo>
                <a:cubicBezTo>
                  <a:pt x="1002957" y="469556"/>
                  <a:pt x="1619765" y="234778"/>
                  <a:pt x="2236573" y="0"/>
                </a:cubicBezTo>
              </a:path>
            </a:pathLst>
          </a:cu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513" name="TextBox 12"/>
          <p:cNvSpPr txBox="1">
            <a:spLocks noChangeArrowheads="1"/>
          </p:cNvSpPr>
          <p:nvPr/>
        </p:nvSpPr>
        <p:spPr bwMode="auto">
          <a:xfrm>
            <a:off x="6248400" y="5202237"/>
            <a:ext cx="2895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B050"/>
                </a:solidFill>
              </a:rPr>
              <a:t>Exit value of the thread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10800000" flipV="1">
            <a:off x="4724400" y="1600200"/>
            <a:ext cx="838200" cy="457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5" name="TextBox 18"/>
          <p:cNvSpPr txBox="1">
            <a:spLocks noChangeArrowheads="1"/>
          </p:cNvSpPr>
          <p:nvPr/>
        </p:nvSpPr>
        <p:spPr bwMode="auto">
          <a:xfrm>
            <a:off x="5486400" y="1306513"/>
            <a:ext cx="3657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Thread identifier (TID) much like </a:t>
            </a:r>
          </a:p>
        </p:txBody>
      </p:sp>
      <p:sp>
        <p:nvSpPr>
          <p:cNvPr id="3" name="Oval 2"/>
          <p:cNvSpPr/>
          <p:nvPr/>
        </p:nvSpPr>
        <p:spPr bwMode="auto">
          <a:xfrm>
            <a:off x="3200400" y="2443162"/>
            <a:ext cx="679622" cy="34766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105662" y="5944252"/>
            <a:ext cx="679622" cy="34766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69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pthread library contd.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Join : Wait for a specific thread to complete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   </a:t>
            </a:r>
            <a:r>
              <a:rPr lang="en-US" altLang="en-US" sz="1800" b="1" dirty="0" err="1">
                <a:solidFill>
                  <a:srgbClr val="3333FF"/>
                </a:solidFill>
              </a:rPr>
              <a:t>int</a:t>
            </a:r>
            <a:r>
              <a:rPr lang="en-US" altLang="en-US" sz="1800" b="1" dirty="0">
                <a:solidFill>
                  <a:srgbClr val="3333FF"/>
                </a:solidFill>
              </a:rPr>
              <a:t> 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pthread_join</a:t>
            </a:r>
            <a:r>
              <a:rPr lang="en-US" altLang="en-US" sz="1800" b="1" dirty="0">
                <a:solidFill>
                  <a:srgbClr val="3333FF"/>
                </a:solidFill>
              </a:rPr>
              <a:t>(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pthread_t</a:t>
            </a:r>
            <a:r>
              <a:rPr lang="en-US" altLang="en-US" sz="1800" b="1" dirty="0">
                <a:solidFill>
                  <a:srgbClr val="3333FF"/>
                </a:solidFill>
              </a:rPr>
              <a:t> thread, void **</a:t>
            </a:r>
            <a:r>
              <a:rPr lang="en-US" altLang="en-US" sz="1800" b="1" dirty="0" err="1">
                <a:solidFill>
                  <a:srgbClr val="3333FF"/>
                </a:solidFill>
              </a:rPr>
              <a:t>retval</a:t>
            </a:r>
            <a:r>
              <a:rPr lang="en-US" altLang="en-US" sz="1800" b="1" dirty="0">
                <a:solidFill>
                  <a:srgbClr val="3333FF"/>
                </a:solidFill>
              </a:rPr>
              <a:t>);</a:t>
            </a:r>
            <a:endParaRPr lang="en-US" altLang="en-US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en-US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en-US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en-US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    </a:t>
            </a: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If </a:t>
            </a:r>
            <a:r>
              <a:rPr lang="en-US" altLang="en-US" dirty="0" err="1"/>
              <a:t>retval</a:t>
            </a:r>
            <a:r>
              <a:rPr lang="en-US" altLang="en-US" dirty="0"/>
              <a:t> is not NULL, exit status of target thread (thread) is coped into the location pointed to by </a:t>
            </a:r>
            <a:r>
              <a:rPr lang="en-US" altLang="en-US" b="1" dirty="0" err="1">
                <a:solidFill>
                  <a:srgbClr val="3333FF"/>
                </a:solidFill>
              </a:rPr>
              <a:t>retval</a:t>
            </a:r>
            <a:endParaRPr lang="en-US" altLang="en-US" dirty="0"/>
          </a:p>
          <a:p>
            <a:pPr>
              <a:buFontTx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en-US" dirty="0"/>
              <a:t>On success, returns 0, returns non-zero error number if error</a:t>
            </a:r>
          </a:p>
          <a:p>
            <a:pPr>
              <a:buFontTx/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838200" y="30480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TID of the thread to wait for</a:t>
            </a:r>
          </a:p>
        </p:txBody>
      </p:sp>
      <p:sp>
        <p:nvSpPr>
          <p:cNvPr id="23557" name="TextBox 10"/>
          <p:cNvSpPr txBox="1">
            <a:spLocks noChangeArrowheads="1"/>
          </p:cNvSpPr>
          <p:nvPr/>
        </p:nvSpPr>
        <p:spPr bwMode="auto">
          <a:xfrm>
            <a:off x="5943600" y="3200400"/>
            <a:ext cx="289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Exit status of the thread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200400" y="2667000"/>
            <a:ext cx="914400" cy="457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6200000" flipV="1">
            <a:off x="5715000" y="2667000"/>
            <a:ext cx="609600" cy="6096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631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pthread library contd.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</a:t>
            </a:r>
          </a:p>
          <a:p>
            <a:pPr>
              <a:buFontTx/>
              <a:buNone/>
            </a:pPr>
            <a:r>
              <a:rPr lang="en-US" altLang="en-US" sz="1800" b="1" dirty="0">
                <a:solidFill>
                  <a:srgbClr val="3333FF"/>
                </a:solidFill>
              </a:rPr>
              <a:t>         </a:t>
            </a:r>
            <a:r>
              <a:rPr lang="en-US" altLang="en-US" sz="1800" b="1" dirty="0" err="1">
                <a:solidFill>
                  <a:srgbClr val="3333FF"/>
                </a:solidFill>
              </a:rPr>
              <a:t>int</a:t>
            </a:r>
            <a:r>
              <a:rPr lang="en-US" altLang="en-US" sz="1800" b="1" dirty="0">
                <a:solidFill>
                  <a:srgbClr val="3333FF"/>
                </a:solidFill>
              </a:rPr>
              <a:t> 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pthread_equal</a:t>
            </a:r>
            <a:r>
              <a:rPr lang="en-US" altLang="en-US" sz="1800" b="1" dirty="0">
                <a:solidFill>
                  <a:srgbClr val="3333FF"/>
                </a:solidFill>
              </a:rPr>
              <a:t>(</a:t>
            </a:r>
            <a:r>
              <a:rPr lang="en-US" altLang="en-US" sz="1800" b="1" dirty="0" err="1">
                <a:solidFill>
                  <a:srgbClr val="3333FF"/>
                </a:solidFill>
              </a:rPr>
              <a:t>pthread_t</a:t>
            </a:r>
            <a:r>
              <a:rPr lang="en-US" altLang="en-US" sz="1800" b="1" dirty="0">
                <a:solidFill>
                  <a:srgbClr val="3333FF"/>
                </a:solidFill>
              </a:rPr>
              <a:t> </a:t>
            </a:r>
            <a:r>
              <a:rPr lang="en-US" altLang="en-US" b="1" dirty="0">
                <a:solidFill>
                  <a:srgbClr val="3333FF"/>
                </a:solidFill>
              </a:rPr>
              <a:t>thread1, </a:t>
            </a:r>
            <a:r>
              <a:rPr lang="en-US" altLang="en-US" b="1" dirty="0" err="1">
                <a:solidFill>
                  <a:srgbClr val="3333FF"/>
                </a:solidFill>
              </a:rPr>
              <a:t>pthread_t</a:t>
            </a:r>
            <a:r>
              <a:rPr lang="en-US" altLang="en-US" b="1" dirty="0">
                <a:solidFill>
                  <a:srgbClr val="3333FF"/>
                </a:solidFill>
              </a:rPr>
              <a:t> thread2);</a:t>
            </a:r>
          </a:p>
          <a:p>
            <a:pPr>
              <a:buFontTx/>
              <a:buNone/>
            </a:pPr>
            <a:endParaRPr lang="en-US" altLang="en-US" b="1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1307757" y="3037185"/>
            <a:ext cx="737904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B050"/>
                </a:solidFill>
              </a:rPr>
              <a:t>Compares 2 thread IDs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B05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B050"/>
                </a:solidFill>
              </a:rPr>
              <a:t>Returns a non-zero value if the two thread IDs are equal, otherwise 0</a:t>
            </a:r>
          </a:p>
        </p:txBody>
      </p:sp>
    </p:spTree>
    <p:extLst>
      <p:ext uri="{BB962C8B-B14F-4D97-AF65-F5344CB8AC3E}">
        <p14:creationId xmlns:p14="http://schemas.microsoft.com/office/powerpoint/2010/main" val="2993620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560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333875" cy="3667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410200"/>
            <a:ext cx="5391150" cy="1209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rot="16200000" flipH="1">
            <a:off x="7505700" y="4838700"/>
            <a:ext cx="838200" cy="304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7" name="TextBox 7"/>
          <p:cNvSpPr txBox="1">
            <a:spLocks noChangeArrowheads="1"/>
          </p:cNvSpPr>
          <p:nvPr/>
        </p:nvSpPr>
        <p:spPr bwMode="auto">
          <a:xfrm>
            <a:off x="6019800" y="3962400"/>
            <a:ext cx="28146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Note. You need to link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pthread library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029200" y="1828800"/>
            <a:ext cx="4114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How many threads are there in this program?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096000" y="2106613"/>
            <a:ext cx="2057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485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659" y="904568"/>
            <a:ext cx="5634681" cy="577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08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333875" cy="3667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>
            <a:cxnSpLocks/>
          </p:cNvCxnSpPr>
          <p:nvPr/>
        </p:nvCxnSpPr>
        <p:spPr>
          <a:xfrm>
            <a:off x="5943600" y="1752600"/>
            <a:ext cx="0" cy="7445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943600" y="2497138"/>
            <a:ext cx="0" cy="381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5943600" y="2497138"/>
            <a:ext cx="205740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989888" y="2497138"/>
            <a:ext cx="0" cy="16097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5922963" y="2878138"/>
            <a:ext cx="139223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>
            <a:off x="7315200" y="2878138"/>
            <a:ext cx="25400" cy="24050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endCxn id="27668" idx="3"/>
          </p:cNvCxnSpPr>
          <p:nvPr/>
        </p:nvCxnSpPr>
        <p:spPr>
          <a:xfrm flipH="1">
            <a:off x="5932488" y="2984500"/>
            <a:ext cx="11112" cy="133826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5916613" y="5283200"/>
            <a:ext cx="138588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cxnSpLocks/>
          </p:cNvCxnSpPr>
          <p:nvPr/>
        </p:nvCxnSpPr>
        <p:spPr>
          <a:xfrm flipV="1">
            <a:off x="5951538" y="4173538"/>
            <a:ext cx="2049462" cy="6032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cxnSpLocks/>
          </p:cNvCxnSpPr>
          <p:nvPr/>
        </p:nvCxnSpPr>
        <p:spPr>
          <a:xfrm flipH="1">
            <a:off x="5927725" y="4235450"/>
            <a:ext cx="15875" cy="684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Cross 31"/>
          <p:cNvSpPr/>
          <p:nvPr/>
        </p:nvSpPr>
        <p:spPr>
          <a:xfrm rot="18228032">
            <a:off x="7719219" y="3890169"/>
            <a:ext cx="609600" cy="592138"/>
          </a:xfrm>
          <a:prstGeom prst="plus">
            <a:avLst>
              <a:gd name="adj" fmla="val 454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Cross 40"/>
          <p:cNvSpPr/>
          <p:nvPr/>
        </p:nvSpPr>
        <p:spPr>
          <a:xfrm rot="18228032">
            <a:off x="7036594" y="5037931"/>
            <a:ext cx="609600" cy="592138"/>
          </a:xfrm>
          <a:prstGeom prst="plus">
            <a:avLst>
              <a:gd name="adj" fmla="val 454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7664" name="TextBox 33"/>
          <p:cNvSpPr txBox="1">
            <a:spLocks noChangeArrowheads="1"/>
          </p:cNvSpPr>
          <p:nvPr/>
        </p:nvSpPr>
        <p:spPr bwMode="auto">
          <a:xfrm>
            <a:off x="5873750" y="1514475"/>
            <a:ext cx="684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main</a:t>
            </a:r>
          </a:p>
        </p:txBody>
      </p:sp>
      <p:sp>
        <p:nvSpPr>
          <p:cNvPr id="27665" name="TextBox 42"/>
          <p:cNvSpPr txBox="1">
            <a:spLocks noChangeArrowheads="1"/>
          </p:cNvSpPr>
          <p:nvPr/>
        </p:nvSpPr>
        <p:spPr bwMode="auto">
          <a:xfrm>
            <a:off x="7989888" y="2843213"/>
            <a:ext cx="377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t1</a:t>
            </a:r>
          </a:p>
        </p:txBody>
      </p:sp>
      <p:sp>
        <p:nvSpPr>
          <p:cNvPr id="27666" name="TextBox 43"/>
          <p:cNvSpPr txBox="1">
            <a:spLocks noChangeArrowheads="1"/>
          </p:cNvSpPr>
          <p:nvPr/>
        </p:nvSpPr>
        <p:spPr bwMode="auto">
          <a:xfrm>
            <a:off x="7340600" y="3208338"/>
            <a:ext cx="377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t2</a:t>
            </a:r>
          </a:p>
        </p:txBody>
      </p:sp>
      <p:sp>
        <p:nvSpPr>
          <p:cNvPr id="27667" name="TextBox 47"/>
          <p:cNvSpPr txBox="1">
            <a:spLocks noChangeArrowheads="1"/>
          </p:cNvSpPr>
          <p:nvPr/>
        </p:nvSpPr>
        <p:spPr bwMode="auto">
          <a:xfrm>
            <a:off x="5043488" y="2809875"/>
            <a:ext cx="889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join(t1)</a:t>
            </a:r>
          </a:p>
        </p:txBody>
      </p:sp>
      <p:sp>
        <p:nvSpPr>
          <p:cNvPr id="27668" name="TextBox 48"/>
          <p:cNvSpPr txBox="1">
            <a:spLocks noChangeArrowheads="1"/>
          </p:cNvSpPr>
          <p:nvPr/>
        </p:nvSpPr>
        <p:spPr bwMode="auto">
          <a:xfrm>
            <a:off x="5043488" y="4138613"/>
            <a:ext cx="889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join(t2)</a:t>
            </a:r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 flipH="1">
            <a:off x="5915025" y="4876800"/>
            <a:ext cx="17463" cy="40640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cxnSpLocks/>
          </p:cNvCxnSpPr>
          <p:nvPr/>
        </p:nvCxnSpPr>
        <p:spPr>
          <a:xfrm>
            <a:off x="5907088" y="5254625"/>
            <a:ext cx="4762" cy="533400"/>
          </a:xfrm>
          <a:prstGeom prst="line">
            <a:avLst/>
          </a:prstGeom>
          <a:ln w="127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75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3030B908-CBBC-46B7-AB64-06E0AE9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>
            <a:extLst>
              <a:ext uri="{FF2B5EF4-FFF2-40B4-BE49-F238E27FC236}">
                <a16:creationId xmlns:a16="http://schemas.microsoft.com/office/drawing/2014/main" id="{67BD81D9-A50E-47F3-9F79-4E6B618DD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r>
              <a:rPr lang="en-US" altLang="en-US" dirty="0"/>
              <a:t>Creation and management of threads done by compilers and run-time libraries rather than programmers</a:t>
            </a:r>
          </a:p>
          <a:p>
            <a:r>
              <a:rPr lang="en-US" altLang="en-US" dirty="0"/>
              <a:t>Five methods explored</a:t>
            </a:r>
          </a:p>
          <a:p>
            <a:pPr lvl="1"/>
            <a:r>
              <a:rPr lang="en-US" altLang="en-US" dirty="0"/>
              <a:t>Thread Pools</a:t>
            </a:r>
          </a:p>
          <a:p>
            <a:pPr lvl="1"/>
            <a:r>
              <a:rPr lang="en-US" altLang="en-US" dirty="0"/>
              <a:t>Fork-Join</a:t>
            </a:r>
          </a:p>
          <a:p>
            <a:pPr lvl="1"/>
            <a:r>
              <a:rPr lang="en-US" altLang="en-US" dirty="0"/>
              <a:t>OpenMP</a:t>
            </a:r>
          </a:p>
          <a:p>
            <a:pPr lvl="1"/>
            <a:r>
              <a:rPr lang="en-US" altLang="en-US" dirty="0"/>
              <a:t>Grand Central Dispatch</a:t>
            </a:r>
          </a:p>
          <a:p>
            <a:pPr lvl="1"/>
            <a:r>
              <a:rPr lang="en-US" altLang="en-US" dirty="0"/>
              <a:t>Intel Threading Building Blocks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Typical usage of threads</a:t>
            </a:r>
          </a:p>
        </p:txBody>
      </p:sp>
      <p:sp>
        <p:nvSpPr>
          <p:cNvPr id="3789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9600" y="5837238"/>
            <a:ext cx="8077200" cy="7921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/>
              <a:t>Creating and terminating thread lead to overheads</a:t>
            </a:r>
          </a:p>
        </p:txBody>
      </p:sp>
      <p:sp>
        <p:nvSpPr>
          <p:cNvPr id="7" name="Flowchart: Decision 6"/>
          <p:cNvSpPr/>
          <p:nvPr/>
        </p:nvSpPr>
        <p:spPr>
          <a:xfrm>
            <a:off x="1371600" y="1905000"/>
            <a:ext cx="2438400" cy="762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3333FF"/>
                </a:solidFill>
              </a:rPr>
              <a:t>Event?</a:t>
            </a:r>
          </a:p>
        </p:txBody>
      </p:sp>
      <p:cxnSp>
        <p:nvCxnSpPr>
          <p:cNvPr id="9" name="Shape 8"/>
          <p:cNvCxnSpPr>
            <a:stCxn id="7" idx="2"/>
            <a:endCxn id="7" idx="0"/>
          </p:cNvCxnSpPr>
          <p:nvPr/>
        </p:nvCxnSpPr>
        <p:spPr>
          <a:xfrm rot="5400000" flipH="1">
            <a:off x="2209801" y="2286000"/>
            <a:ext cx="762000" cy="3175"/>
          </a:xfrm>
          <a:prstGeom prst="bentConnector5">
            <a:avLst>
              <a:gd name="adj1" fmla="val -30000"/>
              <a:gd name="adj2" fmla="val 57571231"/>
              <a:gd name="adj3" fmla="val 13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11"/>
          <p:cNvSpPr txBox="1">
            <a:spLocks noChangeArrowheads="1"/>
          </p:cNvSpPr>
          <p:nvPr/>
        </p:nvSpPr>
        <p:spPr bwMode="auto">
          <a:xfrm>
            <a:off x="406400" y="2832100"/>
            <a:ext cx="2068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 event occurred</a:t>
            </a:r>
          </a:p>
        </p:txBody>
      </p:sp>
      <p:sp>
        <p:nvSpPr>
          <p:cNvPr id="37895" name="TextBox 12"/>
          <p:cNvSpPr txBox="1">
            <a:spLocks noChangeArrowheads="1"/>
          </p:cNvSpPr>
          <p:nvPr/>
        </p:nvSpPr>
        <p:spPr bwMode="auto">
          <a:xfrm>
            <a:off x="3810000" y="198120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event occurred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600" y="3124200"/>
            <a:ext cx="13716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create thread</a:t>
            </a:r>
          </a:p>
        </p:txBody>
      </p:sp>
      <p:cxnSp>
        <p:nvCxnSpPr>
          <p:cNvPr id="16" name="Shape 15"/>
          <p:cNvCxnSpPr>
            <a:stCxn id="7" idx="3"/>
            <a:endCxn id="14" idx="0"/>
          </p:cNvCxnSpPr>
          <p:nvPr/>
        </p:nvCxnSpPr>
        <p:spPr>
          <a:xfrm>
            <a:off x="3810000" y="2286000"/>
            <a:ext cx="914400" cy="8382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038600" y="4038600"/>
            <a:ext cx="13716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Service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8600" y="5029200"/>
            <a:ext cx="13716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terminate</a:t>
            </a:r>
          </a:p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thread</a:t>
            </a:r>
          </a:p>
        </p:txBody>
      </p:sp>
      <p:cxnSp>
        <p:nvCxnSpPr>
          <p:cNvPr id="20" name="Straight Arrow Connector 19"/>
          <p:cNvCxnSpPr>
            <a:stCxn id="14" idx="2"/>
            <a:endCxn id="17" idx="0"/>
          </p:cNvCxnSpPr>
          <p:nvPr/>
        </p:nvCxnSpPr>
        <p:spPr>
          <a:xfrm rot="5400000">
            <a:off x="4572001" y="3886200"/>
            <a:ext cx="30480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2"/>
            <a:endCxn id="18" idx="0"/>
          </p:cNvCxnSpPr>
          <p:nvPr/>
        </p:nvCxnSpPr>
        <p:spPr>
          <a:xfrm rot="5400000">
            <a:off x="4533901" y="4838700"/>
            <a:ext cx="381000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60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Producer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2470"/>
            <a:ext cx="11738781" cy="46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7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5" y="233853"/>
            <a:ext cx="7794167" cy="629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50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8" y="427036"/>
            <a:ext cx="8121994" cy="553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78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0" y="947391"/>
            <a:ext cx="752580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703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16102</TotalTime>
  <Words>1933</Words>
  <Application>Microsoft Office PowerPoint</Application>
  <PresentationFormat>On-screen Show (4:3)</PresentationFormat>
  <Paragraphs>350</Paragraphs>
  <Slides>42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ＭＳ Ｐゴシック</vt:lpstr>
      <vt:lpstr>Arial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Thread  (Light Weight Process)</vt:lpstr>
      <vt:lpstr>Motivation</vt:lpstr>
      <vt:lpstr>Processes</vt:lpstr>
      <vt:lpstr>Threads</vt:lpstr>
      <vt:lpstr>Single and Multithreaded Processes</vt:lpstr>
      <vt:lpstr>Thread Control Block</vt:lpstr>
      <vt:lpstr>Threads as Lightweight processes</vt:lpstr>
      <vt:lpstr>Threads as Lightweight processes</vt:lpstr>
      <vt:lpstr>Context switch</vt:lpstr>
      <vt:lpstr>Motivation</vt:lpstr>
      <vt:lpstr>Multithreaded Server Architecture</vt:lpstr>
      <vt:lpstr>Threads vs Processes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level threads</vt:lpstr>
      <vt:lpstr>Kernel level threads</vt:lpstr>
      <vt:lpstr>User and Kernel Threads</vt:lpstr>
      <vt:lpstr>Multithreading Models</vt:lpstr>
      <vt:lpstr>Many-to-One</vt:lpstr>
      <vt:lpstr>One-to-One</vt:lpstr>
      <vt:lpstr>Many-to-Many Model</vt:lpstr>
      <vt:lpstr>Pthreads</vt:lpstr>
      <vt:lpstr>Pthreads Data stucture</vt:lpstr>
      <vt:lpstr>Thread functions</vt:lpstr>
      <vt:lpstr>pthread library</vt:lpstr>
      <vt:lpstr>pthread library contd.</vt:lpstr>
      <vt:lpstr>pthread library contd.</vt:lpstr>
      <vt:lpstr>Example</vt:lpstr>
      <vt:lpstr>…</vt:lpstr>
      <vt:lpstr>Example</vt:lpstr>
      <vt:lpstr>Pthreads Code for Joining 10 Threads</vt:lpstr>
      <vt:lpstr>Implicit Threading</vt:lpstr>
      <vt:lpstr>Typical usage of threads</vt:lpstr>
      <vt:lpstr>Producer Consumer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Ankit Yadav</cp:lastModifiedBy>
  <cp:revision>271</cp:revision>
  <cp:lastPrinted>2013-09-10T17:57:57Z</cp:lastPrinted>
  <dcterms:created xsi:type="dcterms:W3CDTF">2011-01-13T23:43:38Z</dcterms:created>
  <dcterms:modified xsi:type="dcterms:W3CDTF">2026-03-13T11:43:59Z</dcterms:modified>
</cp:coreProperties>
</file>