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8" r:id="rId3"/>
  </p:sldMasterIdLst>
  <p:notesMasterIdLst>
    <p:notesMasterId r:id="rId62"/>
  </p:notes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FF309E-809E-4CC2-8E44-FCB666590D65}" type="datetimeFigureOut">
              <a:rPr lang="en-US" smtClean="0"/>
              <a:t>6/11/2021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FF3E7-8207-44B3-BC01-A8AB4940D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35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 txBox="1"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05197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 txBox="1"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>
                <a:latin typeface="Times New Roman" pitchFamily="18" charset="0"/>
                <a:ea typeface="ＭＳ Ｐゴシック" pitchFamily="34" charset="-128"/>
              </a:rPr>
              <a:t>Until now we have assumed that the training data is labeled.</a:t>
            </a:r>
          </a:p>
          <a:p>
            <a:r>
              <a:rPr lang="en-US" altLang="en-US" smtClean="0">
                <a:latin typeface="Times New Roman" pitchFamily="18" charset="0"/>
                <a:ea typeface="ＭＳ Ｐゴシック" pitchFamily="34" charset="-128"/>
              </a:rPr>
              <a:t>Now we look at what can we do with data when we have not labels.</a:t>
            </a:r>
          </a:p>
          <a:p>
            <a:r>
              <a:rPr lang="en-US" altLang="en-US" smtClean="0">
                <a:latin typeface="Times New Roman" pitchFamily="18" charset="0"/>
                <a:ea typeface="ＭＳ Ｐゴシック" pitchFamily="34" charset="-128"/>
              </a:rPr>
              <a:t>\item Example: group customer behavior, find similar buying patterns.</a:t>
            </a:r>
          </a:p>
        </p:txBody>
      </p:sp>
    </p:spTree>
    <p:extLst>
      <p:ext uri="{BB962C8B-B14F-4D97-AF65-F5344CB8AC3E}">
        <p14:creationId xmlns:p14="http://schemas.microsoft.com/office/powerpoint/2010/main" val="2494458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63538" y="701675"/>
            <a:ext cx="6115050" cy="34401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Text Box 3"/>
          <p:cNvSpPr txBox="1"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 smtClean="0">
                <a:latin typeface="Times New Roman" pitchFamily="18" charset="0"/>
                <a:ea typeface="ＭＳ Ｐゴシック" pitchFamily="34" charset="-128"/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607710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 txBox="1"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>
                <a:latin typeface="Times New Roman" pitchFamily="18" charset="0"/>
                <a:ea typeface="ＭＳ Ｐゴシック" pitchFamily="34" charset="-128"/>
              </a:rPr>
              <a:t>Have class break into groups and invent clustering algorithms.</a:t>
            </a:r>
          </a:p>
        </p:txBody>
      </p:sp>
    </p:spTree>
    <p:extLst>
      <p:ext uri="{BB962C8B-B14F-4D97-AF65-F5344CB8AC3E}">
        <p14:creationId xmlns:p14="http://schemas.microsoft.com/office/powerpoint/2010/main" val="1081825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 txBox="1"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>
                <a:latin typeface="Times New Roman" pitchFamily="18" charset="0"/>
                <a:ea typeface="ＭＳ Ｐゴシック" pitchFamily="34" charset="-128"/>
              </a:rPr>
              <a:t>In this case, the two highly separated subtrees are highly suggestive of two clusters. </a:t>
            </a:r>
            <a:r>
              <a:rPr lang="en-US" altLang="en-US" sz="1100" smtClean="0">
                <a:solidFill>
                  <a:schemeClr val="bg2"/>
                </a:solidFill>
                <a:latin typeface="Times New Roman" pitchFamily="18" charset="0"/>
                <a:ea typeface="ＭＳ Ｐゴシック" pitchFamily="34" charset="-128"/>
              </a:rPr>
              <a:t>(Things are rarely this clear cut, unfortunately)</a:t>
            </a:r>
            <a:endParaRPr lang="en-US" altLang="en-US" smtClean="0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08669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 txBox="1"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3654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026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600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11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19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241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841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93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152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28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188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B1D8-A1EA-4A29-8348-8F2F9E5BC3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148D7-9FE9-46C7-8913-6D48B335351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069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069B28-1C45-4855-94D8-106B4843F8F3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03607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A9AA4C-28D0-4DD7-A963-CE92875767D6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21010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E8287A-09D8-4CF4-9090-D7D5504F6EAE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425449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10F651-B859-4A98-A7D2-A2E3BC9B8F3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86282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93A9F6-9E94-4EB7-8103-7D6ED0A77E4D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421090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65AFFA-DBF0-48A4-9F1F-1C5A3C31EB8E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079889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93148-7F7E-45FB-AEDF-420B1CD3F6C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599356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FEF1F-55CA-4EE5-8DBA-5685604D7CE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56915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1656C-DE48-4680-8762-467A91CF5121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03312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F7EEF8-7A20-4AE7-93F3-04B46B38CAE7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32484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BAEC1B-AF36-4B1F-93BB-B99066D0571D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733002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F5B29A-F5FE-49C1-94F8-0B56372D9563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473811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2E5DDD-BF87-4F16-B283-5AA552939CD3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386403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25400"/>
            <a:ext cx="11379200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13716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96000" y="13716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0" y="3505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560211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15" y="304800"/>
            <a:ext cx="9519139" cy="1066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28617" y="1676400"/>
            <a:ext cx="9567985" cy="41910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val="28946130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069B28-1C45-4855-94D8-106B4843F8F3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427169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A9AA4C-28D0-4DD7-A963-CE92875767D6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707559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E8287A-09D8-4CF4-9090-D7D5504F6EAE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176983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10F651-B859-4A98-A7D2-A2E3BC9B8F3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898178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93A9F6-9E94-4EB7-8103-7D6ED0A77E4D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573415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65AFFA-DBF0-48A4-9F1F-1C5A3C31EB8E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759157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93148-7F7E-45FB-AEDF-420B1CD3F6C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579831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FEF1F-55CA-4EE5-8DBA-5685604D7CE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224465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1656C-DE48-4680-8762-467A91CF5121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677530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F7EEF8-7A20-4AE7-93F3-04B46B38CAE7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170128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BAEC1B-AF36-4B1F-93BB-B99066D0571D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982451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F5B29A-F5FE-49C1-94F8-0B56372D9563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955018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2E5DDD-BF87-4F16-B283-5AA552939CD3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946602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25400"/>
            <a:ext cx="11379200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13716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96000" y="13716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0" y="3505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960519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15" y="304800"/>
            <a:ext cx="9519139" cy="1066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28617" y="1676400"/>
            <a:ext cx="9567985" cy="41910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val="3902026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7B1D8-A1EA-4A29-8348-8F2F9E5BC3B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148D7-9FE9-46C7-8913-6D48B335351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051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C8C4CCB-BE5D-4415-A1F1-1D526FBDEA35}" type="slidenum">
              <a:rPr lang="en-US" altLang="en-US" smtClean="0">
                <a:solidFill>
                  <a:srgbClr val="000000"/>
                </a:solidFill>
                <a:ea typeface="SimSun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smtClean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9439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C8C4CCB-BE5D-4415-A1F1-1D526FBDEA35}" type="slidenum">
              <a:rPr lang="en-US" altLang="en-US" smtClean="0">
                <a:solidFill>
                  <a:srgbClr val="000000"/>
                </a:solidFill>
                <a:ea typeface="SimSun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smtClean="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4845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wmf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14.png"/><Relationship Id="rId7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6.jpe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hyperlink" Target="http://images.google.com/imgres?imgurl=www.intheteam.com/images/club/50/brazil_flag.gif&amp;imgrefurl=http://www.intheteam.com/home/home.asp?ClubId=50&amp;h=144&amp;w=216&amp;prev=/images?q=brazil+flag&amp;start=20&amp;svnum=10&amp;hl=en&amp;lr=&amp;ie=UTF-8&amp;oe=UTF-8&amp;sa=N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hyperlink" Target="http://www.theodora.com/maps/australia_maps.html" TargetMode="External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9.png"/><Relationship Id="rId7" Type="http://schemas.openxmlformats.org/officeDocument/2006/relationships/image" Target="../media/image1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6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12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4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9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0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1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3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54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57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7" Type="http://schemas.openxmlformats.org/officeDocument/2006/relationships/image" Target="../media/image63.wmf"/><Relationship Id="rId2" Type="http://schemas.openxmlformats.org/officeDocument/2006/relationships/image" Target="../media/image58.wmf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7" Type="http://schemas.openxmlformats.org/officeDocument/2006/relationships/image" Target="../media/image63.wmf"/><Relationship Id="rId2" Type="http://schemas.openxmlformats.org/officeDocument/2006/relationships/image" Target="../media/image58.wmf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71.png"/><Relationship Id="rId5" Type="http://schemas.openxmlformats.org/officeDocument/2006/relationships/image" Target="../media/image69.wmf"/><Relationship Id="rId4" Type="http://schemas.openxmlformats.org/officeDocument/2006/relationships/oleObject" Target="../embeddings/oleObject7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3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1981200" y="2667001"/>
            <a:ext cx="7772400" cy="841375"/>
          </a:xfrm>
        </p:spPr>
        <p:txBody>
          <a:bodyPr/>
          <a:lstStyle/>
          <a:p>
            <a:pPr algn="ctr"/>
            <a:r>
              <a:rPr lang="en-US" altLang="en-US" sz="4000" dirty="0"/>
              <a:t>Pattern Clustering: Introduction</a:t>
            </a:r>
          </a:p>
        </p:txBody>
      </p:sp>
      <p:sp>
        <p:nvSpPr>
          <p:cNvPr id="2051" name="Subtitle 2"/>
          <p:cNvSpPr>
            <a:spLocks noGrp="1"/>
          </p:cNvSpPr>
          <p:nvPr>
            <p:ph type="subTitle" idx="1"/>
          </p:nvPr>
        </p:nvSpPr>
        <p:spPr>
          <a:xfrm>
            <a:off x="6324600" y="6248400"/>
            <a:ext cx="4267200" cy="457200"/>
          </a:xfrm>
        </p:spPr>
        <p:txBody>
          <a:bodyPr>
            <a:noAutofit/>
          </a:bodyPr>
          <a:lstStyle/>
          <a:p>
            <a:r>
              <a:rPr lang="en-US" altLang="en-US" sz="1400" dirty="0">
                <a:solidFill>
                  <a:schemeClr val="bg2">
                    <a:lumMod val="25000"/>
                  </a:schemeClr>
                </a:solidFill>
              </a:rPr>
              <a:t>Some slides from: Dr. Carla </a:t>
            </a:r>
            <a:r>
              <a:rPr lang="en-US" altLang="en-US" sz="1400" dirty="0" err="1">
                <a:solidFill>
                  <a:schemeClr val="bg2">
                    <a:lumMod val="25000"/>
                  </a:schemeClr>
                </a:solidFill>
              </a:rPr>
              <a:t>Brodley</a:t>
            </a:r>
            <a:r>
              <a:rPr lang="en-US" altLang="en-US" sz="1400" dirty="0">
                <a:solidFill>
                  <a:schemeClr val="bg2">
                    <a:lumMod val="25000"/>
                  </a:schemeClr>
                </a:solidFill>
              </a:rPr>
              <a:t>, Tufts University</a:t>
            </a:r>
          </a:p>
        </p:txBody>
      </p:sp>
    </p:spTree>
    <p:extLst>
      <p:ext uri="{BB962C8B-B14F-4D97-AF65-F5344CB8AC3E}">
        <p14:creationId xmlns:p14="http://schemas.microsoft.com/office/powerpoint/2010/main" val="3948547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0574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What is Cluster Analysis?</a:t>
            </a:r>
          </a:p>
        </p:txBody>
      </p:sp>
      <p:sp>
        <p:nvSpPr>
          <p:cNvPr id="133123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935163" y="1143000"/>
            <a:ext cx="8318500" cy="1295400"/>
          </a:xfrm>
        </p:spPr>
        <p:txBody>
          <a:bodyPr/>
          <a:lstStyle/>
          <a:p>
            <a:pPr eaLnBrk="1" hangingPunct="1"/>
            <a:r>
              <a:rPr lang="en-US" altLang="en-US" sz="2400"/>
              <a:t>Finding groups of objects such that the objects in a group will be similar (or related) to one another and different from (or unrelated to) the objects in other groups</a:t>
            </a:r>
          </a:p>
        </p:txBody>
      </p:sp>
      <p:grpSp>
        <p:nvGrpSpPr>
          <p:cNvPr id="133124" name="Group 6"/>
          <p:cNvGrpSpPr>
            <a:grpSpLocks/>
          </p:cNvGrpSpPr>
          <p:nvPr/>
        </p:nvGrpSpPr>
        <p:grpSpPr bwMode="auto">
          <a:xfrm>
            <a:off x="4800600" y="3570288"/>
            <a:ext cx="3048000" cy="2678112"/>
            <a:chOff x="2160" y="2544"/>
            <a:chExt cx="1920" cy="1687"/>
          </a:xfrm>
        </p:grpSpPr>
        <p:sp>
          <p:nvSpPr>
            <p:cNvPr id="133135" name="Line 7"/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133136" name="Line 8"/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133137" name="Freeform 9"/>
            <p:cNvSpPr>
              <a:spLocks/>
            </p:cNvSpPr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  <a:gd name="T4" fmla="*/ 0 60000 65536"/>
                <a:gd name="T5" fmla="*/ 0 60000 65536"/>
                <a:gd name="T6" fmla="*/ 0 w 510"/>
                <a:gd name="T7" fmla="*/ 0 h 535"/>
                <a:gd name="T8" fmla="*/ 510 w 510"/>
                <a:gd name="T9" fmla="*/ 535 h 5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38" name="AutoShape 10"/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39" name="AutoShape 11"/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40" name="AutoShape 12"/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41" name="AutoShape 13"/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42" name="AutoShape 14"/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43" name="AutoShape 15"/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44" name="AutoShape 16"/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45" name="AutoShape 17"/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46" name="AutoShape 18"/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47" name="AutoShape 19"/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48" name="AutoShape 20"/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49" name="AutoShape 21"/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50" name="AutoShape 22"/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51" name="AutoShape 23"/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52" name="AutoShape 24"/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53" name="AutoShape 25"/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54" name="AutoShape 26"/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55" name="AutoShape 27"/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56" name="AutoShape 28"/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57" name="AutoShape 29"/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58" name="AutoShape 30"/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59" name="AutoShape 31"/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60" name="AutoShape 32"/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6781800" y="2667000"/>
            <a:ext cx="3048000" cy="2514600"/>
            <a:chOff x="3312" y="1584"/>
            <a:chExt cx="1920" cy="1584"/>
          </a:xfrm>
        </p:grpSpPr>
        <p:sp>
          <p:nvSpPr>
            <p:cNvPr id="133133" name="Line 34"/>
            <p:cNvSpPr>
              <a:spLocks noChangeShapeType="1"/>
            </p:cNvSpPr>
            <p:nvPr/>
          </p:nvSpPr>
          <p:spPr bwMode="auto">
            <a:xfrm flipH="1" flipV="1">
              <a:off x="3312" y="2736"/>
              <a:ext cx="144" cy="432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133134" name="AutoShape 35"/>
            <p:cNvSpPr>
              <a:spLocks noChangeArrowheads="1"/>
            </p:cNvSpPr>
            <p:nvPr/>
          </p:nvSpPr>
          <p:spPr bwMode="auto">
            <a:xfrm>
              <a:off x="3984" y="1584"/>
              <a:ext cx="1248" cy="672"/>
            </a:xfrm>
            <a:prstGeom prst="wedgeRectCallout">
              <a:avLst>
                <a:gd name="adj1" fmla="val -93509"/>
                <a:gd name="adj2" fmla="val 150894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latin typeface="Tahoma" panose="020B0604030504040204" pitchFamily="34" charset="0"/>
                </a:rPr>
                <a:t>Inter-cluster distances are maximized</a:t>
              </a: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4419600" y="3657600"/>
            <a:ext cx="3276600" cy="2286000"/>
            <a:chOff x="1824" y="2208"/>
            <a:chExt cx="2064" cy="1440"/>
          </a:xfrm>
        </p:grpSpPr>
        <p:sp>
          <p:nvSpPr>
            <p:cNvPr id="133130" name="Oval 37"/>
            <p:cNvSpPr>
              <a:spLocks noChangeArrowheads="1"/>
            </p:cNvSpPr>
            <p:nvPr/>
          </p:nvSpPr>
          <p:spPr bwMode="auto">
            <a:xfrm>
              <a:off x="1824" y="2592"/>
              <a:ext cx="816" cy="720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31" name="Oval 38"/>
            <p:cNvSpPr>
              <a:spLocks noChangeArrowheads="1"/>
            </p:cNvSpPr>
            <p:nvPr/>
          </p:nvSpPr>
          <p:spPr bwMode="auto">
            <a:xfrm>
              <a:off x="2928" y="2208"/>
              <a:ext cx="720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  <p:sp>
          <p:nvSpPr>
            <p:cNvPr id="133132" name="Oval 39"/>
            <p:cNvSpPr>
              <a:spLocks noChangeArrowheads="1"/>
            </p:cNvSpPr>
            <p:nvPr/>
          </p:nvSpPr>
          <p:spPr bwMode="auto">
            <a:xfrm>
              <a:off x="3216" y="3024"/>
              <a:ext cx="672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 sz="1400" b="1">
                <a:solidFill>
                  <a:srgbClr val="000000"/>
                </a:solidFill>
              </a:endParaRPr>
            </a:p>
          </p:txBody>
        </p:sp>
      </p:grp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2819400" y="2971800"/>
            <a:ext cx="2286000" cy="1676400"/>
            <a:chOff x="816" y="1776"/>
            <a:chExt cx="1440" cy="1056"/>
          </a:xfrm>
        </p:grpSpPr>
        <p:sp>
          <p:nvSpPr>
            <p:cNvPr id="133128" name="Line 41"/>
            <p:cNvSpPr>
              <a:spLocks noChangeShapeType="1"/>
            </p:cNvSpPr>
            <p:nvPr/>
          </p:nvSpPr>
          <p:spPr bwMode="auto">
            <a:xfrm flipV="1">
              <a:off x="2064" y="2736"/>
              <a:ext cx="192" cy="96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133129" name="AutoShape 42"/>
            <p:cNvSpPr>
              <a:spLocks noChangeArrowheads="1"/>
            </p:cNvSpPr>
            <p:nvPr/>
          </p:nvSpPr>
          <p:spPr bwMode="auto">
            <a:xfrm>
              <a:off x="816" y="1776"/>
              <a:ext cx="1248" cy="672"/>
            </a:xfrm>
            <a:prstGeom prst="wedgeRectCallout">
              <a:avLst>
                <a:gd name="adj1" fmla="val 56250"/>
                <a:gd name="adj2" fmla="val 92856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2000">
                  <a:solidFill>
                    <a:srgbClr val="000000"/>
                  </a:solidFill>
                  <a:latin typeface="Tahoma" panose="020B0604030504040204" pitchFamily="34" charset="0"/>
                </a:rPr>
                <a:t>Intra-cluster distances are minimized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936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Font typeface="Futura Bk" charset="0"/>
              <a:buNone/>
              <a:defRPr/>
            </a:pPr>
            <a:r>
              <a:rPr lang="en-US" dirty="0" smtClean="0">
                <a:cs typeface="+mj-cs"/>
              </a:rPr>
              <a:t>Why cluster?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Labeling is expensive</a:t>
            </a:r>
          </a:p>
          <a:p>
            <a:pPr eaLnBrk="1" hangingPunct="1"/>
            <a:r>
              <a:rPr lang="en-US" altLang="en-US" smtClean="0"/>
              <a:t>Gain insight into the structure of the data</a:t>
            </a:r>
          </a:p>
          <a:p>
            <a:pPr eaLnBrk="1" hangingPunct="1"/>
            <a:r>
              <a:rPr lang="en-US" altLang="en-US" smtClean="0"/>
              <a:t>Find prototypes in the data</a:t>
            </a:r>
          </a:p>
        </p:txBody>
      </p:sp>
    </p:spTree>
    <p:extLst>
      <p:ext uri="{BB962C8B-B14F-4D97-AF65-F5344CB8AC3E}">
        <p14:creationId xmlns:p14="http://schemas.microsoft.com/office/powerpoint/2010/main" val="3139627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666749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Goal of Clustering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52625" y="1323975"/>
            <a:ext cx="8262938" cy="5018088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mtClean="0"/>
              <a:t>Given a set of data points, each described by a set of attributes, find clusters such that:</a:t>
            </a:r>
          </a:p>
          <a:p>
            <a:pPr eaLnBrk="1" hangingPunct="1"/>
            <a:endParaRPr lang="en-US" altLang="en-US" smtClean="0"/>
          </a:p>
          <a:p>
            <a:pPr lvl="1" eaLnBrk="1" hangingPunct="1"/>
            <a:r>
              <a:rPr lang="en-US" altLang="en-US" smtClean="0"/>
              <a:t>Inter-cluster similarity is </a:t>
            </a:r>
          </a:p>
          <a:p>
            <a:pPr lvl="1" eaLnBrk="1" hangingPunct="1">
              <a:buFont typeface="Times" pitchFamily="-111" charset="0"/>
              <a:buNone/>
            </a:pPr>
            <a:r>
              <a:rPr lang="en-US" altLang="en-US" smtClean="0"/>
              <a:t>   maximized</a:t>
            </a:r>
          </a:p>
          <a:p>
            <a:pPr lvl="1" eaLnBrk="1" hangingPunct="1"/>
            <a:endParaRPr lang="en-US" altLang="en-US" smtClean="0"/>
          </a:p>
          <a:p>
            <a:pPr lvl="1" eaLnBrk="1" hangingPunct="1"/>
            <a:r>
              <a:rPr lang="en-US" altLang="en-US" smtClean="0"/>
              <a:t>Intra-cluster similarity is </a:t>
            </a:r>
          </a:p>
          <a:p>
            <a:pPr lvl="1" eaLnBrk="1" hangingPunct="1">
              <a:buFont typeface="Times" pitchFamily="-111" charset="0"/>
              <a:buNone/>
            </a:pPr>
            <a:r>
              <a:rPr lang="en-US" altLang="en-US" smtClean="0"/>
              <a:t>   minimized </a:t>
            </a:r>
          </a:p>
          <a:p>
            <a:pPr lvl="1"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Requires the definition of a similarity measure</a:t>
            </a:r>
          </a:p>
        </p:txBody>
      </p:sp>
      <p:sp>
        <p:nvSpPr>
          <p:cNvPr id="7172" name="Line 4"/>
          <p:cNvSpPr>
            <a:spLocks noChangeShapeType="1"/>
          </p:cNvSpPr>
          <p:nvPr/>
        </p:nvSpPr>
        <p:spPr bwMode="auto">
          <a:xfrm>
            <a:off x="7400925" y="2435226"/>
            <a:ext cx="1588" cy="2138363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173" name="Line 5"/>
          <p:cNvSpPr>
            <a:spLocks noChangeShapeType="1"/>
          </p:cNvSpPr>
          <p:nvPr/>
        </p:nvSpPr>
        <p:spPr bwMode="auto">
          <a:xfrm>
            <a:off x="7400925" y="4573589"/>
            <a:ext cx="2438400" cy="158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6657975" y="2565400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F1</a:t>
            </a: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9077325" y="4767263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F2</a:t>
            </a:r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7766050" y="28844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x</a:t>
            </a:r>
          </a:p>
        </p:txBody>
      </p:sp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7673975" y="29622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x</a:t>
            </a: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8010525" y="29368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x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7918450" y="30416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x</a:t>
            </a:r>
          </a:p>
        </p:txBody>
      </p:sp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7826375" y="31654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xx</a:t>
            </a: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8162925" y="27082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x</a:t>
            </a: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8315325" y="28606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x</a:t>
            </a:r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8255000" y="30892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x</a:t>
            </a:r>
          </a:p>
        </p:txBody>
      </p:sp>
      <p:sp>
        <p:nvSpPr>
          <p:cNvPr id="7184" name="Text Box 16"/>
          <p:cNvSpPr txBox="1">
            <a:spLocks noChangeArrowheads="1"/>
          </p:cNvSpPr>
          <p:nvPr/>
        </p:nvSpPr>
        <p:spPr bwMode="auto">
          <a:xfrm>
            <a:off x="7918450" y="28336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x</a:t>
            </a:r>
          </a:p>
        </p:txBody>
      </p:sp>
      <p:sp>
        <p:nvSpPr>
          <p:cNvPr id="7185" name="Text Box 17"/>
          <p:cNvSpPr txBox="1">
            <a:spLocks noChangeArrowheads="1"/>
          </p:cNvSpPr>
          <p:nvPr/>
        </p:nvSpPr>
        <p:spPr bwMode="auto">
          <a:xfrm>
            <a:off x="8836025" y="35210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x</a:t>
            </a:r>
          </a:p>
        </p:txBody>
      </p:sp>
      <p:sp>
        <p:nvSpPr>
          <p:cNvPr id="7186" name="Text Box 18"/>
          <p:cNvSpPr txBox="1">
            <a:spLocks noChangeArrowheads="1"/>
          </p:cNvSpPr>
          <p:nvPr/>
        </p:nvSpPr>
        <p:spPr bwMode="auto">
          <a:xfrm>
            <a:off x="8743950" y="35988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x</a:t>
            </a:r>
          </a:p>
        </p:txBody>
      </p:sp>
      <p:sp>
        <p:nvSpPr>
          <p:cNvPr id="7187" name="Text Box 19"/>
          <p:cNvSpPr txBox="1">
            <a:spLocks noChangeArrowheads="1"/>
          </p:cNvSpPr>
          <p:nvPr/>
        </p:nvSpPr>
        <p:spPr bwMode="auto">
          <a:xfrm>
            <a:off x="9080500" y="357346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x</a:t>
            </a:r>
          </a:p>
        </p:txBody>
      </p:sp>
      <p:sp>
        <p:nvSpPr>
          <p:cNvPr id="7188" name="Text Box 20"/>
          <p:cNvSpPr txBox="1">
            <a:spLocks noChangeArrowheads="1"/>
          </p:cNvSpPr>
          <p:nvPr/>
        </p:nvSpPr>
        <p:spPr bwMode="auto">
          <a:xfrm>
            <a:off x="8988425" y="367823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x</a:t>
            </a:r>
          </a:p>
        </p:txBody>
      </p:sp>
      <p:sp>
        <p:nvSpPr>
          <p:cNvPr id="7189" name="Text Box 21"/>
          <p:cNvSpPr txBox="1">
            <a:spLocks noChangeArrowheads="1"/>
          </p:cNvSpPr>
          <p:nvPr/>
        </p:nvSpPr>
        <p:spPr bwMode="auto">
          <a:xfrm>
            <a:off x="8896350" y="3802063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xx</a:t>
            </a:r>
          </a:p>
        </p:txBody>
      </p:sp>
      <p:sp>
        <p:nvSpPr>
          <p:cNvPr id="7190" name="Text Box 22"/>
          <p:cNvSpPr txBox="1">
            <a:spLocks noChangeArrowheads="1"/>
          </p:cNvSpPr>
          <p:nvPr/>
        </p:nvSpPr>
        <p:spPr bwMode="auto">
          <a:xfrm>
            <a:off x="9156700" y="389572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x</a:t>
            </a:r>
          </a:p>
        </p:txBody>
      </p:sp>
      <p:sp>
        <p:nvSpPr>
          <p:cNvPr id="7191" name="Text Box 23"/>
          <p:cNvSpPr txBox="1">
            <a:spLocks noChangeArrowheads="1"/>
          </p:cNvSpPr>
          <p:nvPr/>
        </p:nvSpPr>
        <p:spPr bwMode="auto">
          <a:xfrm>
            <a:off x="8728075" y="37480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x</a:t>
            </a:r>
          </a:p>
        </p:txBody>
      </p:sp>
      <p:sp>
        <p:nvSpPr>
          <p:cNvPr id="7192" name="Text Box 24"/>
          <p:cNvSpPr txBox="1">
            <a:spLocks noChangeArrowheads="1"/>
          </p:cNvSpPr>
          <p:nvPr/>
        </p:nvSpPr>
        <p:spPr bwMode="auto">
          <a:xfrm>
            <a:off x="8988425" y="34702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569861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0" y="19351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524000" y="21717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0" y="2200276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grpSp>
        <p:nvGrpSpPr>
          <p:cNvPr id="8197" name="Group 5"/>
          <p:cNvGrpSpPr>
            <a:grpSpLocks/>
          </p:cNvGrpSpPr>
          <p:nvPr/>
        </p:nvGrpSpPr>
        <p:grpSpPr bwMode="auto">
          <a:xfrm>
            <a:off x="1581150" y="1019175"/>
            <a:ext cx="9144000" cy="2243138"/>
            <a:chOff x="36" y="642"/>
            <a:chExt cx="5760" cy="1413"/>
          </a:xfrm>
        </p:grpSpPr>
        <p:pic>
          <p:nvPicPr>
            <p:cNvPr id="8201" name="Picture 6" descr="Edna Krabappe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" y="789"/>
              <a:ext cx="513" cy="1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02" name="Picture 7" descr="Principal Seymour  Skinne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4" y="828"/>
              <a:ext cx="514" cy="1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3" name="Rectangle 8"/>
            <p:cNvSpPr>
              <a:spLocks noChangeArrowheads="1"/>
            </p:cNvSpPr>
            <p:nvPr/>
          </p:nvSpPr>
          <p:spPr bwMode="auto">
            <a:xfrm>
              <a:off x="36" y="1365"/>
              <a:ext cx="576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pic>
          <p:nvPicPr>
            <p:cNvPr id="8204" name="Picture 9" descr="Groundskeeper Willi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3" y="920"/>
              <a:ext cx="569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05" name="Picture 1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9" y="865"/>
              <a:ext cx="635" cy="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06" name="Picture 1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5" y="753"/>
              <a:ext cx="580" cy="1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07" name="Picture 1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" y="806"/>
              <a:ext cx="592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08" name="Picture 1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7" y="1090"/>
              <a:ext cx="454" cy="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09" name="Picture 14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5" y="1096"/>
              <a:ext cx="306" cy="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10" name="Picture 15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1" y="642"/>
              <a:ext cx="459" cy="1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198" name="Rectangle 16"/>
          <p:cNvSpPr>
            <a:spLocks noChangeArrowheads="1"/>
          </p:cNvSpPr>
          <p:nvPr/>
        </p:nvSpPr>
        <p:spPr bwMode="auto">
          <a:xfrm>
            <a:off x="3924300" y="3776664"/>
            <a:ext cx="541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57713" name="Text Box 17"/>
          <p:cNvSpPr txBox="1">
            <a:spLocks noChangeArrowheads="1"/>
          </p:cNvSpPr>
          <p:nvPr/>
        </p:nvSpPr>
        <p:spPr bwMode="auto">
          <a:xfrm>
            <a:off x="1581151" y="180976"/>
            <a:ext cx="71913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defRPr/>
            </a:pPr>
            <a:r>
              <a:rPr lang="en-US" altLang="en-US" sz="2800">
                <a:solidFill>
                  <a:srgbClr val="1F497D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What is a natural grouping of these objects?</a:t>
            </a:r>
          </a:p>
        </p:txBody>
      </p:sp>
      <p:sp>
        <p:nvSpPr>
          <p:cNvPr id="8200" name="TextBox 17"/>
          <p:cNvSpPr txBox="1">
            <a:spLocks noChangeArrowheads="1"/>
          </p:cNvSpPr>
          <p:nvPr/>
        </p:nvSpPr>
        <p:spPr bwMode="auto">
          <a:xfrm>
            <a:off x="1581151" y="649289"/>
            <a:ext cx="2879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from Eamonn Keogh</a:t>
            </a:r>
          </a:p>
        </p:txBody>
      </p:sp>
    </p:spTree>
    <p:extLst>
      <p:ext uri="{BB962C8B-B14F-4D97-AF65-F5344CB8AC3E}">
        <p14:creationId xmlns:p14="http://schemas.microsoft.com/office/powerpoint/2010/main" val="3384089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1524000" y="3530600"/>
            <a:ext cx="9144000" cy="332740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1524000" y="19351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1524000" y="2171701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1524000" y="2200276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grpSp>
        <p:nvGrpSpPr>
          <p:cNvPr id="9222" name="Group 6"/>
          <p:cNvGrpSpPr>
            <a:grpSpLocks/>
          </p:cNvGrpSpPr>
          <p:nvPr/>
        </p:nvGrpSpPr>
        <p:grpSpPr bwMode="auto">
          <a:xfrm>
            <a:off x="1581150" y="1019175"/>
            <a:ext cx="9144000" cy="2243138"/>
            <a:chOff x="36" y="642"/>
            <a:chExt cx="5760" cy="1413"/>
          </a:xfrm>
        </p:grpSpPr>
        <p:pic>
          <p:nvPicPr>
            <p:cNvPr id="9258" name="Picture 7" descr="Edna Krabappe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" y="789"/>
              <a:ext cx="513" cy="1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59" name="Picture 8" descr="Principal Seymour  Skinne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4" y="828"/>
              <a:ext cx="514" cy="1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60" name="Rectangle 9"/>
            <p:cNvSpPr>
              <a:spLocks noChangeArrowheads="1"/>
            </p:cNvSpPr>
            <p:nvPr/>
          </p:nvSpPr>
          <p:spPr bwMode="auto">
            <a:xfrm>
              <a:off x="36" y="1365"/>
              <a:ext cx="576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pic>
          <p:nvPicPr>
            <p:cNvPr id="9261" name="Picture 10" descr="Groundskeeper Willi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3" y="920"/>
              <a:ext cx="569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62" name="Picture 1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9" y="865"/>
              <a:ext cx="635" cy="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63" name="Picture 1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5" y="753"/>
              <a:ext cx="580" cy="1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64" name="Picture 1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" y="806"/>
              <a:ext cx="592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65" name="Picture 14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7" y="1090"/>
              <a:ext cx="454" cy="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66" name="Picture 15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5" y="1096"/>
              <a:ext cx="306" cy="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67" name="Picture 16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1" y="642"/>
              <a:ext cx="459" cy="1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223" name="Rectangle 18"/>
          <p:cNvSpPr>
            <a:spLocks noChangeArrowheads="1"/>
          </p:cNvSpPr>
          <p:nvPr/>
        </p:nvSpPr>
        <p:spPr bwMode="auto">
          <a:xfrm>
            <a:off x="3924300" y="3776664"/>
            <a:ext cx="541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grpSp>
        <p:nvGrpSpPr>
          <p:cNvPr id="9224" name="Group 19"/>
          <p:cNvGrpSpPr>
            <a:grpSpLocks/>
          </p:cNvGrpSpPr>
          <p:nvPr/>
        </p:nvGrpSpPr>
        <p:grpSpPr bwMode="auto">
          <a:xfrm>
            <a:off x="1674813" y="3910013"/>
            <a:ext cx="8743950" cy="2481262"/>
            <a:chOff x="96" y="2583"/>
            <a:chExt cx="5508" cy="1563"/>
          </a:xfrm>
        </p:grpSpPr>
        <p:grpSp>
          <p:nvGrpSpPr>
            <p:cNvPr id="9232" name="Group 20"/>
            <p:cNvGrpSpPr>
              <a:grpSpLocks/>
            </p:cNvGrpSpPr>
            <p:nvPr/>
          </p:nvGrpSpPr>
          <p:grpSpPr bwMode="auto">
            <a:xfrm>
              <a:off x="120" y="2802"/>
              <a:ext cx="5484" cy="1344"/>
              <a:chOff x="120" y="2802"/>
              <a:chExt cx="5484" cy="1344"/>
            </a:xfrm>
          </p:grpSpPr>
          <p:grpSp>
            <p:nvGrpSpPr>
              <p:cNvPr id="9252" name="Group 21"/>
              <p:cNvGrpSpPr>
                <a:grpSpLocks/>
              </p:cNvGrpSpPr>
              <p:nvPr/>
            </p:nvGrpSpPr>
            <p:grpSpPr bwMode="auto">
              <a:xfrm>
                <a:off x="120" y="2802"/>
                <a:ext cx="2286" cy="1344"/>
                <a:chOff x="156" y="2634"/>
                <a:chExt cx="2286" cy="1344"/>
              </a:xfrm>
            </p:grpSpPr>
            <p:sp>
              <p:nvSpPr>
                <p:cNvPr id="9256" name="Rectangle 22"/>
                <p:cNvSpPr>
                  <a:spLocks noChangeArrowheads="1"/>
                </p:cNvSpPr>
                <p:nvPr/>
              </p:nvSpPr>
              <p:spPr bwMode="auto">
                <a:xfrm>
                  <a:off x="156" y="2634"/>
                  <a:ext cx="1080" cy="1344"/>
                </a:xfrm>
                <a:prstGeom prst="rect">
                  <a:avLst/>
                </a:prstGeom>
                <a:solidFill>
                  <a:srgbClr val="FFFFFF"/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257" name="Rectangle 23"/>
                <p:cNvSpPr>
                  <a:spLocks noChangeArrowheads="1"/>
                </p:cNvSpPr>
                <p:nvPr/>
              </p:nvSpPr>
              <p:spPr bwMode="auto">
                <a:xfrm>
                  <a:off x="1362" y="2634"/>
                  <a:ext cx="1080" cy="1344"/>
                </a:xfrm>
                <a:prstGeom prst="rect">
                  <a:avLst/>
                </a:prstGeom>
                <a:solidFill>
                  <a:srgbClr val="FFFFFF"/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9253" name="Group 24"/>
              <p:cNvGrpSpPr>
                <a:grpSpLocks/>
              </p:cNvGrpSpPr>
              <p:nvPr/>
            </p:nvGrpSpPr>
            <p:grpSpPr bwMode="auto">
              <a:xfrm>
                <a:off x="3318" y="2802"/>
                <a:ext cx="2286" cy="1344"/>
                <a:chOff x="156" y="2634"/>
                <a:chExt cx="2286" cy="1344"/>
              </a:xfrm>
            </p:grpSpPr>
            <p:sp>
              <p:nvSpPr>
                <p:cNvPr id="9254" name="Rectangle 25"/>
                <p:cNvSpPr>
                  <a:spLocks noChangeArrowheads="1"/>
                </p:cNvSpPr>
                <p:nvPr/>
              </p:nvSpPr>
              <p:spPr bwMode="auto">
                <a:xfrm>
                  <a:off x="156" y="2634"/>
                  <a:ext cx="1080" cy="1344"/>
                </a:xfrm>
                <a:prstGeom prst="rect">
                  <a:avLst/>
                </a:prstGeom>
                <a:solidFill>
                  <a:srgbClr val="FFFFFF"/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255" name="Rectangle 26"/>
                <p:cNvSpPr>
                  <a:spLocks noChangeArrowheads="1"/>
                </p:cNvSpPr>
                <p:nvPr/>
              </p:nvSpPr>
              <p:spPr bwMode="auto">
                <a:xfrm>
                  <a:off x="1362" y="2634"/>
                  <a:ext cx="1080" cy="1344"/>
                </a:xfrm>
                <a:prstGeom prst="rect">
                  <a:avLst/>
                </a:prstGeom>
                <a:solidFill>
                  <a:srgbClr val="FFFFFF"/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9233" name="Rectangle 27"/>
            <p:cNvSpPr>
              <a:spLocks noChangeArrowheads="1"/>
            </p:cNvSpPr>
            <p:nvPr/>
          </p:nvSpPr>
          <p:spPr bwMode="auto">
            <a:xfrm>
              <a:off x="96" y="2583"/>
              <a:ext cx="3408" cy="2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pic>
          <p:nvPicPr>
            <p:cNvPr id="9234" name="Picture 28" descr="Edna Krabappe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" y="3460"/>
              <a:ext cx="303" cy="6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35" name="Picture 29" descr="Principal Seymour  Skinne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" y="2841"/>
              <a:ext cx="304" cy="6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36" name="Picture 30" descr="Groundskeeper Willi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2" y="2859"/>
              <a:ext cx="336" cy="5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37" name="Picture 3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0" y="3523"/>
              <a:ext cx="375" cy="5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38" name="Picture 32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" y="2821"/>
              <a:ext cx="343" cy="6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39" name="Picture 33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" y="3033"/>
              <a:ext cx="375" cy="6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0" name="Picture 34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" y="3608"/>
              <a:ext cx="269" cy="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1" name="Picture 35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" y="3702"/>
              <a:ext cx="181" cy="4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2" name="Picture 36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" y="2887"/>
              <a:ext cx="272" cy="8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3" name="Picture 37" descr="Edna Krabappe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6" y="2878"/>
              <a:ext cx="303" cy="6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4" name="Picture 38" descr="Principal Seymour  Skinne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8" y="3477"/>
              <a:ext cx="304" cy="6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5" name="Picture 39" descr="Groundskeeper Willi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4" y="3561"/>
              <a:ext cx="336" cy="5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6" name="Picture 4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4" y="2821"/>
              <a:ext cx="375" cy="5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7" name="Picture 41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6" y="2833"/>
              <a:ext cx="343" cy="6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8" name="Picture 42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0" y="3524"/>
              <a:ext cx="351" cy="6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49" name="Picture 43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0" y="3002"/>
              <a:ext cx="269" cy="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50" name="Picture 44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9" y="3642"/>
              <a:ext cx="181" cy="4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51" name="Picture 45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7" y="2845"/>
              <a:ext cx="272" cy="8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225" name="Text Box 46"/>
          <p:cNvSpPr txBox="1">
            <a:spLocks noChangeArrowheads="1"/>
          </p:cNvSpPr>
          <p:nvPr/>
        </p:nvSpPr>
        <p:spPr bwMode="auto">
          <a:xfrm>
            <a:off x="3363914" y="6389688"/>
            <a:ext cx="2276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School Employees</a:t>
            </a:r>
            <a:r>
              <a:rPr lang="en-US" altLang="en-US" sz="160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9226" name="Text Box 47"/>
          <p:cNvSpPr txBox="1">
            <a:spLocks noChangeArrowheads="1"/>
          </p:cNvSpPr>
          <p:nvPr/>
        </p:nvSpPr>
        <p:spPr bwMode="auto">
          <a:xfrm>
            <a:off x="1524000" y="6364289"/>
            <a:ext cx="2070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600">
                <a:solidFill>
                  <a:prstClr val="black"/>
                </a:solidFill>
              </a:rPr>
              <a:t>Simpson's Family</a:t>
            </a:r>
            <a:r>
              <a:rPr lang="en-US" altLang="en-US" sz="200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9227" name="Text Box 48"/>
          <p:cNvSpPr txBox="1">
            <a:spLocks noChangeArrowheads="1"/>
          </p:cNvSpPr>
          <p:nvPr/>
        </p:nvSpPr>
        <p:spPr bwMode="auto">
          <a:xfrm>
            <a:off x="8631238" y="6364289"/>
            <a:ext cx="1839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000">
                <a:solidFill>
                  <a:prstClr val="black"/>
                </a:solidFill>
              </a:rPr>
              <a:t>Males</a:t>
            </a:r>
            <a:r>
              <a:rPr lang="en-US" altLang="en-US" sz="160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9228" name="Text Box 49"/>
          <p:cNvSpPr txBox="1">
            <a:spLocks noChangeArrowheads="1"/>
          </p:cNvSpPr>
          <p:nvPr/>
        </p:nvSpPr>
        <p:spPr bwMode="auto">
          <a:xfrm>
            <a:off x="6697663" y="6364289"/>
            <a:ext cx="1839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000">
                <a:solidFill>
                  <a:prstClr val="black"/>
                </a:solidFill>
              </a:rPr>
              <a:t>Females</a:t>
            </a:r>
            <a:r>
              <a:rPr lang="en-US" altLang="en-US" sz="160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58770" name="Text Box 50"/>
          <p:cNvSpPr txBox="1">
            <a:spLocks noChangeArrowheads="1"/>
          </p:cNvSpPr>
          <p:nvPr/>
        </p:nvSpPr>
        <p:spPr bwMode="auto">
          <a:xfrm>
            <a:off x="4213226" y="3511551"/>
            <a:ext cx="490390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600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Clustering is subjective</a:t>
            </a:r>
          </a:p>
        </p:txBody>
      </p:sp>
      <p:sp>
        <p:nvSpPr>
          <p:cNvPr id="158771" name="Text Box 51"/>
          <p:cNvSpPr txBox="1">
            <a:spLocks noChangeArrowheads="1"/>
          </p:cNvSpPr>
          <p:nvPr/>
        </p:nvSpPr>
        <p:spPr bwMode="auto">
          <a:xfrm>
            <a:off x="1581151" y="180976"/>
            <a:ext cx="71913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defRPr/>
            </a:pPr>
            <a:r>
              <a:rPr lang="en-US" altLang="en-US" sz="2800">
                <a:solidFill>
                  <a:srgbClr val="1F497D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What is a natural grouping of these objects?</a:t>
            </a:r>
          </a:p>
        </p:txBody>
      </p:sp>
      <p:sp>
        <p:nvSpPr>
          <p:cNvPr id="9231" name="TextBox 50"/>
          <p:cNvSpPr txBox="1">
            <a:spLocks noChangeArrowheads="1"/>
          </p:cNvSpPr>
          <p:nvPr/>
        </p:nvSpPr>
        <p:spPr bwMode="auto">
          <a:xfrm>
            <a:off x="1581151" y="649289"/>
            <a:ext cx="2879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from Eamonn Keogh</a:t>
            </a:r>
          </a:p>
        </p:txBody>
      </p:sp>
    </p:spTree>
    <p:extLst>
      <p:ext uri="{BB962C8B-B14F-4D97-AF65-F5344CB8AC3E}">
        <p14:creationId xmlns:p14="http://schemas.microsoft.com/office/powerpoint/2010/main" val="32292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ChangeArrowheads="1"/>
          </p:cNvSpPr>
          <p:nvPr/>
        </p:nvSpPr>
        <p:spPr bwMode="auto">
          <a:xfrm>
            <a:off x="1752600" y="0"/>
            <a:ext cx="814228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US" sz="4400" dirty="0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What is Similarity?</a:t>
            </a:r>
          </a:p>
        </p:txBody>
      </p:sp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8997950" y="1752600"/>
            <a:ext cx="167005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600">
                <a:solidFill>
                  <a:prstClr val="black"/>
                </a:solidFill>
              </a:rPr>
              <a:t>Similarity is hard to define, but… </a:t>
            </a:r>
          </a:p>
          <a:p>
            <a:r>
              <a:rPr lang="en-US" altLang="en-US" sz="1600">
                <a:solidFill>
                  <a:prstClr val="black"/>
                </a:solidFill>
              </a:rPr>
              <a:t>“</a:t>
            </a:r>
            <a:r>
              <a:rPr lang="en-US" altLang="en-US" sz="1600" i="1">
                <a:solidFill>
                  <a:prstClr val="black"/>
                </a:solidFill>
              </a:rPr>
              <a:t>We know it when we see it</a:t>
            </a:r>
            <a:r>
              <a:rPr lang="en-US" altLang="en-US" sz="1600">
                <a:solidFill>
                  <a:prstClr val="black"/>
                </a:solidFill>
              </a:rPr>
              <a:t>”</a:t>
            </a:r>
          </a:p>
          <a:p>
            <a:endParaRPr lang="en-US" altLang="en-US" sz="1600">
              <a:solidFill>
                <a:prstClr val="black"/>
              </a:solidFill>
            </a:endParaRPr>
          </a:p>
          <a:p>
            <a:r>
              <a:rPr lang="en-US" altLang="en-US" sz="1600">
                <a:solidFill>
                  <a:prstClr val="black"/>
                </a:solidFill>
              </a:rPr>
              <a:t>  </a:t>
            </a:r>
          </a:p>
        </p:txBody>
      </p:sp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752600"/>
            <a:ext cx="715645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TextBox 6"/>
          <p:cNvSpPr txBox="1">
            <a:spLocks noChangeArrowheads="1"/>
          </p:cNvSpPr>
          <p:nvPr/>
        </p:nvSpPr>
        <p:spPr bwMode="auto">
          <a:xfrm>
            <a:off x="1752601" y="958850"/>
            <a:ext cx="4252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3809847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1524000" y="0"/>
            <a:ext cx="9144000" cy="257175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1795" name="Rectangle 3"/>
          <p:cNvSpPr>
            <a:spLocks noChangeArrowheads="1"/>
          </p:cNvSpPr>
          <p:nvPr/>
        </p:nvSpPr>
        <p:spPr bwMode="auto">
          <a:xfrm>
            <a:off x="1689101" y="0"/>
            <a:ext cx="8291513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US" sz="4400" dirty="0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Defining Distance Measures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1847850" y="1143001"/>
            <a:ext cx="861060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b="1">
                <a:solidFill>
                  <a:prstClr val="black"/>
                </a:solidFill>
              </a:rPr>
              <a:t>Definition</a:t>
            </a:r>
            <a:r>
              <a:rPr lang="en-US" altLang="en-US">
                <a:solidFill>
                  <a:prstClr val="black"/>
                </a:solidFill>
              </a:rPr>
              <a:t>: Let </a:t>
            </a:r>
            <a:r>
              <a:rPr lang="en-US" altLang="en-US" i="1">
                <a:solidFill>
                  <a:prstClr val="black"/>
                </a:solidFill>
              </a:rPr>
              <a:t>O</a:t>
            </a:r>
            <a:r>
              <a:rPr lang="en-US" altLang="en-US" baseline="-25000">
                <a:solidFill>
                  <a:prstClr val="black"/>
                </a:solidFill>
              </a:rPr>
              <a:t>1</a:t>
            </a:r>
            <a:r>
              <a:rPr lang="en-US" altLang="en-US">
                <a:solidFill>
                  <a:prstClr val="black"/>
                </a:solidFill>
              </a:rPr>
              <a:t> and </a:t>
            </a:r>
            <a:r>
              <a:rPr lang="en-US" altLang="en-US" i="1">
                <a:solidFill>
                  <a:prstClr val="black"/>
                </a:solidFill>
              </a:rPr>
              <a:t>O</a:t>
            </a:r>
            <a:r>
              <a:rPr lang="en-US" altLang="en-US" baseline="-25000">
                <a:solidFill>
                  <a:prstClr val="black"/>
                </a:solidFill>
              </a:rPr>
              <a:t>2</a:t>
            </a:r>
            <a:r>
              <a:rPr lang="en-US" altLang="en-US">
                <a:solidFill>
                  <a:prstClr val="black"/>
                </a:solidFill>
              </a:rPr>
              <a:t> be two objects from the universe of possible objects. The distance (dissimilarity) between </a:t>
            </a:r>
            <a:r>
              <a:rPr lang="en-US" altLang="en-US" i="1">
                <a:solidFill>
                  <a:prstClr val="black"/>
                </a:solidFill>
              </a:rPr>
              <a:t>O</a:t>
            </a:r>
            <a:r>
              <a:rPr lang="en-US" altLang="en-US" baseline="-25000">
                <a:solidFill>
                  <a:prstClr val="black"/>
                </a:solidFill>
              </a:rPr>
              <a:t>1</a:t>
            </a:r>
            <a:r>
              <a:rPr lang="en-US" altLang="en-US">
                <a:solidFill>
                  <a:prstClr val="black"/>
                </a:solidFill>
              </a:rPr>
              <a:t> and </a:t>
            </a:r>
            <a:r>
              <a:rPr lang="en-US" altLang="en-US" i="1">
                <a:solidFill>
                  <a:prstClr val="black"/>
                </a:solidFill>
              </a:rPr>
              <a:t>O</a:t>
            </a:r>
            <a:r>
              <a:rPr lang="en-US" altLang="en-US" baseline="-25000">
                <a:solidFill>
                  <a:prstClr val="black"/>
                </a:solidFill>
              </a:rPr>
              <a:t>2</a:t>
            </a:r>
            <a:r>
              <a:rPr lang="en-US" altLang="en-US">
                <a:solidFill>
                  <a:prstClr val="black"/>
                </a:solidFill>
              </a:rPr>
              <a:t> is a real number denoted by </a:t>
            </a:r>
            <a:r>
              <a:rPr lang="en-US" altLang="en-US" i="1">
                <a:solidFill>
                  <a:prstClr val="black"/>
                </a:solidFill>
              </a:rPr>
              <a:t>D</a:t>
            </a:r>
            <a:r>
              <a:rPr lang="en-US" altLang="en-US">
                <a:solidFill>
                  <a:prstClr val="black"/>
                </a:solidFill>
              </a:rPr>
              <a:t>(</a:t>
            </a:r>
            <a:r>
              <a:rPr lang="en-US" altLang="en-US" i="1">
                <a:solidFill>
                  <a:prstClr val="black"/>
                </a:solidFill>
              </a:rPr>
              <a:t>O</a:t>
            </a:r>
            <a:r>
              <a:rPr lang="en-US" altLang="en-US" baseline="-25000">
                <a:solidFill>
                  <a:prstClr val="black"/>
                </a:solidFill>
              </a:rPr>
              <a:t>1</a:t>
            </a:r>
            <a:r>
              <a:rPr lang="en-US" altLang="en-US">
                <a:solidFill>
                  <a:prstClr val="black"/>
                </a:solidFill>
              </a:rPr>
              <a:t>,</a:t>
            </a:r>
            <a:r>
              <a:rPr lang="en-US" altLang="en-US" i="1">
                <a:solidFill>
                  <a:prstClr val="black"/>
                </a:solidFill>
              </a:rPr>
              <a:t>O</a:t>
            </a:r>
            <a:r>
              <a:rPr lang="en-US" altLang="en-US" baseline="-25000">
                <a:solidFill>
                  <a:prstClr val="black"/>
                </a:solidFill>
              </a:rPr>
              <a:t>2</a:t>
            </a:r>
            <a:r>
              <a:rPr lang="en-US" altLang="en-US">
                <a:solidFill>
                  <a:prstClr val="black"/>
                </a:solidFill>
              </a:rPr>
              <a:t>)</a:t>
            </a:r>
            <a:endParaRPr lang="en-US" altLang="en-US">
              <a:solidFill>
                <a:prstClr val="black"/>
              </a:solidFill>
              <a:sym typeface="Symbol" pitchFamily="18" charset="2"/>
            </a:endParaRPr>
          </a:p>
        </p:txBody>
      </p:sp>
      <p:pic>
        <p:nvPicPr>
          <p:cNvPr id="11269" name="Picture 5" descr="C:\WINNT\Profiles\eamonn.000\Desktop\gorilla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101" y="2684463"/>
            <a:ext cx="1484313" cy="137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6" descr="C:\WINNT\Profiles\eamonn.000\Desktop\chimp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1" y="2798763"/>
            <a:ext cx="1019175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2286000" y="4543425"/>
            <a:ext cx="1390650" cy="1390650"/>
          </a:xfrm>
          <a:prstGeom prst="rect">
            <a:avLst/>
          </a:prstGeom>
          <a:solidFill>
            <a:srgbClr val="969696"/>
          </a:solidFill>
          <a:ln w="9525">
            <a:miter lim="800000"/>
            <a:headEnd/>
            <a:tailEnd/>
          </a:ln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8505825" y="4543425"/>
            <a:ext cx="1390650" cy="1390650"/>
          </a:xfrm>
          <a:prstGeom prst="rect">
            <a:avLst/>
          </a:prstGeom>
          <a:solidFill>
            <a:srgbClr val="969696"/>
          </a:solidFill>
          <a:ln w="9525">
            <a:miter lim="800000"/>
            <a:headEnd/>
            <a:tailEnd/>
          </a:ln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5486400" y="4543425"/>
            <a:ext cx="1390650" cy="1390650"/>
          </a:xfrm>
          <a:prstGeom prst="rect">
            <a:avLst/>
          </a:prstGeom>
          <a:solidFill>
            <a:srgbClr val="969696"/>
          </a:solidFill>
          <a:ln w="9525">
            <a:miter lim="800000"/>
            <a:headEnd/>
            <a:tailEnd/>
          </a:ln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1802" name="AutoShape 10"/>
          <p:cNvSpPr>
            <a:spLocks noChangeArrowheads="1"/>
          </p:cNvSpPr>
          <p:nvPr/>
        </p:nvSpPr>
        <p:spPr bwMode="auto">
          <a:xfrm rot="-992687">
            <a:off x="2438400" y="4086225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61803" name="AutoShape 11"/>
          <p:cNvSpPr>
            <a:spLocks noChangeArrowheads="1"/>
          </p:cNvSpPr>
          <p:nvPr/>
        </p:nvSpPr>
        <p:spPr bwMode="auto">
          <a:xfrm rot="-992687">
            <a:off x="5562600" y="4086225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61804" name="AutoShape 12"/>
          <p:cNvSpPr>
            <a:spLocks noChangeArrowheads="1"/>
          </p:cNvSpPr>
          <p:nvPr/>
        </p:nvSpPr>
        <p:spPr bwMode="auto">
          <a:xfrm rot="-992687">
            <a:off x="8658225" y="4086225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61805" name="AutoShape 13"/>
          <p:cNvSpPr>
            <a:spLocks noChangeArrowheads="1"/>
          </p:cNvSpPr>
          <p:nvPr/>
        </p:nvSpPr>
        <p:spPr bwMode="auto">
          <a:xfrm rot="992687" flipH="1">
            <a:off x="3429000" y="4086225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61806" name="AutoShape 14"/>
          <p:cNvSpPr>
            <a:spLocks noChangeArrowheads="1"/>
          </p:cNvSpPr>
          <p:nvPr/>
        </p:nvSpPr>
        <p:spPr bwMode="auto">
          <a:xfrm rot="992687" flipH="1">
            <a:off x="6662738" y="4086225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61807" name="AutoShape 15"/>
          <p:cNvSpPr>
            <a:spLocks noChangeArrowheads="1"/>
          </p:cNvSpPr>
          <p:nvPr/>
        </p:nvSpPr>
        <p:spPr bwMode="auto">
          <a:xfrm rot="992687" flipH="1">
            <a:off x="9648825" y="4086225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2581276" y="6400801"/>
            <a:ext cx="7841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0.23</a:t>
            </a:r>
          </a:p>
        </p:txBody>
      </p:sp>
      <p:sp>
        <p:nvSpPr>
          <p:cNvPr id="161809" name="AutoShape 17"/>
          <p:cNvSpPr>
            <a:spLocks noChangeArrowheads="1"/>
          </p:cNvSpPr>
          <p:nvPr/>
        </p:nvSpPr>
        <p:spPr bwMode="auto">
          <a:xfrm rot="21550572" flipH="1">
            <a:off x="2724150" y="6181725"/>
            <a:ext cx="2286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1282" name="Text Box 18"/>
          <p:cNvSpPr txBox="1">
            <a:spLocks noChangeArrowheads="1"/>
          </p:cNvSpPr>
          <p:nvPr/>
        </p:nvSpPr>
        <p:spPr bwMode="auto">
          <a:xfrm>
            <a:off x="5884863" y="6400801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3</a:t>
            </a:r>
          </a:p>
        </p:txBody>
      </p:sp>
      <p:sp>
        <p:nvSpPr>
          <p:cNvPr id="161811" name="AutoShape 19"/>
          <p:cNvSpPr>
            <a:spLocks noChangeArrowheads="1"/>
          </p:cNvSpPr>
          <p:nvPr/>
        </p:nvSpPr>
        <p:spPr bwMode="auto">
          <a:xfrm rot="21550572" flipH="1">
            <a:off x="5924550" y="6181725"/>
            <a:ext cx="2286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8753476" y="6400801"/>
            <a:ext cx="9557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342.7</a:t>
            </a:r>
          </a:p>
        </p:txBody>
      </p:sp>
      <p:sp>
        <p:nvSpPr>
          <p:cNvPr id="161813" name="AutoShape 21"/>
          <p:cNvSpPr>
            <a:spLocks noChangeArrowheads="1"/>
          </p:cNvSpPr>
          <p:nvPr/>
        </p:nvSpPr>
        <p:spPr bwMode="auto">
          <a:xfrm rot="21550572" flipH="1">
            <a:off x="9020175" y="6181725"/>
            <a:ext cx="2286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1286" name="Text Box 22"/>
          <p:cNvSpPr txBox="1">
            <a:spLocks noChangeArrowheads="1"/>
          </p:cNvSpPr>
          <p:nvPr/>
        </p:nvSpPr>
        <p:spPr bwMode="auto">
          <a:xfrm>
            <a:off x="4953001" y="3430588"/>
            <a:ext cx="1247775" cy="519112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800" b="1">
                <a:solidFill>
                  <a:prstClr val="black"/>
                </a:solidFill>
                <a:latin typeface="Courier New" pitchFamily="49" charset="0"/>
              </a:rPr>
              <a:t>Peter</a:t>
            </a:r>
          </a:p>
        </p:txBody>
      </p:sp>
      <p:sp>
        <p:nvSpPr>
          <p:cNvPr id="11287" name="Text Box 23"/>
          <p:cNvSpPr txBox="1">
            <a:spLocks noChangeArrowheads="1"/>
          </p:cNvSpPr>
          <p:nvPr/>
        </p:nvSpPr>
        <p:spPr bwMode="auto">
          <a:xfrm>
            <a:off x="6319839" y="3430588"/>
            <a:ext cx="1247775" cy="519112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800" b="1">
                <a:solidFill>
                  <a:prstClr val="black"/>
                </a:solidFill>
                <a:latin typeface="Courier New" pitchFamily="49" charset="0"/>
              </a:rPr>
              <a:t>Piotr</a:t>
            </a:r>
          </a:p>
        </p:txBody>
      </p:sp>
      <p:pic>
        <p:nvPicPr>
          <p:cNvPr id="11288" name="Picture 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851" y="2743201"/>
            <a:ext cx="126682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9" name="Picture 2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26" y="2743201"/>
            <a:ext cx="126682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90" name="TextBox 25"/>
          <p:cNvSpPr txBox="1">
            <a:spLocks noChangeArrowheads="1"/>
          </p:cNvSpPr>
          <p:nvPr/>
        </p:nvSpPr>
        <p:spPr bwMode="auto">
          <a:xfrm>
            <a:off x="1847851" y="773114"/>
            <a:ext cx="2879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from Eamonn Keogh</a:t>
            </a:r>
          </a:p>
        </p:txBody>
      </p:sp>
    </p:spTree>
    <p:extLst>
      <p:ext uri="{BB962C8B-B14F-4D97-AF65-F5344CB8AC3E}">
        <p14:creationId xmlns:p14="http://schemas.microsoft.com/office/powerpoint/2010/main" val="420623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9" name="Text Box 3"/>
          <p:cNvSpPr txBox="1">
            <a:spLocks noChangeArrowheads="1"/>
          </p:cNvSpPr>
          <p:nvPr/>
        </p:nvSpPr>
        <p:spPr bwMode="auto">
          <a:xfrm>
            <a:off x="1771650" y="685800"/>
            <a:ext cx="8610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lnSpc>
                <a:spcPct val="110000"/>
              </a:lnSpc>
              <a:defRPr/>
            </a:pPr>
            <a:endParaRPr lang="en-US" altLang="en-US">
              <a:solidFill>
                <a:prstClr val="black"/>
              </a:solidFill>
            </a:endParaRPr>
          </a:p>
          <a:p>
            <a:pPr>
              <a:lnSpc>
                <a:spcPct val="110000"/>
              </a:lnSpc>
              <a:defRPr/>
            </a:pPr>
            <a:r>
              <a:rPr lang="en-US" altLang="en-US" sz="32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What properties should a distance measure have?</a:t>
            </a:r>
          </a:p>
          <a:p>
            <a:pPr>
              <a:lnSpc>
                <a:spcPct val="110000"/>
              </a:lnSpc>
              <a:defRPr/>
            </a:pPr>
            <a:endParaRPr lang="en-US" altLang="en-US" sz="28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10000"/>
              </a:lnSpc>
              <a:buFontTx/>
              <a:buChar char="•"/>
              <a:defRPr/>
            </a:pPr>
            <a:r>
              <a:rPr lang="en-US" altLang="en-US" sz="2800">
                <a:solidFill>
                  <a:prstClr val="black"/>
                </a:solidFill>
              </a:rPr>
              <a:t> </a:t>
            </a:r>
            <a:r>
              <a:rPr lang="en-US" altLang="en-US" sz="2800" i="1">
                <a:solidFill>
                  <a:prstClr val="black"/>
                </a:solidFill>
              </a:rPr>
              <a:t>D</a:t>
            </a:r>
            <a:r>
              <a:rPr lang="en-US" altLang="en-US" sz="2800">
                <a:solidFill>
                  <a:prstClr val="black"/>
                </a:solidFill>
              </a:rPr>
              <a:t>(A,B) = </a:t>
            </a:r>
            <a:r>
              <a:rPr lang="en-US" altLang="en-US" sz="2800" i="1">
                <a:solidFill>
                  <a:prstClr val="black"/>
                </a:solidFill>
              </a:rPr>
              <a:t>D</a:t>
            </a:r>
            <a:r>
              <a:rPr lang="en-US" altLang="en-US" sz="2800">
                <a:solidFill>
                  <a:prstClr val="black"/>
                </a:solidFill>
              </a:rPr>
              <a:t>(B,A)		</a:t>
            </a:r>
            <a:r>
              <a:rPr lang="en-US" altLang="en-US" i="1">
                <a:solidFill>
                  <a:prstClr val="black"/>
                </a:solidFill>
              </a:rPr>
              <a:t>Symmetry </a:t>
            </a:r>
            <a:endParaRPr lang="en-US" altLang="en-US" sz="2800">
              <a:solidFill>
                <a:prstClr val="black"/>
              </a:solidFill>
            </a:endParaRPr>
          </a:p>
          <a:p>
            <a:pPr>
              <a:lnSpc>
                <a:spcPct val="110000"/>
              </a:lnSpc>
              <a:buFontTx/>
              <a:buChar char="•"/>
              <a:defRPr/>
            </a:pPr>
            <a:r>
              <a:rPr lang="en-US" altLang="en-US" sz="2800">
                <a:solidFill>
                  <a:prstClr val="black"/>
                </a:solidFill>
              </a:rPr>
              <a:t> </a:t>
            </a:r>
            <a:r>
              <a:rPr lang="en-US" altLang="en-US" sz="2800" i="1">
                <a:solidFill>
                  <a:prstClr val="black"/>
                </a:solidFill>
              </a:rPr>
              <a:t>D</a:t>
            </a:r>
            <a:r>
              <a:rPr lang="en-US" altLang="en-US" sz="2800">
                <a:solidFill>
                  <a:prstClr val="black"/>
                </a:solidFill>
              </a:rPr>
              <a:t>(A,A) = 0			</a:t>
            </a:r>
            <a:r>
              <a:rPr lang="en-US" altLang="en-US" i="1">
                <a:solidFill>
                  <a:prstClr val="black"/>
                </a:solidFill>
              </a:rPr>
              <a:t>Constancy of Self-Similarity</a:t>
            </a:r>
            <a:endParaRPr lang="en-US" altLang="en-US" sz="2800">
              <a:solidFill>
                <a:prstClr val="black"/>
              </a:solidFill>
            </a:endParaRPr>
          </a:p>
          <a:p>
            <a:pPr>
              <a:lnSpc>
                <a:spcPct val="110000"/>
              </a:lnSpc>
              <a:buFontTx/>
              <a:buChar char="•"/>
              <a:defRPr/>
            </a:pPr>
            <a:r>
              <a:rPr lang="en-US" altLang="en-US" sz="2800">
                <a:solidFill>
                  <a:prstClr val="black"/>
                </a:solidFill>
              </a:rPr>
              <a:t> </a:t>
            </a:r>
            <a:r>
              <a:rPr lang="en-US" altLang="en-US" sz="2800" i="1">
                <a:solidFill>
                  <a:prstClr val="black"/>
                </a:solidFill>
              </a:rPr>
              <a:t>D</a:t>
            </a:r>
            <a:r>
              <a:rPr lang="en-US" altLang="en-US" sz="2800">
                <a:solidFill>
                  <a:prstClr val="black"/>
                </a:solidFill>
              </a:rPr>
              <a:t>(A,B) = 0 iif A= B 		</a:t>
            </a:r>
            <a:r>
              <a:rPr lang="en-US" altLang="en-US" i="1">
                <a:solidFill>
                  <a:prstClr val="black"/>
                </a:solidFill>
              </a:rPr>
              <a:t>Positivity (Separation)</a:t>
            </a:r>
          </a:p>
          <a:p>
            <a:pPr>
              <a:lnSpc>
                <a:spcPct val="110000"/>
              </a:lnSpc>
              <a:buFontTx/>
              <a:buChar char="•"/>
              <a:defRPr/>
            </a:pPr>
            <a:r>
              <a:rPr lang="en-US" altLang="en-US" sz="2800">
                <a:solidFill>
                  <a:prstClr val="black"/>
                </a:solidFill>
              </a:rPr>
              <a:t> </a:t>
            </a:r>
            <a:r>
              <a:rPr lang="en-US" altLang="en-US" sz="2800" i="1">
                <a:solidFill>
                  <a:prstClr val="black"/>
                </a:solidFill>
              </a:rPr>
              <a:t>D</a:t>
            </a:r>
            <a:r>
              <a:rPr lang="en-US" altLang="en-US" sz="2800">
                <a:solidFill>
                  <a:prstClr val="black"/>
                </a:solidFill>
              </a:rPr>
              <a:t>(A,B) </a:t>
            </a:r>
            <a:r>
              <a:rPr lang="en-US" altLang="en-US" sz="2800">
                <a:solidFill>
                  <a:prstClr val="black"/>
                </a:solidFill>
                <a:sym typeface="Symbol" pitchFamily="-111" charset="2"/>
              </a:rPr>
              <a:t> </a:t>
            </a:r>
            <a:r>
              <a:rPr lang="en-US" altLang="en-US" sz="2800" i="1">
                <a:solidFill>
                  <a:prstClr val="black"/>
                </a:solidFill>
                <a:sym typeface="Symbol" pitchFamily="-111" charset="2"/>
              </a:rPr>
              <a:t>D</a:t>
            </a:r>
            <a:r>
              <a:rPr lang="en-US" altLang="en-US" sz="2800">
                <a:solidFill>
                  <a:prstClr val="black"/>
                </a:solidFill>
                <a:sym typeface="Symbol" pitchFamily="-111" charset="2"/>
              </a:rPr>
              <a:t>(A,C) + </a:t>
            </a:r>
            <a:r>
              <a:rPr lang="en-US" altLang="en-US" sz="2800" i="1">
                <a:solidFill>
                  <a:prstClr val="black"/>
                </a:solidFill>
                <a:sym typeface="Symbol" pitchFamily="-111" charset="2"/>
              </a:rPr>
              <a:t>D</a:t>
            </a:r>
            <a:r>
              <a:rPr lang="en-US" altLang="en-US" sz="2800">
                <a:solidFill>
                  <a:prstClr val="black"/>
                </a:solidFill>
                <a:sym typeface="Symbol" pitchFamily="-111" charset="2"/>
              </a:rPr>
              <a:t>(B,C)	</a:t>
            </a:r>
            <a:r>
              <a:rPr lang="en-US" altLang="en-US" i="1">
                <a:solidFill>
                  <a:prstClr val="black"/>
                </a:solidFill>
              </a:rPr>
              <a:t>Triangular Inequality</a:t>
            </a:r>
            <a:r>
              <a:rPr lang="en-US" altLang="en-US" sz="2800">
                <a:solidFill>
                  <a:prstClr val="black"/>
                </a:solidFill>
              </a:rPr>
              <a:t> </a:t>
            </a:r>
          </a:p>
          <a:p>
            <a:pPr lvl="3">
              <a:lnSpc>
                <a:spcPct val="110000"/>
              </a:lnSpc>
              <a:defRPr/>
            </a:pPr>
            <a:endParaRPr lang="en-US" altLang="en-US">
              <a:solidFill>
                <a:prstClr val="black"/>
              </a:solidFill>
              <a:sym typeface="Symbol" pitchFamily="-111" charset="2"/>
            </a:endParaRPr>
          </a:p>
        </p:txBody>
      </p:sp>
      <p:sp>
        <p:nvSpPr>
          <p:cNvPr id="12291" name="TextBox 21"/>
          <p:cNvSpPr txBox="1">
            <a:spLocks noChangeArrowheads="1"/>
          </p:cNvSpPr>
          <p:nvPr/>
        </p:nvSpPr>
        <p:spPr bwMode="auto">
          <a:xfrm>
            <a:off x="6129338" y="315914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277952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ChangeArrowheads="1"/>
          </p:cNvSpPr>
          <p:nvPr/>
        </p:nvSpPr>
        <p:spPr bwMode="auto">
          <a:xfrm>
            <a:off x="1771650" y="1228725"/>
            <a:ext cx="82105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US" sz="3600" dirty="0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Intuitions behind desirable distance measure properties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771650" y="2590801"/>
            <a:ext cx="8877300" cy="272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i="1" dirty="0">
                <a:solidFill>
                  <a:prstClr val="black"/>
                </a:solidFill>
              </a:rPr>
              <a:t>D</a:t>
            </a:r>
            <a:r>
              <a:rPr lang="en-US" altLang="en-US" dirty="0">
                <a:solidFill>
                  <a:prstClr val="black"/>
                </a:solidFill>
              </a:rPr>
              <a:t>(A, B) = </a:t>
            </a:r>
            <a:r>
              <a:rPr lang="en-US" altLang="en-US" i="1" dirty="0">
                <a:solidFill>
                  <a:prstClr val="black"/>
                </a:solidFill>
              </a:rPr>
              <a:t>D</a:t>
            </a:r>
            <a:r>
              <a:rPr lang="en-US" altLang="en-US" dirty="0">
                <a:solidFill>
                  <a:prstClr val="black"/>
                </a:solidFill>
              </a:rPr>
              <a:t>(B, A)			</a:t>
            </a:r>
            <a:endParaRPr lang="en-US" altLang="en-US" sz="2000" i="1" dirty="0">
              <a:solidFill>
                <a:prstClr val="black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en-US" sz="2000" i="1" dirty="0">
                <a:solidFill>
                  <a:prstClr val="black"/>
                </a:solidFill>
              </a:rPr>
              <a:t>Otherwise you could claim “Alex looks like Bob, but Bob looks nothing like Alex.”</a:t>
            </a:r>
          </a:p>
          <a:p>
            <a:pPr>
              <a:lnSpc>
                <a:spcPct val="110000"/>
              </a:lnSpc>
            </a:pPr>
            <a:endParaRPr lang="en-US" altLang="en-US" dirty="0">
              <a:solidFill>
                <a:prstClr val="black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en-US" i="1" dirty="0">
                <a:solidFill>
                  <a:prstClr val="black"/>
                </a:solidFill>
              </a:rPr>
              <a:t>D</a:t>
            </a:r>
            <a:r>
              <a:rPr lang="en-US" altLang="en-US" dirty="0">
                <a:solidFill>
                  <a:prstClr val="black"/>
                </a:solidFill>
              </a:rPr>
              <a:t>(A, A) = 0				</a:t>
            </a:r>
            <a:endParaRPr lang="en-US" altLang="en-US" sz="2000" i="1" dirty="0">
              <a:solidFill>
                <a:prstClr val="black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en-US" sz="2000" i="1" dirty="0">
                <a:solidFill>
                  <a:prstClr val="black"/>
                </a:solidFill>
              </a:rPr>
              <a:t>Otherwise you could claim “Alex looks more like Bob, than Bob does.”</a:t>
            </a:r>
            <a:endParaRPr lang="en-US" altLang="en-US" dirty="0">
              <a:solidFill>
                <a:prstClr val="black"/>
              </a:solidFill>
            </a:endParaRPr>
          </a:p>
          <a:p>
            <a:pPr>
              <a:lnSpc>
                <a:spcPct val="110000"/>
              </a:lnSpc>
            </a:pPr>
            <a:endParaRPr lang="en-US" altLang="en-US" i="1" dirty="0">
              <a:solidFill>
                <a:prstClr val="black"/>
              </a:solidFill>
            </a:endParaRPr>
          </a:p>
        </p:txBody>
      </p:sp>
      <p:sp>
        <p:nvSpPr>
          <p:cNvPr id="13316" name="TextBox 3"/>
          <p:cNvSpPr txBox="1">
            <a:spLocks noChangeArrowheads="1"/>
          </p:cNvSpPr>
          <p:nvPr/>
        </p:nvSpPr>
        <p:spPr bwMode="auto">
          <a:xfrm>
            <a:off x="6396038" y="131764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113583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ChangeArrowheads="1"/>
          </p:cNvSpPr>
          <p:nvPr/>
        </p:nvSpPr>
        <p:spPr bwMode="auto">
          <a:xfrm>
            <a:off x="1771650" y="1228725"/>
            <a:ext cx="82105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defRPr/>
            </a:pPr>
            <a:r>
              <a:rPr lang="en-US" altLang="en-US" sz="3600">
                <a:solidFill>
                  <a:srgbClr val="1F497D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Intuitions behind desirable distance measure properties (continued)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771650" y="2590801"/>
            <a:ext cx="8877300" cy="316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i="1">
                <a:solidFill>
                  <a:prstClr val="black"/>
                </a:solidFill>
              </a:rPr>
              <a:t>D</a:t>
            </a:r>
            <a:r>
              <a:rPr lang="en-US" altLang="en-US">
                <a:solidFill>
                  <a:prstClr val="black"/>
                </a:solidFill>
              </a:rPr>
              <a:t>(A,B) = 0 IIf A=B </a:t>
            </a:r>
            <a:r>
              <a:rPr lang="en-US" altLang="en-US" sz="2800">
                <a:solidFill>
                  <a:prstClr val="black"/>
                </a:solidFill>
              </a:rPr>
              <a:t>	</a:t>
            </a:r>
            <a:endParaRPr lang="en-US" altLang="en-US" sz="2000" i="1">
              <a:solidFill>
                <a:prstClr val="black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en-US" sz="1900" i="1">
                <a:solidFill>
                  <a:prstClr val="black"/>
                </a:solidFill>
              </a:rPr>
              <a:t>Otherwise there are objects in your world that are different, but you cannot tell apart.</a:t>
            </a:r>
            <a:endParaRPr lang="en-US" altLang="en-US">
              <a:solidFill>
                <a:prstClr val="black"/>
              </a:solidFill>
            </a:endParaRPr>
          </a:p>
          <a:p>
            <a:pPr>
              <a:lnSpc>
                <a:spcPct val="110000"/>
              </a:lnSpc>
            </a:pPr>
            <a:endParaRPr lang="en-US" altLang="en-US" i="1">
              <a:solidFill>
                <a:prstClr val="black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en-US" i="1">
                <a:solidFill>
                  <a:prstClr val="black"/>
                </a:solidFill>
              </a:rPr>
              <a:t>D</a:t>
            </a:r>
            <a:r>
              <a:rPr lang="en-US" altLang="en-US">
                <a:solidFill>
                  <a:prstClr val="black"/>
                </a:solidFill>
              </a:rPr>
              <a:t>(A,B) </a:t>
            </a:r>
            <a:r>
              <a:rPr lang="en-US" altLang="en-US">
                <a:solidFill>
                  <a:prstClr val="black"/>
                </a:solidFill>
                <a:sym typeface="Symbol" pitchFamily="18" charset="2"/>
              </a:rPr>
              <a:t> </a:t>
            </a:r>
            <a:r>
              <a:rPr lang="en-US" altLang="en-US" i="1">
                <a:solidFill>
                  <a:prstClr val="black"/>
                </a:solidFill>
                <a:sym typeface="Symbol" pitchFamily="18" charset="2"/>
              </a:rPr>
              <a:t>D</a:t>
            </a:r>
            <a:r>
              <a:rPr lang="en-US" altLang="en-US">
                <a:solidFill>
                  <a:prstClr val="black"/>
                </a:solidFill>
                <a:sym typeface="Symbol" pitchFamily="18" charset="2"/>
              </a:rPr>
              <a:t>(A,C) + </a:t>
            </a:r>
            <a:r>
              <a:rPr lang="en-US" altLang="en-US" i="1">
                <a:solidFill>
                  <a:prstClr val="black"/>
                </a:solidFill>
                <a:sym typeface="Symbol" pitchFamily="18" charset="2"/>
              </a:rPr>
              <a:t>D</a:t>
            </a:r>
            <a:r>
              <a:rPr lang="en-US" altLang="en-US">
                <a:solidFill>
                  <a:prstClr val="black"/>
                </a:solidFill>
                <a:sym typeface="Symbol" pitchFamily="18" charset="2"/>
              </a:rPr>
              <a:t>(B,C)	</a:t>
            </a:r>
            <a:endParaRPr lang="en-US" altLang="en-US">
              <a:solidFill>
                <a:prstClr val="black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en-US" sz="2000" i="1">
                <a:solidFill>
                  <a:prstClr val="black"/>
                </a:solidFill>
              </a:rPr>
              <a:t>Otherwise you could claim “Alex is very like Bob, and Alex is very like Carl, but Bob is very unlike Carl.”</a:t>
            </a:r>
            <a:endParaRPr lang="en-US" altLang="en-US">
              <a:solidFill>
                <a:prstClr val="black"/>
              </a:solidFill>
            </a:endParaRPr>
          </a:p>
          <a:p>
            <a:pPr lvl="3">
              <a:lnSpc>
                <a:spcPct val="110000"/>
              </a:lnSpc>
            </a:pPr>
            <a:endParaRPr lang="en-US" altLang="en-US">
              <a:solidFill>
                <a:prstClr val="black"/>
              </a:solidFill>
              <a:sym typeface="Symbol" pitchFamily="18" charset="2"/>
            </a:endParaRPr>
          </a:p>
        </p:txBody>
      </p:sp>
      <p:sp>
        <p:nvSpPr>
          <p:cNvPr id="14340" name="TextBox 3"/>
          <p:cNvSpPr txBox="1">
            <a:spLocks noChangeArrowheads="1"/>
          </p:cNvSpPr>
          <p:nvPr/>
        </p:nvSpPr>
        <p:spPr bwMode="auto">
          <a:xfrm>
            <a:off x="6396038" y="131764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373670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4189" y="304801"/>
            <a:ext cx="8150225" cy="1033463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Two Types of Clustering</a:t>
            </a:r>
          </a:p>
        </p:txBody>
      </p:sp>
      <p:sp>
        <p:nvSpPr>
          <p:cNvPr id="164867" name="Rectangle 3"/>
          <p:cNvSpPr>
            <a:spLocks noChangeArrowheads="1"/>
          </p:cNvSpPr>
          <p:nvPr/>
        </p:nvSpPr>
        <p:spPr bwMode="auto">
          <a:xfrm>
            <a:off x="2590800" y="3276601"/>
            <a:ext cx="25717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Hierarchical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1754188" y="1600200"/>
            <a:ext cx="8443912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buFontTx/>
              <a:buChar char="•"/>
            </a:pPr>
            <a:r>
              <a:rPr lang="en-US" altLang="en-US" b="1">
                <a:solidFill>
                  <a:prstClr val="black"/>
                </a:solidFill>
              </a:rPr>
              <a:t> Partitional algorithms:</a:t>
            </a:r>
            <a:r>
              <a:rPr lang="en-US" altLang="en-US">
                <a:solidFill>
                  <a:prstClr val="black"/>
                </a:solidFill>
              </a:rPr>
              <a:t> Construct various partitions and then evaluate them by some criterion</a:t>
            </a:r>
            <a:endParaRPr lang="en-US" altLang="en-US" sz="2000">
              <a:solidFill>
                <a:prstClr val="black"/>
              </a:solidFill>
            </a:endParaRPr>
          </a:p>
          <a:p>
            <a:pPr>
              <a:buFontTx/>
              <a:buChar char="•"/>
            </a:pPr>
            <a:r>
              <a:rPr lang="en-US" altLang="en-US" b="1">
                <a:solidFill>
                  <a:prstClr val="black"/>
                </a:solidFill>
              </a:rPr>
              <a:t> Hierarchical algorithms:</a:t>
            </a:r>
            <a:r>
              <a:rPr lang="en-US" altLang="en-US">
                <a:solidFill>
                  <a:prstClr val="black"/>
                </a:solidFill>
              </a:rPr>
              <a:t> Create a hierarchical decomposition of the set of objects using some criterion</a:t>
            </a:r>
          </a:p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4869" name="Rectangle 5"/>
          <p:cNvSpPr>
            <a:spLocks noChangeArrowheads="1"/>
          </p:cNvSpPr>
          <p:nvPr/>
        </p:nvSpPr>
        <p:spPr bwMode="auto">
          <a:xfrm>
            <a:off x="7443789" y="3225801"/>
            <a:ext cx="20986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Partitional</a:t>
            </a: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1676400" y="3671889"/>
            <a:ext cx="541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grpSp>
        <p:nvGrpSpPr>
          <p:cNvPr id="15367" name="Group 7"/>
          <p:cNvGrpSpPr>
            <a:grpSpLocks/>
          </p:cNvGrpSpPr>
          <p:nvPr/>
        </p:nvGrpSpPr>
        <p:grpSpPr bwMode="auto">
          <a:xfrm>
            <a:off x="6781801" y="4419600"/>
            <a:ext cx="3629025" cy="2133600"/>
            <a:chOff x="120" y="2532"/>
            <a:chExt cx="2286" cy="1344"/>
          </a:xfrm>
        </p:grpSpPr>
        <p:grpSp>
          <p:nvGrpSpPr>
            <p:cNvPr id="15390" name="Group 8"/>
            <p:cNvGrpSpPr>
              <a:grpSpLocks/>
            </p:cNvGrpSpPr>
            <p:nvPr/>
          </p:nvGrpSpPr>
          <p:grpSpPr bwMode="auto">
            <a:xfrm>
              <a:off x="120" y="2532"/>
              <a:ext cx="2286" cy="1344"/>
              <a:chOff x="156" y="2634"/>
              <a:chExt cx="2286" cy="1344"/>
            </a:xfrm>
          </p:grpSpPr>
          <p:sp>
            <p:nvSpPr>
              <p:cNvPr id="15400" name="Rectangle 9"/>
              <p:cNvSpPr>
                <a:spLocks noChangeArrowheads="1"/>
              </p:cNvSpPr>
              <p:nvPr/>
            </p:nvSpPr>
            <p:spPr bwMode="auto">
              <a:xfrm>
                <a:off x="156" y="2634"/>
                <a:ext cx="1080" cy="1344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401" name="Rectangle 10"/>
              <p:cNvSpPr>
                <a:spLocks noChangeArrowheads="1"/>
              </p:cNvSpPr>
              <p:nvPr/>
            </p:nvSpPr>
            <p:spPr bwMode="auto">
              <a:xfrm>
                <a:off x="1362" y="2634"/>
                <a:ext cx="1080" cy="1344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</p:grpSp>
        <p:pic>
          <p:nvPicPr>
            <p:cNvPr id="15391" name="Picture 11" descr="Edna Krabappe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" y="3190"/>
              <a:ext cx="303" cy="6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2" name="Picture 12" descr="Principal Seymour  Skinner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" y="2571"/>
              <a:ext cx="304" cy="6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3" name="Picture 13" descr="Groundskeeper Willie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2" y="2589"/>
              <a:ext cx="336" cy="5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4" name="Picture 1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0" y="3253"/>
              <a:ext cx="375" cy="5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5" name="Picture 15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" y="2551"/>
              <a:ext cx="343" cy="6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6" name="Picture 16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" y="2763"/>
              <a:ext cx="375" cy="6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7" name="Picture 17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" y="3338"/>
              <a:ext cx="269" cy="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8" name="Picture 18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" y="3432"/>
              <a:ext cx="181" cy="4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9" name="Picture 19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" y="2617"/>
              <a:ext cx="272" cy="8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368" name="Group 20"/>
          <p:cNvGrpSpPr>
            <a:grpSpLocks/>
          </p:cNvGrpSpPr>
          <p:nvPr/>
        </p:nvGrpSpPr>
        <p:grpSpPr bwMode="auto">
          <a:xfrm>
            <a:off x="2012950" y="3990976"/>
            <a:ext cx="3587750" cy="2549525"/>
            <a:chOff x="98" y="300"/>
            <a:chExt cx="3214" cy="2284"/>
          </a:xfrm>
        </p:grpSpPr>
        <p:pic>
          <p:nvPicPr>
            <p:cNvPr id="15370" name="Picture 21" descr="Edna Krabappel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" y="1440"/>
              <a:ext cx="504" cy="1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71" name="Picture 22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1824"/>
              <a:ext cx="308" cy="6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72" name="Picture 23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78"/>
              <a:ext cx="424" cy="1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5373" name="Group 24"/>
            <p:cNvGrpSpPr>
              <a:grpSpLocks/>
            </p:cNvGrpSpPr>
            <p:nvPr/>
          </p:nvGrpSpPr>
          <p:grpSpPr bwMode="auto">
            <a:xfrm>
              <a:off x="1865" y="1505"/>
              <a:ext cx="1447" cy="1031"/>
              <a:chOff x="252" y="2364"/>
              <a:chExt cx="2258" cy="1608"/>
            </a:xfrm>
          </p:grpSpPr>
          <p:pic>
            <p:nvPicPr>
              <p:cNvPr id="15388" name="Picture 25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389" name="Picture 26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374" name="Line 27"/>
            <p:cNvSpPr>
              <a:spLocks noChangeShapeType="1"/>
            </p:cNvSpPr>
            <p:nvPr/>
          </p:nvSpPr>
          <p:spPr bwMode="auto">
            <a:xfrm flipH="1" flipV="1">
              <a:off x="255" y="444"/>
              <a:ext cx="0" cy="90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375" name="Line 28"/>
            <p:cNvSpPr>
              <a:spLocks noChangeShapeType="1"/>
            </p:cNvSpPr>
            <p:nvPr/>
          </p:nvSpPr>
          <p:spPr bwMode="auto">
            <a:xfrm flipH="1" flipV="1">
              <a:off x="2919" y="1167"/>
              <a:ext cx="0" cy="185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376" name="Line 29"/>
            <p:cNvSpPr>
              <a:spLocks noChangeShapeType="1"/>
            </p:cNvSpPr>
            <p:nvPr/>
          </p:nvSpPr>
          <p:spPr bwMode="auto">
            <a:xfrm flipH="1" flipV="1">
              <a:off x="2227" y="1167"/>
              <a:ext cx="0" cy="185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377" name="Line 30"/>
            <p:cNvSpPr>
              <a:spLocks noChangeShapeType="1"/>
            </p:cNvSpPr>
            <p:nvPr/>
          </p:nvSpPr>
          <p:spPr bwMode="auto">
            <a:xfrm flipH="1">
              <a:off x="2221" y="1167"/>
              <a:ext cx="70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378" name="Line 31"/>
            <p:cNvSpPr>
              <a:spLocks noChangeShapeType="1"/>
            </p:cNvSpPr>
            <p:nvPr/>
          </p:nvSpPr>
          <p:spPr bwMode="auto">
            <a:xfrm flipH="1">
              <a:off x="1193" y="710"/>
              <a:ext cx="1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379" name="Line 32"/>
            <p:cNvSpPr>
              <a:spLocks noChangeShapeType="1"/>
            </p:cNvSpPr>
            <p:nvPr/>
          </p:nvSpPr>
          <p:spPr bwMode="auto">
            <a:xfrm rot="5400000" flipH="1">
              <a:off x="2343" y="943"/>
              <a:ext cx="457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380" name="Line 33"/>
            <p:cNvSpPr>
              <a:spLocks noChangeShapeType="1"/>
            </p:cNvSpPr>
            <p:nvPr/>
          </p:nvSpPr>
          <p:spPr bwMode="auto">
            <a:xfrm rot="5400000" flipH="1">
              <a:off x="1712" y="574"/>
              <a:ext cx="26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15381" name="Group 34"/>
            <p:cNvGrpSpPr>
              <a:grpSpLocks/>
            </p:cNvGrpSpPr>
            <p:nvPr/>
          </p:nvGrpSpPr>
          <p:grpSpPr bwMode="auto">
            <a:xfrm>
              <a:off x="859" y="969"/>
              <a:ext cx="703" cy="377"/>
              <a:chOff x="2112" y="2976"/>
              <a:chExt cx="703" cy="377"/>
            </a:xfrm>
          </p:grpSpPr>
          <p:sp>
            <p:nvSpPr>
              <p:cNvPr id="15385" name="Line 35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386" name="Line 36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387" name="Line 37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5382" name="Line 38"/>
            <p:cNvSpPr>
              <a:spLocks noChangeShapeType="1"/>
            </p:cNvSpPr>
            <p:nvPr/>
          </p:nvSpPr>
          <p:spPr bwMode="auto">
            <a:xfrm rot="5400000" flipH="1">
              <a:off x="1065" y="844"/>
              <a:ext cx="25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383" name="Line 39"/>
            <p:cNvSpPr>
              <a:spLocks noChangeShapeType="1"/>
            </p:cNvSpPr>
            <p:nvPr/>
          </p:nvSpPr>
          <p:spPr bwMode="auto">
            <a:xfrm flipH="1">
              <a:off x="253" y="446"/>
              <a:ext cx="158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384" name="Line 40"/>
            <p:cNvSpPr>
              <a:spLocks noChangeShapeType="1"/>
            </p:cNvSpPr>
            <p:nvPr/>
          </p:nvSpPr>
          <p:spPr bwMode="auto">
            <a:xfrm rot="5400000" flipH="1">
              <a:off x="989" y="370"/>
              <a:ext cx="13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5369" name="TextBox 40"/>
          <p:cNvSpPr txBox="1">
            <a:spLocks noChangeArrowheads="1"/>
          </p:cNvSpPr>
          <p:nvPr/>
        </p:nvSpPr>
        <p:spPr bwMode="auto">
          <a:xfrm>
            <a:off x="6235701" y="131764"/>
            <a:ext cx="4251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412985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1524000" y="1"/>
            <a:ext cx="9144000" cy="3660775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title"/>
          </p:nvPr>
        </p:nvSpPr>
        <p:spPr>
          <a:xfrm>
            <a:off x="1727201" y="1025525"/>
            <a:ext cx="8628063" cy="8318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3200">
                <a:effectLst>
                  <a:outerShdw blurRad="38100" dist="38100" dir="2700000" algn="tl">
                    <a:srgbClr val="C0C0C0"/>
                  </a:outerShdw>
                </a:effectLst>
              </a:rPr>
              <a:t>Dendogram: A Useful Tool for Summarizing Similarity Measurements</a:t>
            </a:r>
            <a:r>
              <a:rPr lang="en-US" altLang="en-US" sz="3200"/>
              <a:t> </a:t>
            </a:r>
          </a:p>
        </p:txBody>
      </p:sp>
      <p:grpSp>
        <p:nvGrpSpPr>
          <p:cNvPr id="16388" name="Group 5"/>
          <p:cNvGrpSpPr>
            <a:grpSpLocks/>
          </p:cNvGrpSpPr>
          <p:nvPr/>
        </p:nvGrpSpPr>
        <p:grpSpPr bwMode="auto">
          <a:xfrm>
            <a:off x="1727200" y="3859213"/>
            <a:ext cx="2903538" cy="2760662"/>
            <a:chOff x="114" y="1088"/>
            <a:chExt cx="3296" cy="3133"/>
          </a:xfrm>
        </p:grpSpPr>
        <p:pic>
          <p:nvPicPr>
            <p:cNvPr id="16403" name="Picture 6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" y="2184"/>
              <a:ext cx="662" cy="2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6404" name="Group 7"/>
            <p:cNvGrpSpPr>
              <a:grpSpLocks/>
            </p:cNvGrpSpPr>
            <p:nvPr/>
          </p:nvGrpSpPr>
          <p:grpSpPr bwMode="auto">
            <a:xfrm>
              <a:off x="1152" y="2538"/>
              <a:ext cx="2258" cy="1608"/>
              <a:chOff x="252" y="2364"/>
              <a:chExt cx="2258" cy="1608"/>
            </a:xfrm>
          </p:grpSpPr>
          <p:pic>
            <p:nvPicPr>
              <p:cNvPr id="16412" name="Picture 8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6413" name="Picture 9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6405" name="Line 10"/>
            <p:cNvSpPr>
              <a:spLocks noChangeShapeType="1"/>
            </p:cNvSpPr>
            <p:nvPr/>
          </p:nvSpPr>
          <p:spPr bwMode="auto">
            <a:xfrm flipH="1" flipV="1">
              <a:off x="636" y="1290"/>
              <a:ext cx="0" cy="100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406" name="Line 11"/>
            <p:cNvSpPr>
              <a:spLocks noChangeShapeType="1"/>
            </p:cNvSpPr>
            <p:nvPr/>
          </p:nvSpPr>
          <p:spPr bwMode="auto">
            <a:xfrm flipH="1" flipV="1">
              <a:off x="2796" y="2010"/>
              <a:ext cx="0" cy="28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407" name="Line 12"/>
            <p:cNvSpPr>
              <a:spLocks noChangeShapeType="1"/>
            </p:cNvSpPr>
            <p:nvPr/>
          </p:nvSpPr>
          <p:spPr bwMode="auto">
            <a:xfrm flipH="1" flipV="1">
              <a:off x="1716" y="2010"/>
              <a:ext cx="0" cy="28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408" name="Line 13"/>
            <p:cNvSpPr>
              <a:spLocks noChangeShapeType="1"/>
            </p:cNvSpPr>
            <p:nvPr/>
          </p:nvSpPr>
          <p:spPr bwMode="auto">
            <a:xfrm flipH="1">
              <a:off x="1707" y="2010"/>
              <a:ext cx="109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409" name="Line 14"/>
            <p:cNvSpPr>
              <a:spLocks noChangeShapeType="1"/>
            </p:cNvSpPr>
            <p:nvPr/>
          </p:nvSpPr>
          <p:spPr bwMode="auto">
            <a:xfrm flipH="1">
              <a:off x="627" y="1297"/>
              <a:ext cx="163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410" name="Line 15"/>
            <p:cNvSpPr>
              <a:spLocks noChangeShapeType="1"/>
            </p:cNvSpPr>
            <p:nvPr/>
          </p:nvSpPr>
          <p:spPr bwMode="auto">
            <a:xfrm rot="5400000" flipH="1">
              <a:off x="1898" y="1661"/>
              <a:ext cx="71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411" name="Line 16"/>
            <p:cNvSpPr>
              <a:spLocks noChangeShapeType="1"/>
            </p:cNvSpPr>
            <p:nvPr/>
          </p:nvSpPr>
          <p:spPr bwMode="auto">
            <a:xfrm rot="5400000" flipH="1">
              <a:off x="1361" y="1190"/>
              <a:ext cx="20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6389" name="Group 17"/>
          <p:cNvGrpSpPr>
            <a:grpSpLocks/>
          </p:cNvGrpSpPr>
          <p:nvPr/>
        </p:nvGrpSpPr>
        <p:grpSpPr bwMode="auto">
          <a:xfrm>
            <a:off x="7627938" y="3859213"/>
            <a:ext cx="2843212" cy="2760662"/>
            <a:chOff x="3845" y="2286"/>
            <a:chExt cx="1791" cy="1739"/>
          </a:xfrm>
        </p:grpSpPr>
        <p:pic>
          <p:nvPicPr>
            <p:cNvPr id="16393" name="Picture 18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5" y="2894"/>
              <a:ext cx="367" cy="1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394" name="Picture 1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7" y="3091"/>
              <a:ext cx="499" cy="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395" name="Picture 2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3" y="3118"/>
              <a:ext cx="640" cy="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96" name="Line 21"/>
            <p:cNvSpPr>
              <a:spLocks noChangeShapeType="1"/>
            </p:cNvSpPr>
            <p:nvPr/>
          </p:nvSpPr>
          <p:spPr bwMode="auto">
            <a:xfrm flipH="1" flipV="1">
              <a:off x="4135" y="2398"/>
              <a:ext cx="0" cy="56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397" name="Line 22"/>
            <p:cNvSpPr>
              <a:spLocks noChangeShapeType="1"/>
            </p:cNvSpPr>
            <p:nvPr/>
          </p:nvSpPr>
          <p:spPr bwMode="auto">
            <a:xfrm flipH="1" flipV="1">
              <a:off x="5333" y="2798"/>
              <a:ext cx="0" cy="16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398" name="Line 23"/>
            <p:cNvSpPr>
              <a:spLocks noChangeShapeType="1"/>
            </p:cNvSpPr>
            <p:nvPr/>
          </p:nvSpPr>
          <p:spPr bwMode="auto">
            <a:xfrm flipH="1" flipV="1">
              <a:off x="4734" y="2798"/>
              <a:ext cx="0" cy="16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399" name="Line 24"/>
            <p:cNvSpPr>
              <a:spLocks noChangeShapeType="1"/>
            </p:cNvSpPr>
            <p:nvPr/>
          </p:nvSpPr>
          <p:spPr bwMode="auto">
            <a:xfrm flipH="1">
              <a:off x="4729" y="2798"/>
              <a:ext cx="60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400" name="Line 25"/>
            <p:cNvSpPr>
              <a:spLocks noChangeShapeType="1"/>
            </p:cNvSpPr>
            <p:nvPr/>
          </p:nvSpPr>
          <p:spPr bwMode="auto">
            <a:xfrm flipH="1">
              <a:off x="4130" y="2402"/>
              <a:ext cx="90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401" name="Line 26"/>
            <p:cNvSpPr>
              <a:spLocks noChangeShapeType="1"/>
            </p:cNvSpPr>
            <p:nvPr/>
          </p:nvSpPr>
          <p:spPr bwMode="auto">
            <a:xfrm rot="5400000" flipH="1">
              <a:off x="4835" y="2604"/>
              <a:ext cx="39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402" name="Line 27"/>
            <p:cNvSpPr>
              <a:spLocks noChangeShapeType="1"/>
            </p:cNvSpPr>
            <p:nvPr/>
          </p:nvSpPr>
          <p:spPr bwMode="auto">
            <a:xfrm rot="5400000" flipH="1">
              <a:off x="4537" y="2343"/>
              <a:ext cx="11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pic>
        <p:nvPicPr>
          <p:cNvPr id="16390" name="Picture 2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64" y="2230438"/>
            <a:ext cx="3311525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1" name="Text Box 29"/>
          <p:cNvSpPr txBox="1">
            <a:spLocks noChangeArrowheads="1"/>
          </p:cNvSpPr>
          <p:nvPr/>
        </p:nvSpPr>
        <p:spPr bwMode="auto">
          <a:xfrm>
            <a:off x="5718175" y="2238376"/>
            <a:ext cx="463708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000">
                <a:solidFill>
                  <a:prstClr val="black"/>
                </a:solidFill>
              </a:rPr>
              <a:t>The similarity between two objects in a dendrogram is represented as the height of the lowest internal node they share.</a:t>
            </a:r>
          </a:p>
        </p:txBody>
      </p:sp>
      <p:sp>
        <p:nvSpPr>
          <p:cNvPr id="16392" name="TextBox 29"/>
          <p:cNvSpPr txBox="1">
            <a:spLocks noChangeArrowheads="1"/>
          </p:cNvSpPr>
          <p:nvPr/>
        </p:nvSpPr>
        <p:spPr bwMode="auto">
          <a:xfrm>
            <a:off x="6102351" y="315914"/>
            <a:ext cx="4252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3742292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1052"/>
          <p:cNvGrpSpPr>
            <a:grpSpLocks/>
          </p:cNvGrpSpPr>
          <p:nvPr/>
        </p:nvGrpSpPr>
        <p:grpSpPr bwMode="auto">
          <a:xfrm>
            <a:off x="2209800" y="1752600"/>
            <a:ext cx="7467600" cy="3276600"/>
            <a:chOff x="672" y="720"/>
            <a:chExt cx="3840" cy="2064"/>
          </a:xfrm>
        </p:grpSpPr>
        <p:sp>
          <p:nvSpPr>
            <p:cNvPr id="17423" name="Line 1032"/>
            <p:cNvSpPr>
              <a:spLocks noChangeShapeType="1"/>
            </p:cNvSpPr>
            <p:nvPr/>
          </p:nvSpPr>
          <p:spPr bwMode="auto">
            <a:xfrm flipV="1">
              <a:off x="4512" y="864"/>
              <a:ext cx="0" cy="115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424" name="Line 1033"/>
            <p:cNvSpPr>
              <a:spLocks noChangeShapeType="1"/>
            </p:cNvSpPr>
            <p:nvPr/>
          </p:nvSpPr>
          <p:spPr bwMode="auto">
            <a:xfrm flipV="1">
              <a:off x="3264" y="864"/>
              <a:ext cx="0" cy="14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425" name="Line 1034"/>
            <p:cNvSpPr>
              <a:spLocks noChangeShapeType="1"/>
            </p:cNvSpPr>
            <p:nvPr/>
          </p:nvSpPr>
          <p:spPr bwMode="auto">
            <a:xfrm flipV="1">
              <a:off x="3840" y="1008"/>
              <a:ext cx="0" cy="67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426" name="Line 1035"/>
            <p:cNvSpPr>
              <a:spLocks noChangeShapeType="1"/>
            </p:cNvSpPr>
            <p:nvPr/>
          </p:nvSpPr>
          <p:spPr bwMode="auto">
            <a:xfrm flipV="1">
              <a:off x="2640" y="1008"/>
              <a:ext cx="0" cy="96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427" name="Line 1036"/>
            <p:cNvSpPr>
              <a:spLocks noChangeShapeType="1"/>
            </p:cNvSpPr>
            <p:nvPr/>
          </p:nvSpPr>
          <p:spPr bwMode="auto">
            <a:xfrm flipV="1">
              <a:off x="3216" y="1968"/>
              <a:ext cx="0" cy="57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428" name="Line 1037"/>
            <p:cNvSpPr>
              <a:spLocks noChangeShapeType="1"/>
            </p:cNvSpPr>
            <p:nvPr/>
          </p:nvSpPr>
          <p:spPr bwMode="auto">
            <a:xfrm flipV="1">
              <a:off x="2016" y="1968"/>
              <a:ext cx="0" cy="1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429" name="Line 1038"/>
            <p:cNvSpPr>
              <a:spLocks noChangeShapeType="1"/>
            </p:cNvSpPr>
            <p:nvPr/>
          </p:nvSpPr>
          <p:spPr bwMode="auto">
            <a:xfrm flipV="1">
              <a:off x="2592" y="2160"/>
              <a:ext cx="0" cy="62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430" name="Line 1039"/>
            <p:cNvSpPr>
              <a:spLocks noChangeShapeType="1"/>
            </p:cNvSpPr>
            <p:nvPr/>
          </p:nvSpPr>
          <p:spPr bwMode="auto">
            <a:xfrm flipV="1">
              <a:off x="1440" y="2160"/>
              <a:ext cx="0" cy="14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431" name="Line 1040"/>
            <p:cNvSpPr>
              <a:spLocks noChangeShapeType="1"/>
            </p:cNvSpPr>
            <p:nvPr/>
          </p:nvSpPr>
          <p:spPr bwMode="auto">
            <a:xfrm flipV="1">
              <a:off x="960" y="2304"/>
              <a:ext cx="0" cy="14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432" name="Line 1041"/>
            <p:cNvSpPr>
              <a:spLocks noChangeShapeType="1"/>
            </p:cNvSpPr>
            <p:nvPr/>
          </p:nvSpPr>
          <p:spPr bwMode="auto">
            <a:xfrm flipV="1">
              <a:off x="672" y="2448"/>
              <a:ext cx="0" cy="1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433" name="Line 1042"/>
            <p:cNvSpPr>
              <a:spLocks noChangeShapeType="1"/>
            </p:cNvSpPr>
            <p:nvPr/>
          </p:nvSpPr>
          <p:spPr bwMode="auto">
            <a:xfrm flipV="1">
              <a:off x="1296" y="2448"/>
              <a:ext cx="0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434" name="Line 1043"/>
            <p:cNvSpPr>
              <a:spLocks noChangeShapeType="1"/>
            </p:cNvSpPr>
            <p:nvPr/>
          </p:nvSpPr>
          <p:spPr bwMode="auto">
            <a:xfrm rot="16200000" flipV="1">
              <a:off x="3888" y="240"/>
              <a:ext cx="0" cy="124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435" name="Line 1044"/>
            <p:cNvSpPr>
              <a:spLocks noChangeShapeType="1"/>
            </p:cNvSpPr>
            <p:nvPr/>
          </p:nvSpPr>
          <p:spPr bwMode="auto">
            <a:xfrm flipV="1">
              <a:off x="3888" y="720"/>
              <a:ext cx="0" cy="14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436" name="Line 1045"/>
            <p:cNvSpPr>
              <a:spLocks noChangeShapeType="1"/>
            </p:cNvSpPr>
            <p:nvPr/>
          </p:nvSpPr>
          <p:spPr bwMode="auto">
            <a:xfrm rot="16200000" flipV="1">
              <a:off x="3240" y="408"/>
              <a:ext cx="0" cy="12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437" name="Line 1046"/>
            <p:cNvSpPr>
              <a:spLocks noChangeShapeType="1"/>
            </p:cNvSpPr>
            <p:nvPr/>
          </p:nvSpPr>
          <p:spPr bwMode="auto">
            <a:xfrm rot="16200000" flipV="1">
              <a:off x="2616" y="1368"/>
              <a:ext cx="0" cy="12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438" name="Line 1047"/>
            <p:cNvSpPr>
              <a:spLocks noChangeShapeType="1"/>
            </p:cNvSpPr>
            <p:nvPr/>
          </p:nvSpPr>
          <p:spPr bwMode="auto">
            <a:xfrm rot="16200000" flipV="1">
              <a:off x="2016" y="1584"/>
              <a:ext cx="0" cy="115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439" name="Line 1048"/>
            <p:cNvSpPr>
              <a:spLocks noChangeShapeType="1"/>
            </p:cNvSpPr>
            <p:nvPr/>
          </p:nvSpPr>
          <p:spPr bwMode="auto">
            <a:xfrm rot="16200000" flipV="1">
              <a:off x="984" y="2136"/>
              <a:ext cx="0" cy="62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440" name="Line 1049"/>
            <p:cNvSpPr>
              <a:spLocks noChangeShapeType="1"/>
            </p:cNvSpPr>
            <p:nvPr/>
          </p:nvSpPr>
          <p:spPr bwMode="auto">
            <a:xfrm rot="16200000" flipV="1">
              <a:off x="1368" y="1896"/>
              <a:ext cx="0" cy="81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441" name="Line 1051"/>
            <p:cNvSpPr>
              <a:spLocks noChangeShapeType="1"/>
            </p:cNvSpPr>
            <p:nvPr/>
          </p:nvSpPr>
          <p:spPr bwMode="auto">
            <a:xfrm flipV="1">
              <a:off x="1776" y="2304"/>
              <a:ext cx="0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pic>
        <p:nvPicPr>
          <p:cNvPr id="17411" name="Picture 1053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876801"/>
            <a:ext cx="14795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412" name="Group 1054"/>
          <p:cNvGrpSpPr>
            <a:grpSpLocks/>
          </p:cNvGrpSpPr>
          <p:nvPr/>
        </p:nvGrpSpPr>
        <p:grpSpPr bwMode="auto">
          <a:xfrm>
            <a:off x="3657600" y="4648201"/>
            <a:ext cx="1676400" cy="1211263"/>
            <a:chOff x="2548" y="2038"/>
            <a:chExt cx="698" cy="668"/>
          </a:xfrm>
        </p:grpSpPr>
        <p:sp>
          <p:nvSpPr>
            <p:cNvPr id="17421" name="Rectangle 1055"/>
            <p:cNvSpPr>
              <a:spLocks noChangeArrowheads="1"/>
            </p:cNvSpPr>
            <p:nvPr/>
          </p:nvSpPr>
          <p:spPr bwMode="auto">
            <a:xfrm>
              <a:off x="2548" y="2038"/>
              <a:ext cx="647" cy="6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pic>
          <p:nvPicPr>
            <p:cNvPr id="17422" name="Picture 1056" descr="C:\WINNT\Profiles\eamonn.000\Desktop\gorilla.gif"/>
            <p:cNvPicPr preferRelativeResize="0"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6" y="2088"/>
              <a:ext cx="670" cy="6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413" name="Picture 1057" descr="C:\WINNT\Profiles\eamonn.000\Desktop\chimp.gif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1" y="5029201"/>
            <a:ext cx="873125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1058"/>
          <p:cNvPicPr preferRelativeResize="0"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724400"/>
            <a:ext cx="528638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Picture 1060"/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4876800"/>
            <a:ext cx="976313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6" name="Picture 1059"/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733800"/>
            <a:ext cx="2730500" cy="183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7" name="Picture 1061" descr="http://www.iwokrama.org/ROM/mammals/guides/images/atpa.jpg"/>
          <p:cNvPicPr preferRelativeResize="0"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1" y="3287713"/>
            <a:ext cx="1147763" cy="97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8" name="Text Box 1062"/>
          <p:cNvSpPr txBox="1">
            <a:spLocks noChangeArrowheads="1"/>
          </p:cNvSpPr>
          <p:nvPr/>
        </p:nvSpPr>
        <p:spPr bwMode="auto">
          <a:xfrm>
            <a:off x="1524000" y="6340475"/>
            <a:ext cx="914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400">
                <a:solidFill>
                  <a:srgbClr val="800080"/>
                </a:solidFill>
              </a:rPr>
              <a:t>(Bovine:0.69395, (Spider Monkey 0.390, (Gibbon:0.36079,(Orang:0.33636,(Gorilla:0.17147,(Chimp:0.19268, Human:0.11927):0.08386):0.06124):0.15057):0.54939);</a:t>
            </a:r>
          </a:p>
        </p:txBody>
      </p:sp>
      <p:sp>
        <p:nvSpPr>
          <p:cNvPr id="212007" name="Rectangle 1063"/>
          <p:cNvSpPr>
            <a:spLocks noChangeArrowheads="1"/>
          </p:cNvSpPr>
          <p:nvPr/>
        </p:nvSpPr>
        <p:spPr bwMode="auto">
          <a:xfrm>
            <a:off x="1771650" y="838200"/>
            <a:ext cx="502443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defRPr/>
            </a:pPr>
            <a:r>
              <a:rPr lang="en-US" altLang="en-US" sz="2800">
                <a:solidFill>
                  <a:srgbClr val="1F497D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There is only one dataset that can be perfectly clustered using a hierarchy… </a:t>
            </a:r>
          </a:p>
        </p:txBody>
      </p:sp>
      <p:sp>
        <p:nvSpPr>
          <p:cNvPr id="17420" name="TextBox 32"/>
          <p:cNvSpPr txBox="1">
            <a:spLocks noChangeArrowheads="1"/>
          </p:cNvSpPr>
          <p:nvPr/>
        </p:nvSpPr>
        <p:spPr bwMode="auto">
          <a:xfrm>
            <a:off x="6337301" y="131764"/>
            <a:ext cx="4252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1118199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025651" y="5189539"/>
            <a:ext cx="358775" cy="192087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7731126" y="5189539"/>
            <a:ext cx="358775" cy="192087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6" name="Freeform 4"/>
          <p:cNvSpPr>
            <a:spLocks/>
          </p:cNvSpPr>
          <p:nvPr/>
        </p:nvSpPr>
        <p:spPr bwMode="auto">
          <a:xfrm>
            <a:off x="7910514" y="5056189"/>
            <a:ext cx="523875" cy="325437"/>
          </a:xfrm>
          <a:custGeom>
            <a:avLst/>
            <a:gdLst>
              <a:gd name="T0" fmla="*/ 0 w 228"/>
              <a:gd name="T1" fmla="*/ 132585 h 162"/>
              <a:gd name="T2" fmla="*/ 0 w 228"/>
              <a:gd name="T3" fmla="*/ 0 h 162"/>
              <a:gd name="T4" fmla="*/ 523875 w 228"/>
              <a:gd name="T5" fmla="*/ 0 h 162"/>
              <a:gd name="T6" fmla="*/ 523875 w 228"/>
              <a:gd name="T7" fmla="*/ 325437 h 162"/>
              <a:gd name="T8" fmla="*/ 0 60000 65536"/>
              <a:gd name="T9" fmla="*/ 0 60000 65536"/>
              <a:gd name="T10" fmla="*/ 0 60000 65536"/>
              <a:gd name="T11" fmla="*/ 0 60000 65536"/>
              <a:gd name="T12" fmla="*/ 0 w 228"/>
              <a:gd name="T13" fmla="*/ 0 h 162"/>
              <a:gd name="T14" fmla="*/ 228 w 228"/>
              <a:gd name="T15" fmla="*/ 162 h 1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8" h="162">
                <a:moveTo>
                  <a:pt x="0" y="66"/>
                </a:moveTo>
                <a:lnTo>
                  <a:pt x="0" y="0"/>
                </a:lnTo>
                <a:lnTo>
                  <a:pt x="228" y="0"/>
                </a:lnTo>
                <a:lnTo>
                  <a:pt x="228" y="162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2741614" y="5008563"/>
            <a:ext cx="358775" cy="373062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4521200" y="5008563"/>
            <a:ext cx="357188" cy="373062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3817939" y="5008563"/>
            <a:ext cx="344487" cy="373062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40" name="Freeform 8"/>
          <p:cNvSpPr>
            <a:spLocks/>
          </p:cNvSpPr>
          <p:nvPr/>
        </p:nvSpPr>
        <p:spPr bwMode="auto">
          <a:xfrm>
            <a:off x="2921001" y="4876801"/>
            <a:ext cx="538163" cy="504825"/>
          </a:xfrm>
          <a:custGeom>
            <a:avLst/>
            <a:gdLst>
              <a:gd name="T0" fmla="*/ 0 w 234"/>
              <a:gd name="T1" fmla="*/ 132216 h 252"/>
              <a:gd name="T2" fmla="*/ 0 w 234"/>
              <a:gd name="T3" fmla="*/ 0 h 252"/>
              <a:gd name="T4" fmla="*/ 538163 w 234"/>
              <a:gd name="T5" fmla="*/ 0 h 252"/>
              <a:gd name="T6" fmla="*/ 538163 w 234"/>
              <a:gd name="T7" fmla="*/ 504825 h 252"/>
              <a:gd name="T8" fmla="*/ 0 60000 65536"/>
              <a:gd name="T9" fmla="*/ 0 60000 65536"/>
              <a:gd name="T10" fmla="*/ 0 60000 65536"/>
              <a:gd name="T11" fmla="*/ 0 60000 65536"/>
              <a:gd name="T12" fmla="*/ 0 w 234"/>
              <a:gd name="T13" fmla="*/ 0 h 252"/>
              <a:gd name="T14" fmla="*/ 234 w 234"/>
              <a:gd name="T15" fmla="*/ 252 h 2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4" h="252">
                <a:moveTo>
                  <a:pt x="0" y="66"/>
                </a:moveTo>
                <a:lnTo>
                  <a:pt x="0" y="0"/>
                </a:lnTo>
                <a:lnTo>
                  <a:pt x="234" y="0"/>
                </a:lnTo>
                <a:lnTo>
                  <a:pt x="234" y="252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441" name="Freeform 9"/>
          <p:cNvSpPr>
            <a:spLocks/>
          </p:cNvSpPr>
          <p:nvPr/>
        </p:nvSpPr>
        <p:spPr bwMode="auto">
          <a:xfrm>
            <a:off x="4699001" y="4876801"/>
            <a:ext cx="538163" cy="504825"/>
          </a:xfrm>
          <a:custGeom>
            <a:avLst/>
            <a:gdLst>
              <a:gd name="T0" fmla="*/ 0 w 234"/>
              <a:gd name="T1" fmla="*/ 132216 h 252"/>
              <a:gd name="T2" fmla="*/ 0 w 234"/>
              <a:gd name="T3" fmla="*/ 0 h 252"/>
              <a:gd name="T4" fmla="*/ 538163 w 234"/>
              <a:gd name="T5" fmla="*/ 0 h 252"/>
              <a:gd name="T6" fmla="*/ 538163 w 234"/>
              <a:gd name="T7" fmla="*/ 504825 h 252"/>
              <a:gd name="T8" fmla="*/ 0 60000 65536"/>
              <a:gd name="T9" fmla="*/ 0 60000 65536"/>
              <a:gd name="T10" fmla="*/ 0 60000 65536"/>
              <a:gd name="T11" fmla="*/ 0 60000 65536"/>
              <a:gd name="T12" fmla="*/ 0 w 234"/>
              <a:gd name="T13" fmla="*/ 0 h 252"/>
              <a:gd name="T14" fmla="*/ 234 w 234"/>
              <a:gd name="T15" fmla="*/ 252 h 2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4" h="252">
                <a:moveTo>
                  <a:pt x="0" y="66"/>
                </a:moveTo>
                <a:lnTo>
                  <a:pt x="0" y="0"/>
                </a:lnTo>
                <a:lnTo>
                  <a:pt x="234" y="0"/>
                </a:lnTo>
                <a:lnTo>
                  <a:pt x="234" y="252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5953126" y="4827589"/>
            <a:ext cx="346075" cy="554037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43" name="Freeform 11"/>
          <p:cNvSpPr>
            <a:spLocks/>
          </p:cNvSpPr>
          <p:nvPr/>
        </p:nvSpPr>
        <p:spPr bwMode="auto">
          <a:xfrm>
            <a:off x="7373938" y="4708525"/>
            <a:ext cx="798512" cy="673100"/>
          </a:xfrm>
          <a:custGeom>
            <a:avLst/>
            <a:gdLst>
              <a:gd name="T0" fmla="*/ 0 w 348"/>
              <a:gd name="T1" fmla="*/ 673100 h 336"/>
              <a:gd name="T2" fmla="*/ 0 w 348"/>
              <a:gd name="T3" fmla="*/ 0 h 336"/>
              <a:gd name="T4" fmla="*/ 798512 w 348"/>
              <a:gd name="T5" fmla="*/ 0 h 336"/>
              <a:gd name="T6" fmla="*/ 798512 w 348"/>
              <a:gd name="T7" fmla="*/ 348570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348"/>
              <a:gd name="T13" fmla="*/ 0 h 336"/>
              <a:gd name="T14" fmla="*/ 348 w 348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8" h="336">
                <a:moveTo>
                  <a:pt x="0" y="336"/>
                </a:moveTo>
                <a:lnTo>
                  <a:pt x="0" y="0"/>
                </a:lnTo>
                <a:lnTo>
                  <a:pt x="348" y="0"/>
                </a:lnTo>
                <a:lnTo>
                  <a:pt x="348" y="174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444" name="Freeform 12"/>
          <p:cNvSpPr>
            <a:spLocks/>
          </p:cNvSpPr>
          <p:nvPr/>
        </p:nvSpPr>
        <p:spPr bwMode="auto">
          <a:xfrm>
            <a:off x="3182939" y="4684713"/>
            <a:ext cx="814387" cy="323850"/>
          </a:xfrm>
          <a:custGeom>
            <a:avLst/>
            <a:gdLst>
              <a:gd name="T0" fmla="*/ 0 w 354"/>
              <a:gd name="T1" fmla="*/ 191911 h 162"/>
              <a:gd name="T2" fmla="*/ 0 w 354"/>
              <a:gd name="T3" fmla="*/ 0 h 162"/>
              <a:gd name="T4" fmla="*/ 814387 w 354"/>
              <a:gd name="T5" fmla="*/ 0 h 162"/>
              <a:gd name="T6" fmla="*/ 814387 w 354"/>
              <a:gd name="T7" fmla="*/ 323850 h 162"/>
              <a:gd name="T8" fmla="*/ 0 60000 65536"/>
              <a:gd name="T9" fmla="*/ 0 60000 65536"/>
              <a:gd name="T10" fmla="*/ 0 60000 65536"/>
              <a:gd name="T11" fmla="*/ 0 60000 65536"/>
              <a:gd name="T12" fmla="*/ 0 w 354"/>
              <a:gd name="T13" fmla="*/ 0 h 162"/>
              <a:gd name="T14" fmla="*/ 354 w 354"/>
              <a:gd name="T15" fmla="*/ 162 h 1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4" h="162">
                <a:moveTo>
                  <a:pt x="0" y="96"/>
                </a:moveTo>
                <a:lnTo>
                  <a:pt x="0" y="0"/>
                </a:lnTo>
                <a:lnTo>
                  <a:pt x="354" y="0"/>
                </a:lnTo>
                <a:lnTo>
                  <a:pt x="354" y="162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445" name="Rectangle 13"/>
          <p:cNvSpPr>
            <a:spLocks noChangeArrowheads="1"/>
          </p:cNvSpPr>
          <p:nvPr/>
        </p:nvSpPr>
        <p:spPr bwMode="auto">
          <a:xfrm>
            <a:off x="9151939" y="4648201"/>
            <a:ext cx="358775" cy="733425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9867901" y="4648201"/>
            <a:ext cx="358775" cy="733425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47" name="Rectangle 15"/>
          <p:cNvSpPr>
            <a:spLocks noChangeArrowheads="1"/>
          </p:cNvSpPr>
          <p:nvPr/>
        </p:nvSpPr>
        <p:spPr bwMode="auto">
          <a:xfrm>
            <a:off x="6656389" y="4648201"/>
            <a:ext cx="358775" cy="733425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48" name="Freeform 16"/>
          <p:cNvSpPr>
            <a:spLocks/>
          </p:cNvSpPr>
          <p:nvPr/>
        </p:nvSpPr>
        <p:spPr bwMode="auto">
          <a:xfrm>
            <a:off x="4975226" y="4540251"/>
            <a:ext cx="620713" cy="841375"/>
          </a:xfrm>
          <a:custGeom>
            <a:avLst/>
            <a:gdLst>
              <a:gd name="T0" fmla="*/ 0 w 270"/>
              <a:gd name="T1" fmla="*/ 336550 h 420"/>
              <a:gd name="T2" fmla="*/ 0 w 270"/>
              <a:gd name="T3" fmla="*/ 0 h 420"/>
              <a:gd name="T4" fmla="*/ 620713 w 270"/>
              <a:gd name="T5" fmla="*/ 0 h 420"/>
              <a:gd name="T6" fmla="*/ 620713 w 270"/>
              <a:gd name="T7" fmla="*/ 841375 h 420"/>
              <a:gd name="T8" fmla="*/ 0 60000 65536"/>
              <a:gd name="T9" fmla="*/ 0 60000 65536"/>
              <a:gd name="T10" fmla="*/ 0 60000 65536"/>
              <a:gd name="T11" fmla="*/ 0 60000 65536"/>
              <a:gd name="T12" fmla="*/ 0 w 270"/>
              <a:gd name="T13" fmla="*/ 0 h 420"/>
              <a:gd name="T14" fmla="*/ 270 w 270"/>
              <a:gd name="T15" fmla="*/ 420 h 4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70" h="420">
                <a:moveTo>
                  <a:pt x="0" y="168"/>
                </a:moveTo>
                <a:lnTo>
                  <a:pt x="0" y="0"/>
                </a:lnTo>
                <a:lnTo>
                  <a:pt x="270" y="0"/>
                </a:lnTo>
                <a:lnTo>
                  <a:pt x="270" y="420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449" name="Freeform 17"/>
          <p:cNvSpPr>
            <a:spLocks/>
          </p:cNvSpPr>
          <p:nvPr/>
        </p:nvSpPr>
        <p:spPr bwMode="auto">
          <a:xfrm>
            <a:off x="2205038" y="4430714"/>
            <a:ext cx="1377950" cy="758825"/>
          </a:xfrm>
          <a:custGeom>
            <a:avLst/>
            <a:gdLst>
              <a:gd name="T0" fmla="*/ 1377950 w 600"/>
              <a:gd name="T1" fmla="*/ 252942 h 378"/>
              <a:gd name="T2" fmla="*/ 1377950 w 600"/>
              <a:gd name="T3" fmla="*/ 0 h 378"/>
              <a:gd name="T4" fmla="*/ 0 w 600"/>
              <a:gd name="T5" fmla="*/ 0 h 378"/>
              <a:gd name="T6" fmla="*/ 0 w 600"/>
              <a:gd name="T7" fmla="*/ 758825 h 378"/>
              <a:gd name="T8" fmla="*/ 0 60000 65536"/>
              <a:gd name="T9" fmla="*/ 0 60000 65536"/>
              <a:gd name="T10" fmla="*/ 0 60000 65536"/>
              <a:gd name="T11" fmla="*/ 0 60000 65536"/>
              <a:gd name="T12" fmla="*/ 0 w 600"/>
              <a:gd name="T13" fmla="*/ 0 h 378"/>
              <a:gd name="T14" fmla="*/ 600 w 600"/>
              <a:gd name="T15" fmla="*/ 378 h 37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0" h="378">
                <a:moveTo>
                  <a:pt x="600" y="126"/>
                </a:moveTo>
                <a:lnTo>
                  <a:pt x="600" y="0"/>
                </a:lnTo>
                <a:lnTo>
                  <a:pt x="0" y="0"/>
                </a:lnTo>
                <a:lnTo>
                  <a:pt x="0" y="378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450" name="Freeform 18"/>
          <p:cNvSpPr>
            <a:spLocks/>
          </p:cNvSpPr>
          <p:nvPr/>
        </p:nvSpPr>
        <p:spPr bwMode="auto">
          <a:xfrm>
            <a:off x="6132513" y="4406900"/>
            <a:ext cx="703262" cy="420688"/>
          </a:xfrm>
          <a:custGeom>
            <a:avLst/>
            <a:gdLst>
              <a:gd name="T0" fmla="*/ 0 w 306"/>
              <a:gd name="T1" fmla="*/ 420688 h 210"/>
              <a:gd name="T2" fmla="*/ 0 w 306"/>
              <a:gd name="T3" fmla="*/ 0 h 210"/>
              <a:gd name="T4" fmla="*/ 703262 w 306"/>
              <a:gd name="T5" fmla="*/ 0 h 210"/>
              <a:gd name="T6" fmla="*/ 703262 w 306"/>
              <a:gd name="T7" fmla="*/ 240393 h 210"/>
              <a:gd name="T8" fmla="*/ 0 60000 65536"/>
              <a:gd name="T9" fmla="*/ 0 60000 65536"/>
              <a:gd name="T10" fmla="*/ 0 60000 65536"/>
              <a:gd name="T11" fmla="*/ 0 60000 65536"/>
              <a:gd name="T12" fmla="*/ 0 w 306"/>
              <a:gd name="T13" fmla="*/ 0 h 210"/>
              <a:gd name="T14" fmla="*/ 306 w 306"/>
              <a:gd name="T15" fmla="*/ 210 h 2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6" h="210">
                <a:moveTo>
                  <a:pt x="0" y="210"/>
                </a:moveTo>
                <a:lnTo>
                  <a:pt x="0" y="0"/>
                </a:lnTo>
                <a:lnTo>
                  <a:pt x="306" y="0"/>
                </a:lnTo>
                <a:lnTo>
                  <a:pt x="306" y="120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9331326" y="4383088"/>
            <a:ext cx="715963" cy="265112"/>
          </a:xfrm>
          <a:prstGeom prst="rect">
            <a:avLst/>
          </a:prstGeom>
          <a:noFill/>
          <a:ln w="444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52" name="Freeform 20"/>
          <p:cNvSpPr>
            <a:spLocks/>
          </p:cNvSpPr>
          <p:nvPr/>
        </p:nvSpPr>
        <p:spPr bwMode="auto">
          <a:xfrm>
            <a:off x="2894014" y="4335464"/>
            <a:ext cx="2384425" cy="204787"/>
          </a:xfrm>
          <a:custGeom>
            <a:avLst/>
            <a:gdLst>
              <a:gd name="T0" fmla="*/ 0 w 1038"/>
              <a:gd name="T1" fmla="*/ 96370 h 102"/>
              <a:gd name="T2" fmla="*/ 0 w 1038"/>
              <a:gd name="T3" fmla="*/ 0 h 102"/>
              <a:gd name="T4" fmla="*/ 2384425 w 1038"/>
              <a:gd name="T5" fmla="*/ 0 h 102"/>
              <a:gd name="T6" fmla="*/ 2384425 w 1038"/>
              <a:gd name="T7" fmla="*/ 204787 h 102"/>
              <a:gd name="T8" fmla="*/ 0 60000 65536"/>
              <a:gd name="T9" fmla="*/ 0 60000 65536"/>
              <a:gd name="T10" fmla="*/ 0 60000 65536"/>
              <a:gd name="T11" fmla="*/ 0 60000 65536"/>
              <a:gd name="T12" fmla="*/ 0 w 1038"/>
              <a:gd name="T13" fmla="*/ 0 h 102"/>
              <a:gd name="T14" fmla="*/ 1038 w 1038"/>
              <a:gd name="T15" fmla="*/ 102 h 1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38" h="102">
                <a:moveTo>
                  <a:pt x="0" y="48"/>
                </a:moveTo>
                <a:lnTo>
                  <a:pt x="0" y="0"/>
                </a:lnTo>
                <a:lnTo>
                  <a:pt x="1038" y="0"/>
                </a:lnTo>
                <a:lnTo>
                  <a:pt x="1038" y="102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453" name="Freeform 21"/>
          <p:cNvSpPr>
            <a:spLocks/>
          </p:cNvSpPr>
          <p:nvPr/>
        </p:nvSpPr>
        <p:spPr bwMode="auto">
          <a:xfrm>
            <a:off x="8793163" y="4143375"/>
            <a:ext cx="895350" cy="1238250"/>
          </a:xfrm>
          <a:custGeom>
            <a:avLst/>
            <a:gdLst>
              <a:gd name="T0" fmla="*/ 0 w 390"/>
              <a:gd name="T1" fmla="*/ 1238250 h 618"/>
              <a:gd name="T2" fmla="*/ 0 w 390"/>
              <a:gd name="T3" fmla="*/ 0 h 618"/>
              <a:gd name="T4" fmla="*/ 895350 w 390"/>
              <a:gd name="T5" fmla="*/ 0 h 618"/>
              <a:gd name="T6" fmla="*/ 895350 w 390"/>
              <a:gd name="T7" fmla="*/ 240437 h 618"/>
              <a:gd name="T8" fmla="*/ 0 60000 65536"/>
              <a:gd name="T9" fmla="*/ 0 60000 65536"/>
              <a:gd name="T10" fmla="*/ 0 60000 65536"/>
              <a:gd name="T11" fmla="*/ 0 60000 65536"/>
              <a:gd name="T12" fmla="*/ 0 w 390"/>
              <a:gd name="T13" fmla="*/ 0 h 618"/>
              <a:gd name="T14" fmla="*/ 390 w 390"/>
              <a:gd name="T15" fmla="*/ 618 h 6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0" h="618">
                <a:moveTo>
                  <a:pt x="0" y="618"/>
                </a:moveTo>
                <a:lnTo>
                  <a:pt x="0" y="0"/>
                </a:lnTo>
                <a:lnTo>
                  <a:pt x="390" y="0"/>
                </a:lnTo>
                <a:lnTo>
                  <a:pt x="390" y="120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454" name="Freeform 22"/>
          <p:cNvSpPr>
            <a:spLocks/>
          </p:cNvSpPr>
          <p:nvPr/>
        </p:nvSpPr>
        <p:spPr bwMode="auto">
          <a:xfrm>
            <a:off x="7773989" y="3625851"/>
            <a:ext cx="1474787" cy="1082675"/>
          </a:xfrm>
          <a:custGeom>
            <a:avLst/>
            <a:gdLst>
              <a:gd name="T0" fmla="*/ 0 w 642"/>
              <a:gd name="T1" fmla="*/ 1082675 h 540"/>
              <a:gd name="T2" fmla="*/ 0 w 642"/>
              <a:gd name="T3" fmla="*/ 0 h 540"/>
              <a:gd name="T4" fmla="*/ 1474787 w 642"/>
              <a:gd name="T5" fmla="*/ 0 h 540"/>
              <a:gd name="T6" fmla="*/ 1474787 w 642"/>
              <a:gd name="T7" fmla="*/ 517278 h 540"/>
              <a:gd name="T8" fmla="*/ 0 60000 65536"/>
              <a:gd name="T9" fmla="*/ 0 60000 65536"/>
              <a:gd name="T10" fmla="*/ 0 60000 65536"/>
              <a:gd name="T11" fmla="*/ 0 60000 65536"/>
              <a:gd name="T12" fmla="*/ 0 w 642"/>
              <a:gd name="T13" fmla="*/ 0 h 540"/>
              <a:gd name="T14" fmla="*/ 642 w 642"/>
              <a:gd name="T15" fmla="*/ 540 h 5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2" h="540">
                <a:moveTo>
                  <a:pt x="0" y="540"/>
                </a:moveTo>
                <a:lnTo>
                  <a:pt x="0" y="0"/>
                </a:lnTo>
                <a:lnTo>
                  <a:pt x="642" y="0"/>
                </a:lnTo>
                <a:lnTo>
                  <a:pt x="642" y="258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455" name="Freeform 23"/>
          <p:cNvSpPr>
            <a:spLocks/>
          </p:cNvSpPr>
          <p:nvPr/>
        </p:nvSpPr>
        <p:spPr bwMode="auto">
          <a:xfrm>
            <a:off x="4092576" y="3108326"/>
            <a:ext cx="2384425" cy="1298575"/>
          </a:xfrm>
          <a:custGeom>
            <a:avLst/>
            <a:gdLst>
              <a:gd name="T0" fmla="*/ 0 w 1038"/>
              <a:gd name="T1" fmla="*/ 1226432 h 648"/>
              <a:gd name="T2" fmla="*/ 0 w 1038"/>
              <a:gd name="T3" fmla="*/ 0 h 648"/>
              <a:gd name="T4" fmla="*/ 2384425 w 1038"/>
              <a:gd name="T5" fmla="*/ 0 h 648"/>
              <a:gd name="T6" fmla="*/ 2384425 w 1038"/>
              <a:gd name="T7" fmla="*/ 1298575 h 648"/>
              <a:gd name="T8" fmla="*/ 0 60000 65536"/>
              <a:gd name="T9" fmla="*/ 0 60000 65536"/>
              <a:gd name="T10" fmla="*/ 0 60000 65536"/>
              <a:gd name="T11" fmla="*/ 0 60000 65536"/>
              <a:gd name="T12" fmla="*/ 0 w 1038"/>
              <a:gd name="T13" fmla="*/ 0 h 648"/>
              <a:gd name="T14" fmla="*/ 1038 w 1038"/>
              <a:gd name="T15" fmla="*/ 648 h 6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38" h="648">
                <a:moveTo>
                  <a:pt x="0" y="612"/>
                </a:moveTo>
                <a:lnTo>
                  <a:pt x="0" y="0"/>
                </a:lnTo>
                <a:lnTo>
                  <a:pt x="1038" y="0"/>
                </a:lnTo>
                <a:lnTo>
                  <a:pt x="1038" y="648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456" name="Freeform 24"/>
          <p:cNvSpPr>
            <a:spLocks/>
          </p:cNvSpPr>
          <p:nvPr/>
        </p:nvSpPr>
        <p:spPr bwMode="auto">
          <a:xfrm>
            <a:off x="5292726" y="714376"/>
            <a:ext cx="3211513" cy="2911475"/>
          </a:xfrm>
          <a:custGeom>
            <a:avLst/>
            <a:gdLst>
              <a:gd name="T0" fmla="*/ 0 w 1398"/>
              <a:gd name="T1" fmla="*/ 2394147 h 1452"/>
              <a:gd name="T2" fmla="*/ 0 w 1398"/>
              <a:gd name="T3" fmla="*/ 0 h 1452"/>
              <a:gd name="T4" fmla="*/ 3211513 w 1398"/>
              <a:gd name="T5" fmla="*/ 0 h 1452"/>
              <a:gd name="T6" fmla="*/ 3211513 w 1398"/>
              <a:gd name="T7" fmla="*/ 2911475 h 1452"/>
              <a:gd name="T8" fmla="*/ 0 60000 65536"/>
              <a:gd name="T9" fmla="*/ 0 60000 65536"/>
              <a:gd name="T10" fmla="*/ 0 60000 65536"/>
              <a:gd name="T11" fmla="*/ 0 60000 65536"/>
              <a:gd name="T12" fmla="*/ 0 w 1398"/>
              <a:gd name="T13" fmla="*/ 0 h 1452"/>
              <a:gd name="T14" fmla="*/ 1398 w 1398"/>
              <a:gd name="T15" fmla="*/ 1452 h 14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98" h="1452">
                <a:moveTo>
                  <a:pt x="0" y="1194"/>
                </a:moveTo>
                <a:lnTo>
                  <a:pt x="0" y="0"/>
                </a:lnTo>
                <a:lnTo>
                  <a:pt x="1398" y="0"/>
                </a:lnTo>
                <a:lnTo>
                  <a:pt x="1398" y="1452"/>
                </a:lnTo>
              </a:path>
            </a:pathLst>
          </a:custGeom>
          <a:noFill/>
          <a:ln w="444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457" name="Rectangle 25"/>
          <p:cNvSpPr>
            <a:spLocks noChangeArrowheads="1"/>
          </p:cNvSpPr>
          <p:nvPr/>
        </p:nvSpPr>
        <p:spPr bwMode="auto">
          <a:xfrm>
            <a:off x="9551988" y="4614863"/>
            <a:ext cx="284162" cy="93662"/>
          </a:xfrm>
          <a:prstGeom prst="rect">
            <a:avLst/>
          </a:prstGeom>
          <a:solidFill>
            <a:schemeClr val="bg1"/>
          </a:solidFill>
          <a:ln w="4445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98683" name="Text Box 27"/>
          <p:cNvSpPr txBox="1">
            <a:spLocks noChangeArrowheads="1"/>
          </p:cNvSpPr>
          <p:nvPr/>
        </p:nvSpPr>
        <p:spPr bwMode="auto">
          <a:xfrm>
            <a:off x="1765301" y="182563"/>
            <a:ext cx="3209925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defRPr/>
            </a:pPr>
            <a:r>
              <a:rPr lang="en-US" altLang="en-US" sz="28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-111" charset="0"/>
              </a:rPr>
              <a:t>A demonstration of hierarchical clustering using string edit distance </a:t>
            </a:r>
          </a:p>
        </p:txBody>
      </p:sp>
      <p:sp>
        <p:nvSpPr>
          <p:cNvPr id="18459" name="Rectangle 28"/>
          <p:cNvSpPr>
            <a:spLocks noChangeArrowheads="1"/>
          </p:cNvSpPr>
          <p:nvPr/>
        </p:nvSpPr>
        <p:spPr bwMode="auto">
          <a:xfrm>
            <a:off x="1524000" y="5262563"/>
            <a:ext cx="9144000" cy="11604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60" name="Rectangle 29"/>
          <p:cNvSpPr>
            <a:spLocks noChangeArrowheads="1"/>
          </p:cNvSpPr>
          <p:nvPr/>
        </p:nvSpPr>
        <p:spPr bwMode="auto">
          <a:xfrm>
            <a:off x="1860551" y="5345113"/>
            <a:ext cx="5726113" cy="1444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61" name="Rectangle 30"/>
          <p:cNvSpPr>
            <a:spLocks noChangeArrowheads="1"/>
          </p:cNvSpPr>
          <p:nvPr/>
        </p:nvSpPr>
        <p:spPr bwMode="auto">
          <a:xfrm rot="-3934905">
            <a:off x="1629570" y="5510491"/>
            <a:ext cx="6588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00"/>
                </a:solidFill>
                <a:latin typeface="Helvetica" pitchFamily="-111" charset="0"/>
              </a:rPr>
              <a:t> </a:t>
            </a:r>
            <a:r>
              <a:rPr lang="en-US" altLang="en-US" sz="1800">
                <a:solidFill>
                  <a:prstClr val="black"/>
                </a:solidFill>
              </a:rPr>
              <a:t>Piotr</a:t>
            </a:r>
          </a:p>
        </p:txBody>
      </p:sp>
      <p:sp>
        <p:nvSpPr>
          <p:cNvPr id="18462" name="Rectangle 31"/>
          <p:cNvSpPr>
            <a:spLocks noChangeArrowheads="1"/>
          </p:cNvSpPr>
          <p:nvPr/>
        </p:nvSpPr>
        <p:spPr bwMode="auto">
          <a:xfrm rot="-3946978">
            <a:off x="1951039" y="5539860"/>
            <a:ext cx="7207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00"/>
                </a:solidFill>
                <a:latin typeface="Helvetica" pitchFamily="-111" charset="0"/>
              </a:rPr>
              <a:t> </a:t>
            </a:r>
            <a:r>
              <a:rPr lang="en-US" altLang="en-US" sz="1800">
                <a:solidFill>
                  <a:prstClr val="black"/>
                </a:solidFill>
              </a:rPr>
              <a:t>Pyotr</a:t>
            </a:r>
          </a:p>
        </p:txBody>
      </p:sp>
      <p:sp>
        <p:nvSpPr>
          <p:cNvPr id="18463" name="Rectangle 32"/>
          <p:cNvSpPr>
            <a:spLocks noChangeArrowheads="1"/>
          </p:cNvSpPr>
          <p:nvPr/>
        </p:nvSpPr>
        <p:spPr bwMode="auto">
          <a:xfrm rot="-3928464">
            <a:off x="2275682" y="5578753"/>
            <a:ext cx="8048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00"/>
                </a:solidFill>
                <a:latin typeface="Helvetica" pitchFamily="-111" charset="0"/>
              </a:rPr>
              <a:t> </a:t>
            </a:r>
            <a:r>
              <a:rPr lang="en-US" altLang="en-US" sz="1800">
                <a:solidFill>
                  <a:prstClr val="black"/>
                </a:solidFill>
              </a:rPr>
              <a:t>Petros</a:t>
            </a:r>
          </a:p>
        </p:txBody>
      </p:sp>
      <p:sp>
        <p:nvSpPr>
          <p:cNvPr id="18464" name="Rectangle 33"/>
          <p:cNvSpPr>
            <a:spLocks noChangeArrowheads="1"/>
          </p:cNvSpPr>
          <p:nvPr/>
        </p:nvSpPr>
        <p:spPr bwMode="auto">
          <a:xfrm rot="-3922811">
            <a:off x="2674145" y="5564466"/>
            <a:ext cx="7762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00"/>
                </a:solidFill>
                <a:latin typeface="Helvetica" pitchFamily="-111" charset="0"/>
              </a:rPr>
              <a:t> </a:t>
            </a:r>
            <a:r>
              <a:rPr lang="en-US" altLang="en-US" sz="1800">
                <a:solidFill>
                  <a:prstClr val="black"/>
                </a:solidFill>
              </a:rPr>
              <a:t>Pietro</a:t>
            </a:r>
          </a:p>
        </p:txBody>
      </p:sp>
      <p:sp>
        <p:nvSpPr>
          <p:cNvPr id="18465" name="Rectangle 34"/>
          <p:cNvSpPr>
            <a:spLocks noChangeArrowheads="1"/>
          </p:cNvSpPr>
          <p:nvPr/>
        </p:nvSpPr>
        <p:spPr bwMode="auto">
          <a:xfrm rot="-3945962">
            <a:off x="3104357" y="5539582"/>
            <a:ext cx="6635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srgbClr val="0000FF"/>
                </a:solidFill>
              </a:rPr>
              <a:t>Pedro</a:t>
            </a:r>
          </a:p>
        </p:txBody>
      </p:sp>
      <p:sp>
        <p:nvSpPr>
          <p:cNvPr id="18466" name="Rectangle 35"/>
          <p:cNvSpPr>
            <a:spLocks noChangeArrowheads="1"/>
          </p:cNvSpPr>
          <p:nvPr/>
        </p:nvSpPr>
        <p:spPr bwMode="auto">
          <a:xfrm rot="-3931340">
            <a:off x="3322639" y="5563672"/>
            <a:ext cx="7778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00"/>
                </a:solidFill>
                <a:latin typeface="Helvetica" pitchFamily="-111" charset="0"/>
              </a:rPr>
              <a:t> </a:t>
            </a:r>
            <a:r>
              <a:rPr lang="en-US" altLang="en-US" sz="1800">
                <a:solidFill>
                  <a:prstClr val="black"/>
                </a:solidFill>
              </a:rPr>
              <a:t>Pierre</a:t>
            </a:r>
          </a:p>
        </p:txBody>
      </p:sp>
      <p:sp>
        <p:nvSpPr>
          <p:cNvPr id="18467" name="Rectangle 36"/>
          <p:cNvSpPr>
            <a:spLocks noChangeArrowheads="1"/>
          </p:cNvSpPr>
          <p:nvPr/>
        </p:nvSpPr>
        <p:spPr bwMode="auto">
          <a:xfrm rot="-3949083">
            <a:off x="3729832" y="5531128"/>
            <a:ext cx="7096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00"/>
                </a:solidFill>
                <a:latin typeface="Helvetica" pitchFamily="-111" charset="0"/>
              </a:rPr>
              <a:t> </a:t>
            </a:r>
            <a:r>
              <a:rPr lang="en-US" altLang="en-US" sz="1800">
                <a:solidFill>
                  <a:prstClr val="black"/>
                </a:solidFill>
              </a:rPr>
              <a:t>Piero</a:t>
            </a:r>
          </a:p>
        </p:txBody>
      </p:sp>
      <p:sp>
        <p:nvSpPr>
          <p:cNvPr id="18468" name="Rectangle 37"/>
          <p:cNvSpPr>
            <a:spLocks noChangeArrowheads="1"/>
          </p:cNvSpPr>
          <p:nvPr/>
        </p:nvSpPr>
        <p:spPr bwMode="auto">
          <a:xfrm rot="-3950123">
            <a:off x="4092576" y="5527160"/>
            <a:ext cx="6953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00"/>
                </a:solidFill>
                <a:latin typeface="Helvetica" pitchFamily="-111" charset="0"/>
              </a:rPr>
              <a:t> </a:t>
            </a:r>
            <a:r>
              <a:rPr lang="en-US" altLang="en-US" sz="1800">
                <a:solidFill>
                  <a:prstClr val="black"/>
                </a:solidFill>
              </a:rPr>
              <a:t>Peter</a:t>
            </a:r>
          </a:p>
        </p:txBody>
      </p:sp>
      <p:sp>
        <p:nvSpPr>
          <p:cNvPr id="18469" name="Rectangle 38"/>
          <p:cNvSpPr>
            <a:spLocks noChangeArrowheads="1"/>
          </p:cNvSpPr>
          <p:nvPr/>
        </p:nvSpPr>
        <p:spPr bwMode="auto">
          <a:xfrm rot="-3972130">
            <a:off x="4497388" y="5403870"/>
            <a:ext cx="5921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prstClr val="black"/>
                </a:solidFill>
              </a:rPr>
              <a:t>Peder</a:t>
            </a:r>
          </a:p>
        </p:txBody>
      </p:sp>
      <p:sp>
        <p:nvSpPr>
          <p:cNvPr id="18470" name="Rectangle 39"/>
          <p:cNvSpPr>
            <a:spLocks noChangeArrowheads="1"/>
          </p:cNvSpPr>
          <p:nvPr/>
        </p:nvSpPr>
        <p:spPr bwMode="auto">
          <a:xfrm rot="-3944043">
            <a:off x="4764088" y="5514459"/>
            <a:ext cx="6667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00"/>
                </a:solidFill>
                <a:latin typeface="Helvetica" pitchFamily="-111" charset="0"/>
              </a:rPr>
              <a:t> </a:t>
            </a:r>
            <a:r>
              <a:rPr lang="en-US" altLang="en-US" sz="1800">
                <a:solidFill>
                  <a:prstClr val="black"/>
                </a:solidFill>
              </a:rPr>
              <a:t>Peka</a:t>
            </a:r>
          </a:p>
        </p:txBody>
      </p:sp>
      <p:sp>
        <p:nvSpPr>
          <p:cNvPr id="18471" name="Rectangle 40"/>
          <p:cNvSpPr>
            <a:spLocks noChangeArrowheads="1"/>
          </p:cNvSpPr>
          <p:nvPr/>
        </p:nvSpPr>
        <p:spPr bwMode="auto">
          <a:xfrm rot="-3916392">
            <a:off x="4975226" y="5609710"/>
            <a:ext cx="866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>
                <a:solidFill>
                  <a:srgbClr val="000000"/>
                </a:solidFill>
                <a:latin typeface="Helvetica" pitchFamily="-111" charset="0"/>
              </a:rPr>
              <a:t> </a:t>
            </a:r>
            <a:r>
              <a:rPr lang="en-US" altLang="en-US" sz="1800">
                <a:solidFill>
                  <a:prstClr val="black"/>
                </a:solidFill>
              </a:rPr>
              <a:t>Peadar</a:t>
            </a:r>
          </a:p>
        </p:txBody>
      </p:sp>
      <p:sp>
        <p:nvSpPr>
          <p:cNvPr id="18472" name="Rectangle 41"/>
          <p:cNvSpPr>
            <a:spLocks noChangeArrowheads="1"/>
          </p:cNvSpPr>
          <p:nvPr/>
        </p:nvSpPr>
        <p:spPr bwMode="auto">
          <a:xfrm rot="-3922958">
            <a:off x="5393532" y="5684045"/>
            <a:ext cx="971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prstClr val="black"/>
                </a:solidFill>
              </a:rPr>
              <a:t>Michalis</a:t>
            </a:r>
          </a:p>
        </p:txBody>
      </p:sp>
      <p:sp>
        <p:nvSpPr>
          <p:cNvPr id="18473" name="Rectangle 42"/>
          <p:cNvSpPr>
            <a:spLocks noChangeArrowheads="1"/>
          </p:cNvSpPr>
          <p:nvPr/>
        </p:nvSpPr>
        <p:spPr bwMode="auto">
          <a:xfrm rot="-3913360">
            <a:off x="5788026" y="5656263"/>
            <a:ext cx="909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prstClr val="black"/>
                </a:solidFill>
              </a:rPr>
              <a:t>Michael</a:t>
            </a:r>
          </a:p>
        </p:txBody>
      </p:sp>
      <p:sp>
        <p:nvSpPr>
          <p:cNvPr id="18474" name="Rectangle 43"/>
          <p:cNvSpPr>
            <a:spLocks noChangeArrowheads="1"/>
          </p:cNvSpPr>
          <p:nvPr/>
        </p:nvSpPr>
        <p:spPr bwMode="auto">
          <a:xfrm rot="-3943084">
            <a:off x="6178550" y="5607050"/>
            <a:ext cx="8080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srgbClr val="0000FF"/>
                </a:solidFill>
              </a:rPr>
              <a:t>Miguel</a:t>
            </a:r>
          </a:p>
        </p:txBody>
      </p:sp>
      <p:sp>
        <p:nvSpPr>
          <p:cNvPr id="18475" name="Rectangle 44"/>
          <p:cNvSpPr>
            <a:spLocks noChangeArrowheads="1"/>
          </p:cNvSpPr>
          <p:nvPr/>
        </p:nvSpPr>
        <p:spPr bwMode="auto">
          <a:xfrm rot="-3933695">
            <a:off x="6569076" y="5516563"/>
            <a:ext cx="6048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prstClr val="black"/>
                </a:solidFill>
              </a:rPr>
              <a:t>Mick</a:t>
            </a:r>
          </a:p>
        </p:txBody>
      </p:sp>
      <p:sp>
        <p:nvSpPr>
          <p:cNvPr id="18476" name="Rectangle 45"/>
          <p:cNvSpPr>
            <a:spLocks noChangeArrowheads="1"/>
          </p:cNvSpPr>
          <p:nvPr/>
        </p:nvSpPr>
        <p:spPr bwMode="auto">
          <a:xfrm rot="-3930391">
            <a:off x="6596857" y="5733257"/>
            <a:ext cx="1111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srgbClr val="0000FF"/>
                </a:solidFill>
              </a:rPr>
              <a:t>Cristovao</a:t>
            </a:r>
          </a:p>
        </p:txBody>
      </p:sp>
      <p:sp>
        <p:nvSpPr>
          <p:cNvPr id="18477" name="Rectangle 46"/>
          <p:cNvSpPr>
            <a:spLocks noChangeArrowheads="1"/>
          </p:cNvSpPr>
          <p:nvPr/>
        </p:nvSpPr>
        <p:spPr bwMode="auto">
          <a:xfrm rot="-3917436">
            <a:off x="6799263" y="5830888"/>
            <a:ext cx="12938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prstClr val="black"/>
                </a:solidFill>
              </a:rPr>
              <a:t>Christopher</a:t>
            </a:r>
          </a:p>
        </p:txBody>
      </p:sp>
      <p:sp>
        <p:nvSpPr>
          <p:cNvPr id="18478" name="Rectangle 47"/>
          <p:cNvSpPr>
            <a:spLocks noChangeArrowheads="1"/>
          </p:cNvSpPr>
          <p:nvPr/>
        </p:nvSpPr>
        <p:spPr bwMode="auto">
          <a:xfrm rot="-3922141">
            <a:off x="7294563" y="5791201"/>
            <a:ext cx="12017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prstClr val="black"/>
                </a:solidFill>
              </a:rPr>
              <a:t>Christophe</a:t>
            </a:r>
          </a:p>
        </p:txBody>
      </p:sp>
      <p:sp>
        <p:nvSpPr>
          <p:cNvPr id="18479" name="Rectangle 48"/>
          <p:cNvSpPr>
            <a:spLocks noChangeArrowheads="1"/>
          </p:cNvSpPr>
          <p:nvPr/>
        </p:nvSpPr>
        <p:spPr bwMode="auto">
          <a:xfrm rot="-3922270">
            <a:off x="7760494" y="5731669"/>
            <a:ext cx="10858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prstClr val="black"/>
                </a:solidFill>
              </a:rPr>
              <a:t>Christoph</a:t>
            </a:r>
          </a:p>
        </p:txBody>
      </p:sp>
      <p:sp>
        <p:nvSpPr>
          <p:cNvPr id="18480" name="Rectangle 49"/>
          <p:cNvSpPr>
            <a:spLocks noChangeArrowheads="1"/>
          </p:cNvSpPr>
          <p:nvPr/>
        </p:nvSpPr>
        <p:spPr bwMode="auto">
          <a:xfrm rot="-3929420">
            <a:off x="8186738" y="5689601"/>
            <a:ext cx="9858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prstClr val="black"/>
                </a:solidFill>
              </a:rPr>
              <a:t>Crisdean</a:t>
            </a:r>
          </a:p>
        </p:txBody>
      </p:sp>
      <p:sp>
        <p:nvSpPr>
          <p:cNvPr id="18481" name="Rectangle 50"/>
          <p:cNvSpPr>
            <a:spLocks noChangeArrowheads="1"/>
          </p:cNvSpPr>
          <p:nvPr/>
        </p:nvSpPr>
        <p:spPr bwMode="auto">
          <a:xfrm rot="-3925722">
            <a:off x="8530432" y="5704682"/>
            <a:ext cx="10128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prstClr val="black"/>
                </a:solidFill>
              </a:rPr>
              <a:t>Cristobal</a:t>
            </a:r>
          </a:p>
        </p:txBody>
      </p:sp>
      <p:sp>
        <p:nvSpPr>
          <p:cNvPr id="18482" name="Rectangle 51"/>
          <p:cNvSpPr>
            <a:spLocks noChangeArrowheads="1"/>
          </p:cNvSpPr>
          <p:nvPr/>
        </p:nvSpPr>
        <p:spPr bwMode="auto">
          <a:xfrm rot="-3915877">
            <a:off x="8847932" y="5757069"/>
            <a:ext cx="11271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prstClr val="black"/>
                </a:solidFill>
              </a:rPr>
              <a:t>Cristoforo</a:t>
            </a:r>
          </a:p>
        </p:txBody>
      </p:sp>
      <p:sp>
        <p:nvSpPr>
          <p:cNvPr id="18483" name="Rectangle 52"/>
          <p:cNvSpPr>
            <a:spLocks noChangeArrowheads="1"/>
          </p:cNvSpPr>
          <p:nvPr/>
        </p:nvSpPr>
        <p:spPr bwMode="auto">
          <a:xfrm rot="-3929659">
            <a:off x="9260682" y="5741194"/>
            <a:ext cx="10890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prstClr val="black"/>
                </a:solidFill>
              </a:rPr>
              <a:t>Kristoffer</a:t>
            </a:r>
          </a:p>
        </p:txBody>
      </p:sp>
      <p:sp>
        <p:nvSpPr>
          <p:cNvPr id="18484" name="Rectangle 53"/>
          <p:cNvSpPr>
            <a:spLocks noChangeArrowheads="1"/>
          </p:cNvSpPr>
          <p:nvPr/>
        </p:nvSpPr>
        <p:spPr bwMode="auto">
          <a:xfrm rot="-3934610">
            <a:off x="9732963" y="5632451"/>
            <a:ext cx="8588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/>
            <a:r>
              <a:rPr lang="en-US" altLang="en-US" sz="1800">
                <a:solidFill>
                  <a:prstClr val="black"/>
                </a:solidFill>
              </a:rPr>
              <a:t>Krystof</a:t>
            </a:r>
          </a:p>
        </p:txBody>
      </p:sp>
      <p:sp>
        <p:nvSpPr>
          <p:cNvPr id="18485" name="TextBox 53"/>
          <p:cNvSpPr txBox="1">
            <a:spLocks noChangeArrowheads="1"/>
          </p:cNvSpPr>
          <p:nvPr/>
        </p:nvSpPr>
        <p:spPr bwMode="auto">
          <a:xfrm>
            <a:off x="6224589" y="131764"/>
            <a:ext cx="4251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90607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1638300" y="3973513"/>
            <a:ext cx="8915400" cy="3073399"/>
            <a:chOff x="0" y="2640"/>
            <a:chExt cx="5616" cy="1936"/>
          </a:xfrm>
        </p:grpSpPr>
        <p:pic>
          <p:nvPicPr>
            <p:cNvPr id="19461" name="Picture 3" descr="http://images.google.com/images?q=tbn:Sc41iL2etAQC:www.intheteam.com/images/club/50/brazil_flag.gif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4" y="3792"/>
              <a:ext cx="432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62" name="Picture 4" descr="http://www.theodora.com/flags/as.gif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79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63" name="Picture 5" descr="http://www.flags.net/elements/gif_flags/ANGU001.GIF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" y="379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4" name="Text Box 6"/>
            <p:cNvSpPr txBox="1">
              <a:spLocks noChangeArrowheads="1"/>
            </p:cNvSpPr>
            <p:nvPr/>
          </p:nvSpPr>
          <p:spPr bwMode="auto">
            <a:xfrm>
              <a:off x="1056" y="4187"/>
              <a:ext cx="445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>
                  <a:solidFill>
                    <a:prstClr val="black"/>
                  </a:solidFill>
                </a:rPr>
                <a:t>ANGUILLA</a:t>
              </a:r>
            </a:p>
          </p:txBody>
        </p:sp>
        <p:sp>
          <p:nvSpPr>
            <p:cNvPr id="19465" name="Text Box 7"/>
            <p:cNvSpPr txBox="1">
              <a:spLocks noChangeArrowheads="1"/>
            </p:cNvSpPr>
            <p:nvPr/>
          </p:nvSpPr>
          <p:spPr bwMode="auto">
            <a:xfrm>
              <a:off x="0" y="4187"/>
              <a:ext cx="494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>
                  <a:solidFill>
                    <a:prstClr val="black"/>
                  </a:solidFill>
                </a:rPr>
                <a:t>AUSTRALIA </a:t>
              </a:r>
            </a:p>
          </p:txBody>
        </p:sp>
        <p:pic>
          <p:nvPicPr>
            <p:cNvPr id="19466" name="Picture 8" descr="http://www.flags.net/elements/gif_flags/STHC001.GIF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379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7" name="Text Box 9"/>
            <p:cNvSpPr txBox="1">
              <a:spLocks noChangeArrowheads="1"/>
            </p:cNvSpPr>
            <p:nvPr/>
          </p:nvSpPr>
          <p:spPr bwMode="auto">
            <a:xfrm>
              <a:off x="528" y="4130"/>
              <a:ext cx="505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>
                  <a:solidFill>
                    <a:prstClr val="black"/>
                  </a:solidFill>
                </a:rPr>
                <a:t>St. Helena &amp;</a:t>
              </a:r>
            </a:p>
            <a:p>
              <a:r>
                <a:rPr lang="en-US" altLang="en-US" sz="800">
                  <a:solidFill>
                    <a:prstClr val="black"/>
                  </a:solidFill>
                </a:rPr>
                <a:t> Dependencies </a:t>
              </a:r>
            </a:p>
            <a:p>
              <a:endParaRPr lang="en-US" altLang="en-US" sz="800">
                <a:solidFill>
                  <a:prstClr val="black"/>
                </a:solidFill>
              </a:endParaRPr>
            </a:p>
          </p:txBody>
        </p:sp>
        <p:pic>
          <p:nvPicPr>
            <p:cNvPr id="19468" name="Picture 10" descr="http://www.flags.net/elements/gif_flags/SGSS001.GIF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2" y="379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9" name="Text Box 11"/>
            <p:cNvSpPr txBox="1">
              <a:spLocks noChangeArrowheads="1"/>
            </p:cNvSpPr>
            <p:nvPr/>
          </p:nvSpPr>
          <p:spPr bwMode="auto">
            <a:xfrm>
              <a:off x="1584" y="4033"/>
              <a:ext cx="6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>
                  <a:solidFill>
                    <a:prstClr val="black"/>
                  </a:solidFill>
                </a:rPr>
                <a:t>South Georgia &amp;</a:t>
              </a:r>
            </a:p>
            <a:p>
              <a:r>
                <a:rPr lang="en-US" altLang="en-US" sz="800">
                  <a:solidFill>
                    <a:prstClr val="black"/>
                  </a:solidFill>
                </a:rPr>
                <a:t>South Sandwich </a:t>
              </a:r>
            </a:p>
            <a:p>
              <a:r>
                <a:rPr lang="en-US" altLang="en-US" sz="800">
                  <a:solidFill>
                    <a:prstClr val="black"/>
                  </a:solidFill>
                </a:rPr>
                <a:t>Islands</a:t>
              </a:r>
            </a:p>
          </p:txBody>
        </p:sp>
        <p:pic>
          <p:nvPicPr>
            <p:cNvPr id="19470" name="Picture 12" descr="http://www.flags.net/elements/gif_flags/UNKG001.GIF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0" y="3794"/>
              <a:ext cx="480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1" name="Text Box 13"/>
            <p:cNvSpPr txBox="1">
              <a:spLocks noChangeArrowheads="1"/>
            </p:cNvSpPr>
            <p:nvPr/>
          </p:nvSpPr>
          <p:spPr bwMode="auto">
            <a:xfrm>
              <a:off x="2160" y="4178"/>
              <a:ext cx="528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>
                  <a:solidFill>
                    <a:prstClr val="black"/>
                  </a:solidFill>
                </a:rPr>
                <a:t>U.K.</a:t>
              </a:r>
            </a:p>
          </p:txBody>
        </p:sp>
        <p:pic>
          <p:nvPicPr>
            <p:cNvPr id="19472" name="Picture 14" descr="http://www.flags.net/elements/gif_flags/YURE002.GIF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6" y="379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3" name="Text Box 15"/>
            <p:cNvSpPr txBox="1">
              <a:spLocks noChangeArrowheads="1"/>
            </p:cNvSpPr>
            <p:nvPr/>
          </p:nvSpPr>
          <p:spPr bwMode="auto">
            <a:xfrm>
              <a:off x="2736" y="4033"/>
              <a:ext cx="47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>
                  <a:solidFill>
                    <a:prstClr val="black"/>
                  </a:solidFill>
                </a:rPr>
                <a:t>Serbia &amp; </a:t>
              </a:r>
            </a:p>
            <a:p>
              <a:r>
                <a:rPr lang="en-US" altLang="en-US" sz="800">
                  <a:solidFill>
                    <a:prstClr val="black"/>
                  </a:solidFill>
                </a:rPr>
                <a:t>Montenegro</a:t>
              </a:r>
            </a:p>
            <a:p>
              <a:r>
                <a:rPr lang="en-US" altLang="en-US" sz="800">
                  <a:solidFill>
                    <a:prstClr val="black"/>
                  </a:solidFill>
                </a:rPr>
                <a:t>(Yugoslavia)</a:t>
              </a:r>
            </a:p>
          </p:txBody>
        </p:sp>
        <p:pic>
          <p:nvPicPr>
            <p:cNvPr id="19474" name="Picture 16" descr="http://www.flags.net/elements/gif_flags/FRAN001.GIF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4" y="379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5" name="Text Box 17"/>
            <p:cNvSpPr txBox="1">
              <a:spLocks noChangeArrowheads="1"/>
            </p:cNvSpPr>
            <p:nvPr/>
          </p:nvSpPr>
          <p:spPr bwMode="auto">
            <a:xfrm>
              <a:off x="3264" y="4187"/>
              <a:ext cx="11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 sz="800">
                <a:solidFill>
                  <a:prstClr val="black"/>
                </a:solidFill>
              </a:endParaRPr>
            </a:p>
          </p:txBody>
        </p:sp>
        <p:sp>
          <p:nvSpPr>
            <p:cNvPr id="19476" name="Text Box 18"/>
            <p:cNvSpPr txBox="1">
              <a:spLocks noChangeArrowheads="1"/>
            </p:cNvSpPr>
            <p:nvPr/>
          </p:nvSpPr>
          <p:spPr bwMode="auto">
            <a:xfrm>
              <a:off x="3264" y="4187"/>
              <a:ext cx="38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>
                  <a:solidFill>
                    <a:prstClr val="black"/>
                  </a:solidFill>
                </a:rPr>
                <a:t>FRANCE</a:t>
              </a:r>
            </a:p>
          </p:txBody>
        </p:sp>
        <p:pic>
          <p:nvPicPr>
            <p:cNvPr id="19477" name="Picture 19" descr="http://www.flags.net/elements/gif_flags/IREL001.GIF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4" y="379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78" name="Picture 20" descr="http://www.flags.net/elements/gif_flags/INDA001.GIF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4" y="379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79" name="Picture 21" descr="http://www.flags.net/elements/gif_flags/NIGR001.GIF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" y="379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80" name="Text Box 22"/>
            <p:cNvSpPr txBox="1">
              <a:spLocks noChangeArrowheads="1"/>
            </p:cNvSpPr>
            <p:nvPr/>
          </p:nvSpPr>
          <p:spPr bwMode="auto">
            <a:xfrm>
              <a:off x="3792" y="4187"/>
              <a:ext cx="32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>
                  <a:solidFill>
                    <a:prstClr val="black"/>
                  </a:solidFill>
                </a:rPr>
                <a:t>NIGER</a:t>
              </a:r>
            </a:p>
          </p:txBody>
        </p:sp>
        <p:sp>
          <p:nvSpPr>
            <p:cNvPr id="19481" name="Text Box 23"/>
            <p:cNvSpPr txBox="1">
              <a:spLocks noChangeArrowheads="1"/>
            </p:cNvSpPr>
            <p:nvPr/>
          </p:nvSpPr>
          <p:spPr bwMode="auto">
            <a:xfrm>
              <a:off x="4272" y="4187"/>
              <a:ext cx="29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>
                  <a:solidFill>
                    <a:prstClr val="black"/>
                  </a:solidFill>
                </a:rPr>
                <a:t>INDIA</a:t>
              </a:r>
            </a:p>
          </p:txBody>
        </p:sp>
        <p:sp>
          <p:nvSpPr>
            <p:cNvPr id="19482" name="Text Box 24"/>
            <p:cNvSpPr txBox="1">
              <a:spLocks noChangeArrowheads="1"/>
            </p:cNvSpPr>
            <p:nvPr/>
          </p:nvSpPr>
          <p:spPr bwMode="auto">
            <a:xfrm>
              <a:off x="4752" y="4187"/>
              <a:ext cx="39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>
                  <a:solidFill>
                    <a:prstClr val="black"/>
                  </a:solidFill>
                </a:rPr>
                <a:t>IRELAND</a:t>
              </a:r>
            </a:p>
          </p:txBody>
        </p:sp>
        <p:sp>
          <p:nvSpPr>
            <p:cNvPr id="19483" name="Text Box 25"/>
            <p:cNvSpPr txBox="1">
              <a:spLocks noChangeArrowheads="1"/>
            </p:cNvSpPr>
            <p:nvPr/>
          </p:nvSpPr>
          <p:spPr bwMode="auto">
            <a:xfrm>
              <a:off x="5242" y="4187"/>
              <a:ext cx="347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800">
                  <a:solidFill>
                    <a:prstClr val="black"/>
                  </a:solidFill>
                </a:rPr>
                <a:t>BRAZIL</a:t>
              </a:r>
            </a:p>
          </p:txBody>
        </p:sp>
        <p:sp>
          <p:nvSpPr>
            <p:cNvPr id="19484" name="Text Box 26"/>
            <p:cNvSpPr txBox="1">
              <a:spLocks noChangeArrowheads="1"/>
            </p:cNvSpPr>
            <p:nvPr/>
          </p:nvSpPr>
          <p:spPr bwMode="auto">
            <a:xfrm>
              <a:off x="0" y="2976"/>
              <a:ext cx="211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 sz="1000">
                <a:solidFill>
                  <a:srgbClr val="0000FF"/>
                </a:solidFill>
              </a:endParaRPr>
            </a:p>
          </p:txBody>
        </p:sp>
        <p:grpSp>
          <p:nvGrpSpPr>
            <p:cNvPr id="19485" name="Group 27"/>
            <p:cNvGrpSpPr>
              <a:grpSpLocks/>
            </p:cNvGrpSpPr>
            <p:nvPr/>
          </p:nvGrpSpPr>
          <p:grpSpPr bwMode="auto">
            <a:xfrm>
              <a:off x="192" y="2640"/>
              <a:ext cx="5184" cy="1154"/>
              <a:chOff x="192" y="1682"/>
              <a:chExt cx="5184" cy="2016"/>
            </a:xfrm>
          </p:grpSpPr>
          <p:sp>
            <p:nvSpPr>
              <p:cNvPr id="19486" name="Line 28"/>
              <p:cNvSpPr>
                <a:spLocks noChangeShapeType="1"/>
              </p:cNvSpPr>
              <p:nvPr/>
            </p:nvSpPr>
            <p:spPr bwMode="auto">
              <a:xfrm flipV="1">
                <a:off x="192" y="3362"/>
                <a:ext cx="0" cy="336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487" name="Line 29"/>
              <p:cNvSpPr>
                <a:spLocks noChangeShapeType="1"/>
              </p:cNvSpPr>
              <p:nvPr/>
            </p:nvSpPr>
            <p:spPr bwMode="auto">
              <a:xfrm flipV="1">
                <a:off x="2400" y="3170"/>
                <a:ext cx="0" cy="528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488" name="Line 30"/>
              <p:cNvSpPr>
                <a:spLocks noChangeShapeType="1"/>
              </p:cNvSpPr>
              <p:nvPr/>
            </p:nvSpPr>
            <p:spPr bwMode="auto">
              <a:xfrm flipV="1">
                <a:off x="1824" y="3458"/>
                <a:ext cx="0" cy="24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489" name="Line 31"/>
              <p:cNvSpPr>
                <a:spLocks noChangeShapeType="1"/>
              </p:cNvSpPr>
              <p:nvPr/>
            </p:nvSpPr>
            <p:spPr bwMode="auto">
              <a:xfrm flipV="1">
                <a:off x="2928" y="3074"/>
                <a:ext cx="0" cy="624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490" name="Line 32"/>
              <p:cNvSpPr>
                <a:spLocks noChangeShapeType="1"/>
              </p:cNvSpPr>
              <p:nvPr/>
            </p:nvSpPr>
            <p:spPr bwMode="auto">
              <a:xfrm flipV="1">
                <a:off x="3456" y="3074"/>
                <a:ext cx="0" cy="624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491" name="Line 33"/>
              <p:cNvSpPr>
                <a:spLocks noChangeShapeType="1"/>
              </p:cNvSpPr>
              <p:nvPr/>
            </p:nvSpPr>
            <p:spPr bwMode="auto">
              <a:xfrm>
                <a:off x="2928" y="3074"/>
                <a:ext cx="528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492" name="Line 34"/>
              <p:cNvSpPr>
                <a:spLocks noChangeShapeType="1"/>
              </p:cNvSpPr>
              <p:nvPr/>
            </p:nvSpPr>
            <p:spPr bwMode="auto">
              <a:xfrm flipV="1">
                <a:off x="3168" y="2834"/>
                <a:ext cx="0" cy="24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493" name="Line 35"/>
              <p:cNvSpPr>
                <a:spLocks noChangeShapeType="1"/>
              </p:cNvSpPr>
              <p:nvPr/>
            </p:nvSpPr>
            <p:spPr bwMode="auto">
              <a:xfrm flipV="1">
                <a:off x="3936" y="3458"/>
                <a:ext cx="0" cy="24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494" name="Line 36"/>
              <p:cNvSpPr>
                <a:spLocks noChangeShapeType="1"/>
              </p:cNvSpPr>
              <p:nvPr/>
            </p:nvSpPr>
            <p:spPr bwMode="auto">
              <a:xfrm flipV="1">
                <a:off x="4416" y="3458"/>
                <a:ext cx="0" cy="24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495" name="Line 37"/>
              <p:cNvSpPr>
                <a:spLocks noChangeShapeType="1"/>
              </p:cNvSpPr>
              <p:nvPr/>
            </p:nvSpPr>
            <p:spPr bwMode="auto">
              <a:xfrm>
                <a:off x="3936" y="3458"/>
                <a:ext cx="480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496" name="Line 38"/>
              <p:cNvSpPr>
                <a:spLocks noChangeShapeType="1"/>
              </p:cNvSpPr>
              <p:nvPr/>
            </p:nvSpPr>
            <p:spPr bwMode="auto">
              <a:xfrm flipV="1">
                <a:off x="4176" y="3074"/>
                <a:ext cx="0" cy="384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497" name="Line 39"/>
              <p:cNvSpPr>
                <a:spLocks noChangeShapeType="1"/>
              </p:cNvSpPr>
              <p:nvPr/>
            </p:nvSpPr>
            <p:spPr bwMode="auto">
              <a:xfrm flipV="1">
                <a:off x="4896" y="3074"/>
                <a:ext cx="0" cy="624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498" name="Line 40"/>
              <p:cNvSpPr>
                <a:spLocks noChangeShapeType="1"/>
              </p:cNvSpPr>
              <p:nvPr/>
            </p:nvSpPr>
            <p:spPr bwMode="auto">
              <a:xfrm>
                <a:off x="1008" y="3170"/>
                <a:ext cx="1008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499" name="Line 41"/>
              <p:cNvSpPr>
                <a:spLocks noChangeShapeType="1"/>
              </p:cNvSpPr>
              <p:nvPr/>
            </p:nvSpPr>
            <p:spPr bwMode="auto">
              <a:xfrm>
                <a:off x="4176" y="3074"/>
                <a:ext cx="720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00" name="Line 42"/>
              <p:cNvSpPr>
                <a:spLocks noChangeShapeType="1"/>
              </p:cNvSpPr>
              <p:nvPr/>
            </p:nvSpPr>
            <p:spPr bwMode="auto">
              <a:xfrm flipV="1">
                <a:off x="4512" y="2498"/>
                <a:ext cx="0" cy="576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01" name="Line 43"/>
              <p:cNvSpPr>
                <a:spLocks noChangeShapeType="1"/>
              </p:cNvSpPr>
              <p:nvPr/>
            </p:nvSpPr>
            <p:spPr bwMode="auto">
              <a:xfrm flipV="1">
                <a:off x="2448" y="2498"/>
                <a:ext cx="0" cy="336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02" name="Line 44"/>
              <p:cNvSpPr>
                <a:spLocks noChangeShapeType="1"/>
              </p:cNvSpPr>
              <p:nvPr/>
            </p:nvSpPr>
            <p:spPr bwMode="auto">
              <a:xfrm>
                <a:off x="1728" y="2834"/>
                <a:ext cx="1440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03" name="Line 45"/>
              <p:cNvSpPr>
                <a:spLocks noChangeShapeType="1"/>
              </p:cNvSpPr>
              <p:nvPr/>
            </p:nvSpPr>
            <p:spPr bwMode="auto">
              <a:xfrm flipV="1">
                <a:off x="3504" y="2114"/>
                <a:ext cx="0" cy="384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04" name="Line 46"/>
              <p:cNvSpPr>
                <a:spLocks noChangeShapeType="1"/>
              </p:cNvSpPr>
              <p:nvPr/>
            </p:nvSpPr>
            <p:spPr bwMode="auto">
              <a:xfrm flipH="1">
                <a:off x="2016" y="3170"/>
                <a:ext cx="384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05" name="Line 47"/>
              <p:cNvSpPr>
                <a:spLocks noChangeShapeType="1"/>
              </p:cNvSpPr>
              <p:nvPr/>
            </p:nvSpPr>
            <p:spPr bwMode="auto">
              <a:xfrm flipV="1">
                <a:off x="1728" y="2834"/>
                <a:ext cx="0" cy="336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06" name="Line 48"/>
              <p:cNvSpPr>
                <a:spLocks noChangeShapeType="1"/>
              </p:cNvSpPr>
              <p:nvPr/>
            </p:nvSpPr>
            <p:spPr bwMode="auto">
              <a:xfrm flipV="1">
                <a:off x="2448" y="2498"/>
                <a:ext cx="2064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07" name="Line 49"/>
              <p:cNvSpPr>
                <a:spLocks noChangeShapeType="1"/>
              </p:cNvSpPr>
              <p:nvPr/>
            </p:nvSpPr>
            <p:spPr bwMode="auto">
              <a:xfrm flipV="1">
                <a:off x="5376" y="2114"/>
                <a:ext cx="0" cy="1584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08" name="Line 50"/>
              <p:cNvSpPr>
                <a:spLocks noChangeShapeType="1"/>
              </p:cNvSpPr>
              <p:nvPr/>
            </p:nvSpPr>
            <p:spPr bwMode="auto">
              <a:xfrm>
                <a:off x="3504" y="2114"/>
                <a:ext cx="1872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09" name="Line 51"/>
              <p:cNvSpPr>
                <a:spLocks noChangeShapeType="1"/>
              </p:cNvSpPr>
              <p:nvPr/>
            </p:nvSpPr>
            <p:spPr bwMode="auto">
              <a:xfrm flipV="1">
                <a:off x="4464" y="1682"/>
                <a:ext cx="0" cy="432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10" name="Line 52"/>
              <p:cNvSpPr>
                <a:spLocks noChangeShapeType="1"/>
              </p:cNvSpPr>
              <p:nvPr/>
            </p:nvSpPr>
            <p:spPr bwMode="auto">
              <a:xfrm flipV="1">
                <a:off x="720" y="3554"/>
                <a:ext cx="0" cy="144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11" name="Line 53"/>
              <p:cNvSpPr>
                <a:spLocks noChangeShapeType="1"/>
              </p:cNvSpPr>
              <p:nvPr/>
            </p:nvSpPr>
            <p:spPr bwMode="auto">
              <a:xfrm flipV="1">
                <a:off x="1296" y="3554"/>
                <a:ext cx="0" cy="144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12" name="Line 54"/>
              <p:cNvSpPr>
                <a:spLocks noChangeShapeType="1"/>
              </p:cNvSpPr>
              <p:nvPr/>
            </p:nvSpPr>
            <p:spPr bwMode="auto">
              <a:xfrm flipV="1">
                <a:off x="1440" y="3362"/>
                <a:ext cx="0" cy="96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13" name="Line 55"/>
              <p:cNvSpPr>
                <a:spLocks noChangeShapeType="1"/>
              </p:cNvSpPr>
              <p:nvPr/>
            </p:nvSpPr>
            <p:spPr bwMode="auto">
              <a:xfrm>
                <a:off x="192" y="3362"/>
                <a:ext cx="1248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14" name="Line 56"/>
              <p:cNvSpPr>
                <a:spLocks noChangeShapeType="1"/>
              </p:cNvSpPr>
              <p:nvPr/>
            </p:nvSpPr>
            <p:spPr bwMode="auto">
              <a:xfrm flipV="1">
                <a:off x="720" y="3170"/>
                <a:ext cx="0" cy="192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15" name="Line 57"/>
              <p:cNvSpPr>
                <a:spLocks noChangeShapeType="1"/>
              </p:cNvSpPr>
              <p:nvPr/>
            </p:nvSpPr>
            <p:spPr bwMode="auto">
              <a:xfrm>
                <a:off x="720" y="3170"/>
                <a:ext cx="384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16" name="Line 58"/>
              <p:cNvSpPr>
                <a:spLocks noChangeShapeType="1"/>
              </p:cNvSpPr>
              <p:nvPr/>
            </p:nvSpPr>
            <p:spPr bwMode="auto">
              <a:xfrm>
                <a:off x="720" y="3554"/>
                <a:ext cx="576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17" name="Line 59"/>
              <p:cNvSpPr>
                <a:spLocks noChangeShapeType="1"/>
              </p:cNvSpPr>
              <p:nvPr/>
            </p:nvSpPr>
            <p:spPr bwMode="auto">
              <a:xfrm flipV="1">
                <a:off x="1008" y="3458"/>
                <a:ext cx="0" cy="96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9518" name="Line 60"/>
              <p:cNvSpPr>
                <a:spLocks noChangeShapeType="1"/>
              </p:cNvSpPr>
              <p:nvPr/>
            </p:nvSpPr>
            <p:spPr bwMode="auto">
              <a:xfrm>
                <a:off x="1008" y="3458"/>
                <a:ext cx="816" cy="0"/>
              </a:xfrm>
              <a:prstGeom prst="line">
                <a:avLst/>
              </a:prstGeom>
              <a:noFill/>
              <a:ln w="34925">
                <a:solidFill>
                  <a:srgbClr val="0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00765" name="Text Box 61"/>
          <p:cNvSpPr txBox="1">
            <a:spLocks noChangeArrowheads="1"/>
          </p:cNvSpPr>
          <p:nvPr/>
        </p:nvSpPr>
        <p:spPr bwMode="auto">
          <a:xfrm>
            <a:off x="1943101" y="990600"/>
            <a:ext cx="8524875" cy="280035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defRPr/>
            </a:pPr>
            <a:r>
              <a:rPr lang="en-US" altLang="en-US" sz="28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Hierarchal clustering can sometimes show patterns that are meaningless or spurious</a:t>
            </a:r>
          </a:p>
          <a:p>
            <a:pPr>
              <a:defRPr/>
            </a:pPr>
            <a:endParaRPr lang="en-US" altLang="en-US" sz="200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defRPr/>
            </a:pPr>
            <a:r>
              <a:rPr lang="en-US" altLang="en-US" sz="2000">
                <a:solidFill>
                  <a:prstClr val="black"/>
                </a:solidFill>
              </a:rPr>
              <a:t>The tight grouping of Australia, Anguilla, St. Helena etc is meaningful; all these countries are former UK colonies</a:t>
            </a:r>
          </a:p>
          <a:p>
            <a:pPr>
              <a:defRPr/>
            </a:pPr>
            <a:endParaRPr lang="en-US" altLang="en-US" sz="2000">
              <a:solidFill>
                <a:prstClr val="black"/>
              </a:solidFill>
            </a:endParaRPr>
          </a:p>
          <a:p>
            <a:pPr>
              <a:defRPr/>
            </a:pPr>
            <a:r>
              <a:rPr lang="en-US" altLang="en-US" sz="2000">
                <a:solidFill>
                  <a:prstClr val="black"/>
                </a:solidFill>
              </a:rPr>
              <a:t>However the tight grouping of Niger and India is completely spurious; there is no connection between the two.</a:t>
            </a:r>
          </a:p>
        </p:txBody>
      </p:sp>
      <p:sp>
        <p:nvSpPr>
          <p:cNvPr id="19460" name="TextBox 61"/>
          <p:cNvSpPr txBox="1">
            <a:spLocks noChangeArrowheads="1"/>
          </p:cNvSpPr>
          <p:nvPr/>
        </p:nvSpPr>
        <p:spPr bwMode="auto">
          <a:xfrm>
            <a:off x="6300788" y="315914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414022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2593975" y="1716088"/>
            <a:ext cx="7353300" cy="4538662"/>
            <a:chOff x="674" y="1081"/>
            <a:chExt cx="4632" cy="2859"/>
          </a:xfrm>
        </p:grpSpPr>
        <p:sp>
          <p:nvSpPr>
            <p:cNvPr id="20486" name="Rectangle 3"/>
            <p:cNvSpPr>
              <a:spLocks noChangeArrowheads="1"/>
            </p:cNvSpPr>
            <p:nvPr/>
          </p:nvSpPr>
          <p:spPr bwMode="auto">
            <a:xfrm>
              <a:off x="674" y="1081"/>
              <a:ext cx="4632" cy="28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0487" name="Rectangle 4"/>
            <p:cNvSpPr>
              <a:spLocks noChangeArrowheads="1"/>
            </p:cNvSpPr>
            <p:nvPr/>
          </p:nvSpPr>
          <p:spPr bwMode="auto">
            <a:xfrm>
              <a:off x="823" y="3800"/>
              <a:ext cx="149" cy="140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0488" name="Freeform 5"/>
            <p:cNvSpPr>
              <a:spLocks/>
            </p:cNvSpPr>
            <p:nvPr/>
          </p:nvSpPr>
          <p:spPr bwMode="auto">
            <a:xfrm>
              <a:off x="898" y="3800"/>
              <a:ext cx="224" cy="140"/>
            </a:xfrm>
            <a:custGeom>
              <a:avLst/>
              <a:gdLst>
                <a:gd name="T0" fmla="*/ 0 w 170"/>
                <a:gd name="T1" fmla="*/ 0 h 106"/>
                <a:gd name="T2" fmla="*/ 224 w 170"/>
                <a:gd name="T3" fmla="*/ 0 h 106"/>
                <a:gd name="T4" fmla="*/ 224 w 170"/>
                <a:gd name="T5" fmla="*/ 140 h 106"/>
                <a:gd name="T6" fmla="*/ 0 60000 65536"/>
                <a:gd name="T7" fmla="*/ 0 60000 65536"/>
                <a:gd name="T8" fmla="*/ 0 60000 65536"/>
                <a:gd name="T9" fmla="*/ 0 w 170"/>
                <a:gd name="T10" fmla="*/ 0 h 106"/>
                <a:gd name="T11" fmla="*/ 170 w 170"/>
                <a:gd name="T12" fmla="*/ 106 h 1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0" h="106">
                  <a:moveTo>
                    <a:pt x="0" y="0"/>
                  </a:moveTo>
                  <a:lnTo>
                    <a:pt x="170" y="0"/>
                  </a:lnTo>
                  <a:lnTo>
                    <a:pt x="170" y="106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489" name="Rectangle 6"/>
            <p:cNvSpPr>
              <a:spLocks noChangeArrowheads="1"/>
            </p:cNvSpPr>
            <p:nvPr/>
          </p:nvSpPr>
          <p:spPr bwMode="auto">
            <a:xfrm>
              <a:off x="3214" y="3792"/>
              <a:ext cx="149" cy="148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0490" name="Rectangle 7"/>
            <p:cNvSpPr>
              <a:spLocks noChangeArrowheads="1"/>
            </p:cNvSpPr>
            <p:nvPr/>
          </p:nvSpPr>
          <p:spPr bwMode="auto">
            <a:xfrm>
              <a:off x="1719" y="3779"/>
              <a:ext cx="151" cy="161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0491" name="Freeform 8"/>
            <p:cNvSpPr>
              <a:spLocks/>
            </p:cNvSpPr>
            <p:nvPr/>
          </p:nvSpPr>
          <p:spPr bwMode="auto">
            <a:xfrm>
              <a:off x="1010" y="3779"/>
              <a:ext cx="261" cy="161"/>
            </a:xfrm>
            <a:custGeom>
              <a:avLst/>
              <a:gdLst>
                <a:gd name="T0" fmla="*/ 0 w 198"/>
                <a:gd name="T1" fmla="*/ 21 h 122"/>
                <a:gd name="T2" fmla="*/ 0 w 198"/>
                <a:gd name="T3" fmla="*/ 0 h 122"/>
                <a:gd name="T4" fmla="*/ 261 w 198"/>
                <a:gd name="T5" fmla="*/ 0 h 122"/>
                <a:gd name="T6" fmla="*/ 261 w 198"/>
                <a:gd name="T7" fmla="*/ 161 h 1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22"/>
                <a:gd name="T14" fmla="*/ 198 w 198"/>
                <a:gd name="T15" fmla="*/ 122 h 1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22">
                  <a:moveTo>
                    <a:pt x="0" y="16"/>
                  </a:moveTo>
                  <a:lnTo>
                    <a:pt x="0" y="0"/>
                  </a:lnTo>
                  <a:lnTo>
                    <a:pt x="198" y="0"/>
                  </a:lnTo>
                  <a:lnTo>
                    <a:pt x="198" y="12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492" name="Freeform 9"/>
            <p:cNvSpPr>
              <a:spLocks/>
            </p:cNvSpPr>
            <p:nvPr/>
          </p:nvSpPr>
          <p:spPr bwMode="auto">
            <a:xfrm>
              <a:off x="1794" y="3779"/>
              <a:ext cx="225" cy="161"/>
            </a:xfrm>
            <a:custGeom>
              <a:avLst/>
              <a:gdLst>
                <a:gd name="T0" fmla="*/ 0 w 170"/>
                <a:gd name="T1" fmla="*/ 0 h 122"/>
                <a:gd name="T2" fmla="*/ 225 w 170"/>
                <a:gd name="T3" fmla="*/ 0 h 122"/>
                <a:gd name="T4" fmla="*/ 225 w 170"/>
                <a:gd name="T5" fmla="*/ 161 h 122"/>
                <a:gd name="T6" fmla="*/ 0 60000 65536"/>
                <a:gd name="T7" fmla="*/ 0 60000 65536"/>
                <a:gd name="T8" fmla="*/ 0 60000 65536"/>
                <a:gd name="T9" fmla="*/ 0 w 170"/>
                <a:gd name="T10" fmla="*/ 0 h 122"/>
                <a:gd name="T11" fmla="*/ 170 w 170"/>
                <a:gd name="T12" fmla="*/ 122 h 1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0" h="122">
                  <a:moveTo>
                    <a:pt x="0" y="0"/>
                  </a:moveTo>
                  <a:lnTo>
                    <a:pt x="170" y="0"/>
                  </a:lnTo>
                  <a:lnTo>
                    <a:pt x="170" y="12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493" name="Freeform 10"/>
            <p:cNvSpPr>
              <a:spLocks/>
            </p:cNvSpPr>
            <p:nvPr/>
          </p:nvSpPr>
          <p:spPr bwMode="auto">
            <a:xfrm>
              <a:off x="1137" y="3771"/>
              <a:ext cx="283" cy="169"/>
            </a:xfrm>
            <a:custGeom>
              <a:avLst/>
              <a:gdLst>
                <a:gd name="T0" fmla="*/ 0 w 215"/>
                <a:gd name="T1" fmla="*/ 8 h 128"/>
                <a:gd name="T2" fmla="*/ 0 w 215"/>
                <a:gd name="T3" fmla="*/ 0 h 128"/>
                <a:gd name="T4" fmla="*/ 283 w 215"/>
                <a:gd name="T5" fmla="*/ 0 h 128"/>
                <a:gd name="T6" fmla="*/ 283 w 215"/>
                <a:gd name="T7" fmla="*/ 169 h 1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5"/>
                <a:gd name="T13" fmla="*/ 0 h 128"/>
                <a:gd name="T14" fmla="*/ 215 w 215"/>
                <a:gd name="T15" fmla="*/ 128 h 1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5" h="128">
                  <a:moveTo>
                    <a:pt x="0" y="6"/>
                  </a:moveTo>
                  <a:lnTo>
                    <a:pt x="0" y="0"/>
                  </a:lnTo>
                  <a:lnTo>
                    <a:pt x="215" y="0"/>
                  </a:lnTo>
                  <a:lnTo>
                    <a:pt x="215" y="128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494" name="Rectangle 11"/>
            <p:cNvSpPr>
              <a:spLocks noChangeArrowheads="1"/>
            </p:cNvSpPr>
            <p:nvPr/>
          </p:nvSpPr>
          <p:spPr bwMode="auto">
            <a:xfrm>
              <a:off x="3662" y="3771"/>
              <a:ext cx="149" cy="169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0495" name="Rectangle 12"/>
            <p:cNvSpPr>
              <a:spLocks noChangeArrowheads="1"/>
            </p:cNvSpPr>
            <p:nvPr/>
          </p:nvSpPr>
          <p:spPr bwMode="auto">
            <a:xfrm>
              <a:off x="2467" y="3758"/>
              <a:ext cx="149" cy="182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0496" name="Rectangle 13"/>
            <p:cNvSpPr>
              <a:spLocks noChangeArrowheads="1"/>
            </p:cNvSpPr>
            <p:nvPr/>
          </p:nvSpPr>
          <p:spPr bwMode="auto">
            <a:xfrm>
              <a:off x="4110" y="3750"/>
              <a:ext cx="151" cy="190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0497" name="Freeform 14"/>
            <p:cNvSpPr>
              <a:spLocks/>
            </p:cNvSpPr>
            <p:nvPr/>
          </p:nvSpPr>
          <p:spPr bwMode="auto">
            <a:xfrm>
              <a:off x="4186" y="3750"/>
              <a:ext cx="224" cy="190"/>
            </a:xfrm>
            <a:custGeom>
              <a:avLst/>
              <a:gdLst>
                <a:gd name="T0" fmla="*/ 0 w 170"/>
                <a:gd name="T1" fmla="*/ 0 h 144"/>
                <a:gd name="T2" fmla="*/ 224 w 170"/>
                <a:gd name="T3" fmla="*/ 0 h 144"/>
                <a:gd name="T4" fmla="*/ 224 w 170"/>
                <a:gd name="T5" fmla="*/ 190 h 144"/>
                <a:gd name="T6" fmla="*/ 0 60000 65536"/>
                <a:gd name="T7" fmla="*/ 0 60000 65536"/>
                <a:gd name="T8" fmla="*/ 0 60000 65536"/>
                <a:gd name="T9" fmla="*/ 0 w 170"/>
                <a:gd name="T10" fmla="*/ 0 h 144"/>
                <a:gd name="T11" fmla="*/ 170 w 170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0" h="144">
                  <a:moveTo>
                    <a:pt x="0" y="0"/>
                  </a:moveTo>
                  <a:lnTo>
                    <a:pt x="170" y="0"/>
                  </a:lnTo>
                  <a:lnTo>
                    <a:pt x="170" y="144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498" name="Freeform 15"/>
            <p:cNvSpPr>
              <a:spLocks/>
            </p:cNvSpPr>
            <p:nvPr/>
          </p:nvSpPr>
          <p:spPr bwMode="auto">
            <a:xfrm>
              <a:off x="3513" y="3744"/>
              <a:ext cx="224" cy="196"/>
            </a:xfrm>
            <a:custGeom>
              <a:avLst/>
              <a:gdLst>
                <a:gd name="T0" fmla="*/ 0 w 170"/>
                <a:gd name="T1" fmla="*/ 196 h 149"/>
                <a:gd name="T2" fmla="*/ 0 w 170"/>
                <a:gd name="T3" fmla="*/ 0 h 149"/>
                <a:gd name="T4" fmla="*/ 224 w 170"/>
                <a:gd name="T5" fmla="*/ 0 h 149"/>
                <a:gd name="T6" fmla="*/ 224 w 170"/>
                <a:gd name="T7" fmla="*/ 28 h 1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149"/>
                <a:gd name="T14" fmla="*/ 170 w 170"/>
                <a:gd name="T15" fmla="*/ 149 h 1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149">
                  <a:moveTo>
                    <a:pt x="0" y="149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170" y="21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499" name="Freeform 16"/>
            <p:cNvSpPr>
              <a:spLocks/>
            </p:cNvSpPr>
            <p:nvPr/>
          </p:nvSpPr>
          <p:spPr bwMode="auto">
            <a:xfrm>
              <a:off x="1279" y="3744"/>
              <a:ext cx="291" cy="196"/>
            </a:xfrm>
            <a:custGeom>
              <a:avLst/>
              <a:gdLst>
                <a:gd name="T0" fmla="*/ 0 w 221"/>
                <a:gd name="T1" fmla="*/ 28 h 149"/>
                <a:gd name="T2" fmla="*/ 0 w 221"/>
                <a:gd name="T3" fmla="*/ 0 h 149"/>
                <a:gd name="T4" fmla="*/ 291 w 221"/>
                <a:gd name="T5" fmla="*/ 0 h 149"/>
                <a:gd name="T6" fmla="*/ 291 w 221"/>
                <a:gd name="T7" fmla="*/ 196 h 1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1"/>
                <a:gd name="T13" fmla="*/ 0 h 149"/>
                <a:gd name="T14" fmla="*/ 221 w 221"/>
                <a:gd name="T15" fmla="*/ 149 h 1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1" h="149">
                  <a:moveTo>
                    <a:pt x="0" y="21"/>
                  </a:moveTo>
                  <a:lnTo>
                    <a:pt x="0" y="0"/>
                  </a:lnTo>
                  <a:lnTo>
                    <a:pt x="221" y="0"/>
                  </a:lnTo>
                  <a:lnTo>
                    <a:pt x="221" y="149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500" name="Freeform 17"/>
            <p:cNvSpPr>
              <a:spLocks/>
            </p:cNvSpPr>
            <p:nvPr/>
          </p:nvSpPr>
          <p:spPr bwMode="auto">
            <a:xfrm>
              <a:off x="3289" y="3723"/>
              <a:ext cx="336" cy="69"/>
            </a:xfrm>
            <a:custGeom>
              <a:avLst/>
              <a:gdLst>
                <a:gd name="T0" fmla="*/ 0 w 255"/>
                <a:gd name="T1" fmla="*/ 69 h 53"/>
                <a:gd name="T2" fmla="*/ 0 w 255"/>
                <a:gd name="T3" fmla="*/ 0 h 53"/>
                <a:gd name="T4" fmla="*/ 336 w 255"/>
                <a:gd name="T5" fmla="*/ 0 h 53"/>
                <a:gd name="T6" fmla="*/ 336 w 255"/>
                <a:gd name="T7" fmla="*/ 21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55"/>
                <a:gd name="T13" fmla="*/ 0 h 53"/>
                <a:gd name="T14" fmla="*/ 255 w 255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55" h="53">
                  <a:moveTo>
                    <a:pt x="0" y="53"/>
                  </a:moveTo>
                  <a:lnTo>
                    <a:pt x="0" y="0"/>
                  </a:lnTo>
                  <a:lnTo>
                    <a:pt x="255" y="0"/>
                  </a:lnTo>
                  <a:lnTo>
                    <a:pt x="255" y="16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501" name="Freeform 18"/>
            <p:cNvSpPr>
              <a:spLocks/>
            </p:cNvSpPr>
            <p:nvPr/>
          </p:nvSpPr>
          <p:spPr bwMode="auto">
            <a:xfrm>
              <a:off x="1906" y="3716"/>
              <a:ext cx="261" cy="224"/>
            </a:xfrm>
            <a:custGeom>
              <a:avLst/>
              <a:gdLst>
                <a:gd name="T0" fmla="*/ 0 w 198"/>
                <a:gd name="T1" fmla="*/ 63 h 170"/>
                <a:gd name="T2" fmla="*/ 0 w 198"/>
                <a:gd name="T3" fmla="*/ 0 h 170"/>
                <a:gd name="T4" fmla="*/ 261 w 198"/>
                <a:gd name="T5" fmla="*/ 0 h 170"/>
                <a:gd name="T6" fmla="*/ 261 w 198"/>
                <a:gd name="T7" fmla="*/ 224 h 1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70"/>
                <a:gd name="T14" fmla="*/ 198 w 198"/>
                <a:gd name="T15" fmla="*/ 170 h 1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70">
                  <a:moveTo>
                    <a:pt x="0" y="48"/>
                  </a:moveTo>
                  <a:lnTo>
                    <a:pt x="0" y="0"/>
                  </a:lnTo>
                  <a:lnTo>
                    <a:pt x="198" y="0"/>
                  </a:lnTo>
                  <a:lnTo>
                    <a:pt x="198" y="170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502" name="Freeform 19"/>
            <p:cNvSpPr>
              <a:spLocks/>
            </p:cNvSpPr>
            <p:nvPr/>
          </p:nvSpPr>
          <p:spPr bwMode="auto">
            <a:xfrm>
              <a:off x="4298" y="3709"/>
              <a:ext cx="261" cy="231"/>
            </a:xfrm>
            <a:custGeom>
              <a:avLst/>
              <a:gdLst>
                <a:gd name="T0" fmla="*/ 0 w 198"/>
                <a:gd name="T1" fmla="*/ 41 h 175"/>
                <a:gd name="T2" fmla="*/ 0 w 198"/>
                <a:gd name="T3" fmla="*/ 0 h 175"/>
                <a:gd name="T4" fmla="*/ 261 w 198"/>
                <a:gd name="T5" fmla="*/ 0 h 175"/>
                <a:gd name="T6" fmla="*/ 261 w 198"/>
                <a:gd name="T7" fmla="*/ 231 h 1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75"/>
                <a:gd name="T14" fmla="*/ 198 w 198"/>
                <a:gd name="T15" fmla="*/ 175 h 1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75">
                  <a:moveTo>
                    <a:pt x="0" y="31"/>
                  </a:moveTo>
                  <a:lnTo>
                    <a:pt x="0" y="0"/>
                  </a:lnTo>
                  <a:lnTo>
                    <a:pt x="198" y="0"/>
                  </a:lnTo>
                  <a:lnTo>
                    <a:pt x="198" y="175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503" name="Freeform 20"/>
            <p:cNvSpPr>
              <a:spLocks/>
            </p:cNvSpPr>
            <p:nvPr/>
          </p:nvSpPr>
          <p:spPr bwMode="auto">
            <a:xfrm>
              <a:off x="3453" y="3701"/>
              <a:ext cx="508" cy="239"/>
            </a:xfrm>
            <a:custGeom>
              <a:avLst/>
              <a:gdLst>
                <a:gd name="T0" fmla="*/ 0 w 386"/>
                <a:gd name="T1" fmla="*/ 21 h 181"/>
                <a:gd name="T2" fmla="*/ 0 w 386"/>
                <a:gd name="T3" fmla="*/ 0 h 181"/>
                <a:gd name="T4" fmla="*/ 508 w 386"/>
                <a:gd name="T5" fmla="*/ 0 h 181"/>
                <a:gd name="T6" fmla="*/ 508 w 386"/>
                <a:gd name="T7" fmla="*/ 239 h 1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6"/>
                <a:gd name="T13" fmla="*/ 0 h 181"/>
                <a:gd name="T14" fmla="*/ 386 w 386"/>
                <a:gd name="T15" fmla="*/ 181 h 1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6" h="181">
                  <a:moveTo>
                    <a:pt x="0" y="16"/>
                  </a:moveTo>
                  <a:lnTo>
                    <a:pt x="0" y="0"/>
                  </a:lnTo>
                  <a:lnTo>
                    <a:pt x="386" y="0"/>
                  </a:lnTo>
                  <a:lnTo>
                    <a:pt x="386" y="181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504" name="Freeform 21"/>
            <p:cNvSpPr>
              <a:spLocks/>
            </p:cNvSpPr>
            <p:nvPr/>
          </p:nvSpPr>
          <p:spPr bwMode="auto">
            <a:xfrm>
              <a:off x="3707" y="3688"/>
              <a:ext cx="717" cy="21"/>
            </a:xfrm>
            <a:custGeom>
              <a:avLst/>
              <a:gdLst>
                <a:gd name="T0" fmla="*/ 0 w 544"/>
                <a:gd name="T1" fmla="*/ 13 h 16"/>
                <a:gd name="T2" fmla="*/ 0 w 544"/>
                <a:gd name="T3" fmla="*/ 0 h 16"/>
                <a:gd name="T4" fmla="*/ 717 w 544"/>
                <a:gd name="T5" fmla="*/ 0 h 16"/>
                <a:gd name="T6" fmla="*/ 717 w 544"/>
                <a:gd name="T7" fmla="*/ 21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4"/>
                <a:gd name="T13" fmla="*/ 0 h 16"/>
                <a:gd name="T14" fmla="*/ 544 w 544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4" h="16">
                  <a:moveTo>
                    <a:pt x="0" y="10"/>
                  </a:moveTo>
                  <a:lnTo>
                    <a:pt x="0" y="0"/>
                  </a:lnTo>
                  <a:lnTo>
                    <a:pt x="544" y="0"/>
                  </a:lnTo>
                  <a:lnTo>
                    <a:pt x="544" y="16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505" name="Rectangle 22"/>
            <p:cNvSpPr>
              <a:spLocks noChangeArrowheads="1"/>
            </p:cNvSpPr>
            <p:nvPr/>
          </p:nvSpPr>
          <p:spPr bwMode="auto">
            <a:xfrm>
              <a:off x="4709" y="3688"/>
              <a:ext cx="149" cy="252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0506" name="Freeform 23"/>
            <p:cNvSpPr>
              <a:spLocks/>
            </p:cNvSpPr>
            <p:nvPr/>
          </p:nvSpPr>
          <p:spPr bwMode="auto">
            <a:xfrm>
              <a:off x="1420" y="3680"/>
              <a:ext cx="613" cy="64"/>
            </a:xfrm>
            <a:custGeom>
              <a:avLst/>
              <a:gdLst>
                <a:gd name="T0" fmla="*/ 0 w 465"/>
                <a:gd name="T1" fmla="*/ 64 h 48"/>
                <a:gd name="T2" fmla="*/ 0 w 465"/>
                <a:gd name="T3" fmla="*/ 0 h 48"/>
                <a:gd name="T4" fmla="*/ 613 w 465"/>
                <a:gd name="T5" fmla="*/ 0 h 48"/>
                <a:gd name="T6" fmla="*/ 613 w 465"/>
                <a:gd name="T7" fmla="*/ 36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5"/>
                <a:gd name="T13" fmla="*/ 0 h 48"/>
                <a:gd name="T14" fmla="*/ 465 w 465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5" h="48">
                  <a:moveTo>
                    <a:pt x="0" y="48"/>
                  </a:moveTo>
                  <a:lnTo>
                    <a:pt x="0" y="0"/>
                  </a:lnTo>
                  <a:lnTo>
                    <a:pt x="465" y="0"/>
                  </a:lnTo>
                  <a:lnTo>
                    <a:pt x="465" y="27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507" name="Rectangle 24"/>
            <p:cNvSpPr>
              <a:spLocks noChangeArrowheads="1"/>
            </p:cNvSpPr>
            <p:nvPr/>
          </p:nvSpPr>
          <p:spPr bwMode="auto">
            <a:xfrm>
              <a:off x="4066" y="3659"/>
              <a:ext cx="717" cy="29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0508" name="Freeform 25"/>
            <p:cNvSpPr>
              <a:spLocks/>
            </p:cNvSpPr>
            <p:nvPr/>
          </p:nvSpPr>
          <p:spPr bwMode="auto">
            <a:xfrm>
              <a:off x="2318" y="3604"/>
              <a:ext cx="224" cy="336"/>
            </a:xfrm>
            <a:custGeom>
              <a:avLst/>
              <a:gdLst>
                <a:gd name="T0" fmla="*/ 0 w 170"/>
                <a:gd name="T1" fmla="*/ 336 h 255"/>
                <a:gd name="T2" fmla="*/ 0 w 170"/>
                <a:gd name="T3" fmla="*/ 0 h 255"/>
                <a:gd name="T4" fmla="*/ 224 w 170"/>
                <a:gd name="T5" fmla="*/ 0 h 255"/>
                <a:gd name="T6" fmla="*/ 224 w 170"/>
                <a:gd name="T7" fmla="*/ 154 h 2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255"/>
                <a:gd name="T14" fmla="*/ 170 w 170"/>
                <a:gd name="T15" fmla="*/ 255 h 2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255">
                  <a:moveTo>
                    <a:pt x="0" y="255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170" y="117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509" name="Freeform 26"/>
            <p:cNvSpPr>
              <a:spLocks/>
            </p:cNvSpPr>
            <p:nvPr/>
          </p:nvSpPr>
          <p:spPr bwMode="auto">
            <a:xfrm>
              <a:off x="1727" y="3604"/>
              <a:ext cx="703" cy="76"/>
            </a:xfrm>
            <a:custGeom>
              <a:avLst/>
              <a:gdLst>
                <a:gd name="T0" fmla="*/ 0 w 533"/>
                <a:gd name="T1" fmla="*/ 76 h 58"/>
                <a:gd name="T2" fmla="*/ 0 w 533"/>
                <a:gd name="T3" fmla="*/ 0 h 58"/>
                <a:gd name="T4" fmla="*/ 703 w 533"/>
                <a:gd name="T5" fmla="*/ 0 h 58"/>
                <a:gd name="T6" fmla="*/ 0 60000 65536"/>
                <a:gd name="T7" fmla="*/ 0 60000 65536"/>
                <a:gd name="T8" fmla="*/ 0 60000 65536"/>
                <a:gd name="T9" fmla="*/ 0 w 533"/>
                <a:gd name="T10" fmla="*/ 0 h 58"/>
                <a:gd name="T11" fmla="*/ 533 w 533"/>
                <a:gd name="T12" fmla="*/ 58 h 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3" h="58">
                  <a:moveTo>
                    <a:pt x="0" y="58"/>
                  </a:moveTo>
                  <a:lnTo>
                    <a:pt x="0" y="0"/>
                  </a:lnTo>
                  <a:lnTo>
                    <a:pt x="533" y="0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510" name="Freeform 27"/>
            <p:cNvSpPr>
              <a:spLocks/>
            </p:cNvSpPr>
            <p:nvPr/>
          </p:nvSpPr>
          <p:spPr bwMode="auto">
            <a:xfrm>
              <a:off x="2078" y="3547"/>
              <a:ext cx="688" cy="393"/>
            </a:xfrm>
            <a:custGeom>
              <a:avLst/>
              <a:gdLst>
                <a:gd name="T0" fmla="*/ 0 w 522"/>
                <a:gd name="T1" fmla="*/ 57 h 298"/>
                <a:gd name="T2" fmla="*/ 0 w 522"/>
                <a:gd name="T3" fmla="*/ 0 h 298"/>
                <a:gd name="T4" fmla="*/ 688 w 522"/>
                <a:gd name="T5" fmla="*/ 0 h 298"/>
                <a:gd name="T6" fmla="*/ 688 w 522"/>
                <a:gd name="T7" fmla="*/ 393 h 29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2"/>
                <a:gd name="T13" fmla="*/ 0 h 298"/>
                <a:gd name="T14" fmla="*/ 522 w 522"/>
                <a:gd name="T15" fmla="*/ 298 h 29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2" h="298">
                  <a:moveTo>
                    <a:pt x="0" y="43"/>
                  </a:moveTo>
                  <a:lnTo>
                    <a:pt x="0" y="0"/>
                  </a:lnTo>
                  <a:lnTo>
                    <a:pt x="522" y="0"/>
                  </a:lnTo>
                  <a:lnTo>
                    <a:pt x="522" y="298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511" name="Freeform 28"/>
            <p:cNvSpPr>
              <a:spLocks/>
            </p:cNvSpPr>
            <p:nvPr/>
          </p:nvSpPr>
          <p:spPr bwMode="auto">
            <a:xfrm>
              <a:off x="4424" y="3450"/>
              <a:ext cx="583" cy="490"/>
            </a:xfrm>
            <a:custGeom>
              <a:avLst/>
              <a:gdLst>
                <a:gd name="T0" fmla="*/ 0 w 442"/>
                <a:gd name="T1" fmla="*/ 209 h 372"/>
                <a:gd name="T2" fmla="*/ 0 w 442"/>
                <a:gd name="T3" fmla="*/ 0 h 372"/>
                <a:gd name="T4" fmla="*/ 583 w 442"/>
                <a:gd name="T5" fmla="*/ 0 h 372"/>
                <a:gd name="T6" fmla="*/ 583 w 442"/>
                <a:gd name="T7" fmla="*/ 490 h 3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2"/>
                <a:gd name="T13" fmla="*/ 0 h 372"/>
                <a:gd name="T14" fmla="*/ 442 w 442"/>
                <a:gd name="T15" fmla="*/ 372 h 3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2" h="372">
                  <a:moveTo>
                    <a:pt x="0" y="159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37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512" name="Freeform 29"/>
            <p:cNvSpPr>
              <a:spLocks/>
            </p:cNvSpPr>
            <p:nvPr/>
          </p:nvSpPr>
          <p:spPr bwMode="auto">
            <a:xfrm>
              <a:off x="2422" y="3351"/>
              <a:ext cx="493" cy="589"/>
            </a:xfrm>
            <a:custGeom>
              <a:avLst/>
              <a:gdLst>
                <a:gd name="T0" fmla="*/ 0 w 374"/>
                <a:gd name="T1" fmla="*/ 196 h 447"/>
                <a:gd name="T2" fmla="*/ 0 w 374"/>
                <a:gd name="T3" fmla="*/ 0 h 447"/>
                <a:gd name="T4" fmla="*/ 493 w 374"/>
                <a:gd name="T5" fmla="*/ 0 h 447"/>
                <a:gd name="T6" fmla="*/ 493 w 374"/>
                <a:gd name="T7" fmla="*/ 589 h 4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4"/>
                <a:gd name="T13" fmla="*/ 0 h 447"/>
                <a:gd name="T14" fmla="*/ 374 w 374"/>
                <a:gd name="T15" fmla="*/ 447 h 4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4" h="447">
                  <a:moveTo>
                    <a:pt x="0" y="149"/>
                  </a:moveTo>
                  <a:lnTo>
                    <a:pt x="0" y="0"/>
                  </a:lnTo>
                  <a:lnTo>
                    <a:pt x="374" y="0"/>
                  </a:lnTo>
                  <a:lnTo>
                    <a:pt x="374" y="447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513" name="Freeform 30"/>
            <p:cNvSpPr>
              <a:spLocks/>
            </p:cNvSpPr>
            <p:nvPr/>
          </p:nvSpPr>
          <p:spPr bwMode="auto">
            <a:xfrm>
              <a:off x="2668" y="3190"/>
              <a:ext cx="397" cy="750"/>
            </a:xfrm>
            <a:custGeom>
              <a:avLst/>
              <a:gdLst>
                <a:gd name="T0" fmla="*/ 0 w 301"/>
                <a:gd name="T1" fmla="*/ 161 h 569"/>
                <a:gd name="T2" fmla="*/ 0 w 301"/>
                <a:gd name="T3" fmla="*/ 0 h 569"/>
                <a:gd name="T4" fmla="*/ 397 w 301"/>
                <a:gd name="T5" fmla="*/ 0 h 569"/>
                <a:gd name="T6" fmla="*/ 397 w 301"/>
                <a:gd name="T7" fmla="*/ 750 h 5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1"/>
                <a:gd name="T13" fmla="*/ 0 h 569"/>
                <a:gd name="T14" fmla="*/ 301 w 301"/>
                <a:gd name="T15" fmla="*/ 569 h 5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1" h="569">
                  <a:moveTo>
                    <a:pt x="0" y="122"/>
                  </a:moveTo>
                  <a:lnTo>
                    <a:pt x="0" y="0"/>
                  </a:lnTo>
                  <a:lnTo>
                    <a:pt x="301" y="0"/>
                  </a:lnTo>
                  <a:lnTo>
                    <a:pt x="301" y="569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514" name="Freeform 31"/>
            <p:cNvSpPr>
              <a:spLocks/>
            </p:cNvSpPr>
            <p:nvPr/>
          </p:nvSpPr>
          <p:spPr bwMode="auto">
            <a:xfrm>
              <a:off x="4715" y="3106"/>
              <a:ext cx="442" cy="834"/>
            </a:xfrm>
            <a:custGeom>
              <a:avLst/>
              <a:gdLst>
                <a:gd name="T0" fmla="*/ 0 w 335"/>
                <a:gd name="T1" fmla="*/ 344 h 633"/>
                <a:gd name="T2" fmla="*/ 0 w 335"/>
                <a:gd name="T3" fmla="*/ 0 h 633"/>
                <a:gd name="T4" fmla="*/ 442 w 335"/>
                <a:gd name="T5" fmla="*/ 0 h 633"/>
                <a:gd name="T6" fmla="*/ 442 w 335"/>
                <a:gd name="T7" fmla="*/ 834 h 6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5"/>
                <a:gd name="T13" fmla="*/ 0 h 633"/>
                <a:gd name="T14" fmla="*/ 335 w 335"/>
                <a:gd name="T15" fmla="*/ 633 h 6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5" h="633">
                  <a:moveTo>
                    <a:pt x="0" y="261"/>
                  </a:moveTo>
                  <a:lnTo>
                    <a:pt x="0" y="0"/>
                  </a:lnTo>
                  <a:lnTo>
                    <a:pt x="335" y="0"/>
                  </a:lnTo>
                  <a:lnTo>
                    <a:pt x="335" y="633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515" name="Freeform 32"/>
            <p:cNvSpPr>
              <a:spLocks/>
            </p:cNvSpPr>
            <p:nvPr/>
          </p:nvSpPr>
          <p:spPr bwMode="auto">
            <a:xfrm>
              <a:off x="2862" y="1208"/>
              <a:ext cx="2071" cy="1982"/>
            </a:xfrm>
            <a:custGeom>
              <a:avLst/>
              <a:gdLst>
                <a:gd name="T0" fmla="*/ 2071 w 1571"/>
                <a:gd name="T1" fmla="*/ 1898 h 1504"/>
                <a:gd name="T2" fmla="*/ 2071 w 1571"/>
                <a:gd name="T3" fmla="*/ 0 h 1504"/>
                <a:gd name="T4" fmla="*/ 0 w 1571"/>
                <a:gd name="T5" fmla="*/ 0 h 1504"/>
                <a:gd name="T6" fmla="*/ 0 w 1571"/>
                <a:gd name="T7" fmla="*/ 1982 h 15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71"/>
                <a:gd name="T13" fmla="*/ 0 h 1504"/>
                <a:gd name="T14" fmla="*/ 1571 w 1571"/>
                <a:gd name="T15" fmla="*/ 1504 h 15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71" h="1504">
                  <a:moveTo>
                    <a:pt x="1571" y="1440"/>
                  </a:moveTo>
                  <a:lnTo>
                    <a:pt x="1571" y="0"/>
                  </a:lnTo>
                  <a:lnTo>
                    <a:pt x="0" y="0"/>
                  </a:lnTo>
                  <a:lnTo>
                    <a:pt x="0" y="1504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516" name="Line 33"/>
            <p:cNvSpPr>
              <a:spLocks noChangeShapeType="1"/>
            </p:cNvSpPr>
            <p:nvPr/>
          </p:nvSpPr>
          <p:spPr bwMode="auto">
            <a:xfrm>
              <a:off x="674" y="3933"/>
              <a:ext cx="4632" cy="2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pic>
        <p:nvPicPr>
          <p:cNvPr id="20483" name="Picture 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726" y="1917700"/>
            <a:ext cx="3451225" cy="342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Text Box 35"/>
          <p:cNvSpPr txBox="1">
            <a:spLocks noChangeArrowheads="1"/>
          </p:cNvSpPr>
          <p:nvPr/>
        </p:nvSpPr>
        <p:spPr bwMode="auto">
          <a:xfrm>
            <a:off x="1736726" y="600076"/>
            <a:ext cx="89312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We can look at the dendrogram to determine the “correct” number of clusters. </a:t>
            </a:r>
            <a:endParaRPr lang="en-US" altLang="en-US" sz="2000">
              <a:solidFill>
                <a:srgbClr val="EEECE1"/>
              </a:solidFill>
            </a:endParaRPr>
          </a:p>
        </p:txBody>
      </p:sp>
      <p:sp>
        <p:nvSpPr>
          <p:cNvPr id="20485" name="TextBox 35"/>
          <p:cNvSpPr txBox="1">
            <a:spLocks noChangeArrowheads="1"/>
          </p:cNvSpPr>
          <p:nvPr/>
        </p:nvSpPr>
        <p:spPr bwMode="auto">
          <a:xfrm>
            <a:off x="6389688" y="131764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312955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1847850" y="2562225"/>
            <a:ext cx="2952750" cy="2705100"/>
            <a:chOff x="3164" y="1404"/>
            <a:chExt cx="2400" cy="2400"/>
          </a:xfrm>
        </p:grpSpPr>
        <p:sp>
          <p:nvSpPr>
            <p:cNvPr id="21545" name="Rectangle 3"/>
            <p:cNvSpPr>
              <a:spLocks noChangeArrowheads="1"/>
            </p:cNvSpPr>
            <p:nvPr/>
          </p:nvSpPr>
          <p:spPr bwMode="auto">
            <a:xfrm>
              <a:off x="316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46" name="Rectangle 4"/>
            <p:cNvSpPr>
              <a:spLocks noChangeArrowheads="1"/>
            </p:cNvSpPr>
            <p:nvPr/>
          </p:nvSpPr>
          <p:spPr bwMode="auto">
            <a:xfrm>
              <a:off x="340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47" name="Rectangle 5"/>
            <p:cNvSpPr>
              <a:spLocks noChangeArrowheads="1"/>
            </p:cNvSpPr>
            <p:nvPr/>
          </p:nvSpPr>
          <p:spPr bwMode="auto">
            <a:xfrm>
              <a:off x="364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48" name="Rectangle 6"/>
            <p:cNvSpPr>
              <a:spLocks noChangeArrowheads="1"/>
            </p:cNvSpPr>
            <p:nvPr/>
          </p:nvSpPr>
          <p:spPr bwMode="auto">
            <a:xfrm>
              <a:off x="388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49" name="Rectangle 7"/>
            <p:cNvSpPr>
              <a:spLocks noChangeArrowheads="1"/>
            </p:cNvSpPr>
            <p:nvPr/>
          </p:nvSpPr>
          <p:spPr bwMode="auto">
            <a:xfrm>
              <a:off x="412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50" name="Rectangle 8"/>
            <p:cNvSpPr>
              <a:spLocks noChangeArrowheads="1"/>
            </p:cNvSpPr>
            <p:nvPr/>
          </p:nvSpPr>
          <p:spPr bwMode="auto">
            <a:xfrm>
              <a:off x="436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51" name="Rectangle 9"/>
            <p:cNvSpPr>
              <a:spLocks noChangeArrowheads="1"/>
            </p:cNvSpPr>
            <p:nvPr/>
          </p:nvSpPr>
          <p:spPr bwMode="auto">
            <a:xfrm>
              <a:off x="460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52" name="Rectangle 10"/>
            <p:cNvSpPr>
              <a:spLocks noChangeArrowheads="1"/>
            </p:cNvSpPr>
            <p:nvPr/>
          </p:nvSpPr>
          <p:spPr bwMode="auto">
            <a:xfrm>
              <a:off x="484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53" name="Rectangle 11"/>
            <p:cNvSpPr>
              <a:spLocks noChangeArrowheads="1"/>
            </p:cNvSpPr>
            <p:nvPr/>
          </p:nvSpPr>
          <p:spPr bwMode="auto">
            <a:xfrm>
              <a:off x="508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54" name="Rectangle 12"/>
            <p:cNvSpPr>
              <a:spLocks noChangeArrowheads="1"/>
            </p:cNvSpPr>
            <p:nvPr/>
          </p:nvSpPr>
          <p:spPr bwMode="auto">
            <a:xfrm>
              <a:off x="5324" y="35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55" name="Rectangle 13"/>
            <p:cNvSpPr>
              <a:spLocks noChangeArrowheads="1"/>
            </p:cNvSpPr>
            <p:nvPr/>
          </p:nvSpPr>
          <p:spPr bwMode="auto">
            <a:xfrm>
              <a:off x="316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56" name="Rectangle 14"/>
            <p:cNvSpPr>
              <a:spLocks noChangeArrowheads="1"/>
            </p:cNvSpPr>
            <p:nvPr/>
          </p:nvSpPr>
          <p:spPr bwMode="auto">
            <a:xfrm>
              <a:off x="340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57" name="Rectangle 15"/>
            <p:cNvSpPr>
              <a:spLocks noChangeArrowheads="1"/>
            </p:cNvSpPr>
            <p:nvPr/>
          </p:nvSpPr>
          <p:spPr bwMode="auto">
            <a:xfrm>
              <a:off x="364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58" name="Rectangle 16"/>
            <p:cNvSpPr>
              <a:spLocks noChangeArrowheads="1"/>
            </p:cNvSpPr>
            <p:nvPr/>
          </p:nvSpPr>
          <p:spPr bwMode="auto">
            <a:xfrm>
              <a:off x="388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59" name="Rectangle 17"/>
            <p:cNvSpPr>
              <a:spLocks noChangeArrowheads="1"/>
            </p:cNvSpPr>
            <p:nvPr/>
          </p:nvSpPr>
          <p:spPr bwMode="auto">
            <a:xfrm>
              <a:off x="412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60" name="Rectangle 18"/>
            <p:cNvSpPr>
              <a:spLocks noChangeArrowheads="1"/>
            </p:cNvSpPr>
            <p:nvPr/>
          </p:nvSpPr>
          <p:spPr bwMode="auto">
            <a:xfrm>
              <a:off x="436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61" name="Rectangle 19"/>
            <p:cNvSpPr>
              <a:spLocks noChangeArrowheads="1"/>
            </p:cNvSpPr>
            <p:nvPr/>
          </p:nvSpPr>
          <p:spPr bwMode="auto">
            <a:xfrm>
              <a:off x="460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62" name="Rectangle 20"/>
            <p:cNvSpPr>
              <a:spLocks noChangeArrowheads="1"/>
            </p:cNvSpPr>
            <p:nvPr/>
          </p:nvSpPr>
          <p:spPr bwMode="auto">
            <a:xfrm>
              <a:off x="484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63" name="Rectangle 21"/>
            <p:cNvSpPr>
              <a:spLocks noChangeArrowheads="1"/>
            </p:cNvSpPr>
            <p:nvPr/>
          </p:nvSpPr>
          <p:spPr bwMode="auto">
            <a:xfrm>
              <a:off x="508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64" name="Rectangle 22"/>
            <p:cNvSpPr>
              <a:spLocks noChangeArrowheads="1"/>
            </p:cNvSpPr>
            <p:nvPr/>
          </p:nvSpPr>
          <p:spPr bwMode="auto">
            <a:xfrm>
              <a:off x="5324" y="33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65" name="Rectangle 23"/>
            <p:cNvSpPr>
              <a:spLocks noChangeArrowheads="1"/>
            </p:cNvSpPr>
            <p:nvPr/>
          </p:nvSpPr>
          <p:spPr bwMode="auto">
            <a:xfrm>
              <a:off x="316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66" name="Rectangle 24"/>
            <p:cNvSpPr>
              <a:spLocks noChangeArrowheads="1"/>
            </p:cNvSpPr>
            <p:nvPr/>
          </p:nvSpPr>
          <p:spPr bwMode="auto">
            <a:xfrm>
              <a:off x="340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67" name="Rectangle 25"/>
            <p:cNvSpPr>
              <a:spLocks noChangeArrowheads="1"/>
            </p:cNvSpPr>
            <p:nvPr/>
          </p:nvSpPr>
          <p:spPr bwMode="auto">
            <a:xfrm>
              <a:off x="364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68" name="Rectangle 26"/>
            <p:cNvSpPr>
              <a:spLocks noChangeArrowheads="1"/>
            </p:cNvSpPr>
            <p:nvPr/>
          </p:nvSpPr>
          <p:spPr bwMode="auto">
            <a:xfrm>
              <a:off x="388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69" name="Rectangle 27"/>
            <p:cNvSpPr>
              <a:spLocks noChangeArrowheads="1"/>
            </p:cNvSpPr>
            <p:nvPr/>
          </p:nvSpPr>
          <p:spPr bwMode="auto">
            <a:xfrm>
              <a:off x="412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70" name="Rectangle 28"/>
            <p:cNvSpPr>
              <a:spLocks noChangeArrowheads="1"/>
            </p:cNvSpPr>
            <p:nvPr/>
          </p:nvSpPr>
          <p:spPr bwMode="auto">
            <a:xfrm>
              <a:off x="436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71" name="Rectangle 29"/>
            <p:cNvSpPr>
              <a:spLocks noChangeArrowheads="1"/>
            </p:cNvSpPr>
            <p:nvPr/>
          </p:nvSpPr>
          <p:spPr bwMode="auto">
            <a:xfrm>
              <a:off x="460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72" name="Rectangle 30"/>
            <p:cNvSpPr>
              <a:spLocks noChangeArrowheads="1"/>
            </p:cNvSpPr>
            <p:nvPr/>
          </p:nvSpPr>
          <p:spPr bwMode="auto">
            <a:xfrm>
              <a:off x="484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73" name="Rectangle 31"/>
            <p:cNvSpPr>
              <a:spLocks noChangeArrowheads="1"/>
            </p:cNvSpPr>
            <p:nvPr/>
          </p:nvSpPr>
          <p:spPr bwMode="auto">
            <a:xfrm>
              <a:off x="508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74" name="Rectangle 32"/>
            <p:cNvSpPr>
              <a:spLocks noChangeArrowheads="1"/>
            </p:cNvSpPr>
            <p:nvPr/>
          </p:nvSpPr>
          <p:spPr bwMode="auto">
            <a:xfrm>
              <a:off x="5324" y="30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75" name="Rectangle 33"/>
            <p:cNvSpPr>
              <a:spLocks noChangeArrowheads="1"/>
            </p:cNvSpPr>
            <p:nvPr/>
          </p:nvSpPr>
          <p:spPr bwMode="auto">
            <a:xfrm>
              <a:off x="316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76" name="Rectangle 34"/>
            <p:cNvSpPr>
              <a:spLocks noChangeArrowheads="1"/>
            </p:cNvSpPr>
            <p:nvPr/>
          </p:nvSpPr>
          <p:spPr bwMode="auto">
            <a:xfrm>
              <a:off x="340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77" name="Rectangle 35"/>
            <p:cNvSpPr>
              <a:spLocks noChangeArrowheads="1"/>
            </p:cNvSpPr>
            <p:nvPr/>
          </p:nvSpPr>
          <p:spPr bwMode="auto">
            <a:xfrm>
              <a:off x="364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78" name="Rectangle 36"/>
            <p:cNvSpPr>
              <a:spLocks noChangeArrowheads="1"/>
            </p:cNvSpPr>
            <p:nvPr/>
          </p:nvSpPr>
          <p:spPr bwMode="auto">
            <a:xfrm>
              <a:off x="388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79" name="Rectangle 37"/>
            <p:cNvSpPr>
              <a:spLocks noChangeArrowheads="1"/>
            </p:cNvSpPr>
            <p:nvPr/>
          </p:nvSpPr>
          <p:spPr bwMode="auto">
            <a:xfrm>
              <a:off x="412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80" name="Rectangle 38"/>
            <p:cNvSpPr>
              <a:spLocks noChangeArrowheads="1"/>
            </p:cNvSpPr>
            <p:nvPr/>
          </p:nvSpPr>
          <p:spPr bwMode="auto">
            <a:xfrm>
              <a:off x="436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81" name="Rectangle 39"/>
            <p:cNvSpPr>
              <a:spLocks noChangeArrowheads="1"/>
            </p:cNvSpPr>
            <p:nvPr/>
          </p:nvSpPr>
          <p:spPr bwMode="auto">
            <a:xfrm>
              <a:off x="460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82" name="Rectangle 40"/>
            <p:cNvSpPr>
              <a:spLocks noChangeArrowheads="1"/>
            </p:cNvSpPr>
            <p:nvPr/>
          </p:nvSpPr>
          <p:spPr bwMode="auto">
            <a:xfrm>
              <a:off x="484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83" name="Rectangle 41"/>
            <p:cNvSpPr>
              <a:spLocks noChangeArrowheads="1"/>
            </p:cNvSpPr>
            <p:nvPr/>
          </p:nvSpPr>
          <p:spPr bwMode="auto">
            <a:xfrm>
              <a:off x="508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84" name="Rectangle 42"/>
            <p:cNvSpPr>
              <a:spLocks noChangeArrowheads="1"/>
            </p:cNvSpPr>
            <p:nvPr/>
          </p:nvSpPr>
          <p:spPr bwMode="auto">
            <a:xfrm>
              <a:off x="5324" y="28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85" name="Rectangle 43"/>
            <p:cNvSpPr>
              <a:spLocks noChangeArrowheads="1"/>
            </p:cNvSpPr>
            <p:nvPr/>
          </p:nvSpPr>
          <p:spPr bwMode="auto">
            <a:xfrm>
              <a:off x="316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86" name="Rectangle 44"/>
            <p:cNvSpPr>
              <a:spLocks noChangeArrowheads="1"/>
            </p:cNvSpPr>
            <p:nvPr/>
          </p:nvSpPr>
          <p:spPr bwMode="auto">
            <a:xfrm>
              <a:off x="340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87" name="Rectangle 45"/>
            <p:cNvSpPr>
              <a:spLocks noChangeArrowheads="1"/>
            </p:cNvSpPr>
            <p:nvPr/>
          </p:nvSpPr>
          <p:spPr bwMode="auto">
            <a:xfrm>
              <a:off x="364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88" name="Rectangle 46"/>
            <p:cNvSpPr>
              <a:spLocks noChangeArrowheads="1"/>
            </p:cNvSpPr>
            <p:nvPr/>
          </p:nvSpPr>
          <p:spPr bwMode="auto">
            <a:xfrm>
              <a:off x="388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89" name="Rectangle 47"/>
            <p:cNvSpPr>
              <a:spLocks noChangeArrowheads="1"/>
            </p:cNvSpPr>
            <p:nvPr/>
          </p:nvSpPr>
          <p:spPr bwMode="auto">
            <a:xfrm>
              <a:off x="412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90" name="Rectangle 48"/>
            <p:cNvSpPr>
              <a:spLocks noChangeArrowheads="1"/>
            </p:cNvSpPr>
            <p:nvPr/>
          </p:nvSpPr>
          <p:spPr bwMode="auto">
            <a:xfrm>
              <a:off x="436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91" name="Rectangle 49"/>
            <p:cNvSpPr>
              <a:spLocks noChangeArrowheads="1"/>
            </p:cNvSpPr>
            <p:nvPr/>
          </p:nvSpPr>
          <p:spPr bwMode="auto">
            <a:xfrm>
              <a:off x="460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92" name="Rectangle 50"/>
            <p:cNvSpPr>
              <a:spLocks noChangeArrowheads="1"/>
            </p:cNvSpPr>
            <p:nvPr/>
          </p:nvSpPr>
          <p:spPr bwMode="auto">
            <a:xfrm>
              <a:off x="484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93" name="Rectangle 51"/>
            <p:cNvSpPr>
              <a:spLocks noChangeArrowheads="1"/>
            </p:cNvSpPr>
            <p:nvPr/>
          </p:nvSpPr>
          <p:spPr bwMode="auto">
            <a:xfrm>
              <a:off x="508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94" name="Rectangle 52"/>
            <p:cNvSpPr>
              <a:spLocks noChangeArrowheads="1"/>
            </p:cNvSpPr>
            <p:nvPr/>
          </p:nvSpPr>
          <p:spPr bwMode="auto">
            <a:xfrm>
              <a:off x="5324" y="26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95" name="Rectangle 53"/>
            <p:cNvSpPr>
              <a:spLocks noChangeArrowheads="1"/>
            </p:cNvSpPr>
            <p:nvPr/>
          </p:nvSpPr>
          <p:spPr bwMode="auto">
            <a:xfrm>
              <a:off x="316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96" name="Rectangle 54"/>
            <p:cNvSpPr>
              <a:spLocks noChangeArrowheads="1"/>
            </p:cNvSpPr>
            <p:nvPr/>
          </p:nvSpPr>
          <p:spPr bwMode="auto">
            <a:xfrm>
              <a:off x="340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97" name="Rectangle 55"/>
            <p:cNvSpPr>
              <a:spLocks noChangeArrowheads="1"/>
            </p:cNvSpPr>
            <p:nvPr/>
          </p:nvSpPr>
          <p:spPr bwMode="auto">
            <a:xfrm>
              <a:off x="364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98" name="Rectangle 56"/>
            <p:cNvSpPr>
              <a:spLocks noChangeArrowheads="1"/>
            </p:cNvSpPr>
            <p:nvPr/>
          </p:nvSpPr>
          <p:spPr bwMode="auto">
            <a:xfrm>
              <a:off x="388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99" name="Rectangle 57"/>
            <p:cNvSpPr>
              <a:spLocks noChangeArrowheads="1"/>
            </p:cNvSpPr>
            <p:nvPr/>
          </p:nvSpPr>
          <p:spPr bwMode="auto">
            <a:xfrm>
              <a:off x="412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00" name="Rectangle 58"/>
            <p:cNvSpPr>
              <a:spLocks noChangeArrowheads="1"/>
            </p:cNvSpPr>
            <p:nvPr/>
          </p:nvSpPr>
          <p:spPr bwMode="auto">
            <a:xfrm>
              <a:off x="436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01" name="Rectangle 59"/>
            <p:cNvSpPr>
              <a:spLocks noChangeArrowheads="1"/>
            </p:cNvSpPr>
            <p:nvPr/>
          </p:nvSpPr>
          <p:spPr bwMode="auto">
            <a:xfrm>
              <a:off x="460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02" name="Rectangle 60"/>
            <p:cNvSpPr>
              <a:spLocks noChangeArrowheads="1"/>
            </p:cNvSpPr>
            <p:nvPr/>
          </p:nvSpPr>
          <p:spPr bwMode="auto">
            <a:xfrm>
              <a:off x="484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03" name="Rectangle 61"/>
            <p:cNvSpPr>
              <a:spLocks noChangeArrowheads="1"/>
            </p:cNvSpPr>
            <p:nvPr/>
          </p:nvSpPr>
          <p:spPr bwMode="auto">
            <a:xfrm>
              <a:off x="508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04" name="Rectangle 62"/>
            <p:cNvSpPr>
              <a:spLocks noChangeArrowheads="1"/>
            </p:cNvSpPr>
            <p:nvPr/>
          </p:nvSpPr>
          <p:spPr bwMode="auto">
            <a:xfrm>
              <a:off x="5324" y="236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05" name="Rectangle 63"/>
            <p:cNvSpPr>
              <a:spLocks noChangeArrowheads="1"/>
            </p:cNvSpPr>
            <p:nvPr/>
          </p:nvSpPr>
          <p:spPr bwMode="auto">
            <a:xfrm>
              <a:off x="316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06" name="Rectangle 64"/>
            <p:cNvSpPr>
              <a:spLocks noChangeArrowheads="1"/>
            </p:cNvSpPr>
            <p:nvPr/>
          </p:nvSpPr>
          <p:spPr bwMode="auto">
            <a:xfrm>
              <a:off x="340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07" name="Rectangle 65"/>
            <p:cNvSpPr>
              <a:spLocks noChangeArrowheads="1"/>
            </p:cNvSpPr>
            <p:nvPr/>
          </p:nvSpPr>
          <p:spPr bwMode="auto">
            <a:xfrm>
              <a:off x="364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08" name="Rectangle 66"/>
            <p:cNvSpPr>
              <a:spLocks noChangeArrowheads="1"/>
            </p:cNvSpPr>
            <p:nvPr/>
          </p:nvSpPr>
          <p:spPr bwMode="auto">
            <a:xfrm>
              <a:off x="388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09" name="Rectangle 67"/>
            <p:cNvSpPr>
              <a:spLocks noChangeArrowheads="1"/>
            </p:cNvSpPr>
            <p:nvPr/>
          </p:nvSpPr>
          <p:spPr bwMode="auto">
            <a:xfrm>
              <a:off x="412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10" name="Rectangle 68"/>
            <p:cNvSpPr>
              <a:spLocks noChangeArrowheads="1"/>
            </p:cNvSpPr>
            <p:nvPr/>
          </p:nvSpPr>
          <p:spPr bwMode="auto">
            <a:xfrm>
              <a:off x="436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11" name="Rectangle 69"/>
            <p:cNvSpPr>
              <a:spLocks noChangeArrowheads="1"/>
            </p:cNvSpPr>
            <p:nvPr/>
          </p:nvSpPr>
          <p:spPr bwMode="auto">
            <a:xfrm>
              <a:off x="460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12" name="Rectangle 70"/>
            <p:cNvSpPr>
              <a:spLocks noChangeArrowheads="1"/>
            </p:cNvSpPr>
            <p:nvPr/>
          </p:nvSpPr>
          <p:spPr bwMode="auto">
            <a:xfrm>
              <a:off x="484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13" name="Rectangle 71"/>
            <p:cNvSpPr>
              <a:spLocks noChangeArrowheads="1"/>
            </p:cNvSpPr>
            <p:nvPr/>
          </p:nvSpPr>
          <p:spPr bwMode="auto">
            <a:xfrm>
              <a:off x="508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14" name="Rectangle 72"/>
            <p:cNvSpPr>
              <a:spLocks noChangeArrowheads="1"/>
            </p:cNvSpPr>
            <p:nvPr/>
          </p:nvSpPr>
          <p:spPr bwMode="auto">
            <a:xfrm>
              <a:off x="5324" y="212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15" name="Rectangle 73"/>
            <p:cNvSpPr>
              <a:spLocks noChangeArrowheads="1"/>
            </p:cNvSpPr>
            <p:nvPr/>
          </p:nvSpPr>
          <p:spPr bwMode="auto">
            <a:xfrm>
              <a:off x="316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16" name="Rectangle 74"/>
            <p:cNvSpPr>
              <a:spLocks noChangeArrowheads="1"/>
            </p:cNvSpPr>
            <p:nvPr/>
          </p:nvSpPr>
          <p:spPr bwMode="auto">
            <a:xfrm>
              <a:off x="340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17" name="Rectangle 75"/>
            <p:cNvSpPr>
              <a:spLocks noChangeArrowheads="1"/>
            </p:cNvSpPr>
            <p:nvPr/>
          </p:nvSpPr>
          <p:spPr bwMode="auto">
            <a:xfrm>
              <a:off x="364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18" name="Rectangle 76"/>
            <p:cNvSpPr>
              <a:spLocks noChangeArrowheads="1"/>
            </p:cNvSpPr>
            <p:nvPr/>
          </p:nvSpPr>
          <p:spPr bwMode="auto">
            <a:xfrm>
              <a:off x="388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19" name="Rectangle 77"/>
            <p:cNvSpPr>
              <a:spLocks noChangeArrowheads="1"/>
            </p:cNvSpPr>
            <p:nvPr/>
          </p:nvSpPr>
          <p:spPr bwMode="auto">
            <a:xfrm>
              <a:off x="412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20" name="Rectangle 78"/>
            <p:cNvSpPr>
              <a:spLocks noChangeArrowheads="1"/>
            </p:cNvSpPr>
            <p:nvPr/>
          </p:nvSpPr>
          <p:spPr bwMode="auto">
            <a:xfrm>
              <a:off x="436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21" name="Rectangle 79"/>
            <p:cNvSpPr>
              <a:spLocks noChangeArrowheads="1"/>
            </p:cNvSpPr>
            <p:nvPr/>
          </p:nvSpPr>
          <p:spPr bwMode="auto">
            <a:xfrm>
              <a:off x="460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22" name="Rectangle 80"/>
            <p:cNvSpPr>
              <a:spLocks noChangeArrowheads="1"/>
            </p:cNvSpPr>
            <p:nvPr/>
          </p:nvSpPr>
          <p:spPr bwMode="auto">
            <a:xfrm>
              <a:off x="484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23" name="Rectangle 81"/>
            <p:cNvSpPr>
              <a:spLocks noChangeArrowheads="1"/>
            </p:cNvSpPr>
            <p:nvPr/>
          </p:nvSpPr>
          <p:spPr bwMode="auto">
            <a:xfrm>
              <a:off x="508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24" name="Rectangle 82"/>
            <p:cNvSpPr>
              <a:spLocks noChangeArrowheads="1"/>
            </p:cNvSpPr>
            <p:nvPr/>
          </p:nvSpPr>
          <p:spPr bwMode="auto">
            <a:xfrm>
              <a:off x="5324" y="188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25" name="Rectangle 83"/>
            <p:cNvSpPr>
              <a:spLocks noChangeArrowheads="1"/>
            </p:cNvSpPr>
            <p:nvPr/>
          </p:nvSpPr>
          <p:spPr bwMode="auto">
            <a:xfrm>
              <a:off x="316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26" name="Rectangle 84"/>
            <p:cNvSpPr>
              <a:spLocks noChangeArrowheads="1"/>
            </p:cNvSpPr>
            <p:nvPr/>
          </p:nvSpPr>
          <p:spPr bwMode="auto">
            <a:xfrm>
              <a:off x="340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27" name="Rectangle 85"/>
            <p:cNvSpPr>
              <a:spLocks noChangeArrowheads="1"/>
            </p:cNvSpPr>
            <p:nvPr/>
          </p:nvSpPr>
          <p:spPr bwMode="auto">
            <a:xfrm>
              <a:off x="364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28" name="Rectangle 86"/>
            <p:cNvSpPr>
              <a:spLocks noChangeArrowheads="1"/>
            </p:cNvSpPr>
            <p:nvPr/>
          </p:nvSpPr>
          <p:spPr bwMode="auto">
            <a:xfrm>
              <a:off x="388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29" name="Rectangle 87"/>
            <p:cNvSpPr>
              <a:spLocks noChangeArrowheads="1"/>
            </p:cNvSpPr>
            <p:nvPr/>
          </p:nvSpPr>
          <p:spPr bwMode="auto">
            <a:xfrm>
              <a:off x="412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30" name="Rectangle 88"/>
            <p:cNvSpPr>
              <a:spLocks noChangeArrowheads="1"/>
            </p:cNvSpPr>
            <p:nvPr/>
          </p:nvSpPr>
          <p:spPr bwMode="auto">
            <a:xfrm>
              <a:off x="436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31" name="Rectangle 89"/>
            <p:cNvSpPr>
              <a:spLocks noChangeArrowheads="1"/>
            </p:cNvSpPr>
            <p:nvPr/>
          </p:nvSpPr>
          <p:spPr bwMode="auto">
            <a:xfrm>
              <a:off x="460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32" name="Rectangle 90"/>
            <p:cNvSpPr>
              <a:spLocks noChangeArrowheads="1"/>
            </p:cNvSpPr>
            <p:nvPr/>
          </p:nvSpPr>
          <p:spPr bwMode="auto">
            <a:xfrm>
              <a:off x="484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33" name="Rectangle 91"/>
            <p:cNvSpPr>
              <a:spLocks noChangeArrowheads="1"/>
            </p:cNvSpPr>
            <p:nvPr/>
          </p:nvSpPr>
          <p:spPr bwMode="auto">
            <a:xfrm>
              <a:off x="508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34" name="Rectangle 92"/>
            <p:cNvSpPr>
              <a:spLocks noChangeArrowheads="1"/>
            </p:cNvSpPr>
            <p:nvPr/>
          </p:nvSpPr>
          <p:spPr bwMode="auto">
            <a:xfrm>
              <a:off x="5324" y="164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35" name="Rectangle 93"/>
            <p:cNvSpPr>
              <a:spLocks noChangeArrowheads="1"/>
            </p:cNvSpPr>
            <p:nvPr/>
          </p:nvSpPr>
          <p:spPr bwMode="auto">
            <a:xfrm>
              <a:off x="316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36" name="Rectangle 94"/>
            <p:cNvSpPr>
              <a:spLocks noChangeArrowheads="1"/>
            </p:cNvSpPr>
            <p:nvPr/>
          </p:nvSpPr>
          <p:spPr bwMode="auto">
            <a:xfrm>
              <a:off x="340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37" name="Rectangle 95"/>
            <p:cNvSpPr>
              <a:spLocks noChangeArrowheads="1"/>
            </p:cNvSpPr>
            <p:nvPr/>
          </p:nvSpPr>
          <p:spPr bwMode="auto">
            <a:xfrm>
              <a:off x="364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38" name="Rectangle 96"/>
            <p:cNvSpPr>
              <a:spLocks noChangeArrowheads="1"/>
            </p:cNvSpPr>
            <p:nvPr/>
          </p:nvSpPr>
          <p:spPr bwMode="auto">
            <a:xfrm>
              <a:off x="388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39" name="Rectangle 97"/>
            <p:cNvSpPr>
              <a:spLocks noChangeArrowheads="1"/>
            </p:cNvSpPr>
            <p:nvPr/>
          </p:nvSpPr>
          <p:spPr bwMode="auto">
            <a:xfrm>
              <a:off x="412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40" name="Rectangle 98"/>
            <p:cNvSpPr>
              <a:spLocks noChangeArrowheads="1"/>
            </p:cNvSpPr>
            <p:nvPr/>
          </p:nvSpPr>
          <p:spPr bwMode="auto">
            <a:xfrm>
              <a:off x="436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41" name="Rectangle 99"/>
            <p:cNvSpPr>
              <a:spLocks noChangeArrowheads="1"/>
            </p:cNvSpPr>
            <p:nvPr/>
          </p:nvSpPr>
          <p:spPr bwMode="auto">
            <a:xfrm>
              <a:off x="460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42" name="Rectangle 100"/>
            <p:cNvSpPr>
              <a:spLocks noChangeArrowheads="1"/>
            </p:cNvSpPr>
            <p:nvPr/>
          </p:nvSpPr>
          <p:spPr bwMode="auto">
            <a:xfrm>
              <a:off x="484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43" name="Rectangle 101"/>
            <p:cNvSpPr>
              <a:spLocks noChangeArrowheads="1"/>
            </p:cNvSpPr>
            <p:nvPr/>
          </p:nvSpPr>
          <p:spPr bwMode="auto">
            <a:xfrm>
              <a:off x="508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44" name="Rectangle 102"/>
            <p:cNvSpPr>
              <a:spLocks noChangeArrowheads="1"/>
            </p:cNvSpPr>
            <p:nvPr/>
          </p:nvSpPr>
          <p:spPr bwMode="auto">
            <a:xfrm>
              <a:off x="5324" y="1404"/>
              <a:ext cx="240" cy="240"/>
            </a:xfrm>
            <a:prstGeom prst="rect">
              <a:avLst/>
            </a:prstGeom>
            <a:noFill/>
            <a:ln w="0">
              <a:solidFill>
                <a:srgbClr val="C0C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45" name="Line 103"/>
            <p:cNvSpPr>
              <a:spLocks noChangeShapeType="1"/>
            </p:cNvSpPr>
            <p:nvPr/>
          </p:nvSpPr>
          <p:spPr bwMode="auto">
            <a:xfrm>
              <a:off x="3164" y="3804"/>
              <a:ext cx="2400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646" name="Line 104"/>
            <p:cNvSpPr>
              <a:spLocks noChangeShapeType="1"/>
            </p:cNvSpPr>
            <p:nvPr/>
          </p:nvSpPr>
          <p:spPr bwMode="auto">
            <a:xfrm flipV="1">
              <a:off x="3164" y="1404"/>
              <a:ext cx="0" cy="240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647" name="Oval 105"/>
            <p:cNvSpPr>
              <a:spLocks noChangeArrowheads="1"/>
            </p:cNvSpPr>
            <p:nvPr/>
          </p:nvSpPr>
          <p:spPr bwMode="auto">
            <a:xfrm>
              <a:off x="3404" y="2988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48" name="Oval 106"/>
            <p:cNvSpPr>
              <a:spLocks noChangeArrowheads="1"/>
            </p:cNvSpPr>
            <p:nvPr/>
          </p:nvSpPr>
          <p:spPr bwMode="auto">
            <a:xfrm>
              <a:off x="3788" y="3324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49" name="Rectangle 107"/>
            <p:cNvSpPr>
              <a:spLocks noChangeArrowheads="1"/>
            </p:cNvSpPr>
            <p:nvPr/>
          </p:nvSpPr>
          <p:spPr bwMode="auto">
            <a:xfrm>
              <a:off x="5242" y="1708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50" name="Rectangle 108"/>
            <p:cNvSpPr>
              <a:spLocks noChangeArrowheads="1"/>
            </p:cNvSpPr>
            <p:nvPr/>
          </p:nvSpPr>
          <p:spPr bwMode="auto">
            <a:xfrm>
              <a:off x="4673" y="2124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51" name="Rectangle 109"/>
            <p:cNvSpPr>
              <a:spLocks noChangeArrowheads="1"/>
            </p:cNvSpPr>
            <p:nvPr/>
          </p:nvSpPr>
          <p:spPr bwMode="auto">
            <a:xfrm>
              <a:off x="5036" y="1548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52" name="Rectangle 110"/>
            <p:cNvSpPr>
              <a:spLocks noChangeArrowheads="1"/>
            </p:cNvSpPr>
            <p:nvPr/>
          </p:nvSpPr>
          <p:spPr bwMode="auto">
            <a:xfrm>
              <a:off x="5132" y="2172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53" name="Rectangle 111"/>
            <p:cNvSpPr>
              <a:spLocks noChangeArrowheads="1"/>
            </p:cNvSpPr>
            <p:nvPr/>
          </p:nvSpPr>
          <p:spPr bwMode="auto">
            <a:xfrm>
              <a:off x="5465" y="2695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54" name="Oval 112"/>
            <p:cNvSpPr>
              <a:spLocks noChangeArrowheads="1"/>
            </p:cNvSpPr>
            <p:nvPr/>
          </p:nvSpPr>
          <p:spPr bwMode="auto">
            <a:xfrm>
              <a:off x="3507" y="2592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55" name="Oval 113"/>
            <p:cNvSpPr>
              <a:spLocks noChangeArrowheads="1"/>
            </p:cNvSpPr>
            <p:nvPr/>
          </p:nvSpPr>
          <p:spPr bwMode="auto">
            <a:xfrm>
              <a:off x="3260" y="3516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56" name="Oval 114"/>
            <p:cNvSpPr>
              <a:spLocks noChangeArrowheads="1"/>
            </p:cNvSpPr>
            <p:nvPr/>
          </p:nvSpPr>
          <p:spPr bwMode="auto">
            <a:xfrm>
              <a:off x="3308" y="2652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57" name="Oval 115"/>
            <p:cNvSpPr>
              <a:spLocks noChangeArrowheads="1"/>
            </p:cNvSpPr>
            <p:nvPr/>
          </p:nvSpPr>
          <p:spPr bwMode="auto">
            <a:xfrm>
              <a:off x="3692" y="2940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58" name="Oval 116"/>
            <p:cNvSpPr>
              <a:spLocks noChangeArrowheads="1"/>
            </p:cNvSpPr>
            <p:nvPr/>
          </p:nvSpPr>
          <p:spPr bwMode="auto">
            <a:xfrm>
              <a:off x="3452" y="3228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59" name="Oval 117"/>
            <p:cNvSpPr>
              <a:spLocks noChangeArrowheads="1"/>
            </p:cNvSpPr>
            <p:nvPr/>
          </p:nvSpPr>
          <p:spPr bwMode="auto">
            <a:xfrm>
              <a:off x="3548" y="3420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60" name="Oval 118"/>
            <p:cNvSpPr>
              <a:spLocks noChangeArrowheads="1"/>
            </p:cNvSpPr>
            <p:nvPr/>
          </p:nvSpPr>
          <p:spPr bwMode="auto">
            <a:xfrm>
              <a:off x="3836" y="2940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61" name="Oval 119"/>
            <p:cNvSpPr>
              <a:spLocks noChangeArrowheads="1"/>
            </p:cNvSpPr>
            <p:nvPr/>
          </p:nvSpPr>
          <p:spPr bwMode="auto">
            <a:xfrm>
              <a:off x="3356" y="2412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62" name="Oval 120"/>
            <p:cNvSpPr>
              <a:spLocks noChangeArrowheads="1"/>
            </p:cNvSpPr>
            <p:nvPr/>
          </p:nvSpPr>
          <p:spPr bwMode="auto">
            <a:xfrm>
              <a:off x="3636" y="2353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63" name="Oval 121"/>
            <p:cNvSpPr>
              <a:spLocks noChangeArrowheads="1"/>
            </p:cNvSpPr>
            <p:nvPr/>
          </p:nvSpPr>
          <p:spPr bwMode="auto">
            <a:xfrm>
              <a:off x="3452" y="2892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64" name="Oval 122"/>
            <p:cNvSpPr>
              <a:spLocks noChangeArrowheads="1"/>
            </p:cNvSpPr>
            <p:nvPr/>
          </p:nvSpPr>
          <p:spPr bwMode="auto">
            <a:xfrm>
              <a:off x="3644" y="2844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65" name="Oval 123"/>
            <p:cNvSpPr>
              <a:spLocks noChangeArrowheads="1"/>
            </p:cNvSpPr>
            <p:nvPr/>
          </p:nvSpPr>
          <p:spPr bwMode="auto">
            <a:xfrm>
              <a:off x="3260" y="3180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66" name="Oval 124"/>
            <p:cNvSpPr>
              <a:spLocks noChangeArrowheads="1"/>
            </p:cNvSpPr>
            <p:nvPr/>
          </p:nvSpPr>
          <p:spPr bwMode="auto">
            <a:xfrm>
              <a:off x="3596" y="3132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67" name="Oval 125"/>
            <p:cNvSpPr>
              <a:spLocks noChangeArrowheads="1"/>
            </p:cNvSpPr>
            <p:nvPr/>
          </p:nvSpPr>
          <p:spPr bwMode="auto">
            <a:xfrm>
              <a:off x="3260" y="2076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68" name="Oval 126"/>
            <p:cNvSpPr>
              <a:spLocks noChangeArrowheads="1"/>
            </p:cNvSpPr>
            <p:nvPr/>
          </p:nvSpPr>
          <p:spPr bwMode="auto">
            <a:xfrm>
              <a:off x="3500" y="2748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69" name="Oval 127"/>
            <p:cNvSpPr>
              <a:spLocks noChangeArrowheads="1"/>
            </p:cNvSpPr>
            <p:nvPr/>
          </p:nvSpPr>
          <p:spPr bwMode="auto">
            <a:xfrm>
              <a:off x="3788" y="3084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70" name="Rectangle 128"/>
            <p:cNvSpPr>
              <a:spLocks noChangeArrowheads="1"/>
            </p:cNvSpPr>
            <p:nvPr/>
          </p:nvSpPr>
          <p:spPr bwMode="auto">
            <a:xfrm>
              <a:off x="4988" y="2028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71" name="Rectangle 129"/>
            <p:cNvSpPr>
              <a:spLocks noChangeArrowheads="1"/>
            </p:cNvSpPr>
            <p:nvPr/>
          </p:nvSpPr>
          <p:spPr bwMode="auto">
            <a:xfrm>
              <a:off x="4892" y="2220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72" name="Rectangle 130"/>
            <p:cNvSpPr>
              <a:spLocks noChangeArrowheads="1"/>
            </p:cNvSpPr>
            <p:nvPr/>
          </p:nvSpPr>
          <p:spPr bwMode="auto">
            <a:xfrm>
              <a:off x="4748" y="1980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73" name="Rectangle 131"/>
            <p:cNvSpPr>
              <a:spLocks noChangeArrowheads="1"/>
            </p:cNvSpPr>
            <p:nvPr/>
          </p:nvSpPr>
          <p:spPr bwMode="auto">
            <a:xfrm>
              <a:off x="4748" y="2268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74" name="Rectangle 132"/>
            <p:cNvSpPr>
              <a:spLocks noChangeArrowheads="1"/>
            </p:cNvSpPr>
            <p:nvPr/>
          </p:nvSpPr>
          <p:spPr bwMode="auto">
            <a:xfrm>
              <a:off x="5084" y="1884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75" name="Rectangle 133"/>
            <p:cNvSpPr>
              <a:spLocks noChangeArrowheads="1"/>
            </p:cNvSpPr>
            <p:nvPr/>
          </p:nvSpPr>
          <p:spPr bwMode="auto">
            <a:xfrm>
              <a:off x="5180" y="2028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76" name="Rectangle 134"/>
            <p:cNvSpPr>
              <a:spLocks noChangeArrowheads="1"/>
            </p:cNvSpPr>
            <p:nvPr/>
          </p:nvSpPr>
          <p:spPr bwMode="auto">
            <a:xfrm>
              <a:off x="4748" y="1452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77" name="Rectangle 135"/>
            <p:cNvSpPr>
              <a:spLocks noChangeArrowheads="1"/>
            </p:cNvSpPr>
            <p:nvPr/>
          </p:nvSpPr>
          <p:spPr bwMode="auto">
            <a:xfrm>
              <a:off x="5372" y="1404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78" name="Rectangle 136"/>
            <p:cNvSpPr>
              <a:spLocks noChangeArrowheads="1"/>
            </p:cNvSpPr>
            <p:nvPr/>
          </p:nvSpPr>
          <p:spPr bwMode="auto">
            <a:xfrm>
              <a:off x="4769" y="1714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79" name="Rectangle 137"/>
            <p:cNvSpPr>
              <a:spLocks noChangeArrowheads="1"/>
            </p:cNvSpPr>
            <p:nvPr/>
          </p:nvSpPr>
          <p:spPr bwMode="auto">
            <a:xfrm>
              <a:off x="5180" y="2364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80" name="Rectangle 138"/>
            <p:cNvSpPr>
              <a:spLocks noChangeArrowheads="1"/>
            </p:cNvSpPr>
            <p:nvPr/>
          </p:nvSpPr>
          <p:spPr bwMode="auto">
            <a:xfrm>
              <a:off x="5132" y="1740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81" name="Rectangle 139"/>
            <p:cNvSpPr>
              <a:spLocks noChangeArrowheads="1"/>
            </p:cNvSpPr>
            <p:nvPr/>
          </p:nvSpPr>
          <p:spPr bwMode="auto">
            <a:xfrm>
              <a:off x="4844" y="1836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82" name="Rectangle 140"/>
            <p:cNvSpPr>
              <a:spLocks noChangeArrowheads="1"/>
            </p:cNvSpPr>
            <p:nvPr/>
          </p:nvSpPr>
          <p:spPr bwMode="auto">
            <a:xfrm>
              <a:off x="4556" y="1932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83" name="Rectangle 141"/>
            <p:cNvSpPr>
              <a:spLocks noChangeArrowheads="1"/>
            </p:cNvSpPr>
            <p:nvPr/>
          </p:nvSpPr>
          <p:spPr bwMode="auto">
            <a:xfrm>
              <a:off x="5372" y="1884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84" name="Rectangle 142"/>
            <p:cNvSpPr>
              <a:spLocks noChangeArrowheads="1"/>
            </p:cNvSpPr>
            <p:nvPr/>
          </p:nvSpPr>
          <p:spPr bwMode="auto">
            <a:xfrm>
              <a:off x="4940" y="2412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85" name="Rectangle 143"/>
            <p:cNvSpPr>
              <a:spLocks noChangeArrowheads="1"/>
            </p:cNvSpPr>
            <p:nvPr/>
          </p:nvSpPr>
          <p:spPr bwMode="auto">
            <a:xfrm>
              <a:off x="5324" y="2460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86" name="Oval 144"/>
            <p:cNvSpPr>
              <a:spLocks noChangeArrowheads="1"/>
            </p:cNvSpPr>
            <p:nvPr/>
          </p:nvSpPr>
          <p:spPr bwMode="auto">
            <a:xfrm>
              <a:off x="3931" y="2994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87" name="Oval 145"/>
            <p:cNvSpPr>
              <a:spLocks noChangeArrowheads="1"/>
            </p:cNvSpPr>
            <p:nvPr/>
          </p:nvSpPr>
          <p:spPr bwMode="auto">
            <a:xfrm>
              <a:off x="3731" y="2599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88" name="Oval 146"/>
            <p:cNvSpPr>
              <a:spLocks noChangeArrowheads="1"/>
            </p:cNvSpPr>
            <p:nvPr/>
          </p:nvSpPr>
          <p:spPr bwMode="auto">
            <a:xfrm>
              <a:off x="3806" y="2806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89" name="Oval 147"/>
            <p:cNvSpPr>
              <a:spLocks noChangeArrowheads="1"/>
            </p:cNvSpPr>
            <p:nvPr/>
          </p:nvSpPr>
          <p:spPr bwMode="auto">
            <a:xfrm>
              <a:off x="4018" y="2807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90" name="Oval 148"/>
            <p:cNvSpPr>
              <a:spLocks noChangeArrowheads="1"/>
            </p:cNvSpPr>
            <p:nvPr/>
          </p:nvSpPr>
          <p:spPr bwMode="auto">
            <a:xfrm>
              <a:off x="3940" y="3157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91" name="Oval 149"/>
            <p:cNvSpPr>
              <a:spLocks noChangeArrowheads="1"/>
            </p:cNvSpPr>
            <p:nvPr/>
          </p:nvSpPr>
          <p:spPr bwMode="auto">
            <a:xfrm>
              <a:off x="3259" y="2894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92" name="Oval 150"/>
            <p:cNvSpPr>
              <a:spLocks noChangeArrowheads="1"/>
            </p:cNvSpPr>
            <p:nvPr/>
          </p:nvSpPr>
          <p:spPr bwMode="auto">
            <a:xfrm>
              <a:off x="3403" y="3401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93" name="Oval 151"/>
            <p:cNvSpPr>
              <a:spLocks noChangeArrowheads="1"/>
            </p:cNvSpPr>
            <p:nvPr/>
          </p:nvSpPr>
          <p:spPr bwMode="auto">
            <a:xfrm>
              <a:off x="3689" y="2742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94" name="Oval 152"/>
            <p:cNvSpPr>
              <a:spLocks noChangeArrowheads="1"/>
            </p:cNvSpPr>
            <p:nvPr/>
          </p:nvSpPr>
          <p:spPr bwMode="auto">
            <a:xfrm>
              <a:off x="3653" y="3282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95" name="Oval 153"/>
            <p:cNvSpPr>
              <a:spLocks noChangeArrowheads="1"/>
            </p:cNvSpPr>
            <p:nvPr/>
          </p:nvSpPr>
          <p:spPr bwMode="auto">
            <a:xfrm>
              <a:off x="3236" y="3673"/>
              <a:ext cx="96" cy="9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96" name="Rectangle 154"/>
            <p:cNvSpPr>
              <a:spLocks noChangeArrowheads="1"/>
            </p:cNvSpPr>
            <p:nvPr/>
          </p:nvSpPr>
          <p:spPr bwMode="auto">
            <a:xfrm>
              <a:off x="5317" y="2294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97" name="Rectangle 155"/>
            <p:cNvSpPr>
              <a:spLocks noChangeArrowheads="1"/>
            </p:cNvSpPr>
            <p:nvPr/>
          </p:nvSpPr>
          <p:spPr bwMode="auto">
            <a:xfrm>
              <a:off x="4943" y="1681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98" name="Rectangle 156"/>
            <p:cNvSpPr>
              <a:spLocks noChangeArrowheads="1"/>
            </p:cNvSpPr>
            <p:nvPr/>
          </p:nvSpPr>
          <p:spPr bwMode="auto">
            <a:xfrm>
              <a:off x="4500" y="2084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699" name="Rectangle 157"/>
            <p:cNvSpPr>
              <a:spLocks noChangeArrowheads="1"/>
            </p:cNvSpPr>
            <p:nvPr/>
          </p:nvSpPr>
          <p:spPr bwMode="auto">
            <a:xfrm>
              <a:off x="5134" y="2566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700" name="Rectangle 158"/>
            <p:cNvSpPr>
              <a:spLocks noChangeArrowheads="1"/>
            </p:cNvSpPr>
            <p:nvPr/>
          </p:nvSpPr>
          <p:spPr bwMode="auto">
            <a:xfrm>
              <a:off x="5336" y="2059"/>
              <a:ext cx="96" cy="96"/>
            </a:xfrm>
            <a:prstGeom prst="rect">
              <a:avLst/>
            </a:prstGeom>
            <a:solidFill>
              <a:srgbClr val="3399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701" name="Oval 159"/>
            <p:cNvSpPr>
              <a:spLocks noChangeArrowheads="1"/>
            </p:cNvSpPr>
            <p:nvPr/>
          </p:nvSpPr>
          <p:spPr bwMode="auto">
            <a:xfrm>
              <a:off x="5032" y="3619"/>
              <a:ext cx="102" cy="10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1507" name="Group 160"/>
          <p:cNvGrpSpPr>
            <a:grpSpLocks/>
          </p:cNvGrpSpPr>
          <p:nvPr/>
        </p:nvGrpSpPr>
        <p:grpSpPr bwMode="auto">
          <a:xfrm>
            <a:off x="3022600" y="2298700"/>
            <a:ext cx="7158038" cy="4445000"/>
            <a:chOff x="596" y="1208"/>
            <a:chExt cx="4509" cy="2800"/>
          </a:xfrm>
        </p:grpSpPr>
        <p:sp>
          <p:nvSpPr>
            <p:cNvPr id="21514" name="Rectangle 161"/>
            <p:cNvSpPr>
              <a:spLocks noChangeArrowheads="1"/>
            </p:cNvSpPr>
            <p:nvPr/>
          </p:nvSpPr>
          <p:spPr bwMode="auto">
            <a:xfrm>
              <a:off x="596" y="1208"/>
              <a:ext cx="4509" cy="2783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15" name="Rectangle 162"/>
            <p:cNvSpPr>
              <a:spLocks noChangeArrowheads="1"/>
            </p:cNvSpPr>
            <p:nvPr/>
          </p:nvSpPr>
          <p:spPr bwMode="auto">
            <a:xfrm>
              <a:off x="741" y="3862"/>
              <a:ext cx="145" cy="136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16" name="Rectangle 163"/>
            <p:cNvSpPr>
              <a:spLocks noChangeArrowheads="1"/>
            </p:cNvSpPr>
            <p:nvPr/>
          </p:nvSpPr>
          <p:spPr bwMode="auto">
            <a:xfrm>
              <a:off x="2924" y="3854"/>
              <a:ext cx="145" cy="144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17" name="Rectangle 164"/>
            <p:cNvSpPr>
              <a:spLocks noChangeArrowheads="1"/>
            </p:cNvSpPr>
            <p:nvPr/>
          </p:nvSpPr>
          <p:spPr bwMode="auto">
            <a:xfrm>
              <a:off x="1469" y="3841"/>
              <a:ext cx="145" cy="157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18" name="Freeform 165"/>
            <p:cNvSpPr>
              <a:spLocks/>
            </p:cNvSpPr>
            <p:nvPr/>
          </p:nvSpPr>
          <p:spPr bwMode="auto">
            <a:xfrm>
              <a:off x="814" y="3841"/>
              <a:ext cx="218" cy="157"/>
            </a:xfrm>
            <a:custGeom>
              <a:avLst/>
              <a:gdLst>
                <a:gd name="T0" fmla="*/ 0 w 170"/>
                <a:gd name="T1" fmla="*/ 21 h 122"/>
                <a:gd name="T2" fmla="*/ 0 w 170"/>
                <a:gd name="T3" fmla="*/ 0 h 122"/>
                <a:gd name="T4" fmla="*/ 218 w 170"/>
                <a:gd name="T5" fmla="*/ 0 h 122"/>
                <a:gd name="T6" fmla="*/ 218 w 170"/>
                <a:gd name="T7" fmla="*/ 157 h 1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122"/>
                <a:gd name="T14" fmla="*/ 170 w 170"/>
                <a:gd name="T15" fmla="*/ 122 h 1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122">
                  <a:moveTo>
                    <a:pt x="0" y="16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170" y="12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19" name="Freeform 166"/>
            <p:cNvSpPr>
              <a:spLocks/>
            </p:cNvSpPr>
            <p:nvPr/>
          </p:nvSpPr>
          <p:spPr bwMode="auto">
            <a:xfrm>
              <a:off x="1540" y="3841"/>
              <a:ext cx="220" cy="157"/>
            </a:xfrm>
            <a:custGeom>
              <a:avLst/>
              <a:gdLst>
                <a:gd name="T0" fmla="*/ 0 w 171"/>
                <a:gd name="T1" fmla="*/ 0 h 122"/>
                <a:gd name="T2" fmla="*/ 220 w 171"/>
                <a:gd name="T3" fmla="*/ 0 h 122"/>
                <a:gd name="T4" fmla="*/ 220 w 171"/>
                <a:gd name="T5" fmla="*/ 157 h 122"/>
                <a:gd name="T6" fmla="*/ 0 60000 65536"/>
                <a:gd name="T7" fmla="*/ 0 60000 65536"/>
                <a:gd name="T8" fmla="*/ 0 60000 65536"/>
                <a:gd name="T9" fmla="*/ 0 w 171"/>
                <a:gd name="T10" fmla="*/ 0 h 122"/>
                <a:gd name="T11" fmla="*/ 171 w 171"/>
                <a:gd name="T12" fmla="*/ 122 h 1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1" h="122">
                  <a:moveTo>
                    <a:pt x="0" y="0"/>
                  </a:moveTo>
                  <a:lnTo>
                    <a:pt x="171" y="0"/>
                  </a:lnTo>
                  <a:lnTo>
                    <a:pt x="171" y="12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20" name="Freeform 167"/>
            <p:cNvSpPr>
              <a:spLocks/>
            </p:cNvSpPr>
            <p:nvPr/>
          </p:nvSpPr>
          <p:spPr bwMode="auto">
            <a:xfrm>
              <a:off x="923" y="3841"/>
              <a:ext cx="254" cy="157"/>
            </a:xfrm>
            <a:custGeom>
              <a:avLst/>
              <a:gdLst>
                <a:gd name="T0" fmla="*/ 0 w 198"/>
                <a:gd name="T1" fmla="*/ 0 h 122"/>
                <a:gd name="T2" fmla="*/ 254 w 198"/>
                <a:gd name="T3" fmla="*/ 0 h 122"/>
                <a:gd name="T4" fmla="*/ 254 w 198"/>
                <a:gd name="T5" fmla="*/ 157 h 122"/>
                <a:gd name="T6" fmla="*/ 0 60000 65536"/>
                <a:gd name="T7" fmla="*/ 0 60000 65536"/>
                <a:gd name="T8" fmla="*/ 0 60000 65536"/>
                <a:gd name="T9" fmla="*/ 0 w 198"/>
                <a:gd name="T10" fmla="*/ 0 h 122"/>
                <a:gd name="T11" fmla="*/ 198 w 198"/>
                <a:gd name="T12" fmla="*/ 122 h 1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8" h="122">
                  <a:moveTo>
                    <a:pt x="0" y="0"/>
                  </a:moveTo>
                  <a:lnTo>
                    <a:pt x="198" y="0"/>
                  </a:lnTo>
                  <a:lnTo>
                    <a:pt x="198" y="12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21" name="Rectangle 168"/>
            <p:cNvSpPr>
              <a:spLocks noChangeArrowheads="1"/>
            </p:cNvSpPr>
            <p:nvPr/>
          </p:nvSpPr>
          <p:spPr bwMode="auto">
            <a:xfrm>
              <a:off x="3360" y="3841"/>
              <a:ext cx="145" cy="157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22" name="Rectangle 169"/>
            <p:cNvSpPr>
              <a:spLocks noChangeArrowheads="1"/>
            </p:cNvSpPr>
            <p:nvPr/>
          </p:nvSpPr>
          <p:spPr bwMode="auto">
            <a:xfrm>
              <a:off x="2196" y="3827"/>
              <a:ext cx="145" cy="171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23" name="Rectangle 170"/>
            <p:cNvSpPr>
              <a:spLocks noChangeArrowheads="1"/>
            </p:cNvSpPr>
            <p:nvPr/>
          </p:nvSpPr>
          <p:spPr bwMode="auto">
            <a:xfrm>
              <a:off x="3796" y="3821"/>
              <a:ext cx="145" cy="177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24" name="Freeform 171"/>
            <p:cNvSpPr>
              <a:spLocks/>
            </p:cNvSpPr>
            <p:nvPr/>
          </p:nvSpPr>
          <p:spPr bwMode="auto">
            <a:xfrm>
              <a:off x="3868" y="3821"/>
              <a:ext cx="219" cy="177"/>
            </a:xfrm>
            <a:custGeom>
              <a:avLst/>
              <a:gdLst>
                <a:gd name="T0" fmla="*/ 0 w 171"/>
                <a:gd name="T1" fmla="*/ 0 h 138"/>
                <a:gd name="T2" fmla="*/ 219 w 171"/>
                <a:gd name="T3" fmla="*/ 0 h 138"/>
                <a:gd name="T4" fmla="*/ 219 w 171"/>
                <a:gd name="T5" fmla="*/ 177 h 138"/>
                <a:gd name="T6" fmla="*/ 0 60000 65536"/>
                <a:gd name="T7" fmla="*/ 0 60000 65536"/>
                <a:gd name="T8" fmla="*/ 0 60000 65536"/>
                <a:gd name="T9" fmla="*/ 0 w 171"/>
                <a:gd name="T10" fmla="*/ 0 h 138"/>
                <a:gd name="T11" fmla="*/ 171 w 171"/>
                <a:gd name="T12" fmla="*/ 138 h 1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1" h="138">
                  <a:moveTo>
                    <a:pt x="0" y="0"/>
                  </a:moveTo>
                  <a:lnTo>
                    <a:pt x="171" y="0"/>
                  </a:lnTo>
                  <a:lnTo>
                    <a:pt x="171" y="138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25" name="Freeform 172"/>
            <p:cNvSpPr>
              <a:spLocks/>
            </p:cNvSpPr>
            <p:nvPr/>
          </p:nvSpPr>
          <p:spPr bwMode="auto">
            <a:xfrm>
              <a:off x="3214" y="3813"/>
              <a:ext cx="218" cy="185"/>
            </a:xfrm>
            <a:custGeom>
              <a:avLst/>
              <a:gdLst>
                <a:gd name="T0" fmla="*/ 0 w 170"/>
                <a:gd name="T1" fmla="*/ 185 h 144"/>
                <a:gd name="T2" fmla="*/ 0 w 170"/>
                <a:gd name="T3" fmla="*/ 0 h 144"/>
                <a:gd name="T4" fmla="*/ 218 w 170"/>
                <a:gd name="T5" fmla="*/ 0 h 144"/>
                <a:gd name="T6" fmla="*/ 218 w 170"/>
                <a:gd name="T7" fmla="*/ 28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144"/>
                <a:gd name="T14" fmla="*/ 170 w 170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144">
                  <a:moveTo>
                    <a:pt x="0" y="144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170" y="2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26" name="Freeform 173"/>
            <p:cNvSpPr>
              <a:spLocks/>
            </p:cNvSpPr>
            <p:nvPr/>
          </p:nvSpPr>
          <p:spPr bwMode="auto">
            <a:xfrm>
              <a:off x="1046" y="3813"/>
              <a:ext cx="276" cy="185"/>
            </a:xfrm>
            <a:custGeom>
              <a:avLst/>
              <a:gdLst>
                <a:gd name="T0" fmla="*/ 0 w 215"/>
                <a:gd name="T1" fmla="*/ 28 h 144"/>
                <a:gd name="T2" fmla="*/ 0 w 215"/>
                <a:gd name="T3" fmla="*/ 0 h 144"/>
                <a:gd name="T4" fmla="*/ 276 w 215"/>
                <a:gd name="T5" fmla="*/ 0 h 144"/>
                <a:gd name="T6" fmla="*/ 276 w 215"/>
                <a:gd name="T7" fmla="*/ 185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5"/>
                <a:gd name="T13" fmla="*/ 0 h 144"/>
                <a:gd name="T14" fmla="*/ 215 w 215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5" h="144">
                  <a:moveTo>
                    <a:pt x="0" y="22"/>
                  </a:moveTo>
                  <a:lnTo>
                    <a:pt x="0" y="0"/>
                  </a:lnTo>
                  <a:lnTo>
                    <a:pt x="215" y="0"/>
                  </a:lnTo>
                  <a:lnTo>
                    <a:pt x="215" y="144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27" name="Freeform 174"/>
            <p:cNvSpPr>
              <a:spLocks/>
            </p:cNvSpPr>
            <p:nvPr/>
          </p:nvSpPr>
          <p:spPr bwMode="auto">
            <a:xfrm>
              <a:off x="2995" y="3800"/>
              <a:ext cx="328" cy="54"/>
            </a:xfrm>
            <a:custGeom>
              <a:avLst/>
              <a:gdLst>
                <a:gd name="T0" fmla="*/ 0 w 255"/>
                <a:gd name="T1" fmla="*/ 54 h 42"/>
                <a:gd name="T2" fmla="*/ 0 w 255"/>
                <a:gd name="T3" fmla="*/ 0 h 42"/>
                <a:gd name="T4" fmla="*/ 328 w 255"/>
                <a:gd name="T5" fmla="*/ 0 h 42"/>
                <a:gd name="T6" fmla="*/ 328 w 255"/>
                <a:gd name="T7" fmla="*/ 13 h 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55"/>
                <a:gd name="T13" fmla="*/ 0 h 42"/>
                <a:gd name="T14" fmla="*/ 255 w 255"/>
                <a:gd name="T15" fmla="*/ 42 h 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55" h="42">
                  <a:moveTo>
                    <a:pt x="0" y="42"/>
                  </a:moveTo>
                  <a:lnTo>
                    <a:pt x="0" y="0"/>
                  </a:lnTo>
                  <a:lnTo>
                    <a:pt x="255" y="0"/>
                  </a:lnTo>
                  <a:lnTo>
                    <a:pt x="255" y="10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28" name="Freeform 175"/>
            <p:cNvSpPr>
              <a:spLocks/>
            </p:cNvSpPr>
            <p:nvPr/>
          </p:nvSpPr>
          <p:spPr bwMode="auto">
            <a:xfrm>
              <a:off x="1651" y="3792"/>
              <a:ext cx="254" cy="206"/>
            </a:xfrm>
            <a:custGeom>
              <a:avLst/>
              <a:gdLst>
                <a:gd name="T0" fmla="*/ 0 w 198"/>
                <a:gd name="T1" fmla="*/ 49 h 160"/>
                <a:gd name="T2" fmla="*/ 0 w 198"/>
                <a:gd name="T3" fmla="*/ 0 h 160"/>
                <a:gd name="T4" fmla="*/ 254 w 198"/>
                <a:gd name="T5" fmla="*/ 0 h 160"/>
                <a:gd name="T6" fmla="*/ 254 w 198"/>
                <a:gd name="T7" fmla="*/ 206 h 1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60"/>
                <a:gd name="T14" fmla="*/ 198 w 198"/>
                <a:gd name="T15" fmla="*/ 160 h 1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60">
                  <a:moveTo>
                    <a:pt x="0" y="38"/>
                  </a:moveTo>
                  <a:lnTo>
                    <a:pt x="0" y="0"/>
                  </a:lnTo>
                  <a:lnTo>
                    <a:pt x="198" y="0"/>
                  </a:lnTo>
                  <a:lnTo>
                    <a:pt x="198" y="160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29" name="Freeform 176"/>
            <p:cNvSpPr>
              <a:spLocks/>
            </p:cNvSpPr>
            <p:nvPr/>
          </p:nvSpPr>
          <p:spPr bwMode="auto">
            <a:xfrm>
              <a:off x="3978" y="3786"/>
              <a:ext cx="254" cy="212"/>
            </a:xfrm>
            <a:custGeom>
              <a:avLst/>
              <a:gdLst>
                <a:gd name="T0" fmla="*/ 0 w 198"/>
                <a:gd name="T1" fmla="*/ 35 h 165"/>
                <a:gd name="T2" fmla="*/ 0 w 198"/>
                <a:gd name="T3" fmla="*/ 0 h 165"/>
                <a:gd name="T4" fmla="*/ 254 w 198"/>
                <a:gd name="T5" fmla="*/ 0 h 165"/>
                <a:gd name="T6" fmla="*/ 254 w 198"/>
                <a:gd name="T7" fmla="*/ 212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65"/>
                <a:gd name="T14" fmla="*/ 198 w 198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65">
                  <a:moveTo>
                    <a:pt x="0" y="27"/>
                  </a:moveTo>
                  <a:lnTo>
                    <a:pt x="0" y="0"/>
                  </a:lnTo>
                  <a:lnTo>
                    <a:pt x="198" y="0"/>
                  </a:lnTo>
                  <a:lnTo>
                    <a:pt x="198" y="165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30" name="Freeform 177"/>
            <p:cNvSpPr>
              <a:spLocks/>
            </p:cNvSpPr>
            <p:nvPr/>
          </p:nvSpPr>
          <p:spPr bwMode="auto">
            <a:xfrm>
              <a:off x="3156" y="3786"/>
              <a:ext cx="494" cy="212"/>
            </a:xfrm>
            <a:custGeom>
              <a:avLst/>
              <a:gdLst>
                <a:gd name="T0" fmla="*/ 0 w 385"/>
                <a:gd name="T1" fmla="*/ 14 h 165"/>
                <a:gd name="T2" fmla="*/ 0 w 385"/>
                <a:gd name="T3" fmla="*/ 0 h 165"/>
                <a:gd name="T4" fmla="*/ 494 w 385"/>
                <a:gd name="T5" fmla="*/ 0 h 165"/>
                <a:gd name="T6" fmla="*/ 494 w 385"/>
                <a:gd name="T7" fmla="*/ 212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5"/>
                <a:gd name="T13" fmla="*/ 0 h 165"/>
                <a:gd name="T14" fmla="*/ 385 w 385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5" h="165">
                  <a:moveTo>
                    <a:pt x="0" y="11"/>
                  </a:moveTo>
                  <a:lnTo>
                    <a:pt x="0" y="0"/>
                  </a:lnTo>
                  <a:lnTo>
                    <a:pt x="385" y="0"/>
                  </a:lnTo>
                  <a:lnTo>
                    <a:pt x="385" y="165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31" name="Rectangle 178"/>
            <p:cNvSpPr>
              <a:spLocks noChangeArrowheads="1"/>
            </p:cNvSpPr>
            <p:nvPr/>
          </p:nvSpPr>
          <p:spPr bwMode="auto">
            <a:xfrm>
              <a:off x="3404" y="3773"/>
              <a:ext cx="698" cy="13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32" name="Rectangle 179"/>
            <p:cNvSpPr>
              <a:spLocks noChangeArrowheads="1"/>
            </p:cNvSpPr>
            <p:nvPr/>
          </p:nvSpPr>
          <p:spPr bwMode="auto">
            <a:xfrm>
              <a:off x="4377" y="3773"/>
              <a:ext cx="147" cy="225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33" name="Freeform 180"/>
            <p:cNvSpPr>
              <a:spLocks/>
            </p:cNvSpPr>
            <p:nvPr/>
          </p:nvSpPr>
          <p:spPr bwMode="auto">
            <a:xfrm>
              <a:off x="1185" y="3773"/>
              <a:ext cx="589" cy="40"/>
            </a:xfrm>
            <a:custGeom>
              <a:avLst/>
              <a:gdLst>
                <a:gd name="T0" fmla="*/ 0 w 459"/>
                <a:gd name="T1" fmla="*/ 40 h 31"/>
                <a:gd name="T2" fmla="*/ 0 w 459"/>
                <a:gd name="T3" fmla="*/ 0 h 31"/>
                <a:gd name="T4" fmla="*/ 589 w 459"/>
                <a:gd name="T5" fmla="*/ 0 h 31"/>
                <a:gd name="T6" fmla="*/ 589 w 459"/>
                <a:gd name="T7" fmla="*/ 19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9"/>
                <a:gd name="T13" fmla="*/ 0 h 31"/>
                <a:gd name="T14" fmla="*/ 459 w 459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9" h="31">
                  <a:moveTo>
                    <a:pt x="0" y="31"/>
                  </a:moveTo>
                  <a:lnTo>
                    <a:pt x="0" y="0"/>
                  </a:lnTo>
                  <a:lnTo>
                    <a:pt x="459" y="0"/>
                  </a:lnTo>
                  <a:lnTo>
                    <a:pt x="459" y="15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34" name="Rectangle 181"/>
            <p:cNvSpPr>
              <a:spLocks noChangeArrowheads="1"/>
            </p:cNvSpPr>
            <p:nvPr/>
          </p:nvSpPr>
          <p:spPr bwMode="auto">
            <a:xfrm>
              <a:off x="3753" y="3753"/>
              <a:ext cx="698" cy="20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1535" name="Freeform 182"/>
            <p:cNvSpPr>
              <a:spLocks/>
            </p:cNvSpPr>
            <p:nvPr/>
          </p:nvSpPr>
          <p:spPr bwMode="auto">
            <a:xfrm>
              <a:off x="2050" y="3704"/>
              <a:ext cx="218" cy="294"/>
            </a:xfrm>
            <a:custGeom>
              <a:avLst/>
              <a:gdLst>
                <a:gd name="T0" fmla="*/ 0 w 170"/>
                <a:gd name="T1" fmla="*/ 294 h 229"/>
                <a:gd name="T2" fmla="*/ 0 w 170"/>
                <a:gd name="T3" fmla="*/ 0 h 229"/>
                <a:gd name="T4" fmla="*/ 218 w 170"/>
                <a:gd name="T5" fmla="*/ 0 h 229"/>
                <a:gd name="T6" fmla="*/ 218 w 170"/>
                <a:gd name="T7" fmla="*/ 123 h 2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229"/>
                <a:gd name="T14" fmla="*/ 170 w 170"/>
                <a:gd name="T15" fmla="*/ 229 h 2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229">
                  <a:moveTo>
                    <a:pt x="0" y="229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170" y="96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36" name="Freeform 183"/>
            <p:cNvSpPr>
              <a:spLocks/>
            </p:cNvSpPr>
            <p:nvPr/>
          </p:nvSpPr>
          <p:spPr bwMode="auto">
            <a:xfrm>
              <a:off x="1475" y="3704"/>
              <a:ext cx="684" cy="69"/>
            </a:xfrm>
            <a:custGeom>
              <a:avLst/>
              <a:gdLst>
                <a:gd name="T0" fmla="*/ 0 w 533"/>
                <a:gd name="T1" fmla="*/ 69 h 54"/>
                <a:gd name="T2" fmla="*/ 0 w 533"/>
                <a:gd name="T3" fmla="*/ 0 h 54"/>
                <a:gd name="T4" fmla="*/ 684 w 533"/>
                <a:gd name="T5" fmla="*/ 0 h 54"/>
                <a:gd name="T6" fmla="*/ 0 60000 65536"/>
                <a:gd name="T7" fmla="*/ 0 60000 65536"/>
                <a:gd name="T8" fmla="*/ 0 60000 65536"/>
                <a:gd name="T9" fmla="*/ 0 w 533"/>
                <a:gd name="T10" fmla="*/ 0 h 54"/>
                <a:gd name="T11" fmla="*/ 533 w 533"/>
                <a:gd name="T12" fmla="*/ 54 h 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3" h="54">
                  <a:moveTo>
                    <a:pt x="0" y="54"/>
                  </a:moveTo>
                  <a:lnTo>
                    <a:pt x="0" y="0"/>
                  </a:lnTo>
                  <a:lnTo>
                    <a:pt x="533" y="0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37" name="Freeform 184"/>
            <p:cNvSpPr>
              <a:spLocks/>
            </p:cNvSpPr>
            <p:nvPr/>
          </p:nvSpPr>
          <p:spPr bwMode="auto">
            <a:xfrm>
              <a:off x="1818" y="3656"/>
              <a:ext cx="668" cy="342"/>
            </a:xfrm>
            <a:custGeom>
              <a:avLst/>
              <a:gdLst>
                <a:gd name="T0" fmla="*/ 0 w 521"/>
                <a:gd name="T1" fmla="*/ 48 h 266"/>
                <a:gd name="T2" fmla="*/ 0 w 521"/>
                <a:gd name="T3" fmla="*/ 0 h 266"/>
                <a:gd name="T4" fmla="*/ 668 w 521"/>
                <a:gd name="T5" fmla="*/ 0 h 266"/>
                <a:gd name="T6" fmla="*/ 668 w 521"/>
                <a:gd name="T7" fmla="*/ 342 h 2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1"/>
                <a:gd name="T13" fmla="*/ 0 h 266"/>
                <a:gd name="T14" fmla="*/ 521 w 521"/>
                <a:gd name="T15" fmla="*/ 266 h 2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1" h="266">
                  <a:moveTo>
                    <a:pt x="0" y="37"/>
                  </a:moveTo>
                  <a:lnTo>
                    <a:pt x="0" y="0"/>
                  </a:lnTo>
                  <a:lnTo>
                    <a:pt x="521" y="0"/>
                  </a:lnTo>
                  <a:lnTo>
                    <a:pt x="521" y="266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38" name="Freeform 185"/>
            <p:cNvSpPr>
              <a:spLocks/>
            </p:cNvSpPr>
            <p:nvPr/>
          </p:nvSpPr>
          <p:spPr bwMode="auto">
            <a:xfrm>
              <a:off x="4102" y="3582"/>
              <a:ext cx="567" cy="416"/>
            </a:xfrm>
            <a:custGeom>
              <a:avLst/>
              <a:gdLst>
                <a:gd name="T0" fmla="*/ 0 w 442"/>
                <a:gd name="T1" fmla="*/ 171 h 324"/>
                <a:gd name="T2" fmla="*/ 0 w 442"/>
                <a:gd name="T3" fmla="*/ 0 h 324"/>
                <a:gd name="T4" fmla="*/ 567 w 442"/>
                <a:gd name="T5" fmla="*/ 0 h 324"/>
                <a:gd name="T6" fmla="*/ 567 w 442"/>
                <a:gd name="T7" fmla="*/ 416 h 3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2"/>
                <a:gd name="T13" fmla="*/ 0 h 324"/>
                <a:gd name="T14" fmla="*/ 442 w 442"/>
                <a:gd name="T15" fmla="*/ 324 h 3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2" h="324">
                  <a:moveTo>
                    <a:pt x="0" y="133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324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39" name="Freeform 186"/>
            <p:cNvSpPr>
              <a:spLocks/>
            </p:cNvSpPr>
            <p:nvPr/>
          </p:nvSpPr>
          <p:spPr bwMode="auto">
            <a:xfrm>
              <a:off x="2152" y="3506"/>
              <a:ext cx="480" cy="492"/>
            </a:xfrm>
            <a:custGeom>
              <a:avLst/>
              <a:gdLst>
                <a:gd name="T0" fmla="*/ 0 w 374"/>
                <a:gd name="T1" fmla="*/ 150 h 383"/>
                <a:gd name="T2" fmla="*/ 0 w 374"/>
                <a:gd name="T3" fmla="*/ 0 h 383"/>
                <a:gd name="T4" fmla="*/ 480 w 374"/>
                <a:gd name="T5" fmla="*/ 0 h 383"/>
                <a:gd name="T6" fmla="*/ 480 w 374"/>
                <a:gd name="T7" fmla="*/ 492 h 38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4"/>
                <a:gd name="T13" fmla="*/ 0 h 383"/>
                <a:gd name="T14" fmla="*/ 374 w 374"/>
                <a:gd name="T15" fmla="*/ 383 h 38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4" h="383">
                  <a:moveTo>
                    <a:pt x="0" y="117"/>
                  </a:moveTo>
                  <a:lnTo>
                    <a:pt x="0" y="0"/>
                  </a:lnTo>
                  <a:lnTo>
                    <a:pt x="374" y="0"/>
                  </a:lnTo>
                  <a:lnTo>
                    <a:pt x="374" y="383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40" name="Freeform 187"/>
            <p:cNvSpPr>
              <a:spLocks/>
            </p:cNvSpPr>
            <p:nvPr/>
          </p:nvSpPr>
          <p:spPr bwMode="auto">
            <a:xfrm>
              <a:off x="2392" y="3377"/>
              <a:ext cx="385" cy="621"/>
            </a:xfrm>
            <a:custGeom>
              <a:avLst/>
              <a:gdLst>
                <a:gd name="T0" fmla="*/ 0 w 300"/>
                <a:gd name="T1" fmla="*/ 130 h 484"/>
                <a:gd name="T2" fmla="*/ 0 w 300"/>
                <a:gd name="T3" fmla="*/ 0 h 484"/>
                <a:gd name="T4" fmla="*/ 385 w 300"/>
                <a:gd name="T5" fmla="*/ 0 h 484"/>
                <a:gd name="T6" fmla="*/ 385 w 300"/>
                <a:gd name="T7" fmla="*/ 621 h 4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0"/>
                <a:gd name="T13" fmla="*/ 0 h 484"/>
                <a:gd name="T14" fmla="*/ 300 w 300"/>
                <a:gd name="T15" fmla="*/ 484 h 4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0" h="484">
                  <a:moveTo>
                    <a:pt x="0" y="101"/>
                  </a:moveTo>
                  <a:lnTo>
                    <a:pt x="0" y="0"/>
                  </a:lnTo>
                  <a:lnTo>
                    <a:pt x="300" y="0"/>
                  </a:lnTo>
                  <a:lnTo>
                    <a:pt x="300" y="484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41" name="Freeform 188"/>
            <p:cNvSpPr>
              <a:spLocks/>
            </p:cNvSpPr>
            <p:nvPr/>
          </p:nvSpPr>
          <p:spPr bwMode="auto">
            <a:xfrm>
              <a:off x="4385" y="3315"/>
              <a:ext cx="429" cy="683"/>
            </a:xfrm>
            <a:custGeom>
              <a:avLst/>
              <a:gdLst>
                <a:gd name="T0" fmla="*/ 0 w 334"/>
                <a:gd name="T1" fmla="*/ 267 h 532"/>
                <a:gd name="T2" fmla="*/ 0 w 334"/>
                <a:gd name="T3" fmla="*/ 0 h 532"/>
                <a:gd name="T4" fmla="*/ 429 w 334"/>
                <a:gd name="T5" fmla="*/ 0 h 532"/>
                <a:gd name="T6" fmla="*/ 429 w 334"/>
                <a:gd name="T7" fmla="*/ 683 h 5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4"/>
                <a:gd name="T13" fmla="*/ 0 h 532"/>
                <a:gd name="T14" fmla="*/ 334 w 334"/>
                <a:gd name="T15" fmla="*/ 532 h 5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4" h="532">
                  <a:moveTo>
                    <a:pt x="0" y="208"/>
                  </a:moveTo>
                  <a:lnTo>
                    <a:pt x="0" y="0"/>
                  </a:lnTo>
                  <a:lnTo>
                    <a:pt x="334" y="0"/>
                  </a:lnTo>
                  <a:lnTo>
                    <a:pt x="334" y="53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42" name="Freeform 189"/>
            <p:cNvSpPr>
              <a:spLocks/>
            </p:cNvSpPr>
            <p:nvPr/>
          </p:nvSpPr>
          <p:spPr bwMode="auto">
            <a:xfrm>
              <a:off x="2581" y="1809"/>
              <a:ext cx="2015" cy="1568"/>
            </a:xfrm>
            <a:custGeom>
              <a:avLst/>
              <a:gdLst>
                <a:gd name="T0" fmla="*/ 2015 w 1570"/>
                <a:gd name="T1" fmla="*/ 1506 h 1222"/>
                <a:gd name="T2" fmla="*/ 2015 w 1570"/>
                <a:gd name="T3" fmla="*/ 0 h 1222"/>
                <a:gd name="T4" fmla="*/ 0 w 1570"/>
                <a:gd name="T5" fmla="*/ 0 h 1222"/>
                <a:gd name="T6" fmla="*/ 0 w 1570"/>
                <a:gd name="T7" fmla="*/ 1568 h 12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70"/>
                <a:gd name="T13" fmla="*/ 0 h 1222"/>
                <a:gd name="T14" fmla="*/ 1570 w 1570"/>
                <a:gd name="T15" fmla="*/ 1222 h 12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70" h="1222">
                  <a:moveTo>
                    <a:pt x="1570" y="1174"/>
                  </a:moveTo>
                  <a:lnTo>
                    <a:pt x="1570" y="0"/>
                  </a:lnTo>
                  <a:lnTo>
                    <a:pt x="0" y="0"/>
                  </a:lnTo>
                  <a:lnTo>
                    <a:pt x="0" y="122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43" name="Freeform 190"/>
            <p:cNvSpPr>
              <a:spLocks/>
            </p:cNvSpPr>
            <p:nvPr/>
          </p:nvSpPr>
          <p:spPr bwMode="auto">
            <a:xfrm>
              <a:off x="3592" y="1338"/>
              <a:ext cx="1368" cy="2660"/>
            </a:xfrm>
            <a:custGeom>
              <a:avLst/>
              <a:gdLst>
                <a:gd name="T0" fmla="*/ 0 w 1066"/>
                <a:gd name="T1" fmla="*/ 471 h 2073"/>
                <a:gd name="T2" fmla="*/ 0 w 1066"/>
                <a:gd name="T3" fmla="*/ 0 h 2073"/>
                <a:gd name="T4" fmla="*/ 1368 w 1066"/>
                <a:gd name="T5" fmla="*/ 0 h 2073"/>
                <a:gd name="T6" fmla="*/ 1368 w 1066"/>
                <a:gd name="T7" fmla="*/ 2660 h 207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6"/>
                <a:gd name="T13" fmla="*/ 0 h 2073"/>
                <a:gd name="T14" fmla="*/ 1066 w 1066"/>
                <a:gd name="T15" fmla="*/ 2073 h 207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6" h="2073">
                  <a:moveTo>
                    <a:pt x="0" y="367"/>
                  </a:moveTo>
                  <a:lnTo>
                    <a:pt x="0" y="0"/>
                  </a:lnTo>
                  <a:lnTo>
                    <a:pt x="1066" y="0"/>
                  </a:lnTo>
                  <a:lnTo>
                    <a:pt x="1066" y="2073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544" name="Line 191"/>
            <p:cNvSpPr>
              <a:spLocks noChangeShapeType="1"/>
            </p:cNvSpPr>
            <p:nvPr/>
          </p:nvSpPr>
          <p:spPr bwMode="auto">
            <a:xfrm>
              <a:off x="717" y="4008"/>
              <a:ext cx="4288" cy="0"/>
            </a:xfrm>
            <a:prstGeom prst="line">
              <a:avLst/>
            </a:prstGeom>
            <a:noFill/>
            <a:ln w="603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1508" name="Text Box 192"/>
          <p:cNvSpPr txBox="1">
            <a:spLocks noChangeArrowheads="1"/>
          </p:cNvSpPr>
          <p:nvPr/>
        </p:nvSpPr>
        <p:spPr bwMode="auto">
          <a:xfrm>
            <a:off x="2374900" y="5489576"/>
            <a:ext cx="10919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Outlier</a:t>
            </a:r>
          </a:p>
        </p:txBody>
      </p:sp>
      <p:sp>
        <p:nvSpPr>
          <p:cNvPr id="203969" name="Text Box 193"/>
          <p:cNvSpPr txBox="1">
            <a:spLocks noChangeArrowheads="1"/>
          </p:cNvSpPr>
          <p:nvPr/>
        </p:nvSpPr>
        <p:spPr bwMode="auto">
          <a:xfrm>
            <a:off x="1698625" y="742950"/>
            <a:ext cx="8648700" cy="52228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defRPr/>
            </a:pPr>
            <a:r>
              <a:rPr lang="en-US" altLang="en-US" sz="280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One potential use of a dendrogram: detecting outliers</a:t>
            </a:r>
          </a:p>
        </p:txBody>
      </p:sp>
      <p:sp>
        <p:nvSpPr>
          <p:cNvPr id="21510" name="Text Box 194"/>
          <p:cNvSpPr txBox="1">
            <a:spLocks noChangeArrowheads="1"/>
          </p:cNvSpPr>
          <p:nvPr/>
        </p:nvSpPr>
        <p:spPr bwMode="auto">
          <a:xfrm>
            <a:off x="1892301" y="1423989"/>
            <a:ext cx="6081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000">
                <a:solidFill>
                  <a:prstClr val="black"/>
                </a:solidFill>
              </a:rPr>
              <a:t>The single isolated branch is suggestive of a data point that is very different to all others</a:t>
            </a:r>
          </a:p>
        </p:txBody>
      </p:sp>
      <p:sp>
        <p:nvSpPr>
          <p:cNvPr id="21511" name="Line 195"/>
          <p:cNvSpPr>
            <a:spLocks noChangeShapeType="1"/>
          </p:cNvSpPr>
          <p:nvPr/>
        </p:nvSpPr>
        <p:spPr bwMode="auto">
          <a:xfrm>
            <a:off x="7646988" y="1778000"/>
            <a:ext cx="685800" cy="6096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512" name="Line 196"/>
          <p:cNvSpPr>
            <a:spLocks noChangeShapeType="1"/>
          </p:cNvSpPr>
          <p:nvPr/>
        </p:nvSpPr>
        <p:spPr bwMode="auto">
          <a:xfrm flipV="1">
            <a:off x="3473450" y="5227638"/>
            <a:ext cx="647700" cy="457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513" name="TextBox 196"/>
          <p:cNvSpPr txBox="1">
            <a:spLocks noChangeArrowheads="1"/>
          </p:cNvSpPr>
          <p:nvPr/>
        </p:nvSpPr>
        <p:spPr bwMode="auto">
          <a:xfrm>
            <a:off x="6300788" y="315914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44236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600200" y="0"/>
            <a:ext cx="8915400" cy="1143000"/>
          </a:xfrm>
        </p:spPr>
        <p:txBody>
          <a:bodyPr/>
          <a:lstStyle/>
          <a:p>
            <a:r>
              <a:rPr lang="en-US" altLang="en-US" dirty="0" smtClean="0"/>
              <a:t>Hierarchical Clustering</a:t>
            </a:r>
          </a:p>
        </p:txBody>
      </p:sp>
      <p:grpSp>
        <p:nvGrpSpPr>
          <p:cNvPr id="22531" name="Group 1027"/>
          <p:cNvGrpSpPr>
            <a:grpSpLocks/>
          </p:cNvGrpSpPr>
          <p:nvPr/>
        </p:nvGrpSpPr>
        <p:grpSpPr bwMode="auto">
          <a:xfrm>
            <a:off x="2089150" y="4041776"/>
            <a:ext cx="3587750" cy="2549525"/>
            <a:chOff x="98" y="300"/>
            <a:chExt cx="3214" cy="2284"/>
          </a:xfrm>
        </p:grpSpPr>
        <p:pic>
          <p:nvPicPr>
            <p:cNvPr id="22535" name="Picture 1028" descr="Edna Krabappe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" y="1440"/>
              <a:ext cx="504" cy="1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36" name="Picture 102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1824"/>
              <a:ext cx="308" cy="6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37" name="Picture 1030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78"/>
              <a:ext cx="424" cy="1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2538" name="Group 1031"/>
            <p:cNvGrpSpPr>
              <a:grpSpLocks/>
            </p:cNvGrpSpPr>
            <p:nvPr/>
          </p:nvGrpSpPr>
          <p:grpSpPr bwMode="auto">
            <a:xfrm>
              <a:off x="1865" y="1505"/>
              <a:ext cx="1447" cy="1031"/>
              <a:chOff x="252" y="2364"/>
              <a:chExt cx="2258" cy="1608"/>
            </a:xfrm>
          </p:grpSpPr>
          <p:pic>
            <p:nvPicPr>
              <p:cNvPr id="22553" name="Picture 1032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554" name="Picture 1033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2539" name="Line 1034"/>
            <p:cNvSpPr>
              <a:spLocks noChangeShapeType="1"/>
            </p:cNvSpPr>
            <p:nvPr/>
          </p:nvSpPr>
          <p:spPr bwMode="auto">
            <a:xfrm flipH="1" flipV="1">
              <a:off x="255" y="444"/>
              <a:ext cx="0" cy="90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2540" name="Line 1035"/>
            <p:cNvSpPr>
              <a:spLocks noChangeShapeType="1"/>
            </p:cNvSpPr>
            <p:nvPr/>
          </p:nvSpPr>
          <p:spPr bwMode="auto">
            <a:xfrm flipH="1" flipV="1">
              <a:off x="2919" y="1167"/>
              <a:ext cx="0" cy="185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2541" name="Line 1036"/>
            <p:cNvSpPr>
              <a:spLocks noChangeShapeType="1"/>
            </p:cNvSpPr>
            <p:nvPr/>
          </p:nvSpPr>
          <p:spPr bwMode="auto">
            <a:xfrm flipH="1" flipV="1">
              <a:off x="2227" y="1167"/>
              <a:ext cx="0" cy="185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2542" name="Line 1037"/>
            <p:cNvSpPr>
              <a:spLocks noChangeShapeType="1"/>
            </p:cNvSpPr>
            <p:nvPr/>
          </p:nvSpPr>
          <p:spPr bwMode="auto">
            <a:xfrm flipH="1">
              <a:off x="2221" y="1167"/>
              <a:ext cx="70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2543" name="Line 1038"/>
            <p:cNvSpPr>
              <a:spLocks noChangeShapeType="1"/>
            </p:cNvSpPr>
            <p:nvPr/>
          </p:nvSpPr>
          <p:spPr bwMode="auto">
            <a:xfrm flipH="1">
              <a:off x="1193" y="710"/>
              <a:ext cx="1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2544" name="Line 1039"/>
            <p:cNvSpPr>
              <a:spLocks noChangeShapeType="1"/>
            </p:cNvSpPr>
            <p:nvPr/>
          </p:nvSpPr>
          <p:spPr bwMode="auto">
            <a:xfrm rot="5400000" flipH="1">
              <a:off x="2343" y="943"/>
              <a:ext cx="457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2545" name="Line 1040"/>
            <p:cNvSpPr>
              <a:spLocks noChangeShapeType="1"/>
            </p:cNvSpPr>
            <p:nvPr/>
          </p:nvSpPr>
          <p:spPr bwMode="auto">
            <a:xfrm rot="5400000" flipH="1">
              <a:off x="1712" y="574"/>
              <a:ext cx="26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22546" name="Group 1041"/>
            <p:cNvGrpSpPr>
              <a:grpSpLocks/>
            </p:cNvGrpSpPr>
            <p:nvPr/>
          </p:nvGrpSpPr>
          <p:grpSpPr bwMode="auto">
            <a:xfrm>
              <a:off x="859" y="969"/>
              <a:ext cx="703" cy="377"/>
              <a:chOff x="2112" y="2976"/>
              <a:chExt cx="703" cy="377"/>
            </a:xfrm>
          </p:grpSpPr>
          <p:sp>
            <p:nvSpPr>
              <p:cNvPr id="22550" name="Line 1042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2551" name="Line 1043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2552" name="Line 1044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22547" name="Line 1045"/>
            <p:cNvSpPr>
              <a:spLocks noChangeShapeType="1"/>
            </p:cNvSpPr>
            <p:nvPr/>
          </p:nvSpPr>
          <p:spPr bwMode="auto">
            <a:xfrm rot="5400000" flipH="1">
              <a:off x="1065" y="844"/>
              <a:ext cx="25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2548" name="Line 1046"/>
            <p:cNvSpPr>
              <a:spLocks noChangeShapeType="1"/>
            </p:cNvSpPr>
            <p:nvPr/>
          </p:nvSpPr>
          <p:spPr bwMode="auto">
            <a:xfrm flipH="1">
              <a:off x="253" y="446"/>
              <a:ext cx="158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2549" name="Line 1047"/>
            <p:cNvSpPr>
              <a:spLocks noChangeShapeType="1"/>
            </p:cNvSpPr>
            <p:nvPr/>
          </p:nvSpPr>
          <p:spPr bwMode="auto">
            <a:xfrm rot="5400000" flipH="1">
              <a:off x="989" y="370"/>
              <a:ext cx="13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2532" name="Text Box 1048"/>
          <p:cNvSpPr txBox="1">
            <a:spLocks noChangeArrowheads="1"/>
          </p:cNvSpPr>
          <p:nvPr/>
        </p:nvSpPr>
        <p:spPr bwMode="auto">
          <a:xfrm>
            <a:off x="1725614" y="1303338"/>
            <a:ext cx="3851275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  <a:latin typeface="Times" pitchFamily="-111" charset="0"/>
              </a:rPr>
              <a:t>The number of dendrograms with </a:t>
            </a:r>
            <a:r>
              <a:rPr lang="en-US" altLang="en-US" sz="1800" i="1">
                <a:solidFill>
                  <a:prstClr val="black"/>
                </a:solidFill>
                <a:latin typeface="Times" pitchFamily="-111" charset="0"/>
              </a:rPr>
              <a:t>n</a:t>
            </a:r>
            <a:r>
              <a:rPr lang="en-US" altLang="en-US" sz="1800">
                <a:solidFill>
                  <a:prstClr val="black"/>
                </a:solidFill>
                <a:latin typeface="Times" pitchFamily="-111" charset="0"/>
              </a:rPr>
              <a:t> leafs  = (2</a:t>
            </a:r>
            <a:r>
              <a:rPr lang="en-US" altLang="en-US" sz="1800" i="1">
                <a:solidFill>
                  <a:prstClr val="black"/>
                </a:solidFill>
                <a:latin typeface="Times" pitchFamily="-111" charset="0"/>
              </a:rPr>
              <a:t>n</a:t>
            </a:r>
            <a:r>
              <a:rPr lang="en-US" altLang="en-US" sz="1800">
                <a:solidFill>
                  <a:prstClr val="black"/>
                </a:solidFill>
                <a:latin typeface="Times" pitchFamily="-111" charset="0"/>
              </a:rPr>
              <a:t> -3)!/[(2</a:t>
            </a:r>
            <a:r>
              <a:rPr lang="en-US" altLang="en-US" sz="1800" baseline="30000">
                <a:solidFill>
                  <a:prstClr val="black"/>
                </a:solidFill>
                <a:latin typeface="Times" pitchFamily="-111" charset="0"/>
              </a:rPr>
              <a:t>(</a:t>
            </a:r>
            <a:r>
              <a:rPr lang="en-US" altLang="en-US" sz="1800" i="1" baseline="30000">
                <a:solidFill>
                  <a:prstClr val="black"/>
                </a:solidFill>
                <a:latin typeface="Times" pitchFamily="-111" charset="0"/>
              </a:rPr>
              <a:t>n </a:t>
            </a:r>
            <a:r>
              <a:rPr lang="en-US" altLang="en-US" sz="1800" baseline="30000">
                <a:solidFill>
                  <a:prstClr val="black"/>
                </a:solidFill>
                <a:latin typeface="Times" pitchFamily="-111" charset="0"/>
              </a:rPr>
              <a:t>-2)</a:t>
            </a:r>
            <a:r>
              <a:rPr lang="en-US" altLang="en-US" sz="1800">
                <a:solidFill>
                  <a:prstClr val="black"/>
                </a:solidFill>
                <a:latin typeface="Times" pitchFamily="-111" charset="0"/>
              </a:rPr>
              <a:t>) (</a:t>
            </a:r>
            <a:r>
              <a:rPr lang="en-US" altLang="en-US" sz="1800" i="1">
                <a:solidFill>
                  <a:prstClr val="black"/>
                </a:solidFill>
                <a:latin typeface="Times" pitchFamily="-111" charset="0"/>
              </a:rPr>
              <a:t>n </a:t>
            </a:r>
            <a:r>
              <a:rPr lang="en-US" altLang="en-US" sz="1800">
                <a:solidFill>
                  <a:prstClr val="black"/>
                </a:solidFill>
                <a:latin typeface="Times" pitchFamily="-111" charset="0"/>
              </a:rPr>
              <a:t>-2)!]</a:t>
            </a:r>
          </a:p>
          <a:p>
            <a:endParaRPr lang="en-US" altLang="en-US" sz="1800">
              <a:solidFill>
                <a:prstClr val="black"/>
              </a:solidFill>
              <a:latin typeface="Times" pitchFamily="-111" charset="0"/>
            </a:endParaRPr>
          </a:p>
          <a:p>
            <a:r>
              <a:rPr lang="en-US" altLang="en-US" sz="1400">
                <a:solidFill>
                  <a:prstClr val="black"/>
                </a:solidFill>
                <a:latin typeface="Times" pitchFamily="-111" charset="0"/>
              </a:rPr>
              <a:t>Number 	Number of Possible</a:t>
            </a:r>
          </a:p>
          <a:p>
            <a:r>
              <a:rPr lang="en-US" altLang="en-US" sz="1400">
                <a:solidFill>
                  <a:prstClr val="black"/>
                </a:solidFill>
                <a:latin typeface="Times" pitchFamily="-111" charset="0"/>
              </a:rPr>
              <a:t>of Leafs	Dendrograms </a:t>
            </a:r>
          </a:p>
          <a:p>
            <a:r>
              <a:rPr lang="en-US" altLang="en-US" sz="1400">
                <a:solidFill>
                  <a:prstClr val="black"/>
                </a:solidFill>
                <a:latin typeface="Times" pitchFamily="-111" charset="0"/>
              </a:rPr>
              <a:t>2		1</a:t>
            </a:r>
          </a:p>
          <a:p>
            <a:r>
              <a:rPr lang="en-US" altLang="en-US" sz="1400">
                <a:solidFill>
                  <a:prstClr val="black"/>
                </a:solidFill>
                <a:latin typeface="Times" pitchFamily="-111" charset="0"/>
              </a:rPr>
              <a:t>3		3</a:t>
            </a:r>
          </a:p>
          <a:p>
            <a:r>
              <a:rPr lang="en-US" altLang="en-US" sz="1400">
                <a:solidFill>
                  <a:prstClr val="black"/>
                </a:solidFill>
                <a:latin typeface="Times" pitchFamily="-111" charset="0"/>
              </a:rPr>
              <a:t>4		15</a:t>
            </a:r>
          </a:p>
          <a:p>
            <a:r>
              <a:rPr lang="en-US" altLang="en-US" sz="1400">
                <a:solidFill>
                  <a:prstClr val="black"/>
                </a:solidFill>
                <a:latin typeface="Times" pitchFamily="-111" charset="0"/>
              </a:rPr>
              <a:t>5		105</a:t>
            </a:r>
          </a:p>
          <a:p>
            <a:r>
              <a:rPr lang="en-US" altLang="en-US" sz="1400">
                <a:solidFill>
                  <a:prstClr val="black"/>
                </a:solidFill>
                <a:latin typeface="Times" pitchFamily="-111" charset="0"/>
              </a:rPr>
              <a:t>...		…</a:t>
            </a:r>
          </a:p>
          <a:p>
            <a:pPr>
              <a:buFontTx/>
              <a:buAutoNum type="arabicPlain" startAt="10"/>
            </a:pPr>
            <a:r>
              <a:rPr lang="en-US" altLang="en-US" sz="1400">
                <a:solidFill>
                  <a:prstClr val="black"/>
                </a:solidFill>
                <a:latin typeface="Times" pitchFamily="-111" charset="0"/>
              </a:rPr>
              <a:t> 	34,459,425</a:t>
            </a:r>
          </a:p>
          <a:p>
            <a:endParaRPr lang="en-US" altLang="en-US" sz="1400">
              <a:solidFill>
                <a:prstClr val="black"/>
              </a:solidFill>
              <a:latin typeface="Times" pitchFamily="-111" charset="0"/>
            </a:endParaRPr>
          </a:p>
        </p:txBody>
      </p:sp>
      <p:sp>
        <p:nvSpPr>
          <p:cNvPr id="22533" name="Text Box 1049"/>
          <p:cNvSpPr txBox="1">
            <a:spLocks noChangeArrowheads="1"/>
          </p:cNvSpPr>
          <p:nvPr/>
        </p:nvSpPr>
        <p:spPr bwMode="auto">
          <a:xfrm>
            <a:off x="5946775" y="1289050"/>
            <a:ext cx="4241800" cy="59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000" dirty="0">
                <a:solidFill>
                  <a:prstClr val="black"/>
                </a:solidFill>
              </a:rPr>
              <a:t>Since we cannot test all possible trees we will have to heuristic search of all possible trees. We could do this..</a:t>
            </a:r>
          </a:p>
          <a:p>
            <a:endParaRPr lang="en-US" altLang="en-US" sz="2000" dirty="0">
              <a:solidFill>
                <a:prstClr val="black"/>
              </a:solidFill>
            </a:endParaRPr>
          </a:p>
          <a:p>
            <a:r>
              <a:rPr lang="en-US" altLang="en-US" sz="2000" b="1" dirty="0">
                <a:solidFill>
                  <a:prstClr val="black"/>
                </a:solidFill>
              </a:rPr>
              <a:t>Bottom-Up (</a:t>
            </a:r>
            <a:r>
              <a:rPr lang="en-US" altLang="zh-CN" sz="2000" b="1" dirty="0">
                <a:solidFill>
                  <a:prstClr val="black"/>
                </a:solidFill>
                <a:ea typeface="SimSun" pitchFamily="2" charset="-122"/>
              </a:rPr>
              <a:t>agglomerative</a:t>
            </a:r>
            <a:r>
              <a:rPr lang="en-US" altLang="en-US" sz="2000" b="1" dirty="0">
                <a:solidFill>
                  <a:prstClr val="black"/>
                </a:solidFill>
              </a:rPr>
              <a:t>):</a:t>
            </a:r>
            <a:r>
              <a:rPr lang="en-US" altLang="en-US" sz="2000" dirty="0">
                <a:solidFill>
                  <a:prstClr val="black"/>
                </a:solidFill>
              </a:rPr>
              <a:t> Starting with each item in its own cluster, find the best pair to merge into a new cluster. Repeat until all clusters are fused together. </a:t>
            </a:r>
          </a:p>
          <a:p>
            <a:endParaRPr lang="en-US" altLang="en-US" sz="2000" b="1" dirty="0">
              <a:solidFill>
                <a:prstClr val="black"/>
              </a:solidFill>
            </a:endParaRPr>
          </a:p>
          <a:p>
            <a:r>
              <a:rPr lang="en-US" altLang="en-US" sz="2000" b="1" dirty="0">
                <a:solidFill>
                  <a:prstClr val="black"/>
                </a:solidFill>
              </a:rPr>
              <a:t>Top-Down (</a:t>
            </a:r>
            <a:r>
              <a:rPr lang="en-US" altLang="zh-CN" sz="2000" b="1" dirty="0">
                <a:solidFill>
                  <a:prstClr val="black"/>
                </a:solidFill>
                <a:ea typeface="SimSun" pitchFamily="2" charset="-122"/>
              </a:rPr>
              <a:t>divisive</a:t>
            </a:r>
            <a:r>
              <a:rPr lang="en-US" altLang="en-US" sz="2000" b="1" dirty="0">
                <a:solidFill>
                  <a:prstClr val="black"/>
                </a:solidFill>
              </a:rPr>
              <a:t>):</a:t>
            </a:r>
            <a:r>
              <a:rPr lang="en-US" altLang="en-US" sz="2000" dirty="0">
                <a:solidFill>
                  <a:prstClr val="black"/>
                </a:solidFill>
              </a:rPr>
              <a:t> Starting with all the data in a single cluster, consider every possible way to divide the cluster into two. Choose the best division and recursively operate on both sides.</a:t>
            </a:r>
          </a:p>
          <a:p>
            <a:endParaRPr lang="en-US" altLang="en-US" sz="2000" dirty="0">
              <a:solidFill>
                <a:prstClr val="black"/>
              </a:solidFill>
            </a:endParaRPr>
          </a:p>
          <a:p>
            <a:endParaRPr lang="en-US" altLang="en-US" sz="2000" dirty="0">
              <a:solidFill>
                <a:prstClr val="black"/>
              </a:solidFill>
            </a:endParaRPr>
          </a:p>
        </p:txBody>
      </p:sp>
      <p:sp>
        <p:nvSpPr>
          <p:cNvPr id="22534" name="TextBox 25"/>
          <p:cNvSpPr txBox="1">
            <a:spLocks noChangeArrowheads="1"/>
          </p:cNvSpPr>
          <p:nvPr/>
        </p:nvSpPr>
        <p:spPr bwMode="auto">
          <a:xfrm>
            <a:off x="7428010" y="1"/>
            <a:ext cx="32399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400" dirty="0">
                <a:solidFill>
                  <a:prstClr val="black"/>
                </a:solidFill>
              </a:rPr>
              <a:t>Slide based on one by </a:t>
            </a:r>
            <a:r>
              <a:rPr lang="en-US" altLang="en-US" sz="1400" dirty="0" err="1">
                <a:solidFill>
                  <a:prstClr val="black"/>
                </a:solidFill>
              </a:rPr>
              <a:t>Eamonn</a:t>
            </a:r>
            <a:r>
              <a:rPr lang="en-US" altLang="en-US" sz="1400" dirty="0">
                <a:solidFill>
                  <a:prstClr val="black"/>
                </a:solidFill>
              </a:rPr>
              <a:t> Keogh</a:t>
            </a:r>
          </a:p>
        </p:txBody>
      </p:sp>
    </p:spTree>
    <p:extLst>
      <p:ext uri="{BB962C8B-B14F-4D97-AF65-F5344CB8AC3E}">
        <p14:creationId xmlns:p14="http://schemas.microsoft.com/office/powerpoint/2010/main" val="3969766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10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1" y="5791201"/>
            <a:ext cx="40957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10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5791201"/>
            <a:ext cx="466725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556" name="Group 1028"/>
          <p:cNvGrpSpPr>
            <a:grpSpLocks/>
          </p:cNvGrpSpPr>
          <p:nvPr/>
        </p:nvGrpSpPr>
        <p:grpSpPr bwMode="auto">
          <a:xfrm>
            <a:off x="5867400" y="1979613"/>
            <a:ext cx="4343400" cy="4754562"/>
            <a:chOff x="2736" y="1247"/>
            <a:chExt cx="2736" cy="2995"/>
          </a:xfrm>
        </p:grpSpPr>
        <p:grpSp>
          <p:nvGrpSpPr>
            <p:cNvPr id="23562" name="Group 1029"/>
            <p:cNvGrpSpPr>
              <a:grpSpLocks/>
            </p:cNvGrpSpPr>
            <p:nvPr/>
          </p:nvGrpSpPr>
          <p:grpSpPr bwMode="auto">
            <a:xfrm>
              <a:off x="3312" y="2016"/>
              <a:ext cx="2160" cy="2160"/>
              <a:chOff x="1632" y="1248"/>
              <a:chExt cx="2160" cy="2160"/>
            </a:xfrm>
          </p:grpSpPr>
          <p:grpSp>
            <p:nvGrpSpPr>
              <p:cNvPr id="23573" name="Group 1030"/>
              <p:cNvGrpSpPr>
                <a:grpSpLocks/>
              </p:cNvGrpSpPr>
              <p:nvPr/>
            </p:nvGrpSpPr>
            <p:grpSpPr bwMode="auto">
              <a:xfrm>
                <a:off x="1632" y="1248"/>
                <a:ext cx="432" cy="432"/>
                <a:chOff x="1776" y="1920"/>
                <a:chExt cx="432" cy="432"/>
              </a:xfrm>
            </p:grpSpPr>
            <p:sp>
              <p:nvSpPr>
                <p:cNvPr id="23646" name="Rectangle 1031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47" name="Text Box 1032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>
                      <a:solidFill>
                        <a:prstClr val="black"/>
                      </a:solidFill>
                    </a:rPr>
                    <a:t>0</a:t>
                  </a:r>
                </a:p>
              </p:txBody>
            </p:sp>
          </p:grpSp>
          <p:grpSp>
            <p:nvGrpSpPr>
              <p:cNvPr id="23574" name="Group 1033"/>
              <p:cNvGrpSpPr>
                <a:grpSpLocks/>
              </p:cNvGrpSpPr>
              <p:nvPr/>
            </p:nvGrpSpPr>
            <p:grpSpPr bwMode="auto">
              <a:xfrm>
                <a:off x="2064" y="1248"/>
                <a:ext cx="432" cy="432"/>
                <a:chOff x="1776" y="1920"/>
                <a:chExt cx="432" cy="432"/>
              </a:xfrm>
            </p:grpSpPr>
            <p:sp>
              <p:nvSpPr>
                <p:cNvPr id="23644" name="Rectangle 1034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45" name="Text Box 1035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>
                      <a:solidFill>
                        <a:prstClr val="black"/>
                      </a:solidFill>
                    </a:rPr>
                    <a:t>8</a:t>
                  </a:r>
                </a:p>
              </p:txBody>
            </p:sp>
          </p:grpSp>
          <p:grpSp>
            <p:nvGrpSpPr>
              <p:cNvPr id="23575" name="Group 1036"/>
              <p:cNvGrpSpPr>
                <a:grpSpLocks/>
              </p:cNvGrpSpPr>
              <p:nvPr/>
            </p:nvGrpSpPr>
            <p:grpSpPr bwMode="auto">
              <a:xfrm>
                <a:off x="2496" y="1248"/>
                <a:ext cx="432" cy="432"/>
                <a:chOff x="1776" y="1920"/>
                <a:chExt cx="432" cy="432"/>
              </a:xfrm>
            </p:grpSpPr>
            <p:sp>
              <p:nvSpPr>
                <p:cNvPr id="23642" name="Rectangle 1037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43" name="Text Box 1038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>
                      <a:solidFill>
                        <a:prstClr val="black"/>
                      </a:solidFill>
                    </a:rPr>
                    <a:t>8</a:t>
                  </a:r>
                </a:p>
              </p:txBody>
            </p:sp>
          </p:grpSp>
          <p:grpSp>
            <p:nvGrpSpPr>
              <p:cNvPr id="23576" name="Group 1039"/>
              <p:cNvGrpSpPr>
                <a:grpSpLocks/>
              </p:cNvGrpSpPr>
              <p:nvPr/>
            </p:nvGrpSpPr>
            <p:grpSpPr bwMode="auto">
              <a:xfrm>
                <a:off x="2928" y="1248"/>
                <a:ext cx="432" cy="432"/>
                <a:chOff x="1776" y="1920"/>
                <a:chExt cx="432" cy="432"/>
              </a:xfrm>
            </p:grpSpPr>
            <p:sp>
              <p:nvSpPr>
                <p:cNvPr id="23640" name="Rectangle 1040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41" name="Text Box 1041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>
                      <a:solidFill>
                        <a:prstClr val="black"/>
                      </a:solidFill>
                    </a:rPr>
                    <a:t>7</a:t>
                  </a:r>
                </a:p>
              </p:txBody>
            </p:sp>
          </p:grpSp>
          <p:grpSp>
            <p:nvGrpSpPr>
              <p:cNvPr id="23577" name="Group 1042"/>
              <p:cNvGrpSpPr>
                <a:grpSpLocks/>
              </p:cNvGrpSpPr>
              <p:nvPr/>
            </p:nvGrpSpPr>
            <p:grpSpPr bwMode="auto">
              <a:xfrm>
                <a:off x="3360" y="1248"/>
                <a:ext cx="432" cy="432"/>
                <a:chOff x="1776" y="1920"/>
                <a:chExt cx="432" cy="432"/>
              </a:xfrm>
            </p:grpSpPr>
            <p:sp>
              <p:nvSpPr>
                <p:cNvPr id="23638" name="Rectangle 1043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39" name="Text Box 1044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>
                      <a:solidFill>
                        <a:prstClr val="black"/>
                      </a:solidFill>
                    </a:rPr>
                    <a:t>7</a:t>
                  </a:r>
                </a:p>
              </p:txBody>
            </p:sp>
          </p:grpSp>
          <p:grpSp>
            <p:nvGrpSpPr>
              <p:cNvPr id="23578" name="Group 1045"/>
              <p:cNvGrpSpPr>
                <a:grpSpLocks/>
              </p:cNvGrpSpPr>
              <p:nvPr/>
            </p:nvGrpSpPr>
            <p:grpSpPr bwMode="auto">
              <a:xfrm>
                <a:off x="1632" y="1680"/>
                <a:ext cx="432" cy="432"/>
                <a:chOff x="1776" y="1920"/>
                <a:chExt cx="432" cy="432"/>
              </a:xfrm>
            </p:grpSpPr>
            <p:sp>
              <p:nvSpPr>
                <p:cNvPr id="23636" name="Rectangle 1046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37" name="Text Box 1047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3579" name="Group 1048"/>
              <p:cNvGrpSpPr>
                <a:grpSpLocks/>
              </p:cNvGrpSpPr>
              <p:nvPr/>
            </p:nvGrpSpPr>
            <p:grpSpPr bwMode="auto">
              <a:xfrm>
                <a:off x="2064" y="1680"/>
                <a:ext cx="432" cy="432"/>
                <a:chOff x="1776" y="1920"/>
                <a:chExt cx="432" cy="432"/>
              </a:xfrm>
            </p:grpSpPr>
            <p:sp>
              <p:nvSpPr>
                <p:cNvPr id="23634" name="Rectangle 1049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35" name="Text Box 1050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>
                      <a:solidFill>
                        <a:prstClr val="black"/>
                      </a:solidFill>
                    </a:rPr>
                    <a:t>0</a:t>
                  </a:r>
                </a:p>
              </p:txBody>
            </p:sp>
          </p:grpSp>
          <p:grpSp>
            <p:nvGrpSpPr>
              <p:cNvPr id="23580" name="Group 1051"/>
              <p:cNvGrpSpPr>
                <a:grpSpLocks/>
              </p:cNvGrpSpPr>
              <p:nvPr/>
            </p:nvGrpSpPr>
            <p:grpSpPr bwMode="auto">
              <a:xfrm>
                <a:off x="2496" y="1680"/>
                <a:ext cx="432" cy="432"/>
                <a:chOff x="1776" y="1920"/>
                <a:chExt cx="432" cy="432"/>
              </a:xfrm>
            </p:grpSpPr>
            <p:sp>
              <p:nvSpPr>
                <p:cNvPr id="23632" name="Rectangle 1052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33" name="Text Box 1053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>
                      <a:solidFill>
                        <a:prstClr val="black"/>
                      </a:solidFill>
                    </a:rPr>
                    <a:t>2</a:t>
                  </a:r>
                </a:p>
              </p:txBody>
            </p:sp>
          </p:grpSp>
          <p:grpSp>
            <p:nvGrpSpPr>
              <p:cNvPr id="23581" name="Group 1054"/>
              <p:cNvGrpSpPr>
                <a:grpSpLocks/>
              </p:cNvGrpSpPr>
              <p:nvPr/>
            </p:nvGrpSpPr>
            <p:grpSpPr bwMode="auto">
              <a:xfrm>
                <a:off x="2928" y="1680"/>
                <a:ext cx="432" cy="432"/>
                <a:chOff x="1776" y="1920"/>
                <a:chExt cx="432" cy="432"/>
              </a:xfrm>
            </p:grpSpPr>
            <p:sp>
              <p:nvSpPr>
                <p:cNvPr id="23630" name="Rectangle 1055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31" name="Text Box 1056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>
                      <a:solidFill>
                        <a:prstClr val="black"/>
                      </a:solidFill>
                    </a:rPr>
                    <a:t>4</a:t>
                  </a:r>
                </a:p>
              </p:txBody>
            </p:sp>
          </p:grpSp>
          <p:grpSp>
            <p:nvGrpSpPr>
              <p:cNvPr id="23582" name="Group 1057"/>
              <p:cNvGrpSpPr>
                <a:grpSpLocks/>
              </p:cNvGrpSpPr>
              <p:nvPr/>
            </p:nvGrpSpPr>
            <p:grpSpPr bwMode="auto">
              <a:xfrm>
                <a:off x="3360" y="1680"/>
                <a:ext cx="432" cy="432"/>
                <a:chOff x="1776" y="1920"/>
                <a:chExt cx="432" cy="432"/>
              </a:xfrm>
            </p:grpSpPr>
            <p:sp>
              <p:nvSpPr>
                <p:cNvPr id="23628" name="Rectangle 1058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29" name="Text Box 1059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>
                      <a:solidFill>
                        <a:prstClr val="black"/>
                      </a:solidFill>
                    </a:rPr>
                    <a:t>4</a:t>
                  </a:r>
                </a:p>
              </p:txBody>
            </p:sp>
          </p:grpSp>
          <p:grpSp>
            <p:nvGrpSpPr>
              <p:cNvPr id="23583" name="Group 1060"/>
              <p:cNvGrpSpPr>
                <a:grpSpLocks/>
              </p:cNvGrpSpPr>
              <p:nvPr/>
            </p:nvGrpSpPr>
            <p:grpSpPr bwMode="auto">
              <a:xfrm>
                <a:off x="1632" y="2112"/>
                <a:ext cx="432" cy="432"/>
                <a:chOff x="1776" y="1920"/>
                <a:chExt cx="432" cy="432"/>
              </a:xfrm>
            </p:grpSpPr>
            <p:sp>
              <p:nvSpPr>
                <p:cNvPr id="23626" name="Rectangle 1061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27" name="Text Box 1062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3584" name="Group 1063"/>
              <p:cNvGrpSpPr>
                <a:grpSpLocks/>
              </p:cNvGrpSpPr>
              <p:nvPr/>
            </p:nvGrpSpPr>
            <p:grpSpPr bwMode="auto">
              <a:xfrm>
                <a:off x="2064" y="2112"/>
                <a:ext cx="432" cy="432"/>
                <a:chOff x="1776" y="1920"/>
                <a:chExt cx="432" cy="432"/>
              </a:xfrm>
            </p:grpSpPr>
            <p:sp>
              <p:nvSpPr>
                <p:cNvPr id="23624" name="Rectangle 1064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25" name="Text Box 1065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3585" name="Group 1066"/>
              <p:cNvGrpSpPr>
                <a:grpSpLocks/>
              </p:cNvGrpSpPr>
              <p:nvPr/>
            </p:nvGrpSpPr>
            <p:grpSpPr bwMode="auto">
              <a:xfrm>
                <a:off x="2496" y="2112"/>
                <a:ext cx="432" cy="432"/>
                <a:chOff x="1776" y="1920"/>
                <a:chExt cx="432" cy="432"/>
              </a:xfrm>
            </p:grpSpPr>
            <p:sp>
              <p:nvSpPr>
                <p:cNvPr id="23622" name="Rectangle 1067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23" name="Text Box 1068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>
                      <a:solidFill>
                        <a:prstClr val="black"/>
                      </a:solidFill>
                    </a:rPr>
                    <a:t>0</a:t>
                  </a:r>
                </a:p>
              </p:txBody>
            </p:sp>
          </p:grpSp>
          <p:grpSp>
            <p:nvGrpSpPr>
              <p:cNvPr id="23586" name="Group 1069"/>
              <p:cNvGrpSpPr>
                <a:grpSpLocks/>
              </p:cNvGrpSpPr>
              <p:nvPr/>
            </p:nvGrpSpPr>
            <p:grpSpPr bwMode="auto">
              <a:xfrm>
                <a:off x="2928" y="2112"/>
                <a:ext cx="432" cy="432"/>
                <a:chOff x="1776" y="1920"/>
                <a:chExt cx="432" cy="432"/>
              </a:xfrm>
            </p:grpSpPr>
            <p:sp>
              <p:nvSpPr>
                <p:cNvPr id="23620" name="Rectangle 1070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21" name="Text Box 1071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>
                      <a:solidFill>
                        <a:prstClr val="black"/>
                      </a:solidFill>
                    </a:rPr>
                    <a:t>3</a:t>
                  </a:r>
                </a:p>
              </p:txBody>
            </p:sp>
          </p:grpSp>
          <p:grpSp>
            <p:nvGrpSpPr>
              <p:cNvPr id="23587" name="Group 1072"/>
              <p:cNvGrpSpPr>
                <a:grpSpLocks/>
              </p:cNvGrpSpPr>
              <p:nvPr/>
            </p:nvGrpSpPr>
            <p:grpSpPr bwMode="auto">
              <a:xfrm>
                <a:off x="3360" y="2112"/>
                <a:ext cx="432" cy="432"/>
                <a:chOff x="1776" y="1920"/>
                <a:chExt cx="432" cy="432"/>
              </a:xfrm>
            </p:grpSpPr>
            <p:sp>
              <p:nvSpPr>
                <p:cNvPr id="23618" name="Rectangle 1073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19" name="Text Box 1074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>
                      <a:solidFill>
                        <a:prstClr val="black"/>
                      </a:solidFill>
                    </a:rPr>
                    <a:t>3</a:t>
                  </a:r>
                </a:p>
              </p:txBody>
            </p:sp>
          </p:grpSp>
          <p:grpSp>
            <p:nvGrpSpPr>
              <p:cNvPr id="23588" name="Group 1075"/>
              <p:cNvGrpSpPr>
                <a:grpSpLocks/>
              </p:cNvGrpSpPr>
              <p:nvPr/>
            </p:nvGrpSpPr>
            <p:grpSpPr bwMode="auto">
              <a:xfrm>
                <a:off x="1632" y="2544"/>
                <a:ext cx="432" cy="432"/>
                <a:chOff x="1776" y="1920"/>
                <a:chExt cx="432" cy="432"/>
              </a:xfrm>
            </p:grpSpPr>
            <p:sp>
              <p:nvSpPr>
                <p:cNvPr id="23616" name="Rectangle 1076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17" name="Text Box 1077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3589" name="Group 1078"/>
              <p:cNvGrpSpPr>
                <a:grpSpLocks/>
              </p:cNvGrpSpPr>
              <p:nvPr/>
            </p:nvGrpSpPr>
            <p:grpSpPr bwMode="auto">
              <a:xfrm>
                <a:off x="2064" y="2544"/>
                <a:ext cx="432" cy="432"/>
                <a:chOff x="1776" y="1920"/>
                <a:chExt cx="432" cy="432"/>
              </a:xfrm>
            </p:grpSpPr>
            <p:sp>
              <p:nvSpPr>
                <p:cNvPr id="23614" name="Rectangle 1079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15" name="Text Box 1080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3590" name="Group 1081"/>
              <p:cNvGrpSpPr>
                <a:grpSpLocks/>
              </p:cNvGrpSpPr>
              <p:nvPr/>
            </p:nvGrpSpPr>
            <p:grpSpPr bwMode="auto">
              <a:xfrm>
                <a:off x="2496" y="2544"/>
                <a:ext cx="432" cy="432"/>
                <a:chOff x="1776" y="1920"/>
                <a:chExt cx="432" cy="432"/>
              </a:xfrm>
            </p:grpSpPr>
            <p:sp>
              <p:nvSpPr>
                <p:cNvPr id="23612" name="Rectangle 1082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13" name="Text Box 1083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3591" name="Group 1084"/>
              <p:cNvGrpSpPr>
                <a:grpSpLocks/>
              </p:cNvGrpSpPr>
              <p:nvPr/>
            </p:nvGrpSpPr>
            <p:grpSpPr bwMode="auto">
              <a:xfrm>
                <a:off x="2928" y="2544"/>
                <a:ext cx="432" cy="432"/>
                <a:chOff x="1776" y="1920"/>
                <a:chExt cx="432" cy="432"/>
              </a:xfrm>
            </p:grpSpPr>
            <p:sp>
              <p:nvSpPr>
                <p:cNvPr id="23610" name="Rectangle 1085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11" name="Text Box 1086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>
                      <a:solidFill>
                        <a:prstClr val="black"/>
                      </a:solidFill>
                    </a:rPr>
                    <a:t>0</a:t>
                  </a:r>
                </a:p>
              </p:txBody>
            </p:sp>
          </p:grpSp>
          <p:grpSp>
            <p:nvGrpSpPr>
              <p:cNvPr id="23592" name="Group 1087"/>
              <p:cNvGrpSpPr>
                <a:grpSpLocks/>
              </p:cNvGrpSpPr>
              <p:nvPr/>
            </p:nvGrpSpPr>
            <p:grpSpPr bwMode="auto">
              <a:xfrm>
                <a:off x="3360" y="2544"/>
                <a:ext cx="432" cy="432"/>
                <a:chOff x="1776" y="1920"/>
                <a:chExt cx="432" cy="432"/>
              </a:xfrm>
            </p:grpSpPr>
            <p:sp>
              <p:nvSpPr>
                <p:cNvPr id="23608" name="Rectangle 1088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09" name="Text Box 1089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>
                      <a:solidFill>
                        <a:prstClr val="black"/>
                      </a:solidFill>
                    </a:rPr>
                    <a:t>1</a:t>
                  </a:r>
                </a:p>
              </p:txBody>
            </p:sp>
          </p:grpSp>
          <p:grpSp>
            <p:nvGrpSpPr>
              <p:cNvPr id="23593" name="Group 1090"/>
              <p:cNvGrpSpPr>
                <a:grpSpLocks/>
              </p:cNvGrpSpPr>
              <p:nvPr/>
            </p:nvGrpSpPr>
            <p:grpSpPr bwMode="auto">
              <a:xfrm>
                <a:off x="1632" y="2976"/>
                <a:ext cx="432" cy="432"/>
                <a:chOff x="1776" y="1920"/>
                <a:chExt cx="432" cy="432"/>
              </a:xfrm>
            </p:grpSpPr>
            <p:sp>
              <p:nvSpPr>
                <p:cNvPr id="23606" name="Rectangle 1091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07" name="Text Box 1092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3594" name="Group 1093"/>
              <p:cNvGrpSpPr>
                <a:grpSpLocks/>
              </p:cNvGrpSpPr>
              <p:nvPr/>
            </p:nvGrpSpPr>
            <p:grpSpPr bwMode="auto">
              <a:xfrm>
                <a:off x="2064" y="2976"/>
                <a:ext cx="432" cy="432"/>
                <a:chOff x="1776" y="1920"/>
                <a:chExt cx="432" cy="432"/>
              </a:xfrm>
            </p:grpSpPr>
            <p:sp>
              <p:nvSpPr>
                <p:cNvPr id="23604" name="Rectangle 1094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05" name="Text Box 1095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3595" name="Group 1096"/>
              <p:cNvGrpSpPr>
                <a:grpSpLocks/>
              </p:cNvGrpSpPr>
              <p:nvPr/>
            </p:nvGrpSpPr>
            <p:grpSpPr bwMode="auto">
              <a:xfrm>
                <a:off x="2496" y="2976"/>
                <a:ext cx="432" cy="432"/>
                <a:chOff x="1776" y="1920"/>
                <a:chExt cx="432" cy="432"/>
              </a:xfrm>
            </p:grpSpPr>
            <p:sp>
              <p:nvSpPr>
                <p:cNvPr id="23602" name="Rectangle 1097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03" name="Text Box 1098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3596" name="Group 1099"/>
              <p:cNvGrpSpPr>
                <a:grpSpLocks/>
              </p:cNvGrpSpPr>
              <p:nvPr/>
            </p:nvGrpSpPr>
            <p:grpSpPr bwMode="auto">
              <a:xfrm>
                <a:off x="2928" y="2976"/>
                <a:ext cx="432" cy="432"/>
                <a:chOff x="1776" y="1920"/>
                <a:chExt cx="432" cy="432"/>
              </a:xfrm>
            </p:grpSpPr>
            <p:sp>
              <p:nvSpPr>
                <p:cNvPr id="23600" name="Rectangle 1100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601" name="Text Box 1101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23597" name="Group 1102"/>
              <p:cNvGrpSpPr>
                <a:grpSpLocks/>
              </p:cNvGrpSpPr>
              <p:nvPr/>
            </p:nvGrpSpPr>
            <p:grpSpPr bwMode="auto">
              <a:xfrm>
                <a:off x="3360" y="2976"/>
                <a:ext cx="432" cy="432"/>
                <a:chOff x="1776" y="1920"/>
                <a:chExt cx="432" cy="432"/>
              </a:xfrm>
            </p:grpSpPr>
            <p:sp>
              <p:nvSpPr>
                <p:cNvPr id="23598" name="Rectangle 1103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599" name="Text Box 1104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>
                      <a:solidFill>
                        <a:prstClr val="black"/>
                      </a:solidFill>
                    </a:rPr>
                    <a:t>0</a:t>
                  </a:r>
                </a:p>
              </p:txBody>
            </p:sp>
          </p:grpSp>
        </p:grpSp>
        <p:pic>
          <p:nvPicPr>
            <p:cNvPr id="23563" name="Picture 1105" descr="Edna Krabappel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0" y="1360"/>
              <a:ext cx="280" cy="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4" name="Picture 110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0" y="1592"/>
              <a:ext cx="171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5" name="Picture 1107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6" y="1247"/>
              <a:ext cx="236" cy="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6" name="Picture 1108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3" y="1425"/>
              <a:ext cx="320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7" name="Picture 1109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1440"/>
              <a:ext cx="411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8" name="Picture 1110" descr="Edna Krabappel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1968"/>
              <a:ext cx="280" cy="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9" name="Picture 111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2" y="2496"/>
              <a:ext cx="171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70" name="Picture 1112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4" y="2736"/>
              <a:ext cx="236" cy="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71" name="Picture 11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6" y="3696"/>
              <a:ext cx="294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72" name="Picture 11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3264"/>
              <a:ext cx="258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557" name="Text Box 1115"/>
          <p:cNvSpPr txBox="1">
            <a:spLocks noChangeArrowheads="1"/>
          </p:cNvSpPr>
          <p:nvPr/>
        </p:nvSpPr>
        <p:spPr bwMode="auto">
          <a:xfrm>
            <a:off x="1828800" y="4648200"/>
            <a:ext cx="3281668" cy="196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5400">
                <a:solidFill>
                  <a:prstClr val="black"/>
                </a:solidFill>
              </a:rPr>
              <a:t>D(  ,  ) = 8</a:t>
            </a:r>
          </a:p>
          <a:p>
            <a:pPr>
              <a:spcBef>
                <a:spcPct val="25000"/>
              </a:spcBef>
            </a:pPr>
            <a:r>
              <a:rPr lang="en-US" altLang="en-US" sz="5400">
                <a:solidFill>
                  <a:prstClr val="black"/>
                </a:solidFill>
              </a:rPr>
              <a:t>D(  ,  ) = 1</a:t>
            </a:r>
          </a:p>
        </p:txBody>
      </p:sp>
      <p:pic>
        <p:nvPicPr>
          <p:cNvPr id="23558" name="Picture 1116" descr="Edna Krabappe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648201"/>
            <a:ext cx="444500" cy="9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111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1" y="4876801"/>
            <a:ext cx="271463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Text Box 1118"/>
          <p:cNvSpPr txBox="1">
            <a:spLocks noChangeArrowheads="1"/>
          </p:cNvSpPr>
          <p:nvPr/>
        </p:nvSpPr>
        <p:spPr bwMode="auto">
          <a:xfrm>
            <a:off x="1828801" y="1419225"/>
            <a:ext cx="397827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We begin with a distance matrix which contains the distances between every pair of objects in our database.</a:t>
            </a:r>
          </a:p>
        </p:txBody>
      </p:sp>
      <p:sp>
        <p:nvSpPr>
          <p:cNvPr id="23561" name="TextBox 94"/>
          <p:cNvSpPr txBox="1">
            <a:spLocks noChangeArrowheads="1"/>
          </p:cNvSpPr>
          <p:nvPr/>
        </p:nvSpPr>
        <p:spPr bwMode="auto">
          <a:xfrm>
            <a:off x="6300788" y="315914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269884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1026"/>
          <p:cNvSpPr txBox="1">
            <a:spLocks noChangeArrowheads="1"/>
          </p:cNvSpPr>
          <p:nvPr/>
        </p:nvSpPr>
        <p:spPr bwMode="auto">
          <a:xfrm>
            <a:off x="1657350" y="133350"/>
            <a:ext cx="4241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b="1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ＭＳ Ｐゴシック" pitchFamily="-111" charset="-128"/>
                <a:cs typeface="ＭＳ Ｐゴシック" pitchFamily="-111" charset="-128"/>
              </a:rPr>
              <a:t>Bottom-Up (</a:t>
            </a:r>
            <a:r>
              <a:rPr kumimoji="1" lang="en-US" altLang="zh-CN" b="1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cs typeface="SimSun" pitchFamily="2" charset="-122"/>
              </a:rPr>
              <a:t>agglomerative</a:t>
            </a:r>
            <a:r>
              <a:rPr kumimoji="1" lang="en-US" b="1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ＭＳ Ｐゴシック" pitchFamily="-111" charset="-128"/>
                <a:cs typeface="ＭＳ Ｐゴシック" pitchFamily="-111" charset="-128"/>
              </a:rPr>
              <a:t>):</a:t>
            </a:r>
            <a:r>
              <a:rPr lang="en-US" sz="2000">
                <a:solidFill>
                  <a:prstClr val="black"/>
                </a:solidFill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 Starting with each item in its own cluster, find the best pair to merge into a new cluster. Repeat until all clusters are fused together. </a:t>
            </a:r>
          </a:p>
        </p:txBody>
      </p:sp>
      <p:grpSp>
        <p:nvGrpSpPr>
          <p:cNvPr id="24579" name="Group 1027"/>
          <p:cNvGrpSpPr>
            <a:grpSpLocks/>
          </p:cNvGrpSpPr>
          <p:nvPr/>
        </p:nvGrpSpPr>
        <p:grpSpPr bwMode="auto">
          <a:xfrm>
            <a:off x="9640888" y="5689600"/>
            <a:ext cx="1027112" cy="973138"/>
            <a:chOff x="1267" y="3584"/>
            <a:chExt cx="647" cy="613"/>
          </a:xfrm>
        </p:grpSpPr>
        <p:grpSp>
          <p:nvGrpSpPr>
            <p:cNvPr id="24614" name="Group 1028"/>
            <p:cNvGrpSpPr>
              <a:grpSpLocks/>
            </p:cNvGrpSpPr>
            <p:nvPr/>
          </p:nvGrpSpPr>
          <p:grpSpPr bwMode="auto">
            <a:xfrm>
              <a:off x="1267" y="3735"/>
              <a:ext cx="647" cy="462"/>
              <a:chOff x="252" y="2364"/>
              <a:chExt cx="2258" cy="1608"/>
            </a:xfrm>
          </p:grpSpPr>
          <p:pic>
            <p:nvPicPr>
              <p:cNvPr id="24618" name="Picture 1029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619" name="Picture 1030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4615" name="Line 1031"/>
            <p:cNvSpPr>
              <a:spLocks noChangeShapeType="1"/>
            </p:cNvSpPr>
            <p:nvPr/>
          </p:nvSpPr>
          <p:spPr bwMode="auto">
            <a:xfrm flipH="1" flipV="1">
              <a:off x="1738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4616" name="Line 1032"/>
            <p:cNvSpPr>
              <a:spLocks noChangeShapeType="1"/>
            </p:cNvSpPr>
            <p:nvPr/>
          </p:nvSpPr>
          <p:spPr bwMode="auto">
            <a:xfrm flipH="1" flipV="1">
              <a:off x="1429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4617" name="Line 1033"/>
            <p:cNvSpPr>
              <a:spLocks noChangeShapeType="1"/>
            </p:cNvSpPr>
            <p:nvPr/>
          </p:nvSpPr>
          <p:spPr bwMode="auto">
            <a:xfrm flipH="1">
              <a:off x="1426" y="3584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4580" name="Group 1034"/>
          <p:cNvGrpSpPr>
            <a:grpSpLocks/>
          </p:cNvGrpSpPr>
          <p:nvPr/>
        </p:nvGrpSpPr>
        <p:grpSpPr bwMode="auto">
          <a:xfrm>
            <a:off x="3706813" y="5770564"/>
            <a:ext cx="1027112" cy="973137"/>
            <a:chOff x="1165" y="3566"/>
            <a:chExt cx="647" cy="613"/>
          </a:xfrm>
        </p:grpSpPr>
        <p:grpSp>
          <p:nvGrpSpPr>
            <p:cNvPr id="24607" name="Group 1035"/>
            <p:cNvGrpSpPr>
              <a:grpSpLocks/>
            </p:cNvGrpSpPr>
            <p:nvPr/>
          </p:nvGrpSpPr>
          <p:grpSpPr bwMode="auto">
            <a:xfrm>
              <a:off x="1165" y="3717"/>
              <a:ext cx="647" cy="462"/>
              <a:chOff x="252" y="2364"/>
              <a:chExt cx="2258" cy="1608"/>
            </a:xfrm>
          </p:grpSpPr>
          <p:pic>
            <p:nvPicPr>
              <p:cNvPr id="24612" name="Picture 1036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613" name="Picture 1037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4608" name="Group 1038"/>
            <p:cNvGrpSpPr>
              <a:grpSpLocks/>
            </p:cNvGrpSpPr>
            <p:nvPr/>
          </p:nvGrpSpPr>
          <p:grpSpPr bwMode="auto">
            <a:xfrm>
              <a:off x="1324" y="3566"/>
              <a:ext cx="314" cy="83"/>
              <a:chOff x="1324" y="3566"/>
              <a:chExt cx="314" cy="83"/>
            </a:xfrm>
          </p:grpSpPr>
          <p:sp>
            <p:nvSpPr>
              <p:cNvPr id="24609" name="Line 1039"/>
              <p:cNvSpPr>
                <a:spLocks noChangeShapeType="1"/>
              </p:cNvSpPr>
              <p:nvPr/>
            </p:nvSpPr>
            <p:spPr bwMode="auto">
              <a:xfrm flipH="1" flipV="1">
                <a:off x="1636" y="3566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4610" name="Line 1040"/>
              <p:cNvSpPr>
                <a:spLocks noChangeShapeType="1"/>
              </p:cNvSpPr>
              <p:nvPr/>
            </p:nvSpPr>
            <p:spPr bwMode="auto">
              <a:xfrm flipH="1" flipV="1">
                <a:off x="1327" y="3566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4611" name="Line 1041"/>
              <p:cNvSpPr>
                <a:spLocks noChangeShapeType="1"/>
              </p:cNvSpPr>
              <p:nvPr/>
            </p:nvSpPr>
            <p:spPr bwMode="auto">
              <a:xfrm flipH="1">
                <a:off x="1324" y="3566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4581" name="Group 1042"/>
          <p:cNvGrpSpPr>
            <a:grpSpLocks/>
          </p:cNvGrpSpPr>
          <p:nvPr/>
        </p:nvGrpSpPr>
        <p:grpSpPr bwMode="auto">
          <a:xfrm>
            <a:off x="4818063" y="5527676"/>
            <a:ext cx="760412" cy="1216025"/>
            <a:chOff x="2072" y="3380"/>
            <a:chExt cx="479" cy="802"/>
          </a:xfrm>
        </p:grpSpPr>
        <p:pic>
          <p:nvPicPr>
            <p:cNvPr id="24601" name="Picture 1043" descr="Edna Krabappel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2" y="3670"/>
              <a:ext cx="22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02" name="Picture 1044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1" y="359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4603" name="Group 1045"/>
            <p:cNvGrpSpPr>
              <a:grpSpLocks/>
            </p:cNvGrpSpPr>
            <p:nvPr/>
          </p:nvGrpSpPr>
          <p:grpSpPr bwMode="auto">
            <a:xfrm>
              <a:off x="2170" y="3380"/>
              <a:ext cx="314" cy="185"/>
              <a:chOff x="2170" y="3380"/>
              <a:chExt cx="314" cy="185"/>
            </a:xfrm>
          </p:grpSpPr>
          <p:sp>
            <p:nvSpPr>
              <p:cNvPr id="24604" name="Line 1046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4605" name="Line 1047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4606" name="Line 1048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4582" name="Group 1049"/>
          <p:cNvGrpSpPr>
            <a:grpSpLocks/>
          </p:cNvGrpSpPr>
          <p:nvPr/>
        </p:nvGrpSpPr>
        <p:grpSpPr bwMode="auto">
          <a:xfrm>
            <a:off x="2817814" y="5491164"/>
            <a:ext cx="776287" cy="1252537"/>
            <a:chOff x="2663" y="3356"/>
            <a:chExt cx="489" cy="789"/>
          </a:xfrm>
        </p:grpSpPr>
        <p:pic>
          <p:nvPicPr>
            <p:cNvPr id="24595" name="Picture 1050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4" y="3800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96" name="Picture 105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3" y="3707"/>
              <a:ext cx="331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4597" name="Group 1052"/>
            <p:cNvGrpSpPr>
              <a:grpSpLocks/>
            </p:cNvGrpSpPr>
            <p:nvPr/>
          </p:nvGrpSpPr>
          <p:grpSpPr bwMode="auto">
            <a:xfrm>
              <a:off x="2758" y="3356"/>
              <a:ext cx="314" cy="209"/>
              <a:chOff x="2170" y="3380"/>
              <a:chExt cx="314" cy="185"/>
            </a:xfrm>
          </p:grpSpPr>
          <p:sp>
            <p:nvSpPr>
              <p:cNvPr id="24598" name="Line 1053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4599" name="Line 1054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4600" name="Line 1055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4583" name="Group 1056"/>
          <p:cNvGrpSpPr>
            <a:grpSpLocks/>
          </p:cNvGrpSpPr>
          <p:nvPr/>
        </p:nvGrpSpPr>
        <p:grpSpPr bwMode="auto">
          <a:xfrm>
            <a:off x="6110289" y="5518150"/>
            <a:ext cx="815975" cy="1206500"/>
            <a:chOff x="2889" y="3476"/>
            <a:chExt cx="514" cy="760"/>
          </a:xfrm>
        </p:grpSpPr>
        <p:pic>
          <p:nvPicPr>
            <p:cNvPr id="24589" name="Picture 1057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9" y="3691"/>
              <a:ext cx="190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590" name="Picture 105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5" y="3751"/>
              <a:ext cx="25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4591" name="Group 1059"/>
            <p:cNvGrpSpPr>
              <a:grpSpLocks/>
            </p:cNvGrpSpPr>
            <p:nvPr/>
          </p:nvGrpSpPr>
          <p:grpSpPr bwMode="auto">
            <a:xfrm>
              <a:off x="3010" y="3476"/>
              <a:ext cx="314" cy="195"/>
              <a:chOff x="2170" y="3380"/>
              <a:chExt cx="314" cy="185"/>
            </a:xfrm>
          </p:grpSpPr>
          <p:sp>
            <p:nvSpPr>
              <p:cNvPr id="24592" name="Line 1060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4593" name="Line 1061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4594" name="Line 1062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4584" name="Text Box 1063"/>
          <p:cNvSpPr txBox="1">
            <a:spLocks noChangeArrowheads="1"/>
          </p:cNvSpPr>
          <p:nvPr/>
        </p:nvSpPr>
        <p:spPr bwMode="auto">
          <a:xfrm>
            <a:off x="5641975" y="59467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b="1">
                <a:solidFill>
                  <a:prstClr val="black"/>
                </a:solidFill>
              </a:rPr>
              <a:t>…</a:t>
            </a:r>
          </a:p>
        </p:txBody>
      </p:sp>
      <p:sp>
        <p:nvSpPr>
          <p:cNvPr id="24585" name="Text Box 1064"/>
          <p:cNvSpPr txBox="1">
            <a:spLocks noChangeArrowheads="1"/>
          </p:cNvSpPr>
          <p:nvPr/>
        </p:nvSpPr>
        <p:spPr bwMode="auto">
          <a:xfrm>
            <a:off x="1524001" y="5661025"/>
            <a:ext cx="14906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Consider all possible merges…</a:t>
            </a:r>
          </a:p>
        </p:txBody>
      </p:sp>
      <p:sp>
        <p:nvSpPr>
          <p:cNvPr id="24586" name="Text Box 1065"/>
          <p:cNvSpPr txBox="1">
            <a:spLocks noChangeArrowheads="1"/>
          </p:cNvSpPr>
          <p:nvPr/>
        </p:nvSpPr>
        <p:spPr bwMode="auto">
          <a:xfrm>
            <a:off x="7210426" y="5699125"/>
            <a:ext cx="1109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Choose the best</a:t>
            </a:r>
          </a:p>
        </p:txBody>
      </p:sp>
      <p:sp>
        <p:nvSpPr>
          <p:cNvPr id="24587" name="Rectangle 1066"/>
          <p:cNvSpPr>
            <a:spLocks noChangeArrowheads="1"/>
          </p:cNvSpPr>
          <p:nvPr/>
        </p:nvSpPr>
        <p:spPr bwMode="auto">
          <a:xfrm>
            <a:off x="1524000" y="5257801"/>
            <a:ext cx="9144000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4588" name="TextBox 42"/>
          <p:cNvSpPr txBox="1">
            <a:spLocks noChangeArrowheads="1"/>
          </p:cNvSpPr>
          <p:nvPr/>
        </p:nvSpPr>
        <p:spPr bwMode="auto">
          <a:xfrm>
            <a:off x="6926263" y="133351"/>
            <a:ext cx="35925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This slide and next 4 based on slides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2828370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Text Box 1026"/>
          <p:cNvSpPr txBox="1">
            <a:spLocks noChangeArrowheads="1"/>
          </p:cNvSpPr>
          <p:nvPr/>
        </p:nvSpPr>
        <p:spPr bwMode="auto">
          <a:xfrm>
            <a:off x="1657350" y="133350"/>
            <a:ext cx="4241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b="1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ＭＳ Ｐゴシック" pitchFamily="-111" charset="-128"/>
                <a:cs typeface="ＭＳ Ｐゴシック" pitchFamily="-111" charset="-128"/>
              </a:rPr>
              <a:t>Bottom-Up (</a:t>
            </a:r>
            <a:r>
              <a:rPr kumimoji="1" lang="en-US" altLang="zh-CN" b="1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cs typeface="SimSun" pitchFamily="2" charset="-122"/>
              </a:rPr>
              <a:t>agglomerative</a:t>
            </a:r>
            <a:r>
              <a:rPr kumimoji="1" lang="en-US" b="1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ＭＳ Ｐゴシック" pitchFamily="-111" charset="-128"/>
                <a:cs typeface="ＭＳ Ｐゴシック" pitchFamily="-111" charset="-128"/>
              </a:rPr>
              <a:t>):</a:t>
            </a:r>
            <a:r>
              <a:rPr lang="en-US" sz="2000">
                <a:solidFill>
                  <a:prstClr val="black"/>
                </a:solidFill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 Starting with each item in its own cluster, find the best pair to merge into a new cluster. Repeat until all clusters are fused together. </a:t>
            </a:r>
          </a:p>
        </p:txBody>
      </p:sp>
      <p:grpSp>
        <p:nvGrpSpPr>
          <p:cNvPr id="25603" name="Group 1027"/>
          <p:cNvGrpSpPr>
            <a:grpSpLocks/>
          </p:cNvGrpSpPr>
          <p:nvPr/>
        </p:nvGrpSpPr>
        <p:grpSpPr bwMode="auto">
          <a:xfrm>
            <a:off x="9640888" y="5689600"/>
            <a:ext cx="1027112" cy="973138"/>
            <a:chOff x="1267" y="3584"/>
            <a:chExt cx="647" cy="613"/>
          </a:xfrm>
        </p:grpSpPr>
        <p:grpSp>
          <p:nvGrpSpPr>
            <p:cNvPr id="25678" name="Group 1028"/>
            <p:cNvGrpSpPr>
              <a:grpSpLocks/>
            </p:cNvGrpSpPr>
            <p:nvPr/>
          </p:nvGrpSpPr>
          <p:grpSpPr bwMode="auto">
            <a:xfrm>
              <a:off x="1267" y="3735"/>
              <a:ext cx="647" cy="462"/>
              <a:chOff x="252" y="2364"/>
              <a:chExt cx="2258" cy="1608"/>
            </a:xfrm>
          </p:grpSpPr>
          <p:pic>
            <p:nvPicPr>
              <p:cNvPr id="25682" name="Picture 1029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683" name="Picture 1030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5679" name="Line 1031"/>
            <p:cNvSpPr>
              <a:spLocks noChangeShapeType="1"/>
            </p:cNvSpPr>
            <p:nvPr/>
          </p:nvSpPr>
          <p:spPr bwMode="auto">
            <a:xfrm flipH="1" flipV="1">
              <a:off x="1738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680" name="Line 1032"/>
            <p:cNvSpPr>
              <a:spLocks noChangeShapeType="1"/>
            </p:cNvSpPr>
            <p:nvPr/>
          </p:nvSpPr>
          <p:spPr bwMode="auto">
            <a:xfrm flipH="1" flipV="1">
              <a:off x="1429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681" name="Line 1033"/>
            <p:cNvSpPr>
              <a:spLocks noChangeShapeType="1"/>
            </p:cNvSpPr>
            <p:nvPr/>
          </p:nvSpPr>
          <p:spPr bwMode="auto">
            <a:xfrm flipH="1">
              <a:off x="1426" y="3584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5604" name="Group 1034"/>
          <p:cNvGrpSpPr>
            <a:grpSpLocks/>
          </p:cNvGrpSpPr>
          <p:nvPr/>
        </p:nvGrpSpPr>
        <p:grpSpPr bwMode="auto">
          <a:xfrm>
            <a:off x="9602788" y="4465639"/>
            <a:ext cx="1027112" cy="733425"/>
            <a:chOff x="252" y="2364"/>
            <a:chExt cx="2258" cy="1608"/>
          </a:xfrm>
        </p:grpSpPr>
        <p:pic>
          <p:nvPicPr>
            <p:cNvPr id="25676" name="Picture 103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" y="2364"/>
              <a:ext cx="900" cy="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77" name="Picture 10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6" y="2412"/>
              <a:ext cx="1154" cy="1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605" name="Line 1037"/>
          <p:cNvSpPr>
            <a:spLocks noChangeShapeType="1"/>
          </p:cNvSpPr>
          <p:nvPr/>
        </p:nvSpPr>
        <p:spPr bwMode="auto">
          <a:xfrm flipH="1" flipV="1">
            <a:off x="10350500" y="4225926"/>
            <a:ext cx="0" cy="1317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5606" name="Line 1038"/>
          <p:cNvSpPr>
            <a:spLocks noChangeShapeType="1"/>
          </p:cNvSpPr>
          <p:nvPr/>
        </p:nvSpPr>
        <p:spPr bwMode="auto">
          <a:xfrm flipH="1" flipV="1">
            <a:off x="9859963" y="4225926"/>
            <a:ext cx="0" cy="1317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5607" name="Line 1039"/>
          <p:cNvSpPr>
            <a:spLocks noChangeShapeType="1"/>
          </p:cNvSpPr>
          <p:nvPr/>
        </p:nvSpPr>
        <p:spPr bwMode="auto">
          <a:xfrm flipH="1">
            <a:off x="9855201" y="4225925"/>
            <a:ext cx="49847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25608" name="Group 1040"/>
          <p:cNvGrpSpPr>
            <a:grpSpLocks/>
          </p:cNvGrpSpPr>
          <p:nvPr/>
        </p:nvGrpSpPr>
        <p:grpSpPr bwMode="auto">
          <a:xfrm>
            <a:off x="8823326" y="4084638"/>
            <a:ext cx="608013" cy="1147762"/>
            <a:chOff x="4598" y="2573"/>
            <a:chExt cx="383" cy="723"/>
          </a:xfrm>
        </p:grpSpPr>
        <p:pic>
          <p:nvPicPr>
            <p:cNvPr id="25670" name="Picture 104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8" y="2956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71" name="Picture 1042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1" y="2712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5672" name="Group 1043"/>
            <p:cNvGrpSpPr>
              <a:grpSpLocks/>
            </p:cNvGrpSpPr>
            <p:nvPr/>
          </p:nvGrpSpPr>
          <p:grpSpPr bwMode="auto">
            <a:xfrm>
              <a:off x="4638" y="2573"/>
              <a:ext cx="315" cy="169"/>
              <a:chOff x="2112" y="2976"/>
              <a:chExt cx="703" cy="377"/>
            </a:xfrm>
          </p:grpSpPr>
          <p:sp>
            <p:nvSpPr>
              <p:cNvPr id="25673" name="Line 1044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5674" name="Line 1045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5675" name="Line 1046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5609" name="Group 1047"/>
          <p:cNvGrpSpPr>
            <a:grpSpLocks/>
          </p:cNvGrpSpPr>
          <p:nvPr/>
        </p:nvGrpSpPr>
        <p:grpSpPr bwMode="auto">
          <a:xfrm>
            <a:off x="3706813" y="5770564"/>
            <a:ext cx="1027112" cy="973137"/>
            <a:chOff x="1165" y="3566"/>
            <a:chExt cx="647" cy="613"/>
          </a:xfrm>
        </p:grpSpPr>
        <p:grpSp>
          <p:nvGrpSpPr>
            <p:cNvPr id="25663" name="Group 1048"/>
            <p:cNvGrpSpPr>
              <a:grpSpLocks/>
            </p:cNvGrpSpPr>
            <p:nvPr/>
          </p:nvGrpSpPr>
          <p:grpSpPr bwMode="auto">
            <a:xfrm>
              <a:off x="1165" y="3717"/>
              <a:ext cx="647" cy="462"/>
              <a:chOff x="252" y="2364"/>
              <a:chExt cx="2258" cy="1608"/>
            </a:xfrm>
          </p:grpSpPr>
          <p:pic>
            <p:nvPicPr>
              <p:cNvPr id="25668" name="Picture 1049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669" name="Picture 1050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5664" name="Group 1051"/>
            <p:cNvGrpSpPr>
              <a:grpSpLocks/>
            </p:cNvGrpSpPr>
            <p:nvPr/>
          </p:nvGrpSpPr>
          <p:grpSpPr bwMode="auto">
            <a:xfrm>
              <a:off x="1324" y="3566"/>
              <a:ext cx="314" cy="83"/>
              <a:chOff x="1324" y="3566"/>
              <a:chExt cx="314" cy="83"/>
            </a:xfrm>
          </p:grpSpPr>
          <p:sp>
            <p:nvSpPr>
              <p:cNvPr id="25665" name="Line 1052"/>
              <p:cNvSpPr>
                <a:spLocks noChangeShapeType="1"/>
              </p:cNvSpPr>
              <p:nvPr/>
            </p:nvSpPr>
            <p:spPr bwMode="auto">
              <a:xfrm flipH="1" flipV="1">
                <a:off x="1636" y="3566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5666" name="Line 1053"/>
              <p:cNvSpPr>
                <a:spLocks noChangeShapeType="1"/>
              </p:cNvSpPr>
              <p:nvPr/>
            </p:nvSpPr>
            <p:spPr bwMode="auto">
              <a:xfrm flipH="1" flipV="1">
                <a:off x="1327" y="3566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5667" name="Line 1054"/>
              <p:cNvSpPr>
                <a:spLocks noChangeShapeType="1"/>
              </p:cNvSpPr>
              <p:nvPr/>
            </p:nvSpPr>
            <p:spPr bwMode="auto">
              <a:xfrm flipH="1">
                <a:off x="1324" y="3566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pic>
        <p:nvPicPr>
          <p:cNvPr id="25610" name="Picture 105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726" y="4603750"/>
            <a:ext cx="21907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11" name="Line 1056"/>
          <p:cNvSpPr>
            <a:spLocks noChangeShapeType="1"/>
          </p:cNvSpPr>
          <p:nvPr/>
        </p:nvSpPr>
        <p:spPr bwMode="auto">
          <a:xfrm flipH="1" flipV="1">
            <a:off x="3371850" y="4108450"/>
            <a:ext cx="0" cy="2794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5612" name="Line 1057"/>
          <p:cNvSpPr>
            <a:spLocks noChangeShapeType="1"/>
          </p:cNvSpPr>
          <p:nvPr/>
        </p:nvSpPr>
        <p:spPr bwMode="auto">
          <a:xfrm flipH="1">
            <a:off x="3360739" y="4100513"/>
            <a:ext cx="75247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5613" name="Line 1058"/>
          <p:cNvSpPr>
            <a:spLocks noChangeShapeType="1"/>
          </p:cNvSpPr>
          <p:nvPr/>
        </p:nvSpPr>
        <p:spPr bwMode="auto">
          <a:xfrm rot="5400000" flipH="1">
            <a:off x="4065588" y="4132263"/>
            <a:ext cx="9842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25614" name="Group 1059"/>
          <p:cNvGrpSpPr>
            <a:grpSpLocks/>
          </p:cNvGrpSpPr>
          <p:nvPr/>
        </p:nvGrpSpPr>
        <p:grpSpPr bwMode="auto">
          <a:xfrm>
            <a:off x="4818063" y="5527676"/>
            <a:ext cx="760412" cy="1216025"/>
            <a:chOff x="2072" y="3380"/>
            <a:chExt cx="479" cy="802"/>
          </a:xfrm>
        </p:grpSpPr>
        <p:pic>
          <p:nvPicPr>
            <p:cNvPr id="25657" name="Picture 1060" descr="Edna Krabappel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2" y="3670"/>
              <a:ext cx="22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58" name="Picture 1061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1" y="359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5659" name="Group 1062"/>
            <p:cNvGrpSpPr>
              <a:grpSpLocks/>
            </p:cNvGrpSpPr>
            <p:nvPr/>
          </p:nvGrpSpPr>
          <p:grpSpPr bwMode="auto">
            <a:xfrm>
              <a:off x="2170" y="3380"/>
              <a:ext cx="314" cy="185"/>
              <a:chOff x="2170" y="3380"/>
              <a:chExt cx="314" cy="185"/>
            </a:xfrm>
          </p:grpSpPr>
          <p:sp>
            <p:nvSpPr>
              <p:cNvPr id="25660" name="Line 1063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5661" name="Line 1064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5662" name="Line 1065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5615" name="Group 1066"/>
          <p:cNvGrpSpPr>
            <a:grpSpLocks/>
          </p:cNvGrpSpPr>
          <p:nvPr/>
        </p:nvGrpSpPr>
        <p:grpSpPr bwMode="auto">
          <a:xfrm>
            <a:off x="2817814" y="5491164"/>
            <a:ext cx="776287" cy="1252537"/>
            <a:chOff x="2663" y="3356"/>
            <a:chExt cx="489" cy="789"/>
          </a:xfrm>
        </p:grpSpPr>
        <p:pic>
          <p:nvPicPr>
            <p:cNvPr id="25651" name="Picture 106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4" y="3800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52" name="Picture 106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3" y="3707"/>
              <a:ext cx="331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5653" name="Group 1069"/>
            <p:cNvGrpSpPr>
              <a:grpSpLocks/>
            </p:cNvGrpSpPr>
            <p:nvPr/>
          </p:nvGrpSpPr>
          <p:grpSpPr bwMode="auto">
            <a:xfrm>
              <a:off x="2758" y="3356"/>
              <a:ext cx="314" cy="209"/>
              <a:chOff x="2170" y="3380"/>
              <a:chExt cx="314" cy="185"/>
            </a:xfrm>
          </p:grpSpPr>
          <p:sp>
            <p:nvSpPr>
              <p:cNvPr id="25654" name="Line 1070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5655" name="Line 1071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5656" name="Line 1072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5616" name="Group 1073"/>
          <p:cNvGrpSpPr>
            <a:grpSpLocks/>
          </p:cNvGrpSpPr>
          <p:nvPr/>
        </p:nvGrpSpPr>
        <p:grpSpPr bwMode="auto">
          <a:xfrm>
            <a:off x="6110289" y="5518150"/>
            <a:ext cx="815975" cy="1206500"/>
            <a:chOff x="2889" y="3476"/>
            <a:chExt cx="514" cy="760"/>
          </a:xfrm>
        </p:grpSpPr>
        <p:pic>
          <p:nvPicPr>
            <p:cNvPr id="25645" name="Picture 1074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9" y="3691"/>
              <a:ext cx="190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46" name="Picture 107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5" y="3751"/>
              <a:ext cx="25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5647" name="Group 1076"/>
            <p:cNvGrpSpPr>
              <a:grpSpLocks/>
            </p:cNvGrpSpPr>
            <p:nvPr/>
          </p:nvGrpSpPr>
          <p:grpSpPr bwMode="auto">
            <a:xfrm>
              <a:off x="3010" y="3476"/>
              <a:ext cx="314" cy="195"/>
              <a:chOff x="2170" y="3380"/>
              <a:chExt cx="314" cy="185"/>
            </a:xfrm>
          </p:grpSpPr>
          <p:sp>
            <p:nvSpPr>
              <p:cNvPr id="25648" name="Line 1077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5649" name="Line 1078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5650" name="Line 1079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5617" name="Text Box 1080"/>
          <p:cNvSpPr txBox="1">
            <a:spLocks noChangeArrowheads="1"/>
          </p:cNvSpPr>
          <p:nvPr/>
        </p:nvSpPr>
        <p:spPr bwMode="auto">
          <a:xfrm>
            <a:off x="5641975" y="59467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b="1">
                <a:solidFill>
                  <a:prstClr val="black"/>
                </a:solidFill>
              </a:rPr>
              <a:t>…</a:t>
            </a:r>
          </a:p>
        </p:txBody>
      </p:sp>
      <p:sp>
        <p:nvSpPr>
          <p:cNvPr id="25618" name="Text Box 1081"/>
          <p:cNvSpPr txBox="1">
            <a:spLocks noChangeArrowheads="1"/>
          </p:cNvSpPr>
          <p:nvPr/>
        </p:nvSpPr>
        <p:spPr bwMode="auto">
          <a:xfrm>
            <a:off x="1524001" y="5661025"/>
            <a:ext cx="14906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Consider all possible merges…</a:t>
            </a:r>
          </a:p>
        </p:txBody>
      </p:sp>
      <p:sp>
        <p:nvSpPr>
          <p:cNvPr id="25619" name="Text Box 1082"/>
          <p:cNvSpPr txBox="1">
            <a:spLocks noChangeArrowheads="1"/>
          </p:cNvSpPr>
          <p:nvPr/>
        </p:nvSpPr>
        <p:spPr bwMode="auto">
          <a:xfrm>
            <a:off x="7210426" y="5699125"/>
            <a:ext cx="1109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Choose the best</a:t>
            </a:r>
          </a:p>
        </p:txBody>
      </p:sp>
      <p:sp>
        <p:nvSpPr>
          <p:cNvPr id="25620" name="Rectangle 1083"/>
          <p:cNvSpPr>
            <a:spLocks noChangeArrowheads="1"/>
          </p:cNvSpPr>
          <p:nvPr/>
        </p:nvSpPr>
        <p:spPr bwMode="auto">
          <a:xfrm>
            <a:off x="1524000" y="5257801"/>
            <a:ext cx="9144000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5621" name="Rectangle 1084"/>
          <p:cNvSpPr>
            <a:spLocks noChangeArrowheads="1"/>
          </p:cNvSpPr>
          <p:nvPr/>
        </p:nvSpPr>
        <p:spPr bwMode="auto">
          <a:xfrm>
            <a:off x="1524000" y="3790951"/>
            <a:ext cx="9144000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5622" name="Text Box 1085"/>
          <p:cNvSpPr txBox="1">
            <a:spLocks noChangeArrowheads="1"/>
          </p:cNvSpPr>
          <p:nvPr/>
        </p:nvSpPr>
        <p:spPr bwMode="auto">
          <a:xfrm>
            <a:off x="1524001" y="4089400"/>
            <a:ext cx="14906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Consider all possible merges…</a:t>
            </a:r>
          </a:p>
        </p:txBody>
      </p:sp>
      <p:grpSp>
        <p:nvGrpSpPr>
          <p:cNvPr id="25623" name="Group 1086"/>
          <p:cNvGrpSpPr>
            <a:grpSpLocks/>
          </p:cNvGrpSpPr>
          <p:nvPr/>
        </p:nvGrpSpPr>
        <p:grpSpPr bwMode="auto">
          <a:xfrm>
            <a:off x="3640138" y="4184650"/>
            <a:ext cx="1027112" cy="973138"/>
            <a:chOff x="1267" y="3584"/>
            <a:chExt cx="647" cy="613"/>
          </a:xfrm>
        </p:grpSpPr>
        <p:grpSp>
          <p:nvGrpSpPr>
            <p:cNvPr id="25639" name="Group 1087"/>
            <p:cNvGrpSpPr>
              <a:grpSpLocks/>
            </p:cNvGrpSpPr>
            <p:nvPr/>
          </p:nvGrpSpPr>
          <p:grpSpPr bwMode="auto">
            <a:xfrm>
              <a:off x="1267" y="3735"/>
              <a:ext cx="647" cy="462"/>
              <a:chOff x="252" y="2364"/>
              <a:chExt cx="2258" cy="1608"/>
            </a:xfrm>
          </p:grpSpPr>
          <p:pic>
            <p:nvPicPr>
              <p:cNvPr id="25643" name="Picture 1088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644" name="Picture 1089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5640" name="Line 1090"/>
            <p:cNvSpPr>
              <a:spLocks noChangeShapeType="1"/>
            </p:cNvSpPr>
            <p:nvPr/>
          </p:nvSpPr>
          <p:spPr bwMode="auto">
            <a:xfrm flipH="1" flipV="1">
              <a:off x="1738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641" name="Line 1091"/>
            <p:cNvSpPr>
              <a:spLocks noChangeShapeType="1"/>
            </p:cNvSpPr>
            <p:nvPr/>
          </p:nvSpPr>
          <p:spPr bwMode="auto">
            <a:xfrm flipH="1" flipV="1">
              <a:off x="1429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642" name="Line 1092"/>
            <p:cNvSpPr>
              <a:spLocks noChangeShapeType="1"/>
            </p:cNvSpPr>
            <p:nvPr/>
          </p:nvSpPr>
          <p:spPr bwMode="auto">
            <a:xfrm flipH="1">
              <a:off x="1426" y="3584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pic>
        <p:nvPicPr>
          <p:cNvPr id="25624" name="Picture 109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401" y="4606925"/>
            <a:ext cx="21907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25" name="Picture 1094" descr="C:\Documents and Settings\eamonn\Desktop\bios_family_marge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789" y="4219575"/>
            <a:ext cx="301625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626" name="Group 1095"/>
          <p:cNvGrpSpPr>
            <a:grpSpLocks/>
          </p:cNvGrpSpPr>
          <p:nvPr/>
        </p:nvGrpSpPr>
        <p:grpSpPr bwMode="auto">
          <a:xfrm>
            <a:off x="4914901" y="3998914"/>
            <a:ext cx="500063" cy="268287"/>
            <a:chOff x="2112" y="2976"/>
            <a:chExt cx="703" cy="377"/>
          </a:xfrm>
        </p:grpSpPr>
        <p:sp>
          <p:nvSpPr>
            <p:cNvPr id="25636" name="Line 1096"/>
            <p:cNvSpPr>
              <a:spLocks noChangeShapeType="1"/>
            </p:cNvSpPr>
            <p:nvPr/>
          </p:nvSpPr>
          <p:spPr bwMode="auto">
            <a:xfrm flipH="1" flipV="1">
              <a:off x="2810" y="2976"/>
              <a:ext cx="0" cy="37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637" name="Line 1097"/>
            <p:cNvSpPr>
              <a:spLocks noChangeShapeType="1"/>
            </p:cNvSpPr>
            <p:nvPr/>
          </p:nvSpPr>
          <p:spPr bwMode="auto">
            <a:xfrm flipH="1" flipV="1">
              <a:off x="2118" y="2976"/>
              <a:ext cx="0" cy="37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638" name="Line 1098"/>
            <p:cNvSpPr>
              <a:spLocks noChangeShapeType="1"/>
            </p:cNvSpPr>
            <p:nvPr/>
          </p:nvSpPr>
          <p:spPr bwMode="auto">
            <a:xfrm flipH="1">
              <a:off x="2112" y="2976"/>
              <a:ext cx="70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5627" name="Group 1099"/>
          <p:cNvGrpSpPr>
            <a:grpSpLocks/>
          </p:cNvGrpSpPr>
          <p:nvPr/>
        </p:nvGrpSpPr>
        <p:grpSpPr bwMode="auto">
          <a:xfrm>
            <a:off x="6132513" y="3994151"/>
            <a:ext cx="760412" cy="1216025"/>
            <a:chOff x="2072" y="3380"/>
            <a:chExt cx="479" cy="802"/>
          </a:xfrm>
        </p:grpSpPr>
        <p:pic>
          <p:nvPicPr>
            <p:cNvPr id="25630" name="Picture 1100" descr="Edna Krabappel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2" y="3670"/>
              <a:ext cx="22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31" name="Picture 1101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1" y="359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5632" name="Group 1102"/>
            <p:cNvGrpSpPr>
              <a:grpSpLocks/>
            </p:cNvGrpSpPr>
            <p:nvPr/>
          </p:nvGrpSpPr>
          <p:grpSpPr bwMode="auto">
            <a:xfrm>
              <a:off x="2170" y="3380"/>
              <a:ext cx="314" cy="185"/>
              <a:chOff x="2170" y="3380"/>
              <a:chExt cx="314" cy="185"/>
            </a:xfrm>
          </p:grpSpPr>
          <p:sp>
            <p:nvSpPr>
              <p:cNvPr id="25633" name="Line 1103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5634" name="Line 1104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5635" name="Line 1105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5628" name="Text Box 1106"/>
          <p:cNvSpPr txBox="1">
            <a:spLocks noChangeArrowheads="1"/>
          </p:cNvSpPr>
          <p:nvPr/>
        </p:nvSpPr>
        <p:spPr bwMode="auto">
          <a:xfrm>
            <a:off x="5575300" y="45180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b="1">
                <a:solidFill>
                  <a:prstClr val="black"/>
                </a:solidFill>
              </a:rPr>
              <a:t>…</a:t>
            </a:r>
          </a:p>
        </p:txBody>
      </p:sp>
      <p:sp>
        <p:nvSpPr>
          <p:cNvPr id="25629" name="Text Box 1107"/>
          <p:cNvSpPr txBox="1">
            <a:spLocks noChangeArrowheads="1"/>
          </p:cNvSpPr>
          <p:nvPr/>
        </p:nvSpPr>
        <p:spPr bwMode="auto">
          <a:xfrm>
            <a:off x="7210426" y="4213225"/>
            <a:ext cx="1109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Choose the best</a:t>
            </a:r>
          </a:p>
        </p:txBody>
      </p:sp>
    </p:spTree>
    <p:extLst>
      <p:ext uri="{BB962C8B-B14F-4D97-AF65-F5344CB8AC3E}">
        <p14:creationId xmlns:p14="http://schemas.microsoft.com/office/powerpoint/2010/main" val="167355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Text Box 1026"/>
          <p:cNvSpPr txBox="1">
            <a:spLocks noChangeArrowheads="1"/>
          </p:cNvSpPr>
          <p:nvPr/>
        </p:nvSpPr>
        <p:spPr bwMode="auto">
          <a:xfrm>
            <a:off x="1657350" y="133350"/>
            <a:ext cx="4241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b="1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ＭＳ Ｐゴシック" pitchFamily="-111" charset="-128"/>
                <a:cs typeface="ＭＳ Ｐゴシック" pitchFamily="-111" charset="-128"/>
              </a:rPr>
              <a:t>Bottom-Up (</a:t>
            </a:r>
            <a:r>
              <a:rPr kumimoji="1" lang="en-US" altLang="zh-CN" b="1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cs typeface="SimSun" pitchFamily="2" charset="-122"/>
              </a:rPr>
              <a:t>agglomerative</a:t>
            </a:r>
            <a:r>
              <a:rPr kumimoji="1" lang="en-US" b="1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ＭＳ Ｐゴシック" pitchFamily="-111" charset="-128"/>
                <a:cs typeface="ＭＳ Ｐゴシック" pitchFamily="-111" charset="-128"/>
              </a:rPr>
              <a:t>):</a:t>
            </a:r>
            <a:r>
              <a:rPr lang="en-US" sz="2000">
                <a:solidFill>
                  <a:prstClr val="black"/>
                </a:solidFill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 Starting with each item in its own cluster, find the best pair to merge into a new cluster. Repeat until all clusters are fused together. </a:t>
            </a:r>
          </a:p>
        </p:txBody>
      </p:sp>
      <p:grpSp>
        <p:nvGrpSpPr>
          <p:cNvPr id="26627" name="Group 1027"/>
          <p:cNvGrpSpPr>
            <a:grpSpLocks/>
          </p:cNvGrpSpPr>
          <p:nvPr/>
        </p:nvGrpSpPr>
        <p:grpSpPr bwMode="auto">
          <a:xfrm>
            <a:off x="9640888" y="5689600"/>
            <a:ext cx="1027112" cy="973138"/>
            <a:chOff x="1267" y="3584"/>
            <a:chExt cx="647" cy="613"/>
          </a:xfrm>
        </p:grpSpPr>
        <p:grpSp>
          <p:nvGrpSpPr>
            <p:cNvPr id="26750" name="Group 1028"/>
            <p:cNvGrpSpPr>
              <a:grpSpLocks/>
            </p:cNvGrpSpPr>
            <p:nvPr/>
          </p:nvGrpSpPr>
          <p:grpSpPr bwMode="auto">
            <a:xfrm>
              <a:off x="1267" y="3735"/>
              <a:ext cx="647" cy="462"/>
              <a:chOff x="252" y="2364"/>
              <a:chExt cx="2258" cy="1608"/>
            </a:xfrm>
          </p:grpSpPr>
          <p:pic>
            <p:nvPicPr>
              <p:cNvPr id="26754" name="Picture 1029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755" name="Picture 1030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6751" name="Line 1031"/>
            <p:cNvSpPr>
              <a:spLocks noChangeShapeType="1"/>
            </p:cNvSpPr>
            <p:nvPr/>
          </p:nvSpPr>
          <p:spPr bwMode="auto">
            <a:xfrm flipH="1" flipV="1">
              <a:off x="1738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752" name="Line 1032"/>
            <p:cNvSpPr>
              <a:spLocks noChangeShapeType="1"/>
            </p:cNvSpPr>
            <p:nvPr/>
          </p:nvSpPr>
          <p:spPr bwMode="auto">
            <a:xfrm flipH="1" flipV="1">
              <a:off x="1429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753" name="Line 1033"/>
            <p:cNvSpPr>
              <a:spLocks noChangeShapeType="1"/>
            </p:cNvSpPr>
            <p:nvPr/>
          </p:nvSpPr>
          <p:spPr bwMode="auto">
            <a:xfrm flipH="1">
              <a:off x="1426" y="3584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6628" name="Group 1034"/>
          <p:cNvGrpSpPr>
            <a:grpSpLocks/>
          </p:cNvGrpSpPr>
          <p:nvPr/>
        </p:nvGrpSpPr>
        <p:grpSpPr bwMode="auto">
          <a:xfrm>
            <a:off x="9602788" y="4465639"/>
            <a:ext cx="1027112" cy="733425"/>
            <a:chOff x="252" y="2364"/>
            <a:chExt cx="2258" cy="1608"/>
          </a:xfrm>
        </p:grpSpPr>
        <p:pic>
          <p:nvPicPr>
            <p:cNvPr id="26748" name="Picture 103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" y="2364"/>
              <a:ext cx="900" cy="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749" name="Picture 10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6" y="2412"/>
              <a:ext cx="1154" cy="1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629" name="Line 1037"/>
          <p:cNvSpPr>
            <a:spLocks noChangeShapeType="1"/>
          </p:cNvSpPr>
          <p:nvPr/>
        </p:nvSpPr>
        <p:spPr bwMode="auto">
          <a:xfrm flipH="1" flipV="1">
            <a:off x="10350500" y="4225926"/>
            <a:ext cx="0" cy="1317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6630" name="Line 1038"/>
          <p:cNvSpPr>
            <a:spLocks noChangeShapeType="1"/>
          </p:cNvSpPr>
          <p:nvPr/>
        </p:nvSpPr>
        <p:spPr bwMode="auto">
          <a:xfrm flipH="1" flipV="1">
            <a:off x="9859963" y="4225926"/>
            <a:ext cx="0" cy="1317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6631" name="Line 1039"/>
          <p:cNvSpPr>
            <a:spLocks noChangeShapeType="1"/>
          </p:cNvSpPr>
          <p:nvPr/>
        </p:nvSpPr>
        <p:spPr bwMode="auto">
          <a:xfrm flipH="1">
            <a:off x="9855201" y="4225925"/>
            <a:ext cx="49847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26632" name="Group 1040"/>
          <p:cNvGrpSpPr>
            <a:grpSpLocks/>
          </p:cNvGrpSpPr>
          <p:nvPr/>
        </p:nvGrpSpPr>
        <p:grpSpPr bwMode="auto">
          <a:xfrm>
            <a:off x="8823326" y="4084638"/>
            <a:ext cx="608013" cy="1147762"/>
            <a:chOff x="4598" y="2573"/>
            <a:chExt cx="383" cy="723"/>
          </a:xfrm>
        </p:grpSpPr>
        <p:pic>
          <p:nvPicPr>
            <p:cNvPr id="26742" name="Picture 104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8" y="2956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743" name="Picture 1042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1" y="2712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6744" name="Group 1043"/>
            <p:cNvGrpSpPr>
              <a:grpSpLocks/>
            </p:cNvGrpSpPr>
            <p:nvPr/>
          </p:nvGrpSpPr>
          <p:grpSpPr bwMode="auto">
            <a:xfrm>
              <a:off x="4638" y="2573"/>
              <a:ext cx="315" cy="169"/>
              <a:chOff x="2112" y="2976"/>
              <a:chExt cx="703" cy="377"/>
            </a:xfrm>
          </p:grpSpPr>
          <p:sp>
            <p:nvSpPr>
              <p:cNvPr id="26745" name="Line 1044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746" name="Line 1045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747" name="Line 1046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6633" name="Group 1047"/>
          <p:cNvGrpSpPr>
            <a:grpSpLocks/>
          </p:cNvGrpSpPr>
          <p:nvPr/>
        </p:nvGrpSpPr>
        <p:grpSpPr bwMode="auto">
          <a:xfrm>
            <a:off x="8813801" y="2295526"/>
            <a:ext cx="1806575" cy="1331913"/>
            <a:chOff x="746" y="1753"/>
            <a:chExt cx="1138" cy="839"/>
          </a:xfrm>
        </p:grpSpPr>
        <p:pic>
          <p:nvPicPr>
            <p:cNvPr id="26727" name="Picture 104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" y="2252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728" name="Picture 1049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9" y="200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6729" name="Group 1050"/>
            <p:cNvGrpSpPr>
              <a:grpSpLocks/>
            </p:cNvGrpSpPr>
            <p:nvPr/>
          </p:nvGrpSpPr>
          <p:grpSpPr bwMode="auto">
            <a:xfrm>
              <a:off x="1237" y="2109"/>
              <a:ext cx="647" cy="462"/>
              <a:chOff x="252" y="2364"/>
              <a:chExt cx="2258" cy="1608"/>
            </a:xfrm>
          </p:grpSpPr>
          <p:pic>
            <p:nvPicPr>
              <p:cNvPr id="26740" name="Picture 1051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741" name="Picture 105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6730" name="Line 1053"/>
            <p:cNvSpPr>
              <a:spLocks noChangeShapeType="1"/>
            </p:cNvSpPr>
            <p:nvPr/>
          </p:nvSpPr>
          <p:spPr bwMode="auto">
            <a:xfrm flipH="1" flipV="1">
              <a:off x="1708" y="1958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731" name="Line 1054"/>
            <p:cNvSpPr>
              <a:spLocks noChangeShapeType="1"/>
            </p:cNvSpPr>
            <p:nvPr/>
          </p:nvSpPr>
          <p:spPr bwMode="auto">
            <a:xfrm flipH="1" flipV="1">
              <a:off x="1399" y="1958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732" name="Line 1055"/>
            <p:cNvSpPr>
              <a:spLocks noChangeShapeType="1"/>
            </p:cNvSpPr>
            <p:nvPr/>
          </p:nvSpPr>
          <p:spPr bwMode="auto">
            <a:xfrm flipH="1">
              <a:off x="1396" y="1958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733" name="Line 1056"/>
            <p:cNvSpPr>
              <a:spLocks noChangeShapeType="1"/>
            </p:cNvSpPr>
            <p:nvPr/>
          </p:nvSpPr>
          <p:spPr bwMode="auto">
            <a:xfrm flipH="1">
              <a:off x="936" y="1753"/>
              <a:ext cx="61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734" name="Line 1057"/>
            <p:cNvSpPr>
              <a:spLocks noChangeShapeType="1"/>
            </p:cNvSpPr>
            <p:nvPr/>
          </p:nvSpPr>
          <p:spPr bwMode="auto">
            <a:xfrm rot="5400000" flipH="1">
              <a:off x="1450" y="1858"/>
              <a:ext cx="20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26735" name="Group 1058"/>
            <p:cNvGrpSpPr>
              <a:grpSpLocks/>
            </p:cNvGrpSpPr>
            <p:nvPr/>
          </p:nvGrpSpPr>
          <p:grpSpPr bwMode="auto">
            <a:xfrm>
              <a:off x="786" y="1869"/>
              <a:ext cx="315" cy="169"/>
              <a:chOff x="2112" y="2976"/>
              <a:chExt cx="703" cy="377"/>
            </a:xfrm>
          </p:grpSpPr>
          <p:sp>
            <p:nvSpPr>
              <p:cNvPr id="26737" name="Line 1059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738" name="Line 1060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739" name="Line 1061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26736" name="Line 1062"/>
            <p:cNvSpPr>
              <a:spLocks noChangeShapeType="1"/>
            </p:cNvSpPr>
            <p:nvPr/>
          </p:nvSpPr>
          <p:spPr bwMode="auto">
            <a:xfrm rot="5400000" flipH="1">
              <a:off x="878" y="1814"/>
              <a:ext cx="11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6634" name="Group 1063"/>
          <p:cNvGrpSpPr>
            <a:grpSpLocks/>
          </p:cNvGrpSpPr>
          <p:nvPr/>
        </p:nvGrpSpPr>
        <p:grpSpPr bwMode="auto">
          <a:xfrm>
            <a:off x="3706813" y="5770564"/>
            <a:ext cx="1027112" cy="973137"/>
            <a:chOff x="1165" y="3566"/>
            <a:chExt cx="647" cy="613"/>
          </a:xfrm>
        </p:grpSpPr>
        <p:grpSp>
          <p:nvGrpSpPr>
            <p:cNvPr id="26720" name="Group 1064"/>
            <p:cNvGrpSpPr>
              <a:grpSpLocks/>
            </p:cNvGrpSpPr>
            <p:nvPr/>
          </p:nvGrpSpPr>
          <p:grpSpPr bwMode="auto">
            <a:xfrm>
              <a:off x="1165" y="3717"/>
              <a:ext cx="647" cy="462"/>
              <a:chOff x="252" y="2364"/>
              <a:chExt cx="2258" cy="1608"/>
            </a:xfrm>
          </p:grpSpPr>
          <p:pic>
            <p:nvPicPr>
              <p:cNvPr id="26725" name="Picture 1065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726" name="Picture 1066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6721" name="Group 1067"/>
            <p:cNvGrpSpPr>
              <a:grpSpLocks/>
            </p:cNvGrpSpPr>
            <p:nvPr/>
          </p:nvGrpSpPr>
          <p:grpSpPr bwMode="auto">
            <a:xfrm>
              <a:off x="1324" y="3566"/>
              <a:ext cx="314" cy="83"/>
              <a:chOff x="1324" y="3566"/>
              <a:chExt cx="314" cy="83"/>
            </a:xfrm>
          </p:grpSpPr>
          <p:sp>
            <p:nvSpPr>
              <p:cNvPr id="26722" name="Line 1068"/>
              <p:cNvSpPr>
                <a:spLocks noChangeShapeType="1"/>
              </p:cNvSpPr>
              <p:nvPr/>
            </p:nvSpPr>
            <p:spPr bwMode="auto">
              <a:xfrm flipH="1" flipV="1">
                <a:off x="1636" y="3566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723" name="Line 1069"/>
              <p:cNvSpPr>
                <a:spLocks noChangeShapeType="1"/>
              </p:cNvSpPr>
              <p:nvPr/>
            </p:nvSpPr>
            <p:spPr bwMode="auto">
              <a:xfrm flipH="1" flipV="1">
                <a:off x="1327" y="3566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724" name="Line 1070"/>
              <p:cNvSpPr>
                <a:spLocks noChangeShapeType="1"/>
              </p:cNvSpPr>
              <p:nvPr/>
            </p:nvSpPr>
            <p:spPr bwMode="auto">
              <a:xfrm flipH="1">
                <a:off x="1324" y="3566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pic>
        <p:nvPicPr>
          <p:cNvPr id="26635" name="Picture 107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726" y="4603750"/>
            <a:ext cx="21907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6" name="Line 1072"/>
          <p:cNvSpPr>
            <a:spLocks noChangeShapeType="1"/>
          </p:cNvSpPr>
          <p:nvPr/>
        </p:nvSpPr>
        <p:spPr bwMode="auto">
          <a:xfrm flipH="1" flipV="1">
            <a:off x="3371850" y="4108450"/>
            <a:ext cx="0" cy="2794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6637" name="Line 1073"/>
          <p:cNvSpPr>
            <a:spLocks noChangeShapeType="1"/>
          </p:cNvSpPr>
          <p:nvPr/>
        </p:nvSpPr>
        <p:spPr bwMode="auto">
          <a:xfrm flipH="1">
            <a:off x="3360739" y="4100513"/>
            <a:ext cx="75247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6638" name="Line 1074"/>
          <p:cNvSpPr>
            <a:spLocks noChangeShapeType="1"/>
          </p:cNvSpPr>
          <p:nvPr/>
        </p:nvSpPr>
        <p:spPr bwMode="auto">
          <a:xfrm rot="5400000" flipH="1">
            <a:off x="4065588" y="4132263"/>
            <a:ext cx="9842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26639" name="Group 1075"/>
          <p:cNvGrpSpPr>
            <a:grpSpLocks/>
          </p:cNvGrpSpPr>
          <p:nvPr/>
        </p:nvGrpSpPr>
        <p:grpSpPr bwMode="auto">
          <a:xfrm>
            <a:off x="4818063" y="5527676"/>
            <a:ext cx="760412" cy="1216025"/>
            <a:chOff x="2072" y="3380"/>
            <a:chExt cx="479" cy="802"/>
          </a:xfrm>
        </p:grpSpPr>
        <p:pic>
          <p:nvPicPr>
            <p:cNvPr id="26714" name="Picture 1076" descr="Edna Krabappel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2" y="3670"/>
              <a:ext cx="22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715" name="Picture 1077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1" y="359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6716" name="Group 1078"/>
            <p:cNvGrpSpPr>
              <a:grpSpLocks/>
            </p:cNvGrpSpPr>
            <p:nvPr/>
          </p:nvGrpSpPr>
          <p:grpSpPr bwMode="auto">
            <a:xfrm>
              <a:off x="2170" y="3380"/>
              <a:ext cx="314" cy="185"/>
              <a:chOff x="2170" y="3380"/>
              <a:chExt cx="314" cy="185"/>
            </a:xfrm>
          </p:grpSpPr>
          <p:sp>
            <p:nvSpPr>
              <p:cNvPr id="26717" name="Line 1079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718" name="Line 1080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719" name="Line 1081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6640" name="Group 1082"/>
          <p:cNvGrpSpPr>
            <a:grpSpLocks/>
          </p:cNvGrpSpPr>
          <p:nvPr/>
        </p:nvGrpSpPr>
        <p:grpSpPr bwMode="auto">
          <a:xfrm>
            <a:off x="2817814" y="5491164"/>
            <a:ext cx="776287" cy="1252537"/>
            <a:chOff x="2663" y="3356"/>
            <a:chExt cx="489" cy="789"/>
          </a:xfrm>
        </p:grpSpPr>
        <p:pic>
          <p:nvPicPr>
            <p:cNvPr id="26708" name="Picture 108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4" y="3800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709" name="Picture 108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3" y="3707"/>
              <a:ext cx="331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6710" name="Group 1085"/>
            <p:cNvGrpSpPr>
              <a:grpSpLocks/>
            </p:cNvGrpSpPr>
            <p:nvPr/>
          </p:nvGrpSpPr>
          <p:grpSpPr bwMode="auto">
            <a:xfrm>
              <a:off x="2758" y="3356"/>
              <a:ext cx="314" cy="209"/>
              <a:chOff x="2170" y="3380"/>
              <a:chExt cx="314" cy="185"/>
            </a:xfrm>
          </p:grpSpPr>
          <p:sp>
            <p:nvSpPr>
              <p:cNvPr id="26711" name="Line 1086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712" name="Line 1087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713" name="Line 1088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6641" name="Group 1089"/>
          <p:cNvGrpSpPr>
            <a:grpSpLocks/>
          </p:cNvGrpSpPr>
          <p:nvPr/>
        </p:nvGrpSpPr>
        <p:grpSpPr bwMode="auto">
          <a:xfrm>
            <a:off x="6110289" y="5518150"/>
            <a:ext cx="815975" cy="1206500"/>
            <a:chOff x="2889" y="3476"/>
            <a:chExt cx="514" cy="760"/>
          </a:xfrm>
        </p:grpSpPr>
        <p:pic>
          <p:nvPicPr>
            <p:cNvPr id="26702" name="Picture 1090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9" y="3691"/>
              <a:ext cx="190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703" name="Picture 109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5" y="3751"/>
              <a:ext cx="25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6704" name="Group 1092"/>
            <p:cNvGrpSpPr>
              <a:grpSpLocks/>
            </p:cNvGrpSpPr>
            <p:nvPr/>
          </p:nvGrpSpPr>
          <p:grpSpPr bwMode="auto">
            <a:xfrm>
              <a:off x="3010" y="3476"/>
              <a:ext cx="314" cy="195"/>
              <a:chOff x="2170" y="3380"/>
              <a:chExt cx="314" cy="185"/>
            </a:xfrm>
          </p:grpSpPr>
          <p:sp>
            <p:nvSpPr>
              <p:cNvPr id="26705" name="Line 1093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706" name="Line 1094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707" name="Line 1095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6642" name="Text Box 1096"/>
          <p:cNvSpPr txBox="1">
            <a:spLocks noChangeArrowheads="1"/>
          </p:cNvSpPr>
          <p:nvPr/>
        </p:nvSpPr>
        <p:spPr bwMode="auto">
          <a:xfrm>
            <a:off x="5641975" y="59467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b="1">
                <a:solidFill>
                  <a:prstClr val="black"/>
                </a:solidFill>
              </a:rPr>
              <a:t>…</a:t>
            </a:r>
          </a:p>
        </p:txBody>
      </p:sp>
      <p:sp>
        <p:nvSpPr>
          <p:cNvPr id="26643" name="Text Box 1097"/>
          <p:cNvSpPr txBox="1">
            <a:spLocks noChangeArrowheads="1"/>
          </p:cNvSpPr>
          <p:nvPr/>
        </p:nvSpPr>
        <p:spPr bwMode="auto">
          <a:xfrm>
            <a:off x="1524001" y="5661025"/>
            <a:ext cx="14906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Consider all possible merges…</a:t>
            </a:r>
          </a:p>
        </p:txBody>
      </p:sp>
      <p:sp>
        <p:nvSpPr>
          <p:cNvPr id="26644" name="Text Box 1098"/>
          <p:cNvSpPr txBox="1">
            <a:spLocks noChangeArrowheads="1"/>
          </p:cNvSpPr>
          <p:nvPr/>
        </p:nvSpPr>
        <p:spPr bwMode="auto">
          <a:xfrm>
            <a:off x="7210426" y="5699125"/>
            <a:ext cx="1109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Choose the best</a:t>
            </a:r>
          </a:p>
        </p:txBody>
      </p:sp>
      <p:sp>
        <p:nvSpPr>
          <p:cNvPr id="26645" name="Rectangle 1099"/>
          <p:cNvSpPr>
            <a:spLocks noChangeArrowheads="1"/>
          </p:cNvSpPr>
          <p:nvPr/>
        </p:nvSpPr>
        <p:spPr bwMode="auto">
          <a:xfrm>
            <a:off x="1524000" y="5257801"/>
            <a:ext cx="9144000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6646" name="Rectangle 1100"/>
          <p:cNvSpPr>
            <a:spLocks noChangeArrowheads="1"/>
          </p:cNvSpPr>
          <p:nvPr/>
        </p:nvSpPr>
        <p:spPr bwMode="auto">
          <a:xfrm>
            <a:off x="1524000" y="3790951"/>
            <a:ext cx="9144000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6647" name="Rectangle 1101"/>
          <p:cNvSpPr>
            <a:spLocks noChangeArrowheads="1"/>
          </p:cNvSpPr>
          <p:nvPr/>
        </p:nvSpPr>
        <p:spPr bwMode="auto">
          <a:xfrm>
            <a:off x="1524000" y="2000251"/>
            <a:ext cx="9144000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6648" name="Text Box 1102"/>
          <p:cNvSpPr txBox="1">
            <a:spLocks noChangeArrowheads="1"/>
          </p:cNvSpPr>
          <p:nvPr/>
        </p:nvSpPr>
        <p:spPr bwMode="auto">
          <a:xfrm>
            <a:off x="1524001" y="4089400"/>
            <a:ext cx="14906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Consider all possible merges…</a:t>
            </a:r>
          </a:p>
        </p:txBody>
      </p:sp>
      <p:grpSp>
        <p:nvGrpSpPr>
          <p:cNvPr id="26649" name="Group 1103"/>
          <p:cNvGrpSpPr>
            <a:grpSpLocks/>
          </p:cNvGrpSpPr>
          <p:nvPr/>
        </p:nvGrpSpPr>
        <p:grpSpPr bwMode="auto">
          <a:xfrm>
            <a:off x="3640138" y="4184650"/>
            <a:ext cx="1027112" cy="973138"/>
            <a:chOff x="1267" y="3584"/>
            <a:chExt cx="647" cy="613"/>
          </a:xfrm>
        </p:grpSpPr>
        <p:grpSp>
          <p:nvGrpSpPr>
            <p:cNvPr id="26696" name="Group 1104"/>
            <p:cNvGrpSpPr>
              <a:grpSpLocks/>
            </p:cNvGrpSpPr>
            <p:nvPr/>
          </p:nvGrpSpPr>
          <p:grpSpPr bwMode="auto">
            <a:xfrm>
              <a:off x="1267" y="3735"/>
              <a:ext cx="647" cy="462"/>
              <a:chOff x="252" y="2364"/>
              <a:chExt cx="2258" cy="1608"/>
            </a:xfrm>
          </p:grpSpPr>
          <p:pic>
            <p:nvPicPr>
              <p:cNvPr id="26700" name="Picture 1105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701" name="Picture 1106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6697" name="Line 1107"/>
            <p:cNvSpPr>
              <a:spLocks noChangeShapeType="1"/>
            </p:cNvSpPr>
            <p:nvPr/>
          </p:nvSpPr>
          <p:spPr bwMode="auto">
            <a:xfrm flipH="1" flipV="1">
              <a:off x="1738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698" name="Line 1108"/>
            <p:cNvSpPr>
              <a:spLocks noChangeShapeType="1"/>
            </p:cNvSpPr>
            <p:nvPr/>
          </p:nvSpPr>
          <p:spPr bwMode="auto">
            <a:xfrm flipH="1" flipV="1">
              <a:off x="1429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699" name="Line 1109"/>
            <p:cNvSpPr>
              <a:spLocks noChangeShapeType="1"/>
            </p:cNvSpPr>
            <p:nvPr/>
          </p:nvSpPr>
          <p:spPr bwMode="auto">
            <a:xfrm flipH="1">
              <a:off x="1426" y="3584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pic>
        <p:nvPicPr>
          <p:cNvPr id="26650" name="Picture 11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401" y="4606925"/>
            <a:ext cx="21907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51" name="Picture 1111" descr="C:\Documents and Settings\eamonn\Desktop\bios_family_marge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789" y="4219575"/>
            <a:ext cx="301625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6652" name="Group 1112"/>
          <p:cNvGrpSpPr>
            <a:grpSpLocks/>
          </p:cNvGrpSpPr>
          <p:nvPr/>
        </p:nvGrpSpPr>
        <p:grpSpPr bwMode="auto">
          <a:xfrm>
            <a:off x="4914901" y="3998914"/>
            <a:ext cx="500063" cy="268287"/>
            <a:chOff x="2112" y="2976"/>
            <a:chExt cx="703" cy="377"/>
          </a:xfrm>
        </p:grpSpPr>
        <p:sp>
          <p:nvSpPr>
            <p:cNvPr id="26693" name="Line 1113"/>
            <p:cNvSpPr>
              <a:spLocks noChangeShapeType="1"/>
            </p:cNvSpPr>
            <p:nvPr/>
          </p:nvSpPr>
          <p:spPr bwMode="auto">
            <a:xfrm flipH="1" flipV="1">
              <a:off x="2810" y="2976"/>
              <a:ext cx="0" cy="37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694" name="Line 1114"/>
            <p:cNvSpPr>
              <a:spLocks noChangeShapeType="1"/>
            </p:cNvSpPr>
            <p:nvPr/>
          </p:nvSpPr>
          <p:spPr bwMode="auto">
            <a:xfrm flipH="1" flipV="1">
              <a:off x="2118" y="2976"/>
              <a:ext cx="0" cy="37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695" name="Line 1115"/>
            <p:cNvSpPr>
              <a:spLocks noChangeShapeType="1"/>
            </p:cNvSpPr>
            <p:nvPr/>
          </p:nvSpPr>
          <p:spPr bwMode="auto">
            <a:xfrm flipH="1">
              <a:off x="2112" y="2976"/>
              <a:ext cx="70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6653" name="Group 1116"/>
          <p:cNvGrpSpPr>
            <a:grpSpLocks/>
          </p:cNvGrpSpPr>
          <p:nvPr/>
        </p:nvGrpSpPr>
        <p:grpSpPr bwMode="auto">
          <a:xfrm>
            <a:off x="6132513" y="3994151"/>
            <a:ext cx="760412" cy="1216025"/>
            <a:chOff x="2072" y="3380"/>
            <a:chExt cx="479" cy="802"/>
          </a:xfrm>
        </p:grpSpPr>
        <p:pic>
          <p:nvPicPr>
            <p:cNvPr id="26687" name="Picture 1117" descr="Edna Krabappel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2" y="3670"/>
              <a:ext cx="22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88" name="Picture 1118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1" y="359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6689" name="Group 1119"/>
            <p:cNvGrpSpPr>
              <a:grpSpLocks/>
            </p:cNvGrpSpPr>
            <p:nvPr/>
          </p:nvGrpSpPr>
          <p:grpSpPr bwMode="auto">
            <a:xfrm>
              <a:off x="2170" y="3380"/>
              <a:ext cx="314" cy="185"/>
              <a:chOff x="2170" y="3380"/>
              <a:chExt cx="314" cy="185"/>
            </a:xfrm>
          </p:grpSpPr>
          <p:sp>
            <p:nvSpPr>
              <p:cNvPr id="26690" name="Line 1120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691" name="Line 1121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692" name="Line 1122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6654" name="Text Box 1123"/>
          <p:cNvSpPr txBox="1">
            <a:spLocks noChangeArrowheads="1"/>
          </p:cNvSpPr>
          <p:nvPr/>
        </p:nvSpPr>
        <p:spPr bwMode="auto">
          <a:xfrm>
            <a:off x="5575300" y="45180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b="1">
                <a:solidFill>
                  <a:prstClr val="black"/>
                </a:solidFill>
              </a:rPr>
              <a:t>…</a:t>
            </a:r>
          </a:p>
        </p:txBody>
      </p:sp>
      <p:sp>
        <p:nvSpPr>
          <p:cNvPr id="26655" name="Text Box 1124"/>
          <p:cNvSpPr txBox="1">
            <a:spLocks noChangeArrowheads="1"/>
          </p:cNvSpPr>
          <p:nvPr/>
        </p:nvSpPr>
        <p:spPr bwMode="auto">
          <a:xfrm>
            <a:off x="7210426" y="4213225"/>
            <a:ext cx="1109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Choose the best</a:t>
            </a:r>
          </a:p>
        </p:txBody>
      </p:sp>
      <p:sp>
        <p:nvSpPr>
          <p:cNvPr id="26656" name="Text Box 1125"/>
          <p:cNvSpPr txBox="1">
            <a:spLocks noChangeArrowheads="1"/>
          </p:cNvSpPr>
          <p:nvPr/>
        </p:nvSpPr>
        <p:spPr bwMode="auto">
          <a:xfrm>
            <a:off x="1524001" y="2546350"/>
            <a:ext cx="14906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Consider all possible merges…</a:t>
            </a:r>
          </a:p>
        </p:txBody>
      </p:sp>
      <p:grpSp>
        <p:nvGrpSpPr>
          <p:cNvPr id="26657" name="Group 1126"/>
          <p:cNvGrpSpPr>
            <a:grpSpLocks/>
          </p:cNvGrpSpPr>
          <p:nvPr/>
        </p:nvGrpSpPr>
        <p:grpSpPr bwMode="auto">
          <a:xfrm>
            <a:off x="3289301" y="2400301"/>
            <a:ext cx="1806575" cy="1331913"/>
            <a:chOff x="746" y="1753"/>
            <a:chExt cx="1138" cy="839"/>
          </a:xfrm>
        </p:grpSpPr>
        <p:pic>
          <p:nvPicPr>
            <p:cNvPr id="26672" name="Picture 112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" y="2252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673" name="Picture 1128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9" y="200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6674" name="Group 1129"/>
            <p:cNvGrpSpPr>
              <a:grpSpLocks/>
            </p:cNvGrpSpPr>
            <p:nvPr/>
          </p:nvGrpSpPr>
          <p:grpSpPr bwMode="auto">
            <a:xfrm>
              <a:off x="1237" y="2109"/>
              <a:ext cx="647" cy="462"/>
              <a:chOff x="252" y="2364"/>
              <a:chExt cx="2258" cy="1608"/>
            </a:xfrm>
          </p:grpSpPr>
          <p:pic>
            <p:nvPicPr>
              <p:cNvPr id="26685" name="Picture 1130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686" name="Picture 1131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6675" name="Line 1132"/>
            <p:cNvSpPr>
              <a:spLocks noChangeShapeType="1"/>
            </p:cNvSpPr>
            <p:nvPr/>
          </p:nvSpPr>
          <p:spPr bwMode="auto">
            <a:xfrm flipH="1" flipV="1">
              <a:off x="1708" y="1958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676" name="Line 1133"/>
            <p:cNvSpPr>
              <a:spLocks noChangeShapeType="1"/>
            </p:cNvSpPr>
            <p:nvPr/>
          </p:nvSpPr>
          <p:spPr bwMode="auto">
            <a:xfrm flipH="1" flipV="1">
              <a:off x="1399" y="1958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677" name="Line 1134"/>
            <p:cNvSpPr>
              <a:spLocks noChangeShapeType="1"/>
            </p:cNvSpPr>
            <p:nvPr/>
          </p:nvSpPr>
          <p:spPr bwMode="auto">
            <a:xfrm flipH="1">
              <a:off x="1396" y="1958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678" name="Line 1135"/>
            <p:cNvSpPr>
              <a:spLocks noChangeShapeType="1"/>
            </p:cNvSpPr>
            <p:nvPr/>
          </p:nvSpPr>
          <p:spPr bwMode="auto">
            <a:xfrm flipH="1">
              <a:off x="936" y="1753"/>
              <a:ext cx="61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679" name="Line 1136"/>
            <p:cNvSpPr>
              <a:spLocks noChangeShapeType="1"/>
            </p:cNvSpPr>
            <p:nvPr/>
          </p:nvSpPr>
          <p:spPr bwMode="auto">
            <a:xfrm rot="5400000" flipH="1">
              <a:off x="1450" y="1858"/>
              <a:ext cx="20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26680" name="Group 1137"/>
            <p:cNvGrpSpPr>
              <a:grpSpLocks/>
            </p:cNvGrpSpPr>
            <p:nvPr/>
          </p:nvGrpSpPr>
          <p:grpSpPr bwMode="auto">
            <a:xfrm>
              <a:off x="786" y="1869"/>
              <a:ext cx="315" cy="169"/>
              <a:chOff x="2112" y="2976"/>
              <a:chExt cx="703" cy="377"/>
            </a:xfrm>
          </p:grpSpPr>
          <p:sp>
            <p:nvSpPr>
              <p:cNvPr id="26682" name="Line 1138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683" name="Line 1139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684" name="Line 1140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26681" name="Line 1141"/>
            <p:cNvSpPr>
              <a:spLocks noChangeShapeType="1"/>
            </p:cNvSpPr>
            <p:nvPr/>
          </p:nvSpPr>
          <p:spPr bwMode="auto">
            <a:xfrm rot="5400000" flipH="1">
              <a:off x="878" y="1814"/>
              <a:ext cx="11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6658" name="Group 1142"/>
          <p:cNvGrpSpPr>
            <a:grpSpLocks/>
          </p:cNvGrpSpPr>
          <p:nvPr/>
        </p:nvGrpSpPr>
        <p:grpSpPr bwMode="auto">
          <a:xfrm>
            <a:off x="5708650" y="2511426"/>
            <a:ext cx="1416050" cy="1127125"/>
            <a:chOff x="2342" y="1528"/>
            <a:chExt cx="892" cy="710"/>
          </a:xfrm>
        </p:grpSpPr>
        <p:sp>
          <p:nvSpPr>
            <p:cNvPr id="26661" name="Line 1143"/>
            <p:cNvSpPr>
              <a:spLocks noChangeShapeType="1"/>
            </p:cNvSpPr>
            <p:nvPr/>
          </p:nvSpPr>
          <p:spPr bwMode="auto">
            <a:xfrm flipH="1" flipV="1">
              <a:off x="2418" y="1544"/>
              <a:ext cx="0" cy="17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662" name="Line 1144"/>
            <p:cNvSpPr>
              <a:spLocks noChangeShapeType="1"/>
            </p:cNvSpPr>
            <p:nvPr/>
          </p:nvSpPr>
          <p:spPr bwMode="auto">
            <a:xfrm flipH="1">
              <a:off x="2411" y="1539"/>
              <a:ext cx="47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663" name="Line 1145"/>
            <p:cNvSpPr>
              <a:spLocks noChangeShapeType="1"/>
            </p:cNvSpPr>
            <p:nvPr/>
          </p:nvSpPr>
          <p:spPr bwMode="auto">
            <a:xfrm rot="5400000" flipH="1">
              <a:off x="2855" y="1559"/>
              <a:ext cx="6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26664" name="Group 1146"/>
            <p:cNvGrpSpPr>
              <a:grpSpLocks/>
            </p:cNvGrpSpPr>
            <p:nvPr/>
          </p:nvGrpSpPr>
          <p:grpSpPr bwMode="auto">
            <a:xfrm>
              <a:off x="2587" y="1592"/>
              <a:ext cx="647" cy="613"/>
              <a:chOff x="1267" y="3584"/>
              <a:chExt cx="647" cy="613"/>
            </a:xfrm>
          </p:grpSpPr>
          <p:grpSp>
            <p:nvGrpSpPr>
              <p:cNvPr id="26666" name="Group 1147"/>
              <p:cNvGrpSpPr>
                <a:grpSpLocks/>
              </p:cNvGrpSpPr>
              <p:nvPr/>
            </p:nvGrpSpPr>
            <p:grpSpPr bwMode="auto">
              <a:xfrm>
                <a:off x="1267" y="3735"/>
                <a:ext cx="647" cy="462"/>
                <a:chOff x="252" y="2364"/>
                <a:chExt cx="2258" cy="1608"/>
              </a:xfrm>
            </p:grpSpPr>
            <p:pic>
              <p:nvPicPr>
                <p:cNvPr id="26670" name="Picture 1148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2" y="2364"/>
                  <a:ext cx="900" cy="16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671" name="Picture 1149"/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56" y="2412"/>
                  <a:ext cx="1154" cy="15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26667" name="Line 1150"/>
              <p:cNvSpPr>
                <a:spLocks noChangeShapeType="1"/>
              </p:cNvSpPr>
              <p:nvPr/>
            </p:nvSpPr>
            <p:spPr bwMode="auto">
              <a:xfrm flipH="1" flipV="1">
                <a:off x="1738" y="3584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668" name="Line 1151"/>
              <p:cNvSpPr>
                <a:spLocks noChangeShapeType="1"/>
              </p:cNvSpPr>
              <p:nvPr/>
            </p:nvSpPr>
            <p:spPr bwMode="auto">
              <a:xfrm flipH="1" flipV="1">
                <a:off x="1429" y="3584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669" name="Line 1152"/>
              <p:cNvSpPr>
                <a:spLocks noChangeShapeType="1"/>
              </p:cNvSpPr>
              <p:nvPr/>
            </p:nvSpPr>
            <p:spPr bwMode="auto">
              <a:xfrm flipH="1">
                <a:off x="1426" y="3584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pic>
          <p:nvPicPr>
            <p:cNvPr id="26665" name="Picture 1153" descr="Edna Krabappel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2" y="1750"/>
              <a:ext cx="22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659" name="Text Box 1154"/>
          <p:cNvSpPr txBox="1">
            <a:spLocks noChangeArrowheads="1"/>
          </p:cNvSpPr>
          <p:nvPr/>
        </p:nvSpPr>
        <p:spPr bwMode="auto">
          <a:xfrm>
            <a:off x="7210426" y="2689225"/>
            <a:ext cx="1109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Choose the best</a:t>
            </a:r>
          </a:p>
        </p:txBody>
      </p:sp>
      <p:sp>
        <p:nvSpPr>
          <p:cNvPr id="26660" name="Text Box 1155"/>
          <p:cNvSpPr txBox="1">
            <a:spLocks noChangeArrowheads="1"/>
          </p:cNvSpPr>
          <p:nvPr/>
        </p:nvSpPr>
        <p:spPr bwMode="auto">
          <a:xfrm>
            <a:off x="5156200" y="29559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b="1">
                <a:solidFill>
                  <a:prstClr val="black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678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/>
          <p:cNvGrpSpPr>
            <a:grpSpLocks/>
          </p:cNvGrpSpPr>
          <p:nvPr/>
        </p:nvGrpSpPr>
        <p:grpSpPr bwMode="auto">
          <a:xfrm>
            <a:off x="8194676" y="215901"/>
            <a:ext cx="2282825" cy="1622425"/>
            <a:chOff x="98" y="300"/>
            <a:chExt cx="3214" cy="2284"/>
          </a:xfrm>
        </p:grpSpPr>
        <p:pic>
          <p:nvPicPr>
            <p:cNvPr id="27781" name="Picture 3" descr="Edna Krabappel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" y="1440"/>
              <a:ext cx="504" cy="1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82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1824"/>
              <a:ext cx="308" cy="6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83" name="Picture 5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78"/>
              <a:ext cx="424" cy="1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7784" name="Group 6"/>
            <p:cNvGrpSpPr>
              <a:grpSpLocks/>
            </p:cNvGrpSpPr>
            <p:nvPr/>
          </p:nvGrpSpPr>
          <p:grpSpPr bwMode="auto">
            <a:xfrm>
              <a:off x="1865" y="1505"/>
              <a:ext cx="1447" cy="1031"/>
              <a:chOff x="252" y="2364"/>
              <a:chExt cx="2258" cy="1608"/>
            </a:xfrm>
          </p:grpSpPr>
          <p:pic>
            <p:nvPicPr>
              <p:cNvPr id="27799" name="Picture 7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800" name="Picture 8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7785" name="Line 9"/>
            <p:cNvSpPr>
              <a:spLocks noChangeShapeType="1"/>
            </p:cNvSpPr>
            <p:nvPr/>
          </p:nvSpPr>
          <p:spPr bwMode="auto">
            <a:xfrm flipH="1" flipV="1">
              <a:off x="255" y="444"/>
              <a:ext cx="0" cy="90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86" name="Line 10"/>
            <p:cNvSpPr>
              <a:spLocks noChangeShapeType="1"/>
            </p:cNvSpPr>
            <p:nvPr/>
          </p:nvSpPr>
          <p:spPr bwMode="auto">
            <a:xfrm flipH="1" flipV="1">
              <a:off x="2919" y="1167"/>
              <a:ext cx="0" cy="185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87" name="Line 11"/>
            <p:cNvSpPr>
              <a:spLocks noChangeShapeType="1"/>
            </p:cNvSpPr>
            <p:nvPr/>
          </p:nvSpPr>
          <p:spPr bwMode="auto">
            <a:xfrm flipH="1" flipV="1">
              <a:off x="2227" y="1167"/>
              <a:ext cx="0" cy="185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88" name="Line 12"/>
            <p:cNvSpPr>
              <a:spLocks noChangeShapeType="1"/>
            </p:cNvSpPr>
            <p:nvPr/>
          </p:nvSpPr>
          <p:spPr bwMode="auto">
            <a:xfrm flipH="1">
              <a:off x="2221" y="1167"/>
              <a:ext cx="70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89" name="Line 13"/>
            <p:cNvSpPr>
              <a:spLocks noChangeShapeType="1"/>
            </p:cNvSpPr>
            <p:nvPr/>
          </p:nvSpPr>
          <p:spPr bwMode="auto">
            <a:xfrm flipH="1">
              <a:off x="1193" y="710"/>
              <a:ext cx="1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90" name="Line 14"/>
            <p:cNvSpPr>
              <a:spLocks noChangeShapeType="1"/>
            </p:cNvSpPr>
            <p:nvPr/>
          </p:nvSpPr>
          <p:spPr bwMode="auto">
            <a:xfrm rot="5400000" flipH="1">
              <a:off x="2343" y="943"/>
              <a:ext cx="457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91" name="Line 15"/>
            <p:cNvSpPr>
              <a:spLocks noChangeShapeType="1"/>
            </p:cNvSpPr>
            <p:nvPr/>
          </p:nvSpPr>
          <p:spPr bwMode="auto">
            <a:xfrm rot="5400000" flipH="1">
              <a:off x="1712" y="574"/>
              <a:ext cx="26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27792" name="Group 16"/>
            <p:cNvGrpSpPr>
              <a:grpSpLocks/>
            </p:cNvGrpSpPr>
            <p:nvPr/>
          </p:nvGrpSpPr>
          <p:grpSpPr bwMode="auto">
            <a:xfrm>
              <a:off x="859" y="969"/>
              <a:ext cx="703" cy="377"/>
              <a:chOff x="2112" y="2976"/>
              <a:chExt cx="703" cy="377"/>
            </a:xfrm>
          </p:grpSpPr>
          <p:sp>
            <p:nvSpPr>
              <p:cNvPr id="27796" name="Line 17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797" name="Line 18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798" name="Line 19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27793" name="Line 20"/>
            <p:cNvSpPr>
              <a:spLocks noChangeShapeType="1"/>
            </p:cNvSpPr>
            <p:nvPr/>
          </p:nvSpPr>
          <p:spPr bwMode="auto">
            <a:xfrm rot="5400000" flipH="1">
              <a:off x="1065" y="844"/>
              <a:ext cx="25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94" name="Line 21"/>
            <p:cNvSpPr>
              <a:spLocks noChangeShapeType="1"/>
            </p:cNvSpPr>
            <p:nvPr/>
          </p:nvSpPr>
          <p:spPr bwMode="auto">
            <a:xfrm flipH="1">
              <a:off x="253" y="446"/>
              <a:ext cx="158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95" name="Line 22"/>
            <p:cNvSpPr>
              <a:spLocks noChangeShapeType="1"/>
            </p:cNvSpPr>
            <p:nvPr/>
          </p:nvSpPr>
          <p:spPr bwMode="auto">
            <a:xfrm rot="5400000" flipH="1">
              <a:off x="989" y="370"/>
              <a:ext cx="13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18135" name="Text Box 23"/>
          <p:cNvSpPr txBox="1">
            <a:spLocks noChangeArrowheads="1"/>
          </p:cNvSpPr>
          <p:nvPr/>
        </p:nvSpPr>
        <p:spPr bwMode="auto">
          <a:xfrm>
            <a:off x="1657350" y="133350"/>
            <a:ext cx="4241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b="1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ＭＳ Ｐゴシック" pitchFamily="-111" charset="-128"/>
                <a:cs typeface="ＭＳ Ｐゴシック" pitchFamily="-111" charset="-128"/>
              </a:rPr>
              <a:t>Bottom-Up (</a:t>
            </a:r>
            <a:r>
              <a:rPr kumimoji="1" lang="en-US" altLang="zh-CN" b="1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cs typeface="SimSun" pitchFamily="2" charset="-122"/>
              </a:rPr>
              <a:t>agglomerative</a:t>
            </a:r>
            <a:r>
              <a:rPr kumimoji="1" lang="en-US" b="1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ＭＳ Ｐゴシック" pitchFamily="-111" charset="-128"/>
                <a:cs typeface="ＭＳ Ｐゴシック" pitchFamily="-111" charset="-128"/>
              </a:rPr>
              <a:t>):</a:t>
            </a:r>
            <a:r>
              <a:rPr lang="en-US" sz="2000">
                <a:solidFill>
                  <a:prstClr val="black"/>
                </a:solidFill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 Starting with each item in its own cluster, find the best pair to merge into a new cluster. Repeat until all clusters are fused together. </a:t>
            </a:r>
          </a:p>
        </p:txBody>
      </p:sp>
      <p:grpSp>
        <p:nvGrpSpPr>
          <p:cNvPr id="27652" name="Group 24"/>
          <p:cNvGrpSpPr>
            <a:grpSpLocks/>
          </p:cNvGrpSpPr>
          <p:nvPr/>
        </p:nvGrpSpPr>
        <p:grpSpPr bwMode="auto">
          <a:xfrm>
            <a:off x="9640888" y="5689600"/>
            <a:ext cx="1027112" cy="973138"/>
            <a:chOff x="1267" y="3584"/>
            <a:chExt cx="647" cy="613"/>
          </a:xfrm>
        </p:grpSpPr>
        <p:grpSp>
          <p:nvGrpSpPr>
            <p:cNvPr id="27775" name="Group 25"/>
            <p:cNvGrpSpPr>
              <a:grpSpLocks/>
            </p:cNvGrpSpPr>
            <p:nvPr/>
          </p:nvGrpSpPr>
          <p:grpSpPr bwMode="auto">
            <a:xfrm>
              <a:off x="1267" y="3735"/>
              <a:ext cx="647" cy="462"/>
              <a:chOff x="252" y="2364"/>
              <a:chExt cx="2258" cy="1608"/>
            </a:xfrm>
          </p:grpSpPr>
          <p:pic>
            <p:nvPicPr>
              <p:cNvPr id="27779" name="Picture 26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780" name="Picture 27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7776" name="Line 28"/>
            <p:cNvSpPr>
              <a:spLocks noChangeShapeType="1"/>
            </p:cNvSpPr>
            <p:nvPr/>
          </p:nvSpPr>
          <p:spPr bwMode="auto">
            <a:xfrm flipH="1" flipV="1">
              <a:off x="1738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77" name="Line 29"/>
            <p:cNvSpPr>
              <a:spLocks noChangeShapeType="1"/>
            </p:cNvSpPr>
            <p:nvPr/>
          </p:nvSpPr>
          <p:spPr bwMode="auto">
            <a:xfrm flipH="1" flipV="1">
              <a:off x="1429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78" name="Line 30"/>
            <p:cNvSpPr>
              <a:spLocks noChangeShapeType="1"/>
            </p:cNvSpPr>
            <p:nvPr/>
          </p:nvSpPr>
          <p:spPr bwMode="auto">
            <a:xfrm flipH="1">
              <a:off x="1426" y="3584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7653" name="Group 31"/>
          <p:cNvGrpSpPr>
            <a:grpSpLocks/>
          </p:cNvGrpSpPr>
          <p:nvPr/>
        </p:nvGrpSpPr>
        <p:grpSpPr bwMode="auto">
          <a:xfrm>
            <a:off x="9602788" y="4465639"/>
            <a:ext cx="1027112" cy="733425"/>
            <a:chOff x="252" y="2364"/>
            <a:chExt cx="2258" cy="1608"/>
          </a:xfrm>
        </p:grpSpPr>
        <p:pic>
          <p:nvPicPr>
            <p:cNvPr id="27773" name="Picture 3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" y="2364"/>
              <a:ext cx="900" cy="1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74" name="Picture 33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6" y="2412"/>
              <a:ext cx="1154" cy="1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654" name="Line 34"/>
          <p:cNvSpPr>
            <a:spLocks noChangeShapeType="1"/>
          </p:cNvSpPr>
          <p:nvPr/>
        </p:nvSpPr>
        <p:spPr bwMode="auto">
          <a:xfrm flipH="1" flipV="1">
            <a:off x="10350500" y="4225926"/>
            <a:ext cx="0" cy="1317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7655" name="Line 35"/>
          <p:cNvSpPr>
            <a:spLocks noChangeShapeType="1"/>
          </p:cNvSpPr>
          <p:nvPr/>
        </p:nvSpPr>
        <p:spPr bwMode="auto">
          <a:xfrm flipH="1" flipV="1">
            <a:off x="9859963" y="4225926"/>
            <a:ext cx="0" cy="1317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7656" name="Line 36"/>
          <p:cNvSpPr>
            <a:spLocks noChangeShapeType="1"/>
          </p:cNvSpPr>
          <p:nvPr/>
        </p:nvSpPr>
        <p:spPr bwMode="auto">
          <a:xfrm flipH="1">
            <a:off x="9855201" y="4225925"/>
            <a:ext cx="49847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27657" name="Group 37"/>
          <p:cNvGrpSpPr>
            <a:grpSpLocks/>
          </p:cNvGrpSpPr>
          <p:nvPr/>
        </p:nvGrpSpPr>
        <p:grpSpPr bwMode="auto">
          <a:xfrm>
            <a:off x="8823326" y="4084638"/>
            <a:ext cx="608013" cy="1147762"/>
            <a:chOff x="4598" y="2573"/>
            <a:chExt cx="383" cy="723"/>
          </a:xfrm>
        </p:grpSpPr>
        <p:pic>
          <p:nvPicPr>
            <p:cNvPr id="27767" name="Picture 3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8" y="2956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68" name="Picture 39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1" y="2712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7769" name="Group 40"/>
            <p:cNvGrpSpPr>
              <a:grpSpLocks/>
            </p:cNvGrpSpPr>
            <p:nvPr/>
          </p:nvGrpSpPr>
          <p:grpSpPr bwMode="auto">
            <a:xfrm>
              <a:off x="4638" y="2573"/>
              <a:ext cx="315" cy="169"/>
              <a:chOff x="2112" y="2976"/>
              <a:chExt cx="703" cy="377"/>
            </a:xfrm>
          </p:grpSpPr>
          <p:sp>
            <p:nvSpPr>
              <p:cNvPr id="27770" name="Line 41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771" name="Line 42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772" name="Line 43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7658" name="Group 44"/>
          <p:cNvGrpSpPr>
            <a:grpSpLocks/>
          </p:cNvGrpSpPr>
          <p:nvPr/>
        </p:nvGrpSpPr>
        <p:grpSpPr bwMode="auto">
          <a:xfrm>
            <a:off x="8813801" y="2295526"/>
            <a:ext cx="1806575" cy="1331913"/>
            <a:chOff x="746" y="1753"/>
            <a:chExt cx="1138" cy="839"/>
          </a:xfrm>
        </p:grpSpPr>
        <p:pic>
          <p:nvPicPr>
            <p:cNvPr id="27752" name="Picture 4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" y="2252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53" name="Picture 46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9" y="200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7754" name="Group 47"/>
            <p:cNvGrpSpPr>
              <a:grpSpLocks/>
            </p:cNvGrpSpPr>
            <p:nvPr/>
          </p:nvGrpSpPr>
          <p:grpSpPr bwMode="auto">
            <a:xfrm>
              <a:off x="1237" y="2109"/>
              <a:ext cx="647" cy="462"/>
              <a:chOff x="252" y="2364"/>
              <a:chExt cx="2258" cy="1608"/>
            </a:xfrm>
          </p:grpSpPr>
          <p:pic>
            <p:nvPicPr>
              <p:cNvPr id="27765" name="Picture 48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766" name="Picture 49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7755" name="Line 50"/>
            <p:cNvSpPr>
              <a:spLocks noChangeShapeType="1"/>
            </p:cNvSpPr>
            <p:nvPr/>
          </p:nvSpPr>
          <p:spPr bwMode="auto">
            <a:xfrm flipH="1" flipV="1">
              <a:off x="1708" y="1958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56" name="Line 51"/>
            <p:cNvSpPr>
              <a:spLocks noChangeShapeType="1"/>
            </p:cNvSpPr>
            <p:nvPr/>
          </p:nvSpPr>
          <p:spPr bwMode="auto">
            <a:xfrm flipH="1" flipV="1">
              <a:off x="1399" y="1958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57" name="Line 52"/>
            <p:cNvSpPr>
              <a:spLocks noChangeShapeType="1"/>
            </p:cNvSpPr>
            <p:nvPr/>
          </p:nvSpPr>
          <p:spPr bwMode="auto">
            <a:xfrm flipH="1">
              <a:off x="1396" y="1958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58" name="Line 53"/>
            <p:cNvSpPr>
              <a:spLocks noChangeShapeType="1"/>
            </p:cNvSpPr>
            <p:nvPr/>
          </p:nvSpPr>
          <p:spPr bwMode="auto">
            <a:xfrm flipH="1">
              <a:off x="936" y="1753"/>
              <a:ext cx="61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59" name="Line 54"/>
            <p:cNvSpPr>
              <a:spLocks noChangeShapeType="1"/>
            </p:cNvSpPr>
            <p:nvPr/>
          </p:nvSpPr>
          <p:spPr bwMode="auto">
            <a:xfrm rot="5400000" flipH="1">
              <a:off x="1450" y="1858"/>
              <a:ext cx="20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27760" name="Group 55"/>
            <p:cNvGrpSpPr>
              <a:grpSpLocks/>
            </p:cNvGrpSpPr>
            <p:nvPr/>
          </p:nvGrpSpPr>
          <p:grpSpPr bwMode="auto">
            <a:xfrm>
              <a:off x="786" y="1869"/>
              <a:ext cx="315" cy="169"/>
              <a:chOff x="2112" y="2976"/>
              <a:chExt cx="703" cy="377"/>
            </a:xfrm>
          </p:grpSpPr>
          <p:sp>
            <p:nvSpPr>
              <p:cNvPr id="27762" name="Line 56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763" name="Line 57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764" name="Line 58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27761" name="Line 59"/>
            <p:cNvSpPr>
              <a:spLocks noChangeShapeType="1"/>
            </p:cNvSpPr>
            <p:nvPr/>
          </p:nvSpPr>
          <p:spPr bwMode="auto">
            <a:xfrm rot="5400000" flipH="1">
              <a:off x="878" y="1814"/>
              <a:ext cx="11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7659" name="Group 60"/>
          <p:cNvGrpSpPr>
            <a:grpSpLocks/>
          </p:cNvGrpSpPr>
          <p:nvPr/>
        </p:nvGrpSpPr>
        <p:grpSpPr bwMode="auto">
          <a:xfrm>
            <a:off x="3706813" y="5770564"/>
            <a:ext cx="1027112" cy="973137"/>
            <a:chOff x="1165" y="3566"/>
            <a:chExt cx="647" cy="613"/>
          </a:xfrm>
        </p:grpSpPr>
        <p:grpSp>
          <p:nvGrpSpPr>
            <p:cNvPr id="27745" name="Group 61"/>
            <p:cNvGrpSpPr>
              <a:grpSpLocks/>
            </p:cNvGrpSpPr>
            <p:nvPr/>
          </p:nvGrpSpPr>
          <p:grpSpPr bwMode="auto">
            <a:xfrm>
              <a:off x="1165" y="3717"/>
              <a:ext cx="647" cy="462"/>
              <a:chOff x="252" y="2364"/>
              <a:chExt cx="2258" cy="1608"/>
            </a:xfrm>
          </p:grpSpPr>
          <p:pic>
            <p:nvPicPr>
              <p:cNvPr id="27750" name="Picture 6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751" name="Picture 63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7746" name="Group 64"/>
            <p:cNvGrpSpPr>
              <a:grpSpLocks/>
            </p:cNvGrpSpPr>
            <p:nvPr/>
          </p:nvGrpSpPr>
          <p:grpSpPr bwMode="auto">
            <a:xfrm>
              <a:off x="1324" y="3566"/>
              <a:ext cx="314" cy="83"/>
              <a:chOff x="1324" y="3566"/>
              <a:chExt cx="314" cy="83"/>
            </a:xfrm>
          </p:grpSpPr>
          <p:sp>
            <p:nvSpPr>
              <p:cNvPr id="27747" name="Line 65"/>
              <p:cNvSpPr>
                <a:spLocks noChangeShapeType="1"/>
              </p:cNvSpPr>
              <p:nvPr/>
            </p:nvSpPr>
            <p:spPr bwMode="auto">
              <a:xfrm flipH="1" flipV="1">
                <a:off x="1636" y="3566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748" name="Line 66"/>
              <p:cNvSpPr>
                <a:spLocks noChangeShapeType="1"/>
              </p:cNvSpPr>
              <p:nvPr/>
            </p:nvSpPr>
            <p:spPr bwMode="auto">
              <a:xfrm flipH="1" flipV="1">
                <a:off x="1327" y="3566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749" name="Line 67"/>
              <p:cNvSpPr>
                <a:spLocks noChangeShapeType="1"/>
              </p:cNvSpPr>
              <p:nvPr/>
            </p:nvSpPr>
            <p:spPr bwMode="auto">
              <a:xfrm flipH="1">
                <a:off x="1324" y="3566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pic>
        <p:nvPicPr>
          <p:cNvPr id="27660" name="Picture 6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726" y="4603750"/>
            <a:ext cx="21907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1" name="Line 69"/>
          <p:cNvSpPr>
            <a:spLocks noChangeShapeType="1"/>
          </p:cNvSpPr>
          <p:nvPr/>
        </p:nvSpPr>
        <p:spPr bwMode="auto">
          <a:xfrm flipH="1" flipV="1">
            <a:off x="3371850" y="4108450"/>
            <a:ext cx="0" cy="2794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 type="oval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7662" name="Line 70"/>
          <p:cNvSpPr>
            <a:spLocks noChangeShapeType="1"/>
          </p:cNvSpPr>
          <p:nvPr/>
        </p:nvSpPr>
        <p:spPr bwMode="auto">
          <a:xfrm flipH="1">
            <a:off x="3360739" y="4100513"/>
            <a:ext cx="75247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7663" name="Line 71"/>
          <p:cNvSpPr>
            <a:spLocks noChangeShapeType="1"/>
          </p:cNvSpPr>
          <p:nvPr/>
        </p:nvSpPr>
        <p:spPr bwMode="auto">
          <a:xfrm rot="5400000" flipH="1">
            <a:off x="4065588" y="4132263"/>
            <a:ext cx="9842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27664" name="Group 72"/>
          <p:cNvGrpSpPr>
            <a:grpSpLocks/>
          </p:cNvGrpSpPr>
          <p:nvPr/>
        </p:nvGrpSpPr>
        <p:grpSpPr bwMode="auto">
          <a:xfrm>
            <a:off x="4818063" y="5527676"/>
            <a:ext cx="760412" cy="1216025"/>
            <a:chOff x="2072" y="3380"/>
            <a:chExt cx="479" cy="802"/>
          </a:xfrm>
        </p:grpSpPr>
        <p:pic>
          <p:nvPicPr>
            <p:cNvPr id="27739" name="Picture 73" descr="Edna Krabappel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2" y="3670"/>
              <a:ext cx="22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40" name="Picture 74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1" y="359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7741" name="Group 75"/>
            <p:cNvGrpSpPr>
              <a:grpSpLocks/>
            </p:cNvGrpSpPr>
            <p:nvPr/>
          </p:nvGrpSpPr>
          <p:grpSpPr bwMode="auto">
            <a:xfrm>
              <a:off x="2170" y="3380"/>
              <a:ext cx="314" cy="185"/>
              <a:chOff x="2170" y="3380"/>
              <a:chExt cx="314" cy="185"/>
            </a:xfrm>
          </p:grpSpPr>
          <p:sp>
            <p:nvSpPr>
              <p:cNvPr id="27742" name="Line 76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743" name="Line 77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744" name="Line 78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7665" name="Group 79"/>
          <p:cNvGrpSpPr>
            <a:grpSpLocks/>
          </p:cNvGrpSpPr>
          <p:nvPr/>
        </p:nvGrpSpPr>
        <p:grpSpPr bwMode="auto">
          <a:xfrm>
            <a:off x="2817814" y="5491164"/>
            <a:ext cx="776287" cy="1252537"/>
            <a:chOff x="2663" y="3356"/>
            <a:chExt cx="489" cy="789"/>
          </a:xfrm>
        </p:grpSpPr>
        <p:pic>
          <p:nvPicPr>
            <p:cNvPr id="27733" name="Picture 8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4" y="3800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34" name="Picture 81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3" y="3707"/>
              <a:ext cx="331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7735" name="Group 82"/>
            <p:cNvGrpSpPr>
              <a:grpSpLocks/>
            </p:cNvGrpSpPr>
            <p:nvPr/>
          </p:nvGrpSpPr>
          <p:grpSpPr bwMode="auto">
            <a:xfrm>
              <a:off x="2758" y="3356"/>
              <a:ext cx="314" cy="209"/>
              <a:chOff x="2170" y="3380"/>
              <a:chExt cx="314" cy="185"/>
            </a:xfrm>
          </p:grpSpPr>
          <p:sp>
            <p:nvSpPr>
              <p:cNvPr id="27736" name="Line 83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737" name="Line 84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738" name="Line 85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7666" name="Group 86"/>
          <p:cNvGrpSpPr>
            <a:grpSpLocks/>
          </p:cNvGrpSpPr>
          <p:nvPr/>
        </p:nvGrpSpPr>
        <p:grpSpPr bwMode="auto">
          <a:xfrm>
            <a:off x="6110289" y="5518150"/>
            <a:ext cx="815975" cy="1206500"/>
            <a:chOff x="2889" y="3476"/>
            <a:chExt cx="514" cy="760"/>
          </a:xfrm>
        </p:grpSpPr>
        <p:pic>
          <p:nvPicPr>
            <p:cNvPr id="27727" name="Picture 87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9" y="3691"/>
              <a:ext cx="190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28" name="Picture 8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5" y="3751"/>
              <a:ext cx="258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7729" name="Group 89"/>
            <p:cNvGrpSpPr>
              <a:grpSpLocks/>
            </p:cNvGrpSpPr>
            <p:nvPr/>
          </p:nvGrpSpPr>
          <p:grpSpPr bwMode="auto">
            <a:xfrm>
              <a:off x="3010" y="3476"/>
              <a:ext cx="314" cy="195"/>
              <a:chOff x="2170" y="3380"/>
              <a:chExt cx="314" cy="185"/>
            </a:xfrm>
          </p:grpSpPr>
          <p:sp>
            <p:nvSpPr>
              <p:cNvPr id="27730" name="Line 90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731" name="Line 91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732" name="Line 92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7667" name="Text Box 93"/>
          <p:cNvSpPr txBox="1">
            <a:spLocks noChangeArrowheads="1"/>
          </p:cNvSpPr>
          <p:nvPr/>
        </p:nvSpPr>
        <p:spPr bwMode="auto">
          <a:xfrm>
            <a:off x="5641975" y="59467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b="1">
                <a:solidFill>
                  <a:prstClr val="black"/>
                </a:solidFill>
              </a:rPr>
              <a:t>…</a:t>
            </a:r>
          </a:p>
        </p:txBody>
      </p:sp>
      <p:sp>
        <p:nvSpPr>
          <p:cNvPr id="27668" name="Text Box 94"/>
          <p:cNvSpPr txBox="1">
            <a:spLocks noChangeArrowheads="1"/>
          </p:cNvSpPr>
          <p:nvPr/>
        </p:nvSpPr>
        <p:spPr bwMode="auto">
          <a:xfrm>
            <a:off x="1524001" y="5661025"/>
            <a:ext cx="14906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Consider all possible merges…</a:t>
            </a:r>
          </a:p>
        </p:txBody>
      </p:sp>
      <p:sp>
        <p:nvSpPr>
          <p:cNvPr id="27669" name="Text Box 95"/>
          <p:cNvSpPr txBox="1">
            <a:spLocks noChangeArrowheads="1"/>
          </p:cNvSpPr>
          <p:nvPr/>
        </p:nvSpPr>
        <p:spPr bwMode="auto">
          <a:xfrm>
            <a:off x="7210426" y="5699125"/>
            <a:ext cx="1109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Choose the best</a:t>
            </a:r>
          </a:p>
        </p:txBody>
      </p:sp>
      <p:sp>
        <p:nvSpPr>
          <p:cNvPr id="27670" name="Rectangle 96"/>
          <p:cNvSpPr>
            <a:spLocks noChangeArrowheads="1"/>
          </p:cNvSpPr>
          <p:nvPr/>
        </p:nvSpPr>
        <p:spPr bwMode="auto">
          <a:xfrm>
            <a:off x="1524000" y="5257801"/>
            <a:ext cx="9144000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671" name="Rectangle 97"/>
          <p:cNvSpPr>
            <a:spLocks noChangeArrowheads="1"/>
          </p:cNvSpPr>
          <p:nvPr/>
        </p:nvSpPr>
        <p:spPr bwMode="auto">
          <a:xfrm>
            <a:off x="1524000" y="3790951"/>
            <a:ext cx="9144000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672" name="Rectangle 98"/>
          <p:cNvSpPr>
            <a:spLocks noChangeArrowheads="1"/>
          </p:cNvSpPr>
          <p:nvPr/>
        </p:nvSpPr>
        <p:spPr bwMode="auto">
          <a:xfrm>
            <a:off x="1524000" y="2000251"/>
            <a:ext cx="9144000" cy="14287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673" name="Text Box 99"/>
          <p:cNvSpPr txBox="1">
            <a:spLocks noChangeArrowheads="1"/>
          </p:cNvSpPr>
          <p:nvPr/>
        </p:nvSpPr>
        <p:spPr bwMode="auto">
          <a:xfrm>
            <a:off x="1524001" y="4089400"/>
            <a:ext cx="14906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Consider all possible merges…</a:t>
            </a:r>
          </a:p>
        </p:txBody>
      </p:sp>
      <p:grpSp>
        <p:nvGrpSpPr>
          <p:cNvPr id="27674" name="Group 100"/>
          <p:cNvGrpSpPr>
            <a:grpSpLocks/>
          </p:cNvGrpSpPr>
          <p:nvPr/>
        </p:nvGrpSpPr>
        <p:grpSpPr bwMode="auto">
          <a:xfrm>
            <a:off x="3640138" y="4184650"/>
            <a:ext cx="1027112" cy="973138"/>
            <a:chOff x="1267" y="3584"/>
            <a:chExt cx="647" cy="613"/>
          </a:xfrm>
        </p:grpSpPr>
        <p:grpSp>
          <p:nvGrpSpPr>
            <p:cNvPr id="27721" name="Group 101"/>
            <p:cNvGrpSpPr>
              <a:grpSpLocks/>
            </p:cNvGrpSpPr>
            <p:nvPr/>
          </p:nvGrpSpPr>
          <p:grpSpPr bwMode="auto">
            <a:xfrm>
              <a:off x="1267" y="3735"/>
              <a:ext cx="647" cy="462"/>
              <a:chOff x="252" y="2364"/>
              <a:chExt cx="2258" cy="1608"/>
            </a:xfrm>
          </p:grpSpPr>
          <p:pic>
            <p:nvPicPr>
              <p:cNvPr id="27725" name="Picture 102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726" name="Picture 103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7722" name="Line 104"/>
            <p:cNvSpPr>
              <a:spLocks noChangeShapeType="1"/>
            </p:cNvSpPr>
            <p:nvPr/>
          </p:nvSpPr>
          <p:spPr bwMode="auto">
            <a:xfrm flipH="1" flipV="1">
              <a:off x="1738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23" name="Line 105"/>
            <p:cNvSpPr>
              <a:spLocks noChangeShapeType="1"/>
            </p:cNvSpPr>
            <p:nvPr/>
          </p:nvSpPr>
          <p:spPr bwMode="auto">
            <a:xfrm flipH="1" flipV="1">
              <a:off x="1429" y="3584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24" name="Line 106"/>
            <p:cNvSpPr>
              <a:spLocks noChangeShapeType="1"/>
            </p:cNvSpPr>
            <p:nvPr/>
          </p:nvSpPr>
          <p:spPr bwMode="auto">
            <a:xfrm flipH="1">
              <a:off x="1426" y="3584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pic>
        <p:nvPicPr>
          <p:cNvPr id="27675" name="Picture 10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401" y="4606925"/>
            <a:ext cx="219075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6" name="Picture 108" descr="C:\Documents and Settings\eamonn\Desktop\bios_family_marge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789" y="4219575"/>
            <a:ext cx="301625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677" name="Group 109"/>
          <p:cNvGrpSpPr>
            <a:grpSpLocks/>
          </p:cNvGrpSpPr>
          <p:nvPr/>
        </p:nvGrpSpPr>
        <p:grpSpPr bwMode="auto">
          <a:xfrm>
            <a:off x="4914901" y="3998914"/>
            <a:ext cx="500063" cy="268287"/>
            <a:chOff x="2112" y="2976"/>
            <a:chExt cx="703" cy="377"/>
          </a:xfrm>
        </p:grpSpPr>
        <p:sp>
          <p:nvSpPr>
            <p:cNvPr id="27718" name="Line 110"/>
            <p:cNvSpPr>
              <a:spLocks noChangeShapeType="1"/>
            </p:cNvSpPr>
            <p:nvPr/>
          </p:nvSpPr>
          <p:spPr bwMode="auto">
            <a:xfrm flipH="1" flipV="1">
              <a:off x="2810" y="2976"/>
              <a:ext cx="0" cy="37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19" name="Line 111"/>
            <p:cNvSpPr>
              <a:spLocks noChangeShapeType="1"/>
            </p:cNvSpPr>
            <p:nvPr/>
          </p:nvSpPr>
          <p:spPr bwMode="auto">
            <a:xfrm flipH="1" flipV="1">
              <a:off x="2118" y="2976"/>
              <a:ext cx="0" cy="377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20" name="Line 112"/>
            <p:cNvSpPr>
              <a:spLocks noChangeShapeType="1"/>
            </p:cNvSpPr>
            <p:nvPr/>
          </p:nvSpPr>
          <p:spPr bwMode="auto">
            <a:xfrm flipH="1">
              <a:off x="2112" y="2976"/>
              <a:ext cx="70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7678" name="Group 113"/>
          <p:cNvGrpSpPr>
            <a:grpSpLocks/>
          </p:cNvGrpSpPr>
          <p:nvPr/>
        </p:nvGrpSpPr>
        <p:grpSpPr bwMode="auto">
          <a:xfrm>
            <a:off x="6132513" y="3994151"/>
            <a:ext cx="760412" cy="1216025"/>
            <a:chOff x="2072" y="3380"/>
            <a:chExt cx="479" cy="802"/>
          </a:xfrm>
        </p:grpSpPr>
        <p:pic>
          <p:nvPicPr>
            <p:cNvPr id="27712" name="Picture 114" descr="Edna Krabappel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2" y="3670"/>
              <a:ext cx="22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713" name="Picture 115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1" y="359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7714" name="Group 116"/>
            <p:cNvGrpSpPr>
              <a:grpSpLocks/>
            </p:cNvGrpSpPr>
            <p:nvPr/>
          </p:nvGrpSpPr>
          <p:grpSpPr bwMode="auto">
            <a:xfrm>
              <a:off x="2170" y="3380"/>
              <a:ext cx="314" cy="185"/>
              <a:chOff x="2170" y="3380"/>
              <a:chExt cx="314" cy="185"/>
            </a:xfrm>
          </p:grpSpPr>
          <p:sp>
            <p:nvSpPr>
              <p:cNvPr id="27715" name="Line 117"/>
              <p:cNvSpPr>
                <a:spLocks noChangeShapeType="1"/>
              </p:cNvSpPr>
              <p:nvPr/>
            </p:nvSpPr>
            <p:spPr bwMode="auto">
              <a:xfrm flipH="1" flipV="1">
                <a:off x="2482" y="3386"/>
                <a:ext cx="0" cy="179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716" name="Line 118"/>
              <p:cNvSpPr>
                <a:spLocks noChangeShapeType="1"/>
              </p:cNvSpPr>
              <p:nvPr/>
            </p:nvSpPr>
            <p:spPr bwMode="auto">
              <a:xfrm flipH="1" flipV="1">
                <a:off x="2173" y="3380"/>
                <a:ext cx="0" cy="185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717" name="Line 119"/>
              <p:cNvSpPr>
                <a:spLocks noChangeShapeType="1"/>
              </p:cNvSpPr>
              <p:nvPr/>
            </p:nvSpPr>
            <p:spPr bwMode="auto">
              <a:xfrm flipH="1">
                <a:off x="2170" y="3380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7679" name="Text Box 120"/>
          <p:cNvSpPr txBox="1">
            <a:spLocks noChangeArrowheads="1"/>
          </p:cNvSpPr>
          <p:nvPr/>
        </p:nvSpPr>
        <p:spPr bwMode="auto">
          <a:xfrm>
            <a:off x="5575300" y="45180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b="1">
                <a:solidFill>
                  <a:prstClr val="black"/>
                </a:solidFill>
              </a:rPr>
              <a:t>…</a:t>
            </a:r>
          </a:p>
        </p:txBody>
      </p:sp>
      <p:sp>
        <p:nvSpPr>
          <p:cNvPr id="27680" name="Text Box 121"/>
          <p:cNvSpPr txBox="1">
            <a:spLocks noChangeArrowheads="1"/>
          </p:cNvSpPr>
          <p:nvPr/>
        </p:nvSpPr>
        <p:spPr bwMode="auto">
          <a:xfrm>
            <a:off x="7210426" y="4213225"/>
            <a:ext cx="1109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Choose the best</a:t>
            </a:r>
          </a:p>
        </p:txBody>
      </p:sp>
      <p:sp>
        <p:nvSpPr>
          <p:cNvPr id="27681" name="Text Box 122"/>
          <p:cNvSpPr txBox="1">
            <a:spLocks noChangeArrowheads="1"/>
          </p:cNvSpPr>
          <p:nvPr/>
        </p:nvSpPr>
        <p:spPr bwMode="auto">
          <a:xfrm>
            <a:off x="1524001" y="2546350"/>
            <a:ext cx="14906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Consider all possible merges…</a:t>
            </a:r>
          </a:p>
        </p:txBody>
      </p:sp>
      <p:grpSp>
        <p:nvGrpSpPr>
          <p:cNvPr id="27682" name="Group 123"/>
          <p:cNvGrpSpPr>
            <a:grpSpLocks/>
          </p:cNvGrpSpPr>
          <p:nvPr/>
        </p:nvGrpSpPr>
        <p:grpSpPr bwMode="auto">
          <a:xfrm>
            <a:off x="3289301" y="2400301"/>
            <a:ext cx="1806575" cy="1331913"/>
            <a:chOff x="746" y="1753"/>
            <a:chExt cx="1138" cy="839"/>
          </a:xfrm>
        </p:grpSpPr>
        <p:pic>
          <p:nvPicPr>
            <p:cNvPr id="27697" name="Picture 12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" y="2252"/>
              <a:ext cx="13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698" name="Picture 125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9" y="2008"/>
              <a:ext cx="190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7699" name="Group 126"/>
            <p:cNvGrpSpPr>
              <a:grpSpLocks/>
            </p:cNvGrpSpPr>
            <p:nvPr/>
          </p:nvGrpSpPr>
          <p:grpSpPr bwMode="auto">
            <a:xfrm>
              <a:off x="1237" y="2109"/>
              <a:ext cx="647" cy="462"/>
              <a:chOff x="252" y="2364"/>
              <a:chExt cx="2258" cy="1608"/>
            </a:xfrm>
          </p:grpSpPr>
          <p:pic>
            <p:nvPicPr>
              <p:cNvPr id="27710" name="Picture 127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7711" name="Picture 128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7700" name="Line 129"/>
            <p:cNvSpPr>
              <a:spLocks noChangeShapeType="1"/>
            </p:cNvSpPr>
            <p:nvPr/>
          </p:nvSpPr>
          <p:spPr bwMode="auto">
            <a:xfrm flipH="1" flipV="1">
              <a:off x="1708" y="1958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01" name="Line 130"/>
            <p:cNvSpPr>
              <a:spLocks noChangeShapeType="1"/>
            </p:cNvSpPr>
            <p:nvPr/>
          </p:nvSpPr>
          <p:spPr bwMode="auto">
            <a:xfrm flipH="1" flipV="1">
              <a:off x="1399" y="1958"/>
              <a:ext cx="0" cy="8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02" name="Line 131"/>
            <p:cNvSpPr>
              <a:spLocks noChangeShapeType="1"/>
            </p:cNvSpPr>
            <p:nvPr/>
          </p:nvSpPr>
          <p:spPr bwMode="auto">
            <a:xfrm flipH="1">
              <a:off x="1396" y="1958"/>
              <a:ext cx="31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03" name="Line 132"/>
            <p:cNvSpPr>
              <a:spLocks noChangeShapeType="1"/>
            </p:cNvSpPr>
            <p:nvPr/>
          </p:nvSpPr>
          <p:spPr bwMode="auto">
            <a:xfrm flipH="1">
              <a:off x="936" y="1753"/>
              <a:ext cx="61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04" name="Line 133"/>
            <p:cNvSpPr>
              <a:spLocks noChangeShapeType="1"/>
            </p:cNvSpPr>
            <p:nvPr/>
          </p:nvSpPr>
          <p:spPr bwMode="auto">
            <a:xfrm rot="5400000" flipH="1">
              <a:off x="1450" y="1858"/>
              <a:ext cx="20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27705" name="Group 134"/>
            <p:cNvGrpSpPr>
              <a:grpSpLocks/>
            </p:cNvGrpSpPr>
            <p:nvPr/>
          </p:nvGrpSpPr>
          <p:grpSpPr bwMode="auto">
            <a:xfrm>
              <a:off x="786" y="1869"/>
              <a:ext cx="315" cy="169"/>
              <a:chOff x="2112" y="2976"/>
              <a:chExt cx="703" cy="377"/>
            </a:xfrm>
          </p:grpSpPr>
          <p:sp>
            <p:nvSpPr>
              <p:cNvPr id="27707" name="Line 135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708" name="Line 136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709" name="Line 137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27706" name="Line 138"/>
            <p:cNvSpPr>
              <a:spLocks noChangeShapeType="1"/>
            </p:cNvSpPr>
            <p:nvPr/>
          </p:nvSpPr>
          <p:spPr bwMode="auto">
            <a:xfrm rot="5400000" flipH="1">
              <a:off x="878" y="1814"/>
              <a:ext cx="11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7683" name="Group 139"/>
          <p:cNvGrpSpPr>
            <a:grpSpLocks/>
          </p:cNvGrpSpPr>
          <p:nvPr/>
        </p:nvGrpSpPr>
        <p:grpSpPr bwMode="auto">
          <a:xfrm>
            <a:off x="5708650" y="2511426"/>
            <a:ext cx="1416050" cy="1127125"/>
            <a:chOff x="2342" y="1528"/>
            <a:chExt cx="892" cy="710"/>
          </a:xfrm>
        </p:grpSpPr>
        <p:sp>
          <p:nvSpPr>
            <p:cNvPr id="27686" name="Line 140"/>
            <p:cNvSpPr>
              <a:spLocks noChangeShapeType="1"/>
            </p:cNvSpPr>
            <p:nvPr/>
          </p:nvSpPr>
          <p:spPr bwMode="auto">
            <a:xfrm flipH="1" flipV="1">
              <a:off x="2418" y="1544"/>
              <a:ext cx="0" cy="17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687" name="Line 141"/>
            <p:cNvSpPr>
              <a:spLocks noChangeShapeType="1"/>
            </p:cNvSpPr>
            <p:nvPr/>
          </p:nvSpPr>
          <p:spPr bwMode="auto">
            <a:xfrm flipH="1">
              <a:off x="2411" y="1539"/>
              <a:ext cx="47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688" name="Line 142"/>
            <p:cNvSpPr>
              <a:spLocks noChangeShapeType="1"/>
            </p:cNvSpPr>
            <p:nvPr/>
          </p:nvSpPr>
          <p:spPr bwMode="auto">
            <a:xfrm rot="5400000" flipH="1">
              <a:off x="2855" y="1559"/>
              <a:ext cx="6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27689" name="Group 143"/>
            <p:cNvGrpSpPr>
              <a:grpSpLocks/>
            </p:cNvGrpSpPr>
            <p:nvPr/>
          </p:nvGrpSpPr>
          <p:grpSpPr bwMode="auto">
            <a:xfrm>
              <a:off x="2587" y="1592"/>
              <a:ext cx="647" cy="613"/>
              <a:chOff x="1267" y="3584"/>
              <a:chExt cx="647" cy="613"/>
            </a:xfrm>
          </p:grpSpPr>
          <p:grpSp>
            <p:nvGrpSpPr>
              <p:cNvPr id="27691" name="Group 144"/>
              <p:cNvGrpSpPr>
                <a:grpSpLocks/>
              </p:cNvGrpSpPr>
              <p:nvPr/>
            </p:nvGrpSpPr>
            <p:grpSpPr bwMode="auto">
              <a:xfrm>
                <a:off x="1267" y="3735"/>
                <a:ext cx="647" cy="462"/>
                <a:chOff x="252" y="2364"/>
                <a:chExt cx="2258" cy="1608"/>
              </a:xfrm>
            </p:grpSpPr>
            <p:pic>
              <p:nvPicPr>
                <p:cNvPr id="27695" name="Picture 145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2" y="2364"/>
                  <a:ext cx="900" cy="16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7696" name="Picture 146"/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56" y="2412"/>
                  <a:ext cx="1154" cy="15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27692" name="Line 147"/>
              <p:cNvSpPr>
                <a:spLocks noChangeShapeType="1"/>
              </p:cNvSpPr>
              <p:nvPr/>
            </p:nvSpPr>
            <p:spPr bwMode="auto">
              <a:xfrm flipH="1" flipV="1">
                <a:off x="1738" y="3584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693" name="Line 148"/>
              <p:cNvSpPr>
                <a:spLocks noChangeShapeType="1"/>
              </p:cNvSpPr>
              <p:nvPr/>
            </p:nvSpPr>
            <p:spPr bwMode="auto">
              <a:xfrm flipH="1" flipV="1">
                <a:off x="1429" y="3584"/>
                <a:ext cx="0" cy="8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7694" name="Line 149"/>
              <p:cNvSpPr>
                <a:spLocks noChangeShapeType="1"/>
              </p:cNvSpPr>
              <p:nvPr/>
            </p:nvSpPr>
            <p:spPr bwMode="auto">
              <a:xfrm flipH="1">
                <a:off x="1426" y="3584"/>
                <a:ext cx="314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pic>
          <p:nvPicPr>
            <p:cNvPr id="27690" name="Picture 150" descr="Edna Krabappel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2" y="1750"/>
              <a:ext cx="22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684" name="Text Box 151"/>
          <p:cNvSpPr txBox="1">
            <a:spLocks noChangeArrowheads="1"/>
          </p:cNvSpPr>
          <p:nvPr/>
        </p:nvSpPr>
        <p:spPr bwMode="auto">
          <a:xfrm>
            <a:off x="7210426" y="2689225"/>
            <a:ext cx="1109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Choose the best</a:t>
            </a:r>
          </a:p>
        </p:txBody>
      </p:sp>
      <p:sp>
        <p:nvSpPr>
          <p:cNvPr id="27685" name="Text Box 152"/>
          <p:cNvSpPr txBox="1">
            <a:spLocks noChangeArrowheads="1"/>
          </p:cNvSpPr>
          <p:nvPr/>
        </p:nvSpPr>
        <p:spPr bwMode="auto">
          <a:xfrm>
            <a:off x="5156200" y="29559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b="1">
                <a:solidFill>
                  <a:prstClr val="black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3903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1"/>
            <a:ext cx="7793038" cy="784225"/>
          </a:xfrm>
        </p:spPr>
        <p:txBody>
          <a:bodyPr/>
          <a:lstStyle/>
          <a:p>
            <a:r>
              <a:rPr lang="en-US" altLang="en-US"/>
              <a:t>Linkage Methods of Clustering</a:t>
            </a:r>
          </a:p>
        </p:txBody>
      </p:sp>
      <p:grpSp>
        <p:nvGrpSpPr>
          <p:cNvPr id="19460" name="Group 4"/>
          <p:cNvGrpSpPr>
            <a:grpSpLocks/>
          </p:cNvGrpSpPr>
          <p:nvPr/>
        </p:nvGrpSpPr>
        <p:grpSpPr bwMode="auto">
          <a:xfrm>
            <a:off x="3962400" y="1087438"/>
            <a:ext cx="5691188" cy="5618162"/>
            <a:chOff x="1536" y="626"/>
            <a:chExt cx="3585" cy="3539"/>
          </a:xfrm>
        </p:grpSpPr>
        <p:sp>
          <p:nvSpPr>
            <p:cNvPr id="19461" name="Freeform 5"/>
            <p:cNvSpPr>
              <a:spLocks/>
            </p:cNvSpPr>
            <p:nvPr/>
          </p:nvSpPr>
          <p:spPr bwMode="auto">
            <a:xfrm>
              <a:off x="1639" y="3024"/>
              <a:ext cx="1025" cy="896"/>
            </a:xfrm>
            <a:custGeom>
              <a:avLst/>
              <a:gdLst>
                <a:gd name="T0" fmla="*/ 309 w 1073"/>
                <a:gd name="T1" fmla="*/ 28 h 938"/>
                <a:gd name="T2" fmla="*/ 636 w 1073"/>
                <a:gd name="T3" fmla="*/ 0 h 938"/>
                <a:gd name="T4" fmla="*/ 900 w 1073"/>
                <a:gd name="T5" fmla="*/ 55 h 938"/>
                <a:gd name="T6" fmla="*/ 1063 w 1073"/>
                <a:gd name="T7" fmla="*/ 282 h 938"/>
                <a:gd name="T8" fmla="*/ 1072 w 1073"/>
                <a:gd name="T9" fmla="*/ 364 h 938"/>
                <a:gd name="T10" fmla="*/ 1000 w 1073"/>
                <a:gd name="T11" fmla="*/ 673 h 938"/>
                <a:gd name="T12" fmla="*/ 881 w 1073"/>
                <a:gd name="T13" fmla="*/ 855 h 938"/>
                <a:gd name="T14" fmla="*/ 600 w 1073"/>
                <a:gd name="T15" fmla="*/ 937 h 938"/>
                <a:gd name="T16" fmla="*/ 345 w 1073"/>
                <a:gd name="T17" fmla="*/ 928 h 938"/>
                <a:gd name="T18" fmla="*/ 236 w 1073"/>
                <a:gd name="T19" fmla="*/ 855 h 938"/>
                <a:gd name="T20" fmla="*/ 90 w 1073"/>
                <a:gd name="T21" fmla="*/ 582 h 938"/>
                <a:gd name="T22" fmla="*/ 0 w 1073"/>
                <a:gd name="T23" fmla="*/ 491 h 938"/>
                <a:gd name="T24" fmla="*/ 45 w 1073"/>
                <a:gd name="T25" fmla="*/ 382 h 938"/>
                <a:gd name="T26" fmla="*/ 81 w 1073"/>
                <a:gd name="T27" fmla="*/ 364 h 938"/>
                <a:gd name="T28" fmla="*/ 136 w 1073"/>
                <a:gd name="T29" fmla="*/ 264 h 938"/>
                <a:gd name="T30" fmla="*/ 181 w 1073"/>
                <a:gd name="T31" fmla="*/ 155 h 938"/>
                <a:gd name="T32" fmla="*/ 309 w 1073"/>
                <a:gd name="T33" fmla="*/ 28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73" h="938">
                  <a:moveTo>
                    <a:pt x="309" y="28"/>
                  </a:moveTo>
                  <a:lnTo>
                    <a:pt x="636" y="0"/>
                  </a:lnTo>
                  <a:lnTo>
                    <a:pt x="900" y="55"/>
                  </a:lnTo>
                  <a:lnTo>
                    <a:pt x="1063" y="282"/>
                  </a:lnTo>
                  <a:lnTo>
                    <a:pt x="1072" y="364"/>
                  </a:lnTo>
                  <a:lnTo>
                    <a:pt x="1000" y="673"/>
                  </a:lnTo>
                  <a:lnTo>
                    <a:pt x="881" y="855"/>
                  </a:lnTo>
                  <a:lnTo>
                    <a:pt x="600" y="937"/>
                  </a:lnTo>
                  <a:lnTo>
                    <a:pt x="345" y="928"/>
                  </a:lnTo>
                  <a:lnTo>
                    <a:pt x="236" y="855"/>
                  </a:lnTo>
                  <a:lnTo>
                    <a:pt x="90" y="582"/>
                  </a:lnTo>
                  <a:lnTo>
                    <a:pt x="0" y="491"/>
                  </a:lnTo>
                  <a:lnTo>
                    <a:pt x="45" y="382"/>
                  </a:lnTo>
                  <a:lnTo>
                    <a:pt x="81" y="364"/>
                  </a:lnTo>
                  <a:lnTo>
                    <a:pt x="136" y="264"/>
                  </a:lnTo>
                  <a:lnTo>
                    <a:pt x="181" y="155"/>
                  </a:lnTo>
                  <a:lnTo>
                    <a:pt x="309" y="28"/>
                  </a:lnTo>
                </a:path>
              </a:pathLst>
            </a:custGeom>
            <a:solidFill>
              <a:srgbClr val="CCEC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62" name="Rectangle 6"/>
            <p:cNvSpPr>
              <a:spLocks noChangeArrowheads="1"/>
            </p:cNvSpPr>
            <p:nvPr/>
          </p:nvSpPr>
          <p:spPr bwMode="auto">
            <a:xfrm>
              <a:off x="2183" y="626"/>
              <a:ext cx="2258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en-US" sz="2400">
                  <a:solidFill>
                    <a:srgbClr val="CC0000"/>
                  </a:solidFill>
                  <a:latin typeface="Tahoma" panose="020B0604030504040204" pitchFamily="34" charset="0"/>
                </a:rPr>
                <a:t>Single Linkage</a:t>
              </a:r>
            </a:p>
          </p:txBody>
        </p:sp>
        <p:sp>
          <p:nvSpPr>
            <p:cNvPr id="19463" name="Freeform 7"/>
            <p:cNvSpPr>
              <a:spLocks/>
            </p:cNvSpPr>
            <p:nvPr/>
          </p:nvSpPr>
          <p:spPr bwMode="auto">
            <a:xfrm>
              <a:off x="1536" y="640"/>
              <a:ext cx="1025" cy="896"/>
            </a:xfrm>
            <a:custGeom>
              <a:avLst/>
              <a:gdLst>
                <a:gd name="T0" fmla="*/ 309 w 1073"/>
                <a:gd name="T1" fmla="*/ 28 h 938"/>
                <a:gd name="T2" fmla="*/ 636 w 1073"/>
                <a:gd name="T3" fmla="*/ 0 h 938"/>
                <a:gd name="T4" fmla="*/ 900 w 1073"/>
                <a:gd name="T5" fmla="*/ 55 h 938"/>
                <a:gd name="T6" fmla="*/ 1063 w 1073"/>
                <a:gd name="T7" fmla="*/ 282 h 938"/>
                <a:gd name="T8" fmla="*/ 1072 w 1073"/>
                <a:gd name="T9" fmla="*/ 364 h 938"/>
                <a:gd name="T10" fmla="*/ 1000 w 1073"/>
                <a:gd name="T11" fmla="*/ 673 h 938"/>
                <a:gd name="T12" fmla="*/ 881 w 1073"/>
                <a:gd name="T13" fmla="*/ 855 h 938"/>
                <a:gd name="T14" fmla="*/ 600 w 1073"/>
                <a:gd name="T15" fmla="*/ 937 h 938"/>
                <a:gd name="T16" fmla="*/ 345 w 1073"/>
                <a:gd name="T17" fmla="*/ 928 h 938"/>
                <a:gd name="T18" fmla="*/ 236 w 1073"/>
                <a:gd name="T19" fmla="*/ 855 h 938"/>
                <a:gd name="T20" fmla="*/ 90 w 1073"/>
                <a:gd name="T21" fmla="*/ 582 h 938"/>
                <a:gd name="T22" fmla="*/ 0 w 1073"/>
                <a:gd name="T23" fmla="*/ 491 h 938"/>
                <a:gd name="T24" fmla="*/ 45 w 1073"/>
                <a:gd name="T25" fmla="*/ 382 h 938"/>
                <a:gd name="T26" fmla="*/ 81 w 1073"/>
                <a:gd name="T27" fmla="*/ 364 h 938"/>
                <a:gd name="T28" fmla="*/ 136 w 1073"/>
                <a:gd name="T29" fmla="*/ 264 h 938"/>
                <a:gd name="T30" fmla="*/ 181 w 1073"/>
                <a:gd name="T31" fmla="*/ 155 h 938"/>
                <a:gd name="T32" fmla="*/ 309 w 1073"/>
                <a:gd name="T33" fmla="*/ 28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73" h="938">
                  <a:moveTo>
                    <a:pt x="309" y="28"/>
                  </a:moveTo>
                  <a:lnTo>
                    <a:pt x="636" y="0"/>
                  </a:lnTo>
                  <a:lnTo>
                    <a:pt x="900" y="55"/>
                  </a:lnTo>
                  <a:lnTo>
                    <a:pt x="1063" y="282"/>
                  </a:lnTo>
                  <a:lnTo>
                    <a:pt x="1072" y="364"/>
                  </a:lnTo>
                  <a:lnTo>
                    <a:pt x="1000" y="673"/>
                  </a:lnTo>
                  <a:lnTo>
                    <a:pt x="881" y="855"/>
                  </a:lnTo>
                  <a:lnTo>
                    <a:pt x="600" y="937"/>
                  </a:lnTo>
                  <a:lnTo>
                    <a:pt x="345" y="928"/>
                  </a:lnTo>
                  <a:lnTo>
                    <a:pt x="236" y="855"/>
                  </a:lnTo>
                  <a:lnTo>
                    <a:pt x="90" y="582"/>
                  </a:lnTo>
                  <a:lnTo>
                    <a:pt x="0" y="491"/>
                  </a:lnTo>
                  <a:lnTo>
                    <a:pt x="45" y="382"/>
                  </a:lnTo>
                  <a:lnTo>
                    <a:pt x="81" y="364"/>
                  </a:lnTo>
                  <a:lnTo>
                    <a:pt x="136" y="264"/>
                  </a:lnTo>
                  <a:lnTo>
                    <a:pt x="181" y="155"/>
                  </a:lnTo>
                  <a:lnTo>
                    <a:pt x="309" y="28"/>
                  </a:lnTo>
                </a:path>
              </a:pathLst>
            </a:custGeom>
            <a:solidFill>
              <a:srgbClr val="CCEC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64" name="Oval 8"/>
            <p:cNvSpPr>
              <a:spLocks noChangeArrowheads="1"/>
            </p:cNvSpPr>
            <p:nvPr/>
          </p:nvSpPr>
          <p:spPr bwMode="auto">
            <a:xfrm>
              <a:off x="1828" y="770"/>
              <a:ext cx="147" cy="14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65" name="Oval 9"/>
            <p:cNvSpPr>
              <a:spLocks noChangeArrowheads="1"/>
            </p:cNvSpPr>
            <p:nvPr/>
          </p:nvSpPr>
          <p:spPr bwMode="auto">
            <a:xfrm>
              <a:off x="2224" y="1157"/>
              <a:ext cx="147" cy="14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66" name="Freeform 10"/>
            <p:cNvSpPr>
              <a:spLocks/>
            </p:cNvSpPr>
            <p:nvPr/>
          </p:nvSpPr>
          <p:spPr bwMode="auto">
            <a:xfrm>
              <a:off x="3984" y="655"/>
              <a:ext cx="1008" cy="881"/>
            </a:xfrm>
            <a:custGeom>
              <a:avLst/>
              <a:gdLst>
                <a:gd name="T0" fmla="*/ 763 w 1073"/>
                <a:gd name="T1" fmla="*/ 28 h 938"/>
                <a:gd name="T2" fmla="*/ 436 w 1073"/>
                <a:gd name="T3" fmla="*/ 0 h 938"/>
                <a:gd name="T4" fmla="*/ 172 w 1073"/>
                <a:gd name="T5" fmla="*/ 55 h 938"/>
                <a:gd name="T6" fmla="*/ 9 w 1073"/>
                <a:gd name="T7" fmla="*/ 282 h 938"/>
                <a:gd name="T8" fmla="*/ 0 w 1073"/>
                <a:gd name="T9" fmla="*/ 364 h 938"/>
                <a:gd name="T10" fmla="*/ 72 w 1073"/>
                <a:gd name="T11" fmla="*/ 673 h 938"/>
                <a:gd name="T12" fmla="*/ 191 w 1073"/>
                <a:gd name="T13" fmla="*/ 855 h 938"/>
                <a:gd name="T14" fmla="*/ 472 w 1073"/>
                <a:gd name="T15" fmla="*/ 937 h 938"/>
                <a:gd name="T16" fmla="*/ 727 w 1073"/>
                <a:gd name="T17" fmla="*/ 928 h 938"/>
                <a:gd name="T18" fmla="*/ 836 w 1073"/>
                <a:gd name="T19" fmla="*/ 855 h 938"/>
                <a:gd name="T20" fmla="*/ 982 w 1073"/>
                <a:gd name="T21" fmla="*/ 582 h 938"/>
                <a:gd name="T22" fmla="*/ 1072 w 1073"/>
                <a:gd name="T23" fmla="*/ 491 h 938"/>
                <a:gd name="T24" fmla="*/ 1027 w 1073"/>
                <a:gd name="T25" fmla="*/ 382 h 938"/>
                <a:gd name="T26" fmla="*/ 991 w 1073"/>
                <a:gd name="T27" fmla="*/ 364 h 938"/>
                <a:gd name="T28" fmla="*/ 936 w 1073"/>
                <a:gd name="T29" fmla="*/ 264 h 938"/>
                <a:gd name="T30" fmla="*/ 891 w 1073"/>
                <a:gd name="T31" fmla="*/ 155 h 938"/>
                <a:gd name="T32" fmla="*/ 763 w 1073"/>
                <a:gd name="T33" fmla="*/ 28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73" h="938">
                  <a:moveTo>
                    <a:pt x="763" y="28"/>
                  </a:moveTo>
                  <a:lnTo>
                    <a:pt x="436" y="0"/>
                  </a:lnTo>
                  <a:lnTo>
                    <a:pt x="172" y="55"/>
                  </a:lnTo>
                  <a:lnTo>
                    <a:pt x="9" y="282"/>
                  </a:lnTo>
                  <a:lnTo>
                    <a:pt x="0" y="364"/>
                  </a:lnTo>
                  <a:lnTo>
                    <a:pt x="72" y="673"/>
                  </a:lnTo>
                  <a:lnTo>
                    <a:pt x="191" y="855"/>
                  </a:lnTo>
                  <a:lnTo>
                    <a:pt x="472" y="937"/>
                  </a:lnTo>
                  <a:lnTo>
                    <a:pt x="727" y="928"/>
                  </a:lnTo>
                  <a:lnTo>
                    <a:pt x="836" y="855"/>
                  </a:lnTo>
                  <a:lnTo>
                    <a:pt x="982" y="582"/>
                  </a:lnTo>
                  <a:lnTo>
                    <a:pt x="1072" y="491"/>
                  </a:lnTo>
                  <a:lnTo>
                    <a:pt x="1027" y="382"/>
                  </a:lnTo>
                  <a:lnTo>
                    <a:pt x="991" y="364"/>
                  </a:lnTo>
                  <a:lnTo>
                    <a:pt x="936" y="264"/>
                  </a:lnTo>
                  <a:lnTo>
                    <a:pt x="891" y="155"/>
                  </a:lnTo>
                  <a:lnTo>
                    <a:pt x="763" y="28"/>
                  </a:lnTo>
                </a:path>
              </a:pathLst>
            </a:custGeom>
            <a:solidFill>
              <a:srgbClr val="CCEC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67" name="Oval 11"/>
            <p:cNvSpPr>
              <a:spLocks noChangeArrowheads="1"/>
            </p:cNvSpPr>
            <p:nvPr/>
          </p:nvSpPr>
          <p:spPr bwMode="auto">
            <a:xfrm>
              <a:off x="4569" y="765"/>
              <a:ext cx="147" cy="14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68" name="Oval 12"/>
            <p:cNvSpPr>
              <a:spLocks noChangeArrowheads="1"/>
            </p:cNvSpPr>
            <p:nvPr/>
          </p:nvSpPr>
          <p:spPr bwMode="auto">
            <a:xfrm>
              <a:off x="4173" y="1152"/>
              <a:ext cx="147" cy="14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69" name="Rectangle 13"/>
            <p:cNvSpPr>
              <a:spLocks noChangeArrowheads="1"/>
            </p:cNvSpPr>
            <p:nvPr/>
          </p:nvSpPr>
          <p:spPr bwMode="auto">
            <a:xfrm>
              <a:off x="2631" y="1026"/>
              <a:ext cx="130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  <a:latin typeface="Tahoma" panose="020B0604030504040204" pitchFamily="34" charset="0"/>
                </a:rPr>
                <a:t>Minimum Distance</a:t>
              </a:r>
            </a:p>
          </p:txBody>
        </p:sp>
        <p:sp>
          <p:nvSpPr>
            <p:cNvPr id="19470" name="Rectangle 14"/>
            <p:cNvSpPr>
              <a:spLocks noChangeArrowheads="1"/>
            </p:cNvSpPr>
            <p:nvPr/>
          </p:nvSpPr>
          <p:spPr bwMode="auto">
            <a:xfrm>
              <a:off x="2217" y="1682"/>
              <a:ext cx="2258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en-US" sz="2400">
                  <a:solidFill>
                    <a:srgbClr val="CC0000"/>
                  </a:solidFill>
                  <a:latin typeface="Tahoma" panose="020B0604030504040204" pitchFamily="34" charset="0"/>
                </a:rPr>
                <a:t>Complete Linkage</a:t>
              </a:r>
            </a:p>
          </p:txBody>
        </p:sp>
        <p:sp>
          <p:nvSpPr>
            <p:cNvPr id="19471" name="Freeform 15"/>
            <p:cNvSpPr>
              <a:spLocks/>
            </p:cNvSpPr>
            <p:nvPr/>
          </p:nvSpPr>
          <p:spPr bwMode="auto">
            <a:xfrm>
              <a:off x="1552" y="1831"/>
              <a:ext cx="1025" cy="896"/>
            </a:xfrm>
            <a:custGeom>
              <a:avLst/>
              <a:gdLst>
                <a:gd name="T0" fmla="*/ 309 w 1073"/>
                <a:gd name="T1" fmla="*/ 28 h 938"/>
                <a:gd name="T2" fmla="*/ 636 w 1073"/>
                <a:gd name="T3" fmla="*/ 0 h 938"/>
                <a:gd name="T4" fmla="*/ 900 w 1073"/>
                <a:gd name="T5" fmla="*/ 55 h 938"/>
                <a:gd name="T6" fmla="*/ 1063 w 1073"/>
                <a:gd name="T7" fmla="*/ 282 h 938"/>
                <a:gd name="T8" fmla="*/ 1072 w 1073"/>
                <a:gd name="T9" fmla="*/ 364 h 938"/>
                <a:gd name="T10" fmla="*/ 1000 w 1073"/>
                <a:gd name="T11" fmla="*/ 673 h 938"/>
                <a:gd name="T12" fmla="*/ 881 w 1073"/>
                <a:gd name="T13" fmla="*/ 855 h 938"/>
                <a:gd name="T14" fmla="*/ 600 w 1073"/>
                <a:gd name="T15" fmla="*/ 937 h 938"/>
                <a:gd name="T16" fmla="*/ 345 w 1073"/>
                <a:gd name="T17" fmla="*/ 928 h 938"/>
                <a:gd name="T18" fmla="*/ 236 w 1073"/>
                <a:gd name="T19" fmla="*/ 855 h 938"/>
                <a:gd name="T20" fmla="*/ 90 w 1073"/>
                <a:gd name="T21" fmla="*/ 582 h 938"/>
                <a:gd name="T22" fmla="*/ 0 w 1073"/>
                <a:gd name="T23" fmla="*/ 491 h 938"/>
                <a:gd name="T24" fmla="*/ 45 w 1073"/>
                <a:gd name="T25" fmla="*/ 382 h 938"/>
                <a:gd name="T26" fmla="*/ 81 w 1073"/>
                <a:gd name="T27" fmla="*/ 364 h 938"/>
                <a:gd name="T28" fmla="*/ 136 w 1073"/>
                <a:gd name="T29" fmla="*/ 264 h 938"/>
                <a:gd name="T30" fmla="*/ 181 w 1073"/>
                <a:gd name="T31" fmla="*/ 155 h 938"/>
                <a:gd name="T32" fmla="*/ 309 w 1073"/>
                <a:gd name="T33" fmla="*/ 28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73" h="938">
                  <a:moveTo>
                    <a:pt x="309" y="28"/>
                  </a:moveTo>
                  <a:lnTo>
                    <a:pt x="636" y="0"/>
                  </a:lnTo>
                  <a:lnTo>
                    <a:pt x="900" y="55"/>
                  </a:lnTo>
                  <a:lnTo>
                    <a:pt x="1063" y="282"/>
                  </a:lnTo>
                  <a:lnTo>
                    <a:pt x="1072" y="364"/>
                  </a:lnTo>
                  <a:lnTo>
                    <a:pt x="1000" y="673"/>
                  </a:lnTo>
                  <a:lnTo>
                    <a:pt x="881" y="855"/>
                  </a:lnTo>
                  <a:lnTo>
                    <a:pt x="600" y="937"/>
                  </a:lnTo>
                  <a:lnTo>
                    <a:pt x="345" y="928"/>
                  </a:lnTo>
                  <a:lnTo>
                    <a:pt x="236" y="855"/>
                  </a:lnTo>
                  <a:lnTo>
                    <a:pt x="90" y="582"/>
                  </a:lnTo>
                  <a:lnTo>
                    <a:pt x="0" y="491"/>
                  </a:lnTo>
                  <a:lnTo>
                    <a:pt x="45" y="382"/>
                  </a:lnTo>
                  <a:lnTo>
                    <a:pt x="81" y="364"/>
                  </a:lnTo>
                  <a:lnTo>
                    <a:pt x="136" y="264"/>
                  </a:lnTo>
                  <a:lnTo>
                    <a:pt x="181" y="155"/>
                  </a:lnTo>
                  <a:lnTo>
                    <a:pt x="309" y="28"/>
                  </a:lnTo>
                </a:path>
              </a:pathLst>
            </a:custGeom>
            <a:solidFill>
              <a:srgbClr val="CCEC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72" name="Oval 16"/>
            <p:cNvSpPr>
              <a:spLocks noChangeArrowheads="1"/>
            </p:cNvSpPr>
            <p:nvPr/>
          </p:nvSpPr>
          <p:spPr bwMode="auto">
            <a:xfrm>
              <a:off x="2258" y="2372"/>
              <a:ext cx="147" cy="14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73" name="Freeform 17"/>
            <p:cNvSpPr>
              <a:spLocks/>
            </p:cNvSpPr>
            <p:nvPr/>
          </p:nvSpPr>
          <p:spPr bwMode="auto">
            <a:xfrm>
              <a:off x="4018" y="1839"/>
              <a:ext cx="1073" cy="938"/>
            </a:xfrm>
            <a:custGeom>
              <a:avLst/>
              <a:gdLst>
                <a:gd name="T0" fmla="*/ 763 w 1073"/>
                <a:gd name="T1" fmla="*/ 28 h 938"/>
                <a:gd name="T2" fmla="*/ 436 w 1073"/>
                <a:gd name="T3" fmla="*/ 0 h 938"/>
                <a:gd name="T4" fmla="*/ 172 w 1073"/>
                <a:gd name="T5" fmla="*/ 55 h 938"/>
                <a:gd name="T6" fmla="*/ 9 w 1073"/>
                <a:gd name="T7" fmla="*/ 282 h 938"/>
                <a:gd name="T8" fmla="*/ 0 w 1073"/>
                <a:gd name="T9" fmla="*/ 364 h 938"/>
                <a:gd name="T10" fmla="*/ 72 w 1073"/>
                <a:gd name="T11" fmla="*/ 673 h 938"/>
                <a:gd name="T12" fmla="*/ 191 w 1073"/>
                <a:gd name="T13" fmla="*/ 855 h 938"/>
                <a:gd name="T14" fmla="*/ 472 w 1073"/>
                <a:gd name="T15" fmla="*/ 937 h 938"/>
                <a:gd name="T16" fmla="*/ 727 w 1073"/>
                <a:gd name="T17" fmla="*/ 928 h 938"/>
                <a:gd name="T18" fmla="*/ 836 w 1073"/>
                <a:gd name="T19" fmla="*/ 855 h 938"/>
                <a:gd name="T20" fmla="*/ 982 w 1073"/>
                <a:gd name="T21" fmla="*/ 582 h 938"/>
                <a:gd name="T22" fmla="*/ 1072 w 1073"/>
                <a:gd name="T23" fmla="*/ 491 h 938"/>
                <a:gd name="T24" fmla="*/ 1027 w 1073"/>
                <a:gd name="T25" fmla="*/ 382 h 938"/>
                <a:gd name="T26" fmla="*/ 991 w 1073"/>
                <a:gd name="T27" fmla="*/ 364 h 938"/>
                <a:gd name="T28" fmla="*/ 936 w 1073"/>
                <a:gd name="T29" fmla="*/ 264 h 938"/>
                <a:gd name="T30" fmla="*/ 891 w 1073"/>
                <a:gd name="T31" fmla="*/ 155 h 938"/>
                <a:gd name="T32" fmla="*/ 763 w 1073"/>
                <a:gd name="T33" fmla="*/ 28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73" h="938">
                  <a:moveTo>
                    <a:pt x="763" y="28"/>
                  </a:moveTo>
                  <a:lnTo>
                    <a:pt x="436" y="0"/>
                  </a:lnTo>
                  <a:lnTo>
                    <a:pt x="172" y="55"/>
                  </a:lnTo>
                  <a:lnTo>
                    <a:pt x="9" y="282"/>
                  </a:lnTo>
                  <a:lnTo>
                    <a:pt x="0" y="364"/>
                  </a:lnTo>
                  <a:lnTo>
                    <a:pt x="72" y="673"/>
                  </a:lnTo>
                  <a:lnTo>
                    <a:pt x="191" y="855"/>
                  </a:lnTo>
                  <a:lnTo>
                    <a:pt x="472" y="937"/>
                  </a:lnTo>
                  <a:lnTo>
                    <a:pt x="727" y="928"/>
                  </a:lnTo>
                  <a:lnTo>
                    <a:pt x="836" y="855"/>
                  </a:lnTo>
                  <a:lnTo>
                    <a:pt x="982" y="582"/>
                  </a:lnTo>
                  <a:lnTo>
                    <a:pt x="1072" y="491"/>
                  </a:lnTo>
                  <a:lnTo>
                    <a:pt x="1027" y="382"/>
                  </a:lnTo>
                  <a:lnTo>
                    <a:pt x="991" y="364"/>
                  </a:lnTo>
                  <a:lnTo>
                    <a:pt x="936" y="264"/>
                  </a:lnTo>
                  <a:lnTo>
                    <a:pt x="891" y="155"/>
                  </a:lnTo>
                  <a:lnTo>
                    <a:pt x="763" y="28"/>
                  </a:lnTo>
                </a:path>
              </a:pathLst>
            </a:custGeom>
            <a:solidFill>
              <a:srgbClr val="CCEC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74" name="Oval 18"/>
            <p:cNvSpPr>
              <a:spLocks noChangeArrowheads="1"/>
            </p:cNvSpPr>
            <p:nvPr/>
          </p:nvSpPr>
          <p:spPr bwMode="auto">
            <a:xfrm>
              <a:off x="4603" y="1980"/>
              <a:ext cx="147" cy="14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75" name="Oval 19"/>
            <p:cNvSpPr>
              <a:spLocks noChangeArrowheads="1"/>
            </p:cNvSpPr>
            <p:nvPr/>
          </p:nvSpPr>
          <p:spPr bwMode="auto">
            <a:xfrm>
              <a:off x="4207" y="2367"/>
              <a:ext cx="147" cy="14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76" name="Line 20"/>
            <p:cNvSpPr>
              <a:spLocks noChangeShapeType="1"/>
            </p:cNvSpPr>
            <p:nvPr/>
          </p:nvSpPr>
          <p:spPr bwMode="auto">
            <a:xfrm>
              <a:off x="1989" y="2062"/>
              <a:ext cx="2613" cy="2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77" name="Rectangle 21"/>
            <p:cNvSpPr>
              <a:spLocks noChangeArrowheads="1"/>
            </p:cNvSpPr>
            <p:nvPr/>
          </p:nvSpPr>
          <p:spPr bwMode="auto">
            <a:xfrm>
              <a:off x="2665" y="2043"/>
              <a:ext cx="1304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  <a:latin typeface="Tahoma" panose="020B0604030504040204" pitchFamily="34" charset="0"/>
                </a:rPr>
                <a:t>Maximum Distance</a:t>
              </a:r>
            </a:p>
          </p:txBody>
        </p:sp>
        <p:sp>
          <p:nvSpPr>
            <p:cNvPr id="19478" name="Rectangle 22"/>
            <p:cNvSpPr>
              <a:spLocks noChangeArrowheads="1"/>
            </p:cNvSpPr>
            <p:nvPr/>
          </p:nvSpPr>
          <p:spPr bwMode="auto">
            <a:xfrm>
              <a:off x="2247" y="2832"/>
              <a:ext cx="2258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en-US" sz="2400">
                  <a:solidFill>
                    <a:srgbClr val="CC0000"/>
                  </a:solidFill>
                  <a:latin typeface="Tahoma" panose="020B0604030504040204" pitchFamily="34" charset="0"/>
                </a:rPr>
                <a:t>Average Linkage</a:t>
              </a:r>
            </a:p>
          </p:txBody>
        </p:sp>
        <p:sp>
          <p:nvSpPr>
            <p:cNvPr id="19479" name="Freeform 23"/>
            <p:cNvSpPr>
              <a:spLocks/>
            </p:cNvSpPr>
            <p:nvPr/>
          </p:nvSpPr>
          <p:spPr bwMode="auto">
            <a:xfrm>
              <a:off x="4048" y="3045"/>
              <a:ext cx="1073" cy="938"/>
            </a:xfrm>
            <a:custGeom>
              <a:avLst/>
              <a:gdLst>
                <a:gd name="T0" fmla="*/ 763 w 1073"/>
                <a:gd name="T1" fmla="*/ 28 h 938"/>
                <a:gd name="T2" fmla="*/ 436 w 1073"/>
                <a:gd name="T3" fmla="*/ 0 h 938"/>
                <a:gd name="T4" fmla="*/ 172 w 1073"/>
                <a:gd name="T5" fmla="*/ 55 h 938"/>
                <a:gd name="T6" fmla="*/ 9 w 1073"/>
                <a:gd name="T7" fmla="*/ 282 h 938"/>
                <a:gd name="T8" fmla="*/ 0 w 1073"/>
                <a:gd name="T9" fmla="*/ 364 h 938"/>
                <a:gd name="T10" fmla="*/ 72 w 1073"/>
                <a:gd name="T11" fmla="*/ 673 h 938"/>
                <a:gd name="T12" fmla="*/ 191 w 1073"/>
                <a:gd name="T13" fmla="*/ 855 h 938"/>
                <a:gd name="T14" fmla="*/ 472 w 1073"/>
                <a:gd name="T15" fmla="*/ 937 h 938"/>
                <a:gd name="T16" fmla="*/ 727 w 1073"/>
                <a:gd name="T17" fmla="*/ 928 h 938"/>
                <a:gd name="T18" fmla="*/ 836 w 1073"/>
                <a:gd name="T19" fmla="*/ 855 h 938"/>
                <a:gd name="T20" fmla="*/ 982 w 1073"/>
                <a:gd name="T21" fmla="*/ 582 h 938"/>
                <a:gd name="T22" fmla="*/ 1072 w 1073"/>
                <a:gd name="T23" fmla="*/ 491 h 938"/>
                <a:gd name="T24" fmla="*/ 1027 w 1073"/>
                <a:gd name="T25" fmla="*/ 382 h 938"/>
                <a:gd name="T26" fmla="*/ 991 w 1073"/>
                <a:gd name="T27" fmla="*/ 364 h 938"/>
                <a:gd name="T28" fmla="*/ 936 w 1073"/>
                <a:gd name="T29" fmla="*/ 264 h 938"/>
                <a:gd name="T30" fmla="*/ 891 w 1073"/>
                <a:gd name="T31" fmla="*/ 155 h 938"/>
                <a:gd name="T32" fmla="*/ 763 w 1073"/>
                <a:gd name="T33" fmla="*/ 28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73" h="938">
                  <a:moveTo>
                    <a:pt x="763" y="28"/>
                  </a:moveTo>
                  <a:lnTo>
                    <a:pt x="436" y="0"/>
                  </a:lnTo>
                  <a:lnTo>
                    <a:pt x="172" y="55"/>
                  </a:lnTo>
                  <a:lnTo>
                    <a:pt x="9" y="282"/>
                  </a:lnTo>
                  <a:lnTo>
                    <a:pt x="0" y="364"/>
                  </a:lnTo>
                  <a:lnTo>
                    <a:pt x="72" y="673"/>
                  </a:lnTo>
                  <a:lnTo>
                    <a:pt x="191" y="855"/>
                  </a:lnTo>
                  <a:lnTo>
                    <a:pt x="472" y="937"/>
                  </a:lnTo>
                  <a:lnTo>
                    <a:pt x="727" y="928"/>
                  </a:lnTo>
                  <a:lnTo>
                    <a:pt x="836" y="855"/>
                  </a:lnTo>
                  <a:lnTo>
                    <a:pt x="982" y="582"/>
                  </a:lnTo>
                  <a:lnTo>
                    <a:pt x="1072" y="491"/>
                  </a:lnTo>
                  <a:lnTo>
                    <a:pt x="1027" y="382"/>
                  </a:lnTo>
                  <a:lnTo>
                    <a:pt x="991" y="364"/>
                  </a:lnTo>
                  <a:lnTo>
                    <a:pt x="936" y="264"/>
                  </a:lnTo>
                  <a:lnTo>
                    <a:pt x="891" y="155"/>
                  </a:lnTo>
                  <a:lnTo>
                    <a:pt x="763" y="28"/>
                  </a:lnTo>
                </a:path>
              </a:pathLst>
            </a:custGeom>
            <a:solidFill>
              <a:srgbClr val="CCEC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80" name="Oval 24"/>
            <p:cNvSpPr>
              <a:spLocks noChangeArrowheads="1"/>
            </p:cNvSpPr>
            <p:nvPr/>
          </p:nvSpPr>
          <p:spPr bwMode="auto">
            <a:xfrm>
              <a:off x="4633" y="3186"/>
              <a:ext cx="147" cy="14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81" name="Oval 25"/>
            <p:cNvSpPr>
              <a:spLocks noChangeArrowheads="1"/>
            </p:cNvSpPr>
            <p:nvPr/>
          </p:nvSpPr>
          <p:spPr bwMode="auto">
            <a:xfrm>
              <a:off x="4237" y="3573"/>
              <a:ext cx="147" cy="14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82" name="Line 26"/>
            <p:cNvSpPr>
              <a:spLocks noChangeShapeType="1"/>
            </p:cNvSpPr>
            <p:nvPr/>
          </p:nvSpPr>
          <p:spPr bwMode="auto">
            <a:xfrm>
              <a:off x="2428" y="3659"/>
              <a:ext cx="1838" cy="37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83" name="Rectangle 27"/>
            <p:cNvSpPr>
              <a:spLocks noChangeArrowheads="1"/>
            </p:cNvSpPr>
            <p:nvPr/>
          </p:nvSpPr>
          <p:spPr bwMode="auto">
            <a:xfrm>
              <a:off x="2695" y="3753"/>
              <a:ext cx="1304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  <a:latin typeface="Tahoma" panose="020B0604030504040204" pitchFamily="34" charset="0"/>
                </a:rPr>
                <a:t>Average Distance</a:t>
              </a:r>
            </a:p>
          </p:txBody>
        </p:sp>
        <p:sp>
          <p:nvSpPr>
            <p:cNvPr id="19484" name="Line 28"/>
            <p:cNvSpPr>
              <a:spLocks noChangeShapeType="1"/>
            </p:cNvSpPr>
            <p:nvPr/>
          </p:nvSpPr>
          <p:spPr bwMode="auto">
            <a:xfrm flipV="1">
              <a:off x="2022" y="3264"/>
              <a:ext cx="2628" cy="7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85" name="Line 29"/>
            <p:cNvSpPr>
              <a:spLocks noChangeShapeType="1"/>
            </p:cNvSpPr>
            <p:nvPr/>
          </p:nvSpPr>
          <p:spPr bwMode="auto">
            <a:xfrm>
              <a:off x="2028" y="3307"/>
              <a:ext cx="2238" cy="293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86" name="Line 30"/>
            <p:cNvSpPr>
              <a:spLocks noChangeShapeType="1"/>
            </p:cNvSpPr>
            <p:nvPr/>
          </p:nvSpPr>
          <p:spPr bwMode="auto">
            <a:xfrm flipH="1">
              <a:off x="2394" y="3312"/>
              <a:ext cx="2304" cy="288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87" name="Rectangle 31"/>
            <p:cNvSpPr>
              <a:spLocks noChangeArrowheads="1"/>
            </p:cNvSpPr>
            <p:nvPr/>
          </p:nvSpPr>
          <p:spPr bwMode="auto">
            <a:xfrm>
              <a:off x="1608" y="1499"/>
              <a:ext cx="88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  <a:latin typeface="Tahoma" panose="020B0604030504040204" pitchFamily="34" charset="0"/>
                </a:rPr>
                <a:t>Cluster 1</a:t>
              </a:r>
            </a:p>
          </p:txBody>
        </p:sp>
        <p:sp>
          <p:nvSpPr>
            <p:cNvPr id="19488" name="Rectangle 32"/>
            <p:cNvSpPr>
              <a:spLocks noChangeArrowheads="1"/>
            </p:cNvSpPr>
            <p:nvPr/>
          </p:nvSpPr>
          <p:spPr bwMode="auto">
            <a:xfrm>
              <a:off x="4080" y="1488"/>
              <a:ext cx="88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  <a:latin typeface="Tahoma" panose="020B0604030504040204" pitchFamily="34" charset="0"/>
                </a:rPr>
                <a:t>Cluster 2</a:t>
              </a:r>
            </a:p>
          </p:txBody>
        </p:sp>
        <p:sp>
          <p:nvSpPr>
            <p:cNvPr id="19489" name="Rectangle 33"/>
            <p:cNvSpPr>
              <a:spLocks noChangeArrowheads="1"/>
            </p:cNvSpPr>
            <p:nvPr/>
          </p:nvSpPr>
          <p:spPr bwMode="auto">
            <a:xfrm>
              <a:off x="1614" y="2688"/>
              <a:ext cx="88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  <a:latin typeface="Tahoma" panose="020B0604030504040204" pitchFamily="34" charset="0"/>
                </a:rPr>
                <a:t>Cluster 1</a:t>
              </a:r>
            </a:p>
          </p:txBody>
        </p:sp>
        <p:sp>
          <p:nvSpPr>
            <p:cNvPr id="19490" name="Rectangle 34"/>
            <p:cNvSpPr>
              <a:spLocks noChangeArrowheads="1"/>
            </p:cNvSpPr>
            <p:nvPr/>
          </p:nvSpPr>
          <p:spPr bwMode="auto">
            <a:xfrm>
              <a:off x="4166" y="2736"/>
              <a:ext cx="88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  <a:latin typeface="Tahoma" panose="020B0604030504040204" pitchFamily="34" charset="0"/>
                </a:rPr>
                <a:t>Cluster 2</a:t>
              </a:r>
            </a:p>
          </p:txBody>
        </p:sp>
        <p:sp>
          <p:nvSpPr>
            <p:cNvPr id="19491" name="Rectangle 35"/>
            <p:cNvSpPr>
              <a:spLocks noChangeArrowheads="1"/>
            </p:cNvSpPr>
            <p:nvPr/>
          </p:nvSpPr>
          <p:spPr bwMode="auto">
            <a:xfrm>
              <a:off x="1704" y="3888"/>
              <a:ext cx="88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  <a:latin typeface="Tahoma" panose="020B0604030504040204" pitchFamily="34" charset="0"/>
                </a:rPr>
                <a:t>Cluster 1</a:t>
              </a:r>
            </a:p>
          </p:txBody>
        </p:sp>
        <p:sp>
          <p:nvSpPr>
            <p:cNvPr id="19492" name="Rectangle 36"/>
            <p:cNvSpPr>
              <a:spLocks noChangeArrowheads="1"/>
            </p:cNvSpPr>
            <p:nvPr/>
          </p:nvSpPr>
          <p:spPr bwMode="auto">
            <a:xfrm>
              <a:off x="4118" y="3936"/>
              <a:ext cx="88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en-US">
                  <a:solidFill>
                    <a:srgbClr val="CC0000"/>
                  </a:solidFill>
                  <a:latin typeface="Tahoma" panose="020B0604030504040204" pitchFamily="34" charset="0"/>
                </a:rPr>
                <a:t>Cluster 2</a:t>
              </a:r>
            </a:p>
          </p:txBody>
        </p:sp>
        <p:sp>
          <p:nvSpPr>
            <p:cNvPr id="19493" name="Line 37"/>
            <p:cNvSpPr>
              <a:spLocks noChangeShapeType="1"/>
            </p:cNvSpPr>
            <p:nvPr/>
          </p:nvSpPr>
          <p:spPr bwMode="auto">
            <a:xfrm>
              <a:off x="2394" y="1248"/>
              <a:ext cx="1776" cy="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94" name="Oval 38"/>
            <p:cNvSpPr>
              <a:spLocks noChangeArrowheads="1"/>
            </p:cNvSpPr>
            <p:nvPr/>
          </p:nvSpPr>
          <p:spPr bwMode="auto">
            <a:xfrm>
              <a:off x="1949" y="3178"/>
              <a:ext cx="147" cy="14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95" name="Oval 39"/>
            <p:cNvSpPr>
              <a:spLocks noChangeArrowheads="1"/>
            </p:cNvSpPr>
            <p:nvPr/>
          </p:nvSpPr>
          <p:spPr bwMode="auto">
            <a:xfrm>
              <a:off x="2345" y="3565"/>
              <a:ext cx="147" cy="14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496" name="Oval 40"/>
            <p:cNvSpPr>
              <a:spLocks noChangeArrowheads="1"/>
            </p:cNvSpPr>
            <p:nvPr/>
          </p:nvSpPr>
          <p:spPr bwMode="auto">
            <a:xfrm>
              <a:off x="1862" y="1985"/>
              <a:ext cx="147" cy="14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98906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Text Box 2"/>
          <p:cNvSpPr txBox="1">
            <a:spLocks noChangeArrowheads="1"/>
          </p:cNvSpPr>
          <p:nvPr/>
        </p:nvSpPr>
        <p:spPr bwMode="auto">
          <a:xfrm>
            <a:off x="1981201" y="762001"/>
            <a:ext cx="794067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prstClr val="black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We know how to measure the distance between two objects, but defining the distance between an object and a cluster, or defining the distance between two clusters is non obvious.  </a:t>
            </a:r>
          </a:p>
        </p:txBody>
      </p:sp>
      <p:sp>
        <p:nvSpPr>
          <p:cNvPr id="219139" name="Text Box 3"/>
          <p:cNvSpPr txBox="1">
            <a:spLocks noChangeArrowheads="1"/>
          </p:cNvSpPr>
          <p:nvPr/>
        </p:nvSpPr>
        <p:spPr bwMode="auto">
          <a:xfrm>
            <a:off x="1752601" y="2743200"/>
            <a:ext cx="8321675" cy="378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buFontTx/>
              <a:buChar char="•"/>
              <a:defRPr/>
            </a:pPr>
            <a:r>
              <a:rPr lang="en-US" altLang="en-US" b="1">
                <a:solidFill>
                  <a:prstClr val="black"/>
                </a:solidFill>
              </a:rPr>
              <a:t> </a:t>
            </a:r>
            <a:r>
              <a:rPr kumimoji="1" lang="en-US" altLang="en-US" b="1">
                <a:solidFill>
                  <a:srgbClr val="1F49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-111" charset="0"/>
              </a:rPr>
              <a:t>Single linkage (nearest neighbor):</a:t>
            </a:r>
            <a:r>
              <a:rPr lang="en-US" altLang="en-US">
                <a:solidFill>
                  <a:prstClr val="black"/>
                </a:solidFill>
              </a:rPr>
              <a:t> </a:t>
            </a:r>
            <a:r>
              <a:rPr lang="en-US" altLang="en-US" sz="2000">
                <a:solidFill>
                  <a:prstClr val="black"/>
                </a:solidFill>
              </a:rPr>
              <a:t>In this method the distance between two clusters is determined by the distance of the two closest objects (nearest neighbors) in the different clusters.</a:t>
            </a:r>
          </a:p>
          <a:p>
            <a:pPr>
              <a:buFontTx/>
              <a:buChar char="•"/>
              <a:defRPr/>
            </a:pPr>
            <a:r>
              <a:rPr lang="en-US" altLang="en-US">
                <a:solidFill>
                  <a:prstClr val="black"/>
                </a:solidFill>
              </a:rPr>
              <a:t> </a:t>
            </a:r>
            <a:r>
              <a:rPr kumimoji="1" lang="en-US" altLang="en-US" b="1">
                <a:solidFill>
                  <a:srgbClr val="1F49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-111" charset="0"/>
              </a:rPr>
              <a:t>Complete linkage (furthest neighbor):</a:t>
            </a:r>
            <a:r>
              <a:rPr lang="en-US" altLang="en-US" b="1">
                <a:solidFill>
                  <a:prstClr val="black"/>
                </a:solidFill>
              </a:rPr>
              <a:t> </a:t>
            </a:r>
            <a:r>
              <a:rPr lang="en-US" altLang="en-US" sz="2000">
                <a:solidFill>
                  <a:prstClr val="black"/>
                </a:solidFill>
              </a:rPr>
              <a:t>In this method, the distances between clusters are determined by the greatest distance between any two objects in the different clusters (i.e., by the "furthest neighbors").</a:t>
            </a:r>
            <a:r>
              <a:rPr lang="en-US" altLang="en-US">
                <a:solidFill>
                  <a:prstClr val="black"/>
                </a:solidFill>
              </a:rPr>
              <a:t> </a:t>
            </a:r>
          </a:p>
          <a:p>
            <a:pPr>
              <a:buFontTx/>
              <a:buChar char="•"/>
              <a:defRPr/>
            </a:pPr>
            <a:r>
              <a:rPr lang="en-US" altLang="en-US" b="1">
                <a:solidFill>
                  <a:prstClr val="black"/>
                </a:solidFill>
              </a:rPr>
              <a:t> </a:t>
            </a:r>
            <a:r>
              <a:rPr kumimoji="1" lang="en-US" altLang="en-US" b="1">
                <a:solidFill>
                  <a:srgbClr val="1F49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-111" charset="0"/>
              </a:rPr>
              <a:t>Group average linkage</a:t>
            </a:r>
            <a:r>
              <a:rPr lang="en-US" altLang="en-US" b="1">
                <a:solidFill>
                  <a:prstClr val="black"/>
                </a:solidFill>
              </a:rPr>
              <a:t>:</a:t>
            </a:r>
            <a:r>
              <a:rPr lang="en-US" altLang="en-US">
                <a:solidFill>
                  <a:prstClr val="black"/>
                </a:solidFill>
              </a:rPr>
              <a:t> </a:t>
            </a:r>
            <a:r>
              <a:rPr lang="en-US" altLang="en-US" sz="2000">
                <a:solidFill>
                  <a:prstClr val="black"/>
                </a:solidFill>
              </a:rPr>
              <a:t>In this method, the distance between two clusters is calculated as the average distance between all pairs of objects in the two different clusters</a:t>
            </a:r>
            <a:r>
              <a:rPr lang="en-US" altLang="en-US">
                <a:solidFill>
                  <a:prstClr val="black"/>
                </a:solidFill>
              </a:rPr>
              <a:t>.</a:t>
            </a:r>
          </a:p>
          <a:p>
            <a:pPr>
              <a:buFontTx/>
              <a:buChar char="•"/>
              <a:defRPr/>
            </a:pPr>
            <a:endParaRPr lang="en-US" altLang="en-US" sz="2000">
              <a:solidFill>
                <a:prstClr val="black"/>
              </a:solidFill>
            </a:endParaRPr>
          </a:p>
        </p:txBody>
      </p:sp>
      <p:sp>
        <p:nvSpPr>
          <p:cNvPr id="28676" name="TextBox 3"/>
          <p:cNvSpPr txBox="1">
            <a:spLocks noChangeArrowheads="1"/>
          </p:cNvSpPr>
          <p:nvPr/>
        </p:nvSpPr>
        <p:spPr bwMode="auto">
          <a:xfrm>
            <a:off x="6324600" y="144905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 dirty="0">
                <a:solidFill>
                  <a:prstClr val="black"/>
                </a:solidFill>
              </a:rPr>
              <a:t>Slide based on one by </a:t>
            </a:r>
            <a:r>
              <a:rPr lang="en-US" altLang="en-US" sz="1800" dirty="0" err="1">
                <a:solidFill>
                  <a:prstClr val="black"/>
                </a:solidFill>
              </a:rPr>
              <a:t>Eamonn</a:t>
            </a:r>
            <a:r>
              <a:rPr lang="en-US" altLang="en-US" sz="1800" dirty="0">
                <a:solidFill>
                  <a:prstClr val="black"/>
                </a:solidFill>
              </a:rPr>
              <a:t> Keogh</a:t>
            </a:r>
          </a:p>
        </p:txBody>
      </p:sp>
    </p:spTree>
    <p:extLst>
      <p:ext uri="{BB962C8B-B14F-4D97-AF65-F5344CB8AC3E}">
        <p14:creationId xmlns:p14="http://schemas.microsoft.com/office/powerpoint/2010/main" val="700005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/>
          <p:cNvGrpSpPr>
            <a:grpSpLocks/>
          </p:cNvGrpSpPr>
          <p:nvPr/>
        </p:nvGrpSpPr>
        <p:grpSpPr bwMode="auto">
          <a:xfrm>
            <a:off x="1587501" y="3565525"/>
            <a:ext cx="4156075" cy="2565400"/>
            <a:chOff x="674" y="1081"/>
            <a:chExt cx="4632" cy="2859"/>
          </a:xfrm>
        </p:grpSpPr>
        <p:sp>
          <p:nvSpPr>
            <p:cNvPr id="29704" name="Rectangle 3"/>
            <p:cNvSpPr>
              <a:spLocks noChangeArrowheads="1"/>
            </p:cNvSpPr>
            <p:nvPr/>
          </p:nvSpPr>
          <p:spPr bwMode="auto">
            <a:xfrm>
              <a:off x="674" y="1081"/>
              <a:ext cx="4632" cy="28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9705" name="Rectangle 4"/>
            <p:cNvSpPr>
              <a:spLocks noChangeArrowheads="1"/>
            </p:cNvSpPr>
            <p:nvPr/>
          </p:nvSpPr>
          <p:spPr bwMode="auto">
            <a:xfrm>
              <a:off x="823" y="3800"/>
              <a:ext cx="149" cy="140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9706" name="Freeform 5"/>
            <p:cNvSpPr>
              <a:spLocks/>
            </p:cNvSpPr>
            <p:nvPr/>
          </p:nvSpPr>
          <p:spPr bwMode="auto">
            <a:xfrm>
              <a:off x="898" y="3800"/>
              <a:ext cx="224" cy="140"/>
            </a:xfrm>
            <a:custGeom>
              <a:avLst/>
              <a:gdLst>
                <a:gd name="T0" fmla="*/ 0 w 170"/>
                <a:gd name="T1" fmla="*/ 0 h 106"/>
                <a:gd name="T2" fmla="*/ 224 w 170"/>
                <a:gd name="T3" fmla="*/ 0 h 106"/>
                <a:gd name="T4" fmla="*/ 224 w 170"/>
                <a:gd name="T5" fmla="*/ 140 h 106"/>
                <a:gd name="T6" fmla="*/ 0 60000 65536"/>
                <a:gd name="T7" fmla="*/ 0 60000 65536"/>
                <a:gd name="T8" fmla="*/ 0 60000 65536"/>
                <a:gd name="T9" fmla="*/ 0 w 170"/>
                <a:gd name="T10" fmla="*/ 0 h 106"/>
                <a:gd name="T11" fmla="*/ 170 w 170"/>
                <a:gd name="T12" fmla="*/ 106 h 1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0" h="106">
                  <a:moveTo>
                    <a:pt x="0" y="0"/>
                  </a:moveTo>
                  <a:lnTo>
                    <a:pt x="170" y="0"/>
                  </a:lnTo>
                  <a:lnTo>
                    <a:pt x="170" y="106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07" name="Rectangle 6"/>
            <p:cNvSpPr>
              <a:spLocks noChangeArrowheads="1"/>
            </p:cNvSpPr>
            <p:nvPr/>
          </p:nvSpPr>
          <p:spPr bwMode="auto">
            <a:xfrm>
              <a:off x="3214" y="3792"/>
              <a:ext cx="149" cy="148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9708" name="Rectangle 7"/>
            <p:cNvSpPr>
              <a:spLocks noChangeArrowheads="1"/>
            </p:cNvSpPr>
            <p:nvPr/>
          </p:nvSpPr>
          <p:spPr bwMode="auto">
            <a:xfrm>
              <a:off x="1719" y="3779"/>
              <a:ext cx="151" cy="161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9709" name="Freeform 8"/>
            <p:cNvSpPr>
              <a:spLocks/>
            </p:cNvSpPr>
            <p:nvPr/>
          </p:nvSpPr>
          <p:spPr bwMode="auto">
            <a:xfrm>
              <a:off x="1010" y="3779"/>
              <a:ext cx="261" cy="161"/>
            </a:xfrm>
            <a:custGeom>
              <a:avLst/>
              <a:gdLst>
                <a:gd name="T0" fmla="*/ 0 w 198"/>
                <a:gd name="T1" fmla="*/ 21 h 122"/>
                <a:gd name="T2" fmla="*/ 0 w 198"/>
                <a:gd name="T3" fmla="*/ 0 h 122"/>
                <a:gd name="T4" fmla="*/ 261 w 198"/>
                <a:gd name="T5" fmla="*/ 0 h 122"/>
                <a:gd name="T6" fmla="*/ 261 w 198"/>
                <a:gd name="T7" fmla="*/ 161 h 1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22"/>
                <a:gd name="T14" fmla="*/ 198 w 198"/>
                <a:gd name="T15" fmla="*/ 122 h 1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22">
                  <a:moveTo>
                    <a:pt x="0" y="16"/>
                  </a:moveTo>
                  <a:lnTo>
                    <a:pt x="0" y="0"/>
                  </a:lnTo>
                  <a:lnTo>
                    <a:pt x="198" y="0"/>
                  </a:lnTo>
                  <a:lnTo>
                    <a:pt x="198" y="12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10" name="Freeform 9"/>
            <p:cNvSpPr>
              <a:spLocks/>
            </p:cNvSpPr>
            <p:nvPr/>
          </p:nvSpPr>
          <p:spPr bwMode="auto">
            <a:xfrm>
              <a:off x="1794" y="3779"/>
              <a:ext cx="225" cy="161"/>
            </a:xfrm>
            <a:custGeom>
              <a:avLst/>
              <a:gdLst>
                <a:gd name="T0" fmla="*/ 0 w 170"/>
                <a:gd name="T1" fmla="*/ 0 h 122"/>
                <a:gd name="T2" fmla="*/ 225 w 170"/>
                <a:gd name="T3" fmla="*/ 0 h 122"/>
                <a:gd name="T4" fmla="*/ 225 w 170"/>
                <a:gd name="T5" fmla="*/ 161 h 122"/>
                <a:gd name="T6" fmla="*/ 0 60000 65536"/>
                <a:gd name="T7" fmla="*/ 0 60000 65536"/>
                <a:gd name="T8" fmla="*/ 0 60000 65536"/>
                <a:gd name="T9" fmla="*/ 0 w 170"/>
                <a:gd name="T10" fmla="*/ 0 h 122"/>
                <a:gd name="T11" fmla="*/ 170 w 170"/>
                <a:gd name="T12" fmla="*/ 122 h 1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0" h="122">
                  <a:moveTo>
                    <a:pt x="0" y="0"/>
                  </a:moveTo>
                  <a:lnTo>
                    <a:pt x="170" y="0"/>
                  </a:lnTo>
                  <a:lnTo>
                    <a:pt x="170" y="12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11" name="Freeform 10"/>
            <p:cNvSpPr>
              <a:spLocks/>
            </p:cNvSpPr>
            <p:nvPr/>
          </p:nvSpPr>
          <p:spPr bwMode="auto">
            <a:xfrm>
              <a:off x="1137" y="3771"/>
              <a:ext cx="283" cy="169"/>
            </a:xfrm>
            <a:custGeom>
              <a:avLst/>
              <a:gdLst>
                <a:gd name="T0" fmla="*/ 0 w 215"/>
                <a:gd name="T1" fmla="*/ 8 h 128"/>
                <a:gd name="T2" fmla="*/ 0 w 215"/>
                <a:gd name="T3" fmla="*/ 0 h 128"/>
                <a:gd name="T4" fmla="*/ 283 w 215"/>
                <a:gd name="T5" fmla="*/ 0 h 128"/>
                <a:gd name="T6" fmla="*/ 283 w 215"/>
                <a:gd name="T7" fmla="*/ 169 h 1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5"/>
                <a:gd name="T13" fmla="*/ 0 h 128"/>
                <a:gd name="T14" fmla="*/ 215 w 215"/>
                <a:gd name="T15" fmla="*/ 128 h 1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5" h="128">
                  <a:moveTo>
                    <a:pt x="0" y="6"/>
                  </a:moveTo>
                  <a:lnTo>
                    <a:pt x="0" y="0"/>
                  </a:lnTo>
                  <a:lnTo>
                    <a:pt x="215" y="0"/>
                  </a:lnTo>
                  <a:lnTo>
                    <a:pt x="215" y="128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12" name="Rectangle 11"/>
            <p:cNvSpPr>
              <a:spLocks noChangeArrowheads="1"/>
            </p:cNvSpPr>
            <p:nvPr/>
          </p:nvSpPr>
          <p:spPr bwMode="auto">
            <a:xfrm>
              <a:off x="3662" y="3771"/>
              <a:ext cx="149" cy="169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9713" name="Rectangle 12"/>
            <p:cNvSpPr>
              <a:spLocks noChangeArrowheads="1"/>
            </p:cNvSpPr>
            <p:nvPr/>
          </p:nvSpPr>
          <p:spPr bwMode="auto">
            <a:xfrm>
              <a:off x="2467" y="3758"/>
              <a:ext cx="149" cy="182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9714" name="Rectangle 13"/>
            <p:cNvSpPr>
              <a:spLocks noChangeArrowheads="1"/>
            </p:cNvSpPr>
            <p:nvPr/>
          </p:nvSpPr>
          <p:spPr bwMode="auto">
            <a:xfrm>
              <a:off x="4110" y="3750"/>
              <a:ext cx="151" cy="190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9715" name="Freeform 14"/>
            <p:cNvSpPr>
              <a:spLocks/>
            </p:cNvSpPr>
            <p:nvPr/>
          </p:nvSpPr>
          <p:spPr bwMode="auto">
            <a:xfrm>
              <a:off x="4186" y="3750"/>
              <a:ext cx="224" cy="190"/>
            </a:xfrm>
            <a:custGeom>
              <a:avLst/>
              <a:gdLst>
                <a:gd name="T0" fmla="*/ 0 w 170"/>
                <a:gd name="T1" fmla="*/ 0 h 144"/>
                <a:gd name="T2" fmla="*/ 224 w 170"/>
                <a:gd name="T3" fmla="*/ 0 h 144"/>
                <a:gd name="T4" fmla="*/ 224 w 170"/>
                <a:gd name="T5" fmla="*/ 190 h 144"/>
                <a:gd name="T6" fmla="*/ 0 60000 65536"/>
                <a:gd name="T7" fmla="*/ 0 60000 65536"/>
                <a:gd name="T8" fmla="*/ 0 60000 65536"/>
                <a:gd name="T9" fmla="*/ 0 w 170"/>
                <a:gd name="T10" fmla="*/ 0 h 144"/>
                <a:gd name="T11" fmla="*/ 170 w 170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0" h="144">
                  <a:moveTo>
                    <a:pt x="0" y="0"/>
                  </a:moveTo>
                  <a:lnTo>
                    <a:pt x="170" y="0"/>
                  </a:lnTo>
                  <a:lnTo>
                    <a:pt x="170" y="144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16" name="Freeform 15"/>
            <p:cNvSpPr>
              <a:spLocks/>
            </p:cNvSpPr>
            <p:nvPr/>
          </p:nvSpPr>
          <p:spPr bwMode="auto">
            <a:xfrm>
              <a:off x="3513" y="3744"/>
              <a:ext cx="224" cy="196"/>
            </a:xfrm>
            <a:custGeom>
              <a:avLst/>
              <a:gdLst>
                <a:gd name="T0" fmla="*/ 0 w 170"/>
                <a:gd name="T1" fmla="*/ 196 h 149"/>
                <a:gd name="T2" fmla="*/ 0 w 170"/>
                <a:gd name="T3" fmla="*/ 0 h 149"/>
                <a:gd name="T4" fmla="*/ 224 w 170"/>
                <a:gd name="T5" fmla="*/ 0 h 149"/>
                <a:gd name="T6" fmla="*/ 224 w 170"/>
                <a:gd name="T7" fmla="*/ 28 h 1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149"/>
                <a:gd name="T14" fmla="*/ 170 w 170"/>
                <a:gd name="T15" fmla="*/ 149 h 1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149">
                  <a:moveTo>
                    <a:pt x="0" y="149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170" y="21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17" name="Freeform 16"/>
            <p:cNvSpPr>
              <a:spLocks/>
            </p:cNvSpPr>
            <p:nvPr/>
          </p:nvSpPr>
          <p:spPr bwMode="auto">
            <a:xfrm>
              <a:off x="1279" y="3744"/>
              <a:ext cx="291" cy="196"/>
            </a:xfrm>
            <a:custGeom>
              <a:avLst/>
              <a:gdLst>
                <a:gd name="T0" fmla="*/ 0 w 221"/>
                <a:gd name="T1" fmla="*/ 28 h 149"/>
                <a:gd name="T2" fmla="*/ 0 w 221"/>
                <a:gd name="T3" fmla="*/ 0 h 149"/>
                <a:gd name="T4" fmla="*/ 291 w 221"/>
                <a:gd name="T5" fmla="*/ 0 h 149"/>
                <a:gd name="T6" fmla="*/ 291 w 221"/>
                <a:gd name="T7" fmla="*/ 196 h 1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1"/>
                <a:gd name="T13" fmla="*/ 0 h 149"/>
                <a:gd name="T14" fmla="*/ 221 w 221"/>
                <a:gd name="T15" fmla="*/ 149 h 1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1" h="149">
                  <a:moveTo>
                    <a:pt x="0" y="21"/>
                  </a:moveTo>
                  <a:lnTo>
                    <a:pt x="0" y="0"/>
                  </a:lnTo>
                  <a:lnTo>
                    <a:pt x="221" y="0"/>
                  </a:lnTo>
                  <a:lnTo>
                    <a:pt x="221" y="149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18" name="Freeform 17"/>
            <p:cNvSpPr>
              <a:spLocks/>
            </p:cNvSpPr>
            <p:nvPr/>
          </p:nvSpPr>
          <p:spPr bwMode="auto">
            <a:xfrm>
              <a:off x="3289" y="3723"/>
              <a:ext cx="336" cy="69"/>
            </a:xfrm>
            <a:custGeom>
              <a:avLst/>
              <a:gdLst>
                <a:gd name="T0" fmla="*/ 0 w 255"/>
                <a:gd name="T1" fmla="*/ 69 h 53"/>
                <a:gd name="T2" fmla="*/ 0 w 255"/>
                <a:gd name="T3" fmla="*/ 0 h 53"/>
                <a:gd name="T4" fmla="*/ 336 w 255"/>
                <a:gd name="T5" fmla="*/ 0 h 53"/>
                <a:gd name="T6" fmla="*/ 336 w 255"/>
                <a:gd name="T7" fmla="*/ 21 h 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55"/>
                <a:gd name="T13" fmla="*/ 0 h 53"/>
                <a:gd name="T14" fmla="*/ 255 w 255"/>
                <a:gd name="T15" fmla="*/ 53 h 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55" h="53">
                  <a:moveTo>
                    <a:pt x="0" y="53"/>
                  </a:moveTo>
                  <a:lnTo>
                    <a:pt x="0" y="0"/>
                  </a:lnTo>
                  <a:lnTo>
                    <a:pt x="255" y="0"/>
                  </a:lnTo>
                  <a:lnTo>
                    <a:pt x="255" y="16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19" name="Freeform 18"/>
            <p:cNvSpPr>
              <a:spLocks/>
            </p:cNvSpPr>
            <p:nvPr/>
          </p:nvSpPr>
          <p:spPr bwMode="auto">
            <a:xfrm>
              <a:off x="1906" y="3716"/>
              <a:ext cx="261" cy="224"/>
            </a:xfrm>
            <a:custGeom>
              <a:avLst/>
              <a:gdLst>
                <a:gd name="T0" fmla="*/ 0 w 198"/>
                <a:gd name="T1" fmla="*/ 63 h 170"/>
                <a:gd name="T2" fmla="*/ 0 w 198"/>
                <a:gd name="T3" fmla="*/ 0 h 170"/>
                <a:gd name="T4" fmla="*/ 261 w 198"/>
                <a:gd name="T5" fmla="*/ 0 h 170"/>
                <a:gd name="T6" fmla="*/ 261 w 198"/>
                <a:gd name="T7" fmla="*/ 224 h 1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70"/>
                <a:gd name="T14" fmla="*/ 198 w 198"/>
                <a:gd name="T15" fmla="*/ 170 h 1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70">
                  <a:moveTo>
                    <a:pt x="0" y="48"/>
                  </a:moveTo>
                  <a:lnTo>
                    <a:pt x="0" y="0"/>
                  </a:lnTo>
                  <a:lnTo>
                    <a:pt x="198" y="0"/>
                  </a:lnTo>
                  <a:lnTo>
                    <a:pt x="198" y="170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20" name="Freeform 19"/>
            <p:cNvSpPr>
              <a:spLocks/>
            </p:cNvSpPr>
            <p:nvPr/>
          </p:nvSpPr>
          <p:spPr bwMode="auto">
            <a:xfrm>
              <a:off x="4298" y="3709"/>
              <a:ext cx="261" cy="231"/>
            </a:xfrm>
            <a:custGeom>
              <a:avLst/>
              <a:gdLst>
                <a:gd name="T0" fmla="*/ 0 w 198"/>
                <a:gd name="T1" fmla="*/ 41 h 175"/>
                <a:gd name="T2" fmla="*/ 0 w 198"/>
                <a:gd name="T3" fmla="*/ 0 h 175"/>
                <a:gd name="T4" fmla="*/ 261 w 198"/>
                <a:gd name="T5" fmla="*/ 0 h 175"/>
                <a:gd name="T6" fmla="*/ 261 w 198"/>
                <a:gd name="T7" fmla="*/ 231 h 1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8"/>
                <a:gd name="T13" fmla="*/ 0 h 175"/>
                <a:gd name="T14" fmla="*/ 198 w 198"/>
                <a:gd name="T15" fmla="*/ 175 h 1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8" h="175">
                  <a:moveTo>
                    <a:pt x="0" y="31"/>
                  </a:moveTo>
                  <a:lnTo>
                    <a:pt x="0" y="0"/>
                  </a:lnTo>
                  <a:lnTo>
                    <a:pt x="198" y="0"/>
                  </a:lnTo>
                  <a:lnTo>
                    <a:pt x="198" y="175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21" name="Freeform 20"/>
            <p:cNvSpPr>
              <a:spLocks/>
            </p:cNvSpPr>
            <p:nvPr/>
          </p:nvSpPr>
          <p:spPr bwMode="auto">
            <a:xfrm>
              <a:off x="3453" y="3701"/>
              <a:ext cx="508" cy="239"/>
            </a:xfrm>
            <a:custGeom>
              <a:avLst/>
              <a:gdLst>
                <a:gd name="T0" fmla="*/ 0 w 386"/>
                <a:gd name="T1" fmla="*/ 21 h 181"/>
                <a:gd name="T2" fmla="*/ 0 w 386"/>
                <a:gd name="T3" fmla="*/ 0 h 181"/>
                <a:gd name="T4" fmla="*/ 508 w 386"/>
                <a:gd name="T5" fmla="*/ 0 h 181"/>
                <a:gd name="T6" fmla="*/ 508 w 386"/>
                <a:gd name="T7" fmla="*/ 239 h 1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6"/>
                <a:gd name="T13" fmla="*/ 0 h 181"/>
                <a:gd name="T14" fmla="*/ 386 w 386"/>
                <a:gd name="T15" fmla="*/ 181 h 1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6" h="181">
                  <a:moveTo>
                    <a:pt x="0" y="16"/>
                  </a:moveTo>
                  <a:lnTo>
                    <a:pt x="0" y="0"/>
                  </a:lnTo>
                  <a:lnTo>
                    <a:pt x="386" y="0"/>
                  </a:lnTo>
                  <a:lnTo>
                    <a:pt x="386" y="181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22" name="Freeform 21"/>
            <p:cNvSpPr>
              <a:spLocks/>
            </p:cNvSpPr>
            <p:nvPr/>
          </p:nvSpPr>
          <p:spPr bwMode="auto">
            <a:xfrm>
              <a:off x="3707" y="3688"/>
              <a:ext cx="717" cy="21"/>
            </a:xfrm>
            <a:custGeom>
              <a:avLst/>
              <a:gdLst>
                <a:gd name="T0" fmla="*/ 0 w 544"/>
                <a:gd name="T1" fmla="*/ 13 h 16"/>
                <a:gd name="T2" fmla="*/ 0 w 544"/>
                <a:gd name="T3" fmla="*/ 0 h 16"/>
                <a:gd name="T4" fmla="*/ 717 w 544"/>
                <a:gd name="T5" fmla="*/ 0 h 16"/>
                <a:gd name="T6" fmla="*/ 717 w 544"/>
                <a:gd name="T7" fmla="*/ 21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4"/>
                <a:gd name="T13" fmla="*/ 0 h 16"/>
                <a:gd name="T14" fmla="*/ 544 w 544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4" h="16">
                  <a:moveTo>
                    <a:pt x="0" y="10"/>
                  </a:moveTo>
                  <a:lnTo>
                    <a:pt x="0" y="0"/>
                  </a:lnTo>
                  <a:lnTo>
                    <a:pt x="544" y="0"/>
                  </a:lnTo>
                  <a:lnTo>
                    <a:pt x="544" y="16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23" name="Rectangle 22"/>
            <p:cNvSpPr>
              <a:spLocks noChangeArrowheads="1"/>
            </p:cNvSpPr>
            <p:nvPr/>
          </p:nvSpPr>
          <p:spPr bwMode="auto">
            <a:xfrm>
              <a:off x="4709" y="3688"/>
              <a:ext cx="149" cy="252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9724" name="Freeform 23"/>
            <p:cNvSpPr>
              <a:spLocks/>
            </p:cNvSpPr>
            <p:nvPr/>
          </p:nvSpPr>
          <p:spPr bwMode="auto">
            <a:xfrm>
              <a:off x="1420" y="3680"/>
              <a:ext cx="613" cy="64"/>
            </a:xfrm>
            <a:custGeom>
              <a:avLst/>
              <a:gdLst>
                <a:gd name="T0" fmla="*/ 0 w 465"/>
                <a:gd name="T1" fmla="*/ 64 h 48"/>
                <a:gd name="T2" fmla="*/ 0 w 465"/>
                <a:gd name="T3" fmla="*/ 0 h 48"/>
                <a:gd name="T4" fmla="*/ 613 w 465"/>
                <a:gd name="T5" fmla="*/ 0 h 48"/>
                <a:gd name="T6" fmla="*/ 613 w 465"/>
                <a:gd name="T7" fmla="*/ 36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5"/>
                <a:gd name="T13" fmla="*/ 0 h 48"/>
                <a:gd name="T14" fmla="*/ 465 w 465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5" h="48">
                  <a:moveTo>
                    <a:pt x="0" y="48"/>
                  </a:moveTo>
                  <a:lnTo>
                    <a:pt x="0" y="0"/>
                  </a:lnTo>
                  <a:lnTo>
                    <a:pt x="465" y="0"/>
                  </a:lnTo>
                  <a:lnTo>
                    <a:pt x="465" y="27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25" name="Rectangle 24"/>
            <p:cNvSpPr>
              <a:spLocks noChangeArrowheads="1"/>
            </p:cNvSpPr>
            <p:nvPr/>
          </p:nvSpPr>
          <p:spPr bwMode="auto">
            <a:xfrm>
              <a:off x="4066" y="3659"/>
              <a:ext cx="717" cy="29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9726" name="Freeform 25"/>
            <p:cNvSpPr>
              <a:spLocks/>
            </p:cNvSpPr>
            <p:nvPr/>
          </p:nvSpPr>
          <p:spPr bwMode="auto">
            <a:xfrm>
              <a:off x="2318" y="3604"/>
              <a:ext cx="224" cy="336"/>
            </a:xfrm>
            <a:custGeom>
              <a:avLst/>
              <a:gdLst>
                <a:gd name="T0" fmla="*/ 0 w 170"/>
                <a:gd name="T1" fmla="*/ 336 h 255"/>
                <a:gd name="T2" fmla="*/ 0 w 170"/>
                <a:gd name="T3" fmla="*/ 0 h 255"/>
                <a:gd name="T4" fmla="*/ 224 w 170"/>
                <a:gd name="T5" fmla="*/ 0 h 255"/>
                <a:gd name="T6" fmla="*/ 224 w 170"/>
                <a:gd name="T7" fmla="*/ 154 h 2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"/>
                <a:gd name="T13" fmla="*/ 0 h 255"/>
                <a:gd name="T14" fmla="*/ 170 w 170"/>
                <a:gd name="T15" fmla="*/ 255 h 2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" h="255">
                  <a:moveTo>
                    <a:pt x="0" y="255"/>
                  </a:moveTo>
                  <a:lnTo>
                    <a:pt x="0" y="0"/>
                  </a:lnTo>
                  <a:lnTo>
                    <a:pt x="170" y="0"/>
                  </a:lnTo>
                  <a:lnTo>
                    <a:pt x="170" y="117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27" name="Freeform 26"/>
            <p:cNvSpPr>
              <a:spLocks/>
            </p:cNvSpPr>
            <p:nvPr/>
          </p:nvSpPr>
          <p:spPr bwMode="auto">
            <a:xfrm>
              <a:off x="1727" y="3604"/>
              <a:ext cx="703" cy="76"/>
            </a:xfrm>
            <a:custGeom>
              <a:avLst/>
              <a:gdLst>
                <a:gd name="T0" fmla="*/ 0 w 533"/>
                <a:gd name="T1" fmla="*/ 76 h 58"/>
                <a:gd name="T2" fmla="*/ 0 w 533"/>
                <a:gd name="T3" fmla="*/ 0 h 58"/>
                <a:gd name="T4" fmla="*/ 703 w 533"/>
                <a:gd name="T5" fmla="*/ 0 h 58"/>
                <a:gd name="T6" fmla="*/ 0 60000 65536"/>
                <a:gd name="T7" fmla="*/ 0 60000 65536"/>
                <a:gd name="T8" fmla="*/ 0 60000 65536"/>
                <a:gd name="T9" fmla="*/ 0 w 533"/>
                <a:gd name="T10" fmla="*/ 0 h 58"/>
                <a:gd name="T11" fmla="*/ 533 w 533"/>
                <a:gd name="T12" fmla="*/ 58 h 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3" h="58">
                  <a:moveTo>
                    <a:pt x="0" y="58"/>
                  </a:moveTo>
                  <a:lnTo>
                    <a:pt x="0" y="0"/>
                  </a:lnTo>
                  <a:lnTo>
                    <a:pt x="533" y="0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28" name="Freeform 27"/>
            <p:cNvSpPr>
              <a:spLocks/>
            </p:cNvSpPr>
            <p:nvPr/>
          </p:nvSpPr>
          <p:spPr bwMode="auto">
            <a:xfrm>
              <a:off x="2078" y="3547"/>
              <a:ext cx="688" cy="393"/>
            </a:xfrm>
            <a:custGeom>
              <a:avLst/>
              <a:gdLst>
                <a:gd name="T0" fmla="*/ 0 w 522"/>
                <a:gd name="T1" fmla="*/ 57 h 298"/>
                <a:gd name="T2" fmla="*/ 0 w 522"/>
                <a:gd name="T3" fmla="*/ 0 h 298"/>
                <a:gd name="T4" fmla="*/ 688 w 522"/>
                <a:gd name="T5" fmla="*/ 0 h 298"/>
                <a:gd name="T6" fmla="*/ 688 w 522"/>
                <a:gd name="T7" fmla="*/ 393 h 29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2"/>
                <a:gd name="T13" fmla="*/ 0 h 298"/>
                <a:gd name="T14" fmla="*/ 522 w 522"/>
                <a:gd name="T15" fmla="*/ 298 h 29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2" h="298">
                  <a:moveTo>
                    <a:pt x="0" y="43"/>
                  </a:moveTo>
                  <a:lnTo>
                    <a:pt x="0" y="0"/>
                  </a:lnTo>
                  <a:lnTo>
                    <a:pt x="522" y="0"/>
                  </a:lnTo>
                  <a:lnTo>
                    <a:pt x="522" y="298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29" name="Freeform 28"/>
            <p:cNvSpPr>
              <a:spLocks/>
            </p:cNvSpPr>
            <p:nvPr/>
          </p:nvSpPr>
          <p:spPr bwMode="auto">
            <a:xfrm>
              <a:off x="4424" y="3450"/>
              <a:ext cx="583" cy="490"/>
            </a:xfrm>
            <a:custGeom>
              <a:avLst/>
              <a:gdLst>
                <a:gd name="T0" fmla="*/ 0 w 442"/>
                <a:gd name="T1" fmla="*/ 209 h 372"/>
                <a:gd name="T2" fmla="*/ 0 w 442"/>
                <a:gd name="T3" fmla="*/ 0 h 372"/>
                <a:gd name="T4" fmla="*/ 583 w 442"/>
                <a:gd name="T5" fmla="*/ 0 h 372"/>
                <a:gd name="T6" fmla="*/ 583 w 442"/>
                <a:gd name="T7" fmla="*/ 490 h 3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2"/>
                <a:gd name="T13" fmla="*/ 0 h 372"/>
                <a:gd name="T14" fmla="*/ 442 w 442"/>
                <a:gd name="T15" fmla="*/ 372 h 3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2" h="372">
                  <a:moveTo>
                    <a:pt x="0" y="159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37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30" name="Freeform 29"/>
            <p:cNvSpPr>
              <a:spLocks/>
            </p:cNvSpPr>
            <p:nvPr/>
          </p:nvSpPr>
          <p:spPr bwMode="auto">
            <a:xfrm>
              <a:off x="2422" y="3351"/>
              <a:ext cx="493" cy="589"/>
            </a:xfrm>
            <a:custGeom>
              <a:avLst/>
              <a:gdLst>
                <a:gd name="T0" fmla="*/ 0 w 374"/>
                <a:gd name="T1" fmla="*/ 196 h 447"/>
                <a:gd name="T2" fmla="*/ 0 w 374"/>
                <a:gd name="T3" fmla="*/ 0 h 447"/>
                <a:gd name="T4" fmla="*/ 493 w 374"/>
                <a:gd name="T5" fmla="*/ 0 h 447"/>
                <a:gd name="T6" fmla="*/ 493 w 374"/>
                <a:gd name="T7" fmla="*/ 589 h 4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4"/>
                <a:gd name="T13" fmla="*/ 0 h 447"/>
                <a:gd name="T14" fmla="*/ 374 w 374"/>
                <a:gd name="T15" fmla="*/ 447 h 4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4" h="447">
                  <a:moveTo>
                    <a:pt x="0" y="149"/>
                  </a:moveTo>
                  <a:lnTo>
                    <a:pt x="0" y="0"/>
                  </a:lnTo>
                  <a:lnTo>
                    <a:pt x="374" y="0"/>
                  </a:lnTo>
                  <a:lnTo>
                    <a:pt x="374" y="447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31" name="Freeform 30"/>
            <p:cNvSpPr>
              <a:spLocks/>
            </p:cNvSpPr>
            <p:nvPr/>
          </p:nvSpPr>
          <p:spPr bwMode="auto">
            <a:xfrm>
              <a:off x="2668" y="3190"/>
              <a:ext cx="397" cy="750"/>
            </a:xfrm>
            <a:custGeom>
              <a:avLst/>
              <a:gdLst>
                <a:gd name="T0" fmla="*/ 0 w 301"/>
                <a:gd name="T1" fmla="*/ 161 h 569"/>
                <a:gd name="T2" fmla="*/ 0 w 301"/>
                <a:gd name="T3" fmla="*/ 0 h 569"/>
                <a:gd name="T4" fmla="*/ 397 w 301"/>
                <a:gd name="T5" fmla="*/ 0 h 569"/>
                <a:gd name="T6" fmla="*/ 397 w 301"/>
                <a:gd name="T7" fmla="*/ 750 h 5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1"/>
                <a:gd name="T13" fmla="*/ 0 h 569"/>
                <a:gd name="T14" fmla="*/ 301 w 301"/>
                <a:gd name="T15" fmla="*/ 569 h 5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1" h="569">
                  <a:moveTo>
                    <a:pt x="0" y="122"/>
                  </a:moveTo>
                  <a:lnTo>
                    <a:pt x="0" y="0"/>
                  </a:lnTo>
                  <a:lnTo>
                    <a:pt x="301" y="0"/>
                  </a:lnTo>
                  <a:lnTo>
                    <a:pt x="301" y="569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32" name="Freeform 31"/>
            <p:cNvSpPr>
              <a:spLocks/>
            </p:cNvSpPr>
            <p:nvPr/>
          </p:nvSpPr>
          <p:spPr bwMode="auto">
            <a:xfrm>
              <a:off x="4715" y="3106"/>
              <a:ext cx="442" cy="834"/>
            </a:xfrm>
            <a:custGeom>
              <a:avLst/>
              <a:gdLst>
                <a:gd name="T0" fmla="*/ 0 w 335"/>
                <a:gd name="T1" fmla="*/ 344 h 633"/>
                <a:gd name="T2" fmla="*/ 0 w 335"/>
                <a:gd name="T3" fmla="*/ 0 h 633"/>
                <a:gd name="T4" fmla="*/ 442 w 335"/>
                <a:gd name="T5" fmla="*/ 0 h 633"/>
                <a:gd name="T6" fmla="*/ 442 w 335"/>
                <a:gd name="T7" fmla="*/ 834 h 6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5"/>
                <a:gd name="T13" fmla="*/ 0 h 633"/>
                <a:gd name="T14" fmla="*/ 335 w 335"/>
                <a:gd name="T15" fmla="*/ 633 h 6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5" h="633">
                  <a:moveTo>
                    <a:pt x="0" y="261"/>
                  </a:moveTo>
                  <a:lnTo>
                    <a:pt x="0" y="0"/>
                  </a:lnTo>
                  <a:lnTo>
                    <a:pt x="335" y="0"/>
                  </a:lnTo>
                  <a:lnTo>
                    <a:pt x="335" y="633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33" name="Freeform 32"/>
            <p:cNvSpPr>
              <a:spLocks/>
            </p:cNvSpPr>
            <p:nvPr/>
          </p:nvSpPr>
          <p:spPr bwMode="auto">
            <a:xfrm>
              <a:off x="2862" y="1208"/>
              <a:ext cx="2071" cy="1982"/>
            </a:xfrm>
            <a:custGeom>
              <a:avLst/>
              <a:gdLst>
                <a:gd name="T0" fmla="*/ 2071 w 1571"/>
                <a:gd name="T1" fmla="*/ 1898 h 1504"/>
                <a:gd name="T2" fmla="*/ 2071 w 1571"/>
                <a:gd name="T3" fmla="*/ 0 h 1504"/>
                <a:gd name="T4" fmla="*/ 0 w 1571"/>
                <a:gd name="T5" fmla="*/ 0 h 1504"/>
                <a:gd name="T6" fmla="*/ 0 w 1571"/>
                <a:gd name="T7" fmla="*/ 1982 h 15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71"/>
                <a:gd name="T13" fmla="*/ 0 h 1504"/>
                <a:gd name="T14" fmla="*/ 1571 w 1571"/>
                <a:gd name="T15" fmla="*/ 1504 h 15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71" h="1504">
                  <a:moveTo>
                    <a:pt x="1571" y="1440"/>
                  </a:moveTo>
                  <a:lnTo>
                    <a:pt x="1571" y="0"/>
                  </a:lnTo>
                  <a:lnTo>
                    <a:pt x="0" y="0"/>
                  </a:lnTo>
                  <a:lnTo>
                    <a:pt x="0" y="1504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734" name="Line 33"/>
            <p:cNvSpPr>
              <a:spLocks noChangeShapeType="1"/>
            </p:cNvSpPr>
            <p:nvPr/>
          </p:nvSpPr>
          <p:spPr bwMode="auto">
            <a:xfrm>
              <a:off x="674" y="3933"/>
              <a:ext cx="4632" cy="2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pic>
        <p:nvPicPr>
          <p:cNvPr id="29699" name="Picture 3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76200"/>
            <a:ext cx="3451225" cy="342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576" y="3833813"/>
            <a:ext cx="4741863" cy="277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Text Box 36"/>
          <p:cNvSpPr txBox="1">
            <a:spLocks noChangeArrowheads="1"/>
          </p:cNvSpPr>
          <p:nvPr/>
        </p:nvSpPr>
        <p:spPr bwMode="auto">
          <a:xfrm>
            <a:off x="6886576" y="6400801"/>
            <a:ext cx="23896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Average linkage</a:t>
            </a:r>
          </a:p>
        </p:txBody>
      </p:sp>
      <p:sp>
        <p:nvSpPr>
          <p:cNvPr id="29702" name="Text Box 39"/>
          <p:cNvSpPr txBox="1">
            <a:spLocks noChangeArrowheads="1"/>
          </p:cNvSpPr>
          <p:nvPr/>
        </p:nvSpPr>
        <p:spPr bwMode="auto">
          <a:xfrm>
            <a:off x="2654301" y="6156326"/>
            <a:ext cx="21050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Single linkage</a:t>
            </a:r>
          </a:p>
        </p:txBody>
      </p:sp>
      <p:sp>
        <p:nvSpPr>
          <p:cNvPr id="29703" name="TextBox 39"/>
          <p:cNvSpPr txBox="1">
            <a:spLocks noChangeArrowheads="1"/>
          </p:cNvSpPr>
          <p:nvPr/>
        </p:nvSpPr>
        <p:spPr bwMode="auto">
          <a:xfrm>
            <a:off x="6300788" y="315914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422815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Text Box 1026"/>
          <p:cNvSpPr txBox="1">
            <a:spLocks noChangeArrowheads="1"/>
          </p:cNvSpPr>
          <p:nvPr/>
        </p:nvSpPr>
        <p:spPr bwMode="auto">
          <a:xfrm>
            <a:off x="1676400" y="1295401"/>
            <a:ext cx="8839200" cy="507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marL="742950" indent="-742950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111" charset="-128"/>
              </a:defRPr>
            </a:lvl9pPr>
          </a:lstStyle>
          <a:p>
            <a:pPr>
              <a:defRPr/>
            </a:pPr>
            <a:r>
              <a:rPr lang="en-US" altLang="en-US" sz="3200" b="1">
                <a:solidFill>
                  <a:srgbClr val="1F497D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Hierarchal Clustering Methods Summary</a:t>
            </a:r>
          </a:p>
          <a:p>
            <a:pPr>
              <a:buFont typeface="Wingdings" pitchFamily="-111" charset="2"/>
              <a:buChar char="§"/>
              <a:defRPr/>
            </a:pPr>
            <a:endParaRPr lang="en-US" altLang="en-US" sz="4000">
              <a:solidFill>
                <a:srgbClr val="1F497D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 typeface="Wingdings" pitchFamily="-111" charset="2"/>
              <a:buChar char="§"/>
              <a:defRPr/>
            </a:pPr>
            <a:r>
              <a:rPr lang="en-US" altLang="en-US" sz="2800">
                <a:solidFill>
                  <a:prstClr val="black"/>
                </a:solidFill>
              </a:rPr>
              <a:t>No need to specify the number of clusters in advance</a:t>
            </a:r>
          </a:p>
          <a:p>
            <a:pPr>
              <a:buFont typeface="Wingdings" pitchFamily="-111" charset="2"/>
              <a:buChar char="§"/>
              <a:defRPr/>
            </a:pPr>
            <a:r>
              <a:rPr lang="en-US" altLang="en-US" sz="2800">
                <a:solidFill>
                  <a:prstClr val="black"/>
                </a:solidFill>
              </a:rPr>
              <a:t>Hierarchal nature maps nicely onto human intuition for some domains</a:t>
            </a:r>
          </a:p>
          <a:p>
            <a:pPr>
              <a:buFont typeface="Wingdings" pitchFamily="-111" charset="2"/>
              <a:buChar char="§"/>
              <a:defRPr/>
            </a:pPr>
            <a:r>
              <a:rPr lang="en-US" altLang="en-US" sz="2800">
                <a:solidFill>
                  <a:prstClr val="black"/>
                </a:solidFill>
              </a:rPr>
              <a:t>They do not scale well: time complexity of at least O(</a:t>
            </a:r>
            <a:r>
              <a:rPr lang="en-US" altLang="en-US" sz="2800" i="1">
                <a:solidFill>
                  <a:prstClr val="black"/>
                </a:solidFill>
              </a:rPr>
              <a:t>n</a:t>
            </a:r>
            <a:r>
              <a:rPr lang="en-US" altLang="en-US" sz="2800" baseline="30000">
                <a:solidFill>
                  <a:prstClr val="black"/>
                </a:solidFill>
              </a:rPr>
              <a:t>2</a:t>
            </a:r>
            <a:r>
              <a:rPr lang="en-US" altLang="en-US" sz="2800">
                <a:solidFill>
                  <a:prstClr val="black"/>
                </a:solidFill>
              </a:rPr>
              <a:t>), where </a:t>
            </a:r>
            <a:r>
              <a:rPr lang="en-US" altLang="en-US" sz="2800" i="1">
                <a:solidFill>
                  <a:prstClr val="black"/>
                </a:solidFill>
              </a:rPr>
              <a:t>n</a:t>
            </a:r>
            <a:r>
              <a:rPr lang="en-US" altLang="en-US" sz="2800">
                <a:solidFill>
                  <a:prstClr val="black"/>
                </a:solidFill>
              </a:rPr>
              <a:t> is the number of total objects</a:t>
            </a:r>
          </a:p>
          <a:p>
            <a:pPr>
              <a:buFont typeface="Wingdings" pitchFamily="-111" charset="2"/>
              <a:buChar char="§"/>
              <a:defRPr/>
            </a:pPr>
            <a:r>
              <a:rPr lang="en-US" altLang="en-US" sz="2800">
                <a:solidFill>
                  <a:prstClr val="black"/>
                </a:solidFill>
              </a:rPr>
              <a:t>Like any heuristic search algorithms, local optima are a problem</a:t>
            </a:r>
          </a:p>
          <a:p>
            <a:pPr>
              <a:buFont typeface="Wingdings" pitchFamily="-111" charset="2"/>
              <a:buChar char="§"/>
              <a:defRPr/>
            </a:pPr>
            <a:r>
              <a:rPr lang="en-US" altLang="en-US" sz="2800">
                <a:solidFill>
                  <a:prstClr val="black"/>
                </a:solidFill>
              </a:rPr>
              <a:t>Interpretation of results is (very) subjective </a:t>
            </a:r>
          </a:p>
        </p:txBody>
      </p:sp>
      <p:sp>
        <p:nvSpPr>
          <p:cNvPr id="30723" name="TextBox 2"/>
          <p:cNvSpPr txBox="1">
            <a:spLocks noChangeArrowheads="1"/>
          </p:cNvSpPr>
          <p:nvPr/>
        </p:nvSpPr>
        <p:spPr bwMode="auto">
          <a:xfrm>
            <a:off x="6300788" y="315914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73954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ChangeArrowheads="1"/>
          </p:cNvSpPr>
          <p:nvPr/>
        </p:nvSpPr>
        <p:spPr bwMode="auto">
          <a:xfrm>
            <a:off x="2209800" y="914400"/>
            <a:ext cx="77724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 sz="4400" dirty="0" err="1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Partitional</a:t>
            </a:r>
            <a:r>
              <a:rPr lang="en-US" sz="4400" dirty="0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 Clustering</a:t>
            </a: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1752600" y="1981201"/>
            <a:ext cx="8458200" cy="247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3200">
                <a:solidFill>
                  <a:prstClr val="black"/>
                </a:solidFill>
              </a:rPr>
              <a:t>Nonhierarchical, each instance is placed in exactly one of K non-overlapping clusters.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3200">
                <a:solidFill>
                  <a:prstClr val="black"/>
                </a:solidFill>
              </a:rPr>
              <a:t>Since only one set of clusters is output, the user normally has to input the desired number of clusters K.</a:t>
            </a:r>
          </a:p>
        </p:txBody>
      </p:sp>
      <p:grpSp>
        <p:nvGrpSpPr>
          <p:cNvPr id="31748" name="Group 4"/>
          <p:cNvGrpSpPr>
            <a:grpSpLocks/>
          </p:cNvGrpSpPr>
          <p:nvPr/>
        </p:nvGrpSpPr>
        <p:grpSpPr bwMode="auto">
          <a:xfrm>
            <a:off x="1676400" y="5334001"/>
            <a:ext cx="5029200" cy="1103313"/>
            <a:chOff x="36" y="642"/>
            <a:chExt cx="5760" cy="1413"/>
          </a:xfrm>
        </p:grpSpPr>
        <p:pic>
          <p:nvPicPr>
            <p:cNvPr id="31764" name="Picture 5" descr="Edna Krabappel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" y="789"/>
              <a:ext cx="513" cy="1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65" name="Picture 6" descr="Principal Seymour  Skinne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4" y="828"/>
              <a:ext cx="514" cy="1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66" name="Rectangle 7"/>
            <p:cNvSpPr>
              <a:spLocks noChangeArrowheads="1"/>
            </p:cNvSpPr>
            <p:nvPr/>
          </p:nvSpPr>
          <p:spPr bwMode="auto">
            <a:xfrm>
              <a:off x="36" y="1365"/>
              <a:ext cx="5760" cy="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pic>
          <p:nvPicPr>
            <p:cNvPr id="31767" name="Picture 8" descr="Groundskeeper Willi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3" y="920"/>
              <a:ext cx="569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68" name="Picture 9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9" y="865"/>
              <a:ext cx="635" cy="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69" name="Picture 10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5" y="753"/>
              <a:ext cx="580" cy="1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70" name="Picture 11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" y="806"/>
              <a:ext cx="592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71" name="Picture 1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7" y="1090"/>
              <a:ext cx="454" cy="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72" name="Picture 13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5" y="1096"/>
              <a:ext cx="306" cy="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73" name="Picture 14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1" y="642"/>
              <a:ext cx="459" cy="1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49" name="Group 15"/>
          <p:cNvGrpSpPr>
            <a:grpSpLocks/>
          </p:cNvGrpSpPr>
          <p:nvPr/>
        </p:nvGrpSpPr>
        <p:grpSpPr bwMode="auto">
          <a:xfrm>
            <a:off x="7924801" y="5105400"/>
            <a:ext cx="2530475" cy="1487488"/>
            <a:chOff x="1880" y="2584"/>
            <a:chExt cx="1267" cy="745"/>
          </a:xfrm>
        </p:grpSpPr>
        <p:grpSp>
          <p:nvGrpSpPr>
            <p:cNvPr id="31752" name="Group 16"/>
            <p:cNvGrpSpPr>
              <a:grpSpLocks/>
            </p:cNvGrpSpPr>
            <p:nvPr/>
          </p:nvGrpSpPr>
          <p:grpSpPr bwMode="auto">
            <a:xfrm>
              <a:off x="1880" y="2584"/>
              <a:ext cx="1267" cy="745"/>
              <a:chOff x="156" y="2634"/>
              <a:chExt cx="2286" cy="1344"/>
            </a:xfrm>
          </p:grpSpPr>
          <p:sp>
            <p:nvSpPr>
              <p:cNvPr id="31762" name="Rectangle 17"/>
              <p:cNvSpPr>
                <a:spLocks noChangeArrowheads="1"/>
              </p:cNvSpPr>
              <p:nvPr/>
            </p:nvSpPr>
            <p:spPr bwMode="auto">
              <a:xfrm>
                <a:off x="156" y="2634"/>
                <a:ext cx="1080" cy="134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763" name="Rectangle 18"/>
              <p:cNvSpPr>
                <a:spLocks noChangeArrowheads="1"/>
              </p:cNvSpPr>
              <p:nvPr/>
            </p:nvSpPr>
            <p:spPr bwMode="auto">
              <a:xfrm>
                <a:off x="1362" y="2634"/>
                <a:ext cx="1080" cy="134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</p:grpSp>
        <p:pic>
          <p:nvPicPr>
            <p:cNvPr id="31753" name="Picture 19" descr="Edna Krabappel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0" y="2626"/>
              <a:ext cx="168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4" name="Picture 20" descr="Principal Seymour  Skinner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1" y="2958"/>
              <a:ext cx="168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5" name="Picture 21" descr="Groundskeeper Willie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9" y="3005"/>
              <a:ext cx="186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6" name="Picture 22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9" y="2595"/>
              <a:ext cx="208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7" name="Picture 23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8" y="2602"/>
              <a:ext cx="190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8" name="Picture 24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7" y="2984"/>
              <a:ext cx="195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9" name="Picture 25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5" y="2695"/>
              <a:ext cx="149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60" name="Picture 26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1" y="3050"/>
              <a:ext cx="101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61" name="Picture 27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13" y="2608"/>
              <a:ext cx="151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8620" name="AutoShape 28"/>
          <p:cNvSpPr>
            <a:spLocks noChangeArrowheads="1"/>
          </p:cNvSpPr>
          <p:nvPr/>
        </p:nvSpPr>
        <p:spPr bwMode="auto">
          <a:xfrm>
            <a:off x="6934200" y="5562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rgbClr val="FF9900"/>
          </a:solidFill>
          <a:ln w="0">
            <a:solidFill>
              <a:srgbClr val="000000"/>
            </a:solidFill>
            <a:miter lim="800000"/>
            <a:headEnd/>
            <a:tailEnd/>
          </a:ln>
          <a:effectLst>
            <a:outerShdw blurRad="63500" dist="107763" dir="81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31751" name="TextBox 28"/>
          <p:cNvSpPr txBox="1">
            <a:spLocks noChangeArrowheads="1"/>
          </p:cNvSpPr>
          <p:nvPr/>
        </p:nvSpPr>
        <p:spPr bwMode="auto">
          <a:xfrm>
            <a:off x="6300788" y="315914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414183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ChangeArrowheads="1"/>
          </p:cNvSpPr>
          <p:nvPr/>
        </p:nvSpPr>
        <p:spPr bwMode="auto">
          <a:xfrm>
            <a:off x="1905000" y="422275"/>
            <a:ext cx="384175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 sz="4400" dirty="0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Squared Error</a:t>
            </a: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2209800" y="1641476"/>
            <a:ext cx="7772400" cy="445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spcBef>
                <a:spcPct val="20000"/>
              </a:spcBef>
            </a:pPr>
            <a:endParaRPr lang="en-US" altLang="en-US" sz="3200">
              <a:solidFill>
                <a:prstClr val="black"/>
              </a:solidFill>
            </a:endParaRPr>
          </a:p>
        </p:txBody>
      </p:sp>
      <p:pic>
        <p:nvPicPr>
          <p:cNvPr id="32772" name="Picture 4" descr="C:\Documents and Settings\Administrator\Desktop\dum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2057401"/>
            <a:ext cx="4295775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73" name="Group 5"/>
          <p:cNvGrpSpPr>
            <a:grpSpLocks/>
          </p:cNvGrpSpPr>
          <p:nvPr/>
        </p:nvGrpSpPr>
        <p:grpSpPr bwMode="auto">
          <a:xfrm>
            <a:off x="5884864" y="1819276"/>
            <a:ext cx="4662487" cy="4589463"/>
            <a:chOff x="3335" y="1557"/>
            <a:chExt cx="2160" cy="2126"/>
          </a:xfrm>
        </p:grpSpPr>
        <p:sp>
          <p:nvSpPr>
            <p:cNvPr id="32791" name="Rectangle 6"/>
            <p:cNvSpPr>
              <a:spLocks noChangeArrowheads="1"/>
            </p:cNvSpPr>
            <p:nvPr/>
          </p:nvSpPr>
          <p:spPr bwMode="auto">
            <a:xfrm>
              <a:off x="3335" y="1557"/>
              <a:ext cx="2160" cy="211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2792" name="Rectangle 7"/>
            <p:cNvSpPr>
              <a:spLocks noChangeArrowheads="1"/>
            </p:cNvSpPr>
            <p:nvPr/>
          </p:nvSpPr>
          <p:spPr bwMode="auto">
            <a:xfrm>
              <a:off x="3377" y="1588"/>
              <a:ext cx="229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2793" name="Rectangle 8"/>
            <p:cNvSpPr>
              <a:spLocks noChangeArrowheads="1"/>
            </p:cNvSpPr>
            <p:nvPr/>
          </p:nvSpPr>
          <p:spPr bwMode="auto">
            <a:xfrm>
              <a:off x="3420" y="1620"/>
              <a:ext cx="11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</a:rPr>
                <a:t>10</a:t>
              </a:r>
              <a:endParaRPr lang="en-US" altLang="en-US">
                <a:solidFill>
                  <a:prstClr val="black"/>
                </a:solidFill>
              </a:endParaRPr>
            </a:p>
          </p:txBody>
        </p:sp>
        <p:grpSp>
          <p:nvGrpSpPr>
            <p:cNvPr id="32794" name="Group 9"/>
            <p:cNvGrpSpPr>
              <a:grpSpLocks/>
            </p:cNvGrpSpPr>
            <p:nvPr/>
          </p:nvGrpSpPr>
          <p:grpSpPr bwMode="auto">
            <a:xfrm>
              <a:off x="3413" y="1695"/>
              <a:ext cx="2074" cy="1988"/>
              <a:chOff x="3413" y="1695"/>
              <a:chExt cx="2074" cy="1988"/>
            </a:xfrm>
          </p:grpSpPr>
          <p:sp>
            <p:nvSpPr>
              <p:cNvPr id="32807" name="Rectangle 10"/>
              <p:cNvSpPr>
                <a:spLocks noChangeArrowheads="1"/>
              </p:cNvSpPr>
              <p:nvPr/>
            </p:nvSpPr>
            <p:spPr bwMode="auto">
              <a:xfrm>
                <a:off x="3590" y="3292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08" name="Rectangle 11"/>
              <p:cNvSpPr>
                <a:spLocks noChangeArrowheads="1"/>
              </p:cNvSpPr>
              <p:nvPr/>
            </p:nvSpPr>
            <p:spPr bwMode="auto">
              <a:xfrm>
                <a:off x="3768" y="3292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09" name="Rectangle 12"/>
              <p:cNvSpPr>
                <a:spLocks noChangeArrowheads="1"/>
              </p:cNvSpPr>
              <p:nvPr/>
            </p:nvSpPr>
            <p:spPr bwMode="auto">
              <a:xfrm>
                <a:off x="3945" y="3292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10" name="Rectangle 13"/>
              <p:cNvSpPr>
                <a:spLocks noChangeArrowheads="1"/>
              </p:cNvSpPr>
              <p:nvPr/>
            </p:nvSpPr>
            <p:spPr bwMode="auto">
              <a:xfrm>
                <a:off x="4123" y="3292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11" name="Rectangle 14"/>
              <p:cNvSpPr>
                <a:spLocks noChangeArrowheads="1"/>
              </p:cNvSpPr>
              <p:nvPr/>
            </p:nvSpPr>
            <p:spPr bwMode="auto">
              <a:xfrm>
                <a:off x="4300" y="3292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12" name="Rectangle 15"/>
              <p:cNvSpPr>
                <a:spLocks noChangeArrowheads="1"/>
              </p:cNvSpPr>
              <p:nvPr/>
            </p:nvSpPr>
            <p:spPr bwMode="auto">
              <a:xfrm>
                <a:off x="4478" y="3292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13" name="Rectangle 16"/>
              <p:cNvSpPr>
                <a:spLocks noChangeArrowheads="1"/>
              </p:cNvSpPr>
              <p:nvPr/>
            </p:nvSpPr>
            <p:spPr bwMode="auto">
              <a:xfrm>
                <a:off x="4655" y="3292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14" name="Rectangle 17"/>
              <p:cNvSpPr>
                <a:spLocks noChangeArrowheads="1"/>
              </p:cNvSpPr>
              <p:nvPr/>
            </p:nvSpPr>
            <p:spPr bwMode="auto">
              <a:xfrm>
                <a:off x="4833" y="3292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15" name="Rectangle 18"/>
              <p:cNvSpPr>
                <a:spLocks noChangeArrowheads="1"/>
              </p:cNvSpPr>
              <p:nvPr/>
            </p:nvSpPr>
            <p:spPr bwMode="auto">
              <a:xfrm>
                <a:off x="5010" y="3292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16" name="Rectangle 19"/>
              <p:cNvSpPr>
                <a:spLocks noChangeArrowheads="1"/>
              </p:cNvSpPr>
              <p:nvPr/>
            </p:nvSpPr>
            <p:spPr bwMode="auto">
              <a:xfrm>
                <a:off x="5188" y="3292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17" name="Rectangle 20"/>
              <p:cNvSpPr>
                <a:spLocks noChangeArrowheads="1"/>
              </p:cNvSpPr>
              <p:nvPr/>
            </p:nvSpPr>
            <p:spPr bwMode="auto">
              <a:xfrm>
                <a:off x="3590" y="3115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18" name="Rectangle 21"/>
              <p:cNvSpPr>
                <a:spLocks noChangeArrowheads="1"/>
              </p:cNvSpPr>
              <p:nvPr/>
            </p:nvSpPr>
            <p:spPr bwMode="auto">
              <a:xfrm>
                <a:off x="3768" y="3115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19" name="Rectangle 22"/>
              <p:cNvSpPr>
                <a:spLocks noChangeArrowheads="1"/>
              </p:cNvSpPr>
              <p:nvPr/>
            </p:nvSpPr>
            <p:spPr bwMode="auto">
              <a:xfrm>
                <a:off x="3945" y="3115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20" name="Rectangle 23"/>
              <p:cNvSpPr>
                <a:spLocks noChangeArrowheads="1"/>
              </p:cNvSpPr>
              <p:nvPr/>
            </p:nvSpPr>
            <p:spPr bwMode="auto">
              <a:xfrm>
                <a:off x="4123" y="3115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21" name="Rectangle 24"/>
              <p:cNvSpPr>
                <a:spLocks noChangeArrowheads="1"/>
              </p:cNvSpPr>
              <p:nvPr/>
            </p:nvSpPr>
            <p:spPr bwMode="auto">
              <a:xfrm>
                <a:off x="4300" y="3115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22" name="Rectangle 25"/>
              <p:cNvSpPr>
                <a:spLocks noChangeArrowheads="1"/>
              </p:cNvSpPr>
              <p:nvPr/>
            </p:nvSpPr>
            <p:spPr bwMode="auto">
              <a:xfrm>
                <a:off x="4478" y="3115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23" name="Rectangle 26"/>
              <p:cNvSpPr>
                <a:spLocks noChangeArrowheads="1"/>
              </p:cNvSpPr>
              <p:nvPr/>
            </p:nvSpPr>
            <p:spPr bwMode="auto">
              <a:xfrm>
                <a:off x="4655" y="3115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24" name="Rectangle 27"/>
              <p:cNvSpPr>
                <a:spLocks noChangeArrowheads="1"/>
              </p:cNvSpPr>
              <p:nvPr/>
            </p:nvSpPr>
            <p:spPr bwMode="auto">
              <a:xfrm>
                <a:off x="4833" y="3115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25" name="Rectangle 28"/>
              <p:cNvSpPr>
                <a:spLocks noChangeArrowheads="1"/>
              </p:cNvSpPr>
              <p:nvPr/>
            </p:nvSpPr>
            <p:spPr bwMode="auto">
              <a:xfrm>
                <a:off x="5010" y="3115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26" name="Rectangle 29"/>
              <p:cNvSpPr>
                <a:spLocks noChangeArrowheads="1"/>
              </p:cNvSpPr>
              <p:nvPr/>
            </p:nvSpPr>
            <p:spPr bwMode="auto">
              <a:xfrm>
                <a:off x="5188" y="3115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27" name="Rectangle 30"/>
              <p:cNvSpPr>
                <a:spLocks noChangeArrowheads="1"/>
              </p:cNvSpPr>
              <p:nvPr/>
            </p:nvSpPr>
            <p:spPr bwMode="auto">
              <a:xfrm>
                <a:off x="3590" y="2937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28" name="Rectangle 31"/>
              <p:cNvSpPr>
                <a:spLocks noChangeArrowheads="1"/>
              </p:cNvSpPr>
              <p:nvPr/>
            </p:nvSpPr>
            <p:spPr bwMode="auto">
              <a:xfrm>
                <a:off x="3768" y="2937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29" name="Rectangle 32"/>
              <p:cNvSpPr>
                <a:spLocks noChangeArrowheads="1"/>
              </p:cNvSpPr>
              <p:nvPr/>
            </p:nvSpPr>
            <p:spPr bwMode="auto">
              <a:xfrm>
                <a:off x="3945" y="2937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30" name="Rectangle 33"/>
              <p:cNvSpPr>
                <a:spLocks noChangeArrowheads="1"/>
              </p:cNvSpPr>
              <p:nvPr/>
            </p:nvSpPr>
            <p:spPr bwMode="auto">
              <a:xfrm>
                <a:off x="4123" y="2937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31" name="Rectangle 34"/>
              <p:cNvSpPr>
                <a:spLocks noChangeArrowheads="1"/>
              </p:cNvSpPr>
              <p:nvPr/>
            </p:nvSpPr>
            <p:spPr bwMode="auto">
              <a:xfrm>
                <a:off x="4300" y="2937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32" name="Rectangle 35"/>
              <p:cNvSpPr>
                <a:spLocks noChangeArrowheads="1"/>
              </p:cNvSpPr>
              <p:nvPr/>
            </p:nvSpPr>
            <p:spPr bwMode="auto">
              <a:xfrm>
                <a:off x="4478" y="2937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33" name="Rectangle 36"/>
              <p:cNvSpPr>
                <a:spLocks noChangeArrowheads="1"/>
              </p:cNvSpPr>
              <p:nvPr/>
            </p:nvSpPr>
            <p:spPr bwMode="auto">
              <a:xfrm>
                <a:off x="4655" y="2937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34" name="Rectangle 37"/>
              <p:cNvSpPr>
                <a:spLocks noChangeArrowheads="1"/>
              </p:cNvSpPr>
              <p:nvPr/>
            </p:nvSpPr>
            <p:spPr bwMode="auto">
              <a:xfrm>
                <a:off x="4833" y="2937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35" name="Rectangle 38"/>
              <p:cNvSpPr>
                <a:spLocks noChangeArrowheads="1"/>
              </p:cNvSpPr>
              <p:nvPr/>
            </p:nvSpPr>
            <p:spPr bwMode="auto">
              <a:xfrm>
                <a:off x="5010" y="2937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36" name="Rectangle 39"/>
              <p:cNvSpPr>
                <a:spLocks noChangeArrowheads="1"/>
              </p:cNvSpPr>
              <p:nvPr/>
            </p:nvSpPr>
            <p:spPr bwMode="auto">
              <a:xfrm>
                <a:off x="5188" y="2937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37" name="Rectangle 40"/>
              <p:cNvSpPr>
                <a:spLocks noChangeArrowheads="1"/>
              </p:cNvSpPr>
              <p:nvPr/>
            </p:nvSpPr>
            <p:spPr bwMode="auto">
              <a:xfrm>
                <a:off x="3590" y="2760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38" name="Rectangle 41"/>
              <p:cNvSpPr>
                <a:spLocks noChangeArrowheads="1"/>
              </p:cNvSpPr>
              <p:nvPr/>
            </p:nvSpPr>
            <p:spPr bwMode="auto">
              <a:xfrm>
                <a:off x="3768" y="2760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39" name="Rectangle 42"/>
              <p:cNvSpPr>
                <a:spLocks noChangeArrowheads="1"/>
              </p:cNvSpPr>
              <p:nvPr/>
            </p:nvSpPr>
            <p:spPr bwMode="auto">
              <a:xfrm>
                <a:off x="3945" y="2760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40" name="Rectangle 43"/>
              <p:cNvSpPr>
                <a:spLocks noChangeArrowheads="1"/>
              </p:cNvSpPr>
              <p:nvPr/>
            </p:nvSpPr>
            <p:spPr bwMode="auto">
              <a:xfrm>
                <a:off x="4123" y="2760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41" name="Rectangle 44"/>
              <p:cNvSpPr>
                <a:spLocks noChangeArrowheads="1"/>
              </p:cNvSpPr>
              <p:nvPr/>
            </p:nvSpPr>
            <p:spPr bwMode="auto">
              <a:xfrm>
                <a:off x="4300" y="2760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42" name="Rectangle 45"/>
              <p:cNvSpPr>
                <a:spLocks noChangeArrowheads="1"/>
              </p:cNvSpPr>
              <p:nvPr/>
            </p:nvSpPr>
            <p:spPr bwMode="auto">
              <a:xfrm>
                <a:off x="4478" y="2760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43" name="Rectangle 46"/>
              <p:cNvSpPr>
                <a:spLocks noChangeArrowheads="1"/>
              </p:cNvSpPr>
              <p:nvPr/>
            </p:nvSpPr>
            <p:spPr bwMode="auto">
              <a:xfrm>
                <a:off x="4655" y="2760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44" name="Rectangle 47"/>
              <p:cNvSpPr>
                <a:spLocks noChangeArrowheads="1"/>
              </p:cNvSpPr>
              <p:nvPr/>
            </p:nvSpPr>
            <p:spPr bwMode="auto">
              <a:xfrm>
                <a:off x="4833" y="2760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45" name="Rectangle 48"/>
              <p:cNvSpPr>
                <a:spLocks noChangeArrowheads="1"/>
              </p:cNvSpPr>
              <p:nvPr/>
            </p:nvSpPr>
            <p:spPr bwMode="auto">
              <a:xfrm>
                <a:off x="5010" y="2760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46" name="Rectangle 49"/>
              <p:cNvSpPr>
                <a:spLocks noChangeArrowheads="1"/>
              </p:cNvSpPr>
              <p:nvPr/>
            </p:nvSpPr>
            <p:spPr bwMode="auto">
              <a:xfrm>
                <a:off x="5188" y="2760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47" name="Rectangle 50"/>
              <p:cNvSpPr>
                <a:spLocks noChangeArrowheads="1"/>
              </p:cNvSpPr>
              <p:nvPr/>
            </p:nvSpPr>
            <p:spPr bwMode="auto">
              <a:xfrm>
                <a:off x="3590" y="2582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48" name="Rectangle 51"/>
              <p:cNvSpPr>
                <a:spLocks noChangeArrowheads="1"/>
              </p:cNvSpPr>
              <p:nvPr/>
            </p:nvSpPr>
            <p:spPr bwMode="auto">
              <a:xfrm>
                <a:off x="3768" y="2582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49" name="Rectangle 52"/>
              <p:cNvSpPr>
                <a:spLocks noChangeArrowheads="1"/>
              </p:cNvSpPr>
              <p:nvPr/>
            </p:nvSpPr>
            <p:spPr bwMode="auto">
              <a:xfrm>
                <a:off x="3945" y="2582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50" name="Rectangle 53"/>
              <p:cNvSpPr>
                <a:spLocks noChangeArrowheads="1"/>
              </p:cNvSpPr>
              <p:nvPr/>
            </p:nvSpPr>
            <p:spPr bwMode="auto">
              <a:xfrm>
                <a:off x="4123" y="2582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51" name="Rectangle 54"/>
              <p:cNvSpPr>
                <a:spLocks noChangeArrowheads="1"/>
              </p:cNvSpPr>
              <p:nvPr/>
            </p:nvSpPr>
            <p:spPr bwMode="auto">
              <a:xfrm>
                <a:off x="4300" y="2582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52" name="Rectangle 55"/>
              <p:cNvSpPr>
                <a:spLocks noChangeArrowheads="1"/>
              </p:cNvSpPr>
              <p:nvPr/>
            </p:nvSpPr>
            <p:spPr bwMode="auto">
              <a:xfrm>
                <a:off x="4478" y="2582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53" name="Rectangle 56"/>
              <p:cNvSpPr>
                <a:spLocks noChangeArrowheads="1"/>
              </p:cNvSpPr>
              <p:nvPr/>
            </p:nvSpPr>
            <p:spPr bwMode="auto">
              <a:xfrm>
                <a:off x="4655" y="2582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54" name="Rectangle 57"/>
              <p:cNvSpPr>
                <a:spLocks noChangeArrowheads="1"/>
              </p:cNvSpPr>
              <p:nvPr/>
            </p:nvSpPr>
            <p:spPr bwMode="auto">
              <a:xfrm>
                <a:off x="4833" y="2582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55" name="Rectangle 58"/>
              <p:cNvSpPr>
                <a:spLocks noChangeArrowheads="1"/>
              </p:cNvSpPr>
              <p:nvPr/>
            </p:nvSpPr>
            <p:spPr bwMode="auto">
              <a:xfrm>
                <a:off x="5010" y="2582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56" name="Rectangle 59"/>
              <p:cNvSpPr>
                <a:spLocks noChangeArrowheads="1"/>
              </p:cNvSpPr>
              <p:nvPr/>
            </p:nvSpPr>
            <p:spPr bwMode="auto">
              <a:xfrm>
                <a:off x="5188" y="2582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57" name="Rectangle 60"/>
              <p:cNvSpPr>
                <a:spLocks noChangeArrowheads="1"/>
              </p:cNvSpPr>
              <p:nvPr/>
            </p:nvSpPr>
            <p:spPr bwMode="auto">
              <a:xfrm>
                <a:off x="3590" y="2405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58" name="Rectangle 61"/>
              <p:cNvSpPr>
                <a:spLocks noChangeArrowheads="1"/>
              </p:cNvSpPr>
              <p:nvPr/>
            </p:nvSpPr>
            <p:spPr bwMode="auto">
              <a:xfrm>
                <a:off x="3768" y="2405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59" name="Rectangle 62"/>
              <p:cNvSpPr>
                <a:spLocks noChangeArrowheads="1"/>
              </p:cNvSpPr>
              <p:nvPr/>
            </p:nvSpPr>
            <p:spPr bwMode="auto">
              <a:xfrm>
                <a:off x="3945" y="2405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60" name="Rectangle 63"/>
              <p:cNvSpPr>
                <a:spLocks noChangeArrowheads="1"/>
              </p:cNvSpPr>
              <p:nvPr/>
            </p:nvSpPr>
            <p:spPr bwMode="auto">
              <a:xfrm>
                <a:off x="4123" y="2405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61" name="Rectangle 64"/>
              <p:cNvSpPr>
                <a:spLocks noChangeArrowheads="1"/>
              </p:cNvSpPr>
              <p:nvPr/>
            </p:nvSpPr>
            <p:spPr bwMode="auto">
              <a:xfrm>
                <a:off x="4300" y="2405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62" name="Rectangle 65"/>
              <p:cNvSpPr>
                <a:spLocks noChangeArrowheads="1"/>
              </p:cNvSpPr>
              <p:nvPr/>
            </p:nvSpPr>
            <p:spPr bwMode="auto">
              <a:xfrm>
                <a:off x="4478" y="2405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63" name="Rectangle 66"/>
              <p:cNvSpPr>
                <a:spLocks noChangeArrowheads="1"/>
              </p:cNvSpPr>
              <p:nvPr/>
            </p:nvSpPr>
            <p:spPr bwMode="auto">
              <a:xfrm>
                <a:off x="4655" y="2405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64" name="Rectangle 67"/>
              <p:cNvSpPr>
                <a:spLocks noChangeArrowheads="1"/>
              </p:cNvSpPr>
              <p:nvPr/>
            </p:nvSpPr>
            <p:spPr bwMode="auto">
              <a:xfrm>
                <a:off x="4833" y="2405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65" name="Rectangle 68"/>
              <p:cNvSpPr>
                <a:spLocks noChangeArrowheads="1"/>
              </p:cNvSpPr>
              <p:nvPr/>
            </p:nvSpPr>
            <p:spPr bwMode="auto">
              <a:xfrm>
                <a:off x="5010" y="2405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66" name="Rectangle 69"/>
              <p:cNvSpPr>
                <a:spLocks noChangeArrowheads="1"/>
              </p:cNvSpPr>
              <p:nvPr/>
            </p:nvSpPr>
            <p:spPr bwMode="auto">
              <a:xfrm>
                <a:off x="5188" y="2405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67" name="Rectangle 70"/>
              <p:cNvSpPr>
                <a:spLocks noChangeArrowheads="1"/>
              </p:cNvSpPr>
              <p:nvPr/>
            </p:nvSpPr>
            <p:spPr bwMode="auto">
              <a:xfrm>
                <a:off x="3590" y="2227"/>
                <a:ext cx="179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68" name="Rectangle 71"/>
              <p:cNvSpPr>
                <a:spLocks noChangeArrowheads="1"/>
              </p:cNvSpPr>
              <p:nvPr/>
            </p:nvSpPr>
            <p:spPr bwMode="auto">
              <a:xfrm>
                <a:off x="3768" y="2227"/>
                <a:ext cx="178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69" name="Rectangle 72"/>
              <p:cNvSpPr>
                <a:spLocks noChangeArrowheads="1"/>
              </p:cNvSpPr>
              <p:nvPr/>
            </p:nvSpPr>
            <p:spPr bwMode="auto">
              <a:xfrm>
                <a:off x="3945" y="2227"/>
                <a:ext cx="179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70" name="Rectangle 73"/>
              <p:cNvSpPr>
                <a:spLocks noChangeArrowheads="1"/>
              </p:cNvSpPr>
              <p:nvPr/>
            </p:nvSpPr>
            <p:spPr bwMode="auto">
              <a:xfrm>
                <a:off x="4123" y="2227"/>
                <a:ext cx="178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71" name="Rectangle 74"/>
              <p:cNvSpPr>
                <a:spLocks noChangeArrowheads="1"/>
              </p:cNvSpPr>
              <p:nvPr/>
            </p:nvSpPr>
            <p:spPr bwMode="auto">
              <a:xfrm>
                <a:off x="4300" y="2227"/>
                <a:ext cx="179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72" name="Rectangle 75"/>
              <p:cNvSpPr>
                <a:spLocks noChangeArrowheads="1"/>
              </p:cNvSpPr>
              <p:nvPr/>
            </p:nvSpPr>
            <p:spPr bwMode="auto">
              <a:xfrm>
                <a:off x="4478" y="2227"/>
                <a:ext cx="178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73" name="Rectangle 76"/>
              <p:cNvSpPr>
                <a:spLocks noChangeArrowheads="1"/>
              </p:cNvSpPr>
              <p:nvPr/>
            </p:nvSpPr>
            <p:spPr bwMode="auto">
              <a:xfrm>
                <a:off x="4655" y="2227"/>
                <a:ext cx="179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74" name="Rectangle 77"/>
              <p:cNvSpPr>
                <a:spLocks noChangeArrowheads="1"/>
              </p:cNvSpPr>
              <p:nvPr/>
            </p:nvSpPr>
            <p:spPr bwMode="auto">
              <a:xfrm>
                <a:off x="4833" y="2227"/>
                <a:ext cx="178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75" name="Rectangle 78"/>
              <p:cNvSpPr>
                <a:spLocks noChangeArrowheads="1"/>
              </p:cNvSpPr>
              <p:nvPr/>
            </p:nvSpPr>
            <p:spPr bwMode="auto">
              <a:xfrm>
                <a:off x="5010" y="2227"/>
                <a:ext cx="179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76" name="Rectangle 79"/>
              <p:cNvSpPr>
                <a:spLocks noChangeArrowheads="1"/>
              </p:cNvSpPr>
              <p:nvPr/>
            </p:nvSpPr>
            <p:spPr bwMode="auto">
              <a:xfrm>
                <a:off x="5188" y="2227"/>
                <a:ext cx="178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77" name="Rectangle 80"/>
              <p:cNvSpPr>
                <a:spLocks noChangeArrowheads="1"/>
              </p:cNvSpPr>
              <p:nvPr/>
            </p:nvSpPr>
            <p:spPr bwMode="auto">
              <a:xfrm>
                <a:off x="3590" y="2050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78" name="Rectangle 81"/>
              <p:cNvSpPr>
                <a:spLocks noChangeArrowheads="1"/>
              </p:cNvSpPr>
              <p:nvPr/>
            </p:nvSpPr>
            <p:spPr bwMode="auto">
              <a:xfrm>
                <a:off x="3768" y="2050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79" name="Rectangle 82"/>
              <p:cNvSpPr>
                <a:spLocks noChangeArrowheads="1"/>
              </p:cNvSpPr>
              <p:nvPr/>
            </p:nvSpPr>
            <p:spPr bwMode="auto">
              <a:xfrm>
                <a:off x="3945" y="2050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80" name="Rectangle 83"/>
              <p:cNvSpPr>
                <a:spLocks noChangeArrowheads="1"/>
              </p:cNvSpPr>
              <p:nvPr/>
            </p:nvSpPr>
            <p:spPr bwMode="auto">
              <a:xfrm>
                <a:off x="4123" y="2050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81" name="Rectangle 84"/>
              <p:cNvSpPr>
                <a:spLocks noChangeArrowheads="1"/>
              </p:cNvSpPr>
              <p:nvPr/>
            </p:nvSpPr>
            <p:spPr bwMode="auto">
              <a:xfrm>
                <a:off x="4300" y="2050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82" name="Rectangle 85"/>
              <p:cNvSpPr>
                <a:spLocks noChangeArrowheads="1"/>
              </p:cNvSpPr>
              <p:nvPr/>
            </p:nvSpPr>
            <p:spPr bwMode="auto">
              <a:xfrm>
                <a:off x="4478" y="2050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83" name="Rectangle 86"/>
              <p:cNvSpPr>
                <a:spLocks noChangeArrowheads="1"/>
              </p:cNvSpPr>
              <p:nvPr/>
            </p:nvSpPr>
            <p:spPr bwMode="auto">
              <a:xfrm>
                <a:off x="4655" y="2050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84" name="Rectangle 87"/>
              <p:cNvSpPr>
                <a:spLocks noChangeArrowheads="1"/>
              </p:cNvSpPr>
              <p:nvPr/>
            </p:nvSpPr>
            <p:spPr bwMode="auto">
              <a:xfrm>
                <a:off x="4833" y="2050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85" name="Rectangle 88"/>
              <p:cNvSpPr>
                <a:spLocks noChangeArrowheads="1"/>
              </p:cNvSpPr>
              <p:nvPr/>
            </p:nvSpPr>
            <p:spPr bwMode="auto">
              <a:xfrm>
                <a:off x="5010" y="2050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86" name="Rectangle 89"/>
              <p:cNvSpPr>
                <a:spLocks noChangeArrowheads="1"/>
              </p:cNvSpPr>
              <p:nvPr/>
            </p:nvSpPr>
            <p:spPr bwMode="auto">
              <a:xfrm>
                <a:off x="5188" y="2050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87" name="Rectangle 90"/>
              <p:cNvSpPr>
                <a:spLocks noChangeArrowheads="1"/>
              </p:cNvSpPr>
              <p:nvPr/>
            </p:nvSpPr>
            <p:spPr bwMode="auto">
              <a:xfrm>
                <a:off x="3590" y="1872"/>
                <a:ext cx="179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88" name="Rectangle 91"/>
              <p:cNvSpPr>
                <a:spLocks noChangeArrowheads="1"/>
              </p:cNvSpPr>
              <p:nvPr/>
            </p:nvSpPr>
            <p:spPr bwMode="auto">
              <a:xfrm>
                <a:off x="3768" y="1872"/>
                <a:ext cx="178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89" name="Rectangle 92"/>
              <p:cNvSpPr>
                <a:spLocks noChangeArrowheads="1"/>
              </p:cNvSpPr>
              <p:nvPr/>
            </p:nvSpPr>
            <p:spPr bwMode="auto">
              <a:xfrm>
                <a:off x="3945" y="1872"/>
                <a:ext cx="179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90" name="Rectangle 93"/>
              <p:cNvSpPr>
                <a:spLocks noChangeArrowheads="1"/>
              </p:cNvSpPr>
              <p:nvPr/>
            </p:nvSpPr>
            <p:spPr bwMode="auto">
              <a:xfrm>
                <a:off x="4123" y="1872"/>
                <a:ext cx="178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91" name="Rectangle 94"/>
              <p:cNvSpPr>
                <a:spLocks noChangeArrowheads="1"/>
              </p:cNvSpPr>
              <p:nvPr/>
            </p:nvSpPr>
            <p:spPr bwMode="auto">
              <a:xfrm>
                <a:off x="4300" y="1872"/>
                <a:ext cx="179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92" name="Rectangle 95"/>
              <p:cNvSpPr>
                <a:spLocks noChangeArrowheads="1"/>
              </p:cNvSpPr>
              <p:nvPr/>
            </p:nvSpPr>
            <p:spPr bwMode="auto">
              <a:xfrm>
                <a:off x="4478" y="1872"/>
                <a:ext cx="178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93" name="Rectangle 96"/>
              <p:cNvSpPr>
                <a:spLocks noChangeArrowheads="1"/>
              </p:cNvSpPr>
              <p:nvPr/>
            </p:nvSpPr>
            <p:spPr bwMode="auto">
              <a:xfrm>
                <a:off x="4655" y="1872"/>
                <a:ext cx="179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94" name="Rectangle 97"/>
              <p:cNvSpPr>
                <a:spLocks noChangeArrowheads="1"/>
              </p:cNvSpPr>
              <p:nvPr/>
            </p:nvSpPr>
            <p:spPr bwMode="auto">
              <a:xfrm>
                <a:off x="4833" y="1872"/>
                <a:ext cx="178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95" name="Rectangle 98"/>
              <p:cNvSpPr>
                <a:spLocks noChangeArrowheads="1"/>
              </p:cNvSpPr>
              <p:nvPr/>
            </p:nvSpPr>
            <p:spPr bwMode="auto">
              <a:xfrm>
                <a:off x="5010" y="1872"/>
                <a:ext cx="179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96" name="Rectangle 99"/>
              <p:cNvSpPr>
                <a:spLocks noChangeArrowheads="1"/>
              </p:cNvSpPr>
              <p:nvPr/>
            </p:nvSpPr>
            <p:spPr bwMode="auto">
              <a:xfrm>
                <a:off x="5188" y="1872"/>
                <a:ext cx="178" cy="179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97" name="Rectangle 100"/>
              <p:cNvSpPr>
                <a:spLocks noChangeArrowheads="1"/>
              </p:cNvSpPr>
              <p:nvPr/>
            </p:nvSpPr>
            <p:spPr bwMode="auto">
              <a:xfrm>
                <a:off x="3590" y="1695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98" name="Rectangle 101"/>
              <p:cNvSpPr>
                <a:spLocks noChangeArrowheads="1"/>
              </p:cNvSpPr>
              <p:nvPr/>
            </p:nvSpPr>
            <p:spPr bwMode="auto">
              <a:xfrm>
                <a:off x="3768" y="1695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899" name="Rectangle 102"/>
              <p:cNvSpPr>
                <a:spLocks noChangeArrowheads="1"/>
              </p:cNvSpPr>
              <p:nvPr/>
            </p:nvSpPr>
            <p:spPr bwMode="auto">
              <a:xfrm>
                <a:off x="3945" y="1695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00" name="Rectangle 103"/>
              <p:cNvSpPr>
                <a:spLocks noChangeArrowheads="1"/>
              </p:cNvSpPr>
              <p:nvPr/>
            </p:nvSpPr>
            <p:spPr bwMode="auto">
              <a:xfrm>
                <a:off x="4123" y="1695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01" name="Rectangle 104"/>
              <p:cNvSpPr>
                <a:spLocks noChangeArrowheads="1"/>
              </p:cNvSpPr>
              <p:nvPr/>
            </p:nvSpPr>
            <p:spPr bwMode="auto">
              <a:xfrm>
                <a:off x="4300" y="1695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02" name="Rectangle 105"/>
              <p:cNvSpPr>
                <a:spLocks noChangeArrowheads="1"/>
              </p:cNvSpPr>
              <p:nvPr/>
            </p:nvSpPr>
            <p:spPr bwMode="auto">
              <a:xfrm>
                <a:off x="4478" y="1695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03" name="Rectangle 106"/>
              <p:cNvSpPr>
                <a:spLocks noChangeArrowheads="1"/>
              </p:cNvSpPr>
              <p:nvPr/>
            </p:nvSpPr>
            <p:spPr bwMode="auto">
              <a:xfrm>
                <a:off x="4655" y="1695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04" name="Rectangle 107"/>
              <p:cNvSpPr>
                <a:spLocks noChangeArrowheads="1"/>
              </p:cNvSpPr>
              <p:nvPr/>
            </p:nvSpPr>
            <p:spPr bwMode="auto">
              <a:xfrm>
                <a:off x="4833" y="1695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05" name="Rectangle 108"/>
              <p:cNvSpPr>
                <a:spLocks noChangeArrowheads="1"/>
              </p:cNvSpPr>
              <p:nvPr/>
            </p:nvSpPr>
            <p:spPr bwMode="auto">
              <a:xfrm>
                <a:off x="5010" y="1695"/>
                <a:ext cx="179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06" name="Rectangle 109"/>
              <p:cNvSpPr>
                <a:spLocks noChangeArrowheads="1"/>
              </p:cNvSpPr>
              <p:nvPr/>
            </p:nvSpPr>
            <p:spPr bwMode="auto">
              <a:xfrm>
                <a:off x="5188" y="1695"/>
                <a:ext cx="178" cy="178"/>
              </a:xfrm>
              <a:prstGeom prst="rect">
                <a:avLst/>
              </a:prstGeom>
              <a:noFill/>
              <a:ln w="1588">
                <a:solidFill>
                  <a:srgbClr val="C0C0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07" name="Rectangle 110"/>
              <p:cNvSpPr>
                <a:spLocks noChangeArrowheads="1"/>
              </p:cNvSpPr>
              <p:nvPr/>
            </p:nvSpPr>
            <p:spPr bwMode="auto">
              <a:xfrm>
                <a:off x="3697" y="3470"/>
                <a:ext cx="157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08" name="Rectangle 111"/>
              <p:cNvSpPr>
                <a:spLocks noChangeArrowheads="1"/>
              </p:cNvSpPr>
              <p:nvPr/>
            </p:nvSpPr>
            <p:spPr bwMode="auto">
              <a:xfrm>
                <a:off x="3740" y="3501"/>
                <a:ext cx="5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1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09" name="Rectangle 112"/>
              <p:cNvSpPr>
                <a:spLocks noChangeArrowheads="1"/>
              </p:cNvSpPr>
              <p:nvPr/>
            </p:nvSpPr>
            <p:spPr bwMode="auto">
              <a:xfrm>
                <a:off x="3874" y="3470"/>
                <a:ext cx="15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10" name="Rectangle 113"/>
              <p:cNvSpPr>
                <a:spLocks noChangeArrowheads="1"/>
              </p:cNvSpPr>
              <p:nvPr/>
            </p:nvSpPr>
            <p:spPr bwMode="auto">
              <a:xfrm>
                <a:off x="3917" y="3501"/>
                <a:ext cx="5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2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11" name="Rectangle 114"/>
              <p:cNvSpPr>
                <a:spLocks noChangeArrowheads="1"/>
              </p:cNvSpPr>
              <p:nvPr/>
            </p:nvSpPr>
            <p:spPr bwMode="auto">
              <a:xfrm>
                <a:off x="4052" y="3470"/>
                <a:ext cx="157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12" name="Rectangle 115"/>
              <p:cNvSpPr>
                <a:spLocks noChangeArrowheads="1"/>
              </p:cNvSpPr>
              <p:nvPr/>
            </p:nvSpPr>
            <p:spPr bwMode="auto">
              <a:xfrm>
                <a:off x="4095" y="3501"/>
                <a:ext cx="5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3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13" name="Rectangle 116"/>
              <p:cNvSpPr>
                <a:spLocks noChangeArrowheads="1"/>
              </p:cNvSpPr>
              <p:nvPr/>
            </p:nvSpPr>
            <p:spPr bwMode="auto">
              <a:xfrm>
                <a:off x="4229" y="3470"/>
                <a:ext cx="15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14" name="Rectangle 117"/>
              <p:cNvSpPr>
                <a:spLocks noChangeArrowheads="1"/>
              </p:cNvSpPr>
              <p:nvPr/>
            </p:nvSpPr>
            <p:spPr bwMode="auto">
              <a:xfrm>
                <a:off x="4272" y="3501"/>
                <a:ext cx="5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4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15" name="Rectangle 118"/>
              <p:cNvSpPr>
                <a:spLocks noChangeArrowheads="1"/>
              </p:cNvSpPr>
              <p:nvPr/>
            </p:nvSpPr>
            <p:spPr bwMode="auto">
              <a:xfrm>
                <a:off x="4407" y="3470"/>
                <a:ext cx="157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16" name="Rectangle 119"/>
              <p:cNvSpPr>
                <a:spLocks noChangeArrowheads="1"/>
              </p:cNvSpPr>
              <p:nvPr/>
            </p:nvSpPr>
            <p:spPr bwMode="auto">
              <a:xfrm>
                <a:off x="4451" y="3501"/>
                <a:ext cx="5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5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17" name="Rectangle 120"/>
              <p:cNvSpPr>
                <a:spLocks noChangeArrowheads="1"/>
              </p:cNvSpPr>
              <p:nvPr/>
            </p:nvSpPr>
            <p:spPr bwMode="auto">
              <a:xfrm>
                <a:off x="4584" y="3470"/>
                <a:ext cx="15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18" name="Rectangle 121"/>
              <p:cNvSpPr>
                <a:spLocks noChangeArrowheads="1"/>
              </p:cNvSpPr>
              <p:nvPr/>
            </p:nvSpPr>
            <p:spPr bwMode="auto">
              <a:xfrm>
                <a:off x="4627" y="3501"/>
                <a:ext cx="5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6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19" name="Rectangle 122"/>
              <p:cNvSpPr>
                <a:spLocks noChangeArrowheads="1"/>
              </p:cNvSpPr>
              <p:nvPr/>
            </p:nvSpPr>
            <p:spPr bwMode="auto">
              <a:xfrm>
                <a:off x="4762" y="3470"/>
                <a:ext cx="157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20" name="Rectangle 123"/>
              <p:cNvSpPr>
                <a:spLocks noChangeArrowheads="1"/>
              </p:cNvSpPr>
              <p:nvPr/>
            </p:nvSpPr>
            <p:spPr bwMode="auto">
              <a:xfrm>
                <a:off x="4805" y="3501"/>
                <a:ext cx="5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7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21" name="Rectangle 124"/>
              <p:cNvSpPr>
                <a:spLocks noChangeArrowheads="1"/>
              </p:cNvSpPr>
              <p:nvPr/>
            </p:nvSpPr>
            <p:spPr bwMode="auto">
              <a:xfrm>
                <a:off x="4939" y="3470"/>
                <a:ext cx="15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22" name="Rectangle 125"/>
              <p:cNvSpPr>
                <a:spLocks noChangeArrowheads="1"/>
              </p:cNvSpPr>
              <p:nvPr/>
            </p:nvSpPr>
            <p:spPr bwMode="auto">
              <a:xfrm>
                <a:off x="4982" y="3501"/>
                <a:ext cx="5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8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23" name="Rectangle 126"/>
              <p:cNvSpPr>
                <a:spLocks noChangeArrowheads="1"/>
              </p:cNvSpPr>
              <p:nvPr/>
            </p:nvSpPr>
            <p:spPr bwMode="auto">
              <a:xfrm>
                <a:off x="5117" y="3470"/>
                <a:ext cx="157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24" name="Rectangle 127"/>
              <p:cNvSpPr>
                <a:spLocks noChangeArrowheads="1"/>
              </p:cNvSpPr>
              <p:nvPr/>
            </p:nvSpPr>
            <p:spPr bwMode="auto">
              <a:xfrm>
                <a:off x="5160" y="3501"/>
                <a:ext cx="5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9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25" name="Rectangle 128"/>
              <p:cNvSpPr>
                <a:spLocks noChangeArrowheads="1"/>
              </p:cNvSpPr>
              <p:nvPr/>
            </p:nvSpPr>
            <p:spPr bwMode="auto">
              <a:xfrm>
                <a:off x="5259" y="3470"/>
                <a:ext cx="22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26" name="Rectangle 129"/>
              <p:cNvSpPr>
                <a:spLocks noChangeArrowheads="1"/>
              </p:cNvSpPr>
              <p:nvPr/>
            </p:nvSpPr>
            <p:spPr bwMode="auto">
              <a:xfrm>
                <a:off x="5302" y="3501"/>
                <a:ext cx="11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10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27" name="Rectangle 130"/>
              <p:cNvSpPr>
                <a:spLocks noChangeArrowheads="1"/>
              </p:cNvSpPr>
              <p:nvPr/>
            </p:nvSpPr>
            <p:spPr bwMode="auto">
              <a:xfrm>
                <a:off x="3413" y="3186"/>
                <a:ext cx="157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28" name="Rectangle 131"/>
              <p:cNvSpPr>
                <a:spLocks noChangeArrowheads="1"/>
              </p:cNvSpPr>
              <p:nvPr/>
            </p:nvSpPr>
            <p:spPr bwMode="auto">
              <a:xfrm>
                <a:off x="3456" y="3217"/>
                <a:ext cx="5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1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29" name="Rectangle 132"/>
              <p:cNvSpPr>
                <a:spLocks noChangeArrowheads="1"/>
              </p:cNvSpPr>
              <p:nvPr/>
            </p:nvSpPr>
            <p:spPr bwMode="auto">
              <a:xfrm>
                <a:off x="3413" y="3008"/>
                <a:ext cx="157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30" name="Rectangle 133"/>
              <p:cNvSpPr>
                <a:spLocks noChangeArrowheads="1"/>
              </p:cNvSpPr>
              <p:nvPr/>
            </p:nvSpPr>
            <p:spPr bwMode="auto">
              <a:xfrm>
                <a:off x="3456" y="3039"/>
                <a:ext cx="5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2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31" name="Rectangle 134"/>
              <p:cNvSpPr>
                <a:spLocks noChangeArrowheads="1"/>
              </p:cNvSpPr>
              <p:nvPr/>
            </p:nvSpPr>
            <p:spPr bwMode="auto">
              <a:xfrm>
                <a:off x="3413" y="2831"/>
                <a:ext cx="157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32" name="Rectangle 135"/>
              <p:cNvSpPr>
                <a:spLocks noChangeArrowheads="1"/>
              </p:cNvSpPr>
              <p:nvPr/>
            </p:nvSpPr>
            <p:spPr bwMode="auto">
              <a:xfrm>
                <a:off x="3456" y="2862"/>
                <a:ext cx="5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3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33" name="Rectangle 136"/>
              <p:cNvSpPr>
                <a:spLocks noChangeArrowheads="1"/>
              </p:cNvSpPr>
              <p:nvPr/>
            </p:nvSpPr>
            <p:spPr bwMode="auto">
              <a:xfrm>
                <a:off x="3413" y="2653"/>
                <a:ext cx="157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34" name="Rectangle 137"/>
              <p:cNvSpPr>
                <a:spLocks noChangeArrowheads="1"/>
              </p:cNvSpPr>
              <p:nvPr/>
            </p:nvSpPr>
            <p:spPr bwMode="auto">
              <a:xfrm>
                <a:off x="3456" y="2684"/>
                <a:ext cx="5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4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35" name="Rectangle 138"/>
              <p:cNvSpPr>
                <a:spLocks noChangeArrowheads="1"/>
              </p:cNvSpPr>
              <p:nvPr/>
            </p:nvSpPr>
            <p:spPr bwMode="auto">
              <a:xfrm>
                <a:off x="3413" y="2476"/>
                <a:ext cx="157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36" name="Rectangle 139"/>
              <p:cNvSpPr>
                <a:spLocks noChangeArrowheads="1"/>
              </p:cNvSpPr>
              <p:nvPr/>
            </p:nvSpPr>
            <p:spPr bwMode="auto">
              <a:xfrm>
                <a:off x="3456" y="2508"/>
                <a:ext cx="5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5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37" name="Rectangle 140"/>
              <p:cNvSpPr>
                <a:spLocks noChangeArrowheads="1"/>
              </p:cNvSpPr>
              <p:nvPr/>
            </p:nvSpPr>
            <p:spPr bwMode="auto">
              <a:xfrm>
                <a:off x="3413" y="2298"/>
                <a:ext cx="157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38" name="Rectangle 141"/>
              <p:cNvSpPr>
                <a:spLocks noChangeArrowheads="1"/>
              </p:cNvSpPr>
              <p:nvPr/>
            </p:nvSpPr>
            <p:spPr bwMode="auto">
              <a:xfrm>
                <a:off x="3456" y="2330"/>
                <a:ext cx="5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6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39" name="Rectangle 142"/>
              <p:cNvSpPr>
                <a:spLocks noChangeArrowheads="1"/>
              </p:cNvSpPr>
              <p:nvPr/>
            </p:nvSpPr>
            <p:spPr bwMode="auto">
              <a:xfrm>
                <a:off x="3413" y="2121"/>
                <a:ext cx="157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40" name="Rectangle 143"/>
              <p:cNvSpPr>
                <a:spLocks noChangeArrowheads="1"/>
              </p:cNvSpPr>
              <p:nvPr/>
            </p:nvSpPr>
            <p:spPr bwMode="auto">
              <a:xfrm>
                <a:off x="3456" y="2153"/>
                <a:ext cx="5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7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41" name="Rectangle 144"/>
              <p:cNvSpPr>
                <a:spLocks noChangeArrowheads="1"/>
              </p:cNvSpPr>
              <p:nvPr/>
            </p:nvSpPr>
            <p:spPr bwMode="auto">
              <a:xfrm>
                <a:off x="3413" y="1943"/>
                <a:ext cx="157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42" name="Rectangle 145"/>
              <p:cNvSpPr>
                <a:spLocks noChangeArrowheads="1"/>
              </p:cNvSpPr>
              <p:nvPr/>
            </p:nvSpPr>
            <p:spPr bwMode="auto">
              <a:xfrm>
                <a:off x="3456" y="1975"/>
                <a:ext cx="5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8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43" name="Rectangle 146"/>
              <p:cNvSpPr>
                <a:spLocks noChangeArrowheads="1"/>
              </p:cNvSpPr>
              <p:nvPr/>
            </p:nvSpPr>
            <p:spPr bwMode="auto">
              <a:xfrm>
                <a:off x="3413" y="1766"/>
                <a:ext cx="157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44" name="Rectangle 147"/>
              <p:cNvSpPr>
                <a:spLocks noChangeArrowheads="1"/>
              </p:cNvSpPr>
              <p:nvPr/>
            </p:nvSpPr>
            <p:spPr bwMode="auto">
              <a:xfrm>
                <a:off x="3456" y="1797"/>
                <a:ext cx="59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</a:rPr>
                  <a:t>9</a:t>
                </a:r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45" name="Rectangle 148"/>
              <p:cNvSpPr>
                <a:spLocks noChangeArrowheads="1"/>
              </p:cNvSpPr>
              <p:nvPr/>
            </p:nvSpPr>
            <p:spPr bwMode="auto">
              <a:xfrm>
                <a:off x="3590" y="3464"/>
                <a:ext cx="1775" cy="1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946" name="Rectangle 149"/>
              <p:cNvSpPr>
                <a:spLocks noChangeArrowheads="1"/>
              </p:cNvSpPr>
              <p:nvPr/>
            </p:nvSpPr>
            <p:spPr bwMode="auto">
              <a:xfrm>
                <a:off x="3585" y="1695"/>
                <a:ext cx="11" cy="177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32795" name="Oval 150"/>
            <p:cNvSpPr>
              <a:spLocks noChangeArrowheads="1"/>
            </p:cNvSpPr>
            <p:nvPr/>
          </p:nvSpPr>
          <p:spPr bwMode="auto">
            <a:xfrm>
              <a:off x="3816" y="2836"/>
              <a:ext cx="72" cy="72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2796" name="Oval 151"/>
            <p:cNvSpPr>
              <a:spLocks noChangeArrowheads="1"/>
            </p:cNvSpPr>
            <p:nvPr/>
          </p:nvSpPr>
          <p:spPr bwMode="auto">
            <a:xfrm>
              <a:off x="3981" y="2547"/>
              <a:ext cx="72" cy="71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2797" name="Oval 152"/>
            <p:cNvSpPr>
              <a:spLocks noChangeArrowheads="1"/>
            </p:cNvSpPr>
            <p:nvPr/>
          </p:nvSpPr>
          <p:spPr bwMode="auto">
            <a:xfrm>
              <a:off x="3803" y="2547"/>
              <a:ext cx="72" cy="71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2798" name="Oval 153"/>
            <p:cNvSpPr>
              <a:spLocks noChangeArrowheads="1"/>
            </p:cNvSpPr>
            <p:nvPr/>
          </p:nvSpPr>
          <p:spPr bwMode="auto">
            <a:xfrm>
              <a:off x="4087" y="2724"/>
              <a:ext cx="72" cy="72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2799" name="Oval 154"/>
            <p:cNvSpPr>
              <a:spLocks noChangeArrowheads="1"/>
            </p:cNvSpPr>
            <p:nvPr/>
          </p:nvSpPr>
          <p:spPr bwMode="auto">
            <a:xfrm>
              <a:off x="4908" y="2158"/>
              <a:ext cx="72" cy="72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2800" name="Oval 155"/>
            <p:cNvSpPr>
              <a:spLocks noChangeArrowheads="1"/>
            </p:cNvSpPr>
            <p:nvPr/>
          </p:nvSpPr>
          <p:spPr bwMode="auto">
            <a:xfrm>
              <a:off x="5073" y="1869"/>
              <a:ext cx="72" cy="71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2801" name="Oval 156"/>
            <p:cNvSpPr>
              <a:spLocks noChangeArrowheads="1"/>
            </p:cNvSpPr>
            <p:nvPr/>
          </p:nvSpPr>
          <p:spPr bwMode="auto">
            <a:xfrm>
              <a:off x="4895" y="1869"/>
              <a:ext cx="72" cy="71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2802" name="Oval 157"/>
            <p:cNvSpPr>
              <a:spLocks noChangeArrowheads="1"/>
            </p:cNvSpPr>
            <p:nvPr/>
          </p:nvSpPr>
          <p:spPr bwMode="auto">
            <a:xfrm>
              <a:off x="5179" y="2046"/>
              <a:ext cx="72" cy="72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2803" name="Oval 158"/>
            <p:cNvSpPr>
              <a:spLocks noChangeArrowheads="1"/>
            </p:cNvSpPr>
            <p:nvPr/>
          </p:nvSpPr>
          <p:spPr bwMode="auto">
            <a:xfrm>
              <a:off x="4974" y="2644"/>
              <a:ext cx="72" cy="72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2804" name="Oval 159"/>
            <p:cNvSpPr>
              <a:spLocks noChangeArrowheads="1"/>
            </p:cNvSpPr>
            <p:nvPr/>
          </p:nvSpPr>
          <p:spPr bwMode="auto">
            <a:xfrm>
              <a:off x="5139" y="2355"/>
              <a:ext cx="72" cy="71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2805" name="Oval 160"/>
            <p:cNvSpPr>
              <a:spLocks noChangeArrowheads="1"/>
            </p:cNvSpPr>
            <p:nvPr/>
          </p:nvSpPr>
          <p:spPr bwMode="auto">
            <a:xfrm>
              <a:off x="4961" y="2355"/>
              <a:ext cx="72" cy="71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2806" name="Oval 161"/>
            <p:cNvSpPr>
              <a:spLocks noChangeArrowheads="1"/>
            </p:cNvSpPr>
            <p:nvPr/>
          </p:nvSpPr>
          <p:spPr bwMode="auto">
            <a:xfrm>
              <a:off x="5245" y="2532"/>
              <a:ext cx="72" cy="72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2774" name="Oval 162"/>
          <p:cNvSpPr>
            <a:spLocks noChangeArrowheads="1"/>
          </p:cNvSpPr>
          <p:nvPr/>
        </p:nvSpPr>
        <p:spPr bwMode="auto">
          <a:xfrm>
            <a:off x="7067550" y="4286250"/>
            <a:ext cx="133350" cy="1333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2775" name="Oval 163"/>
          <p:cNvSpPr>
            <a:spLocks noChangeArrowheads="1"/>
          </p:cNvSpPr>
          <p:nvPr/>
        </p:nvSpPr>
        <p:spPr bwMode="auto">
          <a:xfrm>
            <a:off x="9582150" y="3238500"/>
            <a:ext cx="133350" cy="133350"/>
          </a:xfrm>
          <a:prstGeom prst="ellipse">
            <a:avLst/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2776" name="Line 164"/>
          <p:cNvSpPr>
            <a:spLocks noChangeShapeType="1"/>
          </p:cNvSpPr>
          <p:nvPr/>
        </p:nvSpPr>
        <p:spPr bwMode="auto">
          <a:xfrm flipH="1" flipV="1">
            <a:off x="7000876" y="4102100"/>
            <a:ext cx="92075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2777" name="Line 165"/>
          <p:cNvSpPr>
            <a:spLocks noChangeShapeType="1"/>
          </p:cNvSpPr>
          <p:nvPr/>
        </p:nvSpPr>
        <p:spPr bwMode="auto">
          <a:xfrm flipV="1">
            <a:off x="7169151" y="4092576"/>
            <a:ext cx="142875" cy="206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2778" name="Line 166"/>
          <p:cNvSpPr>
            <a:spLocks noChangeShapeType="1"/>
          </p:cNvSpPr>
          <p:nvPr/>
        </p:nvSpPr>
        <p:spPr bwMode="auto">
          <a:xfrm flipH="1">
            <a:off x="7029451" y="4413251"/>
            <a:ext cx="73025" cy="174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2779" name="Line 167"/>
          <p:cNvSpPr>
            <a:spLocks noChangeShapeType="1"/>
          </p:cNvSpPr>
          <p:nvPr/>
        </p:nvSpPr>
        <p:spPr bwMode="auto">
          <a:xfrm>
            <a:off x="7200900" y="4371976"/>
            <a:ext cx="311150" cy="41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2780" name="Line 168"/>
          <p:cNvSpPr>
            <a:spLocks noChangeShapeType="1"/>
          </p:cNvSpPr>
          <p:nvPr/>
        </p:nvSpPr>
        <p:spPr bwMode="auto">
          <a:xfrm flipH="1" flipV="1">
            <a:off x="9356726" y="2638425"/>
            <a:ext cx="263525" cy="603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2781" name="Line 169"/>
          <p:cNvSpPr>
            <a:spLocks noChangeShapeType="1"/>
          </p:cNvSpPr>
          <p:nvPr/>
        </p:nvSpPr>
        <p:spPr bwMode="auto">
          <a:xfrm flipV="1">
            <a:off x="9652001" y="2641601"/>
            <a:ext cx="53975" cy="593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2782" name="Line 170"/>
          <p:cNvSpPr>
            <a:spLocks noChangeShapeType="1"/>
          </p:cNvSpPr>
          <p:nvPr/>
        </p:nvSpPr>
        <p:spPr bwMode="auto">
          <a:xfrm flipV="1">
            <a:off x="9683751" y="3006726"/>
            <a:ext cx="206375" cy="244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2783" name="Line 171"/>
          <p:cNvSpPr>
            <a:spLocks noChangeShapeType="1"/>
          </p:cNvSpPr>
          <p:nvPr/>
        </p:nvSpPr>
        <p:spPr bwMode="auto">
          <a:xfrm flipH="1" flipV="1">
            <a:off x="9432925" y="3225801"/>
            <a:ext cx="152400" cy="47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2784" name="Line 172"/>
          <p:cNvSpPr>
            <a:spLocks noChangeShapeType="1"/>
          </p:cNvSpPr>
          <p:nvPr/>
        </p:nvSpPr>
        <p:spPr bwMode="auto">
          <a:xfrm flipH="1">
            <a:off x="9512300" y="3362326"/>
            <a:ext cx="101600" cy="187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2785" name="Line 173"/>
          <p:cNvSpPr>
            <a:spLocks noChangeShapeType="1"/>
          </p:cNvSpPr>
          <p:nvPr/>
        </p:nvSpPr>
        <p:spPr bwMode="auto">
          <a:xfrm>
            <a:off x="9693276" y="3359150"/>
            <a:ext cx="123825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2786" name="Line 174"/>
          <p:cNvSpPr>
            <a:spLocks noChangeShapeType="1"/>
          </p:cNvSpPr>
          <p:nvPr/>
        </p:nvSpPr>
        <p:spPr bwMode="auto">
          <a:xfrm flipH="1">
            <a:off x="9512301" y="3368675"/>
            <a:ext cx="130175" cy="800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2787" name="Line 175"/>
          <p:cNvSpPr>
            <a:spLocks noChangeShapeType="1"/>
          </p:cNvSpPr>
          <p:nvPr/>
        </p:nvSpPr>
        <p:spPr bwMode="auto">
          <a:xfrm flipH="1" flipV="1">
            <a:off x="9893301" y="3686176"/>
            <a:ext cx="149225" cy="250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2788" name="Line 176"/>
          <p:cNvSpPr>
            <a:spLocks noChangeShapeType="1"/>
          </p:cNvSpPr>
          <p:nvPr/>
        </p:nvSpPr>
        <p:spPr bwMode="auto">
          <a:xfrm flipV="1">
            <a:off x="3200400" y="4724400"/>
            <a:ext cx="361950" cy="127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2789" name="Text Box 177"/>
          <p:cNvSpPr txBox="1">
            <a:spLocks noChangeArrowheads="1"/>
          </p:cNvSpPr>
          <p:nvPr/>
        </p:nvSpPr>
        <p:spPr bwMode="auto">
          <a:xfrm>
            <a:off x="1905000" y="6248401"/>
            <a:ext cx="27350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Objective Function</a:t>
            </a:r>
          </a:p>
        </p:txBody>
      </p:sp>
      <p:sp>
        <p:nvSpPr>
          <p:cNvPr id="32790" name="TextBox 177"/>
          <p:cNvSpPr txBox="1">
            <a:spLocks noChangeArrowheads="1"/>
          </p:cNvSpPr>
          <p:nvPr/>
        </p:nvSpPr>
        <p:spPr bwMode="auto">
          <a:xfrm>
            <a:off x="6300788" y="315914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2036890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152400"/>
            <a:ext cx="8534400" cy="533400"/>
          </a:xfrm>
        </p:spPr>
        <p:txBody>
          <a:bodyPr/>
          <a:lstStyle/>
          <a:p>
            <a:pPr eaLnBrk="1" hangingPunct="1"/>
            <a:r>
              <a:rPr lang="en-US" altLang="en-US" sz="2800"/>
              <a:t>Types of Clusters: Objective Function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05000" y="990600"/>
            <a:ext cx="8504238" cy="5562600"/>
          </a:xfrm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en-US" smtClean="0"/>
              <a:t>Clusters Defined by an Objective Function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en-US" sz="2000"/>
              <a:t>Finds clusters that minimize or maximize an objective function. </a:t>
            </a:r>
          </a:p>
          <a:p>
            <a:pPr lvl="1" eaLnBrk="1" hangingPunct="1"/>
            <a:r>
              <a:rPr lang="en-US" altLang="en-US" sz="2000"/>
              <a:t>Enumerate all possible ways of dividing the points into clusters and evaluate the `goodness' of each potential set of clusters by using the given objective function.  (No. of feasible partitions could be  very large and the problem is NP Hard)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endParaRPr lang="en-US" altLang="en-US" sz="2000"/>
          </a:p>
          <a:p>
            <a:pPr lvl="1" eaLnBrk="1" hangingPunct="1"/>
            <a:r>
              <a:rPr lang="en-US" altLang="en-US" sz="2000"/>
              <a:t> Can have global or local objectives.</a:t>
            </a:r>
          </a:p>
          <a:p>
            <a:pPr lvl="2" eaLnBrk="1" hangingPunct="1"/>
            <a:r>
              <a:rPr lang="en-US" altLang="en-US" sz="1800"/>
              <a:t> Hierarchical clustering algorithms typically have local objectives</a:t>
            </a:r>
          </a:p>
          <a:p>
            <a:pPr lvl="2" eaLnBrk="1" hangingPunct="1"/>
            <a:r>
              <a:rPr lang="en-US" altLang="en-US" sz="1800"/>
              <a:t> Partitional algorithms typically have global objectives</a:t>
            </a:r>
          </a:p>
          <a:p>
            <a:pPr lvl="1" eaLnBrk="1" hangingPunct="1"/>
            <a:r>
              <a:rPr lang="en-US" altLang="en-US" sz="2000"/>
              <a:t>A variation of the global objective function approach is to fit the data to a parameterized model. </a:t>
            </a:r>
          </a:p>
          <a:p>
            <a:pPr lvl="2" eaLnBrk="1" hangingPunct="1"/>
            <a:r>
              <a:rPr lang="en-US" altLang="en-US" sz="1800"/>
              <a:t> Parameters for the model are determined from the data. </a:t>
            </a:r>
          </a:p>
          <a:p>
            <a:pPr lvl="2" eaLnBrk="1" hangingPunct="1"/>
            <a:r>
              <a:rPr lang="en-US" altLang="en-US" sz="1800"/>
              <a:t> Mixture models assume that the data is a ‘mixture' of a number of statistical distributions.  </a:t>
            </a:r>
          </a:p>
        </p:txBody>
      </p:sp>
      <p:sp>
        <p:nvSpPr>
          <p:cNvPr id="143364" name="Rectangle 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en-I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140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152400"/>
            <a:ext cx="8534400" cy="533400"/>
          </a:xfrm>
        </p:spPr>
        <p:txBody>
          <a:bodyPr/>
          <a:lstStyle/>
          <a:p>
            <a:pPr eaLnBrk="1" hangingPunct="1"/>
            <a:r>
              <a:rPr lang="en-US" altLang="en-US" sz="2800"/>
              <a:t>Types of Clusters: Objective Function …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mtClean="0"/>
              <a:t>Map the clustering problem to a different domain and solve a related problem in that domain</a:t>
            </a:r>
          </a:p>
          <a:p>
            <a:pPr lvl="1" eaLnBrk="1" hangingPunct="1"/>
            <a:r>
              <a:rPr lang="en-US" altLang="en-US" smtClean="0"/>
              <a:t>Proximity matrix defines a weighted graph, where the nodes are the points being clustered, and the weighted edges represent the proximities between points</a:t>
            </a:r>
          </a:p>
          <a:p>
            <a:pPr lvl="3" indent="-52388"/>
            <a:endParaRPr lang="en-US" altLang="en-US" smtClean="0"/>
          </a:p>
          <a:p>
            <a:pPr lvl="1" eaLnBrk="1" hangingPunct="1"/>
            <a:r>
              <a:rPr lang="en-US" altLang="en-US" smtClean="0"/>
              <a:t> Clustering is equivalent to breaking the graph into connected components, one for each cluster. </a:t>
            </a:r>
          </a:p>
          <a:p>
            <a:pPr lvl="1" eaLnBrk="1" hangingPunct="1"/>
            <a:endParaRPr lang="en-US" altLang="en-US" smtClean="0"/>
          </a:p>
          <a:p>
            <a:pPr lvl="1" eaLnBrk="1" hangingPunct="1"/>
            <a:r>
              <a:rPr lang="en-US" altLang="en-US" smtClean="0"/>
              <a:t>Want to minimize the edge weight between clusters and maximize the edge weight within clusters </a:t>
            </a: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0296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0"/>
            <a:ext cx="8229600" cy="1143000"/>
          </a:xfrm>
        </p:spPr>
        <p:txBody>
          <a:bodyPr/>
          <a:lstStyle/>
          <a:p>
            <a:r>
              <a:rPr lang="en-GB" altLang="en-US" smtClean="0"/>
              <a:t>Membership matrix</a:t>
            </a:r>
            <a:r>
              <a:rPr lang="da-DK" altLang="en-US" smtClean="0"/>
              <a:t> </a:t>
            </a:r>
            <a:r>
              <a:rPr lang="da-DK" altLang="en-US" b="1" smtClean="0"/>
              <a:t>M</a:t>
            </a:r>
            <a:endParaRPr lang="en-GB" altLang="en-US" b="1" smtClean="0"/>
          </a:p>
        </p:txBody>
      </p:sp>
      <p:graphicFrame>
        <p:nvGraphicFramePr>
          <p:cNvPr id="5122" name="Object 3"/>
          <p:cNvGraphicFramePr>
            <a:graphicFrameLocks noChangeAspect="1"/>
          </p:cNvGraphicFramePr>
          <p:nvPr/>
        </p:nvGraphicFramePr>
        <p:xfrm>
          <a:off x="3068638" y="3200400"/>
          <a:ext cx="31686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1955520" imgH="533160" progId="Equation.3">
                  <p:embed/>
                </p:oleObj>
              </mc:Choice>
              <mc:Fallback>
                <p:oleObj name="Equation" r:id="rId3" imgW="195552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8638" y="3200400"/>
                        <a:ext cx="3168650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2971800" y="2286000"/>
            <a:ext cx="1563688" cy="304800"/>
          </a:xfrm>
          <a:prstGeom prst="wedgeRectCallout">
            <a:avLst>
              <a:gd name="adj1" fmla="val 33708"/>
              <a:gd name="adj2" fmla="val 28512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da-DK" altLang="en-US">
                <a:solidFill>
                  <a:prstClr val="black"/>
                </a:solidFill>
              </a:rPr>
              <a:t>data point </a:t>
            </a:r>
            <a:r>
              <a:rPr lang="da-DK" altLang="en-US" i="1">
                <a:solidFill>
                  <a:prstClr val="black"/>
                </a:solidFill>
              </a:rPr>
              <a:t>k</a:t>
            </a:r>
            <a:endParaRPr lang="en-GB" altLang="en-US" i="1">
              <a:solidFill>
                <a:prstClr val="black"/>
              </a:solidFill>
            </a:endParaRPr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4648200" y="1219200"/>
            <a:ext cx="1265238" cy="609600"/>
          </a:xfrm>
          <a:prstGeom prst="wedgeRectCallout">
            <a:avLst>
              <a:gd name="adj1" fmla="val -42583"/>
              <a:gd name="adj2" fmla="val 306583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da-DK" altLang="en-US">
                <a:solidFill>
                  <a:prstClr val="black"/>
                </a:solidFill>
              </a:rPr>
              <a:t>cluster centre </a:t>
            </a:r>
            <a:r>
              <a:rPr lang="da-DK" altLang="en-US" i="1">
                <a:solidFill>
                  <a:prstClr val="black"/>
                </a:solidFill>
              </a:rPr>
              <a:t>i</a:t>
            </a:r>
            <a:endParaRPr lang="en-GB" altLang="en-US" i="1">
              <a:solidFill>
                <a:prstClr val="black"/>
              </a:solidFill>
            </a:endParaRPr>
          </a:p>
        </p:txBody>
      </p:sp>
      <p:sp>
        <p:nvSpPr>
          <p:cNvPr id="5126" name="AutoShape 6"/>
          <p:cNvSpPr>
            <a:spLocks noChangeArrowheads="1"/>
          </p:cNvSpPr>
          <p:nvPr/>
        </p:nvSpPr>
        <p:spPr bwMode="auto">
          <a:xfrm>
            <a:off x="5486400" y="4572000"/>
            <a:ext cx="1447800" cy="381000"/>
          </a:xfrm>
          <a:prstGeom prst="wedgeRectCallout">
            <a:avLst>
              <a:gd name="adj1" fmla="val -43782"/>
              <a:gd name="adj2" fmla="val -277315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da-DK" altLang="en-US">
                <a:solidFill>
                  <a:prstClr val="black"/>
                </a:solidFill>
              </a:rPr>
              <a:t>distance</a:t>
            </a:r>
            <a:endParaRPr lang="en-GB" altLang="en-US" i="1">
              <a:solidFill>
                <a:prstClr val="black"/>
              </a:solidFill>
            </a:endParaRPr>
          </a:p>
        </p:txBody>
      </p:sp>
      <p:sp>
        <p:nvSpPr>
          <p:cNvPr id="5127" name="AutoShape 7"/>
          <p:cNvSpPr>
            <a:spLocks noChangeArrowheads="1"/>
          </p:cNvSpPr>
          <p:nvPr/>
        </p:nvSpPr>
        <p:spPr bwMode="auto">
          <a:xfrm>
            <a:off x="6324600" y="1828801"/>
            <a:ext cx="2057400" cy="434975"/>
          </a:xfrm>
          <a:prstGeom prst="wedgeRectCallout">
            <a:avLst>
              <a:gd name="adj1" fmla="val -68940"/>
              <a:gd name="adj2" fmla="val 306583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da-DK" altLang="en-US">
                <a:solidFill>
                  <a:prstClr val="black"/>
                </a:solidFill>
              </a:rPr>
              <a:t>cluster centre </a:t>
            </a:r>
            <a:r>
              <a:rPr lang="da-DK" altLang="en-US" i="1">
                <a:solidFill>
                  <a:prstClr val="black"/>
                </a:solidFill>
              </a:rPr>
              <a:t>j</a:t>
            </a:r>
            <a:endParaRPr lang="en-GB" altLang="en-US" i="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53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mtClean="0"/>
              <a:t>c-partition</a:t>
            </a:r>
          </a:p>
        </p:txBody>
      </p:sp>
      <p:graphicFrame>
        <p:nvGraphicFramePr>
          <p:cNvPr id="6146" name="Object 3"/>
          <p:cNvGraphicFramePr>
            <a:graphicFrameLocks noChangeAspect="1"/>
          </p:cNvGraphicFramePr>
          <p:nvPr/>
        </p:nvGraphicFramePr>
        <p:xfrm>
          <a:off x="4419601" y="2819401"/>
          <a:ext cx="2906713" cy="213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1650960" imgH="1117440" progId="Equation.3">
                  <p:embed/>
                </p:oleObj>
              </mc:Choice>
              <mc:Fallback>
                <p:oleObj name="Equation" r:id="rId3" imgW="1650960" imgH="1117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1" y="2819401"/>
                        <a:ext cx="2906713" cy="213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AutoShape 5"/>
          <p:cNvSpPr>
            <a:spLocks noChangeArrowheads="1"/>
          </p:cNvSpPr>
          <p:nvPr/>
        </p:nvSpPr>
        <p:spPr bwMode="auto">
          <a:xfrm>
            <a:off x="2133601" y="1676400"/>
            <a:ext cx="2314575" cy="914400"/>
          </a:xfrm>
          <a:prstGeom prst="wedgeRectCallout">
            <a:avLst>
              <a:gd name="adj1" fmla="val 41394"/>
              <a:gd name="adj2" fmla="val 94755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da-DK" altLang="en-US">
                <a:solidFill>
                  <a:prstClr val="black"/>
                </a:solidFill>
              </a:rPr>
              <a:t>All clusters </a:t>
            </a:r>
            <a:r>
              <a:rPr lang="da-DK" altLang="en-US" i="1">
                <a:solidFill>
                  <a:prstClr val="black"/>
                </a:solidFill>
              </a:rPr>
              <a:t>C </a:t>
            </a:r>
            <a:r>
              <a:rPr lang="da-DK" altLang="en-US">
                <a:solidFill>
                  <a:prstClr val="black"/>
                </a:solidFill>
              </a:rPr>
              <a:t>together fills the whole universe </a:t>
            </a:r>
            <a:r>
              <a:rPr lang="da-DK" altLang="en-US" i="1">
                <a:solidFill>
                  <a:prstClr val="black"/>
                </a:solidFill>
              </a:rPr>
              <a:t>U</a:t>
            </a:r>
            <a:endParaRPr lang="en-GB" altLang="en-US" i="1">
              <a:solidFill>
                <a:prstClr val="black"/>
              </a:solidFill>
            </a:endParaRPr>
          </a:p>
        </p:txBody>
      </p:sp>
      <p:sp>
        <p:nvSpPr>
          <p:cNvPr id="6149" name="AutoShape 6"/>
          <p:cNvSpPr>
            <a:spLocks noChangeArrowheads="1"/>
          </p:cNvSpPr>
          <p:nvPr/>
        </p:nvSpPr>
        <p:spPr bwMode="auto">
          <a:xfrm>
            <a:off x="6629400" y="1676400"/>
            <a:ext cx="1703388" cy="666750"/>
          </a:xfrm>
          <a:prstGeom prst="wedgeRectCallout">
            <a:avLst>
              <a:gd name="adj1" fmla="val -101454"/>
              <a:gd name="adj2" fmla="val 251019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da-DK" altLang="en-US">
                <a:solidFill>
                  <a:prstClr val="black"/>
                </a:solidFill>
              </a:rPr>
              <a:t>Clusters do not overlap</a:t>
            </a:r>
            <a:endParaRPr lang="en-GB" altLang="en-US">
              <a:solidFill>
                <a:prstClr val="black"/>
              </a:solidFill>
            </a:endParaRPr>
          </a:p>
        </p:txBody>
      </p:sp>
      <p:sp>
        <p:nvSpPr>
          <p:cNvPr id="6150" name="AutoShape 7"/>
          <p:cNvSpPr>
            <a:spLocks noChangeArrowheads="1"/>
          </p:cNvSpPr>
          <p:nvPr/>
        </p:nvSpPr>
        <p:spPr bwMode="auto">
          <a:xfrm>
            <a:off x="1752600" y="4191000"/>
            <a:ext cx="1828800" cy="1258888"/>
          </a:xfrm>
          <a:prstGeom prst="wedgeRectCallout">
            <a:avLst>
              <a:gd name="adj1" fmla="val 93843"/>
              <a:gd name="adj2" fmla="val -33815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da-DK" altLang="en-US" sz="1600">
                <a:solidFill>
                  <a:prstClr val="black"/>
                </a:solidFill>
              </a:rPr>
              <a:t>A cluster </a:t>
            </a:r>
            <a:r>
              <a:rPr lang="da-DK" altLang="en-US" sz="1600" i="1">
                <a:solidFill>
                  <a:prstClr val="black"/>
                </a:solidFill>
              </a:rPr>
              <a:t>C</a:t>
            </a:r>
            <a:r>
              <a:rPr lang="da-DK" altLang="en-US" sz="1600">
                <a:solidFill>
                  <a:prstClr val="black"/>
                </a:solidFill>
              </a:rPr>
              <a:t> is never empty and it is smaller than the whole universe </a:t>
            </a:r>
            <a:r>
              <a:rPr lang="da-DK" altLang="en-US" sz="1600" i="1">
                <a:solidFill>
                  <a:prstClr val="black"/>
                </a:solidFill>
              </a:rPr>
              <a:t>U</a:t>
            </a:r>
            <a:endParaRPr lang="en-GB" altLang="en-US" sz="1600" i="1">
              <a:solidFill>
                <a:prstClr val="black"/>
              </a:solidFill>
            </a:endParaRPr>
          </a:p>
        </p:txBody>
      </p:sp>
      <p:sp>
        <p:nvSpPr>
          <p:cNvPr id="6151" name="AutoShape 8"/>
          <p:cNvSpPr>
            <a:spLocks noChangeArrowheads="1"/>
          </p:cNvSpPr>
          <p:nvPr/>
        </p:nvSpPr>
        <p:spPr bwMode="auto">
          <a:xfrm>
            <a:off x="7391400" y="4572001"/>
            <a:ext cx="2635250" cy="1501775"/>
          </a:xfrm>
          <a:prstGeom prst="wedgeRectCallout">
            <a:avLst>
              <a:gd name="adj1" fmla="val -118921"/>
              <a:gd name="adj2" fmla="val -3387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da-DK" altLang="en-US">
                <a:solidFill>
                  <a:prstClr val="black"/>
                </a:solidFill>
              </a:rPr>
              <a:t>There must be at least 2 clusters in a c-partition and at most as many as the number of data points </a:t>
            </a:r>
            <a:r>
              <a:rPr lang="da-DK" altLang="en-US" i="1">
                <a:solidFill>
                  <a:prstClr val="black"/>
                </a:solidFill>
              </a:rPr>
              <a:t>K</a:t>
            </a:r>
            <a:endParaRPr lang="en-GB" altLang="en-US" i="1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564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2800" b="1">
                <a:solidFill>
                  <a:srgbClr val="0000FF"/>
                </a:solidFill>
              </a:rPr>
              <a:t>Objective Functions: Hard and Fuzzy C Means</a:t>
            </a:r>
          </a:p>
        </p:txBody>
      </p:sp>
      <p:graphicFrame>
        <p:nvGraphicFramePr>
          <p:cNvPr id="7170" name="Object 3"/>
          <p:cNvGraphicFramePr>
            <a:graphicFrameLocks noChangeAspect="1"/>
          </p:cNvGraphicFramePr>
          <p:nvPr/>
        </p:nvGraphicFramePr>
        <p:xfrm>
          <a:off x="3795713" y="3173414"/>
          <a:ext cx="415925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2234880" imgH="507960" progId="Equation.3">
                  <p:embed/>
                </p:oleObj>
              </mc:Choice>
              <mc:Fallback>
                <p:oleObj name="Equation" r:id="rId3" imgW="223488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5713" y="3173414"/>
                        <a:ext cx="4159250" cy="1025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AutoShape 4"/>
          <p:cNvSpPr>
            <a:spLocks noChangeArrowheads="1"/>
          </p:cNvSpPr>
          <p:nvPr/>
        </p:nvSpPr>
        <p:spPr bwMode="auto">
          <a:xfrm>
            <a:off x="4343400" y="1600200"/>
            <a:ext cx="2590800" cy="685800"/>
          </a:xfrm>
          <a:prstGeom prst="wedgeRectCallout">
            <a:avLst>
              <a:gd name="adj1" fmla="val 50333"/>
              <a:gd name="adj2" fmla="val 215384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da-DK" altLang="en-US">
                <a:solidFill>
                  <a:prstClr val="black"/>
                </a:solidFill>
              </a:rPr>
              <a:t>Minimise the total sum of all distances</a:t>
            </a:r>
            <a:endParaRPr lang="en-GB" altLang="en-US">
              <a:solidFill>
                <a:prstClr val="black"/>
              </a:solidFill>
            </a:endParaRPr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3862389" y="4800600"/>
          <a:ext cx="3875087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2082600" imgH="431640" progId="Equation.3">
                  <p:embed/>
                </p:oleObj>
              </mc:Choice>
              <mc:Fallback>
                <p:oleObj name="Equation" r:id="rId5" imgW="20826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89" y="4800600"/>
                        <a:ext cx="3875087" cy="871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4111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fld id="{5EA8BC39-AC67-4D50-BE70-84ED6B053C65}" type="slidenum">
              <a:rPr lang="en-US" altLang="en-US">
                <a:solidFill>
                  <a:prstClr val="black"/>
                </a:solidFill>
              </a:rPr>
              <a:pPr eaLnBrk="1" hangingPunct="1"/>
              <a:t>36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45411" name="Rectangle 2"/>
          <p:cNvSpPr>
            <a:spLocks noGrp="1" noChangeArrowheads="1"/>
          </p:cNvSpPr>
          <p:nvPr>
            <p:ph type="title"/>
          </p:nvPr>
        </p:nvSpPr>
        <p:spPr>
          <a:xfrm>
            <a:off x="2879725" y="796926"/>
            <a:ext cx="7296150" cy="498475"/>
          </a:xfrm>
        </p:spPr>
        <p:txBody>
          <a:bodyPr>
            <a:normAutofit fontScale="90000"/>
          </a:bodyPr>
          <a:lstStyle/>
          <a:p>
            <a:r>
              <a:rPr lang="en-US" altLang="en-US" sz="3200" i="1"/>
              <a:t>K-Means</a:t>
            </a:r>
            <a:r>
              <a:rPr lang="en-US" altLang="en-US" sz="3200"/>
              <a:t> Type Clustering Algorithms</a:t>
            </a:r>
            <a:r>
              <a:rPr lang="en-US" altLang="en-US" sz="2400" b="1"/>
              <a:t> </a:t>
            </a:r>
            <a:endParaRPr lang="en-US" altLang="en-US" sz="2800"/>
          </a:p>
        </p:txBody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2825" y="1828801"/>
            <a:ext cx="7856538" cy="4576763"/>
          </a:xfrm>
        </p:spPr>
        <p:txBody>
          <a:bodyPr/>
          <a:lstStyle/>
          <a:p>
            <a:r>
              <a:rPr lang="en-US" altLang="en-US" smtClean="0"/>
              <a:t>Given </a:t>
            </a:r>
            <a:r>
              <a:rPr lang="en-US" altLang="en-US" i="1" smtClean="0"/>
              <a:t>k</a:t>
            </a:r>
            <a:r>
              <a:rPr lang="en-US" altLang="en-US" smtClean="0"/>
              <a:t>, the </a:t>
            </a:r>
            <a:r>
              <a:rPr lang="en-US" altLang="en-US" i="1" smtClean="0"/>
              <a:t>k-means</a:t>
            </a:r>
            <a:r>
              <a:rPr lang="en-US" altLang="en-US" smtClean="0"/>
              <a:t> algorithm consists of four steps:</a:t>
            </a:r>
          </a:p>
          <a:p>
            <a:pPr lvl="1"/>
            <a:r>
              <a:rPr lang="en-US" altLang="en-US" smtClean="0">
                <a:solidFill>
                  <a:srgbClr val="000000"/>
                </a:solidFill>
              </a:rPr>
              <a:t>Select initial representative points (means or centroids) at random.</a:t>
            </a:r>
          </a:p>
          <a:p>
            <a:pPr lvl="1"/>
            <a:r>
              <a:rPr lang="en-US" altLang="en-US" smtClean="0">
                <a:solidFill>
                  <a:srgbClr val="000000"/>
                </a:solidFill>
              </a:rPr>
              <a:t>Assign each object to the cluster with the nearest centroid.</a:t>
            </a:r>
          </a:p>
          <a:p>
            <a:pPr lvl="1"/>
            <a:r>
              <a:rPr lang="en-US" altLang="en-US" smtClean="0">
                <a:solidFill>
                  <a:srgbClr val="000000"/>
                </a:solidFill>
              </a:rPr>
              <a:t>Compute each centroid as the mean of the objects assigned to it.</a:t>
            </a:r>
          </a:p>
          <a:p>
            <a:pPr lvl="1"/>
            <a:r>
              <a:rPr lang="en-US" altLang="en-US" smtClean="0">
                <a:solidFill>
                  <a:srgbClr val="000000"/>
                </a:solidFill>
              </a:rPr>
              <a:t>Repeat previous 2 steps until no change.</a:t>
            </a:r>
          </a:p>
        </p:txBody>
      </p:sp>
    </p:spTree>
    <p:extLst>
      <p:ext uri="{BB962C8B-B14F-4D97-AF65-F5344CB8AC3E}">
        <p14:creationId xmlns:p14="http://schemas.microsoft.com/office/powerpoint/2010/main" val="546299222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The Objective Function of K-Means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57400" y="1447801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Most common measure is Sum of Squared Error (SSE) or summed Intra Cluster Spread (ICS)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For each point, the error is the distance to the nearest cluster center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To get SSE, we square these errors and sum them.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000" dirty="0"/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endParaRPr lang="en-US" altLang="en-US" sz="2000" b="1" i="1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b="1" i="1" dirty="0"/>
              <a:t>X</a:t>
            </a:r>
            <a:r>
              <a:rPr lang="en-US" altLang="en-US" sz="2000" i="1" baseline="-25000" dirty="0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is a data point in cluster </a:t>
            </a:r>
            <a:r>
              <a:rPr lang="en-US" altLang="en-US" sz="2000" i="1" dirty="0" err="1"/>
              <a:t>C</a:t>
            </a:r>
            <a:r>
              <a:rPr lang="en-US" altLang="en-US" sz="2000" i="1" baseline="-25000" dirty="0" err="1"/>
              <a:t>j</a:t>
            </a:r>
            <a:r>
              <a:rPr lang="en-US" altLang="en-US" sz="2000" baseline="-25000" dirty="0"/>
              <a:t> </a:t>
            </a:r>
            <a:r>
              <a:rPr lang="en-US" altLang="en-US" sz="2000" dirty="0"/>
              <a:t>and </a:t>
            </a:r>
            <a:r>
              <a:rPr lang="en-US" altLang="en-US" sz="2000" b="1" i="1" dirty="0" err="1"/>
              <a:t>c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 is the representative point (most often the mean) for cluster </a:t>
            </a:r>
            <a:r>
              <a:rPr lang="en-US" altLang="en-US" sz="2000" i="1" dirty="0" err="1"/>
              <a:t>C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 .</a:t>
            </a:r>
            <a:endParaRPr lang="en-US" altLang="en-US" sz="18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Given two clusters, we can choose the one with the smallest error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One easy way to reduce SSE is to increase </a:t>
            </a:r>
            <a:r>
              <a:rPr lang="en-US" altLang="en-US" sz="2000" i="1" dirty="0"/>
              <a:t>k</a:t>
            </a:r>
            <a:r>
              <a:rPr lang="en-US" altLang="en-US" sz="2000" dirty="0"/>
              <a:t>, the number of clusters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800" dirty="0"/>
              <a:t> A good clustering with smaller </a:t>
            </a:r>
            <a:r>
              <a:rPr lang="en-US" altLang="en-US" sz="1800" i="1" dirty="0"/>
              <a:t>k</a:t>
            </a:r>
            <a:r>
              <a:rPr lang="en-US" altLang="en-US" sz="1800" dirty="0"/>
              <a:t> can have a higher SSE than a poor clustering with higher </a:t>
            </a:r>
            <a:r>
              <a:rPr lang="en-US" altLang="en-US" sz="1800" i="1" dirty="0"/>
              <a:t>k</a:t>
            </a:r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>
            <p:extLst/>
          </p:nvPr>
        </p:nvGraphicFramePr>
        <p:xfrm>
          <a:off x="3276600" y="2819401"/>
          <a:ext cx="54864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2628720" imgH="469800" progId="Equation.3">
                  <p:embed/>
                </p:oleObj>
              </mc:Choice>
              <mc:Fallback>
                <p:oleObj name="Equation" r:id="rId3" imgW="26287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819401"/>
                        <a:ext cx="5486400" cy="981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489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1857376" y="1371601"/>
            <a:ext cx="8353425" cy="446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200" b="1">
                <a:solidFill>
                  <a:prstClr val="black"/>
                </a:solidFill>
              </a:rPr>
              <a:t>Partition Algorithm 1: k-means 	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prstClr val="black"/>
                </a:solidFill>
              </a:rPr>
              <a:t>1. Decide on a value for </a:t>
            </a:r>
            <a:r>
              <a:rPr lang="en-US" altLang="en-US" i="1">
                <a:solidFill>
                  <a:prstClr val="black"/>
                </a:solidFill>
              </a:rPr>
              <a:t>k</a:t>
            </a:r>
            <a:r>
              <a:rPr lang="en-US" altLang="en-US">
                <a:solidFill>
                  <a:prstClr val="black"/>
                </a:solidFill>
              </a:rPr>
              <a:t>.	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prstClr val="black"/>
                </a:solidFill>
              </a:rPr>
              <a:t>2. Initialize the </a:t>
            </a:r>
            <a:r>
              <a:rPr lang="en-US" altLang="en-US" i="1">
                <a:solidFill>
                  <a:prstClr val="black"/>
                </a:solidFill>
              </a:rPr>
              <a:t>k</a:t>
            </a:r>
            <a:r>
              <a:rPr lang="en-US" altLang="en-US">
                <a:solidFill>
                  <a:prstClr val="black"/>
                </a:solidFill>
              </a:rPr>
              <a:t> cluster centers (randomly, if necessary).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prstClr val="black"/>
                </a:solidFill>
              </a:rPr>
              <a:t>3. Decide the class memberships of the </a:t>
            </a:r>
            <a:r>
              <a:rPr lang="en-US" altLang="en-US" i="1">
                <a:solidFill>
                  <a:prstClr val="black"/>
                </a:solidFill>
              </a:rPr>
              <a:t>N</a:t>
            </a:r>
            <a:r>
              <a:rPr lang="en-US" altLang="en-US">
                <a:solidFill>
                  <a:prstClr val="black"/>
                </a:solidFill>
              </a:rPr>
              <a:t> objects by assigning them to the nearest cluster center.	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prstClr val="black"/>
                </a:solidFill>
              </a:rPr>
              <a:t>4. Re-estimate the </a:t>
            </a:r>
            <a:r>
              <a:rPr lang="en-US" altLang="en-US" i="1">
                <a:solidFill>
                  <a:prstClr val="black"/>
                </a:solidFill>
              </a:rPr>
              <a:t>k</a:t>
            </a:r>
            <a:r>
              <a:rPr lang="en-US" altLang="en-US">
                <a:solidFill>
                  <a:prstClr val="black"/>
                </a:solidFill>
              </a:rPr>
              <a:t> cluster centers, by assuming the memberships found above are correct.	</a:t>
            </a:r>
          </a:p>
          <a:p>
            <a:pPr>
              <a:spcBef>
                <a:spcPct val="50000"/>
              </a:spcBef>
            </a:pPr>
            <a:r>
              <a:rPr lang="en-US" altLang="en-US">
                <a:solidFill>
                  <a:prstClr val="black"/>
                </a:solidFill>
              </a:rPr>
              <a:t>5. If none of the </a:t>
            </a:r>
            <a:r>
              <a:rPr lang="en-US" altLang="en-US" i="1">
                <a:solidFill>
                  <a:prstClr val="black"/>
                </a:solidFill>
              </a:rPr>
              <a:t>N</a:t>
            </a:r>
            <a:r>
              <a:rPr lang="en-US" altLang="en-US">
                <a:solidFill>
                  <a:prstClr val="black"/>
                </a:solidFill>
              </a:rPr>
              <a:t> objects changed membership in the last iteration, exit. Otherwise goto 3.	</a:t>
            </a:r>
          </a:p>
        </p:txBody>
      </p:sp>
      <p:sp>
        <p:nvSpPr>
          <p:cNvPr id="33795" name="TextBox 2"/>
          <p:cNvSpPr txBox="1">
            <a:spLocks noChangeArrowheads="1"/>
          </p:cNvSpPr>
          <p:nvPr/>
        </p:nvSpPr>
        <p:spPr bwMode="auto">
          <a:xfrm>
            <a:off x="6300788" y="315914"/>
            <a:ext cx="42529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3374089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2"/>
          <p:cNvSpPr>
            <a:spLocks noChangeArrowheads="1"/>
          </p:cNvSpPr>
          <p:nvPr/>
        </p:nvSpPr>
        <p:spPr bwMode="auto">
          <a:xfrm>
            <a:off x="2646363" y="1198564"/>
            <a:ext cx="6989762" cy="5481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19" name="Rectangle 43"/>
          <p:cNvSpPr>
            <a:spLocks noChangeArrowheads="1"/>
          </p:cNvSpPr>
          <p:nvPr/>
        </p:nvSpPr>
        <p:spPr bwMode="auto">
          <a:xfrm>
            <a:off x="3595688" y="1465263"/>
            <a:ext cx="5867400" cy="40767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20" name="Line 44"/>
          <p:cNvSpPr>
            <a:spLocks noChangeShapeType="1"/>
          </p:cNvSpPr>
          <p:nvPr/>
        </p:nvSpPr>
        <p:spPr bwMode="auto">
          <a:xfrm>
            <a:off x="3595688" y="4724400"/>
            <a:ext cx="58674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21" name="Line 45"/>
          <p:cNvSpPr>
            <a:spLocks noChangeShapeType="1"/>
          </p:cNvSpPr>
          <p:nvPr/>
        </p:nvSpPr>
        <p:spPr bwMode="auto">
          <a:xfrm>
            <a:off x="3595688" y="3908425"/>
            <a:ext cx="58674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22" name="Line 46"/>
          <p:cNvSpPr>
            <a:spLocks noChangeShapeType="1"/>
          </p:cNvSpPr>
          <p:nvPr/>
        </p:nvSpPr>
        <p:spPr bwMode="auto">
          <a:xfrm>
            <a:off x="3595688" y="3098800"/>
            <a:ext cx="58674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23" name="Line 47"/>
          <p:cNvSpPr>
            <a:spLocks noChangeShapeType="1"/>
          </p:cNvSpPr>
          <p:nvPr/>
        </p:nvSpPr>
        <p:spPr bwMode="auto">
          <a:xfrm>
            <a:off x="3595688" y="2281239"/>
            <a:ext cx="58674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24" name="Line 48"/>
          <p:cNvSpPr>
            <a:spLocks noChangeShapeType="1"/>
          </p:cNvSpPr>
          <p:nvPr/>
        </p:nvSpPr>
        <p:spPr bwMode="auto">
          <a:xfrm>
            <a:off x="3595688" y="1465264"/>
            <a:ext cx="58674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25" name="Rectangle 49"/>
          <p:cNvSpPr>
            <a:spLocks noChangeArrowheads="1"/>
          </p:cNvSpPr>
          <p:nvPr/>
        </p:nvSpPr>
        <p:spPr bwMode="auto">
          <a:xfrm>
            <a:off x="3595688" y="1465263"/>
            <a:ext cx="5867400" cy="4076700"/>
          </a:xfrm>
          <a:prstGeom prst="rect">
            <a:avLst/>
          </a:prstGeom>
          <a:noFill/>
          <a:ln w="7938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26" name="Line 50"/>
          <p:cNvSpPr>
            <a:spLocks noChangeShapeType="1"/>
          </p:cNvSpPr>
          <p:nvPr/>
        </p:nvSpPr>
        <p:spPr bwMode="auto">
          <a:xfrm>
            <a:off x="3595689" y="1465263"/>
            <a:ext cx="1587" cy="40767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27" name="Line 51"/>
          <p:cNvSpPr>
            <a:spLocks noChangeShapeType="1"/>
          </p:cNvSpPr>
          <p:nvPr/>
        </p:nvSpPr>
        <p:spPr bwMode="auto">
          <a:xfrm>
            <a:off x="3525838" y="5541964"/>
            <a:ext cx="698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28" name="Line 52"/>
          <p:cNvSpPr>
            <a:spLocks noChangeShapeType="1"/>
          </p:cNvSpPr>
          <p:nvPr/>
        </p:nvSpPr>
        <p:spPr bwMode="auto">
          <a:xfrm>
            <a:off x="3525838" y="4724400"/>
            <a:ext cx="698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29" name="Line 53"/>
          <p:cNvSpPr>
            <a:spLocks noChangeShapeType="1"/>
          </p:cNvSpPr>
          <p:nvPr/>
        </p:nvSpPr>
        <p:spPr bwMode="auto">
          <a:xfrm>
            <a:off x="3525838" y="3908425"/>
            <a:ext cx="698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30" name="Line 54"/>
          <p:cNvSpPr>
            <a:spLocks noChangeShapeType="1"/>
          </p:cNvSpPr>
          <p:nvPr/>
        </p:nvSpPr>
        <p:spPr bwMode="auto">
          <a:xfrm>
            <a:off x="3525838" y="3098800"/>
            <a:ext cx="698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31" name="Line 55"/>
          <p:cNvSpPr>
            <a:spLocks noChangeShapeType="1"/>
          </p:cNvSpPr>
          <p:nvPr/>
        </p:nvSpPr>
        <p:spPr bwMode="auto">
          <a:xfrm>
            <a:off x="3525838" y="2281239"/>
            <a:ext cx="698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32" name="Line 56"/>
          <p:cNvSpPr>
            <a:spLocks noChangeShapeType="1"/>
          </p:cNvSpPr>
          <p:nvPr/>
        </p:nvSpPr>
        <p:spPr bwMode="auto">
          <a:xfrm>
            <a:off x="3525838" y="1465264"/>
            <a:ext cx="698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33" name="Line 57"/>
          <p:cNvSpPr>
            <a:spLocks noChangeShapeType="1"/>
          </p:cNvSpPr>
          <p:nvPr/>
        </p:nvSpPr>
        <p:spPr bwMode="auto">
          <a:xfrm>
            <a:off x="3595688" y="5541964"/>
            <a:ext cx="58674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34" name="Line 58"/>
          <p:cNvSpPr>
            <a:spLocks noChangeShapeType="1"/>
          </p:cNvSpPr>
          <p:nvPr/>
        </p:nvSpPr>
        <p:spPr bwMode="auto">
          <a:xfrm flipV="1">
            <a:off x="3595689" y="5541963"/>
            <a:ext cx="1587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35" name="Line 59"/>
          <p:cNvSpPr>
            <a:spLocks noChangeShapeType="1"/>
          </p:cNvSpPr>
          <p:nvPr/>
        </p:nvSpPr>
        <p:spPr bwMode="auto">
          <a:xfrm flipV="1">
            <a:off x="4767264" y="5541963"/>
            <a:ext cx="1587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36" name="Line 60"/>
          <p:cNvSpPr>
            <a:spLocks noChangeShapeType="1"/>
          </p:cNvSpPr>
          <p:nvPr/>
        </p:nvSpPr>
        <p:spPr bwMode="auto">
          <a:xfrm flipV="1">
            <a:off x="5945189" y="5541963"/>
            <a:ext cx="1587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37" name="Line 61"/>
          <p:cNvSpPr>
            <a:spLocks noChangeShapeType="1"/>
          </p:cNvSpPr>
          <p:nvPr/>
        </p:nvSpPr>
        <p:spPr bwMode="auto">
          <a:xfrm flipV="1">
            <a:off x="7115175" y="5541963"/>
            <a:ext cx="1588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38" name="Line 62"/>
          <p:cNvSpPr>
            <a:spLocks noChangeShapeType="1"/>
          </p:cNvSpPr>
          <p:nvPr/>
        </p:nvSpPr>
        <p:spPr bwMode="auto">
          <a:xfrm flipV="1">
            <a:off x="8293100" y="5541963"/>
            <a:ext cx="1588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39" name="Line 63"/>
          <p:cNvSpPr>
            <a:spLocks noChangeShapeType="1"/>
          </p:cNvSpPr>
          <p:nvPr/>
        </p:nvSpPr>
        <p:spPr bwMode="auto">
          <a:xfrm flipV="1">
            <a:off x="9463089" y="5541963"/>
            <a:ext cx="1587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40" name="Freeform 64"/>
          <p:cNvSpPr>
            <a:spLocks/>
          </p:cNvSpPr>
          <p:nvPr/>
        </p:nvSpPr>
        <p:spPr bwMode="auto">
          <a:xfrm>
            <a:off x="4703763" y="4662488"/>
            <a:ext cx="125412" cy="125412"/>
          </a:xfrm>
          <a:custGeom>
            <a:avLst/>
            <a:gdLst>
              <a:gd name="T0" fmla="*/ 63500 w 79"/>
              <a:gd name="T1" fmla="*/ 0 h 79"/>
              <a:gd name="T2" fmla="*/ 125412 w 79"/>
              <a:gd name="T3" fmla="*/ 61912 h 79"/>
              <a:gd name="T4" fmla="*/ 63500 w 79"/>
              <a:gd name="T5" fmla="*/ 125412 h 79"/>
              <a:gd name="T6" fmla="*/ 0 w 79"/>
              <a:gd name="T7" fmla="*/ 61912 h 79"/>
              <a:gd name="T8" fmla="*/ 63500 w 7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9"/>
              <a:gd name="T16" fmla="*/ 0 h 79"/>
              <a:gd name="T17" fmla="*/ 79 w 7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9" h="79">
                <a:moveTo>
                  <a:pt x="40" y="0"/>
                </a:moveTo>
                <a:lnTo>
                  <a:pt x="79" y="39"/>
                </a:lnTo>
                <a:lnTo>
                  <a:pt x="40" y="79"/>
                </a:lnTo>
                <a:lnTo>
                  <a:pt x="0" y="39"/>
                </a:lnTo>
                <a:lnTo>
                  <a:pt x="40" y="0"/>
                </a:lnTo>
                <a:close/>
              </a:path>
            </a:pathLst>
          </a:custGeom>
          <a:solidFill>
            <a:srgbClr val="000080"/>
          </a:solidFill>
          <a:ln w="7938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4841" name="Rectangle 65"/>
          <p:cNvSpPr>
            <a:spLocks noChangeArrowheads="1"/>
          </p:cNvSpPr>
          <p:nvPr/>
        </p:nvSpPr>
        <p:spPr bwMode="auto">
          <a:xfrm>
            <a:off x="3305175" y="541655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0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42" name="Rectangle 66"/>
          <p:cNvSpPr>
            <a:spLocks noChangeArrowheads="1"/>
          </p:cNvSpPr>
          <p:nvPr/>
        </p:nvSpPr>
        <p:spPr bwMode="auto">
          <a:xfrm>
            <a:off x="3305175" y="4598988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1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43" name="Rectangle 67"/>
          <p:cNvSpPr>
            <a:spLocks noChangeArrowheads="1"/>
          </p:cNvSpPr>
          <p:nvPr/>
        </p:nvSpPr>
        <p:spPr bwMode="auto">
          <a:xfrm>
            <a:off x="3305175" y="37830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2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44" name="Rectangle 68"/>
          <p:cNvSpPr>
            <a:spLocks noChangeArrowheads="1"/>
          </p:cNvSpPr>
          <p:nvPr/>
        </p:nvSpPr>
        <p:spPr bwMode="auto">
          <a:xfrm>
            <a:off x="3305175" y="2973388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3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45" name="Rectangle 69"/>
          <p:cNvSpPr>
            <a:spLocks noChangeArrowheads="1"/>
          </p:cNvSpPr>
          <p:nvPr/>
        </p:nvSpPr>
        <p:spPr bwMode="auto">
          <a:xfrm>
            <a:off x="3305175" y="2155825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4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46" name="Rectangle 70"/>
          <p:cNvSpPr>
            <a:spLocks noChangeArrowheads="1"/>
          </p:cNvSpPr>
          <p:nvPr/>
        </p:nvSpPr>
        <p:spPr bwMode="auto">
          <a:xfrm>
            <a:off x="3305175" y="133985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5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47" name="Rectangle 71"/>
          <p:cNvSpPr>
            <a:spLocks noChangeArrowheads="1"/>
          </p:cNvSpPr>
          <p:nvPr/>
        </p:nvSpPr>
        <p:spPr bwMode="auto">
          <a:xfrm>
            <a:off x="3541713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0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48" name="Rectangle 72"/>
          <p:cNvSpPr>
            <a:spLocks noChangeArrowheads="1"/>
          </p:cNvSpPr>
          <p:nvPr/>
        </p:nvSpPr>
        <p:spPr bwMode="auto">
          <a:xfrm>
            <a:off x="4711700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1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49" name="Rectangle 73"/>
          <p:cNvSpPr>
            <a:spLocks noChangeArrowheads="1"/>
          </p:cNvSpPr>
          <p:nvPr/>
        </p:nvSpPr>
        <p:spPr bwMode="auto">
          <a:xfrm>
            <a:off x="5889625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2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50" name="Rectangle 74"/>
          <p:cNvSpPr>
            <a:spLocks noChangeArrowheads="1"/>
          </p:cNvSpPr>
          <p:nvPr/>
        </p:nvSpPr>
        <p:spPr bwMode="auto">
          <a:xfrm>
            <a:off x="7059613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3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51" name="Rectangle 75"/>
          <p:cNvSpPr>
            <a:spLocks noChangeArrowheads="1"/>
          </p:cNvSpPr>
          <p:nvPr/>
        </p:nvSpPr>
        <p:spPr bwMode="auto">
          <a:xfrm>
            <a:off x="8239125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4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52" name="Rectangle 76"/>
          <p:cNvSpPr>
            <a:spLocks noChangeArrowheads="1"/>
          </p:cNvSpPr>
          <p:nvPr/>
        </p:nvSpPr>
        <p:spPr bwMode="auto">
          <a:xfrm>
            <a:off x="9409113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5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>
                <a:effectLst>
                  <a:outerShdw blurRad="38100" dist="38100" dir="2700000" algn="tl">
                    <a:srgbClr val="DDDDDD"/>
                  </a:outerShdw>
                </a:effectLst>
              </a:rPr>
              <a:t>K-means Clustering: Step 1</a:t>
            </a:r>
          </a:p>
        </p:txBody>
      </p:sp>
      <p:sp>
        <p:nvSpPr>
          <p:cNvPr id="34854" name="Text Box 4"/>
          <p:cNvSpPr txBox="1">
            <a:spLocks noChangeArrowheads="1"/>
          </p:cNvSpPr>
          <p:nvPr/>
        </p:nvSpPr>
        <p:spPr bwMode="auto">
          <a:xfrm>
            <a:off x="2503488" y="838201"/>
            <a:ext cx="79383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Algorithm: k-means, Distance Metric: Euclidean Distance</a:t>
            </a:r>
          </a:p>
        </p:txBody>
      </p:sp>
      <p:sp>
        <p:nvSpPr>
          <p:cNvPr id="34855" name="AutoShape 5"/>
          <p:cNvSpPr>
            <a:spLocks noChangeArrowheads="1"/>
          </p:cNvSpPr>
          <p:nvPr/>
        </p:nvSpPr>
        <p:spPr bwMode="auto">
          <a:xfrm>
            <a:off x="4724400" y="4648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56" name="AutoShape 6"/>
          <p:cNvSpPr>
            <a:spLocks noChangeArrowheads="1"/>
          </p:cNvSpPr>
          <p:nvPr/>
        </p:nvSpPr>
        <p:spPr bwMode="auto">
          <a:xfrm>
            <a:off x="4876800" y="4876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57" name="AutoShape 7"/>
          <p:cNvSpPr>
            <a:spLocks noChangeArrowheads="1"/>
          </p:cNvSpPr>
          <p:nvPr/>
        </p:nvSpPr>
        <p:spPr bwMode="auto">
          <a:xfrm>
            <a:off x="4648200" y="5105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58" name="AutoShape 8"/>
          <p:cNvSpPr>
            <a:spLocks noChangeArrowheads="1"/>
          </p:cNvSpPr>
          <p:nvPr/>
        </p:nvSpPr>
        <p:spPr bwMode="auto">
          <a:xfrm>
            <a:off x="4419600" y="4419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59" name="AutoShape 9"/>
          <p:cNvSpPr>
            <a:spLocks noChangeArrowheads="1"/>
          </p:cNvSpPr>
          <p:nvPr/>
        </p:nvSpPr>
        <p:spPr bwMode="auto">
          <a:xfrm>
            <a:off x="4419600" y="2057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60" name="AutoShape 10"/>
          <p:cNvSpPr>
            <a:spLocks noChangeArrowheads="1"/>
          </p:cNvSpPr>
          <p:nvPr/>
        </p:nvSpPr>
        <p:spPr bwMode="auto">
          <a:xfrm>
            <a:off x="4419600" y="3581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61" name="AutoShape 11"/>
          <p:cNvSpPr>
            <a:spLocks noChangeArrowheads="1"/>
          </p:cNvSpPr>
          <p:nvPr/>
        </p:nvSpPr>
        <p:spPr bwMode="auto">
          <a:xfrm>
            <a:off x="4419600" y="5105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62" name="AutoShape 12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63" name="AutoShape 13"/>
          <p:cNvSpPr>
            <a:spLocks noChangeArrowheads="1"/>
          </p:cNvSpPr>
          <p:nvPr/>
        </p:nvSpPr>
        <p:spPr bwMode="auto">
          <a:xfrm>
            <a:off x="6096000" y="3810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64" name="AutoShape 14"/>
          <p:cNvSpPr>
            <a:spLocks noChangeArrowheads="1"/>
          </p:cNvSpPr>
          <p:nvPr/>
        </p:nvSpPr>
        <p:spPr bwMode="auto">
          <a:xfrm>
            <a:off x="8229600" y="1828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65" name="AutoShape 15"/>
          <p:cNvSpPr>
            <a:spLocks noChangeArrowheads="1"/>
          </p:cNvSpPr>
          <p:nvPr/>
        </p:nvSpPr>
        <p:spPr bwMode="auto">
          <a:xfrm>
            <a:off x="8686800" y="1905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66" name="AutoShape 16"/>
          <p:cNvSpPr>
            <a:spLocks noChangeArrowheads="1"/>
          </p:cNvSpPr>
          <p:nvPr/>
        </p:nvSpPr>
        <p:spPr bwMode="auto">
          <a:xfrm>
            <a:off x="8534400" y="2057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67" name="AutoShape 17"/>
          <p:cNvSpPr>
            <a:spLocks noChangeArrowheads="1"/>
          </p:cNvSpPr>
          <p:nvPr/>
        </p:nvSpPr>
        <p:spPr bwMode="auto">
          <a:xfrm>
            <a:off x="8382000" y="2209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68" name="AutoShape 18"/>
          <p:cNvSpPr>
            <a:spLocks noChangeArrowheads="1"/>
          </p:cNvSpPr>
          <p:nvPr/>
        </p:nvSpPr>
        <p:spPr bwMode="auto">
          <a:xfrm>
            <a:off x="8686800" y="2362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69" name="AutoShape 19"/>
          <p:cNvSpPr>
            <a:spLocks noChangeArrowheads="1"/>
          </p:cNvSpPr>
          <p:nvPr/>
        </p:nvSpPr>
        <p:spPr bwMode="auto">
          <a:xfrm>
            <a:off x="8991600" y="2743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70" name="AutoShape 20"/>
          <p:cNvSpPr>
            <a:spLocks noChangeArrowheads="1"/>
          </p:cNvSpPr>
          <p:nvPr/>
        </p:nvSpPr>
        <p:spPr bwMode="auto">
          <a:xfrm>
            <a:off x="7239000" y="1828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71" name="AutoShape 21"/>
          <p:cNvSpPr>
            <a:spLocks noChangeArrowheads="1"/>
          </p:cNvSpPr>
          <p:nvPr/>
        </p:nvSpPr>
        <p:spPr bwMode="auto">
          <a:xfrm>
            <a:off x="7543800" y="3276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72" name="AutoShape 22"/>
          <p:cNvSpPr>
            <a:spLocks noChangeArrowheads="1"/>
          </p:cNvSpPr>
          <p:nvPr/>
        </p:nvSpPr>
        <p:spPr bwMode="auto">
          <a:xfrm>
            <a:off x="7543800" y="4800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73" name="AutoShape 23"/>
          <p:cNvSpPr>
            <a:spLocks noChangeArrowheads="1"/>
          </p:cNvSpPr>
          <p:nvPr/>
        </p:nvSpPr>
        <p:spPr bwMode="auto">
          <a:xfrm>
            <a:off x="7924800" y="5105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74" name="AutoShape 24"/>
          <p:cNvSpPr>
            <a:spLocks noChangeArrowheads="1"/>
          </p:cNvSpPr>
          <p:nvPr/>
        </p:nvSpPr>
        <p:spPr bwMode="auto">
          <a:xfrm>
            <a:off x="8305800" y="4343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75" name="AutoShape 25"/>
          <p:cNvSpPr>
            <a:spLocks noChangeArrowheads="1"/>
          </p:cNvSpPr>
          <p:nvPr/>
        </p:nvSpPr>
        <p:spPr bwMode="auto">
          <a:xfrm>
            <a:off x="7467600" y="3733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76" name="AutoShape 26"/>
          <p:cNvSpPr>
            <a:spLocks noChangeArrowheads="1"/>
          </p:cNvSpPr>
          <p:nvPr/>
        </p:nvSpPr>
        <p:spPr bwMode="auto">
          <a:xfrm>
            <a:off x="6705600" y="4191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77" name="AutoShape 27"/>
          <p:cNvSpPr>
            <a:spLocks noChangeArrowheads="1"/>
          </p:cNvSpPr>
          <p:nvPr/>
        </p:nvSpPr>
        <p:spPr bwMode="auto">
          <a:xfrm>
            <a:off x="8686800" y="4648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78" name="AutoShape 28"/>
          <p:cNvSpPr>
            <a:spLocks noChangeArrowheads="1"/>
          </p:cNvSpPr>
          <p:nvPr/>
        </p:nvSpPr>
        <p:spPr bwMode="auto">
          <a:xfrm>
            <a:off x="8534400" y="5029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79" name="AutoShape 29"/>
          <p:cNvSpPr>
            <a:spLocks noChangeArrowheads="1"/>
          </p:cNvSpPr>
          <p:nvPr/>
        </p:nvSpPr>
        <p:spPr bwMode="auto">
          <a:xfrm>
            <a:off x="8382000" y="4038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80" name="AutoShape 30"/>
          <p:cNvSpPr>
            <a:spLocks noChangeArrowheads="1"/>
          </p:cNvSpPr>
          <p:nvPr/>
        </p:nvSpPr>
        <p:spPr bwMode="auto">
          <a:xfrm>
            <a:off x="8991600" y="5257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4881" name="AutoShape 31"/>
          <p:cNvSpPr>
            <a:spLocks noChangeArrowheads="1"/>
          </p:cNvSpPr>
          <p:nvPr/>
        </p:nvSpPr>
        <p:spPr bwMode="auto">
          <a:xfrm>
            <a:off x="8153400" y="2590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5181600" y="2286000"/>
            <a:ext cx="2743200" cy="3276600"/>
            <a:chOff x="2304" y="1440"/>
            <a:chExt cx="1728" cy="2064"/>
          </a:xfrm>
        </p:grpSpPr>
        <p:grpSp>
          <p:nvGrpSpPr>
            <p:cNvPr id="34884" name="Group 33"/>
            <p:cNvGrpSpPr>
              <a:grpSpLocks/>
            </p:cNvGrpSpPr>
            <p:nvPr/>
          </p:nvGrpSpPr>
          <p:grpSpPr bwMode="auto">
            <a:xfrm>
              <a:off x="2784" y="1440"/>
              <a:ext cx="432" cy="336"/>
              <a:chOff x="192" y="1824"/>
              <a:chExt cx="432" cy="336"/>
            </a:xfrm>
          </p:grpSpPr>
          <p:sp>
            <p:nvSpPr>
              <p:cNvPr id="34891" name="Oval 34"/>
              <p:cNvSpPr>
                <a:spLocks noChangeArrowheads="1"/>
              </p:cNvSpPr>
              <p:nvPr/>
            </p:nvSpPr>
            <p:spPr bwMode="auto">
              <a:xfrm>
                <a:off x="192" y="1824"/>
                <a:ext cx="144" cy="144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4892" name="Text Box 35"/>
              <p:cNvSpPr txBox="1">
                <a:spLocks noChangeArrowheads="1"/>
              </p:cNvSpPr>
              <p:nvPr/>
            </p:nvSpPr>
            <p:spPr bwMode="auto">
              <a:xfrm>
                <a:off x="288" y="1872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>
                    <a:solidFill>
                      <a:prstClr val="black"/>
                    </a:solidFill>
                  </a:rPr>
                  <a:t>k</a:t>
                </a:r>
                <a:r>
                  <a:rPr lang="en-US" altLang="en-US" baseline="-25000">
                    <a:solidFill>
                      <a:prstClr val="black"/>
                    </a:solidFill>
                  </a:rPr>
                  <a:t>1</a:t>
                </a:r>
              </a:p>
            </p:txBody>
          </p:sp>
        </p:grpSp>
        <p:grpSp>
          <p:nvGrpSpPr>
            <p:cNvPr id="34885" name="Group 36"/>
            <p:cNvGrpSpPr>
              <a:grpSpLocks/>
            </p:cNvGrpSpPr>
            <p:nvPr/>
          </p:nvGrpSpPr>
          <p:grpSpPr bwMode="auto">
            <a:xfrm>
              <a:off x="2304" y="2160"/>
              <a:ext cx="432" cy="336"/>
              <a:chOff x="192" y="1824"/>
              <a:chExt cx="432" cy="336"/>
            </a:xfrm>
          </p:grpSpPr>
          <p:sp>
            <p:nvSpPr>
              <p:cNvPr id="34889" name="Oval 37"/>
              <p:cNvSpPr>
                <a:spLocks noChangeArrowheads="1"/>
              </p:cNvSpPr>
              <p:nvPr/>
            </p:nvSpPr>
            <p:spPr bwMode="auto">
              <a:xfrm>
                <a:off x="192" y="1824"/>
                <a:ext cx="144" cy="144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4890" name="Text Box 38"/>
              <p:cNvSpPr txBox="1">
                <a:spLocks noChangeArrowheads="1"/>
              </p:cNvSpPr>
              <p:nvPr/>
            </p:nvSpPr>
            <p:spPr bwMode="auto">
              <a:xfrm>
                <a:off x="288" y="1872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>
                    <a:solidFill>
                      <a:prstClr val="black"/>
                    </a:solidFill>
                  </a:rPr>
                  <a:t>k</a:t>
                </a:r>
                <a:r>
                  <a:rPr lang="en-US" altLang="en-US" baseline="-25000">
                    <a:solidFill>
                      <a:prstClr val="black"/>
                    </a:solidFill>
                  </a:rPr>
                  <a:t>2</a:t>
                </a:r>
              </a:p>
            </p:txBody>
          </p:sp>
        </p:grpSp>
        <p:grpSp>
          <p:nvGrpSpPr>
            <p:cNvPr id="34886" name="Group 39"/>
            <p:cNvGrpSpPr>
              <a:grpSpLocks/>
            </p:cNvGrpSpPr>
            <p:nvPr/>
          </p:nvGrpSpPr>
          <p:grpSpPr bwMode="auto">
            <a:xfrm>
              <a:off x="3600" y="3168"/>
              <a:ext cx="432" cy="336"/>
              <a:chOff x="192" y="1824"/>
              <a:chExt cx="432" cy="336"/>
            </a:xfrm>
          </p:grpSpPr>
          <p:sp>
            <p:nvSpPr>
              <p:cNvPr id="34887" name="Oval 40"/>
              <p:cNvSpPr>
                <a:spLocks noChangeArrowheads="1"/>
              </p:cNvSpPr>
              <p:nvPr/>
            </p:nvSpPr>
            <p:spPr bwMode="auto">
              <a:xfrm>
                <a:off x="192" y="1824"/>
                <a:ext cx="144" cy="144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4888" name="Text Box 41"/>
              <p:cNvSpPr txBox="1">
                <a:spLocks noChangeArrowheads="1"/>
              </p:cNvSpPr>
              <p:nvPr/>
            </p:nvSpPr>
            <p:spPr bwMode="auto">
              <a:xfrm>
                <a:off x="288" y="1872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>
                    <a:solidFill>
                      <a:prstClr val="black"/>
                    </a:solidFill>
                  </a:rPr>
                  <a:t>k</a:t>
                </a:r>
                <a:r>
                  <a:rPr lang="en-US" altLang="en-US" baseline="-25000">
                    <a:solidFill>
                      <a:prstClr val="black"/>
                    </a:solidFill>
                  </a:rPr>
                  <a:t>3</a:t>
                </a:r>
              </a:p>
            </p:txBody>
          </p:sp>
        </p:grpSp>
      </p:grpSp>
      <p:sp>
        <p:nvSpPr>
          <p:cNvPr id="34883" name="TextBox 75"/>
          <p:cNvSpPr txBox="1">
            <a:spLocks noChangeArrowheads="1"/>
          </p:cNvSpPr>
          <p:nvPr/>
        </p:nvSpPr>
        <p:spPr bwMode="auto">
          <a:xfrm>
            <a:off x="1524001" y="6488114"/>
            <a:ext cx="4252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393428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5"/>
          <p:cNvSpPr>
            <a:spLocks noChangeArrowheads="1"/>
          </p:cNvSpPr>
          <p:nvPr/>
        </p:nvSpPr>
        <p:spPr bwMode="auto">
          <a:xfrm>
            <a:off x="2646363" y="1198564"/>
            <a:ext cx="6989762" cy="5481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43" name="Rectangle 46"/>
          <p:cNvSpPr>
            <a:spLocks noChangeArrowheads="1"/>
          </p:cNvSpPr>
          <p:nvPr/>
        </p:nvSpPr>
        <p:spPr bwMode="auto">
          <a:xfrm>
            <a:off x="3595688" y="1465263"/>
            <a:ext cx="5867400" cy="40767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44" name="Line 47"/>
          <p:cNvSpPr>
            <a:spLocks noChangeShapeType="1"/>
          </p:cNvSpPr>
          <p:nvPr/>
        </p:nvSpPr>
        <p:spPr bwMode="auto">
          <a:xfrm>
            <a:off x="3595688" y="4724400"/>
            <a:ext cx="58674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45" name="Line 48"/>
          <p:cNvSpPr>
            <a:spLocks noChangeShapeType="1"/>
          </p:cNvSpPr>
          <p:nvPr/>
        </p:nvSpPr>
        <p:spPr bwMode="auto">
          <a:xfrm>
            <a:off x="3595688" y="3908425"/>
            <a:ext cx="58674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46" name="Line 49"/>
          <p:cNvSpPr>
            <a:spLocks noChangeShapeType="1"/>
          </p:cNvSpPr>
          <p:nvPr/>
        </p:nvSpPr>
        <p:spPr bwMode="auto">
          <a:xfrm>
            <a:off x="3595688" y="3098800"/>
            <a:ext cx="58674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47" name="Line 50"/>
          <p:cNvSpPr>
            <a:spLocks noChangeShapeType="1"/>
          </p:cNvSpPr>
          <p:nvPr/>
        </p:nvSpPr>
        <p:spPr bwMode="auto">
          <a:xfrm>
            <a:off x="3595688" y="2281239"/>
            <a:ext cx="58674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48" name="Line 51"/>
          <p:cNvSpPr>
            <a:spLocks noChangeShapeType="1"/>
          </p:cNvSpPr>
          <p:nvPr/>
        </p:nvSpPr>
        <p:spPr bwMode="auto">
          <a:xfrm>
            <a:off x="3595688" y="1465264"/>
            <a:ext cx="58674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49" name="Rectangle 52"/>
          <p:cNvSpPr>
            <a:spLocks noChangeArrowheads="1"/>
          </p:cNvSpPr>
          <p:nvPr/>
        </p:nvSpPr>
        <p:spPr bwMode="auto">
          <a:xfrm>
            <a:off x="3595688" y="1465263"/>
            <a:ext cx="5867400" cy="4076700"/>
          </a:xfrm>
          <a:prstGeom prst="rect">
            <a:avLst/>
          </a:prstGeom>
          <a:noFill/>
          <a:ln w="7938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50" name="Line 53"/>
          <p:cNvSpPr>
            <a:spLocks noChangeShapeType="1"/>
          </p:cNvSpPr>
          <p:nvPr/>
        </p:nvSpPr>
        <p:spPr bwMode="auto">
          <a:xfrm>
            <a:off x="3595689" y="1465263"/>
            <a:ext cx="1587" cy="40767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51" name="Line 54"/>
          <p:cNvSpPr>
            <a:spLocks noChangeShapeType="1"/>
          </p:cNvSpPr>
          <p:nvPr/>
        </p:nvSpPr>
        <p:spPr bwMode="auto">
          <a:xfrm>
            <a:off x="3525838" y="5541964"/>
            <a:ext cx="698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52" name="Line 55"/>
          <p:cNvSpPr>
            <a:spLocks noChangeShapeType="1"/>
          </p:cNvSpPr>
          <p:nvPr/>
        </p:nvSpPr>
        <p:spPr bwMode="auto">
          <a:xfrm>
            <a:off x="3525838" y="4724400"/>
            <a:ext cx="698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53" name="Line 56"/>
          <p:cNvSpPr>
            <a:spLocks noChangeShapeType="1"/>
          </p:cNvSpPr>
          <p:nvPr/>
        </p:nvSpPr>
        <p:spPr bwMode="auto">
          <a:xfrm>
            <a:off x="3525838" y="3908425"/>
            <a:ext cx="698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54" name="Line 57"/>
          <p:cNvSpPr>
            <a:spLocks noChangeShapeType="1"/>
          </p:cNvSpPr>
          <p:nvPr/>
        </p:nvSpPr>
        <p:spPr bwMode="auto">
          <a:xfrm>
            <a:off x="3525838" y="3098800"/>
            <a:ext cx="698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55" name="Line 58"/>
          <p:cNvSpPr>
            <a:spLocks noChangeShapeType="1"/>
          </p:cNvSpPr>
          <p:nvPr/>
        </p:nvSpPr>
        <p:spPr bwMode="auto">
          <a:xfrm>
            <a:off x="3525838" y="2281239"/>
            <a:ext cx="698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56" name="Line 59"/>
          <p:cNvSpPr>
            <a:spLocks noChangeShapeType="1"/>
          </p:cNvSpPr>
          <p:nvPr/>
        </p:nvSpPr>
        <p:spPr bwMode="auto">
          <a:xfrm>
            <a:off x="3525838" y="1465264"/>
            <a:ext cx="698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57" name="Line 60"/>
          <p:cNvSpPr>
            <a:spLocks noChangeShapeType="1"/>
          </p:cNvSpPr>
          <p:nvPr/>
        </p:nvSpPr>
        <p:spPr bwMode="auto">
          <a:xfrm>
            <a:off x="3595688" y="5541964"/>
            <a:ext cx="58674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58" name="Line 61"/>
          <p:cNvSpPr>
            <a:spLocks noChangeShapeType="1"/>
          </p:cNvSpPr>
          <p:nvPr/>
        </p:nvSpPr>
        <p:spPr bwMode="auto">
          <a:xfrm flipV="1">
            <a:off x="3595689" y="5541963"/>
            <a:ext cx="1587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59" name="Line 62"/>
          <p:cNvSpPr>
            <a:spLocks noChangeShapeType="1"/>
          </p:cNvSpPr>
          <p:nvPr/>
        </p:nvSpPr>
        <p:spPr bwMode="auto">
          <a:xfrm flipV="1">
            <a:off x="4767264" y="5541963"/>
            <a:ext cx="1587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60" name="Line 63"/>
          <p:cNvSpPr>
            <a:spLocks noChangeShapeType="1"/>
          </p:cNvSpPr>
          <p:nvPr/>
        </p:nvSpPr>
        <p:spPr bwMode="auto">
          <a:xfrm flipV="1">
            <a:off x="5945189" y="5541963"/>
            <a:ext cx="1587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61" name="Line 64"/>
          <p:cNvSpPr>
            <a:spLocks noChangeShapeType="1"/>
          </p:cNvSpPr>
          <p:nvPr/>
        </p:nvSpPr>
        <p:spPr bwMode="auto">
          <a:xfrm flipV="1">
            <a:off x="7115175" y="5541963"/>
            <a:ext cx="1588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62" name="Line 65"/>
          <p:cNvSpPr>
            <a:spLocks noChangeShapeType="1"/>
          </p:cNvSpPr>
          <p:nvPr/>
        </p:nvSpPr>
        <p:spPr bwMode="auto">
          <a:xfrm flipV="1">
            <a:off x="8293100" y="5541963"/>
            <a:ext cx="1588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63" name="Line 66"/>
          <p:cNvSpPr>
            <a:spLocks noChangeShapeType="1"/>
          </p:cNvSpPr>
          <p:nvPr/>
        </p:nvSpPr>
        <p:spPr bwMode="auto">
          <a:xfrm flipV="1">
            <a:off x="9463089" y="5541963"/>
            <a:ext cx="1587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64" name="Freeform 67"/>
          <p:cNvSpPr>
            <a:spLocks/>
          </p:cNvSpPr>
          <p:nvPr/>
        </p:nvSpPr>
        <p:spPr bwMode="auto">
          <a:xfrm>
            <a:off x="4703763" y="4662488"/>
            <a:ext cx="125412" cy="125412"/>
          </a:xfrm>
          <a:custGeom>
            <a:avLst/>
            <a:gdLst>
              <a:gd name="T0" fmla="*/ 63500 w 79"/>
              <a:gd name="T1" fmla="*/ 0 h 79"/>
              <a:gd name="T2" fmla="*/ 125412 w 79"/>
              <a:gd name="T3" fmla="*/ 61912 h 79"/>
              <a:gd name="T4" fmla="*/ 63500 w 79"/>
              <a:gd name="T5" fmla="*/ 125412 h 79"/>
              <a:gd name="T6" fmla="*/ 0 w 79"/>
              <a:gd name="T7" fmla="*/ 61912 h 79"/>
              <a:gd name="T8" fmla="*/ 63500 w 7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9"/>
              <a:gd name="T16" fmla="*/ 0 h 79"/>
              <a:gd name="T17" fmla="*/ 79 w 7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9" h="79">
                <a:moveTo>
                  <a:pt x="40" y="0"/>
                </a:moveTo>
                <a:lnTo>
                  <a:pt x="79" y="39"/>
                </a:lnTo>
                <a:lnTo>
                  <a:pt x="40" y="79"/>
                </a:lnTo>
                <a:lnTo>
                  <a:pt x="0" y="39"/>
                </a:lnTo>
                <a:lnTo>
                  <a:pt x="40" y="0"/>
                </a:lnTo>
                <a:close/>
              </a:path>
            </a:pathLst>
          </a:custGeom>
          <a:solidFill>
            <a:srgbClr val="000080"/>
          </a:solidFill>
          <a:ln w="7938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865" name="Rectangle 68"/>
          <p:cNvSpPr>
            <a:spLocks noChangeArrowheads="1"/>
          </p:cNvSpPr>
          <p:nvPr/>
        </p:nvSpPr>
        <p:spPr bwMode="auto">
          <a:xfrm>
            <a:off x="3305175" y="541655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0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66" name="Rectangle 69"/>
          <p:cNvSpPr>
            <a:spLocks noChangeArrowheads="1"/>
          </p:cNvSpPr>
          <p:nvPr/>
        </p:nvSpPr>
        <p:spPr bwMode="auto">
          <a:xfrm>
            <a:off x="3305175" y="4598988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1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67" name="Rectangle 70"/>
          <p:cNvSpPr>
            <a:spLocks noChangeArrowheads="1"/>
          </p:cNvSpPr>
          <p:nvPr/>
        </p:nvSpPr>
        <p:spPr bwMode="auto">
          <a:xfrm>
            <a:off x="3305175" y="37830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2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68" name="Rectangle 71"/>
          <p:cNvSpPr>
            <a:spLocks noChangeArrowheads="1"/>
          </p:cNvSpPr>
          <p:nvPr/>
        </p:nvSpPr>
        <p:spPr bwMode="auto">
          <a:xfrm>
            <a:off x="3305175" y="2973388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3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69" name="Rectangle 72"/>
          <p:cNvSpPr>
            <a:spLocks noChangeArrowheads="1"/>
          </p:cNvSpPr>
          <p:nvPr/>
        </p:nvSpPr>
        <p:spPr bwMode="auto">
          <a:xfrm>
            <a:off x="3305175" y="2155825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4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70" name="Rectangle 73"/>
          <p:cNvSpPr>
            <a:spLocks noChangeArrowheads="1"/>
          </p:cNvSpPr>
          <p:nvPr/>
        </p:nvSpPr>
        <p:spPr bwMode="auto">
          <a:xfrm>
            <a:off x="3305175" y="133985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5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71" name="Rectangle 74"/>
          <p:cNvSpPr>
            <a:spLocks noChangeArrowheads="1"/>
          </p:cNvSpPr>
          <p:nvPr/>
        </p:nvSpPr>
        <p:spPr bwMode="auto">
          <a:xfrm>
            <a:off x="3541713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0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72" name="Rectangle 75"/>
          <p:cNvSpPr>
            <a:spLocks noChangeArrowheads="1"/>
          </p:cNvSpPr>
          <p:nvPr/>
        </p:nvSpPr>
        <p:spPr bwMode="auto">
          <a:xfrm>
            <a:off x="4711700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1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73" name="Rectangle 76"/>
          <p:cNvSpPr>
            <a:spLocks noChangeArrowheads="1"/>
          </p:cNvSpPr>
          <p:nvPr/>
        </p:nvSpPr>
        <p:spPr bwMode="auto">
          <a:xfrm>
            <a:off x="5889625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2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74" name="Rectangle 77"/>
          <p:cNvSpPr>
            <a:spLocks noChangeArrowheads="1"/>
          </p:cNvSpPr>
          <p:nvPr/>
        </p:nvSpPr>
        <p:spPr bwMode="auto">
          <a:xfrm>
            <a:off x="7059613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3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75" name="Rectangle 78"/>
          <p:cNvSpPr>
            <a:spLocks noChangeArrowheads="1"/>
          </p:cNvSpPr>
          <p:nvPr/>
        </p:nvSpPr>
        <p:spPr bwMode="auto">
          <a:xfrm>
            <a:off x="8239125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4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76" name="Rectangle 79"/>
          <p:cNvSpPr>
            <a:spLocks noChangeArrowheads="1"/>
          </p:cNvSpPr>
          <p:nvPr/>
        </p:nvSpPr>
        <p:spPr bwMode="auto">
          <a:xfrm>
            <a:off x="9409113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5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>
                <a:effectLst>
                  <a:outerShdw blurRad="38100" dist="38100" dir="2700000" algn="tl">
                    <a:srgbClr val="DDDDDD"/>
                  </a:outerShdw>
                </a:effectLst>
              </a:rPr>
              <a:t>K-means Clustering: Step 2</a:t>
            </a:r>
          </a:p>
        </p:txBody>
      </p:sp>
      <p:sp>
        <p:nvSpPr>
          <p:cNvPr id="35878" name="Text Box 4"/>
          <p:cNvSpPr txBox="1">
            <a:spLocks noChangeArrowheads="1"/>
          </p:cNvSpPr>
          <p:nvPr/>
        </p:nvSpPr>
        <p:spPr bwMode="auto">
          <a:xfrm>
            <a:off x="2503488" y="838201"/>
            <a:ext cx="79383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Algorithm: k-means, Distance Metric: Euclidean Distance</a:t>
            </a:r>
          </a:p>
        </p:txBody>
      </p:sp>
      <p:grpSp>
        <p:nvGrpSpPr>
          <p:cNvPr id="35879" name="Group 5"/>
          <p:cNvGrpSpPr>
            <a:grpSpLocks/>
          </p:cNvGrpSpPr>
          <p:nvPr/>
        </p:nvGrpSpPr>
        <p:grpSpPr bwMode="auto">
          <a:xfrm>
            <a:off x="5943600" y="2286000"/>
            <a:ext cx="685800" cy="533400"/>
            <a:chOff x="192" y="1824"/>
            <a:chExt cx="432" cy="336"/>
          </a:xfrm>
        </p:grpSpPr>
        <p:sp>
          <p:nvSpPr>
            <p:cNvPr id="35921" name="Oval 6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5922" name="Text Box 7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prstClr val="black"/>
                  </a:solidFill>
                </a:rPr>
                <a:t>k</a:t>
              </a:r>
              <a:r>
                <a:rPr lang="en-US" altLang="en-US" baseline="-25000">
                  <a:solidFill>
                    <a:prstClr val="black"/>
                  </a:solidFill>
                </a:rPr>
                <a:t>1</a:t>
              </a:r>
            </a:p>
          </p:txBody>
        </p:sp>
      </p:grpSp>
      <p:grpSp>
        <p:nvGrpSpPr>
          <p:cNvPr id="35880" name="Group 8"/>
          <p:cNvGrpSpPr>
            <a:grpSpLocks/>
          </p:cNvGrpSpPr>
          <p:nvPr/>
        </p:nvGrpSpPr>
        <p:grpSpPr bwMode="auto">
          <a:xfrm>
            <a:off x="5181600" y="3429000"/>
            <a:ext cx="685800" cy="533400"/>
            <a:chOff x="192" y="1824"/>
            <a:chExt cx="432" cy="336"/>
          </a:xfrm>
        </p:grpSpPr>
        <p:sp>
          <p:nvSpPr>
            <p:cNvPr id="35919" name="Oval 9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5920" name="Text Box 10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prstClr val="black"/>
                  </a:solidFill>
                </a:rPr>
                <a:t>k</a:t>
              </a:r>
              <a:r>
                <a:rPr lang="en-US" altLang="en-US" baseline="-25000">
                  <a:solidFill>
                    <a:prstClr val="black"/>
                  </a:solidFill>
                </a:rPr>
                <a:t>2</a:t>
              </a:r>
            </a:p>
          </p:txBody>
        </p:sp>
      </p:grpSp>
      <p:grpSp>
        <p:nvGrpSpPr>
          <p:cNvPr id="35881" name="Group 11"/>
          <p:cNvGrpSpPr>
            <a:grpSpLocks/>
          </p:cNvGrpSpPr>
          <p:nvPr/>
        </p:nvGrpSpPr>
        <p:grpSpPr bwMode="auto">
          <a:xfrm>
            <a:off x="7239000" y="5029200"/>
            <a:ext cx="685800" cy="533400"/>
            <a:chOff x="192" y="1824"/>
            <a:chExt cx="432" cy="336"/>
          </a:xfrm>
        </p:grpSpPr>
        <p:sp>
          <p:nvSpPr>
            <p:cNvPr id="35917" name="Oval 12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5918" name="Text Box 13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prstClr val="black"/>
                  </a:solidFill>
                </a:rPr>
                <a:t>k</a:t>
              </a:r>
              <a:r>
                <a:rPr lang="en-US" altLang="en-US" baseline="-25000">
                  <a:solidFill>
                    <a:prstClr val="black"/>
                  </a:solidFill>
                </a:rPr>
                <a:t>3</a:t>
              </a:r>
            </a:p>
          </p:txBody>
        </p:sp>
      </p:grpSp>
      <p:sp>
        <p:nvSpPr>
          <p:cNvPr id="35882" name="AutoShape 14"/>
          <p:cNvSpPr>
            <a:spLocks noChangeArrowheads="1"/>
          </p:cNvSpPr>
          <p:nvPr/>
        </p:nvSpPr>
        <p:spPr bwMode="auto">
          <a:xfrm>
            <a:off x="4724400" y="46482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83" name="AutoShape 15"/>
          <p:cNvSpPr>
            <a:spLocks noChangeArrowheads="1"/>
          </p:cNvSpPr>
          <p:nvPr/>
        </p:nvSpPr>
        <p:spPr bwMode="auto">
          <a:xfrm>
            <a:off x="4876800" y="4876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84" name="AutoShape 16"/>
          <p:cNvSpPr>
            <a:spLocks noChangeArrowheads="1"/>
          </p:cNvSpPr>
          <p:nvPr/>
        </p:nvSpPr>
        <p:spPr bwMode="auto">
          <a:xfrm>
            <a:off x="46482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85" name="AutoShape 17"/>
          <p:cNvSpPr>
            <a:spLocks noChangeArrowheads="1"/>
          </p:cNvSpPr>
          <p:nvPr/>
        </p:nvSpPr>
        <p:spPr bwMode="auto">
          <a:xfrm>
            <a:off x="4419600" y="44196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86" name="AutoShape 18"/>
          <p:cNvSpPr>
            <a:spLocks noChangeArrowheads="1"/>
          </p:cNvSpPr>
          <p:nvPr/>
        </p:nvSpPr>
        <p:spPr bwMode="auto">
          <a:xfrm>
            <a:off x="4419600" y="20574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87" name="AutoShape 19"/>
          <p:cNvSpPr>
            <a:spLocks noChangeArrowheads="1"/>
          </p:cNvSpPr>
          <p:nvPr/>
        </p:nvSpPr>
        <p:spPr bwMode="auto">
          <a:xfrm>
            <a:off x="4419600" y="3581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88" name="AutoShape 20"/>
          <p:cNvSpPr>
            <a:spLocks noChangeArrowheads="1"/>
          </p:cNvSpPr>
          <p:nvPr/>
        </p:nvSpPr>
        <p:spPr bwMode="auto">
          <a:xfrm>
            <a:off x="44196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89" name="AutoShape 21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90" name="AutoShape 22"/>
          <p:cNvSpPr>
            <a:spLocks noChangeArrowheads="1"/>
          </p:cNvSpPr>
          <p:nvPr/>
        </p:nvSpPr>
        <p:spPr bwMode="auto">
          <a:xfrm>
            <a:off x="6096000" y="38100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91" name="AutoShape 23"/>
          <p:cNvSpPr>
            <a:spLocks noChangeArrowheads="1"/>
          </p:cNvSpPr>
          <p:nvPr/>
        </p:nvSpPr>
        <p:spPr bwMode="auto">
          <a:xfrm>
            <a:off x="82296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92" name="AutoShape 24"/>
          <p:cNvSpPr>
            <a:spLocks noChangeArrowheads="1"/>
          </p:cNvSpPr>
          <p:nvPr/>
        </p:nvSpPr>
        <p:spPr bwMode="auto">
          <a:xfrm>
            <a:off x="8686800" y="19050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93" name="AutoShape 25"/>
          <p:cNvSpPr>
            <a:spLocks noChangeArrowheads="1"/>
          </p:cNvSpPr>
          <p:nvPr/>
        </p:nvSpPr>
        <p:spPr bwMode="auto">
          <a:xfrm>
            <a:off x="8534400" y="20574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94" name="AutoShape 26"/>
          <p:cNvSpPr>
            <a:spLocks noChangeArrowheads="1"/>
          </p:cNvSpPr>
          <p:nvPr/>
        </p:nvSpPr>
        <p:spPr bwMode="auto">
          <a:xfrm>
            <a:off x="8382000" y="2209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95" name="AutoShape 27"/>
          <p:cNvSpPr>
            <a:spLocks noChangeArrowheads="1"/>
          </p:cNvSpPr>
          <p:nvPr/>
        </p:nvSpPr>
        <p:spPr bwMode="auto">
          <a:xfrm>
            <a:off x="8686800" y="2362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96" name="AutoShape 28"/>
          <p:cNvSpPr>
            <a:spLocks noChangeArrowheads="1"/>
          </p:cNvSpPr>
          <p:nvPr/>
        </p:nvSpPr>
        <p:spPr bwMode="auto">
          <a:xfrm>
            <a:off x="8991600" y="2743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97" name="AutoShape 29"/>
          <p:cNvSpPr>
            <a:spLocks noChangeArrowheads="1"/>
          </p:cNvSpPr>
          <p:nvPr/>
        </p:nvSpPr>
        <p:spPr bwMode="auto">
          <a:xfrm>
            <a:off x="72390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98" name="AutoShape 30"/>
          <p:cNvSpPr>
            <a:spLocks noChangeArrowheads="1"/>
          </p:cNvSpPr>
          <p:nvPr/>
        </p:nvSpPr>
        <p:spPr bwMode="auto">
          <a:xfrm>
            <a:off x="7543800" y="32766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899" name="AutoShape 31"/>
          <p:cNvSpPr>
            <a:spLocks noChangeArrowheads="1"/>
          </p:cNvSpPr>
          <p:nvPr/>
        </p:nvSpPr>
        <p:spPr bwMode="auto">
          <a:xfrm>
            <a:off x="7543800" y="4800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900" name="AutoShape 32"/>
          <p:cNvSpPr>
            <a:spLocks noChangeArrowheads="1"/>
          </p:cNvSpPr>
          <p:nvPr/>
        </p:nvSpPr>
        <p:spPr bwMode="auto">
          <a:xfrm>
            <a:off x="7924800" y="5105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901" name="AutoShape 33"/>
          <p:cNvSpPr>
            <a:spLocks noChangeArrowheads="1"/>
          </p:cNvSpPr>
          <p:nvPr/>
        </p:nvSpPr>
        <p:spPr bwMode="auto">
          <a:xfrm>
            <a:off x="8305800" y="4343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902" name="AutoShape 34"/>
          <p:cNvSpPr>
            <a:spLocks noChangeArrowheads="1"/>
          </p:cNvSpPr>
          <p:nvPr/>
        </p:nvSpPr>
        <p:spPr bwMode="auto">
          <a:xfrm>
            <a:off x="7467600" y="3733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903" name="AutoShape 35"/>
          <p:cNvSpPr>
            <a:spLocks noChangeArrowheads="1"/>
          </p:cNvSpPr>
          <p:nvPr/>
        </p:nvSpPr>
        <p:spPr bwMode="auto">
          <a:xfrm>
            <a:off x="6705600" y="4191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904" name="AutoShape 36"/>
          <p:cNvSpPr>
            <a:spLocks noChangeArrowheads="1"/>
          </p:cNvSpPr>
          <p:nvPr/>
        </p:nvSpPr>
        <p:spPr bwMode="auto">
          <a:xfrm>
            <a:off x="8686800" y="4648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905" name="AutoShape 37"/>
          <p:cNvSpPr>
            <a:spLocks noChangeArrowheads="1"/>
          </p:cNvSpPr>
          <p:nvPr/>
        </p:nvSpPr>
        <p:spPr bwMode="auto">
          <a:xfrm>
            <a:off x="8534400" y="5029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906" name="AutoShape 38"/>
          <p:cNvSpPr>
            <a:spLocks noChangeArrowheads="1"/>
          </p:cNvSpPr>
          <p:nvPr/>
        </p:nvSpPr>
        <p:spPr bwMode="auto">
          <a:xfrm>
            <a:off x="8382000" y="4038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907" name="AutoShape 39"/>
          <p:cNvSpPr>
            <a:spLocks noChangeArrowheads="1"/>
          </p:cNvSpPr>
          <p:nvPr/>
        </p:nvSpPr>
        <p:spPr bwMode="auto">
          <a:xfrm>
            <a:off x="8991600" y="5257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5908" name="AutoShape 40"/>
          <p:cNvSpPr>
            <a:spLocks noChangeArrowheads="1"/>
          </p:cNvSpPr>
          <p:nvPr/>
        </p:nvSpPr>
        <p:spPr bwMode="auto">
          <a:xfrm>
            <a:off x="8153400" y="2590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grpSp>
        <p:nvGrpSpPr>
          <p:cNvPr id="5" name="Group 41"/>
          <p:cNvGrpSpPr>
            <a:grpSpLocks/>
          </p:cNvGrpSpPr>
          <p:nvPr/>
        </p:nvGrpSpPr>
        <p:grpSpPr bwMode="auto">
          <a:xfrm>
            <a:off x="5029200" y="2438400"/>
            <a:ext cx="2895600" cy="2590800"/>
            <a:chOff x="2208" y="1536"/>
            <a:chExt cx="1824" cy="1632"/>
          </a:xfrm>
        </p:grpSpPr>
        <p:sp>
          <p:nvSpPr>
            <p:cNvPr id="35914" name="Line 42"/>
            <p:cNvSpPr>
              <a:spLocks noChangeShapeType="1"/>
            </p:cNvSpPr>
            <p:nvPr/>
          </p:nvSpPr>
          <p:spPr bwMode="auto">
            <a:xfrm>
              <a:off x="2976" y="1536"/>
              <a:ext cx="9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5915" name="Line 43"/>
            <p:cNvSpPr>
              <a:spLocks noChangeShapeType="1"/>
            </p:cNvSpPr>
            <p:nvPr/>
          </p:nvSpPr>
          <p:spPr bwMode="auto">
            <a:xfrm flipH="1">
              <a:off x="2208" y="2352"/>
              <a:ext cx="14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5916" name="Line 44"/>
            <p:cNvSpPr>
              <a:spLocks noChangeShapeType="1"/>
            </p:cNvSpPr>
            <p:nvPr/>
          </p:nvSpPr>
          <p:spPr bwMode="auto">
            <a:xfrm flipV="1">
              <a:off x="3744" y="2688"/>
              <a:ext cx="288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35910" name="Line 82"/>
          <p:cNvSpPr>
            <a:spLocks noChangeShapeType="1"/>
          </p:cNvSpPr>
          <p:nvPr/>
        </p:nvSpPr>
        <p:spPr bwMode="auto">
          <a:xfrm flipH="1" flipV="1">
            <a:off x="3581400" y="1752600"/>
            <a:ext cx="2971800" cy="19050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911" name="Line 83"/>
          <p:cNvSpPr>
            <a:spLocks noChangeShapeType="1"/>
          </p:cNvSpPr>
          <p:nvPr/>
        </p:nvSpPr>
        <p:spPr bwMode="auto">
          <a:xfrm flipH="1">
            <a:off x="5562600" y="3657600"/>
            <a:ext cx="990600" cy="18288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912" name="Line 84"/>
          <p:cNvSpPr>
            <a:spLocks noChangeShapeType="1"/>
          </p:cNvSpPr>
          <p:nvPr/>
        </p:nvSpPr>
        <p:spPr bwMode="auto">
          <a:xfrm flipV="1">
            <a:off x="6553200" y="3657600"/>
            <a:ext cx="28956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913" name="TextBox 81"/>
          <p:cNvSpPr txBox="1">
            <a:spLocks noChangeArrowheads="1"/>
          </p:cNvSpPr>
          <p:nvPr/>
        </p:nvSpPr>
        <p:spPr bwMode="auto">
          <a:xfrm>
            <a:off x="1524001" y="6488114"/>
            <a:ext cx="4252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113585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8"/>
          <p:cNvSpPr>
            <a:spLocks noChangeArrowheads="1"/>
          </p:cNvSpPr>
          <p:nvPr/>
        </p:nvSpPr>
        <p:spPr bwMode="auto">
          <a:xfrm>
            <a:off x="2646363" y="1198564"/>
            <a:ext cx="6989762" cy="5481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867" name="Rectangle 69"/>
          <p:cNvSpPr>
            <a:spLocks noChangeArrowheads="1"/>
          </p:cNvSpPr>
          <p:nvPr/>
        </p:nvSpPr>
        <p:spPr bwMode="auto">
          <a:xfrm>
            <a:off x="3595688" y="1465263"/>
            <a:ext cx="5867400" cy="40767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868" name="Line 70"/>
          <p:cNvSpPr>
            <a:spLocks noChangeShapeType="1"/>
          </p:cNvSpPr>
          <p:nvPr/>
        </p:nvSpPr>
        <p:spPr bwMode="auto">
          <a:xfrm>
            <a:off x="3595688" y="4724400"/>
            <a:ext cx="58674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69" name="Line 71"/>
          <p:cNvSpPr>
            <a:spLocks noChangeShapeType="1"/>
          </p:cNvSpPr>
          <p:nvPr/>
        </p:nvSpPr>
        <p:spPr bwMode="auto">
          <a:xfrm>
            <a:off x="3595688" y="3908425"/>
            <a:ext cx="58674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70" name="Line 72"/>
          <p:cNvSpPr>
            <a:spLocks noChangeShapeType="1"/>
          </p:cNvSpPr>
          <p:nvPr/>
        </p:nvSpPr>
        <p:spPr bwMode="auto">
          <a:xfrm>
            <a:off x="3595688" y="3098800"/>
            <a:ext cx="58674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71" name="Line 73"/>
          <p:cNvSpPr>
            <a:spLocks noChangeShapeType="1"/>
          </p:cNvSpPr>
          <p:nvPr/>
        </p:nvSpPr>
        <p:spPr bwMode="auto">
          <a:xfrm>
            <a:off x="3595688" y="2281239"/>
            <a:ext cx="58674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72" name="Line 74"/>
          <p:cNvSpPr>
            <a:spLocks noChangeShapeType="1"/>
          </p:cNvSpPr>
          <p:nvPr/>
        </p:nvSpPr>
        <p:spPr bwMode="auto">
          <a:xfrm>
            <a:off x="3595688" y="1465264"/>
            <a:ext cx="58674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73" name="Rectangle 75"/>
          <p:cNvSpPr>
            <a:spLocks noChangeArrowheads="1"/>
          </p:cNvSpPr>
          <p:nvPr/>
        </p:nvSpPr>
        <p:spPr bwMode="auto">
          <a:xfrm>
            <a:off x="3595688" y="1465263"/>
            <a:ext cx="5867400" cy="4076700"/>
          </a:xfrm>
          <a:prstGeom prst="rect">
            <a:avLst/>
          </a:prstGeom>
          <a:noFill/>
          <a:ln w="7938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874" name="Line 76"/>
          <p:cNvSpPr>
            <a:spLocks noChangeShapeType="1"/>
          </p:cNvSpPr>
          <p:nvPr/>
        </p:nvSpPr>
        <p:spPr bwMode="auto">
          <a:xfrm>
            <a:off x="3595689" y="1465263"/>
            <a:ext cx="1587" cy="40767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75" name="Line 77"/>
          <p:cNvSpPr>
            <a:spLocks noChangeShapeType="1"/>
          </p:cNvSpPr>
          <p:nvPr/>
        </p:nvSpPr>
        <p:spPr bwMode="auto">
          <a:xfrm>
            <a:off x="3525838" y="5541964"/>
            <a:ext cx="698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76" name="Line 78"/>
          <p:cNvSpPr>
            <a:spLocks noChangeShapeType="1"/>
          </p:cNvSpPr>
          <p:nvPr/>
        </p:nvSpPr>
        <p:spPr bwMode="auto">
          <a:xfrm>
            <a:off x="3525838" y="4724400"/>
            <a:ext cx="698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77" name="Line 79"/>
          <p:cNvSpPr>
            <a:spLocks noChangeShapeType="1"/>
          </p:cNvSpPr>
          <p:nvPr/>
        </p:nvSpPr>
        <p:spPr bwMode="auto">
          <a:xfrm>
            <a:off x="3525838" y="3908425"/>
            <a:ext cx="698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78" name="Line 80"/>
          <p:cNvSpPr>
            <a:spLocks noChangeShapeType="1"/>
          </p:cNvSpPr>
          <p:nvPr/>
        </p:nvSpPr>
        <p:spPr bwMode="auto">
          <a:xfrm>
            <a:off x="3525838" y="3098800"/>
            <a:ext cx="698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79" name="Line 81"/>
          <p:cNvSpPr>
            <a:spLocks noChangeShapeType="1"/>
          </p:cNvSpPr>
          <p:nvPr/>
        </p:nvSpPr>
        <p:spPr bwMode="auto">
          <a:xfrm>
            <a:off x="3525838" y="2281239"/>
            <a:ext cx="698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80" name="Line 82"/>
          <p:cNvSpPr>
            <a:spLocks noChangeShapeType="1"/>
          </p:cNvSpPr>
          <p:nvPr/>
        </p:nvSpPr>
        <p:spPr bwMode="auto">
          <a:xfrm>
            <a:off x="3525838" y="1465264"/>
            <a:ext cx="698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81" name="Line 83"/>
          <p:cNvSpPr>
            <a:spLocks noChangeShapeType="1"/>
          </p:cNvSpPr>
          <p:nvPr/>
        </p:nvSpPr>
        <p:spPr bwMode="auto">
          <a:xfrm>
            <a:off x="3595688" y="5541964"/>
            <a:ext cx="58674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82" name="Line 84"/>
          <p:cNvSpPr>
            <a:spLocks noChangeShapeType="1"/>
          </p:cNvSpPr>
          <p:nvPr/>
        </p:nvSpPr>
        <p:spPr bwMode="auto">
          <a:xfrm flipV="1">
            <a:off x="3595689" y="5541963"/>
            <a:ext cx="1587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83" name="Line 85"/>
          <p:cNvSpPr>
            <a:spLocks noChangeShapeType="1"/>
          </p:cNvSpPr>
          <p:nvPr/>
        </p:nvSpPr>
        <p:spPr bwMode="auto">
          <a:xfrm flipV="1">
            <a:off x="4767264" y="5541963"/>
            <a:ext cx="1587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84" name="Line 86"/>
          <p:cNvSpPr>
            <a:spLocks noChangeShapeType="1"/>
          </p:cNvSpPr>
          <p:nvPr/>
        </p:nvSpPr>
        <p:spPr bwMode="auto">
          <a:xfrm flipV="1">
            <a:off x="5945189" y="5541963"/>
            <a:ext cx="1587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85" name="Line 87"/>
          <p:cNvSpPr>
            <a:spLocks noChangeShapeType="1"/>
          </p:cNvSpPr>
          <p:nvPr/>
        </p:nvSpPr>
        <p:spPr bwMode="auto">
          <a:xfrm flipV="1">
            <a:off x="7115175" y="5541963"/>
            <a:ext cx="1588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86" name="Line 88"/>
          <p:cNvSpPr>
            <a:spLocks noChangeShapeType="1"/>
          </p:cNvSpPr>
          <p:nvPr/>
        </p:nvSpPr>
        <p:spPr bwMode="auto">
          <a:xfrm flipV="1">
            <a:off x="8293100" y="5541963"/>
            <a:ext cx="1588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87" name="Line 89"/>
          <p:cNvSpPr>
            <a:spLocks noChangeShapeType="1"/>
          </p:cNvSpPr>
          <p:nvPr/>
        </p:nvSpPr>
        <p:spPr bwMode="auto">
          <a:xfrm flipV="1">
            <a:off x="9463089" y="5541963"/>
            <a:ext cx="1587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88" name="Freeform 90"/>
          <p:cNvSpPr>
            <a:spLocks/>
          </p:cNvSpPr>
          <p:nvPr/>
        </p:nvSpPr>
        <p:spPr bwMode="auto">
          <a:xfrm>
            <a:off x="4703763" y="4662488"/>
            <a:ext cx="125412" cy="125412"/>
          </a:xfrm>
          <a:custGeom>
            <a:avLst/>
            <a:gdLst>
              <a:gd name="T0" fmla="*/ 63500 w 79"/>
              <a:gd name="T1" fmla="*/ 0 h 79"/>
              <a:gd name="T2" fmla="*/ 125412 w 79"/>
              <a:gd name="T3" fmla="*/ 61912 h 79"/>
              <a:gd name="T4" fmla="*/ 63500 w 79"/>
              <a:gd name="T5" fmla="*/ 125412 h 79"/>
              <a:gd name="T6" fmla="*/ 0 w 79"/>
              <a:gd name="T7" fmla="*/ 61912 h 79"/>
              <a:gd name="T8" fmla="*/ 63500 w 7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9"/>
              <a:gd name="T16" fmla="*/ 0 h 79"/>
              <a:gd name="T17" fmla="*/ 79 w 7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9" h="79">
                <a:moveTo>
                  <a:pt x="40" y="0"/>
                </a:moveTo>
                <a:lnTo>
                  <a:pt x="79" y="39"/>
                </a:lnTo>
                <a:lnTo>
                  <a:pt x="40" y="79"/>
                </a:lnTo>
                <a:lnTo>
                  <a:pt x="0" y="39"/>
                </a:lnTo>
                <a:lnTo>
                  <a:pt x="40" y="0"/>
                </a:lnTo>
                <a:close/>
              </a:path>
            </a:pathLst>
          </a:custGeom>
          <a:solidFill>
            <a:srgbClr val="000080"/>
          </a:solidFill>
          <a:ln w="7938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889" name="Rectangle 91"/>
          <p:cNvSpPr>
            <a:spLocks noChangeArrowheads="1"/>
          </p:cNvSpPr>
          <p:nvPr/>
        </p:nvSpPr>
        <p:spPr bwMode="auto">
          <a:xfrm>
            <a:off x="3305175" y="541655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0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890" name="Rectangle 92"/>
          <p:cNvSpPr>
            <a:spLocks noChangeArrowheads="1"/>
          </p:cNvSpPr>
          <p:nvPr/>
        </p:nvSpPr>
        <p:spPr bwMode="auto">
          <a:xfrm>
            <a:off x="3305175" y="4598988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1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891" name="Rectangle 93"/>
          <p:cNvSpPr>
            <a:spLocks noChangeArrowheads="1"/>
          </p:cNvSpPr>
          <p:nvPr/>
        </p:nvSpPr>
        <p:spPr bwMode="auto">
          <a:xfrm>
            <a:off x="3305175" y="37830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2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892" name="Rectangle 94"/>
          <p:cNvSpPr>
            <a:spLocks noChangeArrowheads="1"/>
          </p:cNvSpPr>
          <p:nvPr/>
        </p:nvSpPr>
        <p:spPr bwMode="auto">
          <a:xfrm>
            <a:off x="3305175" y="2973388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3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893" name="Rectangle 95"/>
          <p:cNvSpPr>
            <a:spLocks noChangeArrowheads="1"/>
          </p:cNvSpPr>
          <p:nvPr/>
        </p:nvSpPr>
        <p:spPr bwMode="auto">
          <a:xfrm>
            <a:off x="3305175" y="2155825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4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894" name="Rectangle 96"/>
          <p:cNvSpPr>
            <a:spLocks noChangeArrowheads="1"/>
          </p:cNvSpPr>
          <p:nvPr/>
        </p:nvSpPr>
        <p:spPr bwMode="auto">
          <a:xfrm>
            <a:off x="3305175" y="133985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5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895" name="Rectangle 97"/>
          <p:cNvSpPr>
            <a:spLocks noChangeArrowheads="1"/>
          </p:cNvSpPr>
          <p:nvPr/>
        </p:nvSpPr>
        <p:spPr bwMode="auto">
          <a:xfrm>
            <a:off x="3541713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0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896" name="Rectangle 98"/>
          <p:cNvSpPr>
            <a:spLocks noChangeArrowheads="1"/>
          </p:cNvSpPr>
          <p:nvPr/>
        </p:nvSpPr>
        <p:spPr bwMode="auto">
          <a:xfrm>
            <a:off x="4711700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1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897" name="Rectangle 99"/>
          <p:cNvSpPr>
            <a:spLocks noChangeArrowheads="1"/>
          </p:cNvSpPr>
          <p:nvPr/>
        </p:nvSpPr>
        <p:spPr bwMode="auto">
          <a:xfrm>
            <a:off x="5889625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2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898" name="Rectangle 100"/>
          <p:cNvSpPr>
            <a:spLocks noChangeArrowheads="1"/>
          </p:cNvSpPr>
          <p:nvPr/>
        </p:nvSpPr>
        <p:spPr bwMode="auto">
          <a:xfrm>
            <a:off x="7059613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3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899" name="Rectangle 101"/>
          <p:cNvSpPr>
            <a:spLocks noChangeArrowheads="1"/>
          </p:cNvSpPr>
          <p:nvPr/>
        </p:nvSpPr>
        <p:spPr bwMode="auto">
          <a:xfrm>
            <a:off x="8239125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4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00" name="Rectangle 102"/>
          <p:cNvSpPr>
            <a:spLocks noChangeArrowheads="1"/>
          </p:cNvSpPr>
          <p:nvPr/>
        </p:nvSpPr>
        <p:spPr bwMode="auto">
          <a:xfrm>
            <a:off x="9409113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5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66243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>
                <a:effectLst>
                  <a:outerShdw blurRad="38100" dist="38100" dir="2700000" algn="tl">
                    <a:srgbClr val="DDDDDD"/>
                  </a:outerShdw>
                </a:effectLst>
              </a:rPr>
              <a:t>K-means Clustering: Step 3</a:t>
            </a:r>
          </a:p>
        </p:txBody>
      </p:sp>
      <p:sp>
        <p:nvSpPr>
          <p:cNvPr id="36902" name="Text Box 4"/>
          <p:cNvSpPr txBox="1">
            <a:spLocks noChangeArrowheads="1"/>
          </p:cNvSpPr>
          <p:nvPr/>
        </p:nvSpPr>
        <p:spPr bwMode="auto">
          <a:xfrm>
            <a:off x="2503488" y="838201"/>
            <a:ext cx="79383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Algorithm: k-means, Distance Metric: Euclidean Distance</a:t>
            </a:r>
          </a:p>
        </p:txBody>
      </p:sp>
      <p:grpSp>
        <p:nvGrpSpPr>
          <p:cNvPr id="36903" name="Group 5"/>
          <p:cNvGrpSpPr>
            <a:grpSpLocks/>
          </p:cNvGrpSpPr>
          <p:nvPr/>
        </p:nvGrpSpPr>
        <p:grpSpPr bwMode="auto">
          <a:xfrm>
            <a:off x="7696200" y="2133600"/>
            <a:ext cx="685800" cy="533400"/>
            <a:chOff x="192" y="1824"/>
            <a:chExt cx="432" cy="336"/>
          </a:xfrm>
        </p:grpSpPr>
        <p:sp>
          <p:nvSpPr>
            <p:cNvPr id="36965" name="Oval 6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6966" name="Text Box 7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prstClr val="black"/>
                  </a:solidFill>
                </a:rPr>
                <a:t>k</a:t>
              </a:r>
              <a:r>
                <a:rPr lang="en-US" altLang="en-US" baseline="-25000">
                  <a:solidFill>
                    <a:prstClr val="black"/>
                  </a:solidFill>
                </a:rPr>
                <a:t>1</a:t>
              </a:r>
            </a:p>
          </p:txBody>
        </p:sp>
      </p:grpSp>
      <p:grpSp>
        <p:nvGrpSpPr>
          <p:cNvPr id="36904" name="Group 8"/>
          <p:cNvGrpSpPr>
            <a:grpSpLocks/>
          </p:cNvGrpSpPr>
          <p:nvPr/>
        </p:nvGrpSpPr>
        <p:grpSpPr bwMode="auto">
          <a:xfrm>
            <a:off x="4648200" y="4343400"/>
            <a:ext cx="685800" cy="533400"/>
            <a:chOff x="192" y="1824"/>
            <a:chExt cx="432" cy="336"/>
          </a:xfrm>
        </p:grpSpPr>
        <p:sp>
          <p:nvSpPr>
            <p:cNvPr id="36963" name="Oval 9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6964" name="Text Box 10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prstClr val="black"/>
                  </a:solidFill>
                </a:rPr>
                <a:t>k</a:t>
              </a:r>
              <a:r>
                <a:rPr lang="en-US" altLang="en-US" baseline="-25000">
                  <a:solidFill>
                    <a:prstClr val="black"/>
                  </a:solidFill>
                </a:rPr>
                <a:t>2</a:t>
              </a:r>
            </a:p>
          </p:txBody>
        </p:sp>
      </p:grpSp>
      <p:grpSp>
        <p:nvGrpSpPr>
          <p:cNvPr id="36905" name="Group 11"/>
          <p:cNvGrpSpPr>
            <a:grpSpLocks/>
          </p:cNvGrpSpPr>
          <p:nvPr/>
        </p:nvGrpSpPr>
        <p:grpSpPr bwMode="auto">
          <a:xfrm>
            <a:off x="7772400" y="4038600"/>
            <a:ext cx="685800" cy="533400"/>
            <a:chOff x="192" y="1824"/>
            <a:chExt cx="432" cy="336"/>
          </a:xfrm>
        </p:grpSpPr>
        <p:sp>
          <p:nvSpPr>
            <p:cNvPr id="36961" name="Oval 12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6962" name="Text Box 13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prstClr val="black"/>
                  </a:solidFill>
                </a:rPr>
                <a:t>k</a:t>
              </a:r>
              <a:r>
                <a:rPr lang="en-US" altLang="en-US" baseline="-25000">
                  <a:solidFill>
                    <a:prstClr val="black"/>
                  </a:solidFill>
                </a:rPr>
                <a:t>3</a:t>
              </a:r>
            </a:p>
          </p:txBody>
        </p:sp>
      </p:grpSp>
      <p:sp>
        <p:nvSpPr>
          <p:cNvPr id="36906" name="AutoShape 14"/>
          <p:cNvSpPr>
            <a:spLocks noChangeArrowheads="1"/>
          </p:cNvSpPr>
          <p:nvPr/>
        </p:nvSpPr>
        <p:spPr bwMode="auto">
          <a:xfrm>
            <a:off x="4724400" y="4648200"/>
            <a:ext cx="152400" cy="152400"/>
          </a:xfrm>
          <a:prstGeom prst="diamond">
            <a:avLst/>
          </a:prstGeom>
          <a:solidFill>
            <a:srgbClr val="66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07" name="AutoShape 15"/>
          <p:cNvSpPr>
            <a:spLocks noChangeArrowheads="1"/>
          </p:cNvSpPr>
          <p:nvPr/>
        </p:nvSpPr>
        <p:spPr bwMode="auto">
          <a:xfrm>
            <a:off x="4876800" y="4876800"/>
            <a:ext cx="152400" cy="152400"/>
          </a:xfrm>
          <a:prstGeom prst="diamond">
            <a:avLst/>
          </a:prstGeom>
          <a:solidFill>
            <a:srgbClr val="66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08" name="AutoShape 16"/>
          <p:cNvSpPr>
            <a:spLocks noChangeArrowheads="1"/>
          </p:cNvSpPr>
          <p:nvPr/>
        </p:nvSpPr>
        <p:spPr bwMode="auto">
          <a:xfrm>
            <a:off x="4648200" y="5105400"/>
            <a:ext cx="152400" cy="152400"/>
          </a:xfrm>
          <a:prstGeom prst="diamond">
            <a:avLst/>
          </a:prstGeom>
          <a:solidFill>
            <a:srgbClr val="66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09" name="AutoShape 17"/>
          <p:cNvSpPr>
            <a:spLocks noChangeArrowheads="1"/>
          </p:cNvSpPr>
          <p:nvPr/>
        </p:nvSpPr>
        <p:spPr bwMode="auto">
          <a:xfrm>
            <a:off x="4419600" y="4419600"/>
            <a:ext cx="152400" cy="152400"/>
          </a:xfrm>
          <a:prstGeom prst="diamond">
            <a:avLst/>
          </a:prstGeom>
          <a:solidFill>
            <a:srgbClr val="66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10" name="AutoShape 18"/>
          <p:cNvSpPr>
            <a:spLocks noChangeArrowheads="1"/>
          </p:cNvSpPr>
          <p:nvPr/>
        </p:nvSpPr>
        <p:spPr bwMode="auto">
          <a:xfrm>
            <a:off x="4419600" y="2057400"/>
            <a:ext cx="152400" cy="1524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11" name="AutoShape 19"/>
          <p:cNvSpPr>
            <a:spLocks noChangeArrowheads="1"/>
          </p:cNvSpPr>
          <p:nvPr/>
        </p:nvSpPr>
        <p:spPr bwMode="auto">
          <a:xfrm>
            <a:off x="4419600" y="3581400"/>
            <a:ext cx="152400" cy="152400"/>
          </a:xfrm>
          <a:prstGeom prst="diamond">
            <a:avLst/>
          </a:prstGeom>
          <a:solidFill>
            <a:srgbClr val="66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12" name="AutoShape 20"/>
          <p:cNvSpPr>
            <a:spLocks noChangeArrowheads="1"/>
          </p:cNvSpPr>
          <p:nvPr/>
        </p:nvSpPr>
        <p:spPr bwMode="auto">
          <a:xfrm>
            <a:off x="4419600" y="5105400"/>
            <a:ext cx="152400" cy="152400"/>
          </a:xfrm>
          <a:prstGeom prst="diamond">
            <a:avLst/>
          </a:prstGeom>
          <a:solidFill>
            <a:srgbClr val="66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13" name="AutoShape 21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diamond">
            <a:avLst/>
          </a:prstGeom>
          <a:solidFill>
            <a:srgbClr val="66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14" name="AutoShape 22"/>
          <p:cNvSpPr>
            <a:spLocks noChangeArrowheads="1"/>
          </p:cNvSpPr>
          <p:nvPr/>
        </p:nvSpPr>
        <p:spPr bwMode="auto">
          <a:xfrm>
            <a:off x="6096000" y="3810000"/>
            <a:ext cx="152400" cy="152400"/>
          </a:xfrm>
          <a:prstGeom prst="diamond">
            <a:avLst/>
          </a:prstGeom>
          <a:solidFill>
            <a:srgbClr val="66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15" name="AutoShape 23"/>
          <p:cNvSpPr>
            <a:spLocks noChangeArrowheads="1"/>
          </p:cNvSpPr>
          <p:nvPr/>
        </p:nvSpPr>
        <p:spPr bwMode="auto">
          <a:xfrm>
            <a:off x="8229600" y="1828800"/>
            <a:ext cx="152400" cy="1524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16" name="AutoShape 24"/>
          <p:cNvSpPr>
            <a:spLocks noChangeArrowheads="1"/>
          </p:cNvSpPr>
          <p:nvPr/>
        </p:nvSpPr>
        <p:spPr bwMode="auto">
          <a:xfrm>
            <a:off x="8686800" y="1905000"/>
            <a:ext cx="152400" cy="1524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17" name="AutoShape 25"/>
          <p:cNvSpPr>
            <a:spLocks noChangeArrowheads="1"/>
          </p:cNvSpPr>
          <p:nvPr/>
        </p:nvSpPr>
        <p:spPr bwMode="auto">
          <a:xfrm>
            <a:off x="8534400" y="2057400"/>
            <a:ext cx="152400" cy="1524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18" name="AutoShape 26"/>
          <p:cNvSpPr>
            <a:spLocks noChangeArrowheads="1"/>
          </p:cNvSpPr>
          <p:nvPr/>
        </p:nvSpPr>
        <p:spPr bwMode="auto">
          <a:xfrm>
            <a:off x="8382000" y="2209800"/>
            <a:ext cx="152400" cy="1524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19" name="AutoShape 27"/>
          <p:cNvSpPr>
            <a:spLocks noChangeArrowheads="1"/>
          </p:cNvSpPr>
          <p:nvPr/>
        </p:nvSpPr>
        <p:spPr bwMode="auto">
          <a:xfrm>
            <a:off x="8686800" y="2362200"/>
            <a:ext cx="152400" cy="1524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20" name="AutoShape 28"/>
          <p:cNvSpPr>
            <a:spLocks noChangeArrowheads="1"/>
          </p:cNvSpPr>
          <p:nvPr/>
        </p:nvSpPr>
        <p:spPr bwMode="auto">
          <a:xfrm>
            <a:off x="8991600" y="2743200"/>
            <a:ext cx="152400" cy="1524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21" name="AutoShape 29"/>
          <p:cNvSpPr>
            <a:spLocks noChangeArrowheads="1"/>
          </p:cNvSpPr>
          <p:nvPr/>
        </p:nvSpPr>
        <p:spPr bwMode="auto">
          <a:xfrm>
            <a:off x="7239000" y="1828800"/>
            <a:ext cx="152400" cy="1524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22" name="AutoShape 30"/>
          <p:cNvSpPr>
            <a:spLocks noChangeArrowheads="1"/>
          </p:cNvSpPr>
          <p:nvPr/>
        </p:nvSpPr>
        <p:spPr bwMode="auto">
          <a:xfrm>
            <a:off x="7543800" y="3276600"/>
            <a:ext cx="152400" cy="1524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23" name="AutoShape 31"/>
          <p:cNvSpPr>
            <a:spLocks noChangeArrowheads="1"/>
          </p:cNvSpPr>
          <p:nvPr/>
        </p:nvSpPr>
        <p:spPr bwMode="auto">
          <a:xfrm>
            <a:off x="7543800" y="4800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24" name="AutoShape 32"/>
          <p:cNvSpPr>
            <a:spLocks noChangeArrowheads="1"/>
          </p:cNvSpPr>
          <p:nvPr/>
        </p:nvSpPr>
        <p:spPr bwMode="auto">
          <a:xfrm>
            <a:off x="7924800" y="5105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25" name="AutoShape 33"/>
          <p:cNvSpPr>
            <a:spLocks noChangeArrowheads="1"/>
          </p:cNvSpPr>
          <p:nvPr/>
        </p:nvSpPr>
        <p:spPr bwMode="auto">
          <a:xfrm>
            <a:off x="8305800" y="4343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26" name="AutoShape 34"/>
          <p:cNvSpPr>
            <a:spLocks noChangeArrowheads="1"/>
          </p:cNvSpPr>
          <p:nvPr/>
        </p:nvSpPr>
        <p:spPr bwMode="auto">
          <a:xfrm>
            <a:off x="7467600" y="3733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27" name="AutoShape 35"/>
          <p:cNvSpPr>
            <a:spLocks noChangeArrowheads="1"/>
          </p:cNvSpPr>
          <p:nvPr/>
        </p:nvSpPr>
        <p:spPr bwMode="auto">
          <a:xfrm>
            <a:off x="6705600" y="4191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28" name="AutoShape 36"/>
          <p:cNvSpPr>
            <a:spLocks noChangeArrowheads="1"/>
          </p:cNvSpPr>
          <p:nvPr/>
        </p:nvSpPr>
        <p:spPr bwMode="auto">
          <a:xfrm>
            <a:off x="8686800" y="4648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29" name="AutoShape 37"/>
          <p:cNvSpPr>
            <a:spLocks noChangeArrowheads="1"/>
          </p:cNvSpPr>
          <p:nvPr/>
        </p:nvSpPr>
        <p:spPr bwMode="auto">
          <a:xfrm>
            <a:off x="8534400" y="5029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30" name="AutoShape 38"/>
          <p:cNvSpPr>
            <a:spLocks noChangeArrowheads="1"/>
          </p:cNvSpPr>
          <p:nvPr/>
        </p:nvSpPr>
        <p:spPr bwMode="auto">
          <a:xfrm>
            <a:off x="8382000" y="4038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31" name="AutoShape 39"/>
          <p:cNvSpPr>
            <a:spLocks noChangeArrowheads="1"/>
          </p:cNvSpPr>
          <p:nvPr/>
        </p:nvSpPr>
        <p:spPr bwMode="auto">
          <a:xfrm>
            <a:off x="8991600" y="5257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32" name="AutoShape 40"/>
          <p:cNvSpPr>
            <a:spLocks noChangeArrowheads="1"/>
          </p:cNvSpPr>
          <p:nvPr/>
        </p:nvSpPr>
        <p:spPr bwMode="auto">
          <a:xfrm>
            <a:off x="8153400" y="2590800"/>
            <a:ext cx="152400" cy="1524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33" name="AutoShape 41"/>
          <p:cNvSpPr>
            <a:spLocks noChangeArrowheads="1"/>
          </p:cNvSpPr>
          <p:nvPr/>
        </p:nvSpPr>
        <p:spPr bwMode="auto">
          <a:xfrm>
            <a:off x="4724400" y="46482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34" name="AutoShape 42"/>
          <p:cNvSpPr>
            <a:spLocks noChangeArrowheads="1"/>
          </p:cNvSpPr>
          <p:nvPr/>
        </p:nvSpPr>
        <p:spPr bwMode="auto">
          <a:xfrm>
            <a:off x="4876800" y="4876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35" name="AutoShape 43"/>
          <p:cNvSpPr>
            <a:spLocks noChangeArrowheads="1"/>
          </p:cNvSpPr>
          <p:nvPr/>
        </p:nvSpPr>
        <p:spPr bwMode="auto">
          <a:xfrm>
            <a:off x="46482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36" name="AutoShape 44"/>
          <p:cNvSpPr>
            <a:spLocks noChangeArrowheads="1"/>
          </p:cNvSpPr>
          <p:nvPr/>
        </p:nvSpPr>
        <p:spPr bwMode="auto">
          <a:xfrm>
            <a:off x="4419600" y="44196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37" name="AutoShape 45"/>
          <p:cNvSpPr>
            <a:spLocks noChangeArrowheads="1"/>
          </p:cNvSpPr>
          <p:nvPr/>
        </p:nvSpPr>
        <p:spPr bwMode="auto">
          <a:xfrm>
            <a:off x="4419600" y="20574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38" name="AutoShape 46"/>
          <p:cNvSpPr>
            <a:spLocks noChangeArrowheads="1"/>
          </p:cNvSpPr>
          <p:nvPr/>
        </p:nvSpPr>
        <p:spPr bwMode="auto">
          <a:xfrm>
            <a:off x="4419600" y="3581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39" name="AutoShape 47"/>
          <p:cNvSpPr>
            <a:spLocks noChangeArrowheads="1"/>
          </p:cNvSpPr>
          <p:nvPr/>
        </p:nvSpPr>
        <p:spPr bwMode="auto">
          <a:xfrm>
            <a:off x="44196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40" name="AutoShape 48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41" name="AutoShape 49"/>
          <p:cNvSpPr>
            <a:spLocks noChangeArrowheads="1"/>
          </p:cNvSpPr>
          <p:nvPr/>
        </p:nvSpPr>
        <p:spPr bwMode="auto">
          <a:xfrm>
            <a:off x="6096000" y="38100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42" name="AutoShape 50"/>
          <p:cNvSpPr>
            <a:spLocks noChangeArrowheads="1"/>
          </p:cNvSpPr>
          <p:nvPr/>
        </p:nvSpPr>
        <p:spPr bwMode="auto">
          <a:xfrm>
            <a:off x="82296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43" name="AutoShape 51"/>
          <p:cNvSpPr>
            <a:spLocks noChangeArrowheads="1"/>
          </p:cNvSpPr>
          <p:nvPr/>
        </p:nvSpPr>
        <p:spPr bwMode="auto">
          <a:xfrm>
            <a:off x="8686800" y="19050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44" name="AutoShape 52"/>
          <p:cNvSpPr>
            <a:spLocks noChangeArrowheads="1"/>
          </p:cNvSpPr>
          <p:nvPr/>
        </p:nvSpPr>
        <p:spPr bwMode="auto">
          <a:xfrm>
            <a:off x="8534400" y="20574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45" name="AutoShape 53"/>
          <p:cNvSpPr>
            <a:spLocks noChangeArrowheads="1"/>
          </p:cNvSpPr>
          <p:nvPr/>
        </p:nvSpPr>
        <p:spPr bwMode="auto">
          <a:xfrm>
            <a:off x="8382000" y="2209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46" name="AutoShape 54"/>
          <p:cNvSpPr>
            <a:spLocks noChangeArrowheads="1"/>
          </p:cNvSpPr>
          <p:nvPr/>
        </p:nvSpPr>
        <p:spPr bwMode="auto">
          <a:xfrm>
            <a:off x="8686800" y="2362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47" name="AutoShape 55"/>
          <p:cNvSpPr>
            <a:spLocks noChangeArrowheads="1"/>
          </p:cNvSpPr>
          <p:nvPr/>
        </p:nvSpPr>
        <p:spPr bwMode="auto">
          <a:xfrm>
            <a:off x="8991600" y="2743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48" name="AutoShape 56"/>
          <p:cNvSpPr>
            <a:spLocks noChangeArrowheads="1"/>
          </p:cNvSpPr>
          <p:nvPr/>
        </p:nvSpPr>
        <p:spPr bwMode="auto">
          <a:xfrm>
            <a:off x="72390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49" name="AutoShape 57"/>
          <p:cNvSpPr>
            <a:spLocks noChangeArrowheads="1"/>
          </p:cNvSpPr>
          <p:nvPr/>
        </p:nvSpPr>
        <p:spPr bwMode="auto">
          <a:xfrm>
            <a:off x="7543800" y="32766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50" name="AutoShape 58"/>
          <p:cNvSpPr>
            <a:spLocks noChangeArrowheads="1"/>
          </p:cNvSpPr>
          <p:nvPr/>
        </p:nvSpPr>
        <p:spPr bwMode="auto">
          <a:xfrm>
            <a:off x="7543800" y="4800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51" name="AutoShape 59"/>
          <p:cNvSpPr>
            <a:spLocks noChangeArrowheads="1"/>
          </p:cNvSpPr>
          <p:nvPr/>
        </p:nvSpPr>
        <p:spPr bwMode="auto">
          <a:xfrm>
            <a:off x="7924800" y="5105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52" name="AutoShape 60"/>
          <p:cNvSpPr>
            <a:spLocks noChangeArrowheads="1"/>
          </p:cNvSpPr>
          <p:nvPr/>
        </p:nvSpPr>
        <p:spPr bwMode="auto">
          <a:xfrm>
            <a:off x="8305800" y="4343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53" name="AutoShape 61"/>
          <p:cNvSpPr>
            <a:spLocks noChangeArrowheads="1"/>
          </p:cNvSpPr>
          <p:nvPr/>
        </p:nvSpPr>
        <p:spPr bwMode="auto">
          <a:xfrm>
            <a:off x="7467600" y="3733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54" name="AutoShape 62"/>
          <p:cNvSpPr>
            <a:spLocks noChangeArrowheads="1"/>
          </p:cNvSpPr>
          <p:nvPr/>
        </p:nvSpPr>
        <p:spPr bwMode="auto">
          <a:xfrm>
            <a:off x="6705600" y="4191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55" name="AutoShape 63"/>
          <p:cNvSpPr>
            <a:spLocks noChangeArrowheads="1"/>
          </p:cNvSpPr>
          <p:nvPr/>
        </p:nvSpPr>
        <p:spPr bwMode="auto">
          <a:xfrm>
            <a:off x="8686800" y="4648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56" name="AutoShape 64"/>
          <p:cNvSpPr>
            <a:spLocks noChangeArrowheads="1"/>
          </p:cNvSpPr>
          <p:nvPr/>
        </p:nvSpPr>
        <p:spPr bwMode="auto">
          <a:xfrm>
            <a:off x="8534400" y="5029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57" name="AutoShape 65"/>
          <p:cNvSpPr>
            <a:spLocks noChangeArrowheads="1"/>
          </p:cNvSpPr>
          <p:nvPr/>
        </p:nvSpPr>
        <p:spPr bwMode="auto">
          <a:xfrm>
            <a:off x="8382000" y="4038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58" name="AutoShape 66"/>
          <p:cNvSpPr>
            <a:spLocks noChangeArrowheads="1"/>
          </p:cNvSpPr>
          <p:nvPr/>
        </p:nvSpPr>
        <p:spPr bwMode="auto">
          <a:xfrm>
            <a:off x="8991600" y="5257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59" name="AutoShape 67"/>
          <p:cNvSpPr>
            <a:spLocks noChangeArrowheads="1"/>
          </p:cNvSpPr>
          <p:nvPr/>
        </p:nvSpPr>
        <p:spPr bwMode="auto">
          <a:xfrm>
            <a:off x="8153400" y="2590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6960" name="TextBox 101"/>
          <p:cNvSpPr txBox="1">
            <a:spLocks noChangeArrowheads="1"/>
          </p:cNvSpPr>
          <p:nvPr/>
        </p:nvSpPr>
        <p:spPr bwMode="auto">
          <a:xfrm>
            <a:off x="1524001" y="6488114"/>
            <a:ext cx="4252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295435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5"/>
          <p:cNvSpPr>
            <a:spLocks noChangeArrowheads="1"/>
          </p:cNvSpPr>
          <p:nvPr/>
        </p:nvSpPr>
        <p:spPr bwMode="auto">
          <a:xfrm>
            <a:off x="2646363" y="1198564"/>
            <a:ext cx="6989762" cy="54816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891" name="Rectangle 46"/>
          <p:cNvSpPr>
            <a:spLocks noChangeArrowheads="1"/>
          </p:cNvSpPr>
          <p:nvPr/>
        </p:nvSpPr>
        <p:spPr bwMode="auto">
          <a:xfrm>
            <a:off x="3595688" y="1465263"/>
            <a:ext cx="5867400" cy="40767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892" name="Line 47"/>
          <p:cNvSpPr>
            <a:spLocks noChangeShapeType="1"/>
          </p:cNvSpPr>
          <p:nvPr/>
        </p:nvSpPr>
        <p:spPr bwMode="auto">
          <a:xfrm>
            <a:off x="3595688" y="4724400"/>
            <a:ext cx="58674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893" name="Line 48"/>
          <p:cNvSpPr>
            <a:spLocks noChangeShapeType="1"/>
          </p:cNvSpPr>
          <p:nvPr/>
        </p:nvSpPr>
        <p:spPr bwMode="auto">
          <a:xfrm>
            <a:off x="3595688" y="3908425"/>
            <a:ext cx="58674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894" name="Line 49"/>
          <p:cNvSpPr>
            <a:spLocks noChangeShapeType="1"/>
          </p:cNvSpPr>
          <p:nvPr/>
        </p:nvSpPr>
        <p:spPr bwMode="auto">
          <a:xfrm>
            <a:off x="3595688" y="3098800"/>
            <a:ext cx="58674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895" name="Line 50"/>
          <p:cNvSpPr>
            <a:spLocks noChangeShapeType="1"/>
          </p:cNvSpPr>
          <p:nvPr/>
        </p:nvSpPr>
        <p:spPr bwMode="auto">
          <a:xfrm>
            <a:off x="3595688" y="2281239"/>
            <a:ext cx="58674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896" name="Line 51"/>
          <p:cNvSpPr>
            <a:spLocks noChangeShapeType="1"/>
          </p:cNvSpPr>
          <p:nvPr/>
        </p:nvSpPr>
        <p:spPr bwMode="auto">
          <a:xfrm>
            <a:off x="3595688" y="1465264"/>
            <a:ext cx="58674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897" name="Rectangle 52"/>
          <p:cNvSpPr>
            <a:spLocks noChangeArrowheads="1"/>
          </p:cNvSpPr>
          <p:nvPr/>
        </p:nvSpPr>
        <p:spPr bwMode="auto">
          <a:xfrm>
            <a:off x="3595688" y="1465263"/>
            <a:ext cx="5867400" cy="4076700"/>
          </a:xfrm>
          <a:prstGeom prst="rect">
            <a:avLst/>
          </a:prstGeom>
          <a:noFill/>
          <a:ln w="7938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898" name="Line 53"/>
          <p:cNvSpPr>
            <a:spLocks noChangeShapeType="1"/>
          </p:cNvSpPr>
          <p:nvPr/>
        </p:nvSpPr>
        <p:spPr bwMode="auto">
          <a:xfrm>
            <a:off x="3595689" y="1465263"/>
            <a:ext cx="1587" cy="40767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899" name="Line 54"/>
          <p:cNvSpPr>
            <a:spLocks noChangeShapeType="1"/>
          </p:cNvSpPr>
          <p:nvPr/>
        </p:nvSpPr>
        <p:spPr bwMode="auto">
          <a:xfrm>
            <a:off x="3525838" y="5541964"/>
            <a:ext cx="698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900" name="Line 55"/>
          <p:cNvSpPr>
            <a:spLocks noChangeShapeType="1"/>
          </p:cNvSpPr>
          <p:nvPr/>
        </p:nvSpPr>
        <p:spPr bwMode="auto">
          <a:xfrm>
            <a:off x="3525838" y="4724400"/>
            <a:ext cx="698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901" name="Line 56"/>
          <p:cNvSpPr>
            <a:spLocks noChangeShapeType="1"/>
          </p:cNvSpPr>
          <p:nvPr/>
        </p:nvSpPr>
        <p:spPr bwMode="auto">
          <a:xfrm>
            <a:off x="3525838" y="3908425"/>
            <a:ext cx="698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902" name="Line 57"/>
          <p:cNvSpPr>
            <a:spLocks noChangeShapeType="1"/>
          </p:cNvSpPr>
          <p:nvPr/>
        </p:nvSpPr>
        <p:spPr bwMode="auto">
          <a:xfrm>
            <a:off x="3525838" y="3098800"/>
            <a:ext cx="698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903" name="Line 58"/>
          <p:cNvSpPr>
            <a:spLocks noChangeShapeType="1"/>
          </p:cNvSpPr>
          <p:nvPr/>
        </p:nvSpPr>
        <p:spPr bwMode="auto">
          <a:xfrm>
            <a:off x="3525838" y="2281239"/>
            <a:ext cx="698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904" name="Line 59"/>
          <p:cNvSpPr>
            <a:spLocks noChangeShapeType="1"/>
          </p:cNvSpPr>
          <p:nvPr/>
        </p:nvSpPr>
        <p:spPr bwMode="auto">
          <a:xfrm>
            <a:off x="3525838" y="1465264"/>
            <a:ext cx="698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905" name="Line 60"/>
          <p:cNvSpPr>
            <a:spLocks noChangeShapeType="1"/>
          </p:cNvSpPr>
          <p:nvPr/>
        </p:nvSpPr>
        <p:spPr bwMode="auto">
          <a:xfrm>
            <a:off x="3595688" y="5541964"/>
            <a:ext cx="58674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906" name="Line 61"/>
          <p:cNvSpPr>
            <a:spLocks noChangeShapeType="1"/>
          </p:cNvSpPr>
          <p:nvPr/>
        </p:nvSpPr>
        <p:spPr bwMode="auto">
          <a:xfrm flipV="1">
            <a:off x="3595689" y="5541963"/>
            <a:ext cx="1587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907" name="Line 62"/>
          <p:cNvSpPr>
            <a:spLocks noChangeShapeType="1"/>
          </p:cNvSpPr>
          <p:nvPr/>
        </p:nvSpPr>
        <p:spPr bwMode="auto">
          <a:xfrm flipV="1">
            <a:off x="4767264" y="5541963"/>
            <a:ext cx="1587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908" name="Line 63"/>
          <p:cNvSpPr>
            <a:spLocks noChangeShapeType="1"/>
          </p:cNvSpPr>
          <p:nvPr/>
        </p:nvSpPr>
        <p:spPr bwMode="auto">
          <a:xfrm flipV="1">
            <a:off x="5945189" y="5541963"/>
            <a:ext cx="1587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909" name="Line 64"/>
          <p:cNvSpPr>
            <a:spLocks noChangeShapeType="1"/>
          </p:cNvSpPr>
          <p:nvPr/>
        </p:nvSpPr>
        <p:spPr bwMode="auto">
          <a:xfrm flipV="1">
            <a:off x="7115175" y="5541963"/>
            <a:ext cx="1588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910" name="Line 65"/>
          <p:cNvSpPr>
            <a:spLocks noChangeShapeType="1"/>
          </p:cNvSpPr>
          <p:nvPr/>
        </p:nvSpPr>
        <p:spPr bwMode="auto">
          <a:xfrm flipV="1">
            <a:off x="8293100" y="5541963"/>
            <a:ext cx="1588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911" name="Line 66"/>
          <p:cNvSpPr>
            <a:spLocks noChangeShapeType="1"/>
          </p:cNvSpPr>
          <p:nvPr/>
        </p:nvSpPr>
        <p:spPr bwMode="auto">
          <a:xfrm flipV="1">
            <a:off x="9463089" y="5541963"/>
            <a:ext cx="1587" cy="698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912" name="Freeform 67"/>
          <p:cNvSpPr>
            <a:spLocks/>
          </p:cNvSpPr>
          <p:nvPr/>
        </p:nvSpPr>
        <p:spPr bwMode="auto">
          <a:xfrm>
            <a:off x="4703763" y="4662488"/>
            <a:ext cx="125412" cy="125412"/>
          </a:xfrm>
          <a:custGeom>
            <a:avLst/>
            <a:gdLst>
              <a:gd name="T0" fmla="*/ 63500 w 79"/>
              <a:gd name="T1" fmla="*/ 0 h 79"/>
              <a:gd name="T2" fmla="*/ 125412 w 79"/>
              <a:gd name="T3" fmla="*/ 61912 h 79"/>
              <a:gd name="T4" fmla="*/ 63500 w 79"/>
              <a:gd name="T5" fmla="*/ 125412 h 79"/>
              <a:gd name="T6" fmla="*/ 0 w 79"/>
              <a:gd name="T7" fmla="*/ 61912 h 79"/>
              <a:gd name="T8" fmla="*/ 63500 w 7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9"/>
              <a:gd name="T16" fmla="*/ 0 h 79"/>
              <a:gd name="T17" fmla="*/ 79 w 7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9" h="79">
                <a:moveTo>
                  <a:pt x="40" y="0"/>
                </a:moveTo>
                <a:lnTo>
                  <a:pt x="79" y="39"/>
                </a:lnTo>
                <a:lnTo>
                  <a:pt x="40" y="79"/>
                </a:lnTo>
                <a:lnTo>
                  <a:pt x="0" y="39"/>
                </a:lnTo>
                <a:lnTo>
                  <a:pt x="40" y="0"/>
                </a:lnTo>
                <a:close/>
              </a:path>
            </a:pathLst>
          </a:custGeom>
          <a:solidFill>
            <a:srgbClr val="000080"/>
          </a:solidFill>
          <a:ln w="7938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7913" name="Rectangle 68"/>
          <p:cNvSpPr>
            <a:spLocks noChangeArrowheads="1"/>
          </p:cNvSpPr>
          <p:nvPr/>
        </p:nvSpPr>
        <p:spPr bwMode="auto">
          <a:xfrm>
            <a:off x="3305175" y="541655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0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14" name="Rectangle 69"/>
          <p:cNvSpPr>
            <a:spLocks noChangeArrowheads="1"/>
          </p:cNvSpPr>
          <p:nvPr/>
        </p:nvSpPr>
        <p:spPr bwMode="auto">
          <a:xfrm>
            <a:off x="3305175" y="4598988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1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15" name="Rectangle 70"/>
          <p:cNvSpPr>
            <a:spLocks noChangeArrowheads="1"/>
          </p:cNvSpPr>
          <p:nvPr/>
        </p:nvSpPr>
        <p:spPr bwMode="auto">
          <a:xfrm>
            <a:off x="3305175" y="37830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2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16" name="Rectangle 71"/>
          <p:cNvSpPr>
            <a:spLocks noChangeArrowheads="1"/>
          </p:cNvSpPr>
          <p:nvPr/>
        </p:nvSpPr>
        <p:spPr bwMode="auto">
          <a:xfrm>
            <a:off x="3305175" y="2973388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3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17" name="Rectangle 72"/>
          <p:cNvSpPr>
            <a:spLocks noChangeArrowheads="1"/>
          </p:cNvSpPr>
          <p:nvPr/>
        </p:nvSpPr>
        <p:spPr bwMode="auto">
          <a:xfrm>
            <a:off x="3305175" y="2155825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4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18" name="Rectangle 73"/>
          <p:cNvSpPr>
            <a:spLocks noChangeArrowheads="1"/>
          </p:cNvSpPr>
          <p:nvPr/>
        </p:nvSpPr>
        <p:spPr bwMode="auto">
          <a:xfrm>
            <a:off x="3305175" y="133985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5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19" name="Rectangle 74"/>
          <p:cNvSpPr>
            <a:spLocks noChangeArrowheads="1"/>
          </p:cNvSpPr>
          <p:nvPr/>
        </p:nvSpPr>
        <p:spPr bwMode="auto">
          <a:xfrm>
            <a:off x="3541713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0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20" name="Rectangle 75"/>
          <p:cNvSpPr>
            <a:spLocks noChangeArrowheads="1"/>
          </p:cNvSpPr>
          <p:nvPr/>
        </p:nvSpPr>
        <p:spPr bwMode="auto">
          <a:xfrm>
            <a:off x="4711700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1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21" name="Rectangle 76"/>
          <p:cNvSpPr>
            <a:spLocks noChangeArrowheads="1"/>
          </p:cNvSpPr>
          <p:nvPr/>
        </p:nvSpPr>
        <p:spPr bwMode="auto">
          <a:xfrm>
            <a:off x="5889625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2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22" name="Rectangle 77"/>
          <p:cNvSpPr>
            <a:spLocks noChangeArrowheads="1"/>
          </p:cNvSpPr>
          <p:nvPr/>
        </p:nvSpPr>
        <p:spPr bwMode="auto">
          <a:xfrm>
            <a:off x="7059613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3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23" name="Rectangle 78"/>
          <p:cNvSpPr>
            <a:spLocks noChangeArrowheads="1"/>
          </p:cNvSpPr>
          <p:nvPr/>
        </p:nvSpPr>
        <p:spPr bwMode="auto">
          <a:xfrm>
            <a:off x="8239125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4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24" name="Rectangle 79"/>
          <p:cNvSpPr>
            <a:spLocks noChangeArrowheads="1"/>
          </p:cNvSpPr>
          <p:nvPr/>
        </p:nvSpPr>
        <p:spPr bwMode="auto">
          <a:xfrm>
            <a:off x="9409113" y="57388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700">
                <a:solidFill>
                  <a:srgbClr val="000000"/>
                </a:solidFill>
              </a:rPr>
              <a:t>5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>
                <a:effectLst>
                  <a:outerShdw blurRad="38100" dist="38100" dir="2700000" algn="tl">
                    <a:srgbClr val="DDDDDD"/>
                  </a:outerShdw>
                </a:effectLst>
              </a:rPr>
              <a:t>K-means Clustering: Step 4</a:t>
            </a:r>
          </a:p>
        </p:txBody>
      </p:sp>
      <p:sp>
        <p:nvSpPr>
          <p:cNvPr id="37926" name="Text Box 4"/>
          <p:cNvSpPr txBox="1">
            <a:spLocks noChangeArrowheads="1"/>
          </p:cNvSpPr>
          <p:nvPr/>
        </p:nvSpPr>
        <p:spPr bwMode="auto">
          <a:xfrm>
            <a:off x="2503488" y="838201"/>
            <a:ext cx="79383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Algorithm: k-means, Distance Metric: Euclidean Distance</a:t>
            </a:r>
          </a:p>
        </p:txBody>
      </p:sp>
      <p:grpSp>
        <p:nvGrpSpPr>
          <p:cNvPr id="37927" name="Group 5"/>
          <p:cNvGrpSpPr>
            <a:grpSpLocks/>
          </p:cNvGrpSpPr>
          <p:nvPr/>
        </p:nvGrpSpPr>
        <p:grpSpPr bwMode="auto">
          <a:xfrm>
            <a:off x="7696200" y="2133600"/>
            <a:ext cx="685800" cy="533400"/>
            <a:chOff x="192" y="1824"/>
            <a:chExt cx="432" cy="336"/>
          </a:xfrm>
        </p:grpSpPr>
        <p:sp>
          <p:nvSpPr>
            <p:cNvPr id="37966" name="Oval 6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7967" name="Text Box 7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prstClr val="black"/>
                  </a:solidFill>
                </a:rPr>
                <a:t>k</a:t>
              </a:r>
              <a:r>
                <a:rPr lang="en-US" altLang="en-US" baseline="-25000">
                  <a:solidFill>
                    <a:prstClr val="black"/>
                  </a:solidFill>
                </a:rPr>
                <a:t>1</a:t>
              </a:r>
            </a:p>
          </p:txBody>
        </p:sp>
      </p:grpSp>
      <p:grpSp>
        <p:nvGrpSpPr>
          <p:cNvPr id="37928" name="Group 8"/>
          <p:cNvGrpSpPr>
            <a:grpSpLocks/>
          </p:cNvGrpSpPr>
          <p:nvPr/>
        </p:nvGrpSpPr>
        <p:grpSpPr bwMode="auto">
          <a:xfrm>
            <a:off x="4648200" y="4343400"/>
            <a:ext cx="685800" cy="533400"/>
            <a:chOff x="192" y="1824"/>
            <a:chExt cx="432" cy="336"/>
          </a:xfrm>
        </p:grpSpPr>
        <p:sp>
          <p:nvSpPr>
            <p:cNvPr id="37964" name="Oval 9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7965" name="Text Box 10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prstClr val="black"/>
                  </a:solidFill>
                </a:rPr>
                <a:t>k</a:t>
              </a:r>
              <a:r>
                <a:rPr lang="en-US" altLang="en-US" baseline="-25000">
                  <a:solidFill>
                    <a:prstClr val="black"/>
                  </a:solidFill>
                </a:rPr>
                <a:t>2</a:t>
              </a:r>
            </a:p>
          </p:txBody>
        </p:sp>
      </p:grpSp>
      <p:grpSp>
        <p:nvGrpSpPr>
          <p:cNvPr id="37929" name="Group 11"/>
          <p:cNvGrpSpPr>
            <a:grpSpLocks/>
          </p:cNvGrpSpPr>
          <p:nvPr/>
        </p:nvGrpSpPr>
        <p:grpSpPr bwMode="auto">
          <a:xfrm>
            <a:off x="7772400" y="4038600"/>
            <a:ext cx="685800" cy="533400"/>
            <a:chOff x="192" y="1824"/>
            <a:chExt cx="432" cy="336"/>
          </a:xfrm>
        </p:grpSpPr>
        <p:sp>
          <p:nvSpPr>
            <p:cNvPr id="37962" name="Oval 12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7963" name="Text Box 13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prstClr val="black"/>
                  </a:solidFill>
                </a:rPr>
                <a:t>k</a:t>
              </a:r>
              <a:r>
                <a:rPr lang="en-US" altLang="en-US" baseline="-25000">
                  <a:solidFill>
                    <a:prstClr val="black"/>
                  </a:solidFill>
                </a:rPr>
                <a:t>3</a:t>
              </a:r>
            </a:p>
          </p:txBody>
        </p:sp>
      </p:grpSp>
      <p:sp>
        <p:nvSpPr>
          <p:cNvPr id="37930" name="AutoShape 14"/>
          <p:cNvSpPr>
            <a:spLocks noChangeArrowheads="1"/>
          </p:cNvSpPr>
          <p:nvPr/>
        </p:nvSpPr>
        <p:spPr bwMode="auto">
          <a:xfrm>
            <a:off x="4724400" y="46482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31" name="AutoShape 15"/>
          <p:cNvSpPr>
            <a:spLocks noChangeArrowheads="1"/>
          </p:cNvSpPr>
          <p:nvPr/>
        </p:nvSpPr>
        <p:spPr bwMode="auto">
          <a:xfrm>
            <a:off x="4876800" y="4876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32" name="AutoShape 16"/>
          <p:cNvSpPr>
            <a:spLocks noChangeArrowheads="1"/>
          </p:cNvSpPr>
          <p:nvPr/>
        </p:nvSpPr>
        <p:spPr bwMode="auto">
          <a:xfrm>
            <a:off x="46482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33" name="AutoShape 17"/>
          <p:cNvSpPr>
            <a:spLocks noChangeArrowheads="1"/>
          </p:cNvSpPr>
          <p:nvPr/>
        </p:nvSpPr>
        <p:spPr bwMode="auto">
          <a:xfrm>
            <a:off x="4419600" y="44196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34" name="AutoShape 18"/>
          <p:cNvSpPr>
            <a:spLocks noChangeArrowheads="1"/>
          </p:cNvSpPr>
          <p:nvPr/>
        </p:nvSpPr>
        <p:spPr bwMode="auto">
          <a:xfrm>
            <a:off x="4419600" y="2057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35" name="AutoShape 19"/>
          <p:cNvSpPr>
            <a:spLocks noChangeArrowheads="1"/>
          </p:cNvSpPr>
          <p:nvPr/>
        </p:nvSpPr>
        <p:spPr bwMode="auto">
          <a:xfrm>
            <a:off x="4419600" y="3581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36" name="AutoShape 20"/>
          <p:cNvSpPr>
            <a:spLocks noChangeArrowheads="1"/>
          </p:cNvSpPr>
          <p:nvPr/>
        </p:nvSpPr>
        <p:spPr bwMode="auto">
          <a:xfrm>
            <a:off x="44196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37" name="AutoShape 21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38" name="AutoShape 22"/>
          <p:cNvSpPr>
            <a:spLocks noChangeArrowheads="1"/>
          </p:cNvSpPr>
          <p:nvPr/>
        </p:nvSpPr>
        <p:spPr bwMode="auto">
          <a:xfrm>
            <a:off x="6096000" y="3810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39" name="AutoShape 23"/>
          <p:cNvSpPr>
            <a:spLocks noChangeArrowheads="1"/>
          </p:cNvSpPr>
          <p:nvPr/>
        </p:nvSpPr>
        <p:spPr bwMode="auto">
          <a:xfrm>
            <a:off x="82296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40" name="AutoShape 24"/>
          <p:cNvSpPr>
            <a:spLocks noChangeArrowheads="1"/>
          </p:cNvSpPr>
          <p:nvPr/>
        </p:nvSpPr>
        <p:spPr bwMode="auto">
          <a:xfrm>
            <a:off x="8686800" y="19050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41" name="AutoShape 25"/>
          <p:cNvSpPr>
            <a:spLocks noChangeArrowheads="1"/>
          </p:cNvSpPr>
          <p:nvPr/>
        </p:nvSpPr>
        <p:spPr bwMode="auto">
          <a:xfrm>
            <a:off x="8534400" y="20574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42" name="AutoShape 26"/>
          <p:cNvSpPr>
            <a:spLocks noChangeArrowheads="1"/>
          </p:cNvSpPr>
          <p:nvPr/>
        </p:nvSpPr>
        <p:spPr bwMode="auto">
          <a:xfrm>
            <a:off x="8382000" y="2209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43" name="AutoShape 27"/>
          <p:cNvSpPr>
            <a:spLocks noChangeArrowheads="1"/>
          </p:cNvSpPr>
          <p:nvPr/>
        </p:nvSpPr>
        <p:spPr bwMode="auto">
          <a:xfrm>
            <a:off x="8686800" y="2362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44" name="AutoShape 28"/>
          <p:cNvSpPr>
            <a:spLocks noChangeArrowheads="1"/>
          </p:cNvSpPr>
          <p:nvPr/>
        </p:nvSpPr>
        <p:spPr bwMode="auto">
          <a:xfrm>
            <a:off x="8991600" y="2743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45" name="AutoShape 29"/>
          <p:cNvSpPr>
            <a:spLocks noChangeArrowheads="1"/>
          </p:cNvSpPr>
          <p:nvPr/>
        </p:nvSpPr>
        <p:spPr bwMode="auto">
          <a:xfrm>
            <a:off x="72390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46" name="AutoShape 30"/>
          <p:cNvSpPr>
            <a:spLocks noChangeArrowheads="1"/>
          </p:cNvSpPr>
          <p:nvPr/>
        </p:nvSpPr>
        <p:spPr bwMode="auto">
          <a:xfrm>
            <a:off x="7543800" y="3276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47" name="AutoShape 31"/>
          <p:cNvSpPr>
            <a:spLocks noChangeArrowheads="1"/>
          </p:cNvSpPr>
          <p:nvPr/>
        </p:nvSpPr>
        <p:spPr bwMode="auto">
          <a:xfrm>
            <a:off x="7543800" y="4800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48" name="AutoShape 32"/>
          <p:cNvSpPr>
            <a:spLocks noChangeArrowheads="1"/>
          </p:cNvSpPr>
          <p:nvPr/>
        </p:nvSpPr>
        <p:spPr bwMode="auto">
          <a:xfrm>
            <a:off x="7924800" y="5105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49" name="AutoShape 33"/>
          <p:cNvSpPr>
            <a:spLocks noChangeArrowheads="1"/>
          </p:cNvSpPr>
          <p:nvPr/>
        </p:nvSpPr>
        <p:spPr bwMode="auto">
          <a:xfrm>
            <a:off x="8305800" y="4343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50" name="AutoShape 34"/>
          <p:cNvSpPr>
            <a:spLocks noChangeArrowheads="1"/>
          </p:cNvSpPr>
          <p:nvPr/>
        </p:nvSpPr>
        <p:spPr bwMode="auto">
          <a:xfrm>
            <a:off x="7467600" y="3733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51" name="AutoShape 35"/>
          <p:cNvSpPr>
            <a:spLocks noChangeArrowheads="1"/>
          </p:cNvSpPr>
          <p:nvPr/>
        </p:nvSpPr>
        <p:spPr bwMode="auto">
          <a:xfrm>
            <a:off x="6705600" y="4191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52" name="AutoShape 36"/>
          <p:cNvSpPr>
            <a:spLocks noChangeArrowheads="1"/>
          </p:cNvSpPr>
          <p:nvPr/>
        </p:nvSpPr>
        <p:spPr bwMode="auto">
          <a:xfrm>
            <a:off x="8686800" y="4648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53" name="AutoShape 37"/>
          <p:cNvSpPr>
            <a:spLocks noChangeArrowheads="1"/>
          </p:cNvSpPr>
          <p:nvPr/>
        </p:nvSpPr>
        <p:spPr bwMode="auto">
          <a:xfrm>
            <a:off x="8534400" y="5029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54" name="AutoShape 38"/>
          <p:cNvSpPr>
            <a:spLocks noChangeArrowheads="1"/>
          </p:cNvSpPr>
          <p:nvPr/>
        </p:nvSpPr>
        <p:spPr bwMode="auto">
          <a:xfrm>
            <a:off x="8382000" y="4038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55" name="AutoShape 39"/>
          <p:cNvSpPr>
            <a:spLocks noChangeArrowheads="1"/>
          </p:cNvSpPr>
          <p:nvPr/>
        </p:nvSpPr>
        <p:spPr bwMode="auto">
          <a:xfrm>
            <a:off x="8991600" y="5257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956" name="AutoShape 40"/>
          <p:cNvSpPr>
            <a:spLocks noChangeArrowheads="1"/>
          </p:cNvSpPr>
          <p:nvPr/>
        </p:nvSpPr>
        <p:spPr bwMode="auto">
          <a:xfrm>
            <a:off x="8153400" y="2590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grpSp>
        <p:nvGrpSpPr>
          <p:cNvPr id="5" name="Group 41"/>
          <p:cNvGrpSpPr>
            <a:grpSpLocks/>
          </p:cNvGrpSpPr>
          <p:nvPr/>
        </p:nvGrpSpPr>
        <p:grpSpPr bwMode="auto">
          <a:xfrm>
            <a:off x="4343400" y="2209800"/>
            <a:ext cx="3962400" cy="2514600"/>
            <a:chOff x="1776" y="1392"/>
            <a:chExt cx="2496" cy="1584"/>
          </a:xfrm>
        </p:grpSpPr>
        <p:sp>
          <p:nvSpPr>
            <p:cNvPr id="37959" name="Line 42"/>
            <p:cNvSpPr>
              <a:spLocks noChangeShapeType="1"/>
            </p:cNvSpPr>
            <p:nvPr/>
          </p:nvSpPr>
          <p:spPr bwMode="auto">
            <a:xfrm flipH="1" flipV="1">
              <a:off x="1776" y="2592"/>
              <a:ext cx="192" cy="14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7960" name="Line 43"/>
            <p:cNvSpPr>
              <a:spLocks noChangeShapeType="1"/>
            </p:cNvSpPr>
            <p:nvPr/>
          </p:nvSpPr>
          <p:spPr bwMode="auto">
            <a:xfrm flipH="1">
              <a:off x="3840" y="2736"/>
              <a:ext cx="96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7961" name="Line 44"/>
            <p:cNvSpPr>
              <a:spLocks noChangeShapeType="1"/>
            </p:cNvSpPr>
            <p:nvPr/>
          </p:nvSpPr>
          <p:spPr bwMode="auto">
            <a:xfrm>
              <a:off x="4080" y="1392"/>
              <a:ext cx="19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37958" name="TextBox 78"/>
          <p:cNvSpPr txBox="1">
            <a:spLocks noChangeArrowheads="1"/>
          </p:cNvSpPr>
          <p:nvPr/>
        </p:nvSpPr>
        <p:spPr bwMode="auto">
          <a:xfrm>
            <a:off x="1524001" y="6488114"/>
            <a:ext cx="4252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404749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2"/>
          <p:cNvGraphicFramePr>
            <a:graphicFrameLocks noChangeAspect="1"/>
          </p:cNvGraphicFramePr>
          <p:nvPr/>
        </p:nvGraphicFramePr>
        <p:xfrm>
          <a:off x="2590800" y="1143001"/>
          <a:ext cx="7100888" cy="558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Chart" r:id="rId3" imgW="6888861" imgH="5418011" progId="Excel.Chart.8">
                  <p:embed/>
                </p:oleObj>
              </mc:Choice>
              <mc:Fallback>
                <p:oleObj name="Chart" r:id="rId3" imgW="6888861" imgH="541801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143001"/>
                        <a:ext cx="7100888" cy="558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1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>
                <a:effectLst>
                  <a:outerShdw blurRad="38100" dist="38100" dir="2700000" algn="tl">
                    <a:srgbClr val="DDDDDD"/>
                  </a:outerShdw>
                </a:effectLst>
              </a:rPr>
              <a:t>K-means Clustering: Step 5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2503488" y="838201"/>
            <a:ext cx="79383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Algorithm: k-means, Distance Metric: Euclidean Distance</a:t>
            </a:r>
          </a:p>
        </p:txBody>
      </p:sp>
      <p:grpSp>
        <p:nvGrpSpPr>
          <p:cNvPr id="38917" name="Group 5"/>
          <p:cNvGrpSpPr>
            <a:grpSpLocks/>
          </p:cNvGrpSpPr>
          <p:nvPr/>
        </p:nvGrpSpPr>
        <p:grpSpPr bwMode="auto">
          <a:xfrm>
            <a:off x="8077200" y="2133600"/>
            <a:ext cx="685800" cy="533400"/>
            <a:chOff x="192" y="1824"/>
            <a:chExt cx="432" cy="336"/>
          </a:xfrm>
        </p:grpSpPr>
        <p:sp>
          <p:nvSpPr>
            <p:cNvPr id="38952" name="Oval 6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8953" name="Text Box 7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prstClr val="black"/>
                  </a:solidFill>
                </a:rPr>
                <a:t>k</a:t>
              </a:r>
              <a:r>
                <a:rPr lang="en-US" altLang="en-US" baseline="-25000">
                  <a:solidFill>
                    <a:prstClr val="black"/>
                  </a:solidFill>
                </a:rPr>
                <a:t>1</a:t>
              </a:r>
            </a:p>
          </p:txBody>
        </p:sp>
      </p:grpSp>
      <p:grpSp>
        <p:nvGrpSpPr>
          <p:cNvPr id="38918" name="Group 8"/>
          <p:cNvGrpSpPr>
            <a:grpSpLocks/>
          </p:cNvGrpSpPr>
          <p:nvPr/>
        </p:nvGrpSpPr>
        <p:grpSpPr bwMode="auto">
          <a:xfrm>
            <a:off x="4267200" y="4038600"/>
            <a:ext cx="685800" cy="533400"/>
            <a:chOff x="192" y="1824"/>
            <a:chExt cx="432" cy="336"/>
          </a:xfrm>
        </p:grpSpPr>
        <p:sp>
          <p:nvSpPr>
            <p:cNvPr id="38950" name="Oval 9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8951" name="Text Box 10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prstClr val="black"/>
                  </a:solidFill>
                </a:rPr>
                <a:t>k</a:t>
              </a:r>
              <a:r>
                <a:rPr lang="en-US" altLang="en-US" baseline="-25000">
                  <a:solidFill>
                    <a:prstClr val="black"/>
                  </a:solidFill>
                </a:rPr>
                <a:t>2</a:t>
              </a:r>
            </a:p>
          </p:txBody>
        </p:sp>
      </p:grpSp>
      <p:grpSp>
        <p:nvGrpSpPr>
          <p:cNvPr id="38919" name="Group 11"/>
          <p:cNvGrpSpPr>
            <a:grpSpLocks/>
          </p:cNvGrpSpPr>
          <p:nvPr/>
        </p:nvGrpSpPr>
        <p:grpSpPr bwMode="auto">
          <a:xfrm>
            <a:off x="7696200" y="4267200"/>
            <a:ext cx="685800" cy="533400"/>
            <a:chOff x="192" y="1824"/>
            <a:chExt cx="432" cy="336"/>
          </a:xfrm>
        </p:grpSpPr>
        <p:sp>
          <p:nvSpPr>
            <p:cNvPr id="38948" name="Oval 12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38949" name="Text Box 13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prstClr val="black"/>
                  </a:solidFill>
                </a:rPr>
                <a:t>k</a:t>
              </a:r>
              <a:r>
                <a:rPr lang="en-US" altLang="en-US" baseline="-25000">
                  <a:solidFill>
                    <a:prstClr val="black"/>
                  </a:solidFill>
                </a:rPr>
                <a:t>3</a:t>
              </a:r>
            </a:p>
          </p:txBody>
        </p:sp>
      </p:grpSp>
      <p:sp>
        <p:nvSpPr>
          <p:cNvPr id="38920" name="AutoShape 14"/>
          <p:cNvSpPr>
            <a:spLocks noChangeArrowheads="1"/>
          </p:cNvSpPr>
          <p:nvPr/>
        </p:nvSpPr>
        <p:spPr bwMode="auto">
          <a:xfrm>
            <a:off x="4724400" y="46482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21" name="AutoShape 15"/>
          <p:cNvSpPr>
            <a:spLocks noChangeArrowheads="1"/>
          </p:cNvSpPr>
          <p:nvPr/>
        </p:nvSpPr>
        <p:spPr bwMode="auto">
          <a:xfrm>
            <a:off x="4876800" y="4876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22" name="AutoShape 16"/>
          <p:cNvSpPr>
            <a:spLocks noChangeArrowheads="1"/>
          </p:cNvSpPr>
          <p:nvPr/>
        </p:nvSpPr>
        <p:spPr bwMode="auto">
          <a:xfrm>
            <a:off x="46482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23" name="AutoShape 17"/>
          <p:cNvSpPr>
            <a:spLocks noChangeArrowheads="1"/>
          </p:cNvSpPr>
          <p:nvPr/>
        </p:nvSpPr>
        <p:spPr bwMode="auto">
          <a:xfrm>
            <a:off x="4419600" y="44196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24" name="AutoShape 18"/>
          <p:cNvSpPr>
            <a:spLocks noChangeArrowheads="1"/>
          </p:cNvSpPr>
          <p:nvPr/>
        </p:nvSpPr>
        <p:spPr bwMode="auto">
          <a:xfrm>
            <a:off x="4419600" y="2057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25" name="AutoShape 19"/>
          <p:cNvSpPr>
            <a:spLocks noChangeArrowheads="1"/>
          </p:cNvSpPr>
          <p:nvPr/>
        </p:nvSpPr>
        <p:spPr bwMode="auto">
          <a:xfrm>
            <a:off x="4419600" y="3581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26" name="AutoShape 20"/>
          <p:cNvSpPr>
            <a:spLocks noChangeArrowheads="1"/>
          </p:cNvSpPr>
          <p:nvPr/>
        </p:nvSpPr>
        <p:spPr bwMode="auto">
          <a:xfrm>
            <a:off x="4419600" y="51054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27" name="AutoShape 21"/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28" name="AutoShape 22"/>
          <p:cNvSpPr>
            <a:spLocks noChangeArrowheads="1"/>
          </p:cNvSpPr>
          <p:nvPr/>
        </p:nvSpPr>
        <p:spPr bwMode="auto">
          <a:xfrm>
            <a:off x="6096000" y="3810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29" name="AutoShape 23"/>
          <p:cNvSpPr>
            <a:spLocks noChangeArrowheads="1"/>
          </p:cNvSpPr>
          <p:nvPr/>
        </p:nvSpPr>
        <p:spPr bwMode="auto">
          <a:xfrm>
            <a:off x="82296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30" name="AutoShape 24"/>
          <p:cNvSpPr>
            <a:spLocks noChangeArrowheads="1"/>
          </p:cNvSpPr>
          <p:nvPr/>
        </p:nvSpPr>
        <p:spPr bwMode="auto">
          <a:xfrm>
            <a:off x="8686800" y="19050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31" name="AutoShape 25"/>
          <p:cNvSpPr>
            <a:spLocks noChangeArrowheads="1"/>
          </p:cNvSpPr>
          <p:nvPr/>
        </p:nvSpPr>
        <p:spPr bwMode="auto">
          <a:xfrm>
            <a:off x="8534400" y="20574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32" name="AutoShape 26"/>
          <p:cNvSpPr>
            <a:spLocks noChangeArrowheads="1"/>
          </p:cNvSpPr>
          <p:nvPr/>
        </p:nvSpPr>
        <p:spPr bwMode="auto">
          <a:xfrm>
            <a:off x="8382000" y="2209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33" name="AutoShape 27"/>
          <p:cNvSpPr>
            <a:spLocks noChangeArrowheads="1"/>
          </p:cNvSpPr>
          <p:nvPr/>
        </p:nvSpPr>
        <p:spPr bwMode="auto">
          <a:xfrm>
            <a:off x="8686800" y="2362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34" name="AutoShape 28"/>
          <p:cNvSpPr>
            <a:spLocks noChangeArrowheads="1"/>
          </p:cNvSpPr>
          <p:nvPr/>
        </p:nvSpPr>
        <p:spPr bwMode="auto">
          <a:xfrm>
            <a:off x="8991600" y="27432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35" name="AutoShape 29"/>
          <p:cNvSpPr>
            <a:spLocks noChangeArrowheads="1"/>
          </p:cNvSpPr>
          <p:nvPr/>
        </p:nvSpPr>
        <p:spPr bwMode="auto">
          <a:xfrm>
            <a:off x="7239000" y="1828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36" name="AutoShape 30"/>
          <p:cNvSpPr>
            <a:spLocks noChangeArrowheads="1"/>
          </p:cNvSpPr>
          <p:nvPr/>
        </p:nvSpPr>
        <p:spPr bwMode="auto">
          <a:xfrm>
            <a:off x="7543800" y="3276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37" name="AutoShape 31"/>
          <p:cNvSpPr>
            <a:spLocks noChangeArrowheads="1"/>
          </p:cNvSpPr>
          <p:nvPr/>
        </p:nvSpPr>
        <p:spPr bwMode="auto">
          <a:xfrm>
            <a:off x="7543800" y="4800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38" name="AutoShape 32"/>
          <p:cNvSpPr>
            <a:spLocks noChangeArrowheads="1"/>
          </p:cNvSpPr>
          <p:nvPr/>
        </p:nvSpPr>
        <p:spPr bwMode="auto">
          <a:xfrm>
            <a:off x="7924800" y="5105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39" name="AutoShape 33"/>
          <p:cNvSpPr>
            <a:spLocks noChangeArrowheads="1"/>
          </p:cNvSpPr>
          <p:nvPr/>
        </p:nvSpPr>
        <p:spPr bwMode="auto">
          <a:xfrm>
            <a:off x="8305800" y="43434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40" name="AutoShape 34"/>
          <p:cNvSpPr>
            <a:spLocks noChangeArrowheads="1"/>
          </p:cNvSpPr>
          <p:nvPr/>
        </p:nvSpPr>
        <p:spPr bwMode="auto">
          <a:xfrm>
            <a:off x="7467600" y="3733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41" name="AutoShape 35"/>
          <p:cNvSpPr>
            <a:spLocks noChangeArrowheads="1"/>
          </p:cNvSpPr>
          <p:nvPr/>
        </p:nvSpPr>
        <p:spPr bwMode="auto">
          <a:xfrm>
            <a:off x="6705600" y="41910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42" name="AutoShape 36"/>
          <p:cNvSpPr>
            <a:spLocks noChangeArrowheads="1"/>
          </p:cNvSpPr>
          <p:nvPr/>
        </p:nvSpPr>
        <p:spPr bwMode="auto">
          <a:xfrm>
            <a:off x="8686800" y="4648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43" name="AutoShape 37"/>
          <p:cNvSpPr>
            <a:spLocks noChangeArrowheads="1"/>
          </p:cNvSpPr>
          <p:nvPr/>
        </p:nvSpPr>
        <p:spPr bwMode="auto">
          <a:xfrm>
            <a:off x="8534400" y="50292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44" name="AutoShape 38"/>
          <p:cNvSpPr>
            <a:spLocks noChangeArrowheads="1"/>
          </p:cNvSpPr>
          <p:nvPr/>
        </p:nvSpPr>
        <p:spPr bwMode="auto">
          <a:xfrm>
            <a:off x="8382000" y="40386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45" name="AutoShape 39"/>
          <p:cNvSpPr>
            <a:spLocks noChangeArrowheads="1"/>
          </p:cNvSpPr>
          <p:nvPr/>
        </p:nvSpPr>
        <p:spPr bwMode="auto">
          <a:xfrm>
            <a:off x="8991600" y="5257800"/>
            <a:ext cx="152400" cy="1524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46" name="AutoShape 40"/>
          <p:cNvSpPr>
            <a:spLocks noChangeArrowheads="1"/>
          </p:cNvSpPr>
          <p:nvPr/>
        </p:nvSpPr>
        <p:spPr bwMode="auto">
          <a:xfrm>
            <a:off x="8153400" y="2590800"/>
            <a:ext cx="152400" cy="1524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47" name="TextBox 40"/>
          <p:cNvSpPr txBox="1">
            <a:spLocks noChangeArrowheads="1"/>
          </p:cNvSpPr>
          <p:nvPr/>
        </p:nvSpPr>
        <p:spPr bwMode="auto">
          <a:xfrm>
            <a:off x="1524001" y="6488114"/>
            <a:ext cx="4252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168386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pPr eaLnBrk="1" hangingPunct="1"/>
            <a:r>
              <a:rPr lang="en-US" altLang="en-US" sz="2800"/>
              <a:t>Two different K-means Clustering</a:t>
            </a:r>
          </a:p>
        </p:txBody>
      </p:sp>
      <p:pic>
        <p:nvPicPr>
          <p:cNvPr id="146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4" y="990601"/>
            <a:ext cx="3043237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6436" name="Text Box 4"/>
          <p:cNvSpPr txBox="1">
            <a:spLocks noChangeArrowheads="1"/>
          </p:cNvSpPr>
          <p:nvPr/>
        </p:nvSpPr>
        <p:spPr bwMode="auto">
          <a:xfrm>
            <a:off x="2133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altLang="en-US" sz="1400" b="1">
              <a:solidFill>
                <a:srgbClr val="000000"/>
              </a:solidFill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629400" y="3660776"/>
            <a:ext cx="3048000" cy="2587625"/>
            <a:chOff x="3216" y="2306"/>
            <a:chExt cx="1920" cy="1630"/>
          </a:xfrm>
        </p:grpSpPr>
        <p:pic>
          <p:nvPicPr>
            <p:cNvPr id="146442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2306"/>
              <a:ext cx="1917" cy="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6443" name="Text Box 7"/>
            <p:cNvSpPr txBox="1">
              <a:spLocks noChangeArrowheads="1"/>
            </p:cNvSpPr>
            <p:nvPr/>
          </p:nvSpPr>
          <p:spPr bwMode="auto">
            <a:xfrm>
              <a:off x="3408" y="3705"/>
              <a:ext cx="17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Sub-optimal Clustering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514600" y="3660776"/>
            <a:ext cx="3043238" cy="2587625"/>
            <a:chOff x="624" y="2306"/>
            <a:chExt cx="1917" cy="1630"/>
          </a:xfrm>
        </p:grpSpPr>
        <p:pic>
          <p:nvPicPr>
            <p:cNvPr id="146440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2306"/>
              <a:ext cx="1917" cy="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6441" name="Text Box 10"/>
            <p:cNvSpPr txBox="1">
              <a:spLocks noChangeArrowheads="1"/>
            </p:cNvSpPr>
            <p:nvPr/>
          </p:nvSpPr>
          <p:spPr bwMode="auto">
            <a:xfrm>
              <a:off x="912" y="3705"/>
              <a:ext cx="14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b="1">
                  <a:solidFill>
                    <a:srgbClr val="000000"/>
                  </a:solidFill>
                </a:rPr>
                <a:t>Optimal Clustering</a:t>
              </a:r>
            </a:p>
          </p:txBody>
        </p:sp>
      </p:grpSp>
      <p:sp>
        <p:nvSpPr>
          <p:cNvPr id="146439" name="Text Box 11"/>
          <p:cNvSpPr txBox="1">
            <a:spLocks noChangeArrowheads="1"/>
          </p:cNvSpPr>
          <p:nvPr/>
        </p:nvSpPr>
        <p:spPr bwMode="auto">
          <a:xfrm>
            <a:off x="7467600" y="1447801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b="1">
                <a:solidFill>
                  <a:srgbClr val="000000"/>
                </a:solidFill>
              </a:rPr>
              <a:t>Original Points</a:t>
            </a:r>
          </a:p>
        </p:txBody>
      </p:sp>
    </p:spTree>
    <p:extLst>
      <p:ext uri="{BB962C8B-B14F-4D97-AF65-F5344CB8AC3E}">
        <p14:creationId xmlns:p14="http://schemas.microsoft.com/office/powerpoint/2010/main" val="356397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pPr eaLnBrk="1" hangingPunct="1"/>
            <a:r>
              <a:rPr lang="en-US" altLang="en-US" sz="2800"/>
              <a:t>Importance of Choosing Initial Centroids</a:t>
            </a:r>
          </a:p>
        </p:txBody>
      </p:sp>
      <p:sp>
        <p:nvSpPr>
          <p:cNvPr id="147459" name="Text Box 3"/>
          <p:cNvSpPr txBox="1">
            <a:spLocks noChangeArrowheads="1"/>
          </p:cNvSpPr>
          <p:nvPr/>
        </p:nvSpPr>
        <p:spPr bwMode="auto">
          <a:xfrm>
            <a:off x="2133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altLang="en-US" sz="1400" b="1">
              <a:solidFill>
                <a:srgbClr val="000000"/>
              </a:solidFill>
            </a:endParaRPr>
          </a:p>
        </p:txBody>
      </p:sp>
      <p:pic>
        <p:nvPicPr>
          <p:cNvPr id="147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6" y="1354139"/>
            <a:ext cx="5529263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953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6" y="1354139"/>
            <a:ext cx="5529263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9539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6" y="1354139"/>
            <a:ext cx="5529263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9539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6" y="1354139"/>
            <a:ext cx="5529263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9540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6" y="1354139"/>
            <a:ext cx="5529263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9540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6" y="1354139"/>
            <a:ext cx="5529263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473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pPr eaLnBrk="1" hangingPunct="1"/>
            <a:r>
              <a:rPr lang="en-US" altLang="en-US" sz="2800"/>
              <a:t>Importance of Choosing Initial Centroids</a:t>
            </a:r>
          </a:p>
        </p:txBody>
      </p:sp>
      <p:sp>
        <p:nvSpPr>
          <p:cNvPr id="148483" name="Text Box 3"/>
          <p:cNvSpPr txBox="1">
            <a:spLocks noChangeArrowheads="1"/>
          </p:cNvSpPr>
          <p:nvPr/>
        </p:nvSpPr>
        <p:spPr bwMode="auto">
          <a:xfrm>
            <a:off x="2133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altLang="en-US" sz="1400" b="1">
              <a:solidFill>
                <a:srgbClr val="000000"/>
              </a:solidFill>
            </a:endParaRPr>
          </a:p>
        </p:txBody>
      </p:sp>
      <p:pic>
        <p:nvPicPr>
          <p:cNvPr id="1484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430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848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1430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848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11430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848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8862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848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8862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8489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8862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87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pPr eaLnBrk="1" hangingPunct="1"/>
            <a:r>
              <a:rPr lang="en-US" altLang="en-US" sz="2800"/>
              <a:t>Importance of Choosing Initial Centroids …</a:t>
            </a:r>
          </a:p>
        </p:txBody>
      </p:sp>
      <p:sp>
        <p:nvSpPr>
          <p:cNvPr id="149507" name="Text Box 3"/>
          <p:cNvSpPr txBox="1">
            <a:spLocks noChangeArrowheads="1"/>
          </p:cNvSpPr>
          <p:nvPr/>
        </p:nvSpPr>
        <p:spPr bwMode="auto">
          <a:xfrm>
            <a:off x="2133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altLang="en-US" sz="1400" b="1">
              <a:solidFill>
                <a:srgbClr val="000000"/>
              </a:solidFill>
            </a:endParaRPr>
          </a:p>
        </p:txBody>
      </p:sp>
      <p:pic>
        <p:nvPicPr>
          <p:cNvPr id="149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1354139"/>
            <a:ext cx="5529263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984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1354139"/>
            <a:ext cx="5529263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9847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1354139"/>
            <a:ext cx="5529263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9847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1354139"/>
            <a:ext cx="5529263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9847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1354139"/>
            <a:ext cx="5529263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92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pPr eaLnBrk="1" hangingPunct="1"/>
            <a:r>
              <a:rPr lang="en-US" altLang="en-US" sz="2800"/>
              <a:t>Importance of Choosing Initial Centroids …</a:t>
            </a:r>
          </a:p>
        </p:txBody>
      </p:sp>
      <p:sp>
        <p:nvSpPr>
          <p:cNvPr id="150531" name="Text Box 3"/>
          <p:cNvSpPr txBox="1">
            <a:spLocks noChangeArrowheads="1"/>
          </p:cNvSpPr>
          <p:nvPr/>
        </p:nvSpPr>
        <p:spPr bwMode="auto">
          <a:xfrm>
            <a:off x="2133600" y="4419600"/>
            <a:ext cx="800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altLang="en-US" sz="1400" b="1">
              <a:solidFill>
                <a:srgbClr val="000000"/>
              </a:solidFill>
            </a:endParaRPr>
          </a:p>
        </p:txBody>
      </p:sp>
      <p:pic>
        <p:nvPicPr>
          <p:cNvPr id="150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2192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053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192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053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8100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053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8100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053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3810001"/>
            <a:ext cx="304323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780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487362"/>
          </a:xfrm>
        </p:spPr>
        <p:txBody>
          <a:bodyPr/>
          <a:lstStyle/>
          <a:p>
            <a:pPr eaLnBrk="1" hangingPunct="1"/>
            <a:r>
              <a:rPr lang="en-US" altLang="en-US" sz="3200"/>
              <a:t>Landscape for Clustering Problem</a:t>
            </a:r>
          </a:p>
        </p:txBody>
      </p:sp>
      <p:pic>
        <p:nvPicPr>
          <p:cNvPr id="13316" name="Picture 7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62600" y="2133600"/>
            <a:ext cx="4038600" cy="960438"/>
          </a:xfrm>
        </p:spPr>
      </p:pic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1524001" y="30062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en-IN" altLang="en-US">
              <a:solidFill>
                <a:srgbClr val="000000"/>
              </a:solidFill>
            </a:endParaRPr>
          </a:p>
        </p:txBody>
      </p:sp>
      <p:graphicFrame>
        <p:nvGraphicFramePr>
          <p:cNvPr id="13314" name="Object 4"/>
          <p:cNvGraphicFramePr>
            <a:graphicFrameLocks noChangeAspect="1"/>
          </p:cNvGraphicFramePr>
          <p:nvPr/>
        </p:nvGraphicFramePr>
        <p:xfrm>
          <a:off x="5624514" y="1003301"/>
          <a:ext cx="467677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4" imgW="2311200" imgH="457200" progId="">
                  <p:embed/>
                </p:oleObj>
              </mc:Choice>
              <mc:Fallback>
                <p:oleObj name="Equation" r:id="rId4" imgW="2311200" imgH="4572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4514" y="1003301"/>
                        <a:ext cx="4676775" cy="963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2057400" y="1295401"/>
            <a:ext cx="3346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The k-means objective function</a:t>
            </a:r>
          </a:p>
        </p:txBody>
      </p:sp>
      <p:sp>
        <p:nvSpPr>
          <p:cNvPr id="13319" name="Rectangle 9"/>
          <p:cNvSpPr>
            <a:spLocks noChangeArrowheads="1"/>
          </p:cNvSpPr>
          <p:nvPr/>
        </p:nvSpPr>
        <p:spPr bwMode="auto">
          <a:xfrm>
            <a:off x="1524000" y="2438400"/>
            <a:ext cx="3397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Example of an extremely 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simple one-dimensional dataset</a:t>
            </a:r>
          </a:p>
        </p:txBody>
      </p:sp>
      <p:pic>
        <p:nvPicPr>
          <p:cNvPr id="13320" name="Picture 10" descr="mesh_ics2"/>
          <p:cNvPicPr>
            <a:picLocks noGrp="1" noChangeAspect="1" noChangeArrowheads="1"/>
          </p:cNvPicPr>
          <p:nvPr>
            <p:ph sz="half" idx="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62600" y="3276600"/>
            <a:ext cx="4038600" cy="3028950"/>
          </a:xfrm>
        </p:spPr>
      </p:pic>
      <p:sp>
        <p:nvSpPr>
          <p:cNvPr id="13321" name="Rectangle 12"/>
          <p:cNvSpPr>
            <a:spLocks noChangeArrowheads="1"/>
          </p:cNvSpPr>
          <p:nvPr/>
        </p:nvSpPr>
        <p:spPr bwMode="auto">
          <a:xfrm>
            <a:off x="1524000" y="4130675"/>
            <a:ext cx="38417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Fitness function (Reciprocal of ICS) 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plot of the hard c-means algorithm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for above dataset </a:t>
            </a:r>
          </a:p>
        </p:txBody>
      </p:sp>
    </p:spTree>
    <p:extLst>
      <p:ext uri="{BB962C8B-B14F-4D97-AF65-F5344CB8AC3E}">
        <p14:creationId xmlns:p14="http://schemas.microsoft.com/office/powerpoint/2010/main" val="28104630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4"/>
          <p:cNvSpPr>
            <a:spLocks noChangeArrowheads="1"/>
          </p:cNvSpPr>
          <p:nvPr/>
        </p:nvSpPr>
        <p:spPr bwMode="auto">
          <a:xfrm>
            <a:off x="1981200" y="274638"/>
            <a:ext cx="82296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en-US" sz="3200">
                <a:solidFill>
                  <a:srgbClr val="000000"/>
                </a:solidFill>
              </a:rPr>
              <a:t>Landscape for Clustering Problem (Contd.)</a:t>
            </a:r>
          </a:p>
        </p:txBody>
      </p:sp>
      <p:pic>
        <p:nvPicPr>
          <p:cNvPr id="15667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066800"/>
            <a:ext cx="5410200" cy="122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676" name="Text Box 6"/>
          <p:cNvSpPr txBox="1">
            <a:spLocks noChangeArrowheads="1"/>
          </p:cNvSpPr>
          <p:nvPr/>
        </p:nvSpPr>
        <p:spPr bwMode="auto">
          <a:xfrm>
            <a:off x="1752600" y="1143000"/>
            <a:ext cx="2940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The previous data but now 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With some noise points</a:t>
            </a:r>
          </a:p>
        </p:txBody>
      </p:sp>
      <p:pic>
        <p:nvPicPr>
          <p:cNvPr id="156677" name="Picture 7" descr="mesh_ic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438401"/>
            <a:ext cx="4229100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678" name="Text Box 8"/>
          <p:cNvSpPr txBox="1">
            <a:spLocks noChangeArrowheads="1"/>
          </p:cNvSpPr>
          <p:nvPr/>
        </p:nvSpPr>
        <p:spPr bwMode="auto">
          <a:xfrm>
            <a:off x="1889125" y="27797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56679" name="Rectangle 9"/>
          <p:cNvSpPr>
            <a:spLocks noChangeArrowheads="1"/>
          </p:cNvSpPr>
          <p:nvPr/>
        </p:nvSpPr>
        <p:spPr bwMode="auto">
          <a:xfrm>
            <a:off x="1752600" y="2819400"/>
            <a:ext cx="38417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Fitness function (Reciprocal of ICS) 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plot of the hard c-means algorithm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for above dataset </a:t>
            </a:r>
          </a:p>
        </p:txBody>
      </p:sp>
      <p:sp>
        <p:nvSpPr>
          <p:cNvPr id="156680" name="Text Box 13"/>
          <p:cNvSpPr txBox="1">
            <a:spLocks noChangeArrowheads="1"/>
          </p:cNvSpPr>
          <p:nvPr/>
        </p:nvSpPr>
        <p:spPr bwMode="auto">
          <a:xfrm>
            <a:off x="1981200" y="5667376"/>
            <a:ext cx="83502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In addition to two global minima, we have local minima at: approximately (0, 10), 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(5, 10), (10, 0), (10, 5). For these local minima one prototype covers one of the</a:t>
            </a:r>
          </a:p>
          <a:p>
            <a:pPr eaLnBrk="1" hangingPunct="1"/>
            <a:r>
              <a:rPr lang="en-US" altLang="en-US">
                <a:solidFill>
                  <a:srgbClr val="000000"/>
                </a:solidFill>
              </a:rPr>
              <a:t>  data clusters, while the other prototype is mislead to  the noise cluster.</a:t>
            </a:r>
          </a:p>
          <a:p>
            <a:pPr eaLnBrk="1" hangingPunct="1"/>
            <a:endParaRPr lang="en-US" altLang="en-US">
              <a:solidFill>
                <a:srgbClr val="000000"/>
              </a:solidFill>
            </a:endParaRPr>
          </a:p>
          <a:p>
            <a:pPr eaLnBrk="1" hangingPunct="1"/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1001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Limitations of K-means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K-means has problems when clusters are of differing </a:t>
            </a:r>
          </a:p>
          <a:p>
            <a:pPr lvl="1" eaLnBrk="1" hangingPunct="1"/>
            <a:r>
              <a:rPr lang="en-US" altLang="en-US" smtClean="0"/>
              <a:t>Sizes</a:t>
            </a:r>
          </a:p>
          <a:p>
            <a:pPr lvl="1" eaLnBrk="1" hangingPunct="1"/>
            <a:r>
              <a:rPr lang="en-US" altLang="en-US" smtClean="0"/>
              <a:t>Densities</a:t>
            </a:r>
          </a:p>
          <a:p>
            <a:pPr lvl="1" eaLnBrk="1" hangingPunct="1"/>
            <a:r>
              <a:rPr lang="en-US" altLang="en-US" smtClean="0"/>
              <a:t>Non-globular shapes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K-means has problems when the data contains outliers.</a:t>
            </a:r>
          </a:p>
        </p:txBody>
      </p:sp>
    </p:spTree>
    <p:extLst>
      <p:ext uri="{BB962C8B-B14F-4D97-AF65-F5344CB8AC3E}">
        <p14:creationId xmlns:p14="http://schemas.microsoft.com/office/powerpoint/2010/main" val="389897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pPr eaLnBrk="1" hangingPunct="1"/>
            <a:r>
              <a:rPr lang="en-US" altLang="en-US" sz="2800"/>
              <a:t>Limitations of K-means: Differing Sizes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63763" y="1143001"/>
            <a:ext cx="8001000" cy="976313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None/>
            </a:pPr>
            <a:endParaRPr lang="en-US" altLang="en-US" smtClean="0"/>
          </a:p>
          <a:p>
            <a:pPr marL="990600" lvl="1" indent="-533400" eaLnBrk="1" hangingPunct="1">
              <a:lnSpc>
                <a:spcPct val="90000"/>
              </a:lnSpc>
            </a:pPr>
            <a:endParaRPr lang="en-US" altLang="en-US" smtClean="0"/>
          </a:p>
          <a:p>
            <a:pPr marL="990600" lvl="1" indent="-533400" eaLnBrk="1" hangingPunct="1">
              <a:lnSpc>
                <a:spcPct val="90000"/>
              </a:lnSpc>
            </a:pPr>
            <a:endParaRPr lang="en-US" altLang="en-US" sz="2000"/>
          </a:p>
          <a:p>
            <a:pPr marL="990600" lvl="1" indent="-533400" eaLnBrk="1" hangingPunct="1">
              <a:lnSpc>
                <a:spcPct val="90000"/>
              </a:lnSpc>
              <a:buNone/>
            </a:pPr>
            <a:endParaRPr lang="en-US" altLang="en-US" sz="2000"/>
          </a:p>
        </p:txBody>
      </p:sp>
      <p:pic>
        <p:nvPicPr>
          <p:cNvPr id="1536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0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06" name="Text Box 6"/>
          <p:cNvSpPr txBox="1">
            <a:spLocks noChangeArrowheads="1"/>
          </p:cNvSpPr>
          <p:nvPr/>
        </p:nvSpPr>
        <p:spPr bwMode="auto">
          <a:xfrm>
            <a:off x="2286000" y="4953001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000000"/>
                </a:solidFill>
              </a:rPr>
              <a:t>Original Points</a:t>
            </a:r>
          </a:p>
        </p:txBody>
      </p:sp>
      <p:sp>
        <p:nvSpPr>
          <p:cNvPr id="153607" name="Rectangle 7"/>
          <p:cNvSpPr>
            <a:spLocks noChangeArrowheads="1"/>
          </p:cNvSpPr>
          <p:nvPr/>
        </p:nvSpPr>
        <p:spPr bwMode="auto">
          <a:xfrm>
            <a:off x="6858000" y="4902201"/>
            <a:ext cx="247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000000"/>
                </a:solidFill>
              </a:rPr>
              <a:t>K-means (3 Clusters)</a:t>
            </a:r>
          </a:p>
        </p:txBody>
      </p:sp>
    </p:spTree>
    <p:extLst>
      <p:ext uri="{BB962C8B-B14F-4D97-AF65-F5344CB8AC3E}">
        <p14:creationId xmlns:p14="http://schemas.microsoft.com/office/powerpoint/2010/main" val="1039189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152400"/>
            <a:ext cx="8280400" cy="552450"/>
          </a:xfrm>
        </p:spPr>
        <p:txBody>
          <a:bodyPr/>
          <a:lstStyle/>
          <a:p>
            <a:pPr eaLnBrk="1" hangingPunct="1"/>
            <a:r>
              <a:rPr lang="en-US" altLang="en-US" sz="2800"/>
              <a:t>Limitations of K-means: Differing Density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63763" y="1143001"/>
            <a:ext cx="8001000" cy="976313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None/>
            </a:pPr>
            <a:endParaRPr lang="en-US" altLang="en-US" smtClean="0"/>
          </a:p>
          <a:p>
            <a:pPr marL="990600" lvl="1" indent="-533400" eaLnBrk="1" hangingPunct="1">
              <a:lnSpc>
                <a:spcPct val="90000"/>
              </a:lnSpc>
            </a:pPr>
            <a:endParaRPr lang="en-US" altLang="en-US" smtClean="0"/>
          </a:p>
          <a:p>
            <a:pPr marL="990600" lvl="1" indent="-533400" eaLnBrk="1" hangingPunct="1">
              <a:lnSpc>
                <a:spcPct val="90000"/>
              </a:lnSpc>
            </a:pPr>
            <a:endParaRPr lang="en-US" altLang="en-US" sz="2000"/>
          </a:p>
          <a:p>
            <a:pPr marL="990600" lvl="1" indent="-533400" eaLnBrk="1" hangingPunct="1">
              <a:lnSpc>
                <a:spcPct val="90000"/>
              </a:lnSpc>
              <a:buNone/>
            </a:pPr>
            <a:endParaRPr lang="en-US" altLang="en-US" sz="2000"/>
          </a:p>
        </p:txBody>
      </p:sp>
      <p:sp>
        <p:nvSpPr>
          <p:cNvPr id="154628" name="Text Box 4"/>
          <p:cNvSpPr txBox="1">
            <a:spLocks noChangeArrowheads="1"/>
          </p:cNvSpPr>
          <p:nvPr/>
        </p:nvSpPr>
        <p:spPr bwMode="auto">
          <a:xfrm>
            <a:off x="3200400" y="4953001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000000"/>
                </a:solidFill>
              </a:rPr>
              <a:t>Original Points</a:t>
            </a:r>
          </a:p>
        </p:txBody>
      </p:sp>
      <p:pic>
        <p:nvPicPr>
          <p:cNvPr id="1546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5240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6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5240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4631" name="Rectangle 7"/>
          <p:cNvSpPr>
            <a:spLocks noChangeArrowheads="1"/>
          </p:cNvSpPr>
          <p:nvPr/>
        </p:nvSpPr>
        <p:spPr bwMode="auto">
          <a:xfrm>
            <a:off x="6858000" y="4902201"/>
            <a:ext cx="247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000000"/>
                </a:solidFill>
              </a:rPr>
              <a:t>K-means (3 Clusters)</a:t>
            </a:r>
          </a:p>
        </p:txBody>
      </p:sp>
    </p:spTree>
    <p:extLst>
      <p:ext uri="{BB962C8B-B14F-4D97-AF65-F5344CB8AC3E}">
        <p14:creationId xmlns:p14="http://schemas.microsoft.com/office/powerpoint/2010/main" val="8376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28800" y="457200"/>
            <a:ext cx="8610600" cy="552450"/>
          </a:xfrm>
        </p:spPr>
        <p:txBody>
          <a:bodyPr/>
          <a:lstStyle/>
          <a:p>
            <a:pPr eaLnBrk="1" hangingPunct="1"/>
            <a:r>
              <a:rPr lang="en-US" altLang="en-US" sz="4000"/>
              <a:t>Limitations of K-means: Non-globular and linearly non-separable Shapes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63763" y="1143001"/>
            <a:ext cx="8001000" cy="976313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None/>
            </a:pPr>
            <a:endParaRPr lang="en-US" altLang="en-US" smtClean="0"/>
          </a:p>
          <a:p>
            <a:pPr marL="990600" lvl="1" indent="-533400" eaLnBrk="1" hangingPunct="1">
              <a:lnSpc>
                <a:spcPct val="90000"/>
              </a:lnSpc>
            </a:pPr>
            <a:endParaRPr lang="en-US" altLang="en-US" smtClean="0"/>
          </a:p>
          <a:p>
            <a:pPr marL="990600" lvl="1" indent="-533400" eaLnBrk="1" hangingPunct="1">
              <a:lnSpc>
                <a:spcPct val="90000"/>
              </a:lnSpc>
            </a:pPr>
            <a:endParaRPr lang="en-US" altLang="en-US" sz="2000"/>
          </a:p>
          <a:p>
            <a:pPr marL="990600" lvl="1" indent="-533400" eaLnBrk="1" hangingPunct="1">
              <a:lnSpc>
                <a:spcPct val="90000"/>
              </a:lnSpc>
              <a:buNone/>
            </a:pPr>
            <a:endParaRPr lang="en-US" altLang="en-US" sz="2000"/>
          </a:p>
        </p:txBody>
      </p:sp>
      <p:sp>
        <p:nvSpPr>
          <p:cNvPr id="155652" name="Text Box 4"/>
          <p:cNvSpPr txBox="1">
            <a:spLocks noChangeArrowheads="1"/>
          </p:cNvSpPr>
          <p:nvPr/>
        </p:nvSpPr>
        <p:spPr bwMode="auto">
          <a:xfrm>
            <a:off x="2667000" y="5410201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000000"/>
                </a:solidFill>
              </a:rPr>
              <a:t>Original Points</a:t>
            </a:r>
          </a:p>
        </p:txBody>
      </p:sp>
      <p:pic>
        <p:nvPicPr>
          <p:cNvPr id="1556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0574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56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574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5655" name="Rectangle 7"/>
          <p:cNvSpPr>
            <a:spLocks noChangeArrowheads="1"/>
          </p:cNvSpPr>
          <p:nvPr/>
        </p:nvSpPr>
        <p:spPr bwMode="auto">
          <a:xfrm>
            <a:off x="6934200" y="5410201"/>
            <a:ext cx="247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000000"/>
                </a:solidFill>
              </a:rPr>
              <a:t>K-means (2 Clusters)</a:t>
            </a:r>
          </a:p>
        </p:txBody>
      </p:sp>
    </p:spTree>
    <p:extLst>
      <p:ext uri="{BB962C8B-B14F-4D97-AF65-F5344CB8AC3E}">
        <p14:creationId xmlns:p14="http://schemas.microsoft.com/office/powerpoint/2010/main" val="80646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9144000" cy="831850"/>
          </a:xfrm>
        </p:spPr>
        <p:txBody>
          <a:bodyPr/>
          <a:lstStyle/>
          <a:p>
            <a:pPr>
              <a:defRPr/>
            </a:pPr>
            <a:r>
              <a:rPr lang="en-US" altLang="en-US" sz="4000">
                <a:effectLst>
                  <a:outerShdw blurRad="38100" dist="38100" dir="2700000" algn="tl">
                    <a:srgbClr val="C0C0C0"/>
                  </a:outerShdw>
                </a:effectLst>
              </a:rPr>
              <a:t>Comments on k-Means</a:t>
            </a:r>
            <a:endParaRPr lang="en-US" altLang="en-US" sz="32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295400"/>
            <a:ext cx="8686800" cy="46482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u="sng" smtClean="0"/>
              <a:t>Strengths</a:t>
            </a:r>
            <a:r>
              <a:rPr lang="en-US" altLang="en-US" smtClean="0"/>
              <a:t> </a:t>
            </a:r>
          </a:p>
          <a:p>
            <a:pPr lvl="1"/>
            <a:r>
              <a:rPr lang="en-US" altLang="en-US" i="1" smtClean="0"/>
              <a:t>Relatively efficient</a:t>
            </a:r>
            <a:r>
              <a:rPr lang="en-US" altLang="en-US" smtClean="0"/>
              <a:t>: </a:t>
            </a:r>
            <a:r>
              <a:rPr lang="en-US" altLang="en-US" i="1" smtClean="0"/>
              <a:t>O</a:t>
            </a:r>
            <a:r>
              <a:rPr lang="en-US" altLang="en-US" smtClean="0"/>
              <a:t>(</a:t>
            </a:r>
            <a:r>
              <a:rPr lang="en-US" altLang="en-US" i="1" smtClean="0"/>
              <a:t>tkn</a:t>
            </a:r>
            <a:r>
              <a:rPr lang="en-US" altLang="en-US" smtClean="0"/>
              <a:t>), where </a:t>
            </a:r>
            <a:r>
              <a:rPr lang="en-US" altLang="en-US" i="1" smtClean="0"/>
              <a:t>n</a:t>
            </a:r>
            <a:r>
              <a:rPr lang="en-US" altLang="en-US" smtClean="0"/>
              <a:t> is # objects, </a:t>
            </a:r>
            <a:r>
              <a:rPr lang="en-US" altLang="en-US" i="1" smtClean="0"/>
              <a:t>k</a:t>
            </a:r>
            <a:r>
              <a:rPr lang="en-US" altLang="en-US" smtClean="0"/>
              <a:t> is # clusters, and </a:t>
            </a:r>
            <a:r>
              <a:rPr lang="en-US" altLang="en-US" i="1" smtClean="0"/>
              <a:t>t  </a:t>
            </a:r>
            <a:r>
              <a:rPr lang="en-US" altLang="en-US" smtClean="0"/>
              <a:t>is # iterations. Normally, </a:t>
            </a:r>
            <a:r>
              <a:rPr lang="en-US" altLang="en-US" i="1" smtClean="0"/>
              <a:t>k</a:t>
            </a:r>
            <a:r>
              <a:rPr lang="en-US" altLang="en-US" smtClean="0"/>
              <a:t>, </a:t>
            </a:r>
            <a:r>
              <a:rPr lang="en-US" altLang="en-US" i="1" smtClean="0"/>
              <a:t>t</a:t>
            </a:r>
            <a:r>
              <a:rPr lang="en-US" altLang="en-US" smtClean="0"/>
              <a:t> &lt;&lt; </a:t>
            </a:r>
            <a:r>
              <a:rPr lang="en-US" altLang="en-US" i="1" smtClean="0"/>
              <a:t>n</a:t>
            </a:r>
            <a:r>
              <a:rPr lang="en-US" altLang="en-US" smtClean="0"/>
              <a:t>.</a:t>
            </a:r>
          </a:p>
          <a:p>
            <a:pPr lvl="1"/>
            <a:r>
              <a:rPr lang="en-US" altLang="en-US" smtClean="0"/>
              <a:t>Often terminates at a local optimum. </a:t>
            </a:r>
          </a:p>
          <a:p>
            <a:r>
              <a:rPr lang="en-US" altLang="en-US" u="sng" smtClean="0"/>
              <a:t>Weakness</a:t>
            </a:r>
            <a:endParaRPr lang="en-US" altLang="en-US" smtClean="0"/>
          </a:p>
          <a:p>
            <a:pPr lvl="1"/>
            <a:r>
              <a:rPr lang="en-US" altLang="en-US" smtClean="0"/>
              <a:t>Applicable only when mean is defined, then what about categorical data?</a:t>
            </a:r>
          </a:p>
          <a:p>
            <a:pPr lvl="1"/>
            <a:r>
              <a:rPr lang="en-US" altLang="en-US" smtClean="0"/>
              <a:t>Need to specify </a:t>
            </a:r>
            <a:r>
              <a:rPr lang="en-US" altLang="en-US" i="1" smtClean="0"/>
              <a:t>k, </a:t>
            </a:r>
            <a:r>
              <a:rPr lang="en-US" altLang="en-US" smtClean="0"/>
              <a:t>the number of clusters, in advance</a:t>
            </a:r>
          </a:p>
          <a:p>
            <a:pPr lvl="1"/>
            <a:r>
              <a:rPr lang="en-US" altLang="en-US" smtClean="0"/>
              <a:t>Unable to handle noisy data and outliers</a:t>
            </a:r>
          </a:p>
          <a:p>
            <a:pPr lvl="1"/>
            <a:r>
              <a:rPr lang="en-US" altLang="en-US" smtClean="0"/>
              <a:t>Not suitable to discover clusters with non-convex shapes</a:t>
            </a:r>
          </a:p>
        </p:txBody>
      </p:sp>
      <p:sp>
        <p:nvSpPr>
          <p:cNvPr id="39940" name="TextBox 3"/>
          <p:cNvSpPr txBox="1">
            <a:spLocks noChangeArrowheads="1"/>
          </p:cNvSpPr>
          <p:nvPr/>
        </p:nvSpPr>
        <p:spPr bwMode="auto">
          <a:xfrm>
            <a:off x="1524001" y="6488114"/>
            <a:ext cx="4252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1768642758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870075" y="609600"/>
            <a:ext cx="7772400" cy="704850"/>
          </a:xfrm>
        </p:spPr>
        <p:txBody>
          <a:bodyPr>
            <a:normAutofit fontScale="90000"/>
          </a:bodyPr>
          <a:lstStyle/>
          <a:p>
            <a:r>
              <a:rPr lang="en-US" altLang="en-US" smtClean="0"/>
              <a:t>How do we measure similarity? </a:t>
            </a:r>
          </a:p>
        </p:txBody>
      </p:sp>
      <p:pic>
        <p:nvPicPr>
          <p:cNvPr id="40963" name="Picture 3" descr="C:\WINNT\Profiles\eamonn.000\Desktop\gorilla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1" y="1477963"/>
            <a:ext cx="1774825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4" descr="C:\WINNT\Profiles\eamonn.000\Desktop\chimp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551" y="1860551"/>
            <a:ext cx="1019175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2495550" y="3605213"/>
            <a:ext cx="1390650" cy="1390650"/>
          </a:xfrm>
          <a:prstGeom prst="rect">
            <a:avLst/>
          </a:prstGeom>
          <a:solidFill>
            <a:srgbClr val="969696"/>
          </a:solidFill>
          <a:ln w="9525">
            <a:miter lim="800000"/>
            <a:headEnd/>
            <a:tailEnd/>
          </a:ln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0966" name="Rectangle 6"/>
          <p:cNvSpPr>
            <a:spLocks noChangeArrowheads="1"/>
          </p:cNvSpPr>
          <p:nvPr/>
        </p:nvSpPr>
        <p:spPr bwMode="auto">
          <a:xfrm>
            <a:off x="8715375" y="3605213"/>
            <a:ext cx="1390650" cy="1390650"/>
          </a:xfrm>
          <a:prstGeom prst="rect">
            <a:avLst/>
          </a:prstGeom>
          <a:solidFill>
            <a:srgbClr val="969696"/>
          </a:solidFill>
          <a:ln w="9525">
            <a:miter lim="800000"/>
            <a:headEnd/>
            <a:tailEnd/>
          </a:ln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0967" name="Rectangle 7"/>
          <p:cNvSpPr>
            <a:spLocks noChangeArrowheads="1"/>
          </p:cNvSpPr>
          <p:nvPr/>
        </p:nvSpPr>
        <p:spPr bwMode="auto">
          <a:xfrm>
            <a:off x="5695950" y="3605213"/>
            <a:ext cx="1390650" cy="1390650"/>
          </a:xfrm>
          <a:prstGeom prst="rect">
            <a:avLst/>
          </a:prstGeom>
          <a:solidFill>
            <a:srgbClr val="969696"/>
          </a:solidFill>
          <a:ln w="9525">
            <a:miter lim="800000"/>
            <a:headEnd/>
            <a:tailEnd/>
          </a:ln>
          <a:scene3d>
            <a:camera prst="legacyObliqueBottom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969696"/>
            </a:extrusionClr>
          </a:sp3d>
        </p:spPr>
        <p:txBody>
          <a:bodyPr wrap="none" anchor="ctr">
            <a:flatTx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2280" name="AutoShape 8"/>
          <p:cNvSpPr>
            <a:spLocks noChangeArrowheads="1"/>
          </p:cNvSpPr>
          <p:nvPr/>
        </p:nvSpPr>
        <p:spPr bwMode="auto">
          <a:xfrm rot="-992687">
            <a:off x="2647950" y="3148013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82281" name="AutoShape 9"/>
          <p:cNvSpPr>
            <a:spLocks noChangeArrowheads="1"/>
          </p:cNvSpPr>
          <p:nvPr/>
        </p:nvSpPr>
        <p:spPr bwMode="auto">
          <a:xfrm rot="-992687">
            <a:off x="5772150" y="3148013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82282" name="AutoShape 10"/>
          <p:cNvSpPr>
            <a:spLocks noChangeArrowheads="1"/>
          </p:cNvSpPr>
          <p:nvPr/>
        </p:nvSpPr>
        <p:spPr bwMode="auto">
          <a:xfrm rot="-992687">
            <a:off x="8867775" y="3148013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82283" name="AutoShape 11"/>
          <p:cNvSpPr>
            <a:spLocks noChangeArrowheads="1"/>
          </p:cNvSpPr>
          <p:nvPr/>
        </p:nvSpPr>
        <p:spPr bwMode="auto">
          <a:xfrm rot="992687" flipH="1">
            <a:off x="3638550" y="3148013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82284" name="AutoShape 12"/>
          <p:cNvSpPr>
            <a:spLocks noChangeArrowheads="1"/>
          </p:cNvSpPr>
          <p:nvPr/>
        </p:nvSpPr>
        <p:spPr bwMode="auto">
          <a:xfrm rot="992687" flipH="1">
            <a:off x="6872288" y="3148013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82285" name="AutoShape 13"/>
          <p:cNvSpPr>
            <a:spLocks noChangeArrowheads="1"/>
          </p:cNvSpPr>
          <p:nvPr/>
        </p:nvSpPr>
        <p:spPr bwMode="auto">
          <a:xfrm rot="992687" flipH="1">
            <a:off x="9858375" y="3148013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40974" name="Text Box 14"/>
          <p:cNvSpPr txBox="1">
            <a:spLocks noChangeArrowheads="1"/>
          </p:cNvSpPr>
          <p:nvPr/>
        </p:nvSpPr>
        <p:spPr bwMode="auto">
          <a:xfrm>
            <a:off x="2790826" y="5462589"/>
            <a:ext cx="7841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0.23</a:t>
            </a:r>
          </a:p>
        </p:txBody>
      </p:sp>
      <p:sp>
        <p:nvSpPr>
          <p:cNvPr id="182287" name="AutoShape 15"/>
          <p:cNvSpPr>
            <a:spLocks noChangeArrowheads="1"/>
          </p:cNvSpPr>
          <p:nvPr/>
        </p:nvSpPr>
        <p:spPr bwMode="auto">
          <a:xfrm rot="21550572" flipH="1">
            <a:off x="2933700" y="5243513"/>
            <a:ext cx="2286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auto">
          <a:xfrm>
            <a:off x="6094413" y="5462589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3</a:t>
            </a:r>
          </a:p>
        </p:txBody>
      </p:sp>
      <p:sp>
        <p:nvSpPr>
          <p:cNvPr id="182289" name="AutoShape 17"/>
          <p:cNvSpPr>
            <a:spLocks noChangeArrowheads="1"/>
          </p:cNvSpPr>
          <p:nvPr/>
        </p:nvSpPr>
        <p:spPr bwMode="auto">
          <a:xfrm rot="21550572" flipH="1">
            <a:off x="6134100" y="5243513"/>
            <a:ext cx="2286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40978" name="Text Box 18"/>
          <p:cNvSpPr txBox="1">
            <a:spLocks noChangeArrowheads="1"/>
          </p:cNvSpPr>
          <p:nvPr/>
        </p:nvSpPr>
        <p:spPr bwMode="auto">
          <a:xfrm>
            <a:off x="8963026" y="5462589"/>
            <a:ext cx="9557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342.7</a:t>
            </a:r>
          </a:p>
        </p:txBody>
      </p:sp>
      <p:sp>
        <p:nvSpPr>
          <p:cNvPr id="182291" name="AutoShape 19"/>
          <p:cNvSpPr>
            <a:spLocks noChangeArrowheads="1"/>
          </p:cNvSpPr>
          <p:nvPr/>
        </p:nvSpPr>
        <p:spPr bwMode="auto">
          <a:xfrm rot="21550572" flipH="1">
            <a:off x="9229725" y="5243513"/>
            <a:ext cx="2286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40980" name="Text Box 20"/>
          <p:cNvSpPr txBox="1">
            <a:spLocks noChangeArrowheads="1"/>
          </p:cNvSpPr>
          <p:nvPr/>
        </p:nvSpPr>
        <p:spPr bwMode="auto">
          <a:xfrm>
            <a:off x="5162551" y="2492376"/>
            <a:ext cx="1247775" cy="519113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800" b="1">
                <a:solidFill>
                  <a:prstClr val="black"/>
                </a:solidFill>
                <a:latin typeface="Courier New" pitchFamily="49" charset="0"/>
              </a:rPr>
              <a:t>Peter</a:t>
            </a:r>
          </a:p>
        </p:txBody>
      </p:sp>
      <p:sp>
        <p:nvSpPr>
          <p:cNvPr id="40981" name="Text Box 21"/>
          <p:cNvSpPr txBox="1">
            <a:spLocks noChangeArrowheads="1"/>
          </p:cNvSpPr>
          <p:nvPr/>
        </p:nvSpPr>
        <p:spPr bwMode="auto">
          <a:xfrm>
            <a:off x="6529389" y="2492376"/>
            <a:ext cx="1247775" cy="519113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800" b="1">
                <a:solidFill>
                  <a:prstClr val="black"/>
                </a:solidFill>
                <a:latin typeface="Courier New" pitchFamily="49" charset="0"/>
              </a:rPr>
              <a:t>Piotr</a:t>
            </a:r>
          </a:p>
        </p:txBody>
      </p:sp>
      <p:pic>
        <p:nvPicPr>
          <p:cNvPr id="40982" name="Picture 2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1" y="1804989"/>
            <a:ext cx="126682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3" name="Picture 2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1176" y="1804989"/>
            <a:ext cx="126682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4" name="TextBox 23"/>
          <p:cNvSpPr txBox="1">
            <a:spLocks noChangeArrowheads="1"/>
          </p:cNvSpPr>
          <p:nvPr/>
        </p:nvSpPr>
        <p:spPr bwMode="auto">
          <a:xfrm>
            <a:off x="1524001" y="6488114"/>
            <a:ext cx="4252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148544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kumimoji="1" lang="en-US" sz="3200" b="1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A generic technique for measuring similarity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1638300" y="1000126"/>
            <a:ext cx="57023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000">
                <a:solidFill>
                  <a:prstClr val="black"/>
                </a:solidFill>
              </a:rPr>
              <a:t>To measure the similarity between two objects, transform one into the other, and measure how much effort it took. The measure of effort becomes the distance measure.</a:t>
            </a:r>
          </a:p>
        </p:txBody>
      </p:sp>
      <p:grpSp>
        <p:nvGrpSpPr>
          <p:cNvPr id="41988" name="Group 4"/>
          <p:cNvGrpSpPr>
            <a:grpSpLocks/>
          </p:cNvGrpSpPr>
          <p:nvPr/>
        </p:nvGrpSpPr>
        <p:grpSpPr bwMode="auto">
          <a:xfrm>
            <a:off x="7543800" y="1295401"/>
            <a:ext cx="2857500" cy="2716213"/>
            <a:chOff x="114" y="1088"/>
            <a:chExt cx="3296" cy="3133"/>
          </a:xfrm>
        </p:grpSpPr>
        <p:pic>
          <p:nvPicPr>
            <p:cNvPr id="41993" name="Picture 5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" y="2184"/>
              <a:ext cx="662" cy="2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1994" name="Group 6"/>
            <p:cNvGrpSpPr>
              <a:grpSpLocks/>
            </p:cNvGrpSpPr>
            <p:nvPr/>
          </p:nvGrpSpPr>
          <p:grpSpPr bwMode="auto">
            <a:xfrm>
              <a:off x="1152" y="2538"/>
              <a:ext cx="2258" cy="1608"/>
              <a:chOff x="252" y="2364"/>
              <a:chExt cx="2258" cy="1608"/>
            </a:xfrm>
          </p:grpSpPr>
          <p:pic>
            <p:nvPicPr>
              <p:cNvPr id="42002" name="Picture 7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2003" name="Picture 8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1995" name="Line 9"/>
            <p:cNvSpPr>
              <a:spLocks noChangeShapeType="1"/>
            </p:cNvSpPr>
            <p:nvPr/>
          </p:nvSpPr>
          <p:spPr bwMode="auto">
            <a:xfrm flipH="1" flipV="1">
              <a:off x="636" y="1290"/>
              <a:ext cx="0" cy="100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1996" name="Line 10"/>
            <p:cNvSpPr>
              <a:spLocks noChangeShapeType="1"/>
            </p:cNvSpPr>
            <p:nvPr/>
          </p:nvSpPr>
          <p:spPr bwMode="auto">
            <a:xfrm flipH="1" flipV="1">
              <a:off x="2796" y="2010"/>
              <a:ext cx="0" cy="28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1997" name="Line 11"/>
            <p:cNvSpPr>
              <a:spLocks noChangeShapeType="1"/>
            </p:cNvSpPr>
            <p:nvPr/>
          </p:nvSpPr>
          <p:spPr bwMode="auto">
            <a:xfrm flipH="1" flipV="1">
              <a:off x="1716" y="2010"/>
              <a:ext cx="0" cy="288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1998" name="Line 12"/>
            <p:cNvSpPr>
              <a:spLocks noChangeShapeType="1"/>
            </p:cNvSpPr>
            <p:nvPr/>
          </p:nvSpPr>
          <p:spPr bwMode="auto">
            <a:xfrm flipH="1">
              <a:off x="1707" y="2010"/>
              <a:ext cx="109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1999" name="Line 13"/>
            <p:cNvSpPr>
              <a:spLocks noChangeShapeType="1"/>
            </p:cNvSpPr>
            <p:nvPr/>
          </p:nvSpPr>
          <p:spPr bwMode="auto">
            <a:xfrm flipH="1">
              <a:off x="627" y="1297"/>
              <a:ext cx="163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2000" name="Line 14"/>
            <p:cNvSpPr>
              <a:spLocks noChangeShapeType="1"/>
            </p:cNvSpPr>
            <p:nvPr/>
          </p:nvSpPr>
          <p:spPr bwMode="auto">
            <a:xfrm rot="5400000" flipH="1">
              <a:off x="1898" y="1661"/>
              <a:ext cx="71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2001" name="Line 15"/>
            <p:cNvSpPr>
              <a:spLocks noChangeShapeType="1"/>
            </p:cNvSpPr>
            <p:nvPr/>
          </p:nvSpPr>
          <p:spPr bwMode="auto">
            <a:xfrm rot="5400000" flipH="1">
              <a:off x="1361" y="1190"/>
              <a:ext cx="20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41989" name="Text Box 16"/>
          <p:cNvSpPr txBox="1">
            <a:spLocks noChangeArrowheads="1"/>
          </p:cNvSpPr>
          <p:nvPr/>
        </p:nvSpPr>
        <p:spPr bwMode="auto">
          <a:xfrm>
            <a:off x="1828801" y="2500313"/>
            <a:ext cx="4875213" cy="14462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000">
                <a:solidFill>
                  <a:prstClr val="black"/>
                </a:solidFill>
              </a:rPr>
              <a:t>The distance between Patty and Selma:</a:t>
            </a:r>
          </a:p>
          <a:p>
            <a:r>
              <a:rPr lang="en-US" altLang="en-US" sz="1600" b="1">
                <a:solidFill>
                  <a:prstClr val="black"/>
                </a:solidFill>
                <a:latin typeface="Courier New" pitchFamily="49" charset="0"/>
              </a:rPr>
              <a:t> Change dress color,   1 point</a:t>
            </a:r>
          </a:p>
          <a:p>
            <a:r>
              <a:rPr lang="en-US" altLang="en-US" sz="1600" b="1">
                <a:solidFill>
                  <a:prstClr val="black"/>
                </a:solidFill>
                <a:latin typeface="Courier New" pitchFamily="49" charset="0"/>
              </a:rPr>
              <a:t> Change earring shape, 1 point</a:t>
            </a:r>
          </a:p>
          <a:p>
            <a:r>
              <a:rPr lang="en-US" altLang="en-US" sz="1600" b="1">
                <a:solidFill>
                  <a:prstClr val="black"/>
                </a:solidFill>
                <a:latin typeface="Courier New" pitchFamily="49" charset="0"/>
              </a:rPr>
              <a:t> Change hair part,     1 point</a:t>
            </a:r>
          </a:p>
          <a:p>
            <a:r>
              <a:rPr lang="en-US" altLang="en-US" sz="2000">
                <a:solidFill>
                  <a:prstClr val="black"/>
                </a:solidFill>
              </a:rPr>
              <a:t>D(Patty,Selma) = </a:t>
            </a:r>
            <a:r>
              <a:rPr lang="en-US" altLang="en-US" sz="2000" b="1">
                <a:solidFill>
                  <a:prstClr val="black"/>
                </a:solidFill>
              </a:rPr>
              <a:t>3</a:t>
            </a:r>
          </a:p>
        </p:txBody>
      </p:sp>
      <p:sp>
        <p:nvSpPr>
          <p:cNvPr id="41990" name="Text Box 17"/>
          <p:cNvSpPr txBox="1">
            <a:spLocks noChangeArrowheads="1"/>
          </p:cNvSpPr>
          <p:nvPr/>
        </p:nvSpPr>
        <p:spPr bwMode="auto">
          <a:xfrm>
            <a:off x="1828801" y="3986213"/>
            <a:ext cx="4875213" cy="2062162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000">
                <a:solidFill>
                  <a:prstClr val="black"/>
                </a:solidFill>
              </a:rPr>
              <a:t>The distance between Marge and Selma</a:t>
            </a:r>
            <a:r>
              <a:rPr lang="en-US" altLang="en-US">
                <a:solidFill>
                  <a:prstClr val="black"/>
                </a:solidFill>
              </a:rPr>
              <a:t>:</a:t>
            </a:r>
          </a:p>
          <a:p>
            <a:r>
              <a:rPr lang="en-US" altLang="en-US" sz="1600" b="1">
                <a:solidFill>
                  <a:prstClr val="black"/>
                </a:solidFill>
                <a:latin typeface="Courier New" pitchFamily="49" charset="0"/>
              </a:rPr>
              <a:t> Change dress color,   1 point</a:t>
            </a:r>
          </a:p>
          <a:p>
            <a:r>
              <a:rPr lang="en-US" altLang="en-US" sz="1600" b="1">
                <a:solidFill>
                  <a:prstClr val="black"/>
                </a:solidFill>
                <a:latin typeface="Courier New" pitchFamily="49" charset="0"/>
              </a:rPr>
              <a:t> Add earrings,         1 point</a:t>
            </a:r>
          </a:p>
          <a:p>
            <a:r>
              <a:rPr lang="en-US" altLang="en-US" sz="1600" b="1">
                <a:solidFill>
                  <a:prstClr val="black"/>
                </a:solidFill>
                <a:latin typeface="Courier New" pitchFamily="49" charset="0"/>
              </a:rPr>
              <a:t> Decrease height,      1 point</a:t>
            </a:r>
          </a:p>
          <a:p>
            <a:r>
              <a:rPr lang="en-US" altLang="en-US" sz="1600" b="1">
                <a:solidFill>
                  <a:prstClr val="black"/>
                </a:solidFill>
                <a:latin typeface="Courier New" pitchFamily="49" charset="0"/>
              </a:rPr>
              <a:t> Take up smoking,      1 point</a:t>
            </a:r>
          </a:p>
          <a:p>
            <a:r>
              <a:rPr lang="en-US" altLang="en-US" sz="1600" b="1">
                <a:solidFill>
                  <a:prstClr val="black"/>
                </a:solidFill>
                <a:latin typeface="Courier New" pitchFamily="49" charset="0"/>
              </a:rPr>
              <a:t> Lose weight,          1 point</a:t>
            </a:r>
          </a:p>
          <a:p>
            <a:r>
              <a:rPr lang="en-US" altLang="en-US" sz="2000">
                <a:solidFill>
                  <a:prstClr val="black"/>
                </a:solidFill>
              </a:rPr>
              <a:t>D(Marge,Selma) = </a:t>
            </a:r>
            <a:r>
              <a:rPr lang="en-US" altLang="en-US" sz="2000" b="1">
                <a:solidFill>
                  <a:prstClr val="black"/>
                </a:solidFill>
              </a:rPr>
              <a:t>5</a:t>
            </a:r>
          </a:p>
        </p:txBody>
      </p:sp>
      <p:sp>
        <p:nvSpPr>
          <p:cNvPr id="41991" name="Text Box 18"/>
          <p:cNvSpPr txBox="1">
            <a:spLocks noChangeArrowheads="1"/>
          </p:cNvSpPr>
          <p:nvPr/>
        </p:nvSpPr>
        <p:spPr bwMode="auto">
          <a:xfrm>
            <a:off x="7340600" y="5162551"/>
            <a:ext cx="3327400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kumimoji="1" lang="en-US" altLang="en-US" sz="2000">
                <a:solidFill>
                  <a:prstClr val="black"/>
                </a:solidFill>
                <a:latin typeface="Helvetica" pitchFamily="-111" charset="0"/>
              </a:rPr>
              <a:t>This is called the “edit distance” or the “transformation distance”</a:t>
            </a:r>
          </a:p>
          <a:p>
            <a:endParaRPr lang="en-US" altLang="en-US" sz="2800">
              <a:solidFill>
                <a:prstClr val="black"/>
              </a:solidFill>
            </a:endParaRPr>
          </a:p>
        </p:txBody>
      </p:sp>
      <p:sp>
        <p:nvSpPr>
          <p:cNvPr id="41992" name="TextBox 18"/>
          <p:cNvSpPr txBox="1">
            <a:spLocks noChangeArrowheads="1"/>
          </p:cNvSpPr>
          <p:nvPr/>
        </p:nvSpPr>
        <p:spPr bwMode="auto">
          <a:xfrm>
            <a:off x="1524001" y="6488114"/>
            <a:ext cx="4252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972883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6315076" y="0"/>
            <a:ext cx="4352925" cy="6858000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7123113" y="3006725"/>
            <a:ext cx="1651000" cy="368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3600" b="1">
                <a:solidFill>
                  <a:prstClr val="black"/>
                </a:solidFill>
                <a:latin typeface="Courier New" pitchFamily="49" charset="0"/>
              </a:rPr>
              <a:t>Peter</a:t>
            </a:r>
          </a:p>
          <a:p>
            <a:endParaRPr lang="en-US" altLang="en-US" sz="3600" b="1">
              <a:solidFill>
                <a:prstClr val="black"/>
              </a:solidFill>
              <a:latin typeface="Courier New" pitchFamily="49" charset="0"/>
            </a:endParaRPr>
          </a:p>
          <a:p>
            <a:r>
              <a:rPr lang="en-US" altLang="en-US" sz="3200" b="1">
                <a:solidFill>
                  <a:prstClr val="black"/>
                </a:solidFill>
                <a:latin typeface="Courier New" pitchFamily="49" charset="0"/>
              </a:rPr>
              <a:t>Piter</a:t>
            </a:r>
          </a:p>
          <a:p>
            <a:endParaRPr lang="en-US" altLang="en-US" sz="3200" b="1">
              <a:solidFill>
                <a:prstClr val="black"/>
              </a:solidFill>
              <a:latin typeface="Courier New" pitchFamily="49" charset="0"/>
            </a:endParaRPr>
          </a:p>
          <a:p>
            <a:r>
              <a:rPr lang="en-US" altLang="en-US" sz="3200" b="1">
                <a:solidFill>
                  <a:prstClr val="black"/>
                </a:solidFill>
                <a:latin typeface="Courier New" pitchFamily="49" charset="0"/>
              </a:rPr>
              <a:t>Pioter</a:t>
            </a:r>
          </a:p>
          <a:p>
            <a:endParaRPr lang="en-US" altLang="en-US" sz="3200" b="1">
              <a:solidFill>
                <a:prstClr val="black"/>
              </a:solidFill>
              <a:latin typeface="Courier New" pitchFamily="49" charset="0"/>
            </a:endParaRPr>
          </a:p>
          <a:p>
            <a:r>
              <a:rPr lang="en-US" altLang="en-US" sz="3600" b="1">
                <a:solidFill>
                  <a:prstClr val="black"/>
                </a:solidFill>
                <a:latin typeface="Courier New" pitchFamily="49" charset="0"/>
              </a:rPr>
              <a:t>Piotr</a:t>
            </a:r>
          </a:p>
        </p:txBody>
      </p:sp>
      <p:sp>
        <p:nvSpPr>
          <p:cNvPr id="43012" name="Line 4"/>
          <p:cNvSpPr>
            <a:spLocks noChangeShapeType="1"/>
          </p:cNvSpPr>
          <p:nvPr/>
        </p:nvSpPr>
        <p:spPr bwMode="auto">
          <a:xfrm>
            <a:off x="7680326" y="3527425"/>
            <a:ext cx="9525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3013" name="Line 5"/>
          <p:cNvSpPr>
            <a:spLocks noChangeShapeType="1"/>
          </p:cNvSpPr>
          <p:nvPr/>
        </p:nvSpPr>
        <p:spPr bwMode="auto">
          <a:xfrm flipH="1">
            <a:off x="7842251" y="4613276"/>
            <a:ext cx="9525" cy="6191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3014" name="Line 6"/>
          <p:cNvSpPr>
            <a:spLocks noChangeShapeType="1"/>
          </p:cNvSpPr>
          <p:nvPr/>
        </p:nvSpPr>
        <p:spPr bwMode="auto">
          <a:xfrm>
            <a:off x="8347076" y="5641975"/>
            <a:ext cx="9525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3015" name="Text Box 7"/>
          <p:cNvSpPr txBox="1">
            <a:spLocks noChangeArrowheads="1"/>
          </p:cNvSpPr>
          <p:nvPr/>
        </p:nvSpPr>
        <p:spPr bwMode="auto">
          <a:xfrm>
            <a:off x="8359775" y="3713163"/>
            <a:ext cx="24753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000">
                <a:solidFill>
                  <a:srgbClr val="EEECE1"/>
                </a:solidFill>
              </a:rPr>
              <a:t>Substitution (i for e) </a:t>
            </a:r>
          </a:p>
        </p:txBody>
      </p:sp>
      <p:sp>
        <p:nvSpPr>
          <p:cNvPr id="43016" name="Text Box 8"/>
          <p:cNvSpPr txBox="1">
            <a:spLocks noChangeArrowheads="1"/>
          </p:cNvSpPr>
          <p:nvPr/>
        </p:nvSpPr>
        <p:spPr bwMode="auto">
          <a:xfrm>
            <a:off x="8359776" y="4675188"/>
            <a:ext cx="16914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000">
                <a:solidFill>
                  <a:srgbClr val="EEECE1"/>
                </a:solidFill>
              </a:rPr>
              <a:t>Insertion  (o) </a:t>
            </a:r>
          </a:p>
        </p:txBody>
      </p:sp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8359775" y="5684838"/>
            <a:ext cx="16514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000">
                <a:solidFill>
                  <a:srgbClr val="EEECE1"/>
                </a:solidFill>
              </a:rPr>
              <a:t>Deletion  (e) </a:t>
            </a:r>
          </a:p>
        </p:txBody>
      </p:sp>
      <p:sp>
        <p:nvSpPr>
          <p:cNvPr id="184330" name="Text Box 10"/>
          <p:cNvSpPr txBox="1">
            <a:spLocks noChangeArrowheads="1"/>
          </p:cNvSpPr>
          <p:nvPr/>
        </p:nvSpPr>
        <p:spPr bwMode="auto">
          <a:xfrm>
            <a:off x="1676400" y="1"/>
            <a:ext cx="469391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sz="3200" b="1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Edit Distance Example</a:t>
            </a:r>
            <a:r>
              <a:rPr kumimoji="1" lang="en-US" sz="3200" b="1">
                <a:solidFill>
                  <a:srgbClr val="1F497D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pitchFamily="-111" charset="0"/>
                <a:ea typeface="ＭＳ Ｐゴシック" pitchFamily="-111" charset="-128"/>
                <a:cs typeface="ＭＳ Ｐゴシック" pitchFamily="-111" charset="-128"/>
              </a:rPr>
              <a:t> </a:t>
            </a:r>
          </a:p>
        </p:txBody>
      </p:sp>
      <p:sp>
        <p:nvSpPr>
          <p:cNvPr id="43019" name="Text Box 11"/>
          <p:cNvSpPr txBox="1">
            <a:spLocks noChangeArrowheads="1"/>
          </p:cNvSpPr>
          <p:nvPr/>
        </p:nvSpPr>
        <p:spPr bwMode="auto">
          <a:xfrm>
            <a:off x="1660526" y="755650"/>
            <a:ext cx="4608513" cy="353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2000">
                <a:solidFill>
                  <a:prstClr val="black"/>
                </a:solidFill>
              </a:rPr>
              <a:t>It is possible to transform any string </a:t>
            </a:r>
            <a:r>
              <a:rPr lang="en-US" altLang="en-US" sz="2000" i="1">
                <a:solidFill>
                  <a:prstClr val="black"/>
                </a:solidFill>
              </a:rPr>
              <a:t>Q</a:t>
            </a:r>
            <a:r>
              <a:rPr lang="en-US" altLang="en-US" sz="2000">
                <a:solidFill>
                  <a:prstClr val="black"/>
                </a:solidFill>
              </a:rPr>
              <a:t> into string </a:t>
            </a:r>
            <a:r>
              <a:rPr lang="en-US" altLang="en-US" sz="2000" i="1">
                <a:solidFill>
                  <a:prstClr val="black"/>
                </a:solidFill>
              </a:rPr>
              <a:t>C</a:t>
            </a:r>
            <a:r>
              <a:rPr lang="en-US" altLang="en-US" sz="2000">
                <a:solidFill>
                  <a:prstClr val="black"/>
                </a:solidFill>
              </a:rPr>
              <a:t>, using only </a:t>
            </a:r>
            <a:r>
              <a:rPr lang="en-US" altLang="en-US" sz="2000" i="1">
                <a:solidFill>
                  <a:prstClr val="black"/>
                </a:solidFill>
              </a:rPr>
              <a:t>Substitution</a:t>
            </a:r>
            <a:r>
              <a:rPr lang="en-US" altLang="en-US" sz="2000">
                <a:solidFill>
                  <a:prstClr val="black"/>
                </a:solidFill>
              </a:rPr>
              <a:t>, </a:t>
            </a:r>
            <a:r>
              <a:rPr lang="en-US" altLang="en-US" sz="2000" i="1">
                <a:solidFill>
                  <a:prstClr val="black"/>
                </a:solidFill>
              </a:rPr>
              <a:t>Insertion</a:t>
            </a:r>
            <a:r>
              <a:rPr lang="en-US" altLang="en-US" sz="2000">
                <a:solidFill>
                  <a:prstClr val="black"/>
                </a:solidFill>
              </a:rPr>
              <a:t> and </a:t>
            </a:r>
            <a:r>
              <a:rPr lang="en-US" altLang="en-US" sz="2000" i="1">
                <a:solidFill>
                  <a:prstClr val="black"/>
                </a:solidFill>
              </a:rPr>
              <a:t>Deletion</a:t>
            </a:r>
            <a:r>
              <a:rPr lang="en-US" altLang="en-US" sz="2000">
                <a:solidFill>
                  <a:prstClr val="black"/>
                </a:solidFill>
              </a:rPr>
              <a:t>.</a:t>
            </a:r>
          </a:p>
          <a:p>
            <a:r>
              <a:rPr lang="en-US" altLang="en-US" sz="2000">
                <a:solidFill>
                  <a:prstClr val="black"/>
                </a:solidFill>
              </a:rPr>
              <a:t>Assume that each of these operators has a cost associated with it.</a:t>
            </a:r>
          </a:p>
          <a:p>
            <a:endParaRPr lang="en-US" altLang="en-US" sz="2000">
              <a:solidFill>
                <a:prstClr val="black"/>
              </a:solidFill>
            </a:endParaRPr>
          </a:p>
          <a:p>
            <a:r>
              <a:rPr lang="en-US" altLang="en-US" sz="2000">
                <a:solidFill>
                  <a:prstClr val="black"/>
                </a:solidFill>
              </a:rPr>
              <a:t>The similarity between two strings can be defined as the cost of the cheapest transformation from </a:t>
            </a:r>
            <a:r>
              <a:rPr lang="en-US" altLang="en-US" sz="2000" i="1">
                <a:solidFill>
                  <a:prstClr val="black"/>
                </a:solidFill>
              </a:rPr>
              <a:t>Q</a:t>
            </a:r>
            <a:r>
              <a:rPr lang="en-US" altLang="en-US" sz="2000">
                <a:solidFill>
                  <a:prstClr val="black"/>
                </a:solidFill>
              </a:rPr>
              <a:t> to </a:t>
            </a:r>
            <a:r>
              <a:rPr lang="en-US" altLang="en-US" sz="2000" i="1">
                <a:solidFill>
                  <a:prstClr val="black"/>
                </a:solidFill>
              </a:rPr>
              <a:t>C.</a:t>
            </a:r>
          </a:p>
          <a:p>
            <a:r>
              <a:rPr lang="en-US" altLang="en-US" sz="1400">
                <a:solidFill>
                  <a:prstClr val="black"/>
                </a:solidFill>
              </a:rPr>
              <a:t> </a:t>
            </a:r>
            <a:r>
              <a:rPr lang="en-US" altLang="en-US" sz="1000">
                <a:solidFill>
                  <a:srgbClr val="EEECE1"/>
                </a:solidFill>
              </a:rPr>
              <a:t>Note that for now we have ignored the issue of how we can find this cheapest transformation</a:t>
            </a:r>
            <a:r>
              <a:rPr lang="en-US" altLang="en-US" sz="1600">
                <a:solidFill>
                  <a:prstClr val="black"/>
                </a:solidFill>
              </a:rPr>
              <a:t>  </a:t>
            </a:r>
          </a:p>
          <a:p>
            <a:r>
              <a:rPr lang="en-US" altLang="en-US" sz="160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43020" name="Rectangle 12"/>
          <p:cNvSpPr>
            <a:spLocks noChangeArrowheads="1"/>
          </p:cNvSpPr>
          <p:nvPr/>
        </p:nvSpPr>
        <p:spPr bwMode="auto">
          <a:xfrm>
            <a:off x="6315076" y="1"/>
            <a:ext cx="4352925" cy="27717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3021" name="Text Box 13"/>
          <p:cNvSpPr txBox="1">
            <a:spLocks noChangeArrowheads="1"/>
          </p:cNvSpPr>
          <p:nvPr/>
        </p:nvSpPr>
        <p:spPr bwMode="auto">
          <a:xfrm>
            <a:off x="6451601" y="214313"/>
            <a:ext cx="4073525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>
                <a:solidFill>
                  <a:prstClr val="black"/>
                </a:solidFill>
              </a:rPr>
              <a:t>How similar are the names “Peter” and “Piotr”?</a:t>
            </a:r>
          </a:p>
          <a:p>
            <a:r>
              <a:rPr lang="en-US" altLang="en-US" sz="1600">
                <a:solidFill>
                  <a:prstClr val="black"/>
                </a:solidFill>
              </a:rPr>
              <a:t>Assume the following cost function 	</a:t>
            </a:r>
            <a:r>
              <a:rPr lang="en-US" altLang="en-US" sz="1600" i="1">
                <a:solidFill>
                  <a:prstClr val="black"/>
                </a:solidFill>
              </a:rPr>
              <a:t>Substitution	           </a:t>
            </a:r>
            <a:r>
              <a:rPr lang="en-US" altLang="en-US" sz="1600">
                <a:solidFill>
                  <a:prstClr val="black"/>
                </a:solidFill>
              </a:rPr>
              <a:t>1 Unit</a:t>
            </a:r>
          </a:p>
          <a:p>
            <a:pPr algn="r"/>
            <a:r>
              <a:rPr lang="en-US" altLang="en-US" sz="1600" i="1">
                <a:solidFill>
                  <a:prstClr val="black"/>
                </a:solidFill>
              </a:rPr>
              <a:t>Insertion		</a:t>
            </a:r>
            <a:r>
              <a:rPr lang="en-US" altLang="en-US" sz="1600">
                <a:solidFill>
                  <a:prstClr val="black"/>
                </a:solidFill>
              </a:rPr>
              <a:t>1 Unit</a:t>
            </a:r>
          </a:p>
          <a:p>
            <a:pPr algn="r"/>
            <a:r>
              <a:rPr lang="en-US" altLang="en-US" sz="1600" i="1">
                <a:solidFill>
                  <a:prstClr val="black"/>
                </a:solidFill>
              </a:rPr>
              <a:t>Deletion</a:t>
            </a:r>
            <a:r>
              <a:rPr lang="en-US" altLang="en-US" sz="1600">
                <a:solidFill>
                  <a:prstClr val="black"/>
                </a:solidFill>
              </a:rPr>
              <a:t>		1 Unit</a:t>
            </a:r>
          </a:p>
          <a:p>
            <a:endParaRPr lang="en-US" altLang="en-US" sz="2000">
              <a:solidFill>
                <a:prstClr val="black"/>
              </a:solidFill>
            </a:endParaRPr>
          </a:p>
          <a:p>
            <a:r>
              <a:rPr lang="en-US" altLang="en-US" sz="2000" i="1">
                <a:solidFill>
                  <a:prstClr val="black"/>
                </a:solidFill>
              </a:rPr>
              <a:t>D</a:t>
            </a:r>
            <a:r>
              <a:rPr lang="en-US" altLang="en-US" sz="2000">
                <a:solidFill>
                  <a:prstClr val="black"/>
                </a:solidFill>
              </a:rPr>
              <a:t>(</a:t>
            </a:r>
            <a:r>
              <a:rPr lang="en-US" altLang="en-US" sz="2000" b="1">
                <a:solidFill>
                  <a:prstClr val="black"/>
                </a:solidFill>
                <a:latin typeface="Courier New" pitchFamily="49" charset="0"/>
              </a:rPr>
              <a:t>Peter</a:t>
            </a:r>
            <a:r>
              <a:rPr lang="en-US" altLang="en-US" sz="2000">
                <a:solidFill>
                  <a:prstClr val="black"/>
                </a:solidFill>
                <a:latin typeface="Courier New" pitchFamily="49" charset="0"/>
              </a:rPr>
              <a:t>,</a:t>
            </a:r>
            <a:r>
              <a:rPr lang="en-US" altLang="en-US" sz="2000" b="1">
                <a:solidFill>
                  <a:prstClr val="black"/>
                </a:solidFill>
                <a:latin typeface="Courier New" pitchFamily="49" charset="0"/>
              </a:rPr>
              <a:t>Piotr</a:t>
            </a:r>
            <a:r>
              <a:rPr lang="en-US" altLang="en-US" sz="2000">
                <a:solidFill>
                  <a:prstClr val="black"/>
                </a:solidFill>
              </a:rPr>
              <a:t>) is 3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3022" name="Line 14"/>
          <p:cNvSpPr>
            <a:spLocks noChangeShapeType="1"/>
          </p:cNvSpPr>
          <p:nvPr/>
        </p:nvSpPr>
        <p:spPr bwMode="auto">
          <a:xfrm>
            <a:off x="1936751" y="5589588"/>
            <a:ext cx="4371975" cy="0"/>
          </a:xfrm>
          <a:prstGeom prst="line">
            <a:avLst/>
          </a:prstGeom>
          <a:noFill/>
          <a:ln w="4445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43023" name="Group 15"/>
          <p:cNvGrpSpPr>
            <a:grpSpLocks/>
          </p:cNvGrpSpPr>
          <p:nvPr/>
        </p:nvGrpSpPr>
        <p:grpSpPr bwMode="auto">
          <a:xfrm>
            <a:off x="2046288" y="3763964"/>
            <a:ext cx="3930650" cy="1639887"/>
            <a:chOff x="215" y="2808"/>
            <a:chExt cx="1887" cy="971"/>
          </a:xfrm>
        </p:grpSpPr>
        <p:sp>
          <p:nvSpPr>
            <p:cNvPr id="43035" name="Rectangle 16"/>
            <p:cNvSpPr>
              <a:spLocks noChangeArrowheads="1"/>
            </p:cNvSpPr>
            <p:nvPr/>
          </p:nvSpPr>
          <p:spPr bwMode="auto">
            <a:xfrm>
              <a:off x="215" y="3634"/>
              <a:ext cx="271" cy="145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43036" name="Rectangle 17"/>
            <p:cNvSpPr>
              <a:spLocks noChangeArrowheads="1"/>
            </p:cNvSpPr>
            <p:nvPr/>
          </p:nvSpPr>
          <p:spPr bwMode="auto">
            <a:xfrm>
              <a:off x="757" y="3497"/>
              <a:ext cx="271" cy="282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43037" name="Rectangle 18"/>
            <p:cNvSpPr>
              <a:spLocks noChangeArrowheads="1"/>
            </p:cNvSpPr>
            <p:nvPr/>
          </p:nvSpPr>
          <p:spPr bwMode="auto">
            <a:xfrm>
              <a:off x="1571" y="3497"/>
              <a:ext cx="261" cy="282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43038" name="Freeform 19"/>
            <p:cNvSpPr>
              <a:spLocks/>
            </p:cNvSpPr>
            <p:nvPr/>
          </p:nvSpPr>
          <p:spPr bwMode="auto">
            <a:xfrm>
              <a:off x="893" y="3397"/>
              <a:ext cx="407" cy="382"/>
            </a:xfrm>
            <a:custGeom>
              <a:avLst/>
              <a:gdLst>
                <a:gd name="T0" fmla="*/ 0 w 234"/>
                <a:gd name="T1" fmla="*/ 100 h 252"/>
                <a:gd name="T2" fmla="*/ 0 w 234"/>
                <a:gd name="T3" fmla="*/ 0 h 252"/>
                <a:gd name="T4" fmla="*/ 407 w 234"/>
                <a:gd name="T5" fmla="*/ 0 h 252"/>
                <a:gd name="T6" fmla="*/ 407 w 234"/>
                <a:gd name="T7" fmla="*/ 382 h 2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34"/>
                <a:gd name="T13" fmla="*/ 0 h 252"/>
                <a:gd name="T14" fmla="*/ 234 w 234"/>
                <a:gd name="T15" fmla="*/ 252 h 2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34" h="252">
                  <a:moveTo>
                    <a:pt x="0" y="66"/>
                  </a:moveTo>
                  <a:lnTo>
                    <a:pt x="0" y="0"/>
                  </a:lnTo>
                  <a:lnTo>
                    <a:pt x="234" y="0"/>
                  </a:lnTo>
                  <a:lnTo>
                    <a:pt x="234" y="25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3039" name="Freeform 20"/>
            <p:cNvSpPr>
              <a:spLocks/>
            </p:cNvSpPr>
            <p:nvPr/>
          </p:nvSpPr>
          <p:spPr bwMode="auto">
            <a:xfrm>
              <a:off x="1091" y="3251"/>
              <a:ext cx="616" cy="246"/>
            </a:xfrm>
            <a:custGeom>
              <a:avLst/>
              <a:gdLst>
                <a:gd name="T0" fmla="*/ 0 w 354"/>
                <a:gd name="T1" fmla="*/ 146 h 162"/>
                <a:gd name="T2" fmla="*/ 0 w 354"/>
                <a:gd name="T3" fmla="*/ 0 h 162"/>
                <a:gd name="T4" fmla="*/ 616 w 354"/>
                <a:gd name="T5" fmla="*/ 0 h 162"/>
                <a:gd name="T6" fmla="*/ 616 w 354"/>
                <a:gd name="T7" fmla="*/ 246 h 1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54"/>
                <a:gd name="T13" fmla="*/ 0 h 162"/>
                <a:gd name="T14" fmla="*/ 354 w 354"/>
                <a:gd name="T15" fmla="*/ 162 h 1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54" h="162">
                  <a:moveTo>
                    <a:pt x="0" y="96"/>
                  </a:moveTo>
                  <a:lnTo>
                    <a:pt x="0" y="0"/>
                  </a:lnTo>
                  <a:lnTo>
                    <a:pt x="354" y="0"/>
                  </a:lnTo>
                  <a:lnTo>
                    <a:pt x="354" y="16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3040" name="Freeform 21"/>
            <p:cNvSpPr>
              <a:spLocks/>
            </p:cNvSpPr>
            <p:nvPr/>
          </p:nvSpPr>
          <p:spPr bwMode="auto">
            <a:xfrm>
              <a:off x="351" y="3059"/>
              <a:ext cx="1043" cy="575"/>
            </a:xfrm>
            <a:custGeom>
              <a:avLst/>
              <a:gdLst>
                <a:gd name="T0" fmla="*/ 1043 w 600"/>
                <a:gd name="T1" fmla="*/ 192 h 378"/>
                <a:gd name="T2" fmla="*/ 1043 w 600"/>
                <a:gd name="T3" fmla="*/ 0 h 378"/>
                <a:gd name="T4" fmla="*/ 0 w 600"/>
                <a:gd name="T5" fmla="*/ 0 h 378"/>
                <a:gd name="T6" fmla="*/ 0 w 600"/>
                <a:gd name="T7" fmla="*/ 575 h 37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0"/>
                <a:gd name="T13" fmla="*/ 0 h 378"/>
                <a:gd name="T14" fmla="*/ 600 w 600"/>
                <a:gd name="T15" fmla="*/ 378 h 37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0" h="378">
                  <a:moveTo>
                    <a:pt x="600" y="126"/>
                  </a:moveTo>
                  <a:lnTo>
                    <a:pt x="600" y="0"/>
                  </a:lnTo>
                  <a:lnTo>
                    <a:pt x="0" y="0"/>
                  </a:lnTo>
                  <a:lnTo>
                    <a:pt x="0" y="378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3041" name="Freeform 22"/>
            <p:cNvSpPr>
              <a:spLocks/>
            </p:cNvSpPr>
            <p:nvPr/>
          </p:nvSpPr>
          <p:spPr bwMode="auto">
            <a:xfrm>
              <a:off x="872" y="2987"/>
              <a:ext cx="1230" cy="155"/>
            </a:xfrm>
            <a:custGeom>
              <a:avLst/>
              <a:gdLst>
                <a:gd name="T0" fmla="*/ 0 w 1038"/>
                <a:gd name="T1" fmla="*/ 73 h 102"/>
                <a:gd name="T2" fmla="*/ 0 w 1038"/>
                <a:gd name="T3" fmla="*/ 0 h 102"/>
                <a:gd name="T4" fmla="*/ 1230 w 1038"/>
                <a:gd name="T5" fmla="*/ 0 h 102"/>
                <a:gd name="T6" fmla="*/ 1230 w 1038"/>
                <a:gd name="T7" fmla="*/ 155 h 1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8"/>
                <a:gd name="T13" fmla="*/ 0 h 102"/>
                <a:gd name="T14" fmla="*/ 1038 w 1038"/>
                <a:gd name="T15" fmla="*/ 102 h 1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8" h="102">
                  <a:moveTo>
                    <a:pt x="0" y="48"/>
                  </a:moveTo>
                  <a:lnTo>
                    <a:pt x="0" y="0"/>
                  </a:lnTo>
                  <a:lnTo>
                    <a:pt x="1038" y="0"/>
                  </a:lnTo>
                  <a:lnTo>
                    <a:pt x="1038" y="102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3042" name="Line 23"/>
            <p:cNvSpPr>
              <a:spLocks noChangeShapeType="1"/>
            </p:cNvSpPr>
            <p:nvPr/>
          </p:nvSpPr>
          <p:spPr bwMode="auto">
            <a:xfrm>
              <a:off x="1774" y="2808"/>
              <a:ext cx="0" cy="18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3043" name="Line 24"/>
            <p:cNvSpPr>
              <a:spLocks noChangeShapeType="1"/>
            </p:cNvSpPr>
            <p:nvPr/>
          </p:nvSpPr>
          <p:spPr bwMode="auto">
            <a:xfrm>
              <a:off x="2101" y="2989"/>
              <a:ext cx="0" cy="77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43024" name="Line 25"/>
          <p:cNvSpPr>
            <a:spLocks noChangeShapeType="1"/>
          </p:cNvSpPr>
          <p:nvPr/>
        </p:nvSpPr>
        <p:spPr bwMode="auto">
          <a:xfrm>
            <a:off x="1676400" y="5395913"/>
            <a:ext cx="4578350" cy="0"/>
          </a:xfrm>
          <a:prstGeom prst="line">
            <a:avLst/>
          </a:prstGeom>
          <a:noFill/>
          <a:ln w="4445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43025" name="Group 26"/>
          <p:cNvGrpSpPr>
            <a:grpSpLocks/>
          </p:cNvGrpSpPr>
          <p:nvPr/>
        </p:nvGrpSpPr>
        <p:grpSpPr bwMode="auto">
          <a:xfrm>
            <a:off x="1644652" y="5159381"/>
            <a:ext cx="4513263" cy="1135063"/>
            <a:chOff x="12" y="3551"/>
            <a:chExt cx="2843" cy="715"/>
          </a:xfrm>
        </p:grpSpPr>
        <p:sp>
          <p:nvSpPr>
            <p:cNvPr id="43027" name="Rectangle 27"/>
            <p:cNvSpPr>
              <a:spLocks noChangeArrowheads="1"/>
            </p:cNvSpPr>
            <p:nvPr/>
          </p:nvSpPr>
          <p:spPr bwMode="auto">
            <a:xfrm rot="17665095">
              <a:off x="-118" y="3700"/>
              <a:ext cx="56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>
                  <a:solidFill>
                    <a:srgbClr val="000000"/>
                  </a:solidFill>
                  <a:latin typeface="Helvetica" pitchFamily="-111" charset="0"/>
                </a:rPr>
                <a:t> </a:t>
              </a:r>
              <a:r>
                <a:rPr lang="en-US" altLang="en-US">
                  <a:solidFill>
                    <a:prstClr val="black"/>
                  </a:solidFill>
                </a:rPr>
                <a:t>Piotr</a:t>
              </a:r>
            </a:p>
          </p:txBody>
        </p:sp>
        <p:sp>
          <p:nvSpPr>
            <p:cNvPr id="43028" name="Rectangle 28"/>
            <p:cNvSpPr>
              <a:spLocks noChangeArrowheads="1"/>
            </p:cNvSpPr>
            <p:nvPr/>
          </p:nvSpPr>
          <p:spPr bwMode="auto">
            <a:xfrm rot="17653022">
              <a:off x="271" y="3720"/>
              <a:ext cx="62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>
                  <a:solidFill>
                    <a:srgbClr val="000000"/>
                  </a:solidFill>
                  <a:latin typeface="Helvetica" pitchFamily="-111" charset="0"/>
                </a:rPr>
                <a:t> </a:t>
              </a:r>
              <a:r>
                <a:rPr lang="en-US" altLang="en-US">
                  <a:solidFill>
                    <a:prstClr val="black"/>
                  </a:solidFill>
                </a:rPr>
                <a:t>Pyotr</a:t>
              </a:r>
            </a:p>
          </p:txBody>
        </p:sp>
        <p:sp>
          <p:nvSpPr>
            <p:cNvPr id="43029" name="Rectangle 29"/>
            <p:cNvSpPr>
              <a:spLocks noChangeArrowheads="1"/>
            </p:cNvSpPr>
            <p:nvPr/>
          </p:nvSpPr>
          <p:spPr bwMode="auto">
            <a:xfrm rot="17671536">
              <a:off x="589" y="3759"/>
              <a:ext cx="70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>
                  <a:solidFill>
                    <a:srgbClr val="000000"/>
                  </a:solidFill>
                  <a:latin typeface="Helvetica" pitchFamily="-111" charset="0"/>
                </a:rPr>
                <a:t> </a:t>
              </a:r>
              <a:r>
                <a:rPr lang="en-US" altLang="en-US">
                  <a:solidFill>
                    <a:prstClr val="black"/>
                  </a:solidFill>
                </a:rPr>
                <a:t>Petros</a:t>
              </a:r>
            </a:p>
          </p:txBody>
        </p:sp>
        <p:sp>
          <p:nvSpPr>
            <p:cNvPr id="43030" name="Rectangle 30"/>
            <p:cNvSpPr>
              <a:spLocks noChangeArrowheads="1"/>
            </p:cNvSpPr>
            <p:nvPr/>
          </p:nvSpPr>
          <p:spPr bwMode="auto">
            <a:xfrm rot="17677189">
              <a:off x="997" y="3743"/>
              <a:ext cx="66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>
                  <a:solidFill>
                    <a:srgbClr val="000000"/>
                  </a:solidFill>
                  <a:latin typeface="Helvetica" pitchFamily="-111" charset="0"/>
                </a:rPr>
                <a:t> </a:t>
              </a:r>
              <a:r>
                <a:rPr lang="en-US" altLang="en-US">
                  <a:solidFill>
                    <a:prstClr val="black"/>
                  </a:solidFill>
                </a:rPr>
                <a:t>Pietro</a:t>
              </a:r>
            </a:p>
          </p:txBody>
        </p:sp>
        <p:sp>
          <p:nvSpPr>
            <p:cNvPr id="43031" name="Rectangle 31"/>
            <p:cNvSpPr>
              <a:spLocks noChangeArrowheads="1"/>
            </p:cNvSpPr>
            <p:nvPr/>
          </p:nvSpPr>
          <p:spPr bwMode="auto">
            <a:xfrm rot="17654038">
              <a:off x="1425" y="3718"/>
              <a:ext cx="56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>
                  <a:solidFill>
                    <a:prstClr val="black"/>
                  </a:solidFill>
                </a:rPr>
                <a:t>Pedro</a:t>
              </a:r>
            </a:p>
          </p:txBody>
        </p:sp>
        <p:sp>
          <p:nvSpPr>
            <p:cNvPr id="43032" name="Rectangle 32"/>
            <p:cNvSpPr>
              <a:spLocks noChangeArrowheads="1"/>
            </p:cNvSpPr>
            <p:nvPr/>
          </p:nvSpPr>
          <p:spPr bwMode="auto">
            <a:xfrm rot="17668660">
              <a:off x="1633" y="3741"/>
              <a:ext cx="67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>
                  <a:solidFill>
                    <a:srgbClr val="000000"/>
                  </a:solidFill>
                  <a:latin typeface="Helvetica" pitchFamily="-111" charset="0"/>
                </a:rPr>
                <a:t> </a:t>
              </a:r>
              <a:r>
                <a:rPr lang="en-US" altLang="en-US">
                  <a:solidFill>
                    <a:prstClr val="black"/>
                  </a:solidFill>
                </a:rPr>
                <a:t>Pierre</a:t>
              </a:r>
            </a:p>
          </p:txBody>
        </p:sp>
        <p:sp>
          <p:nvSpPr>
            <p:cNvPr id="43033" name="Rectangle 33"/>
            <p:cNvSpPr>
              <a:spLocks noChangeArrowheads="1"/>
            </p:cNvSpPr>
            <p:nvPr/>
          </p:nvSpPr>
          <p:spPr bwMode="auto">
            <a:xfrm rot="17650917">
              <a:off x="2036" y="3714"/>
              <a:ext cx="61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>
                  <a:solidFill>
                    <a:srgbClr val="000000"/>
                  </a:solidFill>
                  <a:latin typeface="Helvetica" pitchFamily="-111" charset="0"/>
                </a:rPr>
                <a:t> </a:t>
              </a:r>
              <a:r>
                <a:rPr lang="en-US" altLang="en-US">
                  <a:solidFill>
                    <a:prstClr val="black"/>
                  </a:solidFill>
                </a:rPr>
                <a:t>Piero</a:t>
              </a:r>
            </a:p>
          </p:txBody>
        </p:sp>
        <p:sp>
          <p:nvSpPr>
            <p:cNvPr id="43034" name="Rectangle 34"/>
            <p:cNvSpPr>
              <a:spLocks noChangeArrowheads="1"/>
            </p:cNvSpPr>
            <p:nvPr/>
          </p:nvSpPr>
          <p:spPr bwMode="auto">
            <a:xfrm rot="17649877">
              <a:off x="2398" y="3708"/>
              <a:ext cx="60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r>
                <a:rPr lang="en-US" altLang="en-US" sz="3200">
                  <a:solidFill>
                    <a:srgbClr val="000000"/>
                  </a:solidFill>
                  <a:latin typeface="Helvetica" pitchFamily="-111" charset="0"/>
                </a:rPr>
                <a:t> </a:t>
              </a:r>
              <a:r>
                <a:rPr lang="en-US" altLang="en-US">
                  <a:solidFill>
                    <a:prstClr val="black"/>
                  </a:solidFill>
                </a:rPr>
                <a:t>Peter</a:t>
              </a:r>
            </a:p>
          </p:txBody>
        </p:sp>
      </p:grpSp>
      <p:sp>
        <p:nvSpPr>
          <p:cNvPr id="43026" name="TextBox 34"/>
          <p:cNvSpPr txBox="1">
            <a:spLocks noChangeArrowheads="1"/>
          </p:cNvSpPr>
          <p:nvPr/>
        </p:nvSpPr>
        <p:spPr bwMode="auto">
          <a:xfrm>
            <a:off x="1524001" y="6488114"/>
            <a:ext cx="4252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solidFill>
                  <a:prstClr val="black"/>
                </a:solidFill>
              </a:rPr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515801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2686</Words>
  <Application>Microsoft Office PowerPoint</Application>
  <PresentationFormat>Widescreen</PresentationFormat>
  <Paragraphs>525</Paragraphs>
  <Slides>58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76" baseType="lpstr">
      <vt:lpstr>MS PGothic</vt:lpstr>
      <vt:lpstr>SimSun</vt:lpstr>
      <vt:lpstr>SimSun</vt:lpstr>
      <vt:lpstr>Arial</vt:lpstr>
      <vt:lpstr>Calibri</vt:lpstr>
      <vt:lpstr>Courier New</vt:lpstr>
      <vt:lpstr>Futura Bk</vt:lpstr>
      <vt:lpstr>Helvetica</vt:lpstr>
      <vt:lpstr>Symbol</vt:lpstr>
      <vt:lpstr>Tahoma</vt:lpstr>
      <vt:lpstr>Times</vt:lpstr>
      <vt:lpstr>Times New Roman</vt:lpstr>
      <vt:lpstr>Wingdings</vt:lpstr>
      <vt:lpstr>1_Office Theme</vt:lpstr>
      <vt:lpstr>2_Default Design</vt:lpstr>
      <vt:lpstr>3_Default Design</vt:lpstr>
      <vt:lpstr>Equation</vt:lpstr>
      <vt:lpstr>Chart</vt:lpstr>
      <vt:lpstr>Pattern Clustering: Introduction</vt:lpstr>
      <vt:lpstr>What is Cluster Analysis?</vt:lpstr>
      <vt:lpstr>Why cluster?</vt:lpstr>
      <vt:lpstr> Goal of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Two Types of Clustering</vt:lpstr>
      <vt:lpstr>Dendogram: A Useful Tool for Summarizing Similarity Measurements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Hierarchical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Linkage Methods of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Clusters: Objective Function</vt:lpstr>
      <vt:lpstr>Types of Clusters: Objective Function …</vt:lpstr>
      <vt:lpstr>Membership matrix M</vt:lpstr>
      <vt:lpstr>c-partition</vt:lpstr>
      <vt:lpstr>Objective Functions: Hard and Fuzzy C Means</vt:lpstr>
      <vt:lpstr>K-Means Type Clustering Algorithms </vt:lpstr>
      <vt:lpstr>The Objective Function of K-Means</vt:lpstr>
      <vt:lpstr>PowerPoint Presentation</vt:lpstr>
      <vt:lpstr>K-means Clustering: Step 1</vt:lpstr>
      <vt:lpstr>K-means Clustering: Step 2</vt:lpstr>
      <vt:lpstr>K-means Clustering: Step 3</vt:lpstr>
      <vt:lpstr>K-means Clustering: Step 4</vt:lpstr>
      <vt:lpstr>K-means Clustering: Step 5</vt:lpstr>
      <vt:lpstr>Two different K-means Clustering</vt:lpstr>
      <vt:lpstr>Importance of Choosing Initial Centroids</vt:lpstr>
      <vt:lpstr>Importance of Choosing Initial Centroids</vt:lpstr>
      <vt:lpstr>Importance of Choosing Initial Centroids …</vt:lpstr>
      <vt:lpstr>Importance of Choosing Initial Centroids …</vt:lpstr>
      <vt:lpstr>Landscape for Clustering Problem</vt:lpstr>
      <vt:lpstr>PowerPoint Presentation</vt:lpstr>
      <vt:lpstr>Limitations of K-means</vt:lpstr>
      <vt:lpstr>Limitations of K-means: Differing Sizes</vt:lpstr>
      <vt:lpstr>Limitations of K-means: Differing Density</vt:lpstr>
      <vt:lpstr>Limitations of K-means: Non-globular and linearly non-separable Shapes</vt:lpstr>
      <vt:lpstr>Comments on k-Means</vt:lpstr>
      <vt:lpstr>How do we measure similarity?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 Clustering: Introduction</dc:title>
  <dc:creator>Microsoft account</dc:creator>
  <cp:lastModifiedBy>Microsoft account</cp:lastModifiedBy>
  <cp:revision>1</cp:revision>
  <dcterms:created xsi:type="dcterms:W3CDTF">2021-06-11T11:35:01Z</dcterms:created>
  <dcterms:modified xsi:type="dcterms:W3CDTF">2021-06-11T11:36:04Z</dcterms:modified>
</cp:coreProperties>
</file>