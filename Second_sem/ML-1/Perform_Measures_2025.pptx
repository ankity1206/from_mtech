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481" r:id="rId3"/>
    <p:sldId id="482" r:id="rId4"/>
    <p:sldId id="483" r:id="rId5"/>
    <p:sldId id="509" r:id="rId6"/>
    <p:sldId id="484" r:id="rId7"/>
    <p:sldId id="256" r:id="rId8"/>
    <p:sldId id="257" r:id="rId9"/>
    <p:sldId id="511" r:id="rId10"/>
    <p:sldId id="512" r:id="rId11"/>
    <p:sldId id="258" r:id="rId12"/>
    <p:sldId id="259"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33E3-1918-2E1E-0D7D-524D8F67A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514440-9AC3-C486-006C-BBD9130891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B97B0A-882B-1EBB-48E4-D8E9EC6432E5}"/>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3A760517-795C-6B99-5DAC-2A34C9D78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A37578-4C9D-CB43-71B3-7DEF775AA71B}"/>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4069219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65187-F13D-0246-0B7C-67E1E53534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DC9010-999E-AE23-EA08-2D4F684D8E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D9E78B-D7C0-86E9-CECF-64369B10DFCB}"/>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920BD028-6F26-E830-8004-7355F3830C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466834-9F0D-2D92-F0BE-014D9E5C9D43}"/>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1690595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A6899-30AC-5BCE-1F77-1C58D6851D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64B61C-2320-798B-599C-F53FAC173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5D2188-56FC-8A73-4B76-19FFD6C7D4C9}"/>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748B464A-D025-B772-1C57-3E7EC3D0C2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1B4687-3A1B-5879-A54E-FA553995EAF1}"/>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4219048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C6BC-677C-A4B4-FBFF-B55A46743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CAB885-11E3-7EF3-20A6-F63F37A0FB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AF6445-CBC8-4992-B0E6-0E747A6E29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48E2B8-EC36-6C4B-0455-A6466A2F028F}"/>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6" name="Footer Placeholder 5">
            <a:extLst>
              <a:ext uri="{FF2B5EF4-FFF2-40B4-BE49-F238E27FC236}">
                <a16:creationId xmlns:a16="http://schemas.microsoft.com/office/drawing/2014/main" id="{784A5A10-1671-518A-A5F7-B2D93E9C3D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7D9281-3DB3-421F-A2E4-37B39F77EAB2}"/>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319943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BAEE-B6E4-61D7-9279-FEAF417898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7A0552-D849-E78E-E79D-B549B5DD63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259424-7674-6886-C72D-9F463A46AF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FDF49D-4414-E7B0-2CBD-85C7F4408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FF0BD7-2C25-BC1B-4FE8-3B5A5D8234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32C7DD-800B-A223-EB88-554FFCC27ED8}"/>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8" name="Footer Placeholder 7">
            <a:extLst>
              <a:ext uri="{FF2B5EF4-FFF2-40B4-BE49-F238E27FC236}">
                <a16:creationId xmlns:a16="http://schemas.microsoft.com/office/drawing/2014/main" id="{5C7DD56E-1FF1-6C0E-C8F0-7C14F570D1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E4EBDD-4EBC-4BA0-B2CA-B0B459544098}"/>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2455398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3426-3A3E-3AAE-8FDF-DB7A3B94CB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C0A219-2F3D-CC36-F1EA-8DE6C7CBFC0D}"/>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4" name="Footer Placeholder 3">
            <a:extLst>
              <a:ext uri="{FF2B5EF4-FFF2-40B4-BE49-F238E27FC236}">
                <a16:creationId xmlns:a16="http://schemas.microsoft.com/office/drawing/2014/main" id="{00815E04-037F-3645-4D57-41474593F2C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E70FCB-284F-5DFA-78B0-7AFEBA71ED01}"/>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1429384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5E7224-2F6C-534F-1793-CCBD82A023E7}"/>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3" name="Footer Placeholder 2">
            <a:extLst>
              <a:ext uri="{FF2B5EF4-FFF2-40B4-BE49-F238E27FC236}">
                <a16:creationId xmlns:a16="http://schemas.microsoft.com/office/drawing/2014/main" id="{9DCD78B8-C2A0-C30D-2D54-E247BAE6E6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BB4E06-1FBD-5538-8ACE-F19B6DCA6922}"/>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282674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753C-C4E9-FB74-D64B-232772B3B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468D32-D811-A777-17EB-CDC9F931A7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7CE838-21A0-0FED-4A23-F01B3ACF11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198FB-A7DA-CF18-4528-7521983E692D}"/>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6" name="Footer Placeholder 5">
            <a:extLst>
              <a:ext uri="{FF2B5EF4-FFF2-40B4-BE49-F238E27FC236}">
                <a16:creationId xmlns:a16="http://schemas.microsoft.com/office/drawing/2014/main" id="{68A38AF6-45D8-8B38-D6D9-AF0ABD7D52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484F10-BF69-1BCE-637C-15E17DC4BBB5}"/>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1049074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94046-5F4F-479B-C4F4-8A79C5C148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297F19-0BD6-48B6-6DFD-17928B43D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7A72FE-8CBA-EB83-BB67-0CE818178C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CFBF5-DCA9-DDD8-A3EF-D9B752E04B8C}"/>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6" name="Footer Placeholder 5">
            <a:extLst>
              <a:ext uri="{FF2B5EF4-FFF2-40B4-BE49-F238E27FC236}">
                <a16:creationId xmlns:a16="http://schemas.microsoft.com/office/drawing/2014/main" id="{D635B228-2F6B-CCD7-5380-101883905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E2B30F-05F4-5909-3299-1D4E9B82458A}"/>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879683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8F7F-C5D8-FD54-A88F-04A1E359B5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425C35-9AFB-DFE7-320F-4F5C0580CB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EEF9C-9CC3-C11A-29E5-0CB7FB9C44DB}"/>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E8AA39CE-31C1-071E-F675-284221A24C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7E1EC-5183-78EB-3EE7-51A6958E85A2}"/>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1907145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4A04A8-300A-60BD-FA50-CA26A6540A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2806F4-38DB-B6A4-E2DE-31236691B2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B4E71A-2502-CFE7-11F3-9753873C05D6}"/>
              </a:ext>
            </a:extLst>
          </p:cNvPr>
          <p:cNvSpPr>
            <a:spLocks noGrp="1"/>
          </p:cNvSpPr>
          <p:nvPr>
            <p:ph type="dt" sz="half" idx="10"/>
          </p:nvPr>
        </p:nvSpPr>
        <p:spPr/>
        <p:txBody>
          <a:body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9F63A651-82AA-0F66-70B3-B539C8D983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5DCD2-A119-9A5A-480F-3CC5EC364ED5}"/>
              </a:ext>
            </a:extLst>
          </p:cNvPr>
          <p:cNvSpPr>
            <a:spLocks noGrp="1"/>
          </p:cNvSpPr>
          <p:nvPr>
            <p:ph type="sldNum" sz="quarter" idx="12"/>
          </p:nvPr>
        </p:nvSpPr>
        <p:spPr/>
        <p:txBody>
          <a:bodyPr/>
          <a:lstStyle/>
          <a:p>
            <a:fld id="{2DEDD81D-00EE-4476-B02C-E3AB33C4B732}" type="slidenum">
              <a:rPr lang="en-IN" smtClean="0"/>
              <a:t>‹#›</a:t>
            </a:fld>
            <a:endParaRPr lang="en-IN"/>
          </a:p>
        </p:txBody>
      </p:sp>
    </p:spTree>
    <p:extLst>
      <p:ext uri="{BB962C8B-B14F-4D97-AF65-F5344CB8AC3E}">
        <p14:creationId xmlns:p14="http://schemas.microsoft.com/office/powerpoint/2010/main" val="2535821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4C03E-E514-7873-F28C-4452E7FD2D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191AD9-2E4B-B577-F60E-3F625DE7B8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042FEC-E395-848F-F38F-87D6DFBF31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2CFE54-CE2F-43E6-AA08-1E453B49233F}" type="datetimeFigureOut">
              <a:rPr lang="en-IN" smtClean="0"/>
              <a:t>02-03-2025</a:t>
            </a:fld>
            <a:endParaRPr lang="en-IN"/>
          </a:p>
        </p:txBody>
      </p:sp>
      <p:sp>
        <p:nvSpPr>
          <p:cNvPr id="5" name="Footer Placeholder 4">
            <a:extLst>
              <a:ext uri="{FF2B5EF4-FFF2-40B4-BE49-F238E27FC236}">
                <a16:creationId xmlns:a16="http://schemas.microsoft.com/office/drawing/2014/main" id="{CB6C1E06-1243-7A75-D041-D0A833F8D4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FD2F46-0311-C736-314E-3F6B5C2E2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DD81D-00EE-4476-B02C-E3AB33C4B732}" type="slidenum">
              <a:rPr lang="en-IN" smtClean="0"/>
              <a:t>‹#›</a:t>
            </a:fld>
            <a:endParaRPr lang="en-IN"/>
          </a:p>
        </p:txBody>
      </p:sp>
    </p:spTree>
    <p:extLst>
      <p:ext uri="{BB962C8B-B14F-4D97-AF65-F5344CB8AC3E}">
        <p14:creationId xmlns:p14="http://schemas.microsoft.com/office/powerpoint/2010/main" val="283546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B77EEA-F5AD-60EF-85C0-AB8D17F320E0}"/>
              </a:ext>
            </a:extLst>
          </p:cNvPr>
          <p:cNvSpPr txBox="1"/>
          <p:nvPr/>
        </p:nvSpPr>
        <p:spPr>
          <a:xfrm>
            <a:off x="1588170" y="2719137"/>
            <a:ext cx="10347158" cy="769441"/>
          </a:xfrm>
          <a:prstGeom prst="rect">
            <a:avLst/>
          </a:prstGeom>
          <a:noFill/>
        </p:spPr>
        <p:txBody>
          <a:bodyPr wrap="square" rtlCol="0">
            <a:spAutoFit/>
          </a:bodyPr>
          <a:lstStyle/>
          <a:p>
            <a:r>
              <a:rPr lang="en-IN" sz="4400" b="1" dirty="0">
                <a:solidFill>
                  <a:srgbClr val="C00000"/>
                </a:solidFill>
              </a:rPr>
              <a:t>Performance Measures for Classifiers</a:t>
            </a:r>
          </a:p>
        </p:txBody>
      </p:sp>
    </p:spTree>
    <p:extLst>
      <p:ext uri="{BB962C8B-B14F-4D97-AF65-F5344CB8AC3E}">
        <p14:creationId xmlns:p14="http://schemas.microsoft.com/office/powerpoint/2010/main" val="547726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52601" y="228601"/>
            <a:ext cx="4478149" cy="461665"/>
          </a:xfrm>
          <a:prstGeom prst="rect">
            <a:avLst/>
          </a:prstGeom>
          <a:noFill/>
        </p:spPr>
        <p:txBody>
          <a:bodyPr wrap="none" rtlCol="0">
            <a:spAutoFit/>
          </a:bodyPr>
          <a:lstStyle/>
          <a:p>
            <a:r>
              <a:rPr lang="en-US" sz="2400">
                <a:solidFill>
                  <a:srgbClr val="C00000"/>
                </a:solidFill>
                <a:latin typeface="Arial Rounded MT Bold" panose="020F0704030504030204" pitchFamily="34" charset="0"/>
              </a:rPr>
              <a:t>A matrix that confuses??!!!!!!</a:t>
            </a:r>
          </a:p>
        </p:txBody>
      </p:sp>
      <p:sp>
        <p:nvSpPr>
          <p:cNvPr id="5" name="Rectangle 4"/>
          <p:cNvSpPr/>
          <p:nvPr/>
        </p:nvSpPr>
        <p:spPr>
          <a:xfrm>
            <a:off x="1905000" y="814765"/>
            <a:ext cx="8153400" cy="923330"/>
          </a:xfrm>
          <a:prstGeom prst="rect">
            <a:avLst/>
          </a:prstGeom>
        </p:spPr>
        <p:txBody>
          <a:bodyPr wrap="square">
            <a:spAutoFit/>
          </a:bodyPr>
          <a:lstStyle/>
          <a:p>
            <a:r>
              <a:rPr lang="en-US" dirty="0">
                <a:solidFill>
                  <a:srgbClr val="444444"/>
                </a:solidFill>
                <a:latin typeface="Open Sans"/>
              </a:rPr>
              <a:t>A confusion matrix is a table that is often used to </a:t>
            </a:r>
            <a:r>
              <a:rPr lang="en-US" b="1" dirty="0">
                <a:solidFill>
                  <a:srgbClr val="444444"/>
                </a:solidFill>
                <a:latin typeface="Open Sans"/>
              </a:rPr>
              <a:t>describe the performance of a classification model</a:t>
            </a:r>
            <a:r>
              <a:rPr lang="en-US" dirty="0">
                <a:solidFill>
                  <a:srgbClr val="444444"/>
                </a:solidFill>
                <a:latin typeface="Open Sans"/>
              </a:rPr>
              <a:t> (or "classifier") on a set of test data for which the true values are known. </a:t>
            </a:r>
            <a:endParaRPr lang="en-US" dirty="0"/>
          </a:p>
        </p:txBody>
      </p:sp>
      <p:pic>
        <p:nvPicPr>
          <p:cNvPr id="45058" name="Picture 2" descr="Example confusion matrix for a binary class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13" y="2057401"/>
            <a:ext cx="3810000" cy="224517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486400" y="1676400"/>
            <a:ext cx="5181600" cy="4339650"/>
          </a:xfrm>
          <a:prstGeom prst="rect">
            <a:avLst/>
          </a:prstGeom>
        </p:spPr>
        <p:txBody>
          <a:bodyPr wrap="square">
            <a:spAutoFit/>
          </a:bodyPr>
          <a:lstStyle/>
          <a:p>
            <a:r>
              <a:rPr lang="en-US" dirty="0">
                <a:solidFill>
                  <a:srgbClr val="444444"/>
                </a:solidFill>
                <a:latin typeface="Open Sans"/>
              </a:rPr>
              <a:t>What can we learn from this matrix?</a:t>
            </a:r>
          </a:p>
          <a:p>
            <a:endParaRPr lang="en-US" dirty="0">
              <a:solidFill>
                <a:srgbClr val="444444"/>
              </a:solidFill>
              <a:latin typeface="Open Sans"/>
            </a:endParaRPr>
          </a:p>
          <a:p>
            <a:pPr>
              <a:buFont typeface="Arial" panose="020B0604020202020204" pitchFamily="34" charset="0"/>
              <a:buChar char="•"/>
            </a:pPr>
            <a:r>
              <a:rPr lang="en-US" sz="1600" dirty="0">
                <a:solidFill>
                  <a:srgbClr val="0000FF"/>
                </a:solidFill>
                <a:latin typeface="Arial Rounded MT Bold" panose="020F0704030504030204" pitchFamily="34" charset="0"/>
              </a:rPr>
              <a:t>There are two possible predicted classes: "yes" and "no". If we were predicting </a:t>
            </a:r>
            <a:r>
              <a:rPr lang="en-US" sz="1600" dirty="0">
                <a:solidFill>
                  <a:srgbClr val="C00000"/>
                </a:solidFill>
                <a:latin typeface="Arial Rounded MT Bold" panose="020F0704030504030204" pitchFamily="34" charset="0"/>
              </a:rPr>
              <a:t>the presence of a disease</a:t>
            </a:r>
            <a:r>
              <a:rPr lang="en-US" sz="1600" dirty="0">
                <a:solidFill>
                  <a:srgbClr val="0000FF"/>
                </a:solidFill>
                <a:latin typeface="Arial Rounded MT Bold" panose="020F0704030504030204" pitchFamily="34" charset="0"/>
              </a:rPr>
              <a:t>, for example, "yes" would mean they have the disease, and "no" would </a:t>
            </a:r>
            <a:r>
              <a:rPr lang="en-US" sz="1600" dirty="0">
                <a:solidFill>
                  <a:srgbClr val="C00000"/>
                </a:solidFill>
                <a:latin typeface="Arial Rounded MT Bold" panose="020F0704030504030204" pitchFamily="34" charset="0"/>
              </a:rPr>
              <a:t>mean they don't have the disease</a:t>
            </a:r>
            <a:r>
              <a:rPr lang="en-US" sz="1600" dirty="0">
                <a:solidFill>
                  <a:srgbClr val="0000FF"/>
                </a:solidFill>
                <a:latin typeface="Arial Rounded MT Bold" panose="020F0704030504030204" pitchFamily="34" charset="0"/>
              </a:rPr>
              <a:t>.</a:t>
            </a:r>
          </a:p>
          <a:p>
            <a:pPr>
              <a:buFont typeface="Arial" panose="020B0604020202020204" pitchFamily="34" charset="0"/>
              <a:buChar char="•"/>
            </a:pPr>
            <a:endParaRPr lang="en-US" sz="1600" dirty="0">
              <a:solidFill>
                <a:srgbClr val="0000FF"/>
              </a:solidFill>
              <a:latin typeface="Arial Rounded MT Bold" panose="020F0704030504030204" pitchFamily="34" charset="0"/>
            </a:endParaRPr>
          </a:p>
          <a:p>
            <a:pPr>
              <a:buFont typeface="Arial" panose="020B0604020202020204" pitchFamily="34" charset="0"/>
              <a:buChar char="•"/>
            </a:pPr>
            <a:r>
              <a:rPr lang="en-US" sz="1600" dirty="0">
                <a:solidFill>
                  <a:srgbClr val="0000FF"/>
                </a:solidFill>
                <a:latin typeface="Arial Rounded MT Bold" panose="020F0704030504030204" pitchFamily="34" charset="0"/>
              </a:rPr>
              <a:t>The classifier made a total of 165 predictions (e.g., 165 patients were being tested for the presence of that disease).</a:t>
            </a:r>
          </a:p>
          <a:p>
            <a:pPr>
              <a:buFont typeface="Arial" panose="020B0604020202020204" pitchFamily="34" charset="0"/>
              <a:buChar char="•"/>
            </a:pPr>
            <a:endParaRPr lang="en-US" sz="1600" dirty="0">
              <a:solidFill>
                <a:srgbClr val="0000FF"/>
              </a:solidFill>
              <a:latin typeface="Arial Rounded MT Bold" panose="020F0704030504030204" pitchFamily="34" charset="0"/>
            </a:endParaRPr>
          </a:p>
          <a:p>
            <a:pPr>
              <a:buFont typeface="Arial" panose="020B0604020202020204" pitchFamily="34" charset="0"/>
              <a:buChar char="•"/>
            </a:pPr>
            <a:r>
              <a:rPr lang="en-US" sz="1600" dirty="0">
                <a:solidFill>
                  <a:srgbClr val="0000FF"/>
                </a:solidFill>
                <a:latin typeface="Arial Rounded MT Bold" panose="020F0704030504030204" pitchFamily="34" charset="0"/>
              </a:rPr>
              <a:t>Out of those 165 cases, the classifier predicted "yes" 110 times, and "no" 55 times.</a:t>
            </a:r>
          </a:p>
          <a:p>
            <a:pPr>
              <a:buFont typeface="Arial" panose="020B0604020202020204" pitchFamily="34" charset="0"/>
              <a:buChar char="•"/>
            </a:pPr>
            <a:endParaRPr lang="en-US" sz="1600" dirty="0">
              <a:solidFill>
                <a:srgbClr val="0000FF"/>
              </a:solidFill>
              <a:latin typeface="Arial Rounded MT Bold" panose="020F0704030504030204" pitchFamily="34" charset="0"/>
            </a:endParaRPr>
          </a:p>
          <a:p>
            <a:pPr>
              <a:buFont typeface="Arial" panose="020B0604020202020204" pitchFamily="34" charset="0"/>
              <a:buChar char="•"/>
            </a:pPr>
            <a:r>
              <a:rPr lang="en-US" sz="1600" dirty="0">
                <a:solidFill>
                  <a:srgbClr val="0000FF"/>
                </a:solidFill>
                <a:latin typeface="Arial Rounded MT Bold" panose="020F0704030504030204" pitchFamily="34" charset="0"/>
              </a:rPr>
              <a:t>In reality, 105 patients in the sample have the disease, and 60 patients do not.</a:t>
            </a:r>
          </a:p>
        </p:txBody>
      </p:sp>
    </p:spTree>
    <p:extLst>
      <p:ext uri="{BB962C8B-B14F-4D97-AF65-F5344CB8AC3E}">
        <p14:creationId xmlns:p14="http://schemas.microsoft.com/office/powerpoint/2010/main" val="234040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6400" y="228600"/>
            <a:ext cx="8915400" cy="2308324"/>
          </a:xfrm>
          <a:prstGeom prst="rect">
            <a:avLst/>
          </a:prstGeom>
        </p:spPr>
        <p:txBody>
          <a:bodyPr wrap="square">
            <a:spAutoFit/>
          </a:bodyPr>
          <a:lstStyle/>
          <a:p>
            <a:r>
              <a:rPr lang="en-US" sz="1600" dirty="0">
                <a:solidFill>
                  <a:srgbClr val="444444"/>
                </a:solidFill>
                <a:latin typeface="Arial Rounded MT Bold" panose="020F0704030504030204" pitchFamily="34" charset="0"/>
              </a:rPr>
              <a:t>Let's now define the most basic terms, which are whole numbers (not rates):</a:t>
            </a:r>
          </a:p>
          <a:p>
            <a:endParaRPr lang="en-US" sz="1600" dirty="0">
              <a:solidFill>
                <a:srgbClr val="444444"/>
              </a:solidFill>
              <a:latin typeface="Arial Rounded MT Bold" panose="020F0704030504030204" pitchFamily="34" charset="0"/>
            </a:endParaRPr>
          </a:p>
          <a:p>
            <a:pPr>
              <a:buFont typeface="Arial" panose="020B0604020202020204" pitchFamily="34" charset="0"/>
              <a:buChar char="•"/>
            </a:pPr>
            <a:r>
              <a:rPr lang="en-US" sz="1600" b="1" dirty="0">
                <a:solidFill>
                  <a:srgbClr val="444444"/>
                </a:solidFill>
                <a:latin typeface="Arial Rounded MT Bold" panose="020F0704030504030204" pitchFamily="34" charset="0"/>
              </a:rPr>
              <a:t> </a:t>
            </a:r>
            <a:r>
              <a:rPr lang="en-US" sz="1600" b="1" dirty="0">
                <a:solidFill>
                  <a:srgbClr val="C00000"/>
                </a:solidFill>
                <a:latin typeface="Arial Rounded MT Bold" panose="020F0704030504030204" pitchFamily="34" charset="0"/>
              </a:rPr>
              <a:t>True positives (TP):</a:t>
            </a:r>
            <a:r>
              <a:rPr lang="en-US" sz="1600" dirty="0">
                <a:solidFill>
                  <a:srgbClr val="C00000"/>
                </a:solidFill>
                <a:latin typeface="Arial Rounded MT Bold" panose="020F0704030504030204" pitchFamily="34" charset="0"/>
              </a:rPr>
              <a:t> </a:t>
            </a:r>
            <a:r>
              <a:rPr lang="en-US" sz="1600" dirty="0">
                <a:solidFill>
                  <a:srgbClr val="444444"/>
                </a:solidFill>
                <a:latin typeface="Arial Rounded MT Bold" panose="020F0704030504030204" pitchFamily="34" charset="0"/>
              </a:rPr>
              <a:t>These are cases in which we predicted yes (they have the disease),    and they do have the disease.</a:t>
            </a:r>
          </a:p>
          <a:p>
            <a:pPr>
              <a:buFont typeface="Arial" panose="020B0604020202020204" pitchFamily="34" charset="0"/>
              <a:buChar char="•"/>
            </a:pPr>
            <a:r>
              <a:rPr lang="en-US" sz="1600" b="1" dirty="0">
                <a:solidFill>
                  <a:srgbClr val="444444"/>
                </a:solidFill>
                <a:latin typeface="Arial Rounded MT Bold" panose="020F0704030504030204" pitchFamily="34" charset="0"/>
              </a:rPr>
              <a:t> </a:t>
            </a:r>
            <a:r>
              <a:rPr lang="en-US" sz="1600" b="1" dirty="0">
                <a:solidFill>
                  <a:srgbClr val="C00000"/>
                </a:solidFill>
                <a:latin typeface="Arial Rounded MT Bold" panose="020F0704030504030204" pitchFamily="34" charset="0"/>
              </a:rPr>
              <a:t>True negatives (TN):</a:t>
            </a:r>
            <a:r>
              <a:rPr lang="en-US" sz="1600" dirty="0">
                <a:solidFill>
                  <a:srgbClr val="444444"/>
                </a:solidFill>
                <a:latin typeface="Arial Rounded MT Bold" panose="020F0704030504030204" pitchFamily="34" charset="0"/>
              </a:rPr>
              <a:t> We predicted no, and they don't have the disease.</a:t>
            </a:r>
          </a:p>
          <a:p>
            <a:pPr>
              <a:buFont typeface="Arial" panose="020B0604020202020204" pitchFamily="34" charset="0"/>
              <a:buChar char="•"/>
            </a:pPr>
            <a:r>
              <a:rPr lang="en-US" sz="1600" b="1" dirty="0">
                <a:solidFill>
                  <a:srgbClr val="444444"/>
                </a:solidFill>
                <a:latin typeface="Arial Rounded MT Bold" panose="020F0704030504030204" pitchFamily="34" charset="0"/>
              </a:rPr>
              <a:t> </a:t>
            </a:r>
            <a:r>
              <a:rPr lang="en-US" sz="1600" b="1" dirty="0">
                <a:solidFill>
                  <a:srgbClr val="C00000"/>
                </a:solidFill>
                <a:latin typeface="Arial Rounded MT Bold" panose="020F0704030504030204" pitchFamily="34" charset="0"/>
              </a:rPr>
              <a:t>False positives (FP):</a:t>
            </a:r>
            <a:r>
              <a:rPr lang="en-US" sz="1600" dirty="0">
                <a:solidFill>
                  <a:srgbClr val="C00000"/>
                </a:solidFill>
                <a:latin typeface="Arial Rounded MT Bold" panose="020F0704030504030204" pitchFamily="34" charset="0"/>
              </a:rPr>
              <a:t> </a:t>
            </a:r>
            <a:r>
              <a:rPr lang="en-US" sz="1600" dirty="0">
                <a:solidFill>
                  <a:srgbClr val="444444"/>
                </a:solidFill>
                <a:latin typeface="Arial Rounded MT Bold" panose="020F0704030504030204" pitchFamily="34" charset="0"/>
              </a:rPr>
              <a:t>We predicted yes, but they don't actually have the disease. (Also known as a "Type I error.")</a:t>
            </a:r>
          </a:p>
          <a:p>
            <a:pPr>
              <a:buFont typeface="Arial" panose="020B0604020202020204" pitchFamily="34" charset="0"/>
              <a:buChar char="•"/>
            </a:pPr>
            <a:r>
              <a:rPr lang="en-US" sz="1600" b="1" dirty="0">
                <a:solidFill>
                  <a:srgbClr val="444444"/>
                </a:solidFill>
                <a:latin typeface="Arial Rounded MT Bold" panose="020F0704030504030204" pitchFamily="34" charset="0"/>
              </a:rPr>
              <a:t> </a:t>
            </a:r>
            <a:r>
              <a:rPr lang="en-US" sz="1600" b="1" dirty="0">
                <a:solidFill>
                  <a:srgbClr val="C00000"/>
                </a:solidFill>
                <a:latin typeface="Arial Rounded MT Bold" panose="020F0704030504030204" pitchFamily="34" charset="0"/>
              </a:rPr>
              <a:t>False negatives (FN):</a:t>
            </a:r>
            <a:r>
              <a:rPr lang="en-US" sz="1600" dirty="0">
                <a:solidFill>
                  <a:srgbClr val="444444"/>
                </a:solidFill>
                <a:latin typeface="Arial Rounded MT Bold" panose="020F0704030504030204" pitchFamily="34" charset="0"/>
              </a:rPr>
              <a:t> We predicted no, but they actually do have the disease. (Also known as a "Type II error.")</a:t>
            </a:r>
          </a:p>
        </p:txBody>
      </p:sp>
      <p:pic>
        <p:nvPicPr>
          <p:cNvPr id="46082" name="Picture 2" descr="Example confusion matrix for a binary class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819401"/>
            <a:ext cx="6629400" cy="3784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71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6031" y="3595325"/>
            <a:ext cx="8534400" cy="2893100"/>
          </a:xfrm>
          <a:prstGeom prst="rect">
            <a:avLst/>
          </a:prstGeom>
        </p:spPr>
        <p:txBody>
          <a:bodyPr wrap="square">
            <a:spAutoFit/>
          </a:bodyPr>
          <a:lstStyle/>
          <a:p>
            <a:r>
              <a:rPr lang="en-US" sz="1600" dirty="0">
                <a:solidFill>
                  <a:srgbClr val="444444"/>
                </a:solidFill>
                <a:latin typeface="Open Sans"/>
              </a:rPr>
              <a:t>This is a list of rates that are often computed from a confusion matrix for a binary classifier:</a:t>
            </a:r>
          </a:p>
          <a:p>
            <a:pPr>
              <a:buFont typeface="Arial" panose="020B0604020202020204" pitchFamily="34" charset="0"/>
              <a:buChar char="•"/>
            </a:pPr>
            <a:r>
              <a:rPr lang="en-US" sz="1600" b="1" dirty="0">
                <a:solidFill>
                  <a:srgbClr val="C00000"/>
                </a:solidFill>
                <a:latin typeface="Open Sans"/>
              </a:rPr>
              <a:t>Accuracy</a:t>
            </a:r>
            <a:r>
              <a:rPr lang="en-US" sz="1600" b="1" dirty="0">
                <a:solidFill>
                  <a:srgbClr val="444444"/>
                </a:solidFill>
                <a:latin typeface="Open Sans"/>
              </a:rPr>
              <a:t>:</a:t>
            </a:r>
            <a:r>
              <a:rPr lang="en-US" sz="1600" dirty="0">
                <a:solidFill>
                  <a:srgbClr val="444444"/>
                </a:solidFill>
                <a:latin typeface="Open Sans"/>
              </a:rPr>
              <a:t> Overall, how often is the classifier correct?</a:t>
            </a:r>
          </a:p>
          <a:p>
            <a:pPr marL="742950" lvl="1" indent="-285750">
              <a:buFont typeface="Arial" panose="020B0604020202020204" pitchFamily="34" charset="0"/>
              <a:buChar char="•"/>
            </a:pPr>
            <a:r>
              <a:rPr lang="en-US" sz="1600" dirty="0">
                <a:solidFill>
                  <a:srgbClr val="444444"/>
                </a:solidFill>
                <a:latin typeface="Open Sans"/>
              </a:rPr>
              <a:t>(TP+TN)/total = (100+50)/165 = 0.91</a:t>
            </a:r>
          </a:p>
          <a:p>
            <a:pPr>
              <a:buFont typeface="Arial" panose="020B0604020202020204" pitchFamily="34" charset="0"/>
              <a:buChar char="•"/>
            </a:pPr>
            <a:r>
              <a:rPr lang="en-US" sz="1600" b="1" dirty="0">
                <a:solidFill>
                  <a:srgbClr val="C00000"/>
                </a:solidFill>
                <a:latin typeface="Open Sans"/>
              </a:rPr>
              <a:t>True Positive Rate (TPR):</a:t>
            </a:r>
            <a:r>
              <a:rPr lang="en-US" sz="1600" dirty="0">
                <a:solidFill>
                  <a:srgbClr val="444444"/>
                </a:solidFill>
                <a:latin typeface="Open Sans"/>
              </a:rPr>
              <a:t> When it's actually yes, how often does it predict yes?</a:t>
            </a:r>
          </a:p>
          <a:p>
            <a:pPr marL="742950" lvl="1" indent="-285750">
              <a:buFont typeface="Arial" panose="020B0604020202020204" pitchFamily="34" charset="0"/>
              <a:buChar char="•"/>
            </a:pPr>
            <a:r>
              <a:rPr lang="en-US" sz="1600" dirty="0">
                <a:solidFill>
                  <a:srgbClr val="444444"/>
                </a:solidFill>
                <a:latin typeface="Open Sans"/>
              </a:rPr>
              <a:t>TP/actual yes (TP+FN) = 100/105 = 0.95</a:t>
            </a:r>
          </a:p>
          <a:p>
            <a:pPr marL="742950" lvl="1" indent="-285750">
              <a:buFont typeface="Arial" panose="020B0604020202020204" pitchFamily="34" charset="0"/>
              <a:buChar char="•"/>
            </a:pPr>
            <a:r>
              <a:rPr lang="en-US" sz="1600" dirty="0">
                <a:solidFill>
                  <a:srgbClr val="444444"/>
                </a:solidFill>
                <a:latin typeface="Open Sans"/>
              </a:rPr>
              <a:t>also known as "</a:t>
            </a:r>
            <a:r>
              <a:rPr lang="en-US" sz="1600" b="1" dirty="0">
                <a:solidFill>
                  <a:srgbClr val="0000FF"/>
                </a:solidFill>
                <a:latin typeface="Open Sans"/>
              </a:rPr>
              <a:t>Sensitivity</a:t>
            </a:r>
            <a:r>
              <a:rPr lang="en-US" sz="1600" dirty="0">
                <a:solidFill>
                  <a:srgbClr val="444444"/>
                </a:solidFill>
                <a:latin typeface="Open Sans"/>
              </a:rPr>
              <a:t>" or "</a:t>
            </a:r>
            <a:r>
              <a:rPr lang="en-US" sz="1600" b="1" dirty="0">
                <a:solidFill>
                  <a:srgbClr val="0000FF"/>
                </a:solidFill>
                <a:latin typeface="Open Sans"/>
              </a:rPr>
              <a:t>Recall</a:t>
            </a:r>
            <a:r>
              <a:rPr lang="en-US" sz="1600" dirty="0">
                <a:solidFill>
                  <a:srgbClr val="444444"/>
                </a:solidFill>
                <a:latin typeface="Open Sans"/>
              </a:rPr>
              <a:t>"</a:t>
            </a:r>
          </a:p>
          <a:p>
            <a:pPr>
              <a:buFont typeface="Arial" panose="020B0604020202020204" pitchFamily="34" charset="0"/>
              <a:buChar char="•"/>
            </a:pPr>
            <a:r>
              <a:rPr lang="en-US" sz="1600" b="1" dirty="0">
                <a:solidFill>
                  <a:srgbClr val="C00000"/>
                </a:solidFill>
                <a:latin typeface="Open Sans"/>
              </a:rPr>
              <a:t>True Negative Rate (TNR):</a:t>
            </a:r>
            <a:r>
              <a:rPr lang="en-US" sz="1600" dirty="0">
                <a:solidFill>
                  <a:srgbClr val="444444"/>
                </a:solidFill>
                <a:latin typeface="Open Sans"/>
              </a:rPr>
              <a:t> When it's actually no, how often does it predict no?</a:t>
            </a:r>
          </a:p>
          <a:p>
            <a:pPr marL="742950" lvl="1" indent="-285750">
              <a:buFont typeface="Arial" panose="020B0604020202020204" pitchFamily="34" charset="0"/>
              <a:buChar char="•"/>
            </a:pPr>
            <a:r>
              <a:rPr lang="en-US" sz="1600" dirty="0">
                <a:solidFill>
                  <a:srgbClr val="444444"/>
                </a:solidFill>
                <a:latin typeface="Open Sans"/>
              </a:rPr>
              <a:t>TN/actual no (TN+FP) = 50/60 = 0.83, also known as "</a:t>
            </a:r>
            <a:r>
              <a:rPr lang="en-US" sz="1600" b="1" dirty="0" err="1">
                <a:solidFill>
                  <a:srgbClr val="0000FF"/>
                </a:solidFill>
                <a:latin typeface="Open Sans"/>
              </a:rPr>
              <a:t>Speficity</a:t>
            </a:r>
            <a:r>
              <a:rPr lang="en-US" sz="1600" dirty="0">
                <a:solidFill>
                  <a:srgbClr val="444444"/>
                </a:solidFill>
                <a:latin typeface="Open Sans"/>
              </a:rPr>
              <a:t>" </a:t>
            </a:r>
          </a:p>
          <a:p>
            <a:pPr>
              <a:buFont typeface="Arial" panose="020B0604020202020204" pitchFamily="34" charset="0"/>
              <a:buChar char="•"/>
            </a:pPr>
            <a:r>
              <a:rPr lang="en-US" sz="1600" b="1" dirty="0">
                <a:solidFill>
                  <a:srgbClr val="C00000"/>
                </a:solidFill>
                <a:latin typeface="Open Sans"/>
              </a:rPr>
              <a:t>Precision:</a:t>
            </a:r>
            <a:r>
              <a:rPr lang="en-US" sz="1600" dirty="0">
                <a:solidFill>
                  <a:srgbClr val="C00000"/>
                </a:solidFill>
                <a:latin typeface="Open Sans"/>
              </a:rPr>
              <a:t> </a:t>
            </a:r>
            <a:r>
              <a:rPr lang="en-US" sz="1600" dirty="0">
                <a:solidFill>
                  <a:srgbClr val="444444"/>
                </a:solidFill>
                <a:latin typeface="Open Sans"/>
              </a:rPr>
              <a:t>When it predicts yes, how often is it correct?</a:t>
            </a:r>
          </a:p>
          <a:p>
            <a:pPr marL="742950" lvl="1" indent="-285750">
              <a:buFont typeface="Arial" panose="020B0604020202020204" pitchFamily="34" charset="0"/>
              <a:buChar char="•"/>
            </a:pPr>
            <a:r>
              <a:rPr lang="en-US" sz="1600" dirty="0">
                <a:solidFill>
                  <a:srgbClr val="444444"/>
                </a:solidFill>
                <a:latin typeface="Open Sans"/>
              </a:rPr>
              <a:t>TP/predicted yes (FP+TP) = 100/110 = 0.91</a:t>
            </a:r>
          </a:p>
        </p:txBody>
      </p:sp>
      <p:pic>
        <p:nvPicPr>
          <p:cNvPr id="5" name="Picture 2" descr="Example confusion matrix for a binary class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04800"/>
            <a:ext cx="5181600" cy="2957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1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https://miro.medium.com/max/2000/1*H8pqyiONRI3xV0HQFKHKlw.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381000"/>
            <a:ext cx="8402783" cy="16175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miro.medium.com/max/1400/1*-XooIKrgPeEoKpzOZvadkg.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228601"/>
            <a:ext cx="8402783" cy="6386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45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additive="base">
                                        <p:cTn id="7" dur="500" fill="hold"/>
                                        <p:tgtEl>
                                          <p:spTgt spid="57346"/>
                                        </p:tgtEl>
                                        <p:attrNameLst>
                                          <p:attrName>ppt_x</p:attrName>
                                        </p:attrNameLst>
                                      </p:cBhvr>
                                      <p:tavLst>
                                        <p:tav tm="0">
                                          <p:val>
                                            <p:strVal val="#ppt_x"/>
                                          </p:val>
                                        </p:tav>
                                        <p:tav tm="100000">
                                          <p:val>
                                            <p:strVal val="#ppt_x"/>
                                          </p:val>
                                        </p:tav>
                                      </p:tavLst>
                                    </p:anim>
                                    <p:anim calcmode="lin" valueType="num">
                                      <p:cBhvr additive="base">
                                        <p:cTn id="8" dur="500" fill="hold"/>
                                        <p:tgtEl>
                                          <p:spTgt spid="573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60096" y="76200"/>
            <a:ext cx="8897885" cy="523220"/>
          </a:xfrm>
          <a:prstGeom prst="rect">
            <a:avLst/>
          </a:prstGeom>
          <a:noFill/>
        </p:spPr>
        <p:txBody>
          <a:bodyPr wrap="none" rtlCol="0">
            <a:spAutoFit/>
          </a:bodyPr>
          <a:lstStyle/>
          <a:p>
            <a:r>
              <a:rPr lang="en-US" sz="2800" dirty="0">
                <a:latin typeface="Arial Rounded MT Bold" panose="020F0704030504030204" pitchFamily="34" charset="0"/>
              </a:rPr>
              <a:t>And thereby comes the </a:t>
            </a:r>
            <a:r>
              <a:rPr lang="en-US" sz="2800" dirty="0">
                <a:solidFill>
                  <a:srgbClr val="0000FF"/>
                </a:solidFill>
                <a:latin typeface="Arial Rounded MT Bold" panose="020F0704030504030204" pitchFamily="34" charset="0"/>
              </a:rPr>
              <a:t>Geometric Mean index</a:t>
            </a:r>
            <a:r>
              <a:rPr lang="en-US" sz="2800" dirty="0">
                <a:latin typeface="Arial Rounded MT Bold" panose="020F0704030504030204" pitchFamily="34" charset="0"/>
              </a:rPr>
              <a:t>….</a:t>
            </a:r>
            <a:r>
              <a:rPr lang="en-US" dirty="0"/>
              <a:t> </a:t>
            </a:r>
          </a:p>
        </p:txBody>
      </p:sp>
      <p:sp>
        <p:nvSpPr>
          <p:cNvPr id="6" name="TextBox 5"/>
          <p:cNvSpPr txBox="1"/>
          <p:nvPr/>
        </p:nvSpPr>
        <p:spPr>
          <a:xfrm>
            <a:off x="1981201" y="823436"/>
            <a:ext cx="1234633" cy="523220"/>
          </a:xfrm>
          <a:prstGeom prst="rect">
            <a:avLst/>
          </a:prstGeom>
          <a:noFill/>
        </p:spPr>
        <p:txBody>
          <a:bodyPr wrap="none" rtlCol="0">
            <a:spAutoFit/>
          </a:bodyPr>
          <a:lstStyle/>
          <a:p>
            <a:r>
              <a:rPr lang="en-US" sz="2800" i="1" dirty="0" err="1"/>
              <a:t>Gmean</a:t>
            </a:r>
            <a:endParaRPr lang="en-US" sz="2800" i="1" dirty="0"/>
          </a:p>
        </p:txBody>
      </p:sp>
      <mc:AlternateContent xmlns:mc="http://schemas.openxmlformats.org/markup-compatibility/2006" xmlns:a14="http://schemas.microsoft.com/office/drawing/2010/main">
        <mc:Choice Requires="a14">
          <p:sp>
            <p:nvSpPr>
              <p:cNvPr id="8" name="Rectangle 7"/>
              <p:cNvSpPr/>
              <p:nvPr/>
            </p:nvSpPr>
            <p:spPr>
              <a:xfrm>
                <a:off x="3352800" y="854573"/>
                <a:ext cx="6248400" cy="539571"/>
              </a:xfrm>
              <a:prstGeom prst="rect">
                <a:avLst/>
              </a:prstGeom>
            </p:spPr>
            <p:txBody>
              <a:bodyPr wrap="square">
                <a:spAutoFit/>
              </a:bodyPr>
              <a:lstStyle/>
              <a:p>
                <a14:m>
                  <m:oMath xmlns:m="http://schemas.openxmlformats.org/officeDocument/2006/math">
                    <m:r>
                      <a:rPr lang="en-US" sz="2400" i="1">
                        <a:latin typeface="Cambria Math" panose="02040503050406030204" pitchFamily="18" charset="0"/>
                      </a:rPr>
                      <m:t>𝑔</m:t>
                    </m:r>
                    <m:r>
                      <a:rPr lang="en-US" sz="2400" i="1">
                        <a:latin typeface="Cambria Math" panose="02040503050406030204" pitchFamily="18" charset="0"/>
                      </a:rPr>
                      <m:t>= </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𝑇𝑃𝑅</m:t>
                        </m:r>
                        <m:r>
                          <a:rPr lang="en-US" sz="2400" i="1">
                            <a:latin typeface="Cambria Math" panose="02040503050406030204" pitchFamily="18" charset="0"/>
                          </a:rPr>
                          <m:t>.</m:t>
                        </m:r>
                        <m:r>
                          <a:rPr lang="en-US" sz="2400" i="1">
                            <a:latin typeface="Cambria Math" panose="02040503050406030204" pitchFamily="18" charset="0"/>
                          </a:rPr>
                          <m:t>𝑇𝑁𝑅</m:t>
                        </m:r>
                      </m:e>
                    </m:rad>
                  </m:oMath>
                </a14:m>
                <a:r>
                  <a:rPr lang="en-US" sz="2400" dirty="0"/>
                  <a:t>=</a:t>
                </a:r>
                <a14:m>
                  <m:oMath xmlns:m="http://schemas.openxmlformats.org/officeDocument/2006/math">
                    <m:rad>
                      <m:radPr>
                        <m:degHide m:val="on"/>
                        <m:ctrlPr>
                          <a:rPr lang="en-US" sz="2400" i="1" dirty="0">
                            <a:latin typeface="Cambria Math" panose="02040503050406030204" pitchFamily="18" charset="0"/>
                          </a:rPr>
                        </m:ctrlPr>
                      </m:radPr>
                      <m:deg/>
                      <m:e>
                        <m:r>
                          <a:rPr lang="en-US" sz="2400" i="1" dirty="0">
                            <a:latin typeface="Cambria Math" panose="02040503050406030204" pitchFamily="18" charset="0"/>
                          </a:rPr>
                          <m:t>𝑆𝑒𝑛𝑠𝑖𝑡𝑖𝑣𝑖𝑡𝑦</m:t>
                        </m:r>
                        <m:r>
                          <a:rPr lang="en-US" sz="2400" i="1" dirty="0">
                            <a:latin typeface="Cambria Math" panose="02040503050406030204" pitchFamily="18" charset="0"/>
                          </a:rPr>
                          <m:t>.</m:t>
                        </m:r>
                        <m:r>
                          <a:rPr lang="en-US" sz="2400" i="1" dirty="0">
                            <a:latin typeface="Cambria Math" panose="02040503050406030204" pitchFamily="18" charset="0"/>
                          </a:rPr>
                          <m:t>𝑆𝑝𝑒𝑐𝑖𝑓𝑖𝑐𝑖𝑡𝑦</m:t>
                        </m:r>
                      </m:e>
                    </m:rad>
                  </m:oMath>
                </a14:m>
                <a:endParaRPr lang="en-US" sz="2400" dirty="0"/>
              </a:p>
            </p:txBody>
          </p:sp>
        </mc:Choice>
        <mc:Fallback xmlns="">
          <p:sp>
            <p:nvSpPr>
              <p:cNvPr id="8" name="Rectangle 7"/>
              <p:cNvSpPr>
                <a:spLocks noRot="1" noChangeAspect="1" noMove="1" noResize="1" noEditPoints="1" noAdjustHandles="1" noChangeArrowheads="1" noChangeShapeType="1" noTextEdit="1"/>
              </p:cNvSpPr>
              <p:nvPr/>
            </p:nvSpPr>
            <p:spPr>
              <a:xfrm>
                <a:off x="3352800" y="854573"/>
                <a:ext cx="6248400" cy="539571"/>
              </a:xfrm>
              <a:prstGeom prst="rect">
                <a:avLst/>
              </a:prstGeom>
              <a:blipFill>
                <a:blip r:embed="rId2"/>
                <a:stretch>
                  <a:fillRect b="-21348"/>
                </a:stretch>
              </a:blipFill>
            </p:spPr>
            <p:txBody>
              <a:bodyPr/>
              <a:lstStyle/>
              <a:p>
                <a:r>
                  <a:rPr lang="en-IN">
                    <a:noFill/>
                  </a:rPr>
                  <a:t> </a:t>
                </a:r>
              </a:p>
            </p:txBody>
          </p:sp>
        </mc:Fallback>
      </mc:AlternateContent>
      <p:sp>
        <p:nvSpPr>
          <p:cNvPr id="10" name="TextBox 9"/>
          <p:cNvSpPr txBox="1"/>
          <p:nvPr/>
        </p:nvSpPr>
        <p:spPr>
          <a:xfrm>
            <a:off x="1644990" y="1570672"/>
            <a:ext cx="8812990" cy="1477328"/>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Rounded MT Bold" panose="020F0704030504030204" pitchFamily="34" charset="0"/>
              </a:rPr>
              <a:t>Suppose there are 96 negative class samples and 4 positive class samples.</a:t>
            </a:r>
          </a:p>
          <a:p>
            <a:pPr marL="285750" indent="-285750">
              <a:buFont typeface="Arial" panose="020B0604020202020204" pitchFamily="34" charset="0"/>
              <a:buChar char="•"/>
            </a:pPr>
            <a:r>
              <a:rPr lang="en-US" dirty="0">
                <a:latin typeface="Arial Rounded MT Bold" panose="020F0704030504030204" pitchFamily="34" charset="0"/>
              </a:rPr>
              <a:t>The classifier predicts all samples in negative class.</a:t>
            </a:r>
          </a:p>
          <a:p>
            <a:pPr marL="285750" indent="-285750">
              <a:buFont typeface="Arial" panose="020B0604020202020204" pitchFamily="34" charset="0"/>
              <a:buChar char="•"/>
            </a:pPr>
            <a:r>
              <a:rPr lang="en-US" dirty="0">
                <a:latin typeface="Arial Rounded MT Bold" panose="020F0704030504030204" pitchFamily="34" charset="0"/>
              </a:rPr>
              <a:t> Accuracy is 96/100 = 0.96</a:t>
            </a:r>
          </a:p>
          <a:p>
            <a:pPr marL="285750" indent="-285750">
              <a:buFont typeface="Arial" panose="020B0604020202020204" pitchFamily="34" charset="0"/>
              <a:buChar char="•"/>
            </a:pPr>
            <a:r>
              <a:rPr lang="en-US" dirty="0">
                <a:latin typeface="Arial Rounded MT Bold" panose="020F0704030504030204" pitchFamily="34" charset="0"/>
              </a:rPr>
              <a:t> TP = 0</a:t>
            </a:r>
          </a:p>
          <a:p>
            <a:pPr marL="285750" indent="-285750">
              <a:buFont typeface="Arial" panose="020B0604020202020204" pitchFamily="34" charset="0"/>
              <a:buChar char="•"/>
            </a:pPr>
            <a:r>
              <a:rPr lang="en-US" dirty="0">
                <a:latin typeface="Arial Rounded MT Bold" panose="020F0704030504030204" pitchFamily="34" charset="0"/>
              </a:rPr>
              <a:t> </a:t>
            </a:r>
            <a:r>
              <a:rPr lang="en-US" i="1" dirty="0">
                <a:latin typeface="Arial Rounded MT Bold" panose="020F0704030504030204" pitchFamily="34" charset="0"/>
              </a:rPr>
              <a:t>g</a:t>
            </a:r>
            <a:r>
              <a:rPr lang="en-US" dirty="0">
                <a:latin typeface="Arial Rounded MT Bold" panose="020F0704030504030204" pitchFamily="34" charset="0"/>
              </a:rPr>
              <a:t> = 0 !!!</a:t>
            </a:r>
          </a:p>
        </p:txBody>
      </p:sp>
      <p:graphicFrame>
        <p:nvGraphicFramePr>
          <p:cNvPr id="12" name="Table 11"/>
          <p:cNvGraphicFramePr>
            <a:graphicFrameLocks noGrp="1"/>
          </p:cNvGraphicFramePr>
          <p:nvPr/>
        </p:nvGraphicFramePr>
        <p:xfrm>
          <a:off x="5668142" y="2343913"/>
          <a:ext cx="4173484" cy="1761233"/>
        </p:xfrm>
        <a:graphic>
          <a:graphicData uri="http://schemas.openxmlformats.org/drawingml/2006/table">
            <a:tbl>
              <a:tblPr firstRow="1" bandRow="1">
                <a:tableStyleId>{5C22544A-7EE6-4342-B048-85BDC9FD1C3A}</a:tableStyleId>
              </a:tblPr>
              <a:tblGrid>
                <a:gridCol w="1622616">
                  <a:extLst>
                    <a:ext uri="{9D8B030D-6E8A-4147-A177-3AD203B41FA5}">
                      <a16:colId xmlns:a16="http://schemas.microsoft.com/office/drawing/2014/main" val="20000"/>
                    </a:ext>
                  </a:extLst>
                </a:gridCol>
                <a:gridCol w="1407869">
                  <a:extLst>
                    <a:ext uri="{9D8B030D-6E8A-4147-A177-3AD203B41FA5}">
                      <a16:colId xmlns:a16="http://schemas.microsoft.com/office/drawing/2014/main" val="20001"/>
                    </a:ext>
                  </a:extLst>
                </a:gridCol>
                <a:gridCol w="1142999">
                  <a:extLst>
                    <a:ext uri="{9D8B030D-6E8A-4147-A177-3AD203B41FA5}">
                      <a16:colId xmlns:a16="http://schemas.microsoft.com/office/drawing/2014/main" val="20002"/>
                    </a:ext>
                  </a:extLst>
                </a:gridCol>
              </a:tblGrid>
              <a:tr h="638054">
                <a:tc>
                  <a:txBody>
                    <a:bodyPr/>
                    <a:lstStyle/>
                    <a:p>
                      <a:pPr algn="ctr"/>
                      <a:endParaRPr lang="en-US" dirty="0"/>
                    </a:p>
                  </a:txBody>
                  <a:tcPr/>
                </a:tc>
                <a:tc>
                  <a:txBody>
                    <a:bodyPr/>
                    <a:lstStyle/>
                    <a:p>
                      <a:pPr algn="ctr"/>
                      <a:r>
                        <a:rPr lang="en-US" dirty="0"/>
                        <a:t>Predicted Negative</a:t>
                      </a:r>
                    </a:p>
                  </a:txBody>
                  <a:tcPr/>
                </a:tc>
                <a:tc>
                  <a:txBody>
                    <a:bodyPr/>
                    <a:lstStyle/>
                    <a:p>
                      <a:pPr algn="ctr"/>
                      <a:r>
                        <a:rPr lang="en-US" dirty="0"/>
                        <a:t>Predicted Positive</a:t>
                      </a:r>
                    </a:p>
                  </a:txBody>
                  <a:tcPr/>
                </a:tc>
                <a:extLst>
                  <a:ext uri="{0D108BD9-81ED-4DB2-BD59-A6C34878D82A}">
                    <a16:rowId xmlns:a16="http://schemas.microsoft.com/office/drawing/2014/main" val="10000"/>
                  </a:ext>
                </a:extLst>
              </a:tr>
              <a:tr h="481073">
                <a:tc>
                  <a:txBody>
                    <a:bodyPr/>
                    <a:lstStyle/>
                    <a:p>
                      <a:pPr algn="ctr"/>
                      <a:r>
                        <a:rPr lang="en-US" dirty="0"/>
                        <a:t>Actual Negative </a:t>
                      </a:r>
                    </a:p>
                  </a:txBody>
                  <a:tcPr/>
                </a:tc>
                <a:tc>
                  <a:txBody>
                    <a:bodyPr/>
                    <a:lstStyle/>
                    <a:p>
                      <a:pPr algn="ctr"/>
                      <a:r>
                        <a:rPr lang="en-US" dirty="0"/>
                        <a:t>96 (TN)</a:t>
                      </a:r>
                    </a:p>
                  </a:txBody>
                  <a:tcPr/>
                </a:tc>
                <a:tc>
                  <a:txBody>
                    <a:bodyPr/>
                    <a:lstStyle/>
                    <a:p>
                      <a:pPr algn="ctr"/>
                      <a:r>
                        <a:rPr lang="en-US" dirty="0"/>
                        <a:t>0 (FP)</a:t>
                      </a:r>
                    </a:p>
                  </a:txBody>
                  <a:tcPr/>
                </a:tc>
                <a:extLst>
                  <a:ext uri="{0D108BD9-81ED-4DB2-BD59-A6C34878D82A}">
                    <a16:rowId xmlns:a16="http://schemas.microsoft.com/office/drawing/2014/main" val="10001"/>
                  </a:ext>
                </a:extLst>
              </a:tr>
              <a:tr h="481073">
                <a:tc>
                  <a:txBody>
                    <a:bodyPr/>
                    <a:lstStyle/>
                    <a:p>
                      <a:pPr algn="ctr"/>
                      <a:r>
                        <a:rPr lang="en-US" dirty="0"/>
                        <a:t>Actual Positive</a:t>
                      </a:r>
                    </a:p>
                  </a:txBody>
                  <a:tcPr/>
                </a:tc>
                <a:tc>
                  <a:txBody>
                    <a:bodyPr/>
                    <a:lstStyle/>
                    <a:p>
                      <a:pPr algn="ctr"/>
                      <a:r>
                        <a:rPr lang="en-US" dirty="0"/>
                        <a:t>4 (FN)</a:t>
                      </a:r>
                    </a:p>
                  </a:txBody>
                  <a:tcPr/>
                </a:tc>
                <a:tc>
                  <a:txBody>
                    <a:bodyPr/>
                    <a:lstStyle/>
                    <a:p>
                      <a:pPr algn="ctr"/>
                      <a:r>
                        <a:rPr lang="en-US" dirty="0"/>
                        <a:t>0 (TP)</a:t>
                      </a:r>
                    </a:p>
                  </a:txBody>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5715000" y="4419601"/>
          <a:ext cx="4267200" cy="1738325"/>
        </p:xfrm>
        <a:graphic>
          <a:graphicData uri="http://schemas.openxmlformats.org/drawingml/2006/table">
            <a:tbl>
              <a:tblPr firstRow="1" bandRow="1">
                <a:tableStyleId>{5C22544A-7EE6-4342-B048-85BDC9FD1C3A}</a:tableStyleId>
              </a:tblPr>
              <a:tblGrid>
                <a:gridCol w="1599800">
                  <a:extLst>
                    <a:ext uri="{9D8B030D-6E8A-4147-A177-3AD203B41FA5}">
                      <a16:colId xmlns:a16="http://schemas.microsoft.com/office/drawing/2014/main" val="20000"/>
                    </a:ext>
                  </a:extLst>
                </a:gridCol>
                <a:gridCol w="1372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607671">
                <a:tc>
                  <a:txBody>
                    <a:bodyPr/>
                    <a:lstStyle/>
                    <a:p>
                      <a:pPr algn="ctr"/>
                      <a:endParaRPr lang="en-US" dirty="0"/>
                    </a:p>
                  </a:txBody>
                  <a:tcPr/>
                </a:tc>
                <a:tc>
                  <a:txBody>
                    <a:bodyPr/>
                    <a:lstStyle/>
                    <a:p>
                      <a:pPr algn="ctr"/>
                      <a:r>
                        <a:rPr lang="en-US" dirty="0"/>
                        <a:t>Predicted Negative</a:t>
                      </a:r>
                    </a:p>
                  </a:txBody>
                  <a:tcPr/>
                </a:tc>
                <a:tc>
                  <a:txBody>
                    <a:bodyPr/>
                    <a:lstStyle/>
                    <a:p>
                      <a:pPr algn="ctr"/>
                      <a:r>
                        <a:rPr lang="en-US" dirty="0"/>
                        <a:t>Predicted Positive</a:t>
                      </a:r>
                    </a:p>
                  </a:txBody>
                  <a:tcPr/>
                </a:tc>
                <a:extLst>
                  <a:ext uri="{0D108BD9-81ED-4DB2-BD59-A6C34878D82A}">
                    <a16:rowId xmlns:a16="http://schemas.microsoft.com/office/drawing/2014/main" val="10000"/>
                  </a:ext>
                </a:extLst>
              </a:tr>
              <a:tr h="458165">
                <a:tc>
                  <a:txBody>
                    <a:bodyPr/>
                    <a:lstStyle/>
                    <a:p>
                      <a:pPr algn="ctr"/>
                      <a:r>
                        <a:rPr lang="en-US" dirty="0"/>
                        <a:t>Actual Negative </a:t>
                      </a:r>
                    </a:p>
                  </a:txBody>
                  <a:tcPr/>
                </a:tc>
                <a:tc>
                  <a:txBody>
                    <a:bodyPr/>
                    <a:lstStyle/>
                    <a:p>
                      <a:pPr algn="ctr"/>
                      <a:r>
                        <a:rPr lang="en-US" dirty="0"/>
                        <a:t>96 (TN)</a:t>
                      </a:r>
                    </a:p>
                  </a:txBody>
                  <a:tcPr/>
                </a:tc>
                <a:tc>
                  <a:txBody>
                    <a:bodyPr/>
                    <a:lstStyle/>
                    <a:p>
                      <a:pPr algn="ctr"/>
                      <a:r>
                        <a:rPr lang="en-US" dirty="0"/>
                        <a:t>0 (FP)</a:t>
                      </a:r>
                    </a:p>
                  </a:txBody>
                  <a:tcPr/>
                </a:tc>
                <a:extLst>
                  <a:ext uri="{0D108BD9-81ED-4DB2-BD59-A6C34878D82A}">
                    <a16:rowId xmlns:a16="http://schemas.microsoft.com/office/drawing/2014/main" val="10001"/>
                  </a:ext>
                </a:extLst>
              </a:tr>
              <a:tr h="458165">
                <a:tc>
                  <a:txBody>
                    <a:bodyPr/>
                    <a:lstStyle/>
                    <a:p>
                      <a:pPr algn="ctr"/>
                      <a:r>
                        <a:rPr lang="en-US" dirty="0"/>
                        <a:t>Actual Positive</a:t>
                      </a:r>
                    </a:p>
                  </a:txBody>
                  <a:tcPr/>
                </a:tc>
                <a:tc>
                  <a:txBody>
                    <a:bodyPr/>
                    <a:lstStyle/>
                    <a:p>
                      <a:pPr algn="ctr"/>
                      <a:r>
                        <a:rPr lang="en-US" dirty="0"/>
                        <a:t>0 (FN)</a:t>
                      </a:r>
                    </a:p>
                  </a:txBody>
                  <a:tcPr/>
                </a:tc>
                <a:tc>
                  <a:txBody>
                    <a:bodyPr/>
                    <a:lstStyle/>
                    <a:p>
                      <a:pPr algn="ctr"/>
                      <a:r>
                        <a:rPr lang="en-US" dirty="0"/>
                        <a:t>4 (TP)</a:t>
                      </a:r>
                    </a:p>
                  </a:txBody>
                  <a:tcPr/>
                </a:tc>
                <a:extLst>
                  <a:ext uri="{0D108BD9-81ED-4DB2-BD59-A6C34878D82A}">
                    <a16:rowId xmlns:a16="http://schemas.microsoft.com/office/drawing/2014/main" val="10002"/>
                  </a:ext>
                </a:extLst>
              </a:tr>
            </a:tbl>
          </a:graphicData>
        </a:graphic>
      </p:graphicFrame>
      <p:sp>
        <p:nvSpPr>
          <p:cNvPr id="14" name="Rectangle 13"/>
          <p:cNvSpPr/>
          <p:nvPr/>
        </p:nvSpPr>
        <p:spPr>
          <a:xfrm>
            <a:off x="1644991" y="4419600"/>
            <a:ext cx="3868685" cy="1477328"/>
          </a:xfrm>
          <a:prstGeom prst="rect">
            <a:avLst/>
          </a:prstGeom>
        </p:spPr>
        <p:txBody>
          <a:bodyPr wrap="square">
            <a:spAutoFit/>
          </a:bodyPr>
          <a:lstStyle/>
          <a:p>
            <a:pPr marL="285750" indent="-285750">
              <a:buFont typeface="Arial" panose="020B0604020202020204" pitchFamily="34" charset="0"/>
              <a:buChar char="•"/>
            </a:pPr>
            <a:r>
              <a:rPr lang="en-US" dirty="0">
                <a:latin typeface="Arial Rounded MT Bold" panose="020F0704030504030204" pitchFamily="34" charset="0"/>
              </a:rPr>
              <a:t>But if it predicts 96 in negative and 4 in positive class</a:t>
            </a:r>
          </a:p>
          <a:p>
            <a:pPr marL="285750" indent="-285750">
              <a:buFont typeface="Arial" panose="020B0604020202020204" pitchFamily="34" charset="0"/>
              <a:buChar char="•"/>
            </a:pPr>
            <a:r>
              <a:rPr lang="en-US" dirty="0">
                <a:latin typeface="Arial Rounded MT Bold" panose="020F0704030504030204" pitchFamily="34" charset="0"/>
              </a:rPr>
              <a:t>TPR = TP/(TP+FN) = 4/4 = 1, TNR = TN/(TN+FP) = 96/96 = 1</a:t>
            </a:r>
          </a:p>
          <a:p>
            <a:pPr marL="285750" indent="-285750">
              <a:buFont typeface="Arial" panose="020B0604020202020204" pitchFamily="34" charset="0"/>
              <a:buChar char="•"/>
            </a:pPr>
            <a:r>
              <a:rPr lang="en-US" dirty="0">
                <a:latin typeface="Arial Rounded MT Bold" panose="020F0704030504030204" pitchFamily="34" charset="0"/>
              </a:rPr>
              <a:t>i.e., </a:t>
            </a:r>
            <a:r>
              <a:rPr lang="en-US" i="1" dirty="0">
                <a:latin typeface="Arial Rounded MT Bold" panose="020F0704030504030204" pitchFamily="34" charset="0"/>
              </a:rPr>
              <a:t>g</a:t>
            </a:r>
            <a:r>
              <a:rPr lang="en-US" dirty="0">
                <a:latin typeface="Arial Rounded MT Bold" panose="020F0704030504030204" pitchFamily="34" charset="0"/>
              </a:rPr>
              <a:t> = 1 !!!</a:t>
            </a:r>
          </a:p>
        </p:txBody>
      </p:sp>
      <p:sp>
        <p:nvSpPr>
          <p:cNvPr id="9" name="TextBox 8"/>
          <p:cNvSpPr txBox="1"/>
          <p:nvPr/>
        </p:nvSpPr>
        <p:spPr>
          <a:xfrm>
            <a:off x="1644990" y="6297883"/>
            <a:ext cx="8704050" cy="523220"/>
          </a:xfrm>
          <a:prstGeom prst="rect">
            <a:avLst/>
          </a:prstGeom>
          <a:noFill/>
        </p:spPr>
        <p:txBody>
          <a:bodyPr wrap="square" rtlCol="0">
            <a:spAutoFit/>
          </a:bodyPr>
          <a:lstStyle/>
          <a:p>
            <a:r>
              <a:rPr lang="en-US" sz="1400" dirty="0" err="1"/>
              <a:t>Mullick</a:t>
            </a:r>
            <a:r>
              <a:rPr lang="en-US" sz="1400" dirty="0"/>
              <a:t> </a:t>
            </a:r>
            <a:r>
              <a:rPr lang="en-US" sz="1400" i="1" dirty="0"/>
              <a:t>et al</a:t>
            </a:r>
            <a:r>
              <a:rPr lang="en-US" sz="1400" dirty="0"/>
              <a:t>., On the Choice of Appropriate Performance Indices for Imbalanced Data Classification: An Analysis, </a:t>
            </a:r>
            <a:r>
              <a:rPr lang="en-US" sz="1400" b="1" i="1" dirty="0">
                <a:solidFill>
                  <a:srgbClr val="0000FF"/>
                </a:solidFill>
              </a:rPr>
              <a:t>Pattern Recognition</a:t>
            </a:r>
            <a:r>
              <a:rPr lang="en-US" sz="1400" dirty="0"/>
              <a:t>, Elsevier, 2020.</a:t>
            </a:r>
          </a:p>
        </p:txBody>
      </p:sp>
    </p:spTree>
    <p:extLst>
      <p:ext uri="{BB962C8B-B14F-4D97-AF65-F5344CB8AC3E}">
        <p14:creationId xmlns:p14="http://schemas.microsoft.com/office/powerpoint/2010/main" val="80116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9455CA-0190-2510-4157-FA946FFC073C}"/>
              </a:ext>
            </a:extLst>
          </p:cNvPr>
          <p:cNvSpPr txBox="1"/>
          <p:nvPr/>
        </p:nvSpPr>
        <p:spPr>
          <a:xfrm>
            <a:off x="168442" y="151179"/>
            <a:ext cx="11349790" cy="6463308"/>
          </a:xfrm>
          <a:prstGeom prst="rect">
            <a:avLst/>
          </a:prstGeom>
          <a:noFill/>
        </p:spPr>
        <p:txBody>
          <a:bodyPr wrap="square">
            <a:spAutoFit/>
          </a:bodyPr>
          <a:lstStyle/>
          <a:p>
            <a:r>
              <a:rPr lang="en-US" b="1" dirty="0"/>
              <a:t>AUROC (Area Under the Receiver Operating Characteristic Curve)</a:t>
            </a:r>
            <a:r>
              <a:rPr lang="en-US" dirty="0"/>
              <a:t> is a key evaluation metric in classification problems, especially when dealing with imbalanced datasets. It measures how well a model distinguishes between positive and negative classes.</a:t>
            </a:r>
          </a:p>
          <a:p>
            <a:endParaRPr lang="en-US" dirty="0"/>
          </a:p>
          <a:p>
            <a:r>
              <a:rPr lang="en-US" b="1" dirty="0"/>
              <a:t>Breaking Down AUROC:</a:t>
            </a:r>
          </a:p>
          <a:p>
            <a:endParaRPr lang="en-US" b="1" dirty="0"/>
          </a:p>
          <a:p>
            <a:pPr>
              <a:buFont typeface="+mj-lt"/>
              <a:buAutoNum type="arabicPeriod"/>
            </a:pPr>
            <a:r>
              <a:rPr lang="en-US" b="1" dirty="0"/>
              <a:t>Receiver Operating Characteristic (ROC) Curve:</a:t>
            </a:r>
            <a:endParaRPr lang="en-US" dirty="0"/>
          </a:p>
          <a:p>
            <a:pPr marL="742950" lvl="1" indent="-285750">
              <a:buFont typeface="+mj-lt"/>
              <a:buAutoNum type="arabicPeriod"/>
            </a:pPr>
            <a:r>
              <a:rPr lang="en-US" dirty="0"/>
              <a:t>It plots </a:t>
            </a:r>
            <a:r>
              <a:rPr lang="en-US" b="1" dirty="0"/>
              <a:t>True Positive Rate (TPR)</a:t>
            </a:r>
            <a:r>
              <a:rPr lang="en-US" dirty="0"/>
              <a:t> against </a:t>
            </a:r>
            <a:r>
              <a:rPr lang="en-US" b="1" dirty="0"/>
              <a:t>False Positive Rate (FPR)</a:t>
            </a:r>
            <a:r>
              <a:rPr lang="en-US" dirty="0"/>
              <a:t> at various threshold values.</a:t>
            </a:r>
          </a:p>
          <a:p>
            <a:pPr marL="742950" lvl="1" indent="-285750">
              <a:buFont typeface="+mj-lt"/>
              <a:buAutoNum type="arabicPeriod"/>
            </a:pPr>
            <a:r>
              <a:rPr lang="en-US" dirty="0"/>
              <a:t>The curve visually represents the trade-off between sensitivity (recall) and specificity.</a:t>
            </a:r>
          </a:p>
          <a:p>
            <a:endParaRPr lang="en-US" b="1" dirty="0"/>
          </a:p>
          <a:p>
            <a:r>
              <a:rPr lang="en-US" b="1" dirty="0"/>
              <a:t>True Positive Rate (TPR) / Sensitivity / Recall:</a:t>
            </a:r>
            <a:endParaRPr lang="en-US" dirty="0"/>
          </a:p>
          <a:p>
            <a:endParaRPr lang="en-US" dirty="0"/>
          </a:p>
          <a:p>
            <a:r>
              <a:rPr lang="en-US" dirty="0"/>
              <a:t>   TPR = TP\(TP + FN) :  Measures how many actual positives were correctly predicted.</a:t>
            </a:r>
          </a:p>
          <a:p>
            <a:endParaRPr lang="en-US" b="1" dirty="0"/>
          </a:p>
          <a:p>
            <a:r>
              <a:rPr lang="en-US" b="1" dirty="0"/>
              <a:t>False Positive Rate (FPR): </a:t>
            </a:r>
            <a:r>
              <a:rPr lang="en-US" dirty="0"/>
              <a:t>FP}{FP + TN}FPR=FP+TNFP​</a:t>
            </a:r>
          </a:p>
          <a:p>
            <a:pPr marL="742950" lvl="1" indent="-285750">
              <a:buFont typeface="+mj-lt"/>
              <a:buAutoNum type="arabicPeriod"/>
            </a:pPr>
            <a:r>
              <a:rPr lang="en-US" dirty="0"/>
              <a:t>Measures how many actual negatives were incorrectly classified as positives.</a:t>
            </a:r>
          </a:p>
          <a:p>
            <a:endParaRPr lang="en-US" b="1" dirty="0"/>
          </a:p>
          <a:p>
            <a:r>
              <a:rPr lang="en-US" b="1" dirty="0"/>
              <a:t>Area Under the Curve (AUC):</a:t>
            </a:r>
            <a:endParaRPr lang="en-US" dirty="0"/>
          </a:p>
          <a:p>
            <a:pPr marL="742950" lvl="1" indent="-285750">
              <a:buFont typeface="+mj-lt"/>
              <a:buAutoNum type="arabicPeriod"/>
            </a:pPr>
            <a:r>
              <a:rPr lang="en-US" dirty="0"/>
              <a:t>The area under this ROC curve gives </a:t>
            </a:r>
            <a:r>
              <a:rPr lang="en-US" b="1" dirty="0"/>
              <a:t>AUROC</a:t>
            </a:r>
            <a:r>
              <a:rPr lang="en-US" dirty="0"/>
              <a:t>.</a:t>
            </a:r>
          </a:p>
          <a:p>
            <a:pPr marL="742950" lvl="1" indent="-285750">
              <a:buFont typeface="+mj-lt"/>
              <a:buAutoNum type="arabicPeriod"/>
            </a:pPr>
            <a:r>
              <a:rPr lang="en-US" dirty="0"/>
              <a:t>An AUROC value ranges from </a:t>
            </a:r>
            <a:r>
              <a:rPr lang="en-US" b="1" dirty="0"/>
              <a:t>0 to 1</a:t>
            </a:r>
            <a:r>
              <a:rPr lang="en-US" dirty="0"/>
              <a:t>:</a:t>
            </a:r>
          </a:p>
          <a:p>
            <a:pPr marL="1143000" lvl="2" indent="-228600">
              <a:buFont typeface="+mj-lt"/>
              <a:buAutoNum type="arabicPeriod"/>
            </a:pPr>
            <a:r>
              <a:rPr lang="en-US" b="1" dirty="0"/>
              <a:t>1.0</a:t>
            </a:r>
            <a:r>
              <a:rPr lang="en-US" dirty="0"/>
              <a:t> → Perfect classifier</a:t>
            </a:r>
          </a:p>
          <a:p>
            <a:pPr marL="1143000" lvl="2" indent="-228600">
              <a:buFont typeface="+mj-lt"/>
              <a:buAutoNum type="arabicPeriod"/>
            </a:pPr>
            <a:r>
              <a:rPr lang="en-US" b="1" dirty="0"/>
              <a:t>0.5</a:t>
            </a:r>
            <a:r>
              <a:rPr lang="en-US" dirty="0"/>
              <a:t> → Random guessing (like flipping a coin)</a:t>
            </a:r>
          </a:p>
          <a:p>
            <a:pPr marL="1143000" lvl="2" indent="-228600">
              <a:buFont typeface="+mj-lt"/>
              <a:buAutoNum type="arabicPeriod"/>
            </a:pPr>
            <a:r>
              <a:rPr lang="en-US" b="1" dirty="0"/>
              <a:t>&lt; 0.5</a:t>
            </a:r>
            <a:r>
              <a:rPr lang="en-US" dirty="0"/>
              <a:t> → Worse than random (indicates systematic bias)</a:t>
            </a:r>
          </a:p>
        </p:txBody>
      </p:sp>
    </p:spTree>
    <p:extLst>
      <p:ext uri="{BB962C8B-B14F-4D97-AF65-F5344CB8AC3E}">
        <p14:creationId xmlns:p14="http://schemas.microsoft.com/office/powerpoint/2010/main" val="4196615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78C1CDA-CB25-595A-DC5A-23BCF6FAF841}"/>
              </a:ext>
            </a:extLst>
          </p:cNvPr>
          <p:cNvGraphicFramePr>
            <a:graphicFrameLocks noGrp="1"/>
          </p:cNvGraphicFramePr>
          <p:nvPr>
            <p:extLst>
              <p:ext uri="{D42A27DB-BD31-4B8C-83A1-F6EECF244321}">
                <p14:modId xmlns:p14="http://schemas.microsoft.com/office/powerpoint/2010/main" val="297568520"/>
              </p:ext>
            </p:extLst>
          </p:nvPr>
        </p:nvGraphicFramePr>
        <p:xfrm>
          <a:off x="688836" y="2024993"/>
          <a:ext cx="10515600" cy="3291840"/>
        </p:xfrm>
        <a:graphic>
          <a:graphicData uri="http://schemas.openxmlformats.org/drawingml/2006/table">
            <a:tbl>
              <a:tblPr/>
              <a:tblGrid>
                <a:gridCol w="3505200">
                  <a:extLst>
                    <a:ext uri="{9D8B030D-6E8A-4147-A177-3AD203B41FA5}">
                      <a16:colId xmlns:a16="http://schemas.microsoft.com/office/drawing/2014/main" val="4210445135"/>
                    </a:ext>
                  </a:extLst>
                </a:gridCol>
                <a:gridCol w="3505200">
                  <a:extLst>
                    <a:ext uri="{9D8B030D-6E8A-4147-A177-3AD203B41FA5}">
                      <a16:colId xmlns:a16="http://schemas.microsoft.com/office/drawing/2014/main" val="3086969783"/>
                    </a:ext>
                  </a:extLst>
                </a:gridCol>
                <a:gridCol w="3505200">
                  <a:extLst>
                    <a:ext uri="{9D8B030D-6E8A-4147-A177-3AD203B41FA5}">
                      <a16:colId xmlns:a16="http://schemas.microsoft.com/office/drawing/2014/main" val="3549862427"/>
                    </a:ext>
                  </a:extLst>
                </a:gridCol>
              </a:tblGrid>
              <a:tr h="0">
                <a:tc>
                  <a:txBody>
                    <a:bodyPr/>
                    <a:lstStyle/>
                    <a:p>
                      <a:r>
                        <a:rPr lang="en-IN"/>
                        <a:t>Sample</a:t>
                      </a:r>
                    </a:p>
                  </a:txBody>
                  <a:tcPr anchor="ctr">
                    <a:lnL>
                      <a:noFill/>
                    </a:lnL>
                    <a:lnR>
                      <a:noFill/>
                    </a:lnR>
                    <a:lnT>
                      <a:noFill/>
                    </a:lnT>
                    <a:lnB>
                      <a:noFill/>
                    </a:lnB>
                    <a:noFill/>
                  </a:tcPr>
                </a:tc>
                <a:tc>
                  <a:txBody>
                    <a:bodyPr/>
                    <a:lstStyle/>
                    <a:p>
                      <a:r>
                        <a:rPr lang="en-IN"/>
                        <a:t>Actual Class</a:t>
                      </a:r>
                    </a:p>
                  </a:txBody>
                  <a:tcPr anchor="ctr">
                    <a:lnL>
                      <a:noFill/>
                    </a:lnL>
                    <a:lnR>
                      <a:noFill/>
                    </a:lnR>
                    <a:lnT>
                      <a:noFill/>
                    </a:lnT>
                    <a:lnB>
                      <a:noFill/>
                    </a:lnB>
                    <a:noFill/>
                  </a:tcPr>
                </a:tc>
                <a:tc>
                  <a:txBody>
                    <a:bodyPr/>
                    <a:lstStyle/>
                    <a:p>
                      <a:r>
                        <a:rPr lang="en-IN"/>
                        <a:t>Model Score</a:t>
                      </a:r>
                    </a:p>
                  </a:txBody>
                  <a:tcPr anchor="ctr">
                    <a:lnL>
                      <a:noFill/>
                    </a:lnL>
                    <a:lnR>
                      <a:noFill/>
                    </a:lnR>
                    <a:lnT>
                      <a:noFill/>
                    </a:lnT>
                    <a:lnB>
                      <a:noFill/>
                    </a:lnB>
                    <a:noFill/>
                  </a:tcPr>
                </a:tc>
                <a:extLst>
                  <a:ext uri="{0D108BD9-81ED-4DB2-BD59-A6C34878D82A}">
                    <a16:rowId xmlns:a16="http://schemas.microsoft.com/office/drawing/2014/main" val="223214272"/>
                  </a:ext>
                </a:extLst>
              </a:tr>
              <a:tr h="0">
                <a:tc>
                  <a:txBody>
                    <a:bodyPr/>
                    <a:lstStyle/>
                    <a:p>
                      <a:r>
                        <a:rPr lang="en-IN"/>
                        <a:t>1</a:t>
                      </a:r>
                    </a:p>
                  </a:txBody>
                  <a:tcPr anchor="ctr">
                    <a:lnL>
                      <a:noFill/>
                    </a:lnL>
                    <a:lnR>
                      <a:noFill/>
                    </a:lnR>
                    <a:lnT>
                      <a:noFill/>
                    </a:lnT>
                    <a:lnB>
                      <a:noFill/>
                    </a:lnB>
                    <a:noFill/>
                  </a:tcPr>
                </a:tc>
                <a:tc>
                  <a:txBody>
                    <a:bodyPr/>
                    <a:lstStyle/>
                    <a:p>
                      <a:r>
                        <a:rPr lang="en-IN" dirty="0"/>
                        <a:t>1 (Positive)</a:t>
                      </a:r>
                    </a:p>
                  </a:txBody>
                  <a:tcPr anchor="ctr">
                    <a:lnL>
                      <a:noFill/>
                    </a:lnL>
                    <a:lnR>
                      <a:noFill/>
                    </a:lnR>
                    <a:lnT>
                      <a:noFill/>
                    </a:lnT>
                    <a:lnB>
                      <a:noFill/>
                    </a:lnB>
                    <a:noFill/>
                  </a:tcPr>
                </a:tc>
                <a:tc>
                  <a:txBody>
                    <a:bodyPr/>
                    <a:lstStyle/>
                    <a:p>
                      <a:r>
                        <a:rPr lang="en-IN"/>
                        <a:t>0.90</a:t>
                      </a:r>
                    </a:p>
                  </a:txBody>
                  <a:tcPr anchor="ctr">
                    <a:lnL>
                      <a:noFill/>
                    </a:lnL>
                    <a:lnR>
                      <a:noFill/>
                    </a:lnR>
                    <a:lnT>
                      <a:noFill/>
                    </a:lnT>
                    <a:lnB>
                      <a:noFill/>
                    </a:lnB>
                    <a:noFill/>
                  </a:tcPr>
                </a:tc>
                <a:extLst>
                  <a:ext uri="{0D108BD9-81ED-4DB2-BD59-A6C34878D82A}">
                    <a16:rowId xmlns:a16="http://schemas.microsoft.com/office/drawing/2014/main" val="2784501276"/>
                  </a:ext>
                </a:extLst>
              </a:tr>
              <a:tr h="0">
                <a:tc>
                  <a:txBody>
                    <a:bodyPr/>
                    <a:lstStyle/>
                    <a:p>
                      <a:r>
                        <a:rPr lang="en-IN"/>
                        <a:t>2</a:t>
                      </a:r>
                    </a:p>
                  </a:txBody>
                  <a:tcPr anchor="ctr">
                    <a:lnL>
                      <a:noFill/>
                    </a:lnL>
                    <a:lnR>
                      <a:noFill/>
                    </a:lnR>
                    <a:lnT>
                      <a:noFill/>
                    </a:lnT>
                    <a:lnB>
                      <a:noFill/>
                    </a:lnB>
                    <a:noFill/>
                  </a:tcPr>
                </a:tc>
                <a:tc>
                  <a:txBody>
                    <a:bodyPr/>
                    <a:lstStyle/>
                    <a:p>
                      <a:r>
                        <a:rPr lang="en-IN"/>
                        <a:t>0 (Negative)</a:t>
                      </a:r>
                    </a:p>
                  </a:txBody>
                  <a:tcPr anchor="ctr">
                    <a:lnL>
                      <a:noFill/>
                    </a:lnL>
                    <a:lnR>
                      <a:noFill/>
                    </a:lnR>
                    <a:lnT>
                      <a:noFill/>
                    </a:lnT>
                    <a:lnB>
                      <a:noFill/>
                    </a:lnB>
                    <a:noFill/>
                  </a:tcPr>
                </a:tc>
                <a:tc>
                  <a:txBody>
                    <a:bodyPr/>
                    <a:lstStyle/>
                    <a:p>
                      <a:r>
                        <a:rPr lang="en-IN"/>
                        <a:t>0.85</a:t>
                      </a:r>
                    </a:p>
                  </a:txBody>
                  <a:tcPr anchor="ctr">
                    <a:lnL>
                      <a:noFill/>
                    </a:lnL>
                    <a:lnR>
                      <a:noFill/>
                    </a:lnR>
                    <a:lnT>
                      <a:noFill/>
                    </a:lnT>
                    <a:lnB>
                      <a:noFill/>
                    </a:lnB>
                    <a:noFill/>
                  </a:tcPr>
                </a:tc>
                <a:extLst>
                  <a:ext uri="{0D108BD9-81ED-4DB2-BD59-A6C34878D82A}">
                    <a16:rowId xmlns:a16="http://schemas.microsoft.com/office/drawing/2014/main" val="1402713643"/>
                  </a:ext>
                </a:extLst>
              </a:tr>
              <a:tr h="0">
                <a:tc>
                  <a:txBody>
                    <a:bodyPr/>
                    <a:lstStyle/>
                    <a:p>
                      <a:r>
                        <a:rPr lang="en-IN"/>
                        <a:t>3</a:t>
                      </a:r>
                    </a:p>
                  </a:txBody>
                  <a:tcPr anchor="ctr">
                    <a:lnL>
                      <a:noFill/>
                    </a:lnL>
                    <a:lnR>
                      <a:noFill/>
                    </a:lnR>
                    <a:lnT>
                      <a:noFill/>
                    </a:lnT>
                    <a:lnB>
                      <a:noFill/>
                    </a:lnB>
                    <a:noFill/>
                  </a:tcPr>
                </a:tc>
                <a:tc>
                  <a:txBody>
                    <a:bodyPr/>
                    <a:lstStyle/>
                    <a:p>
                      <a:r>
                        <a:rPr lang="en-IN"/>
                        <a:t>1 (Positive)</a:t>
                      </a:r>
                    </a:p>
                  </a:txBody>
                  <a:tcPr anchor="ctr">
                    <a:lnL>
                      <a:noFill/>
                    </a:lnL>
                    <a:lnR>
                      <a:noFill/>
                    </a:lnR>
                    <a:lnT>
                      <a:noFill/>
                    </a:lnT>
                    <a:lnB>
                      <a:noFill/>
                    </a:lnB>
                    <a:noFill/>
                  </a:tcPr>
                </a:tc>
                <a:tc>
                  <a:txBody>
                    <a:bodyPr/>
                    <a:lstStyle/>
                    <a:p>
                      <a:r>
                        <a:rPr lang="en-IN"/>
                        <a:t>0.80</a:t>
                      </a:r>
                    </a:p>
                  </a:txBody>
                  <a:tcPr anchor="ctr">
                    <a:lnL>
                      <a:noFill/>
                    </a:lnL>
                    <a:lnR>
                      <a:noFill/>
                    </a:lnR>
                    <a:lnT>
                      <a:noFill/>
                    </a:lnT>
                    <a:lnB>
                      <a:noFill/>
                    </a:lnB>
                    <a:noFill/>
                  </a:tcPr>
                </a:tc>
                <a:extLst>
                  <a:ext uri="{0D108BD9-81ED-4DB2-BD59-A6C34878D82A}">
                    <a16:rowId xmlns:a16="http://schemas.microsoft.com/office/drawing/2014/main" val="3401601481"/>
                  </a:ext>
                </a:extLst>
              </a:tr>
              <a:tr h="0">
                <a:tc>
                  <a:txBody>
                    <a:bodyPr/>
                    <a:lstStyle/>
                    <a:p>
                      <a:r>
                        <a:rPr lang="en-IN"/>
                        <a:t>4</a:t>
                      </a:r>
                    </a:p>
                  </a:txBody>
                  <a:tcPr anchor="ctr">
                    <a:lnL>
                      <a:noFill/>
                    </a:lnL>
                    <a:lnR>
                      <a:noFill/>
                    </a:lnR>
                    <a:lnT>
                      <a:noFill/>
                    </a:lnT>
                    <a:lnB>
                      <a:noFill/>
                    </a:lnB>
                    <a:noFill/>
                  </a:tcPr>
                </a:tc>
                <a:tc>
                  <a:txBody>
                    <a:bodyPr/>
                    <a:lstStyle/>
                    <a:p>
                      <a:r>
                        <a:rPr lang="en-IN"/>
                        <a:t>1 (Positive)</a:t>
                      </a:r>
                    </a:p>
                  </a:txBody>
                  <a:tcPr anchor="ctr">
                    <a:lnL>
                      <a:noFill/>
                    </a:lnL>
                    <a:lnR>
                      <a:noFill/>
                    </a:lnR>
                    <a:lnT>
                      <a:noFill/>
                    </a:lnT>
                    <a:lnB>
                      <a:noFill/>
                    </a:lnB>
                    <a:noFill/>
                  </a:tcPr>
                </a:tc>
                <a:tc>
                  <a:txBody>
                    <a:bodyPr/>
                    <a:lstStyle/>
                    <a:p>
                      <a:r>
                        <a:rPr lang="en-IN"/>
                        <a:t>0.70</a:t>
                      </a:r>
                    </a:p>
                  </a:txBody>
                  <a:tcPr anchor="ctr">
                    <a:lnL>
                      <a:noFill/>
                    </a:lnL>
                    <a:lnR>
                      <a:noFill/>
                    </a:lnR>
                    <a:lnT>
                      <a:noFill/>
                    </a:lnT>
                    <a:lnB>
                      <a:noFill/>
                    </a:lnB>
                    <a:noFill/>
                  </a:tcPr>
                </a:tc>
                <a:extLst>
                  <a:ext uri="{0D108BD9-81ED-4DB2-BD59-A6C34878D82A}">
                    <a16:rowId xmlns:a16="http://schemas.microsoft.com/office/drawing/2014/main" val="2023894149"/>
                  </a:ext>
                </a:extLst>
              </a:tr>
              <a:tr h="0">
                <a:tc>
                  <a:txBody>
                    <a:bodyPr/>
                    <a:lstStyle/>
                    <a:p>
                      <a:r>
                        <a:rPr lang="en-IN" dirty="0"/>
                        <a:t>5</a:t>
                      </a:r>
                    </a:p>
                  </a:txBody>
                  <a:tcPr anchor="ctr">
                    <a:lnL>
                      <a:noFill/>
                    </a:lnL>
                    <a:lnR>
                      <a:noFill/>
                    </a:lnR>
                    <a:lnT>
                      <a:noFill/>
                    </a:lnT>
                    <a:lnB>
                      <a:noFill/>
                    </a:lnB>
                    <a:noFill/>
                  </a:tcPr>
                </a:tc>
                <a:tc>
                  <a:txBody>
                    <a:bodyPr/>
                    <a:lstStyle/>
                    <a:p>
                      <a:r>
                        <a:rPr lang="en-IN"/>
                        <a:t>0 (Negative)</a:t>
                      </a:r>
                    </a:p>
                  </a:txBody>
                  <a:tcPr anchor="ctr">
                    <a:lnL>
                      <a:noFill/>
                    </a:lnL>
                    <a:lnR>
                      <a:noFill/>
                    </a:lnR>
                    <a:lnT>
                      <a:noFill/>
                    </a:lnT>
                    <a:lnB>
                      <a:noFill/>
                    </a:lnB>
                    <a:noFill/>
                  </a:tcPr>
                </a:tc>
                <a:tc>
                  <a:txBody>
                    <a:bodyPr/>
                    <a:lstStyle/>
                    <a:p>
                      <a:r>
                        <a:rPr lang="en-IN"/>
                        <a:t>0.65</a:t>
                      </a:r>
                    </a:p>
                  </a:txBody>
                  <a:tcPr anchor="ctr">
                    <a:lnL>
                      <a:noFill/>
                    </a:lnL>
                    <a:lnR>
                      <a:noFill/>
                    </a:lnR>
                    <a:lnT>
                      <a:noFill/>
                    </a:lnT>
                    <a:lnB>
                      <a:noFill/>
                    </a:lnB>
                    <a:noFill/>
                  </a:tcPr>
                </a:tc>
                <a:extLst>
                  <a:ext uri="{0D108BD9-81ED-4DB2-BD59-A6C34878D82A}">
                    <a16:rowId xmlns:a16="http://schemas.microsoft.com/office/drawing/2014/main" val="3250199439"/>
                  </a:ext>
                </a:extLst>
              </a:tr>
              <a:tr h="0">
                <a:tc>
                  <a:txBody>
                    <a:bodyPr/>
                    <a:lstStyle/>
                    <a:p>
                      <a:r>
                        <a:rPr lang="en-IN"/>
                        <a:t>6</a:t>
                      </a:r>
                    </a:p>
                  </a:txBody>
                  <a:tcPr anchor="ctr">
                    <a:lnL>
                      <a:noFill/>
                    </a:lnL>
                    <a:lnR>
                      <a:noFill/>
                    </a:lnR>
                    <a:lnT>
                      <a:noFill/>
                    </a:lnT>
                    <a:lnB>
                      <a:noFill/>
                    </a:lnB>
                    <a:noFill/>
                  </a:tcPr>
                </a:tc>
                <a:tc>
                  <a:txBody>
                    <a:bodyPr/>
                    <a:lstStyle/>
                    <a:p>
                      <a:r>
                        <a:rPr lang="en-IN"/>
                        <a:t>0 (Negative)</a:t>
                      </a:r>
                    </a:p>
                  </a:txBody>
                  <a:tcPr anchor="ctr">
                    <a:lnL>
                      <a:noFill/>
                    </a:lnL>
                    <a:lnR>
                      <a:noFill/>
                    </a:lnR>
                    <a:lnT>
                      <a:noFill/>
                    </a:lnT>
                    <a:lnB>
                      <a:noFill/>
                    </a:lnB>
                    <a:noFill/>
                  </a:tcPr>
                </a:tc>
                <a:tc>
                  <a:txBody>
                    <a:bodyPr/>
                    <a:lstStyle/>
                    <a:p>
                      <a:r>
                        <a:rPr lang="en-IN"/>
                        <a:t>0.60</a:t>
                      </a:r>
                    </a:p>
                  </a:txBody>
                  <a:tcPr anchor="ctr">
                    <a:lnL>
                      <a:noFill/>
                    </a:lnL>
                    <a:lnR>
                      <a:noFill/>
                    </a:lnR>
                    <a:lnT>
                      <a:noFill/>
                    </a:lnT>
                    <a:lnB>
                      <a:noFill/>
                    </a:lnB>
                    <a:noFill/>
                  </a:tcPr>
                </a:tc>
                <a:extLst>
                  <a:ext uri="{0D108BD9-81ED-4DB2-BD59-A6C34878D82A}">
                    <a16:rowId xmlns:a16="http://schemas.microsoft.com/office/drawing/2014/main" val="652428538"/>
                  </a:ext>
                </a:extLst>
              </a:tr>
              <a:tr h="0">
                <a:tc>
                  <a:txBody>
                    <a:bodyPr/>
                    <a:lstStyle/>
                    <a:p>
                      <a:r>
                        <a:rPr lang="en-IN"/>
                        <a:t>7</a:t>
                      </a:r>
                    </a:p>
                  </a:txBody>
                  <a:tcPr anchor="ctr">
                    <a:lnL>
                      <a:noFill/>
                    </a:lnL>
                    <a:lnR>
                      <a:noFill/>
                    </a:lnR>
                    <a:lnT>
                      <a:noFill/>
                    </a:lnT>
                    <a:lnB>
                      <a:noFill/>
                    </a:lnB>
                    <a:noFill/>
                  </a:tcPr>
                </a:tc>
                <a:tc>
                  <a:txBody>
                    <a:bodyPr/>
                    <a:lstStyle/>
                    <a:p>
                      <a:r>
                        <a:rPr lang="en-IN"/>
                        <a:t>1 (Positive)</a:t>
                      </a:r>
                    </a:p>
                  </a:txBody>
                  <a:tcPr anchor="ctr">
                    <a:lnL>
                      <a:noFill/>
                    </a:lnL>
                    <a:lnR>
                      <a:noFill/>
                    </a:lnR>
                    <a:lnT>
                      <a:noFill/>
                    </a:lnT>
                    <a:lnB>
                      <a:noFill/>
                    </a:lnB>
                    <a:noFill/>
                  </a:tcPr>
                </a:tc>
                <a:tc>
                  <a:txBody>
                    <a:bodyPr/>
                    <a:lstStyle/>
                    <a:p>
                      <a:r>
                        <a:rPr lang="en-IN"/>
                        <a:t>0.55</a:t>
                      </a:r>
                    </a:p>
                  </a:txBody>
                  <a:tcPr anchor="ctr">
                    <a:lnL>
                      <a:noFill/>
                    </a:lnL>
                    <a:lnR>
                      <a:noFill/>
                    </a:lnR>
                    <a:lnT>
                      <a:noFill/>
                    </a:lnT>
                    <a:lnB>
                      <a:noFill/>
                    </a:lnB>
                    <a:noFill/>
                  </a:tcPr>
                </a:tc>
                <a:extLst>
                  <a:ext uri="{0D108BD9-81ED-4DB2-BD59-A6C34878D82A}">
                    <a16:rowId xmlns:a16="http://schemas.microsoft.com/office/drawing/2014/main" val="4289778097"/>
                  </a:ext>
                </a:extLst>
              </a:tr>
              <a:tr h="0">
                <a:tc>
                  <a:txBody>
                    <a:bodyPr/>
                    <a:lstStyle/>
                    <a:p>
                      <a:r>
                        <a:rPr lang="en-IN"/>
                        <a:t>8</a:t>
                      </a:r>
                    </a:p>
                  </a:txBody>
                  <a:tcPr anchor="ctr">
                    <a:lnL>
                      <a:noFill/>
                    </a:lnL>
                    <a:lnR>
                      <a:noFill/>
                    </a:lnR>
                    <a:lnT>
                      <a:noFill/>
                    </a:lnT>
                    <a:lnB>
                      <a:noFill/>
                    </a:lnB>
                    <a:noFill/>
                  </a:tcPr>
                </a:tc>
                <a:tc>
                  <a:txBody>
                    <a:bodyPr/>
                    <a:lstStyle/>
                    <a:p>
                      <a:r>
                        <a:rPr lang="en-IN"/>
                        <a:t>0 (Negative)</a:t>
                      </a:r>
                    </a:p>
                  </a:txBody>
                  <a:tcPr anchor="ctr">
                    <a:lnL>
                      <a:noFill/>
                    </a:lnL>
                    <a:lnR>
                      <a:noFill/>
                    </a:lnR>
                    <a:lnT>
                      <a:noFill/>
                    </a:lnT>
                    <a:lnB>
                      <a:noFill/>
                    </a:lnB>
                    <a:noFill/>
                  </a:tcPr>
                </a:tc>
                <a:tc>
                  <a:txBody>
                    <a:bodyPr/>
                    <a:lstStyle/>
                    <a:p>
                      <a:r>
                        <a:rPr lang="en-IN" dirty="0"/>
                        <a:t>0.50</a:t>
                      </a:r>
                    </a:p>
                  </a:txBody>
                  <a:tcPr anchor="ctr">
                    <a:lnL>
                      <a:noFill/>
                    </a:lnL>
                    <a:lnR>
                      <a:noFill/>
                    </a:lnR>
                    <a:lnT>
                      <a:noFill/>
                    </a:lnT>
                    <a:lnB>
                      <a:noFill/>
                    </a:lnB>
                    <a:noFill/>
                  </a:tcPr>
                </a:tc>
                <a:extLst>
                  <a:ext uri="{0D108BD9-81ED-4DB2-BD59-A6C34878D82A}">
                    <a16:rowId xmlns:a16="http://schemas.microsoft.com/office/drawing/2014/main" val="2919747259"/>
                  </a:ext>
                </a:extLst>
              </a:tr>
            </a:tbl>
          </a:graphicData>
        </a:graphic>
      </p:graphicFrame>
      <p:sp>
        <p:nvSpPr>
          <p:cNvPr id="4" name="Rectangle 1">
            <a:extLst>
              <a:ext uri="{FF2B5EF4-FFF2-40B4-BE49-F238E27FC236}">
                <a16:creationId xmlns:a16="http://schemas.microsoft.com/office/drawing/2014/main" id="{000C0985-E35E-B26A-8161-00FBF180CEEF}"/>
              </a:ext>
            </a:extLst>
          </p:cNvPr>
          <p:cNvSpPr>
            <a:spLocks noChangeArrowheads="1"/>
          </p:cNvSpPr>
          <p:nvPr/>
        </p:nvSpPr>
        <p:spPr bwMode="auto">
          <a:xfrm>
            <a:off x="226703" y="110647"/>
            <a:ext cx="1173859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Numerical Example of AUROC Calculation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Let’s consider a binary classification model that assigns scores to test samples.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goal is to determine how well the model ranks positive instances higher than negative ones.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Step 1: Consider the following dataset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Total </a:t>
            </a:r>
            <a:r>
              <a:rPr kumimoji="0" lang="en-US" altLang="en-US" sz="1600" b="1" i="0" u="none" strike="noStrike" cap="none" normalizeH="0" baseline="0" dirty="0">
                <a:ln>
                  <a:noFill/>
                </a:ln>
                <a:solidFill>
                  <a:schemeClr val="tx1"/>
                </a:solidFill>
                <a:effectLst/>
                <a:latin typeface="Arial" panose="020B0604020202020204" pitchFamily="34" charset="0"/>
              </a:rPr>
              <a:t>Positive (1s) = 4</a:t>
            </a:r>
            <a:r>
              <a:rPr kumimoji="0" lang="en-US" altLang="en-US" sz="1600" b="0" i="0" u="none" strike="noStrike" cap="none" normalizeH="0" baseline="0" dirty="0">
                <a:ln>
                  <a:noFill/>
                </a:ln>
                <a:solidFill>
                  <a:schemeClr val="tx1"/>
                </a:solidFill>
                <a:effectLst/>
                <a:latin typeface="Arial" panose="020B0604020202020204" pitchFamily="34" charset="0"/>
              </a:rPr>
              <a:t>, Total </a:t>
            </a:r>
            <a:r>
              <a:rPr kumimoji="0" lang="en-US" altLang="en-US" sz="1600" b="1" i="0" u="none" strike="noStrike" cap="none" normalizeH="0" baseline="0" dirty="0">
                <a:ln>
                  <a:noFill/>
                </a:ln>
                <a:solidFill>
                  <a:schemeClr val="tx1"/>
                </a:solidFill>
                <a:effectLst/>
                <a:latin typeface="Arial" panose="020B0604020202020204" pitchFamily="34" charset="0"/>
              </a:rPr>
              <a:t>Negative (0s) = 4</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59911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8CE13A-BFC3-8ACC-3203-20C3E5FE99DC}"/>
              </a:ext>
            </a:extLst>
          </p:cNvPr>
          <p:cNvSpPr txBox="1"/>
          <p:nvPr/>
        </p:nvSpPr>
        <p:spPr>
          <a:xfrm>
            <a:off x="208547" y="189911"/>
            <a:ext cx="11349789" cy="923330"/>
          </a:xfrm>
          <a:prstGeom prst="rect">
            <a:avLst/>
          </a:prstGeom>
          <a:noFill/>
        </p:spPr>
        <p:txBody>
          <a:bodyPr wrap="square">
            <a:spAutoFit/>
          </a:bodyPr>
          <a:lstStyle/>
          <a:p>
            <a:r>
              <a:rPr lang="en-US" b="1" dirty="0"/>
              <a:t>Step 2: Compute True Positive Rate (TPR) and False Positive Rate (FPR) at different thresholds:</a:t>
            </a:r>
          </a:p>
          <a:p>
            <a:endParaRPr lang="en-US" b="1" dirty="0"/>
          </a:p>
          <a:p>
            <a:r>
              <a:rPr lang="en-US" dirty="0"/>
              <a:t>We now vary the threshold from </a:t>
            </a:r>
            <a:r>
              <a:rPr lang="en-US" b="1" dirty="0"/>
              <a:t>highest to lowest model score</a:t>
            </a:r>
            <a:r>
              <a:rPr lang="en-US" dirty="0"/>
              <a:t> and compute </a:t>
            </a:r>
            <a:r>
              <a:rPr lang="en-US" b="1" dirty="0"/>
              <a:t>TPR</a:t>
            </a:r>
            <a:r>
              <a:rPr lang="en-US" dirty="0"/>
              <a:t> and </a:t>
            </a:r>
            <a:r>
              <a:rPr lang="en-US" b="1" dirty="0"/>
              <a:t>FPR</a:t>
            </a:r>
            <a:r>
              <a:rPr lang="en-US" dirty="0"/>
              <a:t>.</a:t>
            </a:r>
          </a:p>
        </p:txBody>
      </p:sp>
      <p:graphicFrame>
        <p:nvGraphicFramePr>
          <p:cNvPr id="6" name="Table 5">
            <a:extLst>
              <a:ext uri="{FF2B5EF4-FFF2-40B4-BE49-F238E27FC236}">
                <a16:creationId xmlns:a16="http://schemas.microsoft.com/office/drawing/2014/main" id="{953A7436-C82F-F7B7-3829-A94D626DD75D}"/>
              </a:ext>
            </a:extLst>
          </p:cNvPr>
          <p:cNvGraphicFramePr>
            <a:graphicFrameLocks noGrp="1"/>
          </p:cNvGraphicFramePr>
          <p:nvPr>
            <p:extLst>
              <p:ext uri="{D42A27DB-BD31-4B8C-83A1-F6EECF244321}">
                <p14:modId xmlns:p14="http://schemas.microsoft.com/office/powerpoint/2010/main" val="2446082142"/>
              </p:ext>
            </p:extLst>
          </p:nvPr>
        </p:nvGraphicFramePr>
        <p:xfrm>
          <a:off x="625639" y="1783080"/>
          <a:ext cx="10515603" cy="3291840"/>
        </p:xfrm>
        <a:graphic>
          <a:graphicData uri="http://schemas.openxmlformats.org/drawingml/2006/table">
            <a:tbl>
              <a:tblPr/>
              <a:tblGrid>
                <a:gridCol w="1502229">
                  <a:extLst>
                    <a:ext uri="{9D8B030D-6E8A-4147-A177-3AD203B41FA5}">
                      <a16:colId xmlns:a16="http://schemas.microsoft.com/office/drawing/2014/main" val="1232666304"/>
                    </a:ext>
                  </a:extLst>
                </a:gridCol>
                <a:gridCol w="1502229">
                  <a:extLst>
                    <a:ext uri="{9D8B030D-6E8A-4147-A177-3AD203B41FA5}">
                      <a16:colId xmlns:a16="http://schemas.microsoft.com/office/drawing/2014/main" val="2969890287"/>
                    </a:ext>
                  </a:extLst>
                </a:gridCol>
                <a:gridCol w="1502229">
                  <a:extLst>
                    <a:ext uri="{9D8B030D-6E8A-4147-A177-3AD203B41FA5}">
                      <a16:colId xmlns:a16="http://schemas.microsoft.com/office/drawing/2014/main" val="1747505276"/>
                    </a:ext>
                  </a:extLst>
                </a:gridCol>
                <a:gridCol w="1502229">
                  <a:extLst>
                    <a:ext uri="{9D8B030D-6E8A-4147-A177-3AD203B41FA5}">
                      <a16:colId xmlns:a16="http://schemas.microsoft.com/office/drawing/2014/main" val="3585626311"/>
                    </a:ext>
                  </a:extLst>
                </a:gridCol>
                <a:gridCol w="1502229">
                  <a:extLst>
                    <a:ext uri="{9D8B030D-6E8A-4147-A177-3AD203B41FA5}">
                      <a16:colId xmlns:a16="http://schemas.microsoft.com/office/drawing/2014/main" val="350457303"/>
                    </a:ext>
                  </a:extLst>
                </a:gridCol>
                <a:gridCol w="1502229">
                  <a:extLst>
                    <a:ext uri="{9D8B030D-6E8A-4147-A177-3AD203B41FA5}">
                      <a16:colId xmlns:a16="http://schemas.microsoft.com/office/drawing/2014/main" val="4160828901"/>
                    </a:ext>
                  </a:extLst>
                </a:gridCol>
                <a:gridCol w="1502229">
                  <a:extLst>
                    <a:ext uri="{9D8B030D-6E8A-4147-A177-3AD203B41FA5}">
                      <a16:colId xmlns:a16="http://schemas.microsoft.com/office/drawing/2014/main" val="3557121164"/>
                    </a:ext>
                  </a:extLst>
                </a:gridCol>
              </a:tblGrid>
              <a:tr h="365760">
                <a:tc>
                  <a:txBody>
                    <a:bodyPr/>
                    <a:lstStyle/>
                    <a:p>
                      <a:r>
                        <a:rPr lang="en-IN" sz="1800"/>
                        <a:t>Threshold</a:t>
                      </a:r>
                    </a:p>
                  </a:txBody>
                  <a:tcPr anchor="ctr">
                    <a:lnL>
                      <a:noFill/>
                    </a:lnL>
                    <a:lnR>
                      <a:noFill/>
                    </a:lnR>
                    <a:lnT>
                      <a:noFill/>
                    </a:lnT>
                    <a:lnB>
                      <a:noFill/>
                    </a:lnB>
                    <a:noFill/>
                  </a:tcPr>
                </a:tc>
                <a:tc>
                  <a:txBody>
                    <a:bodyPr/>
                    <a:lstStyle/>
                    <a:p>
                      <a:r>
                        <a:rPr lang="en-IN" sz="1800"/>
                        <a:t>TP</a:t>
                      </a:r>
                    </a:p>
                  </a:txBody>
                  <a:tcPr anchor="ctr">
                    <a:lnL>
                      <a:noFill/>
                    </a:lnL>
                    <a:lnR>
                      <a:noFill/>
                    </a:lnR>
                    <a:lnT>
                      <a:noFill/>
                    </a:lnT>
                    <a:lnB>
                      <a:noFill/>
                    </a:lnB>
                    <a:noFill/>
                  </a:tcPr>
                </a:tc>
                <a:tc>
                  <a:txBody>
                    <a:bodyPr/>
                    <a:lstStyle/>
                    <a:p>
                      <a:r>
                        <a:rPr lang="en-IN" sz="1800"/>
                        <a:t>FP</a:t>
                      </a:r>
                    </a:p>
                  </a:txBody>
                  <a:tcPr anchor="ctr">
                    <a:lnL>
                      <a:noFill/>
                    </a:lnL>
                    <a:lnR>
                      <a:noFill/>
                    </a:lnR>
                    <a:lnT>
                      <a:noFill/>
                    </a:lnT>
                    <a:lnB>
                      <a:noFill/>
                    </a:lnB>
                    <a:noFill/>
                  </a:tcPr>
                </a:tc>
                <a:tc>
                  <a:txBody>
                    <a:bodyPr/>
                    <a:lstStyle/>
                    <a:p>
                      <a:r>
                        <a:rPr lang="en-IN" sz="1800"/>
                        <a:t>FN</a:t>
                      </a:r>
                    </a:p>
                  </a:txBody>
                  <a:tcPr anchor="ctr">
                    <a:lnL>
                      <a:noFill/>
                    </a:lnL>
                    <a:lnR>
                      <a:noFill/>
                    </a:lnR>
                    <a:lnT>
                      <a:noFill/>
                    </a:lnT>
                    <a:lnB>
                      <a:noFill/>
                    </a:lnB>
                    <a:noFill/>
                  </a:tcPr>
                </a:tc>
                <a:tc>
                  <a:txBody>
                    <a:bodyPr/>
                    <a:lstStyle/>
                    <a:p>
                      <a:r>
                        <a:rPr lang="en-IN" sz="1800"/>
                        <a:t>TN</a:t>
                      </a:r>
                    </a:p>
                  </a:txBody>
                  <a:tcPr anchor="ctr">
                    <a:lnL>
                      <a:noFill/>
                    </a:lnL>
                    <a:lnR>
                      <a:noFill/>
                    </a:lnR>
                    <a:lnT>
                      <a:noFill/>
                    </a:lnT>
                    <a:lnB>
                      <a:noFill/>
                    </a:lnB>
                    <a:noFill/>
                  </a:tcPr>
                </a:tc>
                <a:tc>
                  <a:txBody>
                    <a:bodyPr/>
                    <a:lstStyle/>
                    <a:p>
                      <a:r>
                        <a:rPr lang="en-IN" sz="1800"/>
                        <a:t>TPR (Recall)</a:t>
                      </a:r>
                    </a:p>
                  </a:txBody>
                  <a:tcPr anchor="ctr">
                    <a:lnL>
                      <a:noFill/>
                    </a:lnL>
                    <a:lnR>
                      <a:noFill/>
                    </a:lnR>
                    <a:lnT>
                      <a:noFill/>
                    </a:lnT>
                    <a:lnB>
                      <a:noFill/>
                    </a:lnB>
                    <a:noFill/>
                  </a:tcPr>
                </a:tc>
                <a:tc>
                  <a:txBody>
                    <a:bodyPr/>
                    <a:lstStyle/>
                    <a:p>
                      <a:r>
                        <a:rPr lang="en-IN" sz="1800"/>
                        <a:t>FPR</a:t>
                      </a:r>
                    </a:p>
                  </a:txBody>
                  <a:tcPr anchor="ctr">
                    <a:lnL>
                      <a:noFill/>
                    </a:lnL>
                    <a:lnR>
                      <a:noFill/>
                    </a:lnR>
                    <a:lnT>
                      <a:noFill/>
                    </a:lnT>
                    <a:lnB>
                      <a:noFill/>
                    </a:lnB>
                    <a:noFill/>
                  </a:tcPr>
                </a:tc>
                <a:extLst>
                  <a:ext uri="{0D108BD9-81ED-4DB2-BD59-A6C34878D82A}">
                    <a16:rowId xmlns:a16="http://schemas.microsoft.com/office/drawing/2014/main" val="3210345690"/>
                  </a:ext>
                </a:extLst>
              </a:tr>
              <a:tr h="365760">
                <a:tc>
                  <a:txBody>
                    <a:bodyPr/>
                    <a:lstStyle/>
                    <a:p>
                      <a:r>
                        <a:rPr lang="en-IN" sz="1800" b="1"/>
                        <a:t>≥ 0.90</a:t>
                      </a:r>
                      <a:endParaRPr lang="en-IN" sz="1800"/>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0</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4</a:t>
                      </a:r>
                    </a:p>
                  </a:txBody>
                  <a:tcPr anchor="ctr">
                    <a:lnL>
                      <a:noFill/>
                    </a:lnL>
                    <a:lnR>
                      <a:noFill/>
                    </a:lnR>
                    <a:lnT>
                      <a:noFill/>
                    </a:lnT>
                    <a:lnB>
                      <a:noFill/>
                    </a:lnB>
                    <a:noFill/>
                  </a:tcPr>
                </a:tc>
                <a:tc>
                  <a:txBody>
                    <a:bodyPr/>
                    <a:lstStyle/>
                    <a:p>
                      <a:r>
                        <a:rPr lang="en-IN" sz="1800"/>
                        <a:t>1/4 = 0.25</a:t>
                      </a:r>
                    </a:p>
                  </a:txBody>
                  <a:tcPr anchor="ctr">
                    <a:lnL>
                      <a:noFill/>
                    </a:lnL>
                    <a:lnR>
                      <a:noFill/>
                    </a:lnR>
                    <a:lnT>
                      <a:noFill/>
                    </a:lnT>
                    <a:lnB>
                      <a:noFill/>
                    </a:lnB>
                    <a:noFill/>
                  </a:tcPr>
                </a:tc>
                <a:tc>
                  <a:txBody>
                    <a:bodyPr/>
                    <a:lstStyle/>
                    <a:p>
                      <a:r>
                        <a:rPr lang="en-IN" sz="1800"/>
                        <a:t>0/4 = 0.00</a:t>
                      </a:r>
                    </a:p>
                  </a:txBody>
                  <a:tcPr anchor="ctr">
                    <a:lnL>
                      <a:noFill/>
                    </a:lnL>
                    <a:lnR>
                      <a:noFill/>
                    </a:lnR>
                    <a:lnT>
                      <a:noFill/>
                    </a:lnT>
                    <a:lnB>
                      <a:noFill/>
                    </a:lnB>
                    <a:noFill/>
                  </a:tcPr>
                </a:tc>
                <a:extLst>
                  <a:ext uri="{0D108BD9-81ED-4DB2-BD59-A6C34878D82A}">
                    <a16:rowId xmlns:a16="http://schemas.microsoft.com/office/drawing/2014/main" val="199591786"/>
                  </a:ext>
                </a:extLst>
              </a:tr>
              <a:tr h="365760">
                <a:tc>
                  <a:txBody>
                    <a:bodyPr/>
                    <a:lstStyle/>
                    <a:p>
                      <a:r>
                        <a:rPr lang="en-IN" sz="1800" b="1"/>
                        <a:t>≥ 0.85</a:t>
                      </a:r>
                      <a:endParaRPr lang="en-IN" sz="1800"/>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1/4 = 0.25</a:t>
                      </a:r>
                    </a:p>
                  </a:txBody>
                  <a:tcPr anchor="ctr">
                    <a:lnL>
                      <a:noFill/>
                    </a:lnL>
                    <a:lnR>
                      <a:noFill/>
                    </a:lnR>
                    <a:lnT>
                      <a:noFill/>
                    </a:lnT>
                    <a:lnB>
                      <a:noFill/>
                    </a:lnB>
                    <a:noFill/>
                  </a:tcPr>
                </a:tc>
                <a:tc>
                  <a:txBody>
                    <a:bodyPr/>
                    <a:lstStyle/>
                    <a:p>
                      <a:r>
                        <a:rPr lang="en-IN" sz="1800"/>
                        <a:t>1/4 = 0.25</a:t>
                      </a:r>
                    </a:p>
                  </a:txBody>
                  <a:tcPr anchor="ctr">
                    <a:lnL>
                      <a:noFill/>
                    </a:lnL>
                    <a:lnR>
                      <a:noFill/>
                    </a:lnR>
                    <a:lnT>
                      <a:noFill/>
                    </a:lnT>
                    <a:lnB>
                      <a:noFill/>
                    </a:lnB>
                    <a:noFill/>
                  </a:tcPr>
                </a:tc>
                <a:extLst>
                  <a:ext uri="{0D108BD9-81ED-4DB2-BD59-A6C34878D82A}">
                    <a16:rowId xmlns:a16="http://schemas.microsoft.com/office/drawing/2014/main" val="3991254477"/>
                  </a:ext>
                </a:extLst>
              </a:tr>
              <a:tr h="365760">
                <a:tc>
                  <a:txBody>
                    <a:bodyPr/>
                    <a:lstStyle/>
                    <a:p>
                      <a:r>
                        <a:rPr lang="en-IN" sz="1800" b="1"/>
                        <a:t>≥ 0.80</a:t>
                      </a:r>
                      <a:endParaRPr lang="en-IN" sz="1800"/>
                    </a:p>
                  </a:txBody>
                  <a:tcPr anchor="ctr">
                    <a:lnL>
                      <a:noFill/>
                    </a:lnL>
                    <a:lnR>
                      <a:noFill/>
                    </a:lnR>
                    <a:lnT>
                      <a:noFill/>
                    </a:lnT>
                    <a:lnB>
                      <a:noFill/>
                    </a:lnB>
                    <a:noFill/>
                  </a:tcPr>
                </a:tc>
                <a:tc>
                  <a:txBody>
                    <a:bodyPr/>
                    <a:lstStyle/>
                    <a:p>
                      <a:r>
                        <a:rPr lang="en-IN" sz="1800"/>
                        <a:t>2</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2</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2/4 = 0.50</a:t>
                      </a:r>
                    </a:p>
                  </a:txBody>
                  <a:tcPr anchor="ctr">
                    <a:lnL>
                      <a:noFill/>
                    </a:lnL>
                    <a:lnR>
                      <a:noFill/>
                    </a:lnR>
                    <a:lnT>
                      <a:noFill/>
                    </a:lnT>
                    <a:lnB>
                      <a:noFill/>
                    </a:lnB>
                    <a:noFill/>
                  </a:tcPr>
                </a:tc>
                <a:tc>
                  <a:txBody>
                    <a:bodyPr/>
                    <a:lstStyle/>
                    <a:p>
                      <a:r>
                        <a:rPr lang="en-IN" sz="1800"/>
                        <a:t>1/4 = 0.25</a:t>
                      </a:r>
                    </a:p>
                  </a:txBody>
                  <a:tcPr anchor="ctr">
                    <a:lnL>
                      <a:noFill/>
                    </a:lnL>
                    <a:lnR>
                      <a:noFill/>
                    </a:lnR>
                    <a:lnT>
                      <a:noFill/>
                    </a:lnT>
                    <a:lnB>
                      <a:noFill/>
                    </a:lnB>
                    <a:noFill/>
                  </a:tcPr>
                </a:tc>
                <a:extLst>
                  <a:ext uri="{0D108BD9-81ED-4DB2-BD59-A6C34878D82A}">
                    <a16:rowId xmlns:a16="http://schemas.microsoft.com/office/drawing/2014/main" val="446976596"/>
                  </a:ext>
                </a:extLst>
              </a:tr>
              <a:tr h="365760">
                <a:tc>
                  <a:txBody>
                    <a:bodyPr/>
                    <a:lstStyle/>
                    <a:p>
                      <a:r>
                        <a:rPr lang="en-IN" sz="1800" b="1"/>
                        <a:t>≥ 0.70</a:t>
                      </a:r>
                      <a:endParaRPr lang="en-IN" sz="1800"/>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3/4 = 0.75</a:t>
                      </a:r>
                    </a:p>
                  </a:txBody>
                  <a:tcPr anchor="ctr">
                    <a:lnL>
                      <a:noFill/>
                    </a:lnL>
                    <a:lnR>
                      <a:noFill/>
                    </a:lnR>
                    <a:lnT>
                      <a:noFill/>
                    </a:lnT>
                    <a:lnB>
                      <a:noFill/>
                    </a:lnB>
                    <a:noFill/>
                  </a:tcPr>
                </a:tc>
                <a:tc>
                  <a:txBody>
                    <a:bodyPr/>
                    <a:lstStyle/>
                    <a:p>
                      <a:r>
                        <a:rPr lang="en-IN" sz="1800"/>
                        <a:t>1/4 = 0.25</a:t>
                      </a:r>
                    </a:p>
                  </a:txBody>
                  <a:tcPr anchor="ctr">
                    <a:lnL>
                      <a:noFill/>
                    </a:lnL>
                    <a:lnR>
                      <a:noFill/>
                    </a:lnR>
                    <a:lnT>
                      <a:noFill/>
                    </a:lnT>
                    <a:lnB>
                      <a:noFill/>
                    </a:lnB>
                    <a:noFill/>
                  </a:tcPr>
                </a:tc>
                <a:extLst>
                  <a:ext uri="{0D108BD9-81ED-4DB2-BD59-A6C34878D82A}">
                    <a16:rowId xmlns:a16="http://schemas.microsoft.com/office/drawing/2014/main" val="1563787802"/>
                  </a:ext>
                </a:extLst>
              </a:tr>
              <a:tr h="365760">
                <a:tc>
                  <a:txBody>
                    <a:bodyPr/>
                    <a:lstStyle/>
                    <a:p>
                      <a:r>
                        <a:rPr lang="en-IN" sz="1800" b="1"/>
                        <a:t>≥ 0.65</a:t>
                      </a:r>
                      <a:endParaRPr lang="en-IN" sz="1800"/>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2</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2</a:t>
                      </a:r>
                    </a:p>
                  </a:txBody>
                  <a:tcPr anchor="ctr">
                    <a:lnL>
                      <a:noFill/>
                    </a:lnL>
                    <a:lnR>
                      <a:noFill/>
                    </a:lnR>
                    <a:lnT>
                      <a:noFill/>
                    </a:lnT>
                    <a:lnB>
                      <a:noFill/>
                    </a:lnB>
                    <a:noFill/>
                  </a:tcPr>
                </a:tc>
                <a:tc>
                  <a:txBody>
                    <a:bodyPr/>
                    <a:lstStyle/>
                    <a:p>
                      <a:r>
                        <a:rPr lang="en-IN" sz="1800"/>
                        <a:t>3/4 = 0.75</a:t>
                      </a:r>
                    </a:p>
                  </a:txBody>
                  <a:tcPr anchor="ctr">
                    <a:lnL>
                      <a:noFill/>
                    </a:lnL>
                    <a:lnR>
                      <a:noFill/>
                    </a:lnR>
                    <a:lnT>
                      <a:noFill/>
                    </a:lnT>
                    <a:lnB>
                      <a:noFill/>
                    </a:lnB>
                    <a:noFill/>
                  </a:tcPr>
                </a:tc>
                <a:tc>
                  <a:txBody>
                    <a:bodyPr/>
                    <a:lstStyle/>
                    <a:p>
                      <a:r>
                        <a:rPr lang="en-IN" sz="1800"/>
                        <a:t>2/4 = 0.50</a:t>
                      </a:r>
                    </a:p>
                  </a:txBody>
                  <a:tcPr anchor="ctr">
                    <a:lnL>
                      <a:noFill/>
                    </a:lnL>
                    <a:lnR>
                      <a:noFill/>
                    </a:lnR>
                    <a:lnT>
                      <a:noFill/>
                    </a:lnT>
                    <a:lnB>
                      <a:noFill/>
                    </a:lnB>
                    <a:noFill/>
                  </a:tcPr>
                </a:tc>
                <a:extLst>
                  <a:ext uri="{0D108BD9-81ED-4DB2-BD59-A6C34878D82A}">
                    <a16:rowId xmlns:a16="http://schemas.microsoft.com/office/drawing/2014/main" val="1964771663"/>
                  </a:ext>
                </a:extLst>
              </a:tr>
              <a:tr h="365760">
                <a:tc>
                  <a:txBody>
                    <a:bodyPr/>
                    <a:lstStyle/>
                    <a:p>
                      <a:r>
                        <a:rPr lang="en-IN" sz="1800" b="1"/>
                        <a:t>≥ 0.60</a:t>
                      </a:r>
                      <a:endParaRPr lang="en-IN" sz="1800"/>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3/4 = 0.75</a:t>
                      </a:r>
                    </a:p>
                  </a:txBody>
                  <a:tcPr anchor="ctr">
                    <a:lnL>
                      <a:noFill/>
                    </a:lnL>
                    <a:lnR>
                      <a:noFill/>
                    </a:lnR>
                    <a:lnT>
                      <a:noFill/>
                    </a:lnT>
                    <a:lnB>
                      <a:noFill/>
                    </a:lnB>
                    <a:noFill/>
                  </a:tcPr>
                </a:tc>
                <a:tc>
                  <a:txBody>
                    <a:bodyPr/>
                    <a:lstStyle/>
                    <a:p>
                      <a:r>
                        <a:rPr lang="en-IN" sz="1800"/>
                        <a:t>3/4 = 0.75</a:t>
                      </a:r>
                    </a:p>
                  </a:txBody>
                  <a:tcPr anchor="ctr">
                    <a:lnL>
                      <a:noFill/>
                    </a:lnL>
                    <a:lnR>
                      <a:noFill/>
                    </a:lnR>
                    <a:lnT>
                      <a:noFill/>
                    </a:lnT>
                    <a:lnB>
                      <a:noFill/>
                    </a:lnB>
                    <a:noFill/>
                  </a:tcPr>
                </a:tc>
                <a:extLst>
                  <a:ext uri="{0D108BD9-81ED-4DB2-BD59-A6C34878D82A}">
                    <a16:rowId xmlns:a16="http://schemas.microsoft.com/office/drawing/2014/main" val="3724066933"/>
                  </a:ext>
                </a:extLst>
              </a:tr>
              <a:tr h="365760">
                <a:tc>
                  <a:txBody>
                    <a:bodyPr/>
                    <a:lstStyle/>
                    <a:p>
                      <a:r>
                        <a:rPr lang="en-IN" sz="1800" b="1"/>
                        <a:t>≥ 0.55</a:t>
                      </a:r>
                      <a:endParaRPr lang="en-IN" sz="1800"/>
                    </a:p>
                  </a:txBody>
                  <a:tcPr anchor="ctr">
                    <a:lnL>
                      <a:noFill/>
                    </a:lnL>
                    <a:lnR>
                      <a:noFill/>
                    </a:lnR>
                    <a:lnT>
                      <a:noFill/>
                    </a:lnT>
                    <a:lnB>
                      <a:noFill/>
                    </a:lnB>
                    <a:noFill/>
                  </a:tcPr>
                </a:tc>
                <a:tc>
                  <a:txBody>
                    <a:bodyPr/>
                    <a:lstStyle/>
                    <a:p>
                      <a:r>
                        <a:rPr lang="en-IN" sz="1800"/>
                        <a:t>4</a:t>
                      </a:r>
                    </a:p>
                  </a:txBody>
                  <a:tcPr anchor="ctr">
                    <a:lnL>
                      <a:noFill/>
                    </a:lnL>
                    <a:lnR>
                      <a:noFill/>
                    </a:lnR>
                    <a:lnT>
                      <a:noFill/>
                    </a:lnT>
                    <a:lnB>
                      <a:noFill/>
                    </a:lnB>
                    <a:noFill/>
                  </a:tcPr>
                </a:tc>
                <a:tc>
                  <a:txBody>
                    <a:bodyPr/>
                    <a:lstStyle/>
                    <a:p>
                      <a:r>
                        <a:rPr lang="en-IN" sz="1800"/>
                        <a:t>3</a:t>
                      </a:r>
                    </a:p>
                  </a:txBody>
                  <a:tcPr anchor="ctr">
                    <a:lnL>
                      <a:noFill/>
                    </a:lnL>
                    <a:lnR>
                      <a:noFill/>
                    </a:lnR>
                    <a:lnT>
                      <a:noFill/>
                    </a:lnT>
                    <a:lnB>
                      <a:noFill/>
                    </a:lnB>
                    <a:noFill/>
                  </a:tcPr>
                </a:tc>
                <a:tc>
                  <a:txBody>
                    <a:bodyPr/>
                    <a:lstStyle/>
                    <a:p>
                      <a:r>
                        <a:rPr lang="en-IN" sz="1800"/>
                        <a:t>0</a:t>
                      </a:r>
                    </a:p>
                  </a:txBody>
                  <a:tcPr anchor="ctr">
                    <a:lnL>
                      <a:noFill/>
                    </a:lnL>
                    <a:lnR>
                      <a:noFill/>
                    </a:lnR>
                    <a:lnT>
                      <a:noFill/>
                    </a:lnT>
                    <a:lnB>
                      <a:noFill/>
                    </a:lnB>
                    <a:noFill/>
                  </a:tcPr>
                </a:tc>
                <a:tc>
                  <a:txBody>
                    <a:bodyPr/>
                    <a:lstStyle/>
                    <a:p>
                      <a:r>
                        <a:rPr lang="en-IN" sz="1800"/>
                        <a:t>1</a:t>
                      </a:r>
                    </a:p>
                  </a:txBody>
                  <a:tcPr anchor="ctr">
                    <a:lnL>
                      <a:noFill/>
                    </a:lnL>
                    <a:lnR>
                      <a:noFill/>
                    </a:lnR>
                    <a:lnT>
                      <a:noFill/>
                    </a:lnT>
                    <a:lnB>
                      <a:noFill/>
                    </a:lnB>
                    <a:noFill/>
                  </a:tcPr>
                </a:tc>
                <a:tc>
                  <a:txBody>
                    <a:bodyPr/>
                    <a:lstStyle/>
                    <a:p>
                      <a:r>
                        <a:rPr lang="en-IN" sz="1800"/>
                        <a:t>4/4 = 1.00</a:t>
                      </a:r>
                    </a:p>
                  </a:txBody>
                  <a:tcPr anchor="ctr">
                    <a:lnL>
                      <a:noFill/>
                    </a:lnL>
                    <a:lnR>
                      <a:noFill/>
                    </a:lnR>
                    <a:lnT>
                      <a:noFill/>
                    </a:lnT>
                    <a:lnB>
                      <a:noFill/>
                    </a:lnB>
                    <a:noFill/>
                  </a:tcPr>
                </a:tc>
                <a:tc>
                  <a:txBody>
                    <a:bodyPr/>
                    <a:lstStyle/>
                    <a:p>
                      <a:r>
                        <a:rPr lang="en-IN" sz="1800"/>
                        <a:t>3/4 = 0.75</a:t>
                      </a:r>
                    </a:p>
                  </a:txBody>
                  <a:tcPr anchor="ctr">
                    <a:lnL>
                      <a:noFill/>
                    </a:lnL>
                    <a:lnR>
                      <a:noFill/>
                    </a:lnR>
                    <a:lnT>
                      <a:noFill/>
                    </a:lnT>
                    <a:lnB>
                      <a:noFill/>
                    </a:lnB>
                    <a:noFill/>
                  </a:tcPr>
                </a:tc>
                <a:extLst>
                  <a:ext uri="{0D108BD9-81ED-4DB2-BD59-A6C34878D82A}">
                    <a16:rowId xmlns:a16="http://schemas.microsoft.com/office/drawing/2014/main" val="1168634692"/>
                  </a:ext>
                </a:extLst>
              </a:tr>
              <a:tr h="365760">
                <a:tc>
                  <a:txBody>
                    <a:bodyPr/>
                    <a:lstStyle/>
                    <a:p>
                      <a:r>
                        <a:rPr lang="en-IN" sz="1800" b="1"/>
                        <a:t>≥ 0.50</a:t>
                      </a:r>
                      <a:endParaRPr lang="en-IN" sz="1800"/>
                    </a:p>
                  </a:txBody>
                  <a:tcPr anchor="ctr">
                    <a:lnL>
                      <a:noFill/>
                    </a:lnL>
                    <a:lnR>
                      <a:noFill/>
                    </a:lnR>
                    <a:lnT>
                      <a:noFill/>
                    </a:lnT>
                    <a:lnB>
                      <a:noFill/>
                    </a:lnB>
                    <a:noFill/>
                  </a:tcPr>
                </a:tc>
                <a:tc>
                  <a:txBody>
                    <a:bodyPr/>
                    <a:lstStyle/>
                    <a:p>
                      <a:r>
                        <a:rPr lang="en-IN" sz="1800"/>
                        <a:t>4</a:t>
                      </a:r>
                    </a:p>
                  </a:txBody>
                  <a:tcPr anchor="ctr">
                    <a:lnL>
                      <a:noFill/>
                    </a:lnL>
                    <a:lnR>
                      <a:noFill/>
                    </a:lnR>
                    <a:lnT>
                      <a:noFill/>
                    </a:lnT>
                    <a:lnB>
                      <a:noFill/>
                    </a:lnB>
                    <a:noFill/>
                  </a:tcPr>
                </a:tc>
                <a:tc>
                  <a:txBody>
                    <a:bodyPr/>
                    <a:lstStyle/>
                    <a:p>
                      <a:r>
                        <a:rPr lang="en-IN" sz="1800"/>
                        <a:t>4</a:t>
                      </a:r>
                    </a:p>
                  </a:txBody>
                  <a:tcPr anchor="ctr">
                    <a:lnL>
                      <a:noFill/>
                    </a:lnL>
                    <a:lnR>
                      <a:noFill/>
                    </a:lnR>
                    <a:lnT>
                      <a:noFill/>
                    </a:lnT>
                    <a:lnB>
                      <a:noFill/>
                    </a:lnB>
                    <a:noFill/>
                  </a:tcPr>
                </a:tc>
                <a:tc>
                  <a:txBody>
                    <a:bodyPr/>
                    <a:lstStyle/>
                    <a:p>
                      <a:r>
                        <a:rPr lang="en-IN" sz="1800"/>
                        <a:t>0</a:t>
                      </a:r>
                    </a:p>
                  </a:txBody>
                  <a:tcPr anchor="ctr">
                    <a:lnL>
                      <a:noFill/>
                    </a:lnL>
                    <a:lnR>
                      <a:noFill/>
                    </a:lnR>
                    <a:lnT>
                      <a:noFill/>
                    </a:lnT>
                    <a:lnB>
                      <a:noFill/>
                    </a:lnB>
                    <a:noFill/>
                  </a:tcPr>
                </a:tc>
                <a:tc>
                  <a:txBody>
                    <a:bodyPr/>
                    <a:lstStyle/>
                    <a:p>
                      <a:r>
                        <a:rPr lang="en-IN" sz="1800"/>
                        <a:t>0</a:t>
                      </a:r>
                    </a:p>
                  </a:txBody>
                  <a:tcPr anchor="ctr">
                    <a:lnL>
                      <a:noFill/>
                    </a:lnL>
                    <a:lnR>
                      <a:noFill/>
                    </a:lnR>
                    <a:lnT>
                      <a:noFill/>
                    </a:lnT>
                    <a:lnB>
                      <a:noFill/>
                    </a:lnB>
                    <a:noFill/>
                  </a:tcPr>
                </a:tc>
                <a:tc>
                  <a:txBody>
                    <a:bodyPr/>
                    <a:lstStyle/>
                    <a:p>
                      <a:r>
                        <a:rPr lang="en-IN" sz="1800"/>
                        <a:t>4/4 = 1.00</a:t>
                      </a:r>
                    </a:p>
                  </a:txBody>
                  <a:tcPr anchor="ctr">
                    <a:lnL>
                      <a:noFill/>
                    </a:lnL>
                    <a:lnR>
                      <a:noFill/>
                    </a:lnR>
                    <a:lnT>
                      <a:noFill/>
                    </a:lnT>
                    <a:lnB>
                      <a:noFill/>
                    </a:lnB>
                    <a:noFill/>
                  </a:tcPr>
                </a:tc>
                <a:tc>
                  <a:txBody>
                    <a:bodyPr/>
                    <a:lstStyle/>
                    <a:p>
                      <a:r>
                        <a:rPr lang="en-IN" sz="1800" dirty="0"/>
                        <a:t>4/4 = 1.00</a:t>
                      </a:r>
                    </a:p>
                  </a:txBody>
                  <a:tcPr anchor="ctr">
                    <a:lnL>
                      <a:noFill/>
                    </a:lnL>
                    <a:lnR>
                      <a:noFill/>
                    </a:lnR>
                    <a:lnT>
                      <a:noFill/>
                    </a:lnT>
                    <a:lnB>
                      <a:noFill/>
                    </a:lnB>
                    <a:noFill/>
                  </a:tcPr>
                </a:tc>
                <a:extLst>
                  <a:ext uri="{0D108BD9-81ED-4DB2-BD59-A6C34878D82A}">
                    <a16:rowId xmlns:a16="http://schemas.microsoft.com/office/drawing/2014/main" val="528778598"/>
                  </a:ext>
                </a:extLst>
              </a:tr>
            </a:tbl>
          </a:graphicData>
        </a:graphic>
      </p:graphicFrame>
    </p:spTree>
    <p:extLst>
      <p:ext uri="{BB962C8B-B14F-4D97-AF65-F5344CB8AC3E}">
        <p14:creationId xmlns:p14="http://schemas.microsoft.com/office/powerpoint/2010/main" val="305757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EAA8EC-B42A-693A-E469-AA8ECCA340DA}"/>
              </a:ext>
            </a:extLst>
          </p:cNvPr>
          <p:cNvSpPr txBox="1"/>
          <p:nvPr/>
        </p:nvSpPr>
        <p:spPr>
          <a:xfrm>
            <a:off x="240631" y="408620"/>
            <a:ext cx="10892589" cy="923330"/>
          </a:xfrm>
          <a:prstGeom prst="rect">
            <a:avLst/>
          </a:prstGeom>
          <a:noFill/>
        </p:spPr>
        <p:txBody>
          <a:bodyPr wrap="square">
            <a:spAutoFit/>
          </a:bodyPr>
          <a:lstStyle/>
          <a:p>
            <a:r>
              <a:rPr lang="en-US" b="1" dirty="0"/>
              <a:t>Plot the ROC Curve:</a:t>
            </a:r>
          </a:p>
          <a:p>
            <a:endParaRPr lang="en-US" dirty="0"/>
          </a:p>
          <a:p>
            <a:r>
              <a:rPr lang="en-US" dirty="0"/>
              <a:t>We plot </a:t>
            </a:r>
            <a:r>
              <a:rPr lang="en-US" b="1" dirty="0"/>
              <a:t>TPR (y-axis) vs. FPR (x-axis)</a:t>
            </a:r>
            <a:r>
              <a:rPr lang="en-US" dirty="0"/>
              <a:t> based on the computed values.</a:t>
            </a:r>
          </a:p>
        </p:txBody>
      </p:sp>
      <p:pic>
        <p:nvPicPr>
          <p:cNvPr id="7" name="Picture 6">
            <a:extLst>
              <a:ext uri="{FF2B5EF4-FFF2-40B4-BE49-F238E27FC236}">
                <a16:creationId xmlns:a16="http://schemas.microsoft.com/office/drawing/2014/main" id="{AB9914D7-FBD3-CA30-9B81-570FDCB4B4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2477" y="1423618"/>
            <a:ext cx="6560785" cy="5281981"/>
          </a:xfrm>
          <a:prstGeom prst="rect">
            <a:avLst/>
          </a:prstGeom>
        </p:spPr>
      </p:pic>
    </p:spTree>
    <p:extLst>
      <p:ext uri="{BB962C8B-B14F-4D97-AF65-F5344CB8AC3E}">
        <p14:creationId xmlns:p14="http://schemas.microsoft.com/office/powerpoint/2010/main" val="3274556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C4AD9A-354D-8416-9ACC-5EDC758DC7A0}"/>
              </a:ext>
            </a:extLst>
          </p:cNvPr>
          <p:cNvSpPr txBox="1"/>
          <p:nvPr/>
        </p:nvSpPr>
        <p:spPr>
          <a:xfrm>
            <a:off x="128336" y="287759"/>
            <a:ext cx="11510211" cy="1477328"/>
          </a:xfrm>
          <a:prstGeom prst="rect">
            <a:avLst/>
          </a:prstGeom>
          <a:noFill/>
        </p:spPr>
        <p:txBody>
          <a:bodyPr wrap="square">
            <a:spAutoFit/>
          </a:bodyPr>
          <a:lstStyle/>
          <a:p>
            <a:pPr algn="l"/>
            <a:r>
              <a:rPr lang="en-US" b="1" i="0" dirty="0">
                <a:solidFill>
                  <a:srgbClr val="242424"/>
                </a:solidFill>
                <a:effectLst/>
                <a:latin typeface="sohne"/>
              </a:rPr>
              <a:t>How to speculate about the performance of the model?</a:t>
            </a:r>
          </a:p>
          <a:p>
            <a:pPr algn="l"/>
            <a:endParaRPr lang="en-US" b="1" i="0" dirty="0">
              <a:solidFill>
                <a:srgbClr val="242424"/>
              </a:solidFill>
              <a:effectLst/>
              <a:latin typeface="sohne"/>
            </a:endParaRPr>
          </a:p>
          <a:p>
            <a:pPr algn="l"/>
            <a:r>
              <a:rPr lang="en-US" b="0" i="0" dirty="0">
                <a:solidFill>
                  <a:srgbClr val="242424"/>
                </a:solidFill>
                <a:effectLst/>
                <a:latin typeface="source-serif-pro"/>
              </a:rPr>
              <a:t>An excellent model has AUC near to the 1 which means it has a good measure of separability. A poor model has an AUC near 0 which means it has the worst measure of separability. In fact, it means it is reciprocating the result. It is predicting 0s as 1s and 1s as 0s. And when AUC is 0.5, it means the model has no class separation capacity whatsoever.</a:t>
            </a:r>
          </a:p>
        </p:txBody>
      </p:sp>
      <p:sp>
        <p:nvSpPr>
          <p:cNvPr id="5" name="TextBox 4">
            <a:extLst>
              <a:ext uri="{FF2B5EF4-FFF2-40B4-BE49-F238E27FC236}">
                <a16:creationId xmlns:a16="http://schemas.microsoft.com/office/drawing/2014/main" id="{5F39ECA0-D0CD-1157-4541-1BD653BC55BF}"/>
              </a:ext>
            </a:extLst>
          </p:cNvPr>
          <p:cNvSpPr txBox="1"/>
          <p:nvPr/>
        </p:nvSpPr>
        <p:spPr>
          <a:xfrm>
            <a:off x="244641" y="2078595"/>
            <a:ext cx="11277599" cy="1200329"/>
          </a:xfrm>
          <a:prstGeom prst="rect">
            <a:avLst/>
          </a:prstGeom>
          <a:noFill/>
        </p:spPr>
        <p:txBody>
          <a:bodyPr wrap="square">
            <a:spAutoFit/>
          </a:bodyPr>
          <a:lstStyle/>
          <a:p>
            <a:pPr algn="l"/>
            <a:r>
              <a:rPr lang="en-US" b="1" i="0" dirty="0">
                <a:solidFill>
                  <a:srgbClr val="C00000"/>
                </a:solidFill>
                <a:effectLst/>
                <a:latin typeface="source-serif-pro"/>
              </a:rPr>
              <a:t>Let’s interpret the above statements.</a:t>
            </a:r>
          </a:p>
          <a:p>
            <a:pPr algn="l"/>
            <a:r>
              <a:rPr lang="en-US" b="0" i="0" dirty="0">
                <a:solidFill>
                  <a:srgbClr val="242424"/>
                </a:solidFill>
                <a:effectLst/>
                <a:latin typeface="source-serif-pro"/>
              </a:rPr>
              <a:t>As we know, ROC is a curve of probability. So let's plot the distributions of those probabilities:</a:t>
            </a:r>
          </a:p>
          <a:p>
            <a:pPr algn="l"/>
            <a:r>
              <a:rPr lang="en-US" b="0" i="0" dirty="0">
                <a:solidFill>
                  <a:srgbClr val="242424"/>
                </a:solidFill>
                <a:effectLst/>
                <a:latin typeface="source-serif-pro"/>
              </a:rPr>
              <a:t>Note: Red distribution curve is of the positive class (patients with disease) and the green distribution curve is of the negative class(patients with no disease).</a:t>
            </a:r>
          </a:p>
        </p:txBody>
      </p:sp>
      <p:pic>
        <p:nvPicPr>
          <p:cNvPr id="3074" name="Picture 2">
            <a:extLst>
              <a:ext uri="{FF2B5EF4-FFF2-40B4-BE49-F238E27FC236}">
                <a16:creationId xmlns:a16="http://schemas.microsoft.com/office/drawing/2014/main" id="{DBE45AE1-C269-0EC6-0E55-904FFA916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41" y="3661862"/>
            <a:ext cx="5907506" cy="256215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20FE87F-8A15-A75A-2948-4297D93C0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972" y="3195387"/>
            <a:ext cx="3476625" cy="3162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BB7814-7BC6-E436-81CE-DDF7ED3B48BE}"/>
              </a:ext>
            </a:extLst>
          </p:cNvPr>
          <p:cNvSpPr txBox="1"/>
          <p:nvPr/>
        </p:nvSpPr>
        <p:spPr>
          <a:xfrm>
            <a:off x="244641" y="6211669"/>
            <a:ext cx="11117180" cy="646331"/>
          </a:xfrm>
          <a:prstGeom prst="rect">
            <a:avLst/>
          </a:prstGeom>
          <a:noFill/>
        </p:spPr>
        <p:txBody>
          <a:bodyPr wrap="square">
            <a:spAutoFit/>
          </a:bodyPr>
          <a:lstStyle/>
          <a:p>
            <a:r>
              <a:rPr lang="en-US" b="0" i="0" dirty="0">
                <a:solidFill>
                  <a:srgbClr val="242424"/>
                </a:solidFill>
                <a:effectLst/>
                <a:latin typeface="source-serif-pro"/>
              </a:rPr>
              <a:t>This is an ideal situation. When two curves don’t overlap at all means model has an ideal measure of separability. It is perfectly able to distinguish between positive class and negative class.</a:t>
            </a:r>
            <a:endParaRPr lang="en-IN" dirty="0"/>
          </a:p>
        </p:txBody>
      </p:sp>
    </p:spTree>
    <p:extLst>
      <p:ext uri="{BB962C8B-B14F-4D97-AF65-F5344CB8AC3E}">
        <p14:creationId xmlns:p14="http://schemas.microsoft.com/office/powerpoint/2010/main" val="194605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6"/>
                                        </p:tgtEl>
                                        <p:attrNameLst>
                                          <p:attrName>style.visibility</p:attrName>
                                        </p:attrNameLst>
                                      </p:cBhvr>
                                      <p:to>
                                        <p:strVal val="visible"/>
                                      </p:to>
                                    </p:set>
                                    <p:anim calcmode="lin" valueType="num">
                                      <p:cBhvr additive="base">
                                        <p:cTn id="13" dur="500" fill="hold"/>
                                        <p:tgtEl>
                                          <p:spTgt spid="3076"/>
                                        </p:tgtEl>
                                        <p:attrNameLst>
                                          <p:attrName>ppt_x</p:attrName>
                                        </p:attrNameLst>
                                      </p:cBhvr>
                                      <p:tavLst>
                                        <p:tav tm="0">
                                          <p:val>
                                            <p:strVal val="#ppt_x"/>
                                          </p:val>
                                        </p:tav>
                                        <p:tav tm="100000">
                                          <p:val>
                                            <p:strVal val="#ppt_x"/>
                                          </p:val>
                                        </p:tav>
                                      </p:tavLst>
                                    </p:anim>
                                    <p:anim calcmode="lin" valueType="num">
                                      <p:cBhvr additive="base">
                                        <p:cTn id="14"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8F38BD-EF0A-3280-4B05-5A51D5F56050}"/>
              </a:ext>
            </a:extLst>
          </p:cNvPr>
          <p:cNvSpPr txBox="1"/>
          <p:nvPr/>
        </p:nvSpPr>
        <p:spPr>
          <a:xfrm>
            <a:off x="272715" y="300062"/>
            <a:ext cx="11405938" cy="923330"/>
          </a:xfrm>
          <a:prstGeom prst="rect">
            <a:avLst/>
          </a:prstGeom>
          <a:noFill/>
        </p:spPr>
        <p:txBody>
          <a:bodyPr wrap="square">
            <a:spAutoFit/>
          </a:bodyPr>
          <a:lstStyle/>
          <a:p>
            <a:r>
              <a:rPr lang="en-US" b="0" i="0" dirty="0">
                <a:solidFill>
                  <a:srgbClr val="242424"/>
                </a:solidFill>
                <a:effectLst/>
                <a:latin typeface="source-serif-pro"/>
              </a:rPr>
              <a:t>When two distributions overlap, we introduce type 1 and type 2 errors. Depending upon the threshold, we can minimize or maximize them. When AUC is 0.7, it means there is a 70% chance that the model will be able to distinguish between positive class and negative class.</a:t>
            </a:r>
            <a:endParaRPr lang="en-IN" dirty="0"/>
          </a:p>
        </p:txBody>
      </p:sp>
      <p:pic>
        <p:nvPicPr>
          <p:cNvPr id="4100" name="Picture 4">
            <a:extLst>
              <a:ext uri="{FF2B5EF4-FFF2-40B4-BE49-F238E27FC236}">
                <a16:creationId xmlns:a16="http://schemas.microsoft.com/office/drawing/2014/main" id="{0242A525-D8F0-F315-AD7C-630CC5DE8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15" y="1353803"/>
            <a:ext cx="5384883" cy="251719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FD28014-5160-97EE-6888-98B091AD0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752" y="1070992"/>
            <a:ext cx="2776394" cy="252537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F6A38C-DE4B-CF82-E0D5-2986B8E24C81}"/>
              </a:ext>
            </a:extLst>
          </p:cNvPr>
          <p:cNvSpPr txBox="1"/>
          <p:nvPr/>
        </p:nvSpPr>
        <p:spPr>
          <a:xfrm>
            <a:off x="328863" y="3870997"/>
            <a:ext cx="11293642" cy="646331"/>
          </a:xfrm>
          <a:prstGeom prst="rect">
            <a:avLst/>
          </a:prstGeom>
          <a:noFill/>
        </p:spPr>
        <p:txBody>
          <a:bodyPr wrap="square">
            <a:spAutoFit/>
          </a:bodyPr>
          <a:lstStyle/>
          <a:p>
            <a:r>
              <a:rPr lang="en-US" b="0" i="0" dirty="0">
                <a:solidFill>
                  <a:srgbClr val="242424"/>
                </a:solidFill>
                <a:effectLst/>
                <a:latin typeface="source-serif-pro"/>
              </a:rPr>
              <a:t>This is the worst situation. When AUC is approximately 0.5, the model has no discrimination capacity to distinguish between positive class and negative class.</a:t>
            </a:r>
            <a:endParaRPr lang="en-IN" dirty="0"/>
          </a:p>
        </p:txBody>
      </p:sp>
      <p:pic>
        <p:nvPicPr>
          <p:cNvPr id="4104" name="Picture 8">
            <a:extLst>
              <a:ext uri="{FF2B5EF4-FFF2-40B4-BE49-F238E27FC236}">
                <a16:creationId xmlns:a16="http://schemas.microsoft.com/office/drawing/2014/main" id="{C095D552-AC10-11E2-D2B5-143028159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41" y="4594530"/>
            <a:ext cx="409575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4BD45528-BAA4-B1F5-0DE5-6D4682BF9E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0499"/>
            <a:ext cx="2379496" cy="2164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04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additive="base">
                                        <p:cTn id="7" dur="500" fill="hold"/>
                                        <p:tgtEl>
                                          <p:spTgt spid="4100"/>
                                        </p:tgtEl>
                                        <p:attrNameLst>
                                          <p:attrName>ppt_x</p:attrName>
                                        </p:attrNameLst>
                                      </p:cBhvr>
                                      <p:tavLst>
                                        <p:tav tm="0">
                                          <p:val>
                                            <p:strVal val="#ppt_x"/>
                                          </p:val>
                                        </p:tav>
                                        <p:tav tm="100000">
                                          <p:val>
                                            <p:strVal val="#ppt_x"/>
                                          </p:val>
                                        </p:tav>
                                      </p:tavLst>
                                    </p:anim>
                                    <p:anim calcmode="lin" valueType="num">
                                      <p:cBhvr additive="base">
                                        <p:cTn id="8" dur="500" fill="hold"/>
                                        <p:tgtEl>
                                          <p:spTgt spid="4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2"/>
                                        </p:tgtEl>
                                        <p:attrNameLst>
                                          <p:attrName>style.visibility</p:attrName>
                                        </p:attrNameLst>
                                      </p:cBhvr>
                                      <p:to>
                                        <p:strVal val="visible"/>
                                      </p:to>
                                    </p:set>
                                    <p:anim calcmode="lin" valueType="num">
                                      <p:cBhvr additive="base">
                                        <p:cTn id="13" dur="500" fill="hold"/>
                                        <p:tgtEl>
                                          <p:spTgt spid="4102"/>
                                        </p:tgtEl>
                                        <p:attrNameLst>
                                          <p:attrName>ppt_x</p:attrName>
                                        </p:attrNameLst>
                                      </p:cBhvr>
                                      <p:tavLst>
                                        <p:tav tm="0">
                                          <p:val>
                                            <p:strVal val="#ppt_x"/>
                                          </p:val>
                                        </p:tav>
                                        <p:tav tm="100000">
                                          <p:val>
                                            <p:strVal val="#ppt_x"/>
                                          </p:val>
                                        </p:tav>
                                      </p:tavLst>
                                    </p:anim>
                                    <p:anim calcmode="lin" valueType="num">
                                      <p:cBhvr additive="base">
                                        <p:cTn id="14" dur="500" fill="hold"/>
                                        <p:tgtEl>
                                          <p:spTgt spid="410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104"/>
                                        </p:tgtEl>
                                        <p:attrNameLst>
                                          <p:attrName>style.visibility</p:attrName>
                                        </p:attrNameLst>
                                      </p:cBhvr>
                                      <p:to>
                                        <p:strVal val="visible"/>
                                      </p:to>
                                    </p:set>
                                    <p:anim calcmode="lin" valueType="num">
                                      <p:cBhvr additive="base">
                                        <p:cTn id="23" dur="500" fill="hold"/>
                                        <p:tgtEl>
                                          <p:spTgt spid="4104"/>
                                        </p:tgtEl>
                                        <p:attrNameLst>
                                          <p:attrName>ppt_x</p:attrName>
                                        </p:attrNameLst>
                                      </p:cBhvr>
                                      <p:tavLst>
                                        <p:tav tm="0">
                                          <p:val>
                                            <p:strVal val="#ppt_x"/>
                                          </p:val>
                                        </p:tav>
                                        <p:tav tm="100000">
                                          <p:val>
                                            <p:strVal val="#ppt_x"/>
                                          </p:val>
                                        </p:tav>
                                      </p:tavLst>
                                    </p:anim>
                                    <p:anim calcmode="lin" valueType="num">
                                      <p:cBhvr additive="base">
                                        <p:cTn id="24" dur="500" fill="hold"/>
                                        <p:tgtEl>
                                          <p:spTgt spid="410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106"/>
                                        </p:tgtEl>
                                        <p:attrNameLst>
                                          <p:attrName>style.visibility</p:attrName>
                                        </p:attrNameLst>
                                      </p:cBhvr>
                                      <p:to>
                                        <p:strVal val="visible"/>
                                      </p:to>
                                    </p:set>
                                    <p:anim calcmode="lin" valueType="num">
                                      <p:cBhvr additive="base">
                                        <p:cTn id="29" dur="500" fill="hold"/>
                                        <p:tgtEl>
                                          <p:spTgt spid="4106"/>
                                        </p:tgtEl>
                                        <p:attrNameLst>
                                          <p:attrName>ppt_x</p:attrName>
                                        </p:attrNameLst>
                                      </p:cBhvr>
                                      <p:tavLst>
                                        <p:tav tm="0">
                                          <p:val>
                                            <p:strVal val="#ppt_x"/>
                                          </p:val>
                                        </p:tav>
                                        <p:tav tm="100000">
                                          <p:val>
                                            <p:strVal val="#ppt_x"/>
                                          </p:val>
                                        </p:tav>
                                      </p:tavLst>
                                    </p:anim>
                                    <p:anim calcmode="lin" valueType="num">
                                      <p:cBhvr additive="base">
                                        <p:cTn id="30" dur="500" fill="hold"/>
                                        <p:tgtEl>
                                          <p:spTgt spid="4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4B09F-27D2-8293-CD51-5B870B81FE5B}"/>
              </a:ext>
            </a:extLst>
          </p:cNvPr>
          <p:cNvSpPr txBox="1"/>
          <p:nvPr/>
        </p:nvSpPr>
        <p:spPr>
          <a:xfrm>
            <a:off x="312820" y="280282"/>
            <a:ext cx="11510211" cy="646331"/>
          </a:xfrm>
          <a:prstGeom prst="rect">
            <a:avLst/>
          </a:prstGeom>
          <a:noFill/>
        </p:spPr>
        <p:txBody>
          <a:bodyPr wrap="square">
            <a:spAutoFit/>
          </a:bodyPr>
          <a:lstStyle/>
          <a:p>
            <a:r>
              <a:rPr lang="en-US" b="0" i="0" dirty="0">
                <a:solidFill>
                  <a:srgbClr val="242424"/>
                </a:solidFill>
                <a:effectLst/>
                <a:latin typeface="source-serif-pro"/>
              </a:rPr>
              <a:t>When AUC is approximately 0, the model is actually reciprocating the classes. It means the model is predicting a negative class as a positive class and vice versa.</a:t>
            </a:r>
            <a:endParaRPr lang="en-IN" dirty="0"/>
          </a:p>
        </p:txBody>
      </p:sp>
      <p:pic>
        <p:nvPicPr>
          <p:cNvPr id="5122" name="Picture 2">
            <a:extLst>
              <a:ext uri="{FF2B5EF4-FFF2-40B4-BE49-F238E27FC236}">
                <a16:creationId xmlns:a16="http://schemas.microsoft.com/office/drawing/2014/main" id="{4F052912-3994-A720-77E2-7ED755F74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303" y="1181100"/>
            <a:ext cx="52959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3D7E245-235A-0674-4424-1CB496EA6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015" y="943021"/>
            <a:ext cx="2492290" cy="22669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D29D219-9643-F1FD-2B19-37F130C8B688}"/>
              </a:ext>
            </a:extLst>
          </p:cNvPr>
          <p:cNvSpPr txBox="1"/>
          <p:nvPr/>
        </p:nvSpPr>
        <p:spPr>
          <a:xfrm>
            <a:off x="496303" y="3549316"/>
            <a:ext cx="10972800" cy="1200329"/>
          </a:xfrm>
          <a:prstGeom prst="rect">
            <a:avLst/>
          </a:prstGeom>
          <a:noFill/>
        </p:spPr>
        <p:txBody>
          <a:bodyPr wrap="square">
            <a:spAutoFit/>
          </a:bodyPr>
          <a:lstStyle/>
          <a:p>
            <a:pPr algn="l"/>
            <a:r>
              <a:rPr lang="en-US" b="1" i="0" dirty="0">
                <a:solidFill>
                  <a:srgbClr val="242424"/>
                </a:solidFill>
                <a:effectLst/>
                <a:latin typeface="sohne"/>
              </a:rPr>
              <a:t>The relation between Sensitivity, Specificity, FPR, and Threshold.</a:t>
            </a:r>
          </a:p>
          <a:p>
            <a:pPr algn="l"/>
            <a:endParaRPr lang="en-US" b="1" i="0" dirty="0">
              <a:solidFill>
                <a:srgbClr val="242424"/>
              </a:solidFill>
              <a:effectLst/>
              <a:latin typeface="sohne"/>
            </a:endParaRPr>
          </a:p>
          <a:p>
            <a:pPr algn="l"/>
            <a:r>
              <a:rPr lang="en-US" b="0" i="0" dirty="0">
                <a:solidFill>
                  <a:srgbClr val="242424"/>
                </a:solidFill>
                <a:effectLst/>
                <a:latin typeface="source-serif-pro"/>
              </a:rPr>
              <a:t>Sensitivity and Specificity are inversely proportional to each other. So when we increase Sensitivity, Specificity decreases, and vice versa.</a:t>
            </a:r>
          </a:p>
        </p:txBody>
      </p:sp>
    </p:spTree>
    <p:extLst>
      <p:ext uri="{BB962C8B-B14F-4D97-AF65-F5344CB8AC3E}">
        <p14:creationId xmlns:p14="http://schemas.microsoft.com/office/powerpoint/2010/main" val="4109344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2593</TotalTime>
  <Words>1399</Words>
  <Application>Microsoft Office PowerPoint</Application>
  <PresentationFormat>Widescreen</PresentationFormat>
  <Paragraphs>192</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Arial Rounded MT Bold</vt:lpstr>
      <vt:lpstr>Calibri</vt:lpstr>
      <vt:lpstr>Calibri Light</vt:lpstr>
      <vt:lpstr>Cambria Math</vt:lpstr>
      <vt:lpstr>Open Sans</vt:lpstr>
      <vt:lpstr>sohne</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Swagatam Das</dc:creator>
  <cp:lastModifiedBy>Swagatam Das</cp:lastModifiedBy>
  <cp:revision>8</cp:revision>
  <dcterms:created xsi:type="dcterms:W3CDTF">2023-09-01T03:46:38Z</dcterms:created>
  <dcterms:modified xsi:type="dcterms:W3CDTF">2025-03-03T15:33:20Z</dcterms:modified>
</cp:coreProperties>
</file>