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3724" r:id="rId2"/>
    <p:sldMasterId id="2147483743" r:id="rId3"/>
    <p:sldMasterId id="2147483762" r:id="rId4"/>
    <p:sldMasterId id="2147483774" r:id="rId5"/>
    <p:sldMasterId id="2147483786" r:id="rId6"/>
  </p:sldMasterIdLst>
  <p:notesMasterIdLst>
    <p:notesMasterId r:id="rId71"/>
  </p:notesMasterIdLst>
  <p:handoutMasterIdLst>
    <p:handoutMasterId r:id="rId72"/>
  </p:handoutMasterIdLst>
  <p:sldIdLst>
    <p:sldId id="43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0" r:id="rId29"/>
    <p:sldId id="523" r:id="rId30"/>
    <p:sldId id="524" r:id="rId31"/>
    <p:sldId id="525" r:id="rId32"/>
    <p:sldId id="526" r:id="rId33"/>
    <p:sldId id="529" r:id="rId34"/>
    <p:sldId id="530" r:id="rId35"/>
    <p:sldId id="531" r:id="rId36"/>
    <p:sldId id="532" r:id="rId37"/>
    <p:sldId id="533" r:id="rId38"/>
    <p:sldId id="534" r:id="rId39"/>
    <p:sldId id="535" r:id="rId40"/>
    <p:sldId id="536" r:id="rId41"/>
    <p:sldId id="537" r:id="rId42"/>
    <p:sldId id="538" r:id="rId43"/>
    <p:sldId id="539" r:id="rId44"/>
    <p:sldId id="540" r:id="rId45"/>
    <p:sldId id="541" r:id="rId46"/>
    <p:sldId id="542" r:id="rId47"/>
    <p:sldId id="543" r:id="rId48"/>
    <p:sldId id="514" r:id="rId49"/>
    <p:sldId id="544" r:id="rId50"/>
    <p:sldId id="520" r:id="rId51"/>
    <p:sldId id="521" r:id="rId52"/>
    <p:sldId id="522" r:id="rId53"/>
    <p:sldId id="545" r:id="rId54"/>
    <p:sldId id="546" r:id="rId55"/>
    <p:sldId id="547" r:id="rId56"/>
    <p:sldId id="548" r:id="rId57"/>
    <p:sldId id="549" r:id="rId58"/>
    <p:sldId id="550" r:id="rId59"/>
    <p:sldId id="551" r:id="rId60"/>
    <p:sldId id="552" r:id="rId61"/>
    <p:sldId id="553" r:id="rId62"/>
    <p:sldId id="554" r:id="rId63"/>
    <p:sldId id="555" r:id="rId64"/>
    <p:sldId id="556" r:id="rId65"/>
    <p:sldId id="557" r:id="rId66"/>
    <p:sldId id="558" r:id="rId67"/>
    <p:sldId id="559" r:id="rId68"/>
    <p:sldId id="560" r:id="rId69"/>
    <p:sldId id="509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139" autoAdjust="0"/>
  </p:normalViewPr>
  <p:slideViewPr>
    <p:cSldViewPr snapToGrid="0" snapToObjects="1">
      <p:cViewPr varScale="1">
        <p:scale>
          <a:sx n="91" d="100"/>
          <a:sy n="91" d="100"/>
        </p:scale>
        <p:origin x="12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3CD1F-ED8A-D948-A969-CDE409144399}" type="datetimeFigureOut">
              <a:rPr lang="en-US" smtClean="0"/>
              <a:pPr/>
              <a:t>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9E586-93DA-A848-BED9-D19AAB77AE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118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322043-A8FF-A144-B93C-7207FD9ED7A1}" type="datetimeFigureOut">
              <a:rPr lang="en-US" smtClean="0"/>
              <a:pPr/>
              <a:t>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5A442-4B65-8D4A-B84E-EDD0DD7A91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67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895F2B-883A-4DD3-94AF-04FC3237B071}" type="slidenum">
              <a:rPr lang="en-US" altLang="zh-CN">
                <a:solidFill>
                  <a:prstClr val="black"/>
                </a:solidFill>
              </a:rPr>
              <a:pPr/>
              <a:t>24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80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0574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66EFE6-851D-46E3-8B26-0B07AFAB40C8}" type="slidenum">
              <a:rPr lang="en-US" altLang="zh-CN">
                <a:solidFill>
                  <a:srgbClr val="000000"/>
                </a:solidFill>
              </a:rPr>
              <a:pPr/>
              <a:t>25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498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AFC16F-6032-426B-9894-24B98D437B94}" type="slidenum">
              <a:rPr lang="en-US" altLang="zh-CN">
                <a:solidFill>
                  <a:srgbClr val="000000"/>
                </a:solidFill>
              </a:rPr>
              <a:pPr/>
              <a:t>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7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983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6D748-048A-4621-A713-9E2F13C7860F}" type="slidenum">
              <a:rPr lang="en-US" altLang="zh-CN">
                <a:solidFill>
                  <a:srgbClr val="000000"/>
                </a:solidFill>
              </a:rPr>
              <a:pPr/>
              <a:t>27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1143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2BBBE0-B604-405C-A779-85C608247C45}" type="slidenum">
              <a:rPr lang="en-US" altLang="zh-CN">
                <a:solidFill>
                  <a:srgbClr val="000000"/>
                </a:solidFill>
              </a:rPr>
              <a:pPr/>
              <a:t>28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5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012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B5C939-3935-4BBB-A3B9-0EBA9EE67BF5}" type="slidenum">
              <a:rPr lang="en-US" altLang="zh-CN">
                <a:solidFill>
                  <a:srgbClr val="000000"/>
                </a:solidFill>
              </a:rPr>
              <a:pPr/>
              <a:t>29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5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773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171748-4E89-41C8-ABF5-349E2400AEC3}" type="slidenum">
              <a:rPr lang="en-US" altLang="zh-CN">
                <a:solidFill>
                  <a:srgbClr val="000000"/>
                </a:solidFill>
              </a:rPr>
              <a:pPr/>
              <a:t>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5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871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A0A305-A367-4EC7-84CC-E71558602441}" type="slidenum">
              <a:rPr lang="en-US" altLang="zh-CN">
                <a:solidFill>
                  <a:srgbClr val="000000"/>
                </a:solidFill>
              </a:rPr>
              <a:pPr/>
              <a:t>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5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130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As the classifier of choice we adopt Random Forest Classifier, due to its robustness to </a:t>
            </a:r>
            <a:r>
              <a:rPr lang="en-US" dirty="0" err="1"/>
              <a:t>heterogenous</a:t>
            </a:r>
            <a:r>
              <a:rPr lang="en-US" dirty="0"/>
              <a:t> and noisy feature.</a:t>
            </a:r>
          </a:p>
          <a:p>
            <a:r>
              <a:rPr lang="en-US" dirty="0"/>
              <a:t>Random Forest is an ensemble classifier. Briefly, given N data and M features, </a:t>
            </a:r>
            <a:r>
              <a:rPr lang="en-US" dirty="0" err="1"/>
              <a:t>bootsrap</a:t>
            </a:r>
            <a:r>
              <a:rPr lang="en-US" dirty="0"/>
              <a:t> samples are created from the </a:t>
            </a:r>
            <a:r>
              <a:rPr lang="en-US" dirty="0" err="1"/>
              <a:t>traning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362927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0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From eachd descision tree .. In spliting the nodes, the Gini Gain is employed</a:t>
            </a:r>
          </a:p>
        </p:txBody>
      </p:sp>
    </p:spTree>
    <p:extLst>
      <p:ext uri="{BB962C8B-B14F-4D97-AF65-F5344CB8AC3E}">
        <p14:creationId xmlns:p14="http://schemas.microsoft.com/office/powerpoint/2010/main" val="1384114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Different from the regular decision trees in random forest, when the splitting feature is chosen from only a subset of </a:t>
            </a:r>
            <a:r>
              <a:rPr lang="en-US" dirty="0" err="1"/>
              <a:t>allf</a:t>
            </a:r>
            <a:r>
              <a:rPr lang="en-US" dirty="0"/>
              <a:t> </a:t>
            </a:r>
            <a:r>
              <a:rPr lang="en-US" dirty="0" err="1"/>
              <a:t>eatures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 err="1"/>
              <a:t>robostness</a:t>
            </a:r>
            <a:r>
              <a:rPr lang="en-US" dirty="0"/>
              <a:t> of the classifier arises from</a:t>
            </a:r>
          </a:p>
          <a:p>
            <a:r>
              <a:rPr lang="en-US" dirty="0" err="1"/>
              <a:t>bootsraping</a:t>
            </a:r>
            <a:r>
              <a:rPr lang="en-US" dirty="0"/>
              <a:t> of the training data and the random selection of features, the </a:t>
            </a:r>
            <a:r>
              <a:rPr lang="en-US" dirty="0" err="1"/>
              <a:t>the</a:t>
            </a:r>
            <a:r>
              <a:rPr lang="en-US" dirty="0"/>
              <a:t> random choose of features.</a:t>
            </a:r>
          </a:p>
        </p:txBody>
      </p:sp>
    </p:spTree>
    <p:extLst>
      <p:ext uri="{BB962C8B-B14F-4D97-AF65-F5344CB8AC3E}">
        <p14:creationId xmlns:p14="http://schemas.microsoft.com/office/powerpoint/2010/main" val="3186635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Finally the given an input data the decision is made as follows given an input data,</a:t>
            </a:r>
          </a:p>
        </p:txBody>
      </p:sp>
    </p:spTree>
    <p:extLst>
      <p:ext uri="{BB962C8B-B14F-4D97-AF65-F5344CB8AC3E}">
        <p14:creationId xmlns:p14="http://schemas.microsoft.com/office/powerpoint/2010/main" val="3004635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CD33357-FCAD-431E-9CB4-1153D222105F}" type="slidenum">
              <a:rPr lang="en-US"/>
              <a:pPr eaLnBrk="1" hangingPunct="1"/>
              <a:t>43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40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1200" dirty="0"/>
                  <a:t>We use an ML algorithm to obtain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1200" dirty="0"/>
              </a:p>
              <a:p>
                <a:r>
                  <a:rPr lang="en-US" altLang="zh-TW" sz="12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TW" altLang="en-US" sz="1200" dirty="0"/>
                  <a:t> </a:t>
                </a:r>
                <a:r>
                  <a:rPr lang="en-US" altLang="zh-TW" sz="1200" dirty="0"/>
                  <a:t>is weak, i.e.</a:t>
                </a:r>
                <a:r>
                  <a:rPr lang="zh-TW" altLang="en-US" sz="1200" dirty="0"/>
                  <a:t> </a:t>
                </a:r>
                <a:r>
                  <a:rPr lang="en-US" altLang="zh-TW" sz="1200" dirty="0"/>
                  <a:t>bad performance on training data, what can we do?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1200" dirty="0"/>
                  <a:t>We use an ML algorithm to obtain a function 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𝑓_1 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(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𝑥)</a:t>
                </a:r>
                <a:endParaRPr lang="en-US" altLang="zh-TW" sz="1200" dirty="0"/>
              </a:p>
              <a:p>
                <a:r>
                  <a:rPr lang="en-US" altLang="zh-TW" sz="1200" dirty="0"/>
                  <a:t>If 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𝑓</a:t>
                </a:r>
                <a:r>
                  <a:rPr lang="en-US" altLang="zh-TW" sz="1200" b="0" i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1 (𝑥)</a:t>
                </a:r>
                <a:r>
                  <a:rPr lang="zh-TW" altLang="en-US" sz="1200" dirty="0"/>
                  <a:t> </a:t>
                </a:r>
                <a:r>
                  <a:rPr lang="en-US" altLang="zh-TW" sz="1200" dirty="0"/>
                  <a:t>is weak, i.e.</a:t>
                </a:r>
                <a:r>
                  <a:rPr lang="zh-TW" altLang="en-US" sz="1200" dirty="0"/>
                  <a:t> </a:t>
                </a:r>
                <a:r>
                  <a:rPr lang="en-US" altLang="zh-TW" sz="1200" dirty="0"/>
                  <a:t>bad performance on training data, what can we do?</a:t>
                </a: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>
                <a:solidFill>
                  <a:prstClr val="black"/>
                </a:solidFill>
              </a:rPr>
              <a:pPr/>
              <a:t>48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004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>
                <a:solidFill>
                  <a:prstClr val="black"/>
                </a:solidFill>
              </a:rPr>
              <a:pPr/>
              <a:t>49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079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120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&gt;0.5</m:t>
                      </m:r>
                    </m:oMath>
                  </m:oMathPara>
                </a14:m>
                <a:endParaRPr lang="zh-TW" altLang="en-US" sz="120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i="0" smtClean="0">
                    <a:latin typeface="Cambria Math" panose="02040503050406030204" pitchFamily="18" charset="0"/>
                  </a:rPr>
                  <a:t>𝜖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^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1&gt;0.5</a:t>
                </a:r>
                <a:endParaRPr lang="zh-TW" altLang="en-US" sz="1200" dirty="0"/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>
                <a:solidFill>
                  <a:prstClr val="black"/>
                </a:solidFill>
              </a:rPr>
              <a:pPr/>
              <a:t>50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222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Intuitive reason: 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>
                <a:solidFill>
                  <a:prstClr val="black"/>
                </a:solidFill>
              </a:rPr>
              <a:pPr/>
              <a:t>52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828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>
                <a:solidFill>
                  <a:prstClr val="black"/>
                </a:solidFill>
              </a:rPr>
              <a:pPr/>
              <a:t>53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452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zh-TW" dirty="0">
                    <a:latin typeface="Cambria Math" panose="02040503050406030204" pitchFamily="18" charset="0"/>
                  </a:rPr>
                  <a:t>(output is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zh-TW" dirty="0">
                    <a:latin typeface="Cambria Math" panose="02040503050406030204" pitchFamily="18" charset="0"/>
                  </a:rPr>
                  <a:t>(output is </a:t>
                </a:r>
                <a:r>
                  <a:rPr lang="en-US" altLang="zh-TW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±1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)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>
                <a:solidFill>
                  <a:prstClr val="black"/>
                </a:solidFill>
              </a:rPr>
              <a:pPr/>
              <a:t>55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382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5D373-D618-4904-ABFA-02B60D110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AB8D8-675E-41B7-9666-FBB7AE27D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25393C-B46A-4CAD-A0B2-B028D4F0E6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A0125-5FEE-49D5-8F5E-A4C568F98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67E81-DE79-4A5F-BEB5-FB75739B2E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C4F98-891C-4A33-8FA2-332B0B419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FA8010-260A-48EE-919C-C62FB95342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1D43E-0875-4FB6-9C5E-F05B62EFC7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64AF9-7EAF-4933-9F28-1242157923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97469-3BF9-4D8E-A124-99441DC642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7489F-70FE-4C73-A960-B5FF990B0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FFDEE2-8C78-4685-9358-E62B621FEA6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7722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7F2B2A-1C07-47AE-8943-27E6426964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04767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9A7465-3581-4F0E-B1DE-807D478E53D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35901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4B2728-CD94-48A6-B31F-C3B65E16ECF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4258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E27BB4-3810-4DDB-9EBB-C704B34A1DC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02143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17A686-AF4B-4B49-A5DF-CCEB16AB5A5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26498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070D076-0075-48C4-BA5B-D41D4421424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83078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38345C-0E63-47F4-8826-81A291DD437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31751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A61A6F-B367-4C37-B62C-00692666124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17955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EF0217B-D5B8-496E-9661-48FB4070C3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32118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3205BD-A4BF-4019-890A-29F95DA63D1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7037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E7847FD-1B98-4634-8E1C-522C3C4B490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14847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433BC02-6878-4877-BFF7-9C745B8F9F0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11319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F4B3667-51A3-4DE1-AFBE-8AE70F0C167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834776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0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CCD7D5A-F667-443A-9D63-605C9E76C0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299209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FC8494-6B1F-4511-AE65-CDD99799AD7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75407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B24E679-5223-4579-879E-00220ED0EF0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96895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599CF94-2F79-4BBF-83E9-35365815225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7941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FFDEE2-8C78-4685-9358-E62B621FEA6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376603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7F2B2A-1C07-47AE-8943-27E6426964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189387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9A7465-3581-4F0E-B1DE-807D478E53D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44162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4B2728-CD94-48A6-B31F-C3B65E16ECF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984589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E27BB4-3810-4DDB-9EBB-C704B34A1DC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030777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17A686-AF4B-4B49-A5DF-CCEB16AB5A5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454758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070D076-0075-48C4-BA5B-D41D4421424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226467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38345C-0E63-47F4-8826-81A291DD437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197793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A61A6F-B367-4C37-B62C-00692666124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996128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EF0217B-D5B8-496E-9661-48FB4070C3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1318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3205BD-A4BF-4019-890A-29F95DA63D1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41118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E7847FD-1B98-4634-8E1C-522C3C4B490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28339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433BC02-6878-4877-BFF7-9C745B8F9F0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398092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F4B3667-51A3-4DE1-AFBE-8AE70F0C167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75318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0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CCD7D5A-F667-443A-9D63-605C9E76C0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336501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FC8494-6B1F-4511-AE65-CDD99799AD7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616049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B24E679-5223-4579-879E-00220ED0EF0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774313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4770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599CF94-2F79-4BBF-83E9-35365815225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493199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373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15061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6727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4982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4257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5405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410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771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9047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6181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E759-172A-4C26-81CE-FC3252D0F7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554E-CF5D-43DF-81B1-556A7C3E1A20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1758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4561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5727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57356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91579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5852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6101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6376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3212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54144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9071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296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defTabSz="342900">
              <a:defRPr/>
            </a:pPr>
            <a:endParaRPr lang="en-IN" sz="1350">
              <a:solidFill>
                <a:srgbClr val="000000"/>
              </a:solidFill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1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defTabSz="342900">
              <a:buFont typeface="Wingdings" pitchFamily="-110" charset="2"/>
              <a:buChar char="n"/>
              <a:defRPr/>
            </a:pPr>
            <a:endParaRPr lang="en-IN" sz="1350">
              <a:solidFill>
                <a:srgbClr val="000000"/>
              </a:solidFill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1" y="1524000"/>
            <a:ext cx="7623175" cy="1752600"/>
          </a:xfrm>
        </p:spPr>
        <p:txBody>
          <a:bodyPr/>
          <a:lstStyle>
            <a:lvl1pPr>
              <a:defRPr sz="375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-110" charset="2"/>
              <a:buNone/>
              <a:defRPr sz="21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685800" y="6243638"/>
            <a:ext cx="5334000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0C229F-A206-44FE-818F-AC6C394AABE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01631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3AC3A4-A827-4FE8-9ABD-FFBE5D96B8F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80674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91AB84-5A70-4279-945C-FCCB612BE6B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405866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3072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FEF37A-DED4-4A03-B936-6FF9BDB5F9C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873478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689A43-FB61-48BD-BF45-B1E2C804186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868422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C2265EB-9187-4253-BA67-40389D30363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585253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CBAB86-2559-4979-BC5C-6624838BCC6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480347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66E5244-5893-4231-818B-AEC1CE7CDB0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836185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F86C8D-9235-4AB4-92FE-64BECED8BA76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66332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DF0F3C-951C-4970-9587-52F4CF2E7A7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614687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E85C64-7142-4E8A-A23F-AA9A0778058F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087237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43EAE2-7D02-4D03-9FC4-395745BA1E0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110936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2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4ECF5-190B-4E6C-B633-072DB09CE96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92471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2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2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43C86C-71F0-47A6-92A2-8C8870A0D2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909890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2"/>
            <a:ext cx="8229600" cy="4530725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00D928E-5DB7-4617-AC9D-224027C0779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792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C8505A6E-FB76-407C-B57B-989D71BF79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DF4FDFF9-BDC6-45D9-AEFC-044A6CEEE23B}" type="slidenum">
              <a:rPr lang="en-US" altLang="zh-CN" smtClean="0">
                <a:solidFill>
                  <a:srgbClr val="000000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20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</p:sldLayoutIdLst>
  <p:transition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DF4FDFF9-BDC6-45D9-AEFC-044A6CEEE23B}" type="slidenum">
              <a:rPr lang="en-US" altLang="zh-CN" smtClean="0">
                <a:solidFill>
                  <a:srgbClr val="000000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61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transition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DF5BE759-172A-4C26-81CE-FC3252D0F7D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1/25/2025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C48E554E-CF5D-43DF-81B1-556A7C3E1A2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75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FFD87-4730-4E38-9CDA-89C007C09183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D349C-D663-4592-A09C-DDAEC02164B8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01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5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248400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900">
                <a:latin typeface="+mj-lt"/>
              </a:defRPr>
            </a:lvl1pPr>
          </a:lstStyle>
          <a:p>
            <a:pPr defTabSz="342900"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900" smtClean="0">
                <a:latin typeface="Garamond" pitchFamily="18" charset="0"/>
              </a:defRPr>
            </a:lvl1pPr>
          </a:lstStyle>
          <a:p>
            <a:pPr defTabSz="342900">
              <a:defRPr/>
            </a:pPr>
            <a:fld id="{D474AAF1-4BB3-49A9-A968-BAB6D17A1D8C}" type="slidenum">
              <a:rPr lang="en-US" altLang="en-US" smtClean="0">
                <a:solidFill>
                  <a:srgbClr val="000000"/>
                </a:solidFill>
              </a:rPr>
              <a:pPr defTabSz="342900"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325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defTabSz="342900">
              <a:defRPr/>
            </a:pPr>
            <a:endParaRPr lang="en-IN" sz="1350">
              <a:solidFill>
                <a:srgbClr val="000000"/>
              </a:solidFill>
            </a:endParaRP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defTabSz="342900">
              <a:buFont typeface="Wingdings" pitchFamily="-110" charset="2"/>
              <a:buChar char="n"/>
              <a:defRPr/>
            </a:pPr>
            <a:endParaRPr lang="en-IN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00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Garamond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Garamond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Garamond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Garamond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Garamond" pitchFamily="1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50">
          <a:solidFill>
            <a:schemeClr val="tx1"/>
          </a:solidFill>
          <a:latin typeface="+mn-lt"/>
          <a:ea typeface="+mn-ea"/>
          <a:cs typeface="+mn-cs"/>
        </a:defRPr>
      </a:lvl1pPr>
      <a:lvl2pPr marL="502444" indent="-24407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1950">
          <a:solidFill>
            <a:schemeClr val="tx1"/>
          </a:solidFill>
          <a:latin typeface="+mn-lt"/>
        </a:defRPr>
      </a:lvl2pPr>
      <a:lvl3pPr marL="766763" indent="-26312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1650">
          <a:solidFill>
            <a:schemeClr val="tx1"/>
          </a:solidFill>
          <a:latin typeface="+mn-lt"/>
        </a:defRPr>
      </a:lvl3pPr>
      <a:lvl4pPr marL="1004888" indent="-23693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1500">
          <a:solidFill>
            <a:schemeClr val="tx1"/>
          </a:solidFill>
          <a:latin typeface="+mn-lt"/>
        </a:defRPr>
      </a:lvl4pPr>
      <a:lvl5pPr marL="1260872" indent="-254794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5pPr>
      <a:lvl6pPr marL="16037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1500">
          <a:solidFill>
            <a:schemeClr val="tx1"/>
          </a:solidFill>
          <a:latin typeface="+mn-lt"/>
        </a:defRPr>
      </a:lvl6pPr>
      <a:lvl7pPr marL="19466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1500">
          <a:solidFill>
            <a:schemeClr val="tx1"/>
          </a:solidFill>
          <a:latin typeface="+mn-lt"/>
        </a:defRPr>
      </a:lvl7pPr>
      <a:lvl8pPr marL="22895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1500">
          <a:solidFill>
            <a:schemeClr val="tx1"/>
          </a:solidFill>
          <a:latin typeface="+mn-lt"/>
        </a:defRPr>
      </a:lvl8pPr>
      <a:lvl9pPr marL="26324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8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8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4.bin"/><Relationship Id="rId7" Type="http://schemas.openxmlformats.org/officeDocument/2006/relationships/image" Target="../media/image18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3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0.wmf"/><Relationship Id="rId5" Type="http://schemas.openxmlformats.org/officeDocument/2006/relationships/image" Target="../media/image17.png"/><Relationship Id="rId10" Type="http://schemas.openxmlformats.org/officeDocument/2006/relationships/oleObject" Target="../embeddings/oleObject7.bin"/><Relationship Id="rId4" Type="http://schemas.openxmlformats.org/officeDocument/2006/relationships/image" Target="../media/image16.emf"/><Relationship Id="rId9" Type="http://schemas.openxmlformats.org/officeDocument/2006/relationships/image" Target="../media/image19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9.xml"/><Relationship Id="rId1" Type="http://schemas.openxmlformats.org/officeDocument/2006/relationships/tags" Target="../tags/tag1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2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-stat.stanford.edu/~hastie/Papers/ESLII.pdf" TargetMode="External"/><Relationship Id="rId2" Type="http://schemas.openxmlformats.org/officeDocument/2006/relationships/hyperlink" Target="http://www.stat.berkeley.edu/~breiman/RandomForests/cc_home.htm" TargetMode="Externa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0.xml"/><Relationship Id="rId5" Type="http://schemas.openxmlformats.org/officeDocument/2006/relationships/image" Target="../media/image40.gif"/><Relationship Id="rId4" Type="http://schemas.openxmlformats.org/officeDocument/2006/relationships/image" Target="../media/image22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0.png"/><Relationship Id="rId9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0.png"/><Relationship Id="rId7" Type="http://schemas.openxmlformats.org/officeDocument/2006/relationships/image" Target="../media/image3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350.png"/><Relationship Id="rId11" Type="http://schemas.openxmlformats.org/officeDocument/2006/relationships/image" Target="../media/image40.png"/><Relationship Id="rId5" Type="http://schemas.openxmlformats.org/officeDocument/2006/relationships/image" Target="../media/image340.png"/><Relationship Id="rId10" Type="http://schemas.openxmlformats.org/officeDocument/2006/relationships/image" Target="../media/image39.png"/><Relationship Id="rId4" Type="http://schemas.openxmlformats.org/officeDocument/2006/relationships/image" Target="../media/image330.png"/><Relationship Id="rId9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0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41.jpg"/><Relationship Id="rId17" Type="http://schemas.openxmlformats.org/officeDocument/2006/relationships/image" Target="../media/image55.png"/><Relationship Id="rId2" Type="http://schemas.openxmlformats.org/officeDocument/2006/relationships/image" Target="../media/image320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20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51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67.png"/><Relationship Id="rId18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78.png"/><Relationship Id="rId2" Type="http://schemas.openxmlformats.org/officeDocument/2006/relationships/image" Target="../media/image65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69.png"/><Relationship Id="rId10" Type="http://schemas.openxmlformats.org/officeDocument/2006/relationships/image" Target="../media/image85.png"/><Relationship Id="rId19" Type="http://schemas.openxmlformats.org/officeDocument/2006/relationships/image" Target="../media/image89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6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0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7.png"/><Relationship Id="rId7" Type="http://schemas.openxmlformats.org/officeDocument/2006/relationships/image" Target="../media/image115.png"/><Relationship Id="rId12" Type="http://schemas.openxmlformats.org/officeDocument/2006/relationships/image" Target="../media/image12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88.png"/><Relationship Id="rId9" Type="http://schemas.openxmlformats.org/officeDocument/2006/relationships/image" Target="../media/image122.png"/><Relationship Id="rId14" Type="http://schemas.openxmlformats.org/officeDocument/2006/relationships/image" Target="../media/image12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9.png"/><Relationship Id="rId7" Type="http://schemas.openxmlformats.org/officeDocument/2006/relationships/image" Target="../media/image132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10" Type="http://schemas.openxmlformats.org/officeDocument/2006/relationships/image" Target="../media/image120.png"/><Relationship Id="rId4" Type="http://schemas.openxmlformats.org/officeDocument/2006/relationships/image" Target="../media/image88.png"/><Relationship Id="rId9" Type="http://schemas.openxmlformats.org/officeDocument/2006/relationships/image" Target="../media/image11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6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6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6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609600"/>
            <a:ext cx="7848600" cy="18288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66FFCC"/>
                </a:solidFill>
                <a:latin typeface="Comic Sans MS" pitchFamily="66" charset="0"/>
              </a:rPr>
              <a:t>Tree-based Classifiers and Ensemble Methods</a:t>
            </a:r>
            <a:br>
              <a:rPr lang="en-US" sz="4000" b="1" dirty="0">
                <a:solidFill>
                  <a:srgbClr val="66FFCC"/>
                </a:solidFill>
                <a:latin typeface="Comic Sans MS" pitchFamily="66" charset="0"/>
              </a:rPr>
            </a:br>
            <a:br>
              <a:rPr lang="en-US" sz="4000" b="1" dirty="0">
                <a:solidFill>
                  <a:srgbClr val="66FFCC"/>
                </a:solidFill>
                <a:latin typeface="Comic Sans MS" pitchFamily="66" charset="0"/>
              </a:rPr>
            </a:br>
            <a:endParaRPr lang="en-US" sz="2400" b="1" dirty="0">
              <a:solidFill>
                <a:srgbClr val="66FFCC"/>
              </a:solidFill>
              <a:latin typeface="Comic Sans MS" pitchFamily="66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609600" y="3048000"/>
            <a:ext cx="7924800" cy="2438400"/>
          </a:xfrm>
        </p:spPr>
        <p:txBody>
          <a:bodyPr/>
          <a:lstStyle/>
          <a:p>
            <a:pPr marL="0" indent="0" algn="ctr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FFFF66"/>
                </a:solidFill>
              </a:rPr>
              <a:t>By</a:t>
            </a: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endParaRPr lang="en-US" sz="2400" dirty="0">
              <a:solidFill>
                <a:srgbClr val="FFFF66"/>
              </a:solidFill>
            </a:endParaRP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r>
              <a:rPr lang="en-US" sz="2400" b="1" dirty="0" err="1">
                <a:solidFill>
                  <a:srgbClr val="00FFFF"/>
                </a:solidFill>
              </a:rPr>
              <a:t>Swagatam</a:t>
            </a:r>
            <a:r>
              <a:rPr lang="en-US" sz="2400" b="1" dirty="0">
                <a:solidFill>
                  <a:srgbClr val="00FFFF"/>
                </a:solidFill>
              </a:rPr>
              <a:t> Das</a:t>
            </a:r>
            <a:endParaRPr lang="en-US" sz="2400" b="1" baseline="30000" dirty="0">
              <a:solidFill>
                <a:srgbClr val="00FFFF"/>
              </a:solidFill>
            </a:endParaRP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endParaRPr lang="en-US" sz="2400" b="1" baseline="30000" dirty="0">
              <a:solidFill>
                <a:srgbClr val="00FFFF"/>
              </a:solidFill>
            </a:endParaRP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r>
              <a:rPr lang="en-US" sz="3600" b="1" baseline="30000" dirty="0">
                <a:solidFill>
                  <a:srgbClr val="00FFFF"/>
                </a:solidFill>
                <a:latin typeface="Times New Roman" pitchFamily="18" charset="0"/>
              </a:rPr>
              <a:t>Electronics and Communication Sciences Unit, </a:t>
            </a: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r>
              <a:rPr lang="en-US" sz="3600" b="1" baseline="30000" dirty="0">
                <a:solidFill>
                  <a:srgbClr val="00FFFF"/>
                </a:solidFill>
                <a:latin typeface="Times New Roman" pitchFamily="18" charset="0"/>
              </a:rPr>
              <a:t>Indian Statistical Institute, Kolkata – 700 108, India.</a:t>
            </a: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r>
              <a:rPr lang="en-US" sz="3600" b="1" baseline="30000" dirty="0" err="1">
                <a:solidFill>
                  <a:srgbClr val="00FFFF"/>
                </a:solidFill>
                <a:latin typeface="Times New Roman" pitchFamily="18" charset="0"/>
              </a:rPr>
              <a:t>E-mail:swagatam.das@isical.ac.in</a:t>
            </a:r>
            <a:endParaRPr lang="en-US" sz="3600" b="1" dirty="0">
              <a:solidFill>
                <a:srgbClr val="00FFFF"/>
              </a:solidFill>
              <a:latin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175910-58B7-D591-F6CF-FF45F3CD441B}"/>
              </a:ext>
            </a:extLst>
          </p:cNvPr>
          <p:cNvSpPr txBox="1"/>
          <p:nvPr/>
        </p:nvSpPr>
        <p:spPr>
          <a:xfrm>
            <a:off x="7097147" y="6308521"/>
            <a:ext cx="1437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90000"/>
                  </a:schemeClr>
                </a:solidFill>
              </a:rPr>
              <a:t>WSDL 2025</a:t>
            </a:r>
          </a:p>
        </p:txBody>
      </p:sp>
    </p:spTree>
  </p:cSld>
  <p:clrMapOvr>
    <a:masterClrMapping/>
  </p:clrMapOvr>
  <p:transition advClick="0"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FE0613A5-34D9-4D7D-B4E5-5F021132A2BE}" type="slidenum">
              <a:rPr lang="en-US" altLang="en-US">
                <a:solidFill>
                  <a:srgbClr val="000000"/>
                </a:solidFill>
              </a:rPr>
              <a:pPr defTabSz="685800"/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271849" y="331670"/>
            <a:ext cx="8229600" cy="613364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Introduction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4524" y="1552575"/>
            <a:ext cx="8136925" cy="3752850"/>
          </a:xfrm>
        </p:spPr>
        <p:txBody>
          <a:bodyPr/>
          <a:lstStyle/>
          <a:p>
            <a:pPr eaLnBrk="1" hangingPunct="1"/>
            <a:r>
              <a:rPr lang="en-US" altLang="ja-JP" dirty="0">
                <a:ea typeface="ＭＳ Ｐゴシック" pitchFamily="34" charset="-128"/>
              </a:rPr>
              <a:t>Decision tree learning is one of the most widely used techniques for classification. </a:t>
            </a:r>
          </a:p>
          <a:p>
            <a:pPr lvl="1" eaLnBrk="1" hangingPunct="1"/>
            <a:r>
              <a:rPr lang="en-US" altLang="ja-JP" dirty="0">
                <a:ea typeface="ＭＳ Ｐゴシック" pitchFamily="34" charset="-128"/>
              </a:rPr>
              <a:t>Its classification accuracy is competitive with other methods, and </a:t>
            </a:r>
          </a:p>
          <a:p>
            <a:pPr lvl="1" eaLnBrk="1" hangingPunct="1"/>
            <a:r>
              <a:rPr lang="en-US" altLang="ja-JP" dirty="0">
                <a:ea typeface="ＭＳ Ｐゴシック" pitchFamily="34" charset="-128"/>
              </a:rPr>
              <a:t>it is very efficient. </a:t>
            </a:r>
          </a:p>
          <a:p>
            <a:pPr lvl="1" eaLnBrk="1" hangingPunct="1"/>
            <a:endParaRPr lang="en-US" altLang="ja-JP" dirty="0">
              <a:ea typeface="ＭＳ Ｐゴシック" pitchFamily="34" charset="-128"/>
            </a:endParaRPr>
          </a:p>
          <a:p>
            <a:pPr eaLnBrk="1" hangingPunct="1"/>
            <a:r>
              <a:rPr lang="en-US" dirty="0"/>
              <a:t>The classification model is a tree, called </a:t>
            </a:r>
            <a:r>
              <a:rPr lang="en-US" dirty="0">
                <a:solidFill>
                  <a:srgbClr val="FF0000"/>
                </a:solidFill>
              </a:rPr>
              <a:t>decision tree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solidFill>
                  <a:srgbClr val="3333CC"/>
                </a:solidFill>
              </a:rPr>
              <a:t>C4.5</a:t>
            </a:r>
            <a:r>
              <a:rPr lang="en-US" dirty="0"/>
              <a:t> by Ross Quinlan is perhaps the best-known system, and the codes are freely available from the internet. </a:t>
            </a:r>
          </a:p>
        </p:txBody>
      </p:sp>
    </p:spTree>
    <p:extLst>
      <p:ext uri="{BB962C8B-B14F-4D97-AF65-F5344CB8AC3E}">
        <p14:creationId xmlns:p14="http://schemas.microsoft.com/office/powerpoint/2010/main" val="275186617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23932575-E63B-4B6A-B2C5-D19EAB0414E4}" type="slidenum">
              <a:rPr lang="en-US" altLang="en-US">
                <a:solidFill>
                  <a:srgbClr val="000000"/>
                </a:solidFill>
              </a:rPr>
              <a:pPr defTabSz="685800"/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542" y="283835"/>
            <a:ext cx="6159103" cy="653654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993300"/>
                </a:solidFill>
                <a:latin typeface="Arial Rounded MT Bold" panose="020F0704030504030204" pitchFamily="34" charset="0"/>
              </a:rPr>
              <a:t>A toy data of loan applicants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7055388" y="1107701"/>
            <a:ext cx="1719496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Approved or not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317306"/>
              </p:ext>
            </p:extLst>
          </p:nvPr>
        </p:nvGraphicFramePr>
        <p:xfrm>
          <a:off x="750373" y="1796147"/>
          <a:ext cx="7579896" cy="44474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3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1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55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ID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Age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Has_Job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Own_House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</a:rPr>
                        <a:t>Credit_Rating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Class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Young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false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fair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No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Young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good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No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Young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false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good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Young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true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fair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Young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fair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No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Middle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fair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No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7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Middle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good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No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8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Middle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good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9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Middle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excellent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Middle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excellent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Old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excellent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Old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good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Old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good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Yes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14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Old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true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excellent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Yes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07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15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Old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false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fair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No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83701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BB755DAE-C991-45B6-B36C-DA7683B6327A}" type="slidenum">
              <a:rPr lang="en-US" altLang="en-US">
                <a:solidFill>
                  <a:srgbClr val="000000"/>
                </a:solidFill>
              </a:rPr>
              <a:pPr defTabSz="685800"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92676" y="257351"/>
            <a:ext cx="8229600" cy="484167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A decision tree from the loan data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92676" y="892610"/>
            <a:ext cx="602099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sz="1600" b="1" dirty="0">
                <a:solidFill>
                  <a:srgbClr val="3333CC"/>
                </a:solidFill>
                <a:latin typeface="Arial"/>
              </a:rPr>
              <a:t>Decision nodes 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600" b="1" dirty="0">
                <a:solidFill>
                  <a:srgbClr val="3333CC"/>
                </a:solidFill>
                <a:latin typeface="Arial"/>
              </a:rPr>
              <a:t> leaf nodes (classes)</a:t>
            </a:r>
          </a:p>
        </p:txBody>
      </p:sp>
      <p:pic>
        <p:nvPicPr>
          <p:cNvPr id="61445" name="Picture 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95891" y="1769604"/>
            <a:ext cx="8188875" cy="3691628"/>
          </a:xfrm>
        </p:spPr>
      </p:pic>
    </p:spTree>
    <p:extLst>
      <p:ext uri="{BB962C8B-B14F-4D97-AF65-F5344CB8AC3E}">
        <p14:creationId xmlns:p14="http://schemas.microsoft.com/office/powerpoint/2010/main" val="6445181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B7813677-1291-44B5-A0FA-D695A4BE6F9E}" type="slidenum">
              <a:rPr lang="en-US" altLang="en-US">
                <a:solidFill>
                  <a:srgbClr val="000000"/>
                </a:solidFill>
              </a:rPr>
              <a:pPr defTabSz="685800"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98855" y="189759"/>
            <a:ext cx="8229600" cy="854869"/>
          </a:xfrm>
        </p:spPr>
        <p:txBody>
          <a:bodyPr/>
          <a:lstStyle/>
          <a:p>
            <a:pPr eaLnBrk="1" hangingPunct="1"/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Use the decision tree</a:t>
            </a:r>
          </a:p>
        </p:txBody>
      </p:sp>
      <p:pic>
        <p:nvPicPr>
          <p:cNvPr id="6246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09319" y="1038473"/>
            <a:ext cx="6020990" cy="701278"/>
          </a:xfr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51A1DEB-FBC7-1D96-580C-137301E93A5A}"/>
              </a:ext>
            </a:extLst>
          </p:cNvPr>
          <p:cNvGrpSpPr/>
          <p:nvPr/>
        </p:nvGrpSpPr>
        <p:grpSpPr>
          <a:xfrm>
            <a:off x="891150" y="2401323"/>
            <a:ext cx="7361699" cy="3418204"/>
            <a:chOff x="1520429" y="2862263"/>
            <a:chExt cx="6172200" cy="2620566"/>
          </a:xfrm>
        </p:grpSpPr>
        <p:pic>
          <p:nvPicPr>
            <p:cNvPr id="62467" name="Picture 1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20429" y="2862263"/>
              <a:ext cx="6172200" cy="2620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470" name="Line 7"/>
            <p:cNvSpPr>
              <a:spLocks noChangeShapeType="1"/>
            </p:cNvSpPr>
            <p:nvPr/>
          </p:nvSpPr>
          <p:spPr bwMode="auto">
            <a:xfrm flipH="1">
              <a:off x="2574133" y="3294460"/>
              <a:ext cx="1107281" cy="43219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defTabSz="342900"/>
              <a:endParaRPr lang="en-US" sz="135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71" name="Line 9"/>
            <p:cNvSpPr>
              <a:spLocks noChangeShapeType="1"/>
            </p:cNvSpPr>
            <p:nvPr/>
          </p:nvSpPr>
          <p:spPr bwMode="auto">
            <a:xfrm>
              <a:off x="2627711" y="4266010"/>
              <a:ext cx="459581" cy="56673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defTabSz="342900"/>
              <a:endParaRPr lang="en-US" sz="135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2472" name="Text Box 10"/>
          <p:cNvSpPr txBox="1">
            <a:spLocks noChangeArrowheads="1"/>
          </p:cNvSpPr>
          <p:nvPr/>
        </p:nvSpPr>
        <p:spPr bwMode="auto">
          <a:xfrm>
            <a:off x="5924423" y="1375171"/>
            <a:ext cx="891779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sz="1350" dirty="0">
                <a:solidFill>
                  <a:srgbClr val="FF0000"/>
                </a:solidFill>
                <a:latin typeface="Arial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08569491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1E66F9A6-748A-47FC-9BEA-0CDA226CD797}" type="slidenum">
              <a:rPr lang="en-US" altLang="en-US">
                <a:solidFill>
                  <a:srgbClr val="000000"/>
                </a:solidFill>
              </a:rPr>
              <a:pPr defTabSz="685800"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188752" y="157162"/>
            <a:ext cx="8229600" cy="1139825"/>
          </a:xfrm>
        </p:spPr>
        <p:txBody>
          <a:bodyPr/>
          <a:lstStyle/>
          <a:p>
            <a:pPr eaLnBrk="1" hangingPunct="1"/>
            <a:r>
              <a:rPr lang="en-US" b="1" dirty="0"/>
              <a:t>Is the decision tree unique?</a:t>
            </a:r>
          </a:p>
        </p:txBody>
      </p:sp>
      <p:pic>
        <p:nvPicPr>
          <p:cNvPr id="63492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257802" y="2982938"/>
            <a:ext cx="3411606" cy="2906134"/>
          </a:xfrm>
        </p:spPr>
      </p:pic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569940" y="1153323"/>
            <a:ext cx="7709994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  <a:latin typeface="Arial"/>
              </a:rPr>
              <a:t>No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. Here is a simpler tree. </a:t>
            </a:r>
          </a:p>
          <a:p>
            <a:pPr marL="257175" indent="-257175" defTabSz="342900"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/>
              </a:rPr>
              <a:t>We want</a:t>
            </a:r>
            <a:r>
              <a:rPr lang="en-US" sz="1600" dirty="0">
                <a:solidFill>
                  <a:srgbClr val="3333CC"/>
                </a:solidFill>
                <a:latin typeface="Arial"/>
              </a:rPr>
              <a:t> a smaller tree and an accurate tree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342900" lvl="1" defTabSz="342900"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Arial"/>
              </a:rPr>
              <a:t>  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Easy to understand and perform better.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63494" name="Text Box 5"/>
          <p:cNvSpPr txBox="1">
            <a:spLocks noChangeArrowheads="1"/>
          </p:cNvSpPr>
          <p:nvPr/>
        </p:nvSpPr>
        <p:spPr bwMode="auto">
          <a:xfrm>
            <a:off x="457200" y="2768809"/>
            <a:ext cx="4114800" cy="10618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/>
              </a:rPr>
              <a:t>Finding the best tree is NP-hard.</a:t>
            </a:r>
          </a:p>
          <a:p>
            <a:pPr marL="257175" indent="-257175" defTabSz="342900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/>
              </a:rPr>
              <a:t>All current tree-building algorithms are heuristic algorithms</a:t>
            </a:r>
          </a:p>
        </p:txBody>
      </p:sp>
    </p:spTree>
    <p:extLst>
      <p:ext uri="{BB962C8B-B14F-4D97-AF65-F5344CB8AC3E}">
        <p14:creationId xmlns:p14="http://schemas.microsoft.com/office/powerpoint/2010/main" val="336628105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1E4D049E-7FC6-4273-8DA4-34D0E0F2C820}" type="slidenum">
              <a:rPr lang="en-US" altLang="en-US">
                <a:solidFill>
                  <a:srgbClr val="000000"/>
                </a:solidFill>
              </a:rPr>
              <a:pPr defTabSz="685800"/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From a decision tree to a set of rules</a:t>
            </a:r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47306" y="5111879"/>
            <a:ext cx="6642136" cy="944972"/>
          </a:xfrm>
          <a:noFill/>
        </p:spPr>
      </p:pic>
      <p:pic>
        <p:nvPicPr>
          <p:cNvPr id="6451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28404" y="1208882"/>
            <a:ext cx="3892807" cy="3316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8" name="Text Box 7"/>
          <p:cNvSpPr txBox="1">
            <a:spLocks noChangeArrowheads="1"/>
          </p:cNvSpPr>
          <p:nvPr/>
        </p:nvSpPr>
        <p:spPr bwMode="auto">
          <a:xfrm>
            <a:off x="457200" y="1578102"/>
            <a:ext cx="2969419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sz="1600">
                <a:solidFill>
                  <a:srgbClr val="3333CC"/>
                </a:solidFill>
                <a:latin typeface="Arial"/>
              </a:rPr>
              <a:t>A decision tree can be converted to a set of rules</a:t>
            </a:r>
          </a:p>
          <a:p>
            <a:pPr marL="257175" indent="-257175" defTabSz="342900">
              <a:spcBef>
                <a:spcPct val="50000"/>
              </a:spcBef>
            </a:pPr>
            <a:r>
              <a:rPr lang="en-US" sz="1600">
                <a:solidFill>
                  <a:srgbClr val="000000"/>
                </a:solidFill>
                <a:latin typeface="Arial"/>
              </a:rPr>
              <a:t>Each path from the root to a leaf is a rule.</a:t>
            </a:r>
          </a:p>
        </p:txBody>
      </p:sp>
    </p:spTree>
    <p:extLst>
      <p:ext uri="{BB962C8B-B14F-4D97-AF65-F5344CB8AC3E}">
        <p14:creationId xmlns:p14="http://schemas.microsoft.com/office/powerpoint/2010/main" val="283852316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B643C026-503B-4416-BACF-652521B9C67C}" type="slidenum">
              <a:rPr lang="en-US" altLang="en-US">
                <a:solidFill>
                  <a:srgbClr val="000000"/>
                </a:solidFill>
              </a:rPr>
              <a:pPr defTabSz="685800"/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326657" y="261285"/>
            <a:ext cx="6299597" cy="854869"/>
          </a:xfrm>
        </p:spPr>
        <p:txBody>
          <a:bodyPr/>
          <a:lstStyle/>
          <a:p>
            <a:pPr eaLnBrk="1" hangingPunct="1"/>
            <a:r>
              <a:rPr lang="en-US" b="1" dirty="0"/>
              <a:t>Algorithm for decision tree learning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499" y="1525190"/>
            <a:ext cx="8163001" cy="3807619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sz="2400" dirty="0"/>
              <a:t>Basic algorithm (a greedy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divide-and-conquer</a:t>
            </a:r>
            <a:r>
              <a:rPr lang="en-US" sz="2400" dirty="0"/>
              <a:t> algorithm)</a:t>
            </a:r>
          </a:p>
          <a:p>
            <a:pPr marL="557213" lvl="1" indent="-214313" eaLnBrk="1" hangingPunct="1">
              <a:lnSpc>
                <a:spcPct val="95000"/>
              </a:lnSpc>
            </a:pPr>
            <a:r>
              <a:rPr lang="en-US" sz="1800" dirty="0"/>
              <a:t>Assume attributes are categorical now (continuous attributes can be handled too)</a:t>
            </a:r>
          </a:p>
          <a:p>
            <a:pPr marL="557213" lvl="1" indent="-214313" eaLnBrk="1" hangingPunct="1">
              <a:lnSpc>
                <a:spcPct val="95000"/>
              </a:lnSpc>
            </a:pPr>
            <a:r>
              <a:rPr lang="en-US" sz="1800" dirty="0"/>
              <a:t>Tree is constructed in a </a:t>
            </a:r>
            <a:r>
              <a:rPr lang="en-US" sz="1800" dirty="0">
                <a:solidFill>
                  <a:srgbClr val="FF0000"/>
                </a:solidFill>
              </a:rPr>
              <a:t>top-down recursive manner</a:t>
            </a:r>
          </a:p>
          <a:p>
            <a:pPr marL="557213" lvl="1" indent="-214313" eaLnBrk="1" hangingPunct="1">
              <a:lnSpc>
                <a:spcPct val="95000"/>
              </a:lnSpc>
            </a:pPr>
            <a:r>
              <a:rPr lang="en-US" sz="1800" dirty="0"/>
              <a:t>At start, all the training examples are at the root</a:t>
            </a:r>
          </a:p>
          <a:p>
            <a:pPr marL="557213" lvl="1" indent="-214313" eaLnBrk="1" hangingPunct="1">
              <a:lnSpc>
                <a:spcPct val="95000"/>
              </a:lnSpc>
            </a:pPr>
            <a:r>
              <a:rPr lang="en-US" sz="1800" dirty="0"/>
              <a:t>Examples are partitioned recursively based on selected attributes</a:t>
            </a:r>
          </a:p>
          <a:p>
            <a:pPr marL="557213" lvl="1" indent="-214313" eaLnBrk="1" hangingPunct="1">
              <a:lnSpc>
                <a:spcPct val="95000"/>
              </a:lnSpc>
            </a:pPr>
            <a:r>
              <a:rPr lang="en-US" sz="1800" dirty="0"/>
              <a:t>Attributes are selected on the basis of an impurity function (e.g., </a:t>
            </a:r>
            <a:r>
              <a:rPr lang="en-US" sz="1800" dirty="0">
                <a:solidFill>
                  <a:srgbClr val="3333CC"/>
                </a:solidFill>
              </a:rPr>
              <a:t>information gain</a:t>
            </a:r>
            <a:r>
              <a:rPr lang="en-US" sz="1800" dirty="0"/>
              <a:t>)</a:t>
            </a:r>
          </a:p>
          <a:p>
            <a:pPr eaLnBrk="1" hangingPunct="1">
              <a:lnSpc>
                <a:spcPct val="95000"/>
              </a:lnSpc>
            </a:pPr>
            <a:r>
              <a:rPr lang="en-US" sz="2400" dirty="0"/>
              <a:t>Conditions for stopping partitioning</a:t>
            </a:r>
          </a:p>
          <a:p>
            <a:pPr marL="557213" lvl="1" indent="-214313" eaLnBrk="1" hangingPunct="1">
              <a:lnSpc>
                <a:spcPct val="95000"/>
              </a:lnSpc>
            </a:pPr>
            <a:r>
              <a:rPr lang="en-US" sz="1800" dirty="0"/>
              <a:t>All examples for a given node belong to the same class</a:t>
            </a:r>
          </a:p>
          <a:p>
            <a:pPr marL="557213" lvl="1" indent="-214313" eaLnBrk="1" hangingPunct="1">
              <a:lnSpc>
                <a:spcPct val="95000"/>
              </a:lnSpc>
            </a:pPr>
            <a:r>
              <a:rPr lang="en-US" sz="1800" dirty="0"/>
              <a:t>There are no remaining attributes for further partitioning – majority class is the leaf</a:t>
            </a:r>
          </a:p>
          <a:p>
            <a:pPr marL="557213" lvl="1" indent="-214313" eaLnBrk="1" hangingPunct="1">
              <a:lnSpc>
                <a:spcPct val="95000"/>
              </a:lnSpc>
            </a:pPr>
            <a:r>
              <a:rPr lang="en-US" sz="1800" dirty="0"/>
              <a:t>There are no examples left</a:t>
            </a:r>
          </a:p>
        </p:txBody>
      </p:sp>
    </p:spTree>
    <p:extLst>
      <p:ext uri="{BB962C8B-B14F-4D97-AF65-F5344CB8AC3E}">
        <p14:creationId xmlns:p14="http://schemas.microsoft.com/office/powerpoint/2010/main" val="27887857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F80F0404-8D63-4387-9CB7-CC5D6A97D7E4}" type="slidenum">
              <a:rPr lang="en-US" altLang="en-US">
                <a:solidFill>
                  <a:srgbClr val="000000"/>
                </a:solidFill>
              </a:rPr>
              <a:pPr defTabSz="685800"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26884" y="110731"/>
            <a:ext cx="6172200" cy="854869"/>
          </a:xfrm>
        </p:spPr>
        <p:txBody>
          <a:bodyPr/>
          <a:lstStyle/>
          <a:p>
            <a:pPr eaLnBrk="1" hangingPunct="1"/>
            <a:r>
              <a:rPr lang="en-US" b="1" dirty="0"/>
              <a:t>Decision tree learning algorithm</a:t>
            </a:r>
          </a:p>
        </p:txBody>
      </p:sp>
      <p:pic>
        <p:nvPicPr>
          <p:cNvPr id="6656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29748" y="965600"/>
            <a:ext cx="6690252" cy="5402998"/>
          </a:xfrm>
          <a:noFill/>
        </p:spPr>
      </p:pic>
    </p:spTree>
    <p:extLst>
      <p:ext uri="{BB962C8B-B14F-4D97-AF65-F5344CB8AC3E}">
        <p14:creationId xmlns:p14="http://schemas.microsoft.com/office/powerpoint/2010/main" val="25624092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45BBE4A9-34A2-4A0C-81A8-128269F51479}" type="slidenum">
              <a:rPr lang="en-US" altLang="en-US">
                <a:solidFill>
                  <a:srgbClr val="000000"/>
                </a:solidFill>
              </a:rPr>
              <a:pPr defTabSz="685800"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297810" y="158140"/>
            <a:ext cx="8229600" cy="1139825"/>
          </a:xfrm>
        </p:spPr>
        <p:txBody>
          <a:bodyPr/>
          <a:lstStyle/>
          <a:p>
            <a:pPr eaLnBrk="1" hangingPunct="1"/>
            <a:r>
              <a:rPr lang="en-GB" b="1" dirty="0"/>
              <a:t>Choose an attribute to partition data 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0727" y="1256394"/>
            <a:ext cx="8326073" cy="3509963"/>
          </a:xfrm>
        </p:spPr>
        <p:txBody>
          <a:bodyPr/>
          <a:lstStyle/>
          <a:p>
            <a:pPr eaLnBrk="1" hangingPunct="1"/>
            <a:r>
              <a:rPr lang="en-GB" sz="2800" dirty="0"/>
              <a:t>The </a:t>
            </a:r>
            <a:r>
              <a:rPr lang="en-GB" sz="2800" i="1" dirty="0">
                <a:solidFill>
                  <a:srgbClr val="FF0000"/>
                </a:solidFill>
              </a:rPr>
              <a:t>key</a:t>
            </a:r>
            <a:r>
              <a:rPr lang="en-GB" sz="2800" dirty="0"/>
              <a:t> to building a decision tree - which attribute to choose in order to branch. </a:t>
            </a:r>
          </a:p>
          <a:p>
            <a:pPr eaLnBrk="1" hangingPunct="1"/>
            <a:r>
              <a:rPr lang="en-GB" sz="2800" dirty="0"/>
              <a:t>The objective is to reduce impurity or uncertainty in data as much as possible.</a:t>
            </a:r>
          </a:p>
          <a:p>
            <a:pPr marL="557213" lvl="1" indent="-214313" eaLnBrk="1" hangingPunct="1"/>
            <a:r>
              <a:rPr lang="en-GB" sz="2400" dirty="0">
                <a:solidFill>
                  <a:srgbClr val="3333CC"/>
                </a:solidFill>
              </a:rPr>
              <a:t>A subset of data is </a:t>
            </a:r>
            <a:r>
              <a:rPr lang="en-GB" sz="2400" dirty="0">
                <a:solidFill>
                  <a:srgbClr val="FF9900"/>
                </a:solidFill>
              </a:rPr>
              <a:t>pure</a:t>
            </a:r>
            <a:r>
              <a:rPr lang="en-GB" sz="2400" dirty="0">
                <a:solidFill>
                  <a:srgbClr val="3333CC"/>
                </a:solidFill>
              </a:rPr>
              <a:t> if all instances belong to the same class</a:t>
            </a:r>
            <a:r>
              <a:rPr lang="en-GB" sz="2400" dirty="0"/>
              <a:t>. </a:t>
            </a:r>
          </a:p>
          <a:p>
            <a:pPr eaLnBrk="1" hangingPunct="1"/>
            <a:r>
              <a:rPr lang="en-GB" sz="2800" dirty="0"/>
              <a:t>The </a:t>
            </a:r>
            <a:r>
              <a:rPr lang="en-GB" sz="2800" i="1" dirty="0"/>
              <a:t>heuristic</a:t>
            </a:r>
            <a:r>
              <a:rPr lang="en-GB" sz="2800" dirty="0"/>
              <a:t> in C4.5 is to choose the attribute with the maximum </a:t>
            </a:r>
            <a:r>
              <a:rPr lang="en-GB" sz="2800" dirty="0">
                <a:solidFill>
                  <a:srgbClr val="FF0000"/>
                </a:solidFill>
              </a:rPr>
              <a:t>Information Gain</a:t>
            </a:r>
            <a:r>
              <a:rPr lang="en-GB" sz="2800" dirty="0"/>
              <a:t> or </a:t>
            </a:r>
            <a:r>
              <a:rPr lang="en-GB" sz="2800" dirty="0">
                <a:solidFill>
                  <a:srgbClr val="FF0000"/>
                </a:solidFill>
              </a:rPr>
              <a:t>Gain Ratio</a:t>
            </a:r>
            <a:r>
              <a:rPr lang="en-GB" sz="2800" dirty="0"/>
              <a:t> based on information theory.</a:t>
            </a:r>
          </a:p>
        </p:txBody>
      </p:sp>
    </p:spTree>
    <p:extLst>
      <p:ext uri="{BB962C8B-B14F-4D97-AF65-F5344CB8AC3E}">
        <p14:creationId xmlns:p14="http://schemas.microsoft.com/office/powerpoint/2010/main" val="338645913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724150EF-A34E-4E1B-9966-7770491819AF}" type="slidenum">
              <a:rPr lang="en-US" altLang="en-US">
                <a:solidFill>
                  <a:srgbClr val="000000"/>
                </a:solidFill>
              </a:rPr>
              <a:pPr defTabSz="685800"/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265008" y="220976"/>
            <a:ext cx="6159103" cy="653654"/>
          </a:xfrm>
        </p:spPr>
        <p:txBody>
          <a:bodyPr/>
          <a:lstStyle/>
          <a:p>
            <a:pPr eaLnBrk="1" hangingPunct="1"/>
            <a:r>
              <a:rPr lang="en-US" dirty="0"/>
              <a:t>The loan data (reproduced)</a:t>
            </a:r>
          </a:p>
        </p:txBody>
      </p:sp>
      <p:sp>
        <p:nvSpPr>
          <p:cNvPr id="68612" name="Text Box 3"/>
          <p:cNvSpPr txBox="1">
            <a:spLocks noChangeArrowheads="1"/>
          </p:cNvSpPr>
          <p:nvPr/>
        </p:nvSpPr>
        <p:spPr bwMode="auto">
          <a:xfrm>
            <a:off x="7123662" y="874630"/>
            <a:ext cx="1626055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sz="1350" b="1" dirty="0">
                <a:solidFill>
                  <a:srgbClr val="000000"/>
                </a:solidFill>
                <a:latin typeface="Arial"/>
              </a:rPr>
              <a:t>Approved or not</a:t>
            </a:r>
          </a:p>
        </p:txBody>
      </p:sp>
      <p:pic>
        <p:nvPicPr>
          <p:cNvPr id="6861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69270" y="1351931"/>
            <a:ext cx="7777108" cy="4493140"/>
          </a:xfrm>
        </p:spPr>
      </p:pic>
    </p:spTree>
    <p:extLst>
      <p:ext uri="{BB962C8B-B14F-4D97-AF65-F5344CB8AC3E}">
        <p14:creationId xmlns:p14="http://schemas.microsoft.com/office/powerpoint/2010/main" val="24434785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74511D5A-F5E8-4E28-826F-B9799B7BFE06}" type="slidenum">
              <a:rPr lang="en-US" altLang="en-US">
                <a:solidFill>
                  <a:srgbClr val="000000"/>
                </a:solidFill>
              </a:rPr>
              <a:pPr defTabSz="685800"/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Two possible roots, which is better?</a:t>
            </a:r>
          </a:p>
        </p:txBody>
      </p:sp>
      <p:pic>
        <p:nvPicPr>
          <p:cNvPr id="69636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21530" y="1580953"/>
            <a:ext cx="7373846" cy="2612994"/>
          </a:xfrm>
        </p:spPr>
      </p:pic>
      <p:sp>
        <p:nvSpPr>
          <p:cNvPr id="69637" name="Text Box 4"/>
          <p:cNvSpPr txBox="1">
            <a:spLocks noChangeArrowheads="1"/>
          </p:cNvSpPr>
          <p:nvPr/>
        </p:nvSpPr>
        <p:spPr bwMode="auto">
          <a:xfrm>
            <a:off x="457200" y="4582716"/>
            <a:ext cx="626506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sz="1600">
                <a:solidFill>
                  <a:srgbClr val="000000"/>
                </a:solidFill>
                <a:latin typeface="Arial"/>
              </a:rPr>
              <a:t>Fig. (B) seems to be better. </a:t>
            </a:r>
          </a:p>
        </p:txBody>
      </p:sp>
    </p:spTree>
    <p:extLst>
      <p:ext uri="{BB962C8B-B14F-4D97-AF65-F5344CB8AC3E}">
        <p14:creationId xmlns:p14="http://schemas.microsoft.com/office/powerpoint/2010/main" val="189318306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1284AA87-791C-472F-9289-E6591BBA9484}" type="slidenum">
              <a:rPr lang="en-US" altLang="en-US">
                <a:solidFill>
                  <a:srgbClr val="000000"/>
                </a:solidFill>
              </a:rPr>
              <a:pPr defTabSz="685800"/>
              <a:t>13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Information theory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3445" y="1331895"/>
            <a:ext cx="7960104" cy="420483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Information theory</a:t>
            </a:r>
            <a:r>
              <a:rPr lang="en-US" sz="2800" dirty="0"/>
              <a:t> provides a mathematical basis for measuring the information content.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2800" dirty="0"/>
              <a:t>To understand the notion of information, think about it as providing the answer to a question, for example, whether a coin will come up heads.</a:t>
            </a:r>
            <a:r>
              <a:rPr lang="en-US" sz="2400" dirty="0"/>
              <a:t> </a:t>
            </a:r>
          </a:p>
          <a:p>
            <a:pPr marL="557213" lvl="1" indent="-214313" eaLnBrk="1" hangingPunct="1">
              <a:lnSpc>
                <a:spcPct val="80000"/>
              </a:lnSpc>
            </a:pPr>
            <a:r>
              <a:rPr lang="en-US" sz="2400" dirty="0"/>
              <a:t>If one already has a good guess about the answer, then the actual answer is less informative. </a:t>
            </a:r>
          </a:p>
          <a:p>
            <a:pPr marL="557213" lvl="1" indent="-214313" eaLnBrk="1" hangingPunct="1">
              <a:lnSpc>
                <a:spcPct val="80000"/>
              </a:lnSpc>
            </a:pPr>
            <a:r>
              <a:rPr lang="en-US" sz="2400" dirty="0"/>
              <a:t>If one already knows that the coin is rigged so that it will come with heads with a probability of 0.99, then a message (advanced information) about the actual outcome of a flip is worth less than it would be for an honest coin (50-50). </a:t>
            </a:r>
          </a:p>
        </p:txBody>
      </p:sp>
    </p:spTree>
    <p:extLst>
      <p:ext uri="{BB962C8B-B14F-4D97-AF65-F5344CB8AC3E}">
        <p14:creationId xmlns:p14="http://schemas.microsoft.com/office/powerpoint/2010/main" val="385329919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74C99054-9A36-4CAD-9FE4-B319E2D55F40}" type="slidenum">
              <a:rPr lang="en-US" altLang="en-US">
                <a:solidFill>
                  <a:srgbClr val="000000"/>
                </a:solidFill>
              </a:rPr>
              <a:pPr defTabSz="685800"/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Information theory (cont …)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3674" y="1916907"/>
            <a:ext cx="8133126" cy="348376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For a fair (honest) coin, you have no information, and you are willing to pay more (say in terms of $) for advanced information - less you know, the more valuable the information.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Information theory</a:t>
            </a:r>
            <a:r>
              <a:rPr lang="en-US" sz="2800" dirty="0"/>
              <a:t> uses this same intuition, but instead of measuring the value for information in dollars, it measures information contents in </a:t>
            </a:r>
            <a:r>
              <a:rPr lang="en-US" sz="2800" b="1" dirty="0"/>
              <a:t>bits</a:t>
            </a:r>
            <a:r>
              <a:rPr lang="en-US" sz="28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One bit of information is enough to answer a yes/no question about which one has no idea, such as the flip of a fair coin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702014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E77491B3-4666-49CD-8388-6F924DE8B56A}" type="slidenum">
              <a:rPr lang="en-US" altLang="en-US">
                <a:solidFill>
                  <a:srgbClr val="000000"/>
                </a:solidFill>
              </a:rPr>
              <a:pPr defTabSz="685800"/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318782" y="277815"/>
            <a:ext cx="8229600" cy="1139825"/>
          </a:xfrm>
        </p:spPr>
        <p:txBody>
          <a:bodyPr/>
          <a:lstStyle/>
          <a:p>
            <a:pPr eaLnBrk="1" hangingPunct="1"/>
            <a:r>
              <a:rPr lang="en-US" b="1" dirty="0"/>
              <a:t>Information theory: Entropy measure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70953"/>
            <a:ext cx="8091182" cy="4358059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2400"/>
              <a:t>The entropy formula,</a:t>
            </a:r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r>
              <a:rPr lang="en-US" altLang="ja-JP" sz="2400">
                <a:ea typeface="ＭＳ Ｐゴシック" pitchFamily="34" charset="-128"/>
              </a:rPr>
              <a:t>Pr(</a:t>
            </a:r>
            <a:r>
              <a:rPr lang="en-US" altLang="ja-JP" sz="2400" i="1">
                <a:ea typeface="ＭＳ Ｐゴシック" pitchFamily="34" charset="-128"/>
              </a:rPr>
              <a:t>c</a:t>
            </a:r>
            <a:r>
              <a:rPr lang="en-US" altLang="ja-JP" sz="2400" i="1" baseline="-25000">
                <a:ea typeface="ＭＳ Ｐゴシック" pitchFamily="34" charset="-128"/>
              </a:rPr>
              <a:t>j</a:t>
            </a:r>
            <a:r>
              <a:rPr lang="en-US" altLang="ja-JP" sz="2400">
                <a:ea typeface="ＭＳ Ｐゴシック" pitchFamily="34" charset="-128"/>
              </a:rPr>
              <a:t>) is the probability of class </a:t>
            </a:r>
            <a:r>
              <a:rPr lang="en-US" altLang="ja-JP" sz="2400" i="1">
                <a:ea typeface="ＭＳ Ｐゴシック" pitchFamily="34" charset="-128"/>
              </a:rPr>
              <a:t>c</a:t>
            </a:r>
            <a:r>
              <a:rPr lang="en-US" altLang="ja-JP" sz="2400" i="1" baseline="-25000">
                <a:ea typeface="ＭＳ Ｐゴシック" pitchFamily="34" charset="-128"/>
              </a:rPr>
              <a:t>j </a:t>
            </a:r>
            <a:r>
              <a:rPr lang="en-US" altLang="ja-JP" sz="2400">
                <a:ea typeface="ＭＳ Ｐゴシック" pitchFamily="34" charset="-128"/>
              </a:rPr>
              <a:t>in data set </a:t>
            </a:r>
            <a:r>
              <a:rPr lang="en-US" altLang="ja-JP" sz="2400" i="1">
                <a:ea typeface="ＭＳ Ｐゴシック" pitchFamily="34" charset="-128"/>
              </a:rPr>
              <a:t>D</a:t>
            </a:r>
            <a:r>
              <a:rPr lang="en-US" altLang="ja-JP" sz="2400">
                <a:ea typeface="ＭＳ Ｐゴシック" pitchFamily="34" charset="-128"/>
              </a:rPr>
              <a:t> </a:t>
            </a:r>
            <a:endParaRPr lang="en-US" sz="2400"/>
          </a:p>
          <a:p>
            <a:pPr eaLnBrk="1" hangingPunct="1"/>
            <a:r>
              <a:rPr lang="en-US" sz="2400"/>
              <a:t>We use entropy as a </a:t>
            </a:r>
            <a:r>
              <a:rPr lang="en-US" sz="2400">
                <a:solidFill>
                  <a:srgbClr val="3333CC"/>
                </a:solidFill>
              </a:rPr>
              <a:t>measure of impurity or disorder</a:t>
            </a:r>
            <a:r>
              <a:rPr lang="en-US" sz="2400"/>
              <a:t> of data set </a:t>
            </a:r>
            <a:r>
              <a:rPr lang="en-US" sz="2400" i="1"/>
              <a:t>D</a:t>
            </a:r>
            <a:r>
              <a:rPr lang="en-US" sz="2400"/>
              <a:t>. (Or, a measure of information in a tree)</a:t>
            </a:r>
          </a:p>
          <a:p>
            <a:pPr eaLnBrk="1" hangingPunct="1"/>
            <a:endParaRPr lang="en-US" sz="2400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342900"/>
            <a:endParaRPr lang="en-IN" sz="13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342900"/>
            <a:endParaRPr lang="en-IN" sz="13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6" name="Rectangle 12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342900"/>
            <a:endParaRPr lang="en-IN" sz="135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5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003038"/>
              </p:ext>
            </p:extLst>
          </p:nvPr>
        </p:nvGraphicFramePr>
        <p:xfrm>
          <a:off x="2116059" y="1681302"/>
          <a:ext cx="4695802" cy="2096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700" imgH="914400" progId="Equation.3">
                  <p:embed/>
                </p:oleObj>
              </mc:Choice>
              <mc:Fallback>
                <p:oleObj name="Equation" r:id="rId2" imgW="2044700" imgH="914400" progId="Equation.3">
                  <p:embed/>
                  <p:pic>
                    <p:nvPicPr>
                      <p:cNvPr id="205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059" y="1681302"/>
                        <a:ext cx="4695802" cy="20966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556440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2CA6F4D1-F6E0-48C5-9DAD-78B321D4557D}" type="slidenum">
              <a:rPr lang="en-US" altLang="en-US">
                <a:solidFill>
                  <a:srgbClr val="000000"/>
                </a:solidFill>
              </a:rPr>
              <a:pPr defTabSz="685800"/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163585" y="157162"/>
            <a:ext cx="8229600" cy="1139825"/>
          </a:xfrm>
        </p:spPr>
        <p:txBody>
          <a:bodyPr/>
          <a:lstStyle/>
          <a:p>
            <a:pPr eaLnBrk="1" hangingPunct="1"/>
            <a:r>
              <a:rPr lang="en-US" b="1"/>
              <a:t>Entropy measure: let us get a feeling</a:t>
            </a:r>
          </a:p>
        </p:txBody>
      </p:sp>
      <p:pic>
        <p:nvPicPr>
          <p:cNvPr id="72708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98217" y="1296987"/>
            <a:ext cx="7966902" cy="4097134"/>
          </a:xfrm>
        </p:spPr>
      </p:pic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316051" y="5933854"/>
            <a:ext cx="6481763" cy="64633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Arial"/>
              </a:rPr>
              <a:t>As the data become purer and purer, the entropy value becomes smaller and smaller. </a:t>
            </a:r>
            <a:r>
              <a:rPr lang="en-US">
                <a:solidFill>
                  <a:srgbClr val="3333CC"/>
                </a:solidFill>
                <a:latin typeface="Arial"/>
              </a:rPr>
              <a:t>This is useful to us!</a:t>
            </a:r>
          </a:p>
        </p:txBody>
      </p:sp>
    </p:spTree>
    <p:extLst>
      <p:ext uri="{BB962C8B-B14F-4D97-AF65-F5344CB8AC3E}">
        <p14:creationId xmlns:p14="http://schemas.microsoft.com/office/powerpoint/2010/main" val="5955388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57B0C690-53D2-4CD4-B105-7D7C94AB19D2}" type="slidenum">
              <a:rPr lang="en-US" altLang="en-US">
                <a:solidFill>
                  <a:srgbClr val="000000"/>
                </a:solidFill>
              </a:rPr>
              <a:pPr defTabSz="685800"/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375627" y="389870"/>
            <a:ext cx="5813822" cy="854869"/>
          </a:xfrm>
        </p:spPr>
        <p:txBody>
          <a:bodyPr/>
          <a:lstStyle/>
          <a:p>
            <a:pPr eaLnBrk="1" hangingPunct="1"/>
            <a:r>
              <a:rPr lang="en-US" b="1" dirty="0"/>
              <a:t>Information gain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85900" y="1916906"/>
            <a:ext cx="6191250" cy="3538538"/>
          </a:xfrm>
        </p:spPr>
        <p:txBody>
          <a:bodyPr/>
          <a:lstStyle/>
          <a:p>
            <a:pPr eaLnBrk="1" hangingPunct="1"/>
            <a:r>
              <a:rPr lang="en-US" sz="1950" dirty="0"/>
              <a:t>Given a set of examples </a:t>
            </a:r>
            <a:r>
              <a:rPr lang="en-US" sz="1950" i="1" dirty="0"/>
              <a:t>D</a:t>
            </a:r>
            <a:r>
              <a:rPr lang="en-US" sz="1950" dirty="0"/>
              <a:t>, we first compute its entropy:</a:t>
            </a:r>
          </a:p>
          <a:p>
            <a:pPr eaLnBrk="1" hangingPunct="1"/>
            <a:endParaRPr lang="en-US" sz="1950" dirty="0"/>
          </a:p>
          <a:p>
            <a:pPr eaLnBrk="1" hangingPunct="1"/>
            <a:endParaRPr lang="en-US" sz="1950" dirty="0"/>
          </a:p>
          <a:p>
            <a:pPr eaLnBrk="1" hangingPunct="1"/>
            <a:endParaRPr lang="en-US" sz="1950" dirty="0"/>
          </a:p>
          <a:p>
            <a:pPr eaLnBrk="1" hangingPunct="1"/>
            <a:r>
              <a:rPr lang="en-US" sz="1950" dirty="0"/>
              <a:t>If we make attribute </a:t>
            </a:r>
            <a:r>
              <a:rPr lang="en-US" sz="1950" i="1" dirty="0">
                <a:solidFill>
                  <a:srgbClr val="FF0000"/>
                </a:solidFill>
              </a:rPr>
              <a:t>A</a:t>
            </a:r>
            <a:r>
              <a:rPr lang="en-US" sz="1950" i="1" baseline="-25000" dirty="0">
                <a:solidFill>
                  <a:srgbClr val="FF0000"/>
                </a:solidFill>
              </a:rPr>
              <a:t>i</a:t>
            </a:r>
            <a:r>
              <a:rPr lang="en-US" sz="1950" dirty="0">
                <a:solidFill>
                  <a:schemeClr val="hlink"/>
                </a:solidFill>
              </a:rPr>
              <a:t>, </a:t>
            </a:r>
            <a:r>
              <a:rPr lang="en-US" sz="1950" dirty="0">
                <a:solidFill>
                  <a:srgbClr val="3333CC"/>
                </a:solidFill>
              </a:rPr>
              <a:t>with v values</a:t>
            </a:r>
            <a:r>
              <a:rPr lang="en-US" sz="1950" dirty="0"/>
              <a:t>, the root of the current tree, this will partition </a:t>
            </a:r>
            <a:r>
              <a:rPr lang="en-US" sz="1950" i="1" dirty="0"/>
              <a:t>D</a:t>
            </a:r>
            <a:r>
              <a:rPr lang="en-US" sz="1950" dirty="0"/>
              <a:t> into </a:t>
            </a:r>
            <a:r>
              <a:rPr lang="en-US" sz="1950" dirty="0">
                <a:solidFill>
                  <a:srgbClr val="3333CC"/>
                </a:solidFill>
              </a:rPr>
              <a:t>v</a:t>
            </a:r>
            <a:r>
              <a:rPr lang="en-US" sz="1950" dirty="0"/>
              <a:t> subsets </a:t>
            </a:r>
            <a:r>
              <a:rPr lang="en-US" altLang="ja-JP" sz="1950" i="1" dirty="0">
                <a:ea typeface="ＭＳ Ｐゴシック" pitchFamily="34" charset="-128"/>
              </a:rPr>
              <a:t>D</a:t>
            </a:r>
            <a:r>
              <a:rPr lang="en-US" altLang="ja-JP" sz="1950" baseline="-25000" dirty="0">
                <a:ea typeface="ＭＳ Ｐゴシック" pitchFamily="34" charset="-128"/>
              </a:rPr>
              <a:t>1</a:t>
            </a:r>
            <a:r>
              <a:rPr lang="en-US" altLang="ja-JP" sz="1950" i="1" dirty="0">
                <a:ea typeface="ＭＳ Ｐゴシック" pitchFamily="34" charset="-128"/>
              </a:rPr>
              <a:t>, D</a:t>
            </a:r>
            <a:r>
              <a:rPr lang="en-US" altLang="ja-JP" sz="1950" baseline="-25000" dirty="0">
                <a:ea typeface="ＭＳ Ｐゴシック" pitchFamily="34" charset="-128"/>
              </a:rPr>
              <a:t>2</a:t>
            </a:r>
            <a:r>
              <a:rPr lang="en-US" altLang="ja-JP" sz="1950" i="1" dirty="0">
                <a:ea typeface="ＭＳ Ｐゴシック" pitchFamily="34" charset="-128"/>
              </a:rPr>
              <a:t> …, </a:t>
            </a:r>
            <a:r>
              <a:rPr lang="en-US" altLang="ja-JP" sz="1950" i="1" dirty="0" err="1">
                <a:ea typeface="ＭＳ Ｐゴシック" pitchFamily="34" charset="-128"/>
              </a:rPr>
              <a:t>D</a:t>
            </a:r>
            <a:r>
              <a:rPr lang="en-US" altLang="ja-JP" sz="1950" baseline="-25000" dirty="0" err="1">
                <a:ea typeface="ＭＳ Ｐゴシック" pitchFamily="34" charset="-128"/>
              </a:rPr>
              <a:t>v</a:t>
            </a:r>
            <a:r>
              <a:rPr lang="en-US" altLang="ja-JP" sz="1950" dirty="0">
                <a:ea typeface="ＭＳ Ｐゴシック" pitchFamily="34" charset="-128"/>
              </a:rPr>
              <a:t> </a:t>
            </a:r>
            <a:r>
              <a:rPr lang="en-US" sz="1950" dirty="0"/>
              <a:t>. The expected entropy if </a:t>
            </a:r>
            <a:r>
              <a:rPr lang="en-US" sz="1950" i="1" dirty="0">
                <a:solidFill>
                  <a:srgbClr val="FF0000"/>
                </a:solidFill>
              </a:rPr>
              <a:t>A</a:t>
            </a:r>
            <a:r>
              <a:rPr lang="en-US" sz="1950" i="1" baseline="-25000" dirty="0">
                <a:solidFill>
                  <a:srgbClr val="FF0000"/>
                </a:solidFill>
              </a:rPr>
              <a:t>i</a:t>
            </a:r>
            <a:r>
              <a:rPr lang="en-US" sz="1950" dirty="0">
                <a:solidFill>
                  <a:schemeClr val="hlink"/>
                </a:solidFill>
              </a:rPr>
              <a:t> </a:t>
            </a:r>
            <a:r>
              <a:rPr lang="en-US" sz="1950" dirty="0">
                <a:solidFill>
                  <a:srgbClr val="3333CC"/>
                </a:solidFill>
              </a:rPr>
              <a:t>is used</a:t>
            </a:r>
            <a:r>
              <a:rPr lang="en-US" sz="1950" dirty="0"/>
              <a:t> as the current root:</a:t>
            </a:r>
          </a:p>
          <a:p>
            <a:pPr eaLnBrk="1" hangingPunct="1"/>
            <a:endParaRPr lang="en-US" sz="1950" dirty="0"/>
          </a:p>
        </p:txBody>
      </p:sp>
      <p:pic>
        <p:nvPicPr>
          <p:cNvPr id="3078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2212585" y="2604206"/>
            <a:ext cx="4537018" cy="824794"/>
          </a:xfrm>
          <a:noFill/>
        </p:spPr>
      </p:pic>
      <p:sp>
        <p:nvSpPr>
          <p:cNvPr id="3079" name="Rectangle 1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342900"/>
            <a:endParaRPr lang="en-IN" sz="135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541149"/>
              </p:ext>
            </p:extLst>
          </p:nvPr>
        </p:nvGraphicFramePr>
        <p:xfrm>
          <a:off x="2388754" y="4872039"/>
          <a:ext cx="4537018" cy="949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120" imgH="457200" progId="Equation.3">
                  <p:embed/>
                </p:oleObj>
              </mc:Choice>
              <mc:Fallback>
                <p:oleObj name="Equation" r:id="rId3" imgW="2184120" imgH="457200" progId="Equation.3">
                  <p:embed/>
                  <p:pic>
                    <p:nvPicPr>
                      <p:cNvPr id="307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8754" y="4872039"/>
                        <a:ext cx="4537018" cy="9499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670394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9F39BF3C-85A6-423F-BBB4-0AE1C1A62FC7}" type="slidenum">
              <a:rPr lang="en-US" altLang="en-US">
                <a:solidFill>
                  <a:srgbClr val="000000"/>
                </a:solidFill>
              </a:rPr>
              <a:pPr defTabSz="685800"/>
              <a:t>18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38633"/>
            <a:ext cx="6172200" cy="854869"/>
          </a:xfrm>
        </p:spPr>
        <p:txBody>
          <a:bodyPr/>
          <a:lstStyle/>
          <a:p>
            <a:pPr eaLnBrk="1" hangingPunct="1"/>
            <a:r>
              <a:rPr lang="en-US" b="1" dirty="0"/>
              <a:t>Information gain (</a:t>
            </a:r>
            <a:r>
              <a:rPr lang="en-US" b="1" dirty="0" err="1"/>
              <a:t>cont</a:t>
            </a:r>
            <a:r>
              <a:rPr lang="en-US" b="1" dirty="0"/>
              <a:t> …)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85901" y="2057401"/>
            <a:ext cx="5732860" cy="3398044"/>
          </a:xfrm>
        </p:spPr>
        <p:txBody>
          <a:bodyPr/>
          <a:lstStyle/>
          <a:p>
            <a:pPr eaLnBrk="1" hangingPunct="1"/>
            <a:r>
              <a:rPr lang="en-US" sz="1950" dirty="0">
                <a:solidFill>
                  <a:srgbClr val="FF0000"/>
                </a:solidFill>
              </a:rPr>
              <a:t>Information gained</a:t>
            </a:r>
            <a:r>
              <a:rPr lang="en-US" sz="1950" dirty="0"/>
              <a:t> by selecting attribute </a:t>
            </a:r>
            <a:r>
              <a:rPr lang="en-US" sz="1950" i="1" dirty="0">
                <a:solidFill>
                  <a:srgbClr val="FF0000"/>
                </a:solidFill>
              </a:rPr>
              <a:t>A</a:t>
            </a:r>
            <a:r>
              <a:rPr lang="en-US" sz="1950" i="1" baseline="-25000" dirty="0">
                <a:solidFill>
                  <a:srgbClr val="FF0000"/>
                </a:solidFill>
              </a:rPr>
              <a:t>i </a:t>
            </a:r>
            <a:r>
              <a:rPr lang="en-US" sz="1950" dirty="0">
                <a:solidFill>
                  <a:srgbClr val="3333CC"/>
                </a:solidFill>
              </a:rPr>
              <a:t>to branch or to partition the data is </a:t>
            </a:r>
          </a:p>
          <a:p>
            <a:pPr eaLnBrk="1" hangingPunct="1"/>
            <a:endParaRPr lang="en-US" sz="1950" dirty="0"/>
          </a:p>
          <a:p>
            <a:pPr eaLnBrk="1" hangingPunct="1"/>
            <a:endParaRPr lang="en-US" sz="1950" dirty="0"/>
          </a:p>
          <a:p>
            <a:pPr eaLnBrk="1" hangingPunct="1"/>
            <a:r>
              <a:rPr lang="en-US" sz="1950" dirty="0"/>
              <a:t>We choose the attribute with the highest gain to branch/split the current tree. </a:t>
            </a:r>
          </a:p>
        </p:txBody>
      </p:sp>
      <p:sp>
        <p:nvSpPr>
          <p:cNvPr id="4102" name="Rectangle 10"/>
          <p:cNvSpPr>
            <a:spLocks noChangeArrowheads="1"/>
          </p:cNvSpPr>
          <p:nvPr/>
        </p:nvSpPr>
        <p:spPr bwMode="auto">
          <a:xfrm>
            <a:off x="1143001" y="3193234"/>
            <a:ext cx="184731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342900"/>
            <a:endParaRPr lang="en-IN" sz="135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09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26593"/>
              </p:ext>
            </p:extLst>
          </p:nvPr>
        </p:nvGraphicFramePr>
        <p:xfrm>
          <a:off x="2060973" y="2846467"/>
          <a:ext cx="464462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4100" imgH="228600" progId="Equation.3">
                  <p:embed/>
                </p:oleObj>
              </mc:Choice>
              <mc:Fallback>
                <p:oleObj name="Equation" r:id="rId2" imgW="2324100" imgH="228600" progId="Equation.3">
                  <p:embed/>
                  <p:pic>
                    <p:nvPicPr>
                      <p:cNvPr id="409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973" y="2846467"/>
                        <a:ext cx="464462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458225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97A1D15C-274B-40F1-8A11-2F1BE42A569B}" type="slidenum">
              <a:rPr lang="en-US" altLang="en-US">
                <a:solidFill>
                  <a:srgbClr val="000000"/>
                </a:solidFill>
              </a:rPr>
              <a:pPr defTabSz="685800"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0" y="16300"/>
            <a:ext cx="6172200" cy="588461"/>
          </a:xfrm>
        </p:spPr>
        <p:txBody>
          <a:bodyPr/>
          <a:lstStyle/>
          <a:p>
            <a:pPr eaLnBrk="1" hangingPunct="1"/>
            <a:r>
              <a:rPr lang="en-US" b="1" dirty="0"/>
              <a:t>An example</a:t>
            </a:r>
          </a:p>
        </p:txBody>
      </p:sp>
      <p:pic>
        <p:nvPicPr>
          <p:cNvPr id="512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120338" y="393358"/>
            <a:ext cx="3796913" cy="2746298"/>
          </a:xfrm>
          <a:noFill/>
        </p:spPr>
      </p:pic>
      <p:graphicFrame>
        <p:nvGraphicFramePr>
          <p:cNvPr id="5122" name="Object 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17108675"/>
              </p:ext>
            </p:extLst>
          </p:nvPr>
        </p:nvGraphicFramePr>
        <p:xfrm>
          <a:off x="6045291" y="3278780"/>
          <a:ext cx="2321719" cy="884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619500" imgH="1381049" progId="Excel.Sheet.8">
                  <p:embed/>
                </p:oleObj>
              </mc:Choice>
              <mc:Fallback>
                <p:oleObj name="Worksheet" r:id="rId3" imgW="3619500" imgH="1381049" progId="Excel.Sheet.8">
                  <p:embed/>
                  <p:pic>
                    <p:nvPicPr>
                      <p:cNvPr id="512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91" y="3278780"/>
                        <a:ext cx="2321719" cy="884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9" name="Picture 1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0716" y="4557535"/>
            <a:ext cx="3536156" cy="9346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130" name="Text Box 19"/>
          <p:cNvSpPr txBox="1">
            <a:spLocks noChangeArrowheads="1"/>
          </p:cNvSpPr>
          <p:nvPr/>
        </p:nvSpPr>
        <p:spPr bwMode="auto">
          <a:xfrm>
            <a:off x="34531" y="6058972"/>
            <a:ext cx="482967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dirty="0" err="1">
                <a:solidFill>
                  <a:srgbClr val="000000"/>
                </a:solidFill>
                <a:latin typeface="Arial"/>
              </a:rPr>
              <a:t>Own_house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is the best choice for the root. </a:t>
            </a:r>
          </a:p>
        </p:txBody>
      </p:sp>
      <p:sp>
        <p:nvSpPr>
          <p:cNvPr id="5131" name="Rectangle 22"/>
          <p:cNvSpPr>
            <a:spLocks noChangeArrowheads="1"/>
          </p:cNvSpPr>
          <p:nvPr/>
        </p:nvSpPr>
        <p:spPr bwMode="auto">
          <a:xfrm>
            <a:off x="1143001" y="3139656"/>
            <a:ext cx="184731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342900"/>
            <a:endParaRPr lang="en-IN" sz="135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2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200147"/>
              </p:ext>
            </p:extLst>
          </p:nvPr>
        </p:nvGraphicFramePr>
        <p:xfrm>
          <a:off x="193731" y="966897"/>
          <a:ext cx="451127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24080" imgH="393480" progId="Equation.3">
                  <p:embed/>
                </p:oleObj>
              </mc:Choice>
              <mc:Fallback>
                <p:oleObj name="Equation" r:id="rId6" imgW="3124080" imgH="393480" progId="Equation.3">
                  <p:embed/>
                  <p:pic>
                    <p:nvPicPr>
                      <p:cNvPr id="512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731" y="966897"/>
                        <a:ext cx="4511278" cy="523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Rectangle 24"/>
          <p:cNvSpPr>
            <a:spLocks noChangeArrowheads="1"/>
          </p:cNvSpPr>
          <p:nvPr/>
        </p:nvSpPr>
        <p:spPr bwMode="auto">
          <a:xfrm>
            <a:off x="1143001" y="2932488"/>
            <a:ext cx="184731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342900"/>
            <a:endParaRPr lang="en-IN" sz="135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628984"/>
              </p:ext>
            </p:extLst>
          </p:nvPr>
        </p:nvGraphicFramePr>
        <p:xfrm>
          <a:off x="226749" y="1638332"/>
          <a:ext cx="4824935" cy="1287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06480" imgH="1002960" progId="Equation.3">
                  <p:embed/>
                </p:oleObj>
              </mc:Choice>
              <mc:Fallback>
                <p:oleObj name="Equation" r:id="rId8" imgW="3606480" imgH="1002960" progId="Equation.3">
                  <p:embed/>
                  <p:pic>
                    <p:nvPicPr>
                      <p:cNvPr id="51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49" y="1638332"/>
                        <a:ext cx="4824935" cy="12870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Rectangle 27"/>
          <p:cNvSpPr>
            <a:spLocks noChangeArrowheads="1"/>
          </p:cNvSpPr>
          <p:nvPr/>
        </p:nvSpPr>
        <p:spPr bwMode="auto">
          <a:xfrm>
            <a:off x="1143001" y="2928915"/>
            <a:ext cx="184731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342900"/>
            <a:endParaRPr lang="en-IN" sz="135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25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820409"/>
              </p:ext>
            </p:extLst>
          </p:nvPr>
        </p:nvGraphicFramePr>
        <p:xfrm>
          <a:off x="226750" y="3192885"/>
          <a:ext cx="4893588" cy="109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83080" imgH="1002960" progId="Equation.3">
                  <p:embed/>
                </p:oleObj>
              </mc:Choice>
              <mc:Fallback>
                <p:oleObj name="Equation" r:id="rId10" imgW="4483080" imgH="1002960" progId="Equation.3">
                  <p:embed/>
                  <p:pic>
                    <p:nvPicPr>
                      <p:cNvPr id="512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50" y="3192885"/>
                        <a:ext cx="4893588" cy="1091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065624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A560FC5D-6033-4921-969C-F1F578023831}" type="slidenum">
              <a:rPr lang="en-US" altLang="en-US">
                <a:solidFill>
                  <a:srgbClr val="000000"/>
                </a:solidFill>
              </a:rPr>
              <a:pPr defTabSz="685800"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 build the final tree</a:t>
            </a:r>
          </a:p>
        </p:txBody>
      </p:sp>
      <p:pic>
        <p:nvPicPr>
          <p:cNvPr id="73732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707438" y="1290245"/>
            <a:ext cx="4970199" cy="3907966"/>
          </a:xfrm>
          <a:noFill/>
        </p:spPr>
      </p:pic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274903" y="6130139"/>
            <a:ext cx="756041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/>
              </a:rPr>
              <a:t>We can use information gain ratio to evaluate the impurity as well</a:t>
            </a:r>
            <a:endParaRPr lang="en-US" sz="135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649390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029762F7-B5C7-459D-9713-A0E20AA6EB60}" type="slidenum">
              <a:rPr lang="en-US" altLang="en-US">
                <a:solidFill>
                  <a:srgbClr val="000000"/>
                </a:solidFill>
              </a:rPr>
              <a:pPr defTabSz="685800"/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Handling continuous attributes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5669" y="1499357"/>
            <a:ext cx="8161493" cy="4398104"/>
          </a:xfrm>
        </p:spPr>
        <p:txBody>
          <a:bodyPr/>
          <a:lstStyle/>
          <a:p>
            <a:pPr eaLnBrk="1" hangingPunct="1"/>
            <a:r>
              <a:rPr lang="en-US" sz="2800" dirty="0"/>
              <a:t>Handle continuous attribute by splitting into two intervals (can be more) at each node. </a:t>
            </a:r>
          </a:p>
          <a:p>
            <a:pPr eaLnBrk="1" hangingPunct="1"/>
            <a:r>
              <a:rPr lang="en-US" sz="2800" dirty="0"/>
              <a:t>How to find the best threshold to divide?</a:t>
            </a:r>
          </a:p>
          <a:p>
            <a:pPr lvl="1" eaLnBrk="1" hangingPunct="1"/>
            <a:r>
              <a:rPr lang="en-US" sz="2400" dirty="0"/>
              <a:t>Use information gain or gain ratio again</a:t>
            </a:r>
          </a:p>
          <a:p>
            <a:pPr lvl="1" eaLnBrk="1" hangingPunct="1"/>
            <a:r>
              <a:rPr lang="en-US" sz="2400" dirty="0"/>
              <a:t>Sort all the values of an continuous attribute in increasing order </a:t>
            </a:r>
            <a:r>
              <a:rPr lang="en-US" altLang="ja-JP" sz="2400" dirty="0">
                <a:ea typeface="ＭＳ Ｐゴシック" pitchFamily="34" charset="-128"/>
              </a:rPr>
              <a:t>{</a:t>
            </a:r>
            <a:r>
              <a:rPr lang="en-US" altLang="ja-JP" sz="2400" i="1" dirty="0">
                <a:ea typeface="ＭＳ Ｐゴシック" pitchFamily="34" charset="-128"/>
              </a:rPr>
              <a:t>v</a:t>
            </a:r>
            <a:r>
              <a:rPr lang="en-US" altLang="ja-JP" sz="2400" baseline="-25000" dirty="0">
                <a:ea typeface="ＭＳ Ｐゴシック" pitchFamily="34" charset="-128"/>
              </a:rPr>
              <a:t>1</a:t>
            </a:r>
            <a:r>
              <a:rPr lang="en-US" altLang="ja-JP" sz="2400" dirty="0">
                <a:ea typeface="ＭＳ Ｐゴシック" pitchFamily="34" charset="-128"/>
              </a:rPr>
              <a:t>, </a:t>
            </a:r>
            <a:r>
              <a:rPr lang="en-US" altLang="ja-JP" sz="2400" i="1" dirty="0">
                <a:ea typeface="ＭＳ Ｐゴシック" pitchFamily="34" charset="-128"/>
              </a:rPr>
              <a:t>v</a:t>
            </a:r>
            <a:r>
              <a:rPr lang="en-US" altLang="ja-JP" sz="2400" baseline="-25000" dirty="0">
                <a:ea typeface="ＭＳ Ｐゴシック" pitchFamily="34" charset="-128"/>
              </a:rPr>
              <a:t>2</a:t>
            </a:r>
            <a:r>
              <a:rPr lang="en-US" altLang="ja-JP" sz="2400" dirty="0">
                <a:ea typeface="ＭＳ Ｐゴシック" pitchFamily="34" charset="-128"/>
              </a:rPr>
              <a:t>, …, </a:t>
            </a:r>
            <a:r>
              <a:rPr lang="en-US" altLang="ja-JP" sz="2400" i="1" dirty="0" err="1">
                <a:ea typeface="ＭＳ Ｐゴシック" pitchFamily="34" charset="-128"/>
              </a:rPr>
              <a:t>v</a:t>
            </a:r>
            <a:r>
              <a:rPr lang="en-US" altLang="ja-JP" sz="2400" baseline="-25000" dirty="0" err="1">
                <a:ea typeface="ＭＳ Ｐゴシック" pitchFamily="34" charset="-128"/>
              </a:rPr>
              <a:t>r</a:t>
            </a:r>
            <a:r>
              <a:rPr lang="en-US" altLang="ja-JP" sz="2400" dirty="0">
                <a:ea typeface="ＭＳ Ｐゴシック" pitchFamily="34" charset="-128"/>
              </a:rPr>
              <a:t>}, </a:t>
            </a:r>
            <a:endParaRPr lang="en-US" sz="2400" dirty="0"/>
          </a:p>
          <a:p>
            <a:pPr lvl="1" eaLnBrk="1" hangingPunct="1"/>
            <a:r>
              <a:rPr lang="en-US" sz="2400" dirty="0"/>
              <a:t>One possible threshold between two adjacent values </a:t>
            </a:r>
            <a:r>
              <a:rPr lang="en-US" altLang="ja-JP" sz="2400" i="1" dirty="0">
                <a:ea typeface="ＭＳ Ｐゴシック" pitchFamily="34" charset="-128"/>
              </a:rPr>
              <a:t>v</a:t>
            </a:r>
            <a:r>
              <a:rPr lang="en-US" altLang="ja-JP" sz="2400" baseline="-25000" dirty="0">
                <a:ea typeface="ＭＳ Ｐゴシック" pitchFamily="34" charset="-128"/>
              </a:rPr>
              <a:t>i</a:t>
            </a:r>
            <a:r>
              <a:rPr lang="en-US" altLang="ja-JP" sz="2400" dirty="0">
                <a:ea typeface="ＭＳ Ｐゴシック" pitchFamily="34" charset="-128"/>
              </a:rPr>
              <a:t> and </a:t>
            </a:r>
            <a:r>
              <a:rPr lang="en-US" altLang="ja-JP" sz="2400" i="1" dirty="0">
                <a:ea typeface="ＭＳ Ｐゴシック" pitchFamily="34" charset="-128"/>
              </a:rPr>
              <a:t>v</a:t>
            </a:r>
            <a:r>
              <a:rPr lang="en-US" altLang="ja-JP" sz="2400" baseline="-25000" dirty="0">
                <a:ea typeface="ＭＳ Ｐゴシック" pitchFamily="34" charset="-128"/>
              </a:rPr>
              <a:t>i+1</a:t>
            </a:r>
            <a:r>
              <a:rPr lang="en-US" sz="2400" dirty="0"/>
              <a:t>. Try all possible thresholds and find the one that maximizes the gain (or gain ratio). </a:t>
            </a:r>
          </a:p>
        </p:txBody>
      </p:sp>
    </p:spTree>
    <p:extLst>
      <p:ext uri="{BB962C8B-B14F-4D97-AF65-F5344CB8AC3E}">
        <p14:creationId xmlns:p14="http://schemas.microsoft.com/office/powerpoint/2010/main" val="240878208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FC739D6A-89F8-4F72-A38D-9FE842714531}" type="slidenum">
              <a:rPr lang="en-US" altLang="en-US">
                <a:solidFill>
                  <a:srgbClr val="000000"/>
                </a:solidFill>
              </a:rPr>
              <a:pPr defTabSz="685800"/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 example in a continuous space</a:t>
            </a:r>
          </a:p>
        </p:txBody>
      </p:sp>
      <p:pic>
        <p:nvPicPr>
          <p:cNvPr id="75780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62843" y="1642193"/>
            <a:ext cx="7509370" cy="3573614"/>
          </a:xfrm>
        </p:spPr>
      </p:pic>
    </p:spTree>
    <p:extLst>
      <p:ext uri="{BB962C8B-B14F-4D97-AF65-F5344CB8AC3E}">
        <p14:creationId xmlns:p14="http://schemas.microsoft.com/office/powerpoint/2010/main" val="61927190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685800"/>
            <a:fld id="{0415DCD2-01AD-41A2-B607-6745B33A0682}" type="slidenum">
              <a:rPr lang="en-US" altLang="en-US">
                <a:solidFill>
                  <a:srgbClr val="000000"/>
                </a:solidFill>
              </a:rPr>
              <a:pPr defTabSz="685800"/>
              <a:t>23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98833"/>
            <a:ext cx="6172200" cy="854869"/>
          </a:xfrm>
        </p:spPr>
        <p:txBody>
          <a:bodyPr/>
          <a:lstStyle/>
          <a:p>
            <a:pPr eaLnBrk="1" hangingPunct="1"/>
            <a:r>
              <a:rPr lang="en-US" dirty="0"/>
              <a:t>An example</a:t>
            </a:r>
          </a:p>
        </p:txBody>
      </p:sp>
      <p:pic>
        <p:nvPicPr>
          <p:cNvPr id="77828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601392" y="1565672"/>
            <a:ext cx="5183981" cy="1971675"/>
          </a:xfrm>
          <a:noFill/>
        </p:spPr>
      </p:pic>
      <p:pic>
        <p:nvPicPr>
          <p:cNvPr id="7782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54969" y="3644505"/>
            <a:ext cx="4806554" cy="1863328"/>
          </a:xfrm>
          <a:noFill/>
        </p:spPr>
      </p:pic>
      <p:sp>
        <p:nvSpPr>
          <p:cNvPr id="77830" name="Line 7"/>
          <p:cNvSpPr>
            <a:spLocks noChangeShapeType="1"/>
          </p:cNvSpPr>
          <p:nvPr/>
        </p:nvSpPr>
        <p:spPr bwMode="auto">
          <a:xfrm flipV="1">
            <a:off x="2331244" y="1512095"/>
            <a:ext cx="1781175" cy="75604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</p:spPr>
        <p:txBody>
          <a:bodyPr/>
          <a:lstStyle/>
          <a:p>
            <a:pPr defTabSz="342900"/>
            <a:endParaRPr lang="en-US" sz="13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31" name="Text Box 8"/>
          <p:cNvSpPr txBox="1">
            <a:spLocks noChangeArrowheads="1"/>
          </p:cNvSpPr>
          <p:nvPr/>
        </p:nvSpPr>
        <p:spPr bwMode="auto">
          <a:xfrm>
            <a:off x="3950495" y="1107281"/>
            <a:ext cx="3240881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57175" indent="-257175" defTabSz="342900">
              <a:spcBef>
                <a:spcPct val="50000"/>
              </a:spcBef>
            </a:pPr>
            <a:r>
              <a:rPr lang="en-US" sz="1350">
                <a:solidFill>
                  <a:srgbClr val="3333CC"/>
                </a:solidFill>
                <a:latin typeface="Arial"/>
              </a:rPr>
              <a:t>Likely to overfit the data</a:t>
            </a:r>
          </a:p>
        </p:txBody>
      </p:sp>
    </p:spTree>
    <p:extLst>
      <p:ext uri="{BB962C8B-B14F-4D97-AF65-F5344CB8AC3E}">
        <p14:creationId xmlns:p14="http://schemas.microsoft.com/office/powerpoint/2010/main" val="270615835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4352C-6DC6-40D2-88F4-ECC47F62592D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81" y="76685"/>
            <a:ext cx="6172200" cy="628650"/>
          </a:xfrm>
        </p:spPr>
        <p:txBody>
          <a:bodyPr/>
          <a:lstStyle/>
          <a:p>
            <a:r>
              <a:rPr lang="en-US" altLang="zh-CN" sz="27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Ensemble</a:t>
            </a:r>
          </a:p>
        </p:txBody>
      </p:sp>
      <p:sp>
        <p:nvSpPr>
          <p:cNvPr id="379934" name="Text Box 30"/>
          <p:cNvSpPr txBox="1">
            <a:spLocks noChangeArrowheads="1"/>
          </p:cNvSpPr>
          <p:nvPr/>
        </p:nvSpPr>
        <p:spPr bwMode="auto">
          <a:xfrm>
            <a:off x="428625" y="5547505"/>
            <a:ext cx="52006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>
              <a:spcBef>
                <a:spcPct val="50000"/>
              </a:spcBef>
            </a:pPr>
            <a:r>
              <a:rPr lang="en-US" altLang="en-US" b="1" dirty="0">
                <a:solidFill>
                  <a:prstClr val="black"/>
                </a:solidFill>
              </a:rPr>
              <a:t>Applications: classification, clustering, collaborative filtering, anomaly detection……</a:t>
            </a:r>
          </a:p>
        </p:txBody>
      </p:sp>
      <p:sp>
        <p:nvSpPr>
          <p:cNvPr id="2" name="Rectangle 1"/>
          <p:cNvSpPr/>
          <p:nvPr/>
        </p:nvSpPr>
        <p:spPr>
          <a:xfrm>
            <a:off x="5039916" y="6356351"/>
            <a:ext cx="388920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altLang="zh-CN" sz="1350" dirty="0">
                <a:solidFill>
                  <a:prstClr val="black"/>
                </a:solidFill>
              </a:rPr>
              <a:t>http://ews.uiuc.edu/~jinggao3/sdm10ensemble.htm</a:t>
            </a:r>
            <a:endParaRPr lang="en-US" sz="1350" dirty="0">
              <a:solidFill>
                <a:prstClr val="black"/>
              </a:solidFill>
            </a:endParaRPr>
          </a:p>
        </p:txBody>
      </p:sp>
      <p:graphicFrame>
        <p:nvGraphicFramePr>
          <p:cNvPr id="2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210018" y="456053"/>
          <a:ext cx="6559835" cy="492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9740951" imgH="7320219" progId="Visio.Drawing.6">
                  <p:embed/>
                </p:oleObj>
              </mc:Choice>
              <mc:Fallback>
                <p:oleObj name="Visio" r:id="rId4" imgW="9740951" imgH="7320219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018" y="456053"/>
                        <a:ext cx="6559835" cy="492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5088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F211E6-8B53-4C70-9783-65A72CC5D47B}" type="slidenum">
              <a:rPr lang="en-US" altLang="zh-CN">
                <a:solidFill>
                  <a:srgbClr val="000000"/>
                </a:solidFill>
              </a:rPr>
              <a:pPr/>
              <a:t>25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735731" y="163630"/>
            <a:ext cx="6172200" cy="628650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Motivations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9311" y="1085247"/>
            <a:ext cx="7749540" cy="4229100"/>
          </a:xfrm>
        </p:spPr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Motivations of ensemble methods</a:t>
            </a:r>
          </a:p>
          <a:p>
            <a:pPr lvl="1"/>
            <a:r>
              <a:rPr lang="en-US" altLang="zh-CN" sz="2400" dirty="0"/>
              <a:t>Ensemble model improves accuracy and robustness over single model methods</a:t>
            </a:r>
          </a:p>
          <a:p>
            <a:pPr lvl="1"/>
            <a:r>
              <a:rPr lang="en-US" altLang="zh-CN" sz="2400" dirty="0"/>
              <a:t>Applications: </a:t>
            </a:r>
          </a:p>
          <a:p>
            <a:pPr lvl="2"/>
            <a:r>
              <a:rPr lang="en-US" altLang="zh-CN" sz="2400" dirty="0"/>
              <a:t>distributed computing </a:t>
            </a:r>
          </a:p>
          <a:p>
            <a:pPr lvl="2"/>
            <a:r>
              <a:rPr lang="en-US" altLang="zh-CN" sz="2400" dirty="0"/>
              <a:t>privacy-preserving applications </a:t>
            </a:r>
          </a:p>
          <a:p>
            <a:pPr lvl="2"/>
            <a:r>
              <a:rPr lang="en-US" altLang="zh-CN" sz="2400" dirty="0"/>
              <a:t>large-scale data with reusable models</a:t>
            </a:r>
          </a:p>
          <a:p>
            <a:pPr lvl="2"/>
            <a:r>
              <a:rPr lang="en-US" altLang="zh-CN" sz="2400" dirty="0"/>
              <a:t>multiple sources of data</a:t>
            </a:r>
          </a:p>
          <a:p>
            <a:pPr lvl="1"/>
            <a:r>
              <a:rPr lang="en-US" altLang="zh-CN" sz="2400" dirty="0"/>
              <a:t>Efficiency: a complex problem can be decomposed into multiple sub-problems that are easier to understand and solve (divide-and-conquer approach)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0335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2" name="Rectangle 9"/>
          <p:cNvSpPr>
            <a:spLocks noChangeArrowheads="1"/>
          </p:cNvSpPr>
          <p:nvPr/>
        </p:nvSpPr>
        <p:spPr bwMode="auto">
          <a:xfrm>
            <a:off x="5342021" y="6580832"/>
            <a:ext cx="501475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rgbClr val="000000"/>
                </a:solidFill>
                <a:latin typeface="Calibri" panose="020F0502020204030204" pitchFamily="34" charset="0"/>
              </a:rPr>
              <a:t>from</a:t>
            </a:r>
            <a:r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 T. Holloway, Introduction to Ensemble Learning, 2007.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07" y="0"/>
            <a:ext cx="8611788" cy="65038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754408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F95949-0C7B-45B1-A90A-BC0142172C7E}" type="slidenum">
              <a:rPr lang="en-US" altLang="zh-CN">
                <a:solidFill>
                  <a:srgbClr val="000000"/>
                </a:solidFill>
              </a:rPr>
              <a:pPr/>
              <a:t>27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208788"/>
            <a:ext cx="6172200" cy="628650"/>
          </a:xfrm>
        </p:spPr>
        <p:txBody>
          <a:bodyPr/>
          <a:lstStyle/>
          <a:p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Why Ensemble Works? (2)</a:t>
            </a:r>
          </a:p>
        </p:txBody>
      </p:sp>
      <p:grpSp>
        <p:nvGrpSpPr>
          <p:cNvPr id="388101" name="Group 5"/>
          <p:cNvGrpSpPr>
            <a:grpSpLocks/>
          </p:cNvGrpSpPr>
          <p:nvPr/>
        </p:nvGrpSpPr>
        <p:grpSpPr bwMode="auto">
          <a:xfrm>
            <a:off x="733734" y="1219500"/>
            <a:ext cx="8034127" cy="4763281"/>
            <a:chOff x="2971" y="2160"/>
            <a:chExt cx="4649" cy="2886"/>
          </a:xfrm>
        </p:grpSpPr>
        <p:grpSp>
          <p:nvGrpSpPr>
            <p:cNvPr id="388102" name="Group 6"/>
            <p:cNvGrpSpPr>
              <a:grpSpLocks/>
            </p:cNvGrpSpPr>
            <p:nvPr/>
          </p:nvGrpSpPr>
          <p:grpSpPr bwMode="auto">
            <a:xfrm>
              <a:off x="2971" y="2160"/>
              <a:ext cx="4649" cy="2886"/>
              <a:chOff x="521" y="890"/>
              <a:chExt cx="4649" cy="2886"/>
            </a:xfrm>
          </p:grpSpPr>
          <p:pic>
            <p:nvPicPr>
              <p:cNvPr id="388103" name="Picture 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1" y="890"/>
                <a:ext cx="4649" cy="2886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88104" name="Text Box 8"/>
              <p:cNvSpPr txBox="1">
                <a:spLocks noChangeArrowheads="1"/>
              </p:cNvSpPr>
              <p:nvPr/>
            </p:nvSpPr>
            <p:spPr bwMode="auto">
              <a:xfrm>
                <a:off x="612" y="1888"/>
                <a:ext cx="672" cy="2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35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Model 1</a:t>
                </a:r>
              </a:p>
            </p:txBody>
          </p:sp>
          <p:sp>
            <p:nvSpPr>
              <p:cNvPr id="388105" name="Text Box 9"/>
              <p:cNvSpPr txBox="1">
                <a:spLocks noChangeArrowheads="1"/>
              </p:cNvSpPr>
              <p:nvPr/>
            </p:nvSpPr>
            <p:spPr bwMode="auto">
              <a:xfrm>
                <a:off x="1292" y="2115"/>
                <a:ext cx="672" cy="2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35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Model 2</a:t>
                </a:r>
              </a:p>
            </p:txBody>
          </p:sp>
          <p:sp>
            <p:nvSpPr>
              <p:cNvPr id="388106" name="Text Box 10"/>
              <p:cNvSpPr txBox="1">
                <a:spLocks noChangeArrowheads="1"/>
              </p:cNvSpPr>
              <p:nvPr/>
            </p:nvSpPr>
            <p:spPr bwMode="auto">
              <a:xfrm>
                <a:off x="1837" y="1933"/>
                <a:ext cx="672" cy="2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35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Model 3</a:t>
                </a:r>
              </a:p>
            </p:txBody>
          </p:sp>
          <p:sp>
            <p:nvSpPr>
              <p:cNvPr id="388107" name="Text Box 11"/>
              <p:cNvSpPr txBox="1">
                <a:spLocks noChangeArrowheads="1"/>
              </p:cNvSpPr>
              <p:nvPr/>
            </p:nvSpPr>
            <p:spPr bwMode="auto">
              <a:xfrm>
                <a:off x="2653" y="2160"/>
                <a:ext cx="672" cy="2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00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35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Model 4</a:t>
                </a:r>
              </a:p>
            </p:txBody>
          </p:sp>
          <p:sp>
            <p:nvSpPr>
              <p:cNvPr id="388108" name="Text Box 12"/>
              <p:cNvSpPr txBox="1">
                <a:spLocks noChangeArrowheads="1"/>
              </p:cNvSpPr>
              <p:nvPr/>
            </p:nvSpPr>
            <p:spPr bwMode="auto">
              <a:xfrm>
                <a:off x="3334" y="1979"/>
                <a:ext cx="672" cy="2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35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Model 5</a:t>
                </a:r>
              </a:p>
            </p:txBody>
          </p:sp>
          <p:sp>
            <p:nvSpPr>
              <p:cNvPr id="388109" name="Text Box 13"/>
              <p:cNvSpPr txBox="1">
                <a:spLocks noChangeArrowheads="1"/>
              </p:cNvSpPr>
              <p:nvPr/>
            </p:nvSpPr>
            <p:spPr bwMode="auto">
              <a:xfrm>
                <a:off x="4468" y="1842"/>
                <a:ext cx="672" cy="2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35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Model 6</a:t>
                </a:r>
              </a:p>
            </p:txBody>
          </p:sp>
        </p:grpSp>
        <p:sp>
          <p:nvSpPr>
            <p:cNvPr id="388110" name="Text Box 14"/>
            <p:cNvSpPr txBox="1">
              <a:spLocks noChangeArrowheads="1"/>
            </p:cNvSpPr>
            <p:nvPr/>
          </p:nvSpPr>
          <p:spPr bwMode="auto">
            <a:xfrm>
              <a:off x="4649" y="2659"/>
              <a:ext cx="1900" cy="25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350">
                  <a:solidFill>
                    <a:srgbClr val="000000"/>
                  </a:solidFill>
                  <a:cs typeface="Times New Roman" panose="02020603050405020304" pitchFamily="18" charset="0"/>
                </a:rPr>
                <a:t>Some unknown distribution</a:t>
              </a:r>
            </a:p>
          </p:txBody>
        </p:sp>
      </p:grpSp>
      <p:sp>
        <p:nvSpPr>
          <p:cNvPr id="388111" name="Text Box 15"/>
          <p:cNvSpPr txBox="1">
            <a:spLocks noChangeArrowheads="1"/>
          </p:cNvSpPr>
          <p:nvPr/>
        </p:nvSpPr>
        <p:spPr bwMode="auto">
          <a:xfrm>
            <a:off x="1220825" y="6203331"/>
            <a:ext cx="497205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100" b="1" dirty="0">
                <a:solidFill>
                  <a:srgbClr val="FF0000"/>
                </a:solidFill>
                <a:latin typeface="Comic Sans MS" panose="030F0702030302020204" pitchFamily="66" charset="0"/>
              </a:rPr>
              <a:t>Ensemble gives the global picture!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2022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898FDC-802A-4C30-A34A-7DB38F9EE662}" type="slidenum">
              <a:rPr lang="en-US" altLang="zh-CN">
                <a:solidFill>
                  <a:srgbClr val="000000"/>
                </a:solidFill>
              </a:rPr>
              <a:pPr/>
              <a:t>28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285750"/>
            <a:ext cx="6172200" cy="628650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Ensemble of Classifiers—Learn to Combine</a:t>
            </a:r>
          </a:p>
        </p:txBody>
      </p:sp>
      <p:sp>
        <p:nvSpPr>
          <p:cNvPr id="449539" name="AutoShape 3"/>
          <p:cNvSpPr>
            <a:spLocks noChangeArrowheads="1"/>
          </p:cNvSpPr>
          <p:nvPr/>
        </p:nvSpPr>
        <p:spPr bwMode="auto">
          <a:xfrm>
            <a:off x="1485900" y="2800350"/>
            <a:ext cx="1257300" cy="571500"/>
          </a:xfrm>
          <a:prstGeom prst="flowChartOnlineStorag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labeled 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449540" name="AutoShape 4"/>
          <p:cNvSpPr>
            <a:spLocks noChangeArrowheads="1"/>
          </p:cNvSpPr>
          <p:nvPr/>
        </p:nvSpPr>
        <p:spPr bwMode="auto">
          <a:xfrm>
            <a:off x="5715000" y="2743200"/>
            <a:ext cx="1257300" cy="571500"/>
          </a:xfrm>
          <a:prstGeom prst="flowChartOnlineStorag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unlabeled 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data</a:t>
            </a:r>
          </a:p>
        </p:txBody>
      </p:sp>
      <p:pic>
        <p:nvPicPr>
          <p:cNvPr id="449541" name="Picture 5" descr="MCj0237945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1" y="1943100"/>
            <a:ext cx="540544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9542" name="AutoShape 6"/>
          <p:cNvCxnSpPr>
            <a:cxnSpLocks noChangeShapeType="1"/>
            <a:stCxn id="449539" idx="3"/>
            <a:endCxn id="449541" idx="1"/>
          </p:cNvCxnSpPr>
          <p:nvPr/>
        </p:nvCxnSpPr>
        <p:spPr bwMode="auto">
          <a:xfrm flipV="1">
            <a:off x="2533650" y="2166937"/>
            <a:ext cx="723900" cy="919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9543" name="Picture 7" descr="MCj0237945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1" y="2695575"/>
            <a:ext cx="540544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9544" name="Picture 8" descr="MCj0237945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1" y="4229100"/>
            <a:ext cx="540544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9545" name="Picture 9" descr="MCj03107460000[1]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2686050"/>
            <a:ext cx="467916" cy="68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9546" name="AutoShape 10"/>
          <p:cNvCxnSpPr>
            <a:cxnSpLocks noChangeShapeType="1"/>
            <a:stCxn id="449539" idx="3"/>
            <a:endCxn id="449543" idx="1"/>
          </p:cNvCxnSpPr>
          <p:nvPr/>
        </p:nvCxnSpPr>
        <p:spPr bwMode="auto">
          <a:xfrm flipV="1">
            <a:off x="2533650" y="2919412"/>
            <a:ext cx="723900" cy="166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9547" name="Text Box 11"/>
          <p:cNvSpPr txBox="1">
            <a:spLocks noChangeArrowheads="1"/>
          </p:cNvSpPr>
          <p:nvPr/>
        </p:nvSpPr>
        <p:spPr bwMode="auto">
          <a:xfrm>
            <a:off x="3200400" y="3486151"/>
            <a:ext cx="6286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……</a:t>
            </a:r>
          </a:p>
        </p:txBody>
      </p:sp>
      <p:cxnSp>
        <p:nvCxnSpPr>
          <p:cNvPr id="449548" name="AutoShape 12"/>
          <p:cNvCxnSpPr>
            <a:cxnSpLocks noChangeShapeType="1"/>
            <a:stCxn id="449539" idx="3"/>
            <a:endCxn id="449547" idx="1"/>
          </p:cNvCxnSpPr>
          <p:nvPr/>
        </p:nvCxnSpPr>
        <p:spPr bwMode="auto">
          <a:xfrm>
            <a:off x="2533650" y="3086100"/>
            <a:ext cx="666750" cy="55009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49" name="AutoShape 13"/>
          <p:cNvCxnSpPr>
            <a:cxnSpLocks noChangeShapeType="1"/>
            <a:stCxn id="449539" idx="3"/>
            <a:endCxn id="449544" idx="1"/>
          </p:cNvCxnSpPr>
          <p:nvPr/>
        </p:nvCxnSpPr>
        <p:spPr bwMode="auto">
          <a:xfrm>
            <a:off x="2533650" y="3086100"/>
            <a:ext cx="781050" cy="1366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0" name="AutoShape 14"/>
          <p:cNvCxnSpPr>
            <a:cxnSpLocks noChangeShapeType="1"/>
            <a:stCxn id="449541" idx="3"/>
            <a:endCxn id="449545" idx="1"/>
          </p:cNvCxnSpPr>
          <p:nvPr/>
        </p:nvCxnSpPr>
        <p:spPr bwMode="auto">
          <a:xfrm>
            <a:off x="3798095" y="2166937"/>
            <a:ext cx="888206" cy="8632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1" name="AutoShape 15"/>
          <p:cNvCxnSpPr>
            <a:cxnSpLocks noChangeShapeType="1"/>
            <a:stCxn id="449543" idx="3"/>
            <a:endCxn id="449545" idx="1"/>
          </p:cNvCxnSpPr>
          <p:nvPr/>
        </p:nvCxnSpPr>
        <p:spPr bwMode="auto">
          <a:xfrm>
            <a:off x="3798095" y="2919412"/>
            <a:ext cx="888206" cy="11072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2" name="AutoShape 16"/>
          <p:cNvCxnSpPr>
            <a:cxnSpLocks noChangeShapeType="1"/>
            <a:stCxn id="449547" idx="3"/>
            <a:endCxn id="449545" idx="1"/>
          </p:cNvCxnSpPr>
          <p:nvPr/>
        </p:nvCxnSpPr>
        <p:spPr bwMode="auto">
          <a:xfrm flipV="1">
            <a:off x="3829050" y="3029546"/>
            <a:ext cx="857250" cy="60664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3" name="AutoShape 17"/>
          <p:cNvCxnSpPr>
            <a:cxnSpLocks noChangeShapeType="1"/>
            <a:stCxn id="449544" idx="3"/>
            <a:endCxn id="449545" idx="1"/>
          </p:cNvCxnSpPr>
          <p:nvPr/>
        </p:nvCxnSpPr>
        <p:spPr bwMode="auto">
          <a:xfrm flipV="1">
            <a:off x="3855245" y="3030141"/>
            <a:ext cx="831056" cy="142279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4" name="AutoShape 18"/>
          <p:cNvCxnSpPr>
            <a:cxnSpLocks noChangeShapeType="1"/>
            <a:stCxn id="449545" idx="3"/>
            <a:endCxn id="449540" idx="1"/>
          </p:cNvCxnSpPr>
          <p:nvPr/>
        </p:nvCxnSpPr>
        <p:spPr bwMode="auto">
          <a:xfrm flipV="1">
            <a:off x="5154216" y="3028950"/>
            <a:ext cx="560784" cy="11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9555" name="Text Box 19"/>
          <p:cNvSpPr txBox="1">
            <a:spLocks noChangeArrowheads="1"/>
          </p:cNvSpPr>
          <p:nvPr/>
        </p:nvSpPr>
        <p:spPr bwMode="auto">
          <a:xfrm>
            <a:off x="5829300" y="4114801"/>
            <a:ext cx="1028700" cy="611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final </a:t>
            </a:r>
          </a:p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predictions</a:t>
            </a:r>
          </a:p>
        </p:txBody>
      </p:sp>
      <p:cxnSp>
        <p:nvCxnSpPr>
          <p:cNvPr id="449556" name="AutoShape 20"/>
          <p:cNvCxnSpPr>
            <a:cxnSpLocks noChangeShapeType="1"/>
            <a:stCxn id="449540" idx="2"/>
            <a:endCxn id="449555" idx="0"/>
          </p:cNvCxnSpPr>
          <p:nvPr/>
        </p:nvCxnSpPr>
        <p:spPr bwMode="auto">
          <a:xfrm>
            <a:off x="6343650" y="3314700"/>
            <a:ext cx="0" cy="80010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9557" name="AutoShape 21"/>
          <p:cNvCxnSpPr>
            <a:cxnSpLocks noChangeShapeType="1"/>
            <a:stCxn id="449539" idx="2"/>
            <a:endCxn id="449545" idx="2"/>
          </p:cNvCxnSpPr>
          <p:nvPr/>
        </p:nvCxnSpPr>
        <p:spPr bwMode="auto">
          <a:xfrm rot="16200000" flipH="1">
            <a:off x="3517106" y="1969294"/>
            <a:ext cx="1191" cy="2806304"/>
          </a:xfrm>
          <a:prstGeom prst="curvedConnector3">
            <a:avLst>
              <a:gd name="adj1" fmla="val 1281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9558" name="Text Box 22"/>
          <p:cNvSpPr txBox="1">
            <a:spLocks noChangeArrowheads="1"/>
          </p:cNvSpPr>
          <p:nvPr/>
        </p:nvSpPr>
        <p:spPr bwMode="auto">
          <a:xfrm>
            <a:off x="1943100" y="4857751"/>
            <a:ext cx="35433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learn the combination from labeled data</a:t>
            </a:r>
          </a:p>
        </p:txBody>
      </p:sp>
      <p:sp>
        <p:nvSpPr>
          <p:cNvPr id="449559" name="Line 23"/>
          <p:cNvSpPr>
            <a:spLocks noChangeShapeType="1"/>
          </p:cNvSpPr>
          <p:nvPr/>
        </p:nvSpPr>
        <p:spPr bwMode="auto">
          <a:xfrm rot="5400000">
            <a:off x="3429596" y="3428405"/>
            <a:ext cx="411361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</a:endParaRPr>
          </a:p>
        </p:txBody>
      </p:sp>
      <p:sp>
        <p:nvSpPr>
          <p:cNvPr id="449560" name="Text Box 24"/>
          <p:cNvSpPr txBox="1">
            <a:spLocks noChangeArrowheads="1"/>
          </p:cNvSpPr>
          <p:nvPr/>
        </p:nvSpPr>
        <p:spPr bwMode="auto">
          <a:xfrm>
            <a:off x="2857500" y="1543051"/>
            <a:ext cx="13144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449561" name="Text Box 25"/>
          <p:cNvSpPr txBox="1">
            <a:spLocks noChangeArrowheads="1"/>
          </p:cNvSpPr>
          <p:nvPr/>
        </p:nvSpPr>
        <p:spPr bwMode="auto">
          <a:xfrm>
            <a:off x="5829300" y="1543051"/>
            <a:ext cx="13144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449562" name="Text Box 26"/>
          <p:cNvSpPr txBox="1">
            <a:spLocks noChangeArrowheads="1"/>
          </p:cNvSpPr>
          <p:nvPr/>
        </p:nvSpPr>
        <p:spPr bwMode="auto">
          <a:xfrm>
            <a:off x="2800350" y="2343151"/>
            <a:ext cx="14287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classifier 1</a:t>
            </a:r>
          </a:p>
        </p:txBody>
      </p:sp>
      <p:sp>
        <p:nvSpPr>
          <p:cNvPr id="449563" name="Text Box 27"/>
          <p:cNvSpPr txBox="1">
            <a:spLocks noChangeArrowheads="1"/>
          </p:cNvSpPr>
          <p:nvPr/>
        </p:nvSpPr>
        <p:spPr bwMode="auto">
          <a:xfrm>
            <a:off x="2800350" y="3039666"/>
            <a:ext cx="14287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classifier 2</a:t>
            </a:r>
          </a:p>
        </p:txBody>
      </p:sp>
      <p:sp>
        <p:nvSpPr>
          <p:cNvPr id="449564" name="Text Box 28"/>
          <p:cNvSpPr txBox="1">
            <a:spLocks noChangeArrowheads="1"/>
          </p:cNvSpPr>
          <p:nvPr/>
        </p:nvSpPr>
        <p:spPr bwMode="auto">
          <a:xfrm>
            <a:off x="2800350" y="4068366"/>
            <a:ext cx="14287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classifier k</a:t>
            </a:r>
          </a:p>
        </p:txBody>
      </p:sp>
      <p:sp>
        <p:nvSpPr>
          <p:cNvPr id="449565" name="Text Box 29"/>
          <p:cNvSpPr txBox="1">
            <a:spLocks noChangeArrowheads="1"/>
          </p:cNvSpPr>
          <p:nvPr/>
        </p:nvSpPr>
        <p:spPr bwMode="auto">
          <a:xfrm>
            <a:off x="4114800" y="2457451"/>
            <a:ext cx="142875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Ensemble model</a:t>
            </a:r>
          </a:p>
        </p:txBody>
      </p:sp>
      <p:sp>
        <p:nvSpPr>
          <p:cNvPr id="449566" name="Text Box 30"/>
          <p:cNvSpPr txBox="1">
            <a:spLocks noChangeArrowheads="1"/>
          </p:cNvSpPr>
          <p:nvPr/>
        </p:nvSpPr>
        <p:spPr bwMode="auto">
          <a:xfrm>
            <a:off x="1771650" y="5429251"/>
            <a:ext cx="520065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Algorithms: boosting, stacked generalization, rule ensemble, Bayesian model averaging……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877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0" grpId="0" animBg="1"/>
      <p:bldP spid="449555" grpId="0"/>
      <p:bldP spid="449558" grpId="0"/>
      <p:bldP spid="449559" grpId="0" animBg="1"/>
      <p:bldP spid="449561" grpId="0"/>
      <p:bldP spid="449565" grpId="0"/>
      <p:bldP spid="4495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01BC4E-75CE-4692-B122-B5B9E9BA847A}" type="slidenum">
              <a:rPr lang="en-US" altLang="zh-CN">
                <a:solidFill>
                  <a:srgbClr val="000000"/>
                </a:solidFill>
              </a:rPr>
              <a:pPr/>
              <a:t>29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285750"/>
            <a:ext cx="6172200" cy="628650"/>
          </a:xfrm>
        </p:spPr>
        <p:txBody>
          <a:bodyPr/>
          <a:lstStyle/>
          <a:p>
            <a:r>
              <a:rPr lang="en-US" altLang="zh-CN" sz="27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Ensemble of Classifiers—Consensus</a:t>
            </a:r>
          </a:p>
        </p:txBody>
      </p:sp>
      <p:sp>
        <p:nvSpPr>
          <p:cNvPr id="451587" name="AutoShape 3"/>
          <p:cNvSpPr>
            <a:spLocks noChangeArrowheads="1"/>
          </p:cNvSpPr>
          <p:nvPr/>
        </p:nvSpPr>
        <p:spPr bwMode="auto">
          <a:xfrm>
            <a:off x="1485900" y="2800350"/>
            <a:ext cx="1257300" cy="571500"/>
          </a:xfrm>
          <a:prstGeom prst="flowChartOnlineStorag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labeled 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451588" name="AutoShape 4"/>
          <p:cNvSpPr>
            <a:spLocks noChangeArrowheads="1"/>
          </p:cNvSpPr>
          <p:nvPr/>
        </p:nvSpPr>
        <p:spPr bwMode="auto">
          <a:xfrm>
            <a:off x="4514850" y="2743200"/>
            <a:ext cx="1257300" cy="571500"/>
          </a:xfrm>
          <a:prstGeom prst="flowChartOnlineStorag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unlabeled 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data</a:t>
            </a:r>
          </a:p>
        </p:txBody>
      </p:sp>
      <p:pic>
        <p:nvPicPr>
          <p:cNvPr id="451589" name="Picture 5" descr="MCj0237945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1" y="1943100"/>
            <a:ext cx="540544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1590" name="AutoShape 6"/>
          <p:cNvCxnSpPr>
            <a:cxnSpLocks noChangeShapeType="1"/>
            <a:stCxn id="451587" idx="3"/>
            <a:endCxn id="451589" idx="1"/>
          </p:cNvCxnSpPr>
          <p:nvPr/>
        </p:nvCxnSpPr>
        <p:spPr bwMode="auto">
          <a:xfrm flipV="1">
            <a:off x="2533650" y="2166937"/>
            <a:ext cx="723900" cy="919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51591" name="Picture 7" descr="MCj0237945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1" y="2695575"/>
            <a:ext cx="540544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1592" name="Picture 8" descr="MCj0237945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1" y="4229100"/>
            <a:ext cx="540544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1593" name="AutoShape 9"/>
          <p:cNvCxnSpPr>
            <a:cxnSpLocks noChangeShapeType="1"/>
            <a:stCxn id="451587" idx="3"/>
            <a:endCxn id="451591" idx="1"/>
          </p:cNvCxnSpPr>
          <p:nvPr/>
        </p:nvCxnSpPr>
        <p:spPr bwMode="auto">
          <a:xfrm flipV="1">
            <a:off x="2533650" y="2919412"/>
            <a:ext cx="723900" cy="1666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1594" name="Text Box 10"/>
          <p:cNvSpPr txBox="1">
            <a:spLocks noChangeArrowheads="1"/>
          </p:cNvSpPr>
          <p:nvPr/>
        </p:nvSpPr>
        <p:spPr bwMode="auto">
          <a:xfrm>
            <a:off x="3200400" y="3486151"/>
            <a:ext cx="6286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……</a:t>
            </a:r>
          </a:p>
        </p:txBody>
      </p:sp>
      <p:cxnSp>
        <p:nvCxnSpPr>
          <p:cNvPr id="451595" name="AutoShape 11"/>
          <p:cNvCxnSpPr>
            <a:cxnSpLocks noChangeShapeType="1"/>
            <a:stCxn id="451587" idx="3"/>
            <a:endCxn id="451594" idx="1"/>
          </p:cNvCxnSpPr>
          <p:nvPr/>
        </p:nvCxnSpPr>
        <p:spPr bwMode="auto">
          <a:xfrm>
            <a:off x="2533650" y="3086100"/>
            <a:ext cx="666750" cy="55009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1596" name="AutoShape 12"/>
          <p:cNvCxnSpPr>
            <a:cxnSpLocks noChangeShapeType="1"/>
            <a:stCxn id="451587" idx="3"/>
            <a:endCxn id="451592" idx="1"/>
          </p:cNvCxnSpPr>
          <p:nvPr/>
        </p:nvCxnSpPr>
        <p:spPr bwMode="auto">
          <a:xfrm>
            <a:off x="2533650" y="3086100"/>
            <a:ext cx="781050" cy="1366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1597" name="Text Box 13"/>
          <p:cNvSpPr txBox="1">
            <a:spLocks noChangeArrowheads="1"/>
          </p:cNvSpPr>
          <p:nvPr/>
        </p:nvSpPr>
        <p:spPr bwMode="auto">
          <a:xfrm>
            <a:off x="6629400" y="4286251"/>
            <a:ext cx="1028700" cy="611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final </a:t>
            </a:r>
          </a:p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predictions</a:t>
            </a:r>
          </a:p>
        </p:txBody>
      </p:sp>
      <p:sp>
        <p:nvSpPr>
          <p:cNvPr id="451598" name="Line 14"/>
          <p:cNvSpPr>
            <a:spLocks noChangeShapeType="1"/>
          </p:cNvSpPr>
          <p:nvPr/>
        </p:nvSpPr>
        <p:spPr bwMode="auto">
          <a:xfrm rot="5400000">
            <a:off x="2228850" y="34290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</a:endParaRPr>
          </a:p>
        </p:txBody>
      </p:sp>
      <p:sp>
        <p:nvSpPr>
          <p:cNvPr id="451599" name="Text Box 15"/>
          <p:cNvSpPr txBox="1">
            <a:spLocks noChangeArrowheads="1"/>
          </p:cNvSpPr>
          <p:nvPr/>
        </p:nvSpPr>
        <p:spPr bwMode="auto">
          <a:xfrm>
            <a:off x="2857500" y="1543051"/>
            <a:ext cx="13144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451600" name="Text Box 16"/>
          <p:cNvSpPr txBox="1">
            <a:spLocks noChangeArrowheads="1"/>
          </p:cNvSpPr>
          <p:nvPr/>
        </p:nvSpPr>
        <p:spPr bwMode="auto">
          <a:xfrm>
            <a:off x="5829300" y="1543051"/>
            <a:ext cx="13144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451601" name="Text Box 17"/>
          <p:cNvSpPr txBox="1">
            <a:spLocks noChangeArrowheads="1"/>
          </p:cNvSpPr>
          <p:nvPr/>
        </p:nvSpPr>
        <p:spPr bwMode="auto">
          <a:xfrm>
            <a:off x="2800350" y="2343151"/>
            <a:ext cx="14287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classifier 1</a:t>
            </a:r>
          </a:p>
        </p:txBody>
      </p:sp>
      <p:sp>
        <p:nvSpPr>
          <p:cNvPr id="451602" name="Text Box 18"/>
          <p:cNvSpPr txBox="1">
            <a:spLocks noChangeArrowheads="1"/>
          </p:cNvSpPr>
          <p:nvPr/>
        </p:nvSpPr>
        <p:spPr bwMode="auto">
          <a:xfrm>
            <a:off x="2800350" y="3039666"/>
            <a:ext cx="14287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classifier 2</a:t>
            </a:r>
          </a:p>
        </p:txBody>
      </p:sp>
      <p:sp>
        <p:nvSpPr>
          <p:cNvPr id="451603" name="Text Box 19"/>
          <p:cNvSpPr txBox="1">
            <a:spLocks noChangeArrowheads="1"/>
          </p:cNvSpPr>
          <p:nvPr/>
        </p:nvSpPr>
        <p:spPr bwMode="auto">
          <a:xfrm>
            <a:off x="2800350" y="4068366"/>
            <a:ext cx="14287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classifier k</a:t>
            </a:r>
          </a:p>
        </p:txBody>
      </p:sp>
      <p:cxnSp>
        <p:nvCxnSpPr>
          <p:cNvPr id="451604" name="AutoShape 20"/>
          <p:cNvCxnSpPr>
            <a:cxnSpLocks noChangeShapeType="1"/>
            <a:stCxn id="451589" idx="3"/>
            <a:endCxn id="451588" idx="1"/>
          </p:cNvCxnSpPr>
          <p:nvPr/>
        </p:nvCxnSpPr>
        <p:spPr bwMode="auto">
          <a:xfrm>
            <a:off x="3798095" y="2166937"/>
            <a:ext cx="716756" cy="8620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1605" name="AutoShape 21"/>
          <p:cNvCxnSpPr>
            <a:cxnSpLocks noChangeShapeType="1"/>
            <a:stCxn id="451591" idx="3"/>
          </p:cNvCxnSpPr>
          <p:nvPr/>
        </p:nvCxnSpPr>
        <p:spPr bwMode="auto">
          <a:xfrm>
            <a:off x="3798095" y="2919412"/>
            <a:ext cx="659606" cy="52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1606" name="AutoShape 22"/>
          <p:cNvCxnSpPr>
            <a:cxnSpLocks noChangeShapeType="1"/>
            <a:stCxn id="451594" idx="3"/>
            <a:endCxn id="451588" idx="1"/>
          </p:cNvCxnSpPr>
          <p:nvPr/>
        </p:nvCxnSpPr>
        <p:spPr bwMode="auto">
          <a:xfrm flipV="1">
            <a:off x="3829050" y="3028950"/>
            <a:ext cx="685800" cy="60724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1607" name="AutoShape 23"/>
          <p:cNvCxnSpPr>
            <a:cxnSpLocks noChangeShapeType="1"/>
            <a:stCxn id="451592" idx="3"/>
            <a:endCxn id="451588" idx="1"/>
          </p:cNvCxnSpPr>
          <p:nvPr/>
        </p:nvCxnSpPr>
        <p:spPr bwMode="auto">
          <a:xfrm flipV="1">
            <a:off x="3855245" y="3028950"/>
            <a:ext cx="659606" cy="1423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1608" name="Text Box 24"/>
          <p:cNvSpPr txBox="1">
            <a:spLocks noChangeArrowheads="1"/>
          </p:cNvSpPr>
          <p:nvPr/>
        </p:nvSpPr>
        <p:spPr bwMode="auto">
          <a:xfrm>
            <a:off x="6800850" y="2868216"/>
            <a:ext cx="10287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451609" name="Text Box 25"/>
          <p:cNvSpPr txBox="1">
            <a:spLocks noChangeArrowheads="1"/>
          </p:cNvSpPr>
          <p:nvPr/>
        </p:nvSpPr>
        <p:spPr bwMode="auto">
          <a:xfrm>
            <a:off x="6515100" y="2686050"/>
            <a:ext cx="12573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000000"/>
                </a:solidFill>
              </a:rPr>
              <a:t>combine the predictions by majority voting</a:t>
            </a:r>
          </a:p>
        </p:txBody>
      </p:sp>
      <p:cxnSp>
        <p:nvCxnSpPr>
          <p:cNvPr id="451610" name="AutoShape 26"/>
          <p:cNvCxnSpPr>
            <a:cxnSpLocks noChangeShapeType="1"/>
            <a:stCxn id="451609" idx="2"/>
            <a:endCxn id="451597" idx="0"/>
          </p:cNvCxnSpPr>
          <p:nvPr/>
        </p:nvCxnSpPr>
        <p:spPr bwMode="auto">
          <a:xfrm>
            <a:off x="7143750" y="3609380"/>
            <a:ext cx="0" cy="6768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1611" name="AutoShape 27"/>
          <p:cNvCxnSpPr>
            <a:cxnSpLocks noChangeShapeType="1"/>
            <a:stCxn id="451588" idx="3"/>
          </p:cNvCxnSpPr>
          <p:nvPr/>
        </p:nvCxnSpPr>
        <p:spPr bwMode="auto">
          <a:xfrm flipV="1">
            <a:off x="5562600" y="2171700"/>
            <a:ext cx="895350" cy="857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1612" name="AutoShape 28"/>
          <p:cNvCxnSpPr>
            <a:cxnSpLocks noChangeShapeType="1"/>
            <a:stCxn id="451588" idx="3"/>
          </p:cNvCxnSpPr>
          <p:nvPr/>
        </p:nvCxnSpPr>
        <p:spPr bwMode="auto">
          <a:xfrm flipV="1">
            <a:off x="5562600" y="2914650"/>
            <a:ext cx="781050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1613" name="AutoShape 29"/>
          <p:cNvCxnSpPr>
            <a:cxnSpLocks noChangeShapeType="1"/>
            <a:stCxn id="451588" idx="3"/>
          </p:cNvCxnSpPr>
          <p:nvPr/>
        </p:nvCxnSpPr>
        <p:spPr bwMode="auto">
          <a:xfrm>
            <a:off x="5562600" y="3028950"/>
            <a:ext cx="723900" cy="628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1614" name="AutoShape 30"/>
          <p:cNvCxnSpPr>
            <a:cxnSpLocks noChangeShapeType="1"/>
            <a:stCxn id="451588" idx="3"/>
          </p:cNvCxnSpPr>
          <p:nvPr/>
        </p:nvCxnSpPr>
        <p:spPr bwMode="auto">
          <a:xfrm>
            <a:off x="5562600" y="3028950"/>
            <a:ext cx="552450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1615" name="Text Box 31"/>
          <p:cNvSpPr txBox="1">
            <a:spLocks noChangeArrowheads="1"/>
          </p:cNvSpPr>
          <p:nvPr/>
        </p:nvSpPr>
        <p:spPr bwMode="auto">
          <a:xfrm>
            <a:off x="381000" y="5602069"/>
            <a:ext cx="84473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</a:rPr>
              <a:t>Algorithms: bagging, random forest, random decision tree, model averaging of probabilities……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9310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8" grpId="0" animBg="1"/>
      <p:bldP spid="451597" grpId="0"/>
      <p:bldP spid="451598" grpId="0" animBg="1"/>
      <p:bldP spid="451600" grpId="0"/>
      <p:bldP spid="451609" grpId="0"/>
      <p:bldP spid="4516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6BFE21-DF42-45F3-A2DA-58ABD9A2F46C}" type="slidenum">
              <a:rPr lang="en-US" altLang="zh-CN">
                <a:solidFill>
                  <a:srgbClr val="000000"/>
                </a:solidFill>
              </a:rPr>
              <a:pPr/>
              <a:t>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4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85725"/>
            <a:ext cx="6172200" cy="628650"/>
          </a:xfrm>
        </p:spPr>
        <p:txBody>
          <a:bodyPr/>
          <a:lstStyle/>
          <a:p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Bias and Variance</a:t>
            </a:r>
          </a:p>
        </p:txBody>
      </p:sp>
      <p:sp>
        <p:nvSpPr>
          <p:cNvPr id="94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972766"/>
            <a:ext cx="6515100" cy="1085850"/>
          </a:xfrm>
        </p:spPr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Ensemble methods</a:t>
            </a:r>
          </a:p>
          <a:p>
            <a:pPr lvl="1"/>
            <a:r>
              <a:rPr lang="en-US" altLang="zh-CN" dirty="0"/>
              <a:t>Combine learners to reduce variance</a:t>
            </a:r>
          </a:p>
          <a:p>
            <a:pPr lvl="1"/>
            <a:endParaRPr lang="en-US" altLang="zh-CN" dirty="0"/>
          </a:p>
          <a:p>
            <a:pPr>
              <a:buFontTx/>
              <a:buNone/>
            </a:pPr>
            <a:endParaRPr lang="en-US" altLang="zh-CN" dirty="0"/>
          </a:p>
        </p:txBody>
      </p:sp>
      <p:pic>
        <p:nvPicPr>
          <p:cNvPr id="94925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51" y="1968613"/>
            <a:ext cx="6278808" cy="427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9253" name="AutoShape 5"/>
          <p:cNvSpPr>
            <a:spLocks noChangeArrowheads="1"/>
          </p:cNvSpPr>
          <p:nvPr/>
        </p:nvSpPr>
        <p:spPr bwMode="auto">
          <a:xfrm>
            <a:off x="4134255" y="4614559"/>
            <a:ext cx="1143000" cy="171450"/>
          </a:xfrm>
          <a:prstGeom prst="leftArrow">
            <a:avLst>
              <a:gd name="adj1" fmla="val 50000"/>
              <a:gd name="adj2" fmla="val 166667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</a:endParaRPr>
          </a:p>
        </p:txBody>
      </p:sp>
      <p:sp>
        <p:nvSpPr>
          <p:cNvPr id="949254" name="Rectangle 4"/>
          <p:cNvSpPr>
            <a:spLocks noChangeArrowheads="1"/>
          </p:cNvSpPr>
          <p:nvPr/>
        </p:nvSpPr>
        <p:spPr bwMode="auto">
          <a:xfrm>
            <a:off x="407345" y="6366860"/>
            <a:ext cx="744773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i="1" dirty="0">
                <a:solidFill>
                  <a:srgbClr val="000000"/>
                </a:solidFill>
                <a:latin typeface="Calibri" panose="020F0502020204030204" pitchFamily="34" charset="0"/>
              </a:rPr>
              <a:t>from</a:t>
            </a:r>
            <a:r>
              <a:rPr lang="en-US" altLang="en-US" sz="1350" dirty="0">
                <a:solidFill>
                  <a:srgbClr val="000000"/>
                </a:solidFill>
                <a:latin typeface="Calibri" panose="020F0502020204030204" pitchFamily="34" charset="0"/>
              </a:rPr>
              <a:t> Elder, John.  From Trees to Forests and Rule Sets - A Unified Overview of Ensemble Methods.  2007.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683048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1C068D-4632-4E18-AB45-5E27A0217608}" type="slidenum">
              <a:rPr lang="en-US" altLang="zh-CN">
                <a:solidFill>
                  <a:srgbClr val="000000"/>
                </a:solidFill>
              </a:rPr>
              <a:pPr/>
              <a:t>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5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38246" y="305001"/>
            <a:ext cx="6172200" cy="628650"/>
          </a:xfrm>
        </p:spPr>
        <p:txBody>
          <a:bodyPr/>
          <a:lstStyle/>
          <a:p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Generating Base Classifiers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3204" y="1491343"/>
            <a:ext cx="7787396" cy="33718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C0000"/>
                </a:solidFill>
              </a:rPr>
              <a:t>Sampling training examples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Train k classifiers on k subsets drawn from the training set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C0000"/>
                </a:solidFill>
              </a:rPr>
              <a:t>Using different learning models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Use all the training examples, but apply different learning algorithms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C0000"/>
                </a:solidFill>
              </a:rPr>
              <a:t>Sampling features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Train k classifiers on k subsets of features drawn from the feature space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C0000"/>
                </a:solidFill>
              </a:rPr>
              <a:t>Learning “randomly”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Introduce randomness into learning procedures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6211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F2B2A-1C07-47AE-8943-27E64269643A}" type="slidenum">
              <a:rPr lang="en-US" altLang="zh-CN" smtClean="0">
                <a:solidFill>
                  <a:srgbClr val="000000"/>
                </a:solidFill>
              </a:rPr>
              <a:pPr/>
              <a:t>32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82"/>
            <a:ext cx="9028497" cy="64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9747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09" y="454204"/>
            <a:ext cx="8523924" cy="58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1858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F2B2A-1C07-47AE-8943-27E64269643A}" type="slidenum">
              <a:rPr lang="en-US" altLang="zh-CN" smtClean="0">
                <a:solidFill>
                  <a:srgbClr val="000000"/>
                </a:solidFill>
              </a:rPr>
              <a:pPr/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89" y="371279"/>
            <a:ext cx="7415821" cy="611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4381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/>
              <a:t>Random forest classifier</a:t>
            </a:r>
          </a:p>
        </p:txBody>
      </p:sp>
      <p:sp>
        <p:nvSpPr>
          <p:cNvPr id="13824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Random forest classifier, an extension to bagging which uses </a:t>
            </a:r>
            <a:r>
              <a:rPr lang="en-US" i="1"/>
              <a:t>de-correlated </a:t>
            </a:r>
            <a:r>
              <a:rPr lang="en-US"/>
              <a:t>trees.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63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4000"/>
              <a:t>Random Forest Classifier</a:t>
            </a:r>
          </a:p>
        </p:txBody>
      </p:sp>
      <p:sp>
        <p:nvSpPr>
          <p:cNvPr id="139267" name="Text Box 3"/>
          <p:cNvSpPr txBox="1">
            <a:spLocks noChangeArrowheads="1"/>
          </p:cNvSpPr>
          <p:nvPr/>
        </p:nvSpPr>
        <p:spPr bwMode="auto">
          <a:xfrm rot="-5400000">
            <a:off x="-659606" y="3226594"/>
            <a:ext cx="162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N examples</a:t>
            </a:r>
          </a:p>
        </p:txBody>
      </p:sp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7938" y="1398588"/>
            <a:ext cx="2168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000000"/>
                </a:solidFill>
                <a:latin typeface="Calibri" pitchFamily="34" charset="0"/>
              </a:rPr>
              <a:t>Training Data</a:t>
            </a:r>
          </a:p>
        </p:txBody>
      </p:sp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442913" y="2895600"/>
            <a:ext cx="1143000" cy="914400"/>
          </a:xfrm>
          <a:prstGeom prst="rect">
            <a:avLst/>
          </a:prstGeom>
          <a:solidFill>
            <a:srgbClr val="ECAB2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9270" name="Text Box 6"/>
          <p:cNvSpPr txBox="1">
            <a:spLocks noChangeArrowheads="1"/>
          </p:cNvSpPr>
          <p:nvPr/>
        </p:nvSpPr>
        <p:spPr bwMode="auto">
          <a:xfrm>
            <a:off x="239713" y="2286000"/>
            <a:ext cx="1544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M features</a:t>
            </a:r>
          </a:p>
        </p:txBody>
      </p:sp>
    </p:spTree>
    <p:extLst>
      <p:ext uri="{BB962C8B-B14F-4D97-AF65-F5344CB8AC3E}">
        <p14:creationId xmlns:p14="http://schemas.microsoft.com/office/powerpoint/2010/main" val="8084262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4000"/>
              <a:t>Random Forest Classifier</a:t>
            </a:r>
          </a:p>
        </p:txBody>
      </p:sp>
      <p:sp>
        <p:nvSpPr>
          <p:cNvPr id="140291" name="Text Box 3"/>
          <p:cNvSpPr txBox="1">
            <a:spLocks noChangeArrowheads="1"/>
          </p:cNvSpPr>
          <p:nvPr/>
        </p:nvSpPr>
        <p:spPr bwMode="auto">
          <a:xfrm rot="-5400000">
            <a:off x="-659606" y="3226594"/>
            <a:ext cx="162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N examples</a:t>
            </a:r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395288" y="1268413"/>
            <a:ext cx="56388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</a:rPr>
              <a:t>Create bootstrap samples</a:t>
            </a:r>
          </a:p>
          <a:p>
            <a:pPr>
              <a:lnSpc>
                <a:spcPct val="80000"/>
              </a:lnSpc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</a:rPr>
              <a:t>from the training data </a:t>
            </a:r>
          </a:p>
        </p:txBody>
      </p:sp>
      <p:sp>
        <p:nvSpPr>
          <p:cNvPr id="140293" name="Rectangle 5"/>
          <p:cNvSpPr>
            <a:spLocks noChangeArrowheads="1"/>
          </p:cNvSpPr>
          <p:nvPr/>
        </p:nvSpPr>
        <p:spPr bwMode="auto">
          <a:xfrm>
            <a:off x="2271713" y="19050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0294" name="Rectangle 6"/>
          <p:cNvSpPr>
            <a:spLocks noChangeArrowheads="1"/>
          </p:cNvSpPr>
          <p:nvPr/>
        </p:nvSpPr>
        <p:spPr bwMode="auto">
          <a:xfrm>
            <a:off x="2271713" y="32004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40295" name="AutoShape 7"/>
          <p:cNvCxnSpPr>
            <a:cxnSpLocks noChangeShapeType="1"/>
          </p:cNvCxnSpPr>
          <p:nvPr/>
        </p:nvCxnSpPr>
        <p:spPr bwMode="auto">
          <a:xfrm>
            <a:off x="1585913" y="3429000"/>
            <a:ext cx="657225" cy="3810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0296" name="Rectangle 8"/>
          <p:cNvSpPr>
            <a:spLocks noChangeArrowheads="1"/>
          </p:cNvSpPr>
          <p:nvPr/>
        </p:nvSpPr>
        <p:spPr bwMode="auto">
          <a:xfrm>
            <a:off x="2271713" y="51816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0297" name="Text Box 9"/>
          <p:cNvSpPr txBox="1">
            <a:spLocks noChangeArrowheads="1"/>
          </p:cNvSpPr>
          <p:nvPr/>
        </p:nvSpPr>
        <p:spPr bwMode="auto">
          <a:xfrm rot="-5400000">
            <a:off x="2357438" y="4333875"/>
            <a:ext cx="7747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000000"/>
                </a:solidFill>
                <a:latin typeface="Calibri" pitchFamily="34" charset="0"/>
              </a:rPr>
              <a:t>....…</a:t>
            </a:r>
          </a:p>
        </p:txBody>
      </p:sp>
      <p:cxnSp>
        <p:nvCxnSpPr>
          <p:cNvPr id="140298" name="AutoShape 10"/>
          <p:cNvCxnSpPr>
            <a:cxnSpLocks noChangeShapeType="1"/>
          </p:cNvCxnSpPr>
          <p:nvPr/>
        </p:nvCxnSpPr>
        <p:spPr bwMode="auto">
          <a:xfrm>
            <a:off x="1585913" y="3276600"/>
            <a:ext cx="657225" cy="23622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0299" name="Rectangle 11"/>
          <p:cNvSpPr>
            <a:spLocks noChangeArrowheads="1"/>
          </p:cNvSpPr>
          <p:nvPr/>
        </p:nvSpPr>
        <p:spPr bwMode="auto">
          <a:xfrm>
            <a:off x="442913" y="2895600"/>
            <a:ext cx="1143000" cy="914400"/>
          </a:xfrm>
          <a:prstGeom prst="rect">
            <a:avLst/>
          </a:prstGeom>
          <a:solidFill>
            <a:srgbClr val="ECAB2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40300" name="AutoShape 12"/>
          <p:cNvCxnSpPr>
            <a:cxnSpLocks noChangeShapeType="1"/>
          </p:cNvCxnSpPr>
          <p:nvPr/>
        </p:nvCxnSpPr>
        <p:spPr bwMode="auto">
          <a:xfrm flipV="1">
            <a:off x="1585913" y="2514600"/>
            <a:ext cx="657225" cy="6096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0301" name="Text Box 13"/>
          <p:cNvSpPr txBox="1">
            <a:spLocks noChangeArrowheads="1"/>
          </p:cNvSpPr>
          <p:nvPr/>
        </p:nvSpPr>
        <p:spPr bwMode="auto">
          <a:xfrm>
            <a:off x="239713" y="2286000"/>
            <a:ext cx="1544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M features</a:t>
            </a:r>
          </a:p>
        </p:txBody>
      </p:sp>
    </p:spTree>
    <p:extLst>
      <p:ext uri="{BB962C8B-B14F-4D97-AF65-F5344CB8AC3E}">
        <p14:creationId xmlns:p14="http://schemas.microsoft.com/office/powerpoint/2010/main" val="4270802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 descr="Decision"/>
          <p:cNvPicPr>
            <a:picLocks noChangeAspect="1" noChangeArrowheads="1"/>
          </p:cNvPicPr>
          <p:nvPr/>
        </p:nvPicPr>
        <p:blipFill>
          <a:blip r:embed="rId3"/>
          <a:srcRect b="54442"/>
          <a:stretch>
            <a:fillRect/>
          </a:stretch>
        </p:blipFill>
        <p:spPr bwMode="auto">
          <a:xfrm>
            <a:off x="3581400" y="1981200"/>
            <a:ext cx="5562600" cy="324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1315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4000"/>
              <a:t>Random Forest Classifier</a:t>
            </a: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 rot="-5400000">
            <a:off x="-645318" y="3226593"/>
            <a:ext cx="1624012" cy="45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N examples</a:t>
            </a:r>
          </a:p>
        </p:txBody>
      </p:sp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4756150" y="1287463"/>
            <a:ext cx="3011488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</a:rPr>
              <a:t>Construct a decision tree</a:t>
            </a:r>
          </a:p>
          <a:p>
            <a:pPr>
              <a:lnSpc>
                <a:spcPct val="80000"/>
              </a:lnSpc>
            </a:pPr>
            <a:endParaRPr lang="en-US" sz="2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2286000" y="19050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2286000" y="32004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41320" name="AutoShape 8"/>
          <p:cNvCxnSpPr>
            <a:cxnSpLocks noChangeShapeType="1"/>
          </p:cNvCxnSpPr>
          <p:nvPr/>
        </p:nvCxnSpPr>
        <p:spPr bwMode="auto">
          <a:xfrm>
            <a:off x="1600200" y="3429000"/>
            <a:ext cx="657225" cy="3810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1321" name="Rectangle 9"/>
          <p:cNvSpPr>
            <a:spLocks noChangeArrowheads="1"/>
          </p:cNvSpPr>
          <p:nvPr/>
        </p:nvSpPr>
        <p:spPr bwMode="auto">
          <a:xfrm>
            <a:off x="2286000" y="51816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1322" name="Text Box 10"/>
          <p:cNvSpPr txBox="1">
            <a:spLocks noChangeArrowheads="1"/>
          </p:cNvSpPr>
          <p:nvPr/>
        </p:nvSpPr>
        <p:spPr bwMode="auto">
          <a:xfrm rot="-5400000">
            <a:off x="2371725" y="4333875"/>
            <a:ext cx="7747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000000"/>
                </a:solidFill>
                <a:latin typeface="Calibri" pitchFamily="34" charset="0"/>
              </a:rPr>
              <a:t>....…</a:t>
            </a:r>
          </a:p>
        </p:txBody>
      </p:sp>
      <p:cxnSp>
        <p:nvCxnSpPr>
          <p:cNvPr id="141323" name="AutoShape 11"/>
          <p:cNvCxnSpPr>
            <a:cxnSpLocks noChangeShapeType="1"/>
          </p:cNvCxnSpPr>
          <p:nvPr/>
        </p:nvCxnSpPr>
        <p:spPr bwMode="auto">
          <a:xfrm>
            <a:off x="1600200" y="3276600"/>
            <a:ext cx="657225" cy="23622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1324" name="Line 12"/>
          <p:cNvSpPr>
            <a:spLocks noChangeShapeType="1"/>
          </p:cNvSpPr>
          <p:nvPr/>
        </p:nvSpPr>
        <p:spPr bwMode="auto">
          <a:xfrm>
            <a:off x="3505200" y="2286000"/>
            <a:ext cx="9906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1325" name="Rectangle 13"/>
          <p:cNvSpPr>
            <a:spLocks noChangeArrowheads="1"/>
          </p:cNvSpPr>
          <p:nvPr/>
        </p:nvSpPr>
        <p:spPr bwMode="auto">
          <a:xfrm>
            <a:off x="457200" y="2895600"/>
            <a:ext cx="1143000" cy="914400"/>
          </a:xfrm>
          <a:prstGeom prst="rect">
            <a:avLst/>
          </a:prstGeom>
          <a:solidFill>
            <a:srgbClr val="ECAB2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41326" name="AutoShape 14"/>
          <p:cNvCxnSpPr>
            <a:cxnSpLocks noChangeShapeType="1"/>
          </p:cNvCxnSpPr>
          <p:nvPr/>
        </p:nvCxnSpPr>
        <p:spPr bwMode="auto">
          <a:xfrm flipV="1">
            <a:off x="1600200" y="2514600"/>
            <a:ext cx="657225" cy="6096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1327" name="Text Box 15"/>
          <p:cNvSpPr txBox="1">
            <a:spLocks noChangeArrowheads="1"/>
          </p:cNvSpPr>
          <p:nvPr/>
        </p:nvSpPr>
        <p:spPr bwMode="auto">
          <a:xfrm>
            <a:off x="254000" y="2286000"/>
            <a:ext cx="1544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M features</a:t>
            </a:r>
          </a:p>
        </p:txBody>
      </p:sp>
    </p:spTree>
    <p:extLst>
      <p:ext uri="{BB962C8B-B14F-4D97-AF65-F5344CB8AC3E}">
        <p14:creationId xmlns:p14="http://schemas.microsoft.com/office/powerpoint/2010/main" val="22855995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4000"/>
              <a:t>Random Forest Classifier</a:t>
            </a:r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 rot="-5400000">
            <a:off x="-645318" y="3226593"/>
            <a:ext cx="1624012" cy="45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N examples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2286000" y="19050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2286000" y="32004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42342" name="AutoShape 6"/>
          <p:cNvCxnSpPr>
            <a:cxnSpLocks noChangeShapeType="1"/>
          </p:cNvCxnSpPr>
          <p:nvPr/>
        </p:nvCxnSpPr>
        <p:spPr bwMode="auto">
          <a:xfrm>
            <a:off x="1600200" y="3429000"/>
            <a:ext cx="657225" cy="3810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2286000" y="51816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 rot="-5400000">
            <a:off x="2371725" y="4333875"/>
            <a:ext cx="7747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000000"/>
                </a:solidFill>
                <a:latin typeface="Calibri" pitchFamily="34" charset="0"/>
              </a:rPr>
              <a:t>....…</a:t>
            </a:r>
          </a:p>
        </p:txBody>
      </p:sp>
      <p:cxnSp>
        <p:nvCxnSpPr>
          <p:cNvPr id="142345" name="AutoShape 9"/>
          <p:cNvCxnSpPr>
            <a:cxnSpLocks noChangeShapeType="1"/>
          </p:cNvCxnSpPr>
          <p:nvPr/>
        </p:nvCxnSpPr>
        <p:spPr bwMode="auto">
          <a:xfrm>
            <a:off x="1600200" y="3276600"/>
            <a:ext cx="657225" cy="23622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pic>
        <p:nvPicPr>
          <p:cNvPr id="142346" name="Picture 10" descr="Decision"/>
          <p:cNvPicPr>
            <a:picLocks noChangeAspect="1" noChangeArrowheads="1"/>
          </p:cNvPicPr>
          <p:nvPr/>
        </p:nvPicPr>
        <p:blipFill>
          <a:blip r:embed="rId3"/>
          <a:srcRect b="54442"/>
          <a:stretch>
            <a:fillRect/>
          </a:stretch>
        </p:blipFill>
        <p:spPr bwMode="auto">
          <a:xfrm>
            <a:off x="3581400" y="1981200"/>
            <a:ext cx="5562600" cy="324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347" name="Line 11"/>
          <p:cNvSpPr>
            <a:spLocks noChangeShapeType="1"/>
          </p:cNvSpPr>
          <p:nvPr/>
        </p:nvSpPr>
        <p:spPr bwMode="auto">
          <a:xfrm>
            <a:off x="3505200" y="2286000"/>
            <a:ext cx="9906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2348" name="Rectangle 12"/>
          <p:cNvSpPr>
            <a:spLocks noChangeArrowheads="1"/>
          </p:cNvSpPr>
          <p:nvPr/>
        </p:nvSpPr>
        <p:spPr bwMode="auto">
          <a:xfrm>
            <a:off x="457200" y="2895600"/>
            <a:ext cx="1143000" cy="914400"/>
          </a:xfrm>
          <a:prstGeom prst="rect">
            <a:avLst/>
          </a:prstGeom>
          <a:solidFill>
            <a:srgbClr val="ECAB2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42349" name="AutoShape 13"/>
          <p:cNvCxnSpPr>
            <a:cxnSpLocks noChangeShapeType="1"/>
          </p:cNvCxnSpPr>
          <p:nvPr/>
        </p:nvCxnSpPr>
        <p:spPr bwMode="auto">
          <a:xfrm flipV="1">
            <a:off x="1600200" y="2514600"/>
            <a:ext cx="657225" cy="6096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2350" name="Text Box 14"/>
          <p:cNvSpPr txBox="1">
            <a:spLocks noChangeArrowheads="1"/>
          </p:cNvSpPr>
          <p:nvPr/>
        </p:nvSpPr>
        <p:spPr bwMode="auto">
          <a:xfrm>
            <a:off x="254000" y="2286000"/>
            <a:ext cx="1544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M features</a:t>
            </a:r>
          </a:p>
        </p:txBody>
      </p:sp>
      <p:sp>
        <p:nvSpPr>
          <p:cNvPr id="142351" name="Text Box 15"/>
          <p:cNvSpPr txBox="1">
            <a:spLocks noChangeArrowheads="1"/>
          </p:cNvSpPr>
          <p:nvPr/>
        </p:nvSpPr>
        <p:spPr bwMode="auto">
          <a:xfrm>
            <a:off x="3548063" y="1273175"/>
            <a:ext cx="44910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At each node in choosing the split feature</a:t>
            </a:r>
          </a:p>
          <a:p>
            <a:pPr>
              <a:lnSpc>
                <a:spcPct val="80000"/>
              </a:lnSpc>
            </a:pP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choose only among </a:t>
            </a:r>
            <a:r>
              <a:rPr lang="en-US" sz="2000" i="1">
                <a:solidFill>
                  <a:srgbClr val="000000"/>
                </a:solidFill>
                <a:latin typeface="Calibri" pitchFamily="34" charset="0"/>
              </a:rPr>
              <a:t>m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&lt;</a:t>
            </a:r>
            <a:r>
              <a:rPr lang="en-US" sz="2000" i="1">
                <a:solidFill>
                  <a:srgbClr val="000000"/>
                </a:solidFill>
                <a:latin typeface="Calibri" pitchFamily="34" charset="0"/>
              </a:rPr>
              <a:t>M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 features</a:t>
            </a:r>
          </a:p>
        </p:txBody>
      </p:sp>
    </p:spTree>
    <p:extLst>
      <p:ext uri="{BB962C8B-B14F-4D97-AF65-F5344CB8AC3E}">
        <p14:creationId xmlns:p14="http://schemas.microsoft.com/office/powerpoint/2010/main" val="1194047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/>
              <a:t>Random Forest Classifier</a:t>
            </a:r>
          </a:p>
        </p:txBody>
      </p:sp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3779838" y="1125538"/>
            <a:ext cx="31654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b="1">
                <a:solidFill>
                  <a:srgbClr val="000000"/>
                </a:solidFill>
                <a:latin typeface="Calibri" pitchFamily="34" charset="0"/>
              </a:rPr>
              <a:t>Create decision tree</a:t>
            </a: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rgbClr val="000000"/>
                </a:solidFill>
                <a:latin typeface="Calibri" pitchFamily="34" charset="0"/>
              </a:rPr>
              <a:t>from each bootstrap sample</a:t>
            </a:r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2209800" y="51816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43365" name="Picture 5" descr="Decision2"/>
          <p:cNvPicPr>
            <a:picLocks noChangeAspect="1" noChangeArrowheads="1"/>
          </p:cNvPicPr>
          <p:nvPr/>
        </p:nvPicPr>
        <p:blipFill>
          <a:blip r:embed="rId2"/>
          <a:srcRect t="54411"/>
          <a:stretch>
            <a:fillRect/>
          </a:stretch>
        </p:blipFill>
        <p:spPr bwMode="auto">
          <a:xfrm>
            <a:off x="4419600" y="4879975"/>
            <a:ext cx="220980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-76200" y="1676400"/>
            <a:ext cx="6615113" cy="3962400"/>
            <a:chOff x="249" y="1056"/>
            <a:chExt cx="4167" cy="2496"/>
          </a:xfrm>
        </p:grpSpPr>
        <p:sp>
          <p:nvSpPr>
            <p:cNvPr id="143367" name="Text Box 7"/>
            <p:cNvSpPr txBox="1">
              <a:spLocks noChangeArrowheads="1"/>
            </p:cNvSpPr>
            <p:nvPr/>
          </p:nvSpPr>
          <p:spPr bwMode="auto">
            <a:xfrm rot="-5400000">
              <a:off x="-119" y="2033"/>
              <a:ext cx="10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Calibri" pitchFamily="34" charset="0"/>
                </a:rPr>
                <a:t>N examples</a:t>
              </a:r>
            </a:p>
          </p:txBody>
        </p:sp>
        <p:sp>
          <p:nvSpPr>
            <p:cNvPr id="143368" name="Rectangle 8"/>
            <p:cNvSpPr>
              <a:spLocks noChangeArrowheads="1"/>
            </p:cNvSpPr>
            <p:nvPr/>
          </p:nvSpPr>
          <p:spPr bwMode="auto">
            <a:xfrm>
              <a:off x="1728" y="1200"/>
              <a:ext cx="720" cy="576"/>
            </a:xfrm>
            <a:prstGeom prst="rect">
              <a:avLst/>
            </a:prstGeom>
            <a:solidFill>
              <a:srgbClr val="4D9F37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43369" name="Rectangle 9"/>
            <p:cNvSpPr>
              <a:spLocks noChangeArrowheads="1"/>
            </p:cNvSpPr>
            <p:nvPr/>
          </p:nvSpPr>
          <p:spPr bwMode="auto">
            <a:xfrm>
              <a:off x="1728" y="2016"/>
              <a:ext cx="720" cy="576"/>
            </a:xfrm>
            <a:prstGeom prst="rect">
              <a:avLst/>
            </a:prstGeom>
            <a:solidFill>
              <a:srgbClr val="4D9F37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143370" name="AutoShape 10"/>
            <p:cNvCxnSpPr>
              <a:cxnSpLocks noChangeShapeType="1"/>
            </p:cNvCxnSpPr>
            <p:nvPr/>
          </p:nvCxnSpPr>
          <p:spPr bwMode="auto">
            <a:xfrm>
              <a:off x="1296" y="2160"/>
              <a:ext cx="414" cy="240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43371" name="Text Box 11"/>
            <p:cNvSpPr txBox="1">
              <a:spLocks noChangeArrowheads="1"/>
            </p:cNvSpPr>
            <p:nvPr/>
          </p:nvSpPr>
          <p:spPr bwMode="auto">
            <a:xfrm rot="-5400000">
              <a:off x="1782" y="2730"/>
              <a:ext cx="488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600" b="1">
                  <a:solidFill>
                    <a:srgbClr val="000000"/>
                  </a:solidFill>
                  <a:latin typeface="Calibri" pitchFamily="34" charset="0"/>
                </a:rPr>
                <a:t>....…</a:t>
              </a:r>
            </a:p>
          </p:txBody>
        </p:sp>
        <p:cxnSp>
          <p:nvCxnSpPr>
            <p:cNvPr id="143372" name="AutoShape 12"/>
            <p:cNvCxnSpPr>
              <a:cxnSpLocks noChangeShapeType="1"/>
            </p:cNvCxnSpPr>
            <p:nvPr/>
          </p:nvCxnSpPr>
          <p:spPr bwMode="auto">
            <a:xfrm>
              <a:off x="1296" y="2064"/>
              <a:ext cx="414" cy="1488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pic>
          <p:nvPicPr>
            <p:cNvPr id="143373" name="Picture 13" descr="Decision"/>
            <p:cNvPicPr>
              <a:picLocks noChangeAspect="1" noChangeArrowheads="1"/>
            </p:cNvPicPr>
            <p:nvPr/>
          </p:nvPicPr>
          <p:blipFill>
            <a:blip r:embed="rId3"/>
            <a:srcRect b="54442"/>
            <a:stretch>
              <a:fillRect/>
            </a:stretch>
          </p:blipFill>
          <p:spPr bwMode="auto">
            <a:xfrm>
              <a:off x="3047" y="1056"/>
              <a:ext cx="1273" cy="7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374" name="Picture 14" descr="Decision2"/>
            <p:cNvPicPr>
              <a:picLocks noChangeAspect="1" noChangeArrowheads="1"/>
            </p:cNvPicPr>
            <p:nvPr/>
          </p:nvPicPr>
          <p:blipFill>
            <a:blip r:embed="rId2"/>
            <a:srcRect t="54411"/>
            <a:stretch>
              <a:fillRect/>
            </a:stretch>
          </p:blipFill>
          <p:spPr bwMode="auto">
            <a:xfrm>
              <a:off x="3024" y="1824"/>
              <a:ext cx="1392" cy="8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375" name="Line 15"/>
            <p:cNvSpPr>
              <a:spLocks noChangeShapeType="1"/>
            </p:cNvSpPr>
            <p:nvPr/>
          </p:nvSpPr>
          <p:spPr bwMode="auto">
            <a:xfrm>
              <a:off x="2496" y="1440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43376" name="Line 16"/>
            <p:cNvSpPr>
              <a:spLocks noChangeShapeType="1"/>
            </p:cNvSpPr>
            <p:nvPr/>
          </p:nvSpPr>
          <p:spPr bwMode="auto">
            <a:xfrm>
              <a:off x="2448" y="2256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43377" name="Line 17"/>
            <p:cNvSpPr>
              <a:spLocks noChangeShapeType="1"/>
            </p:cNvSpPr>
            <p:nvPr/>
          </p:nvSpPr>
          <p:spPr bwMode="auto">
            <a:xfrm>
              <a:off x="2496" y="3504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43378" name="Text Box 18"/>
            <p:cNvSpPr txBox="1">
              <a:spLocks noChangeArrowheads="1"/>
            </p:cNvSpPr>
            <p:nvPr/>
          </p:nvSpPr>
          <p:spPr bwMode="auto">
            <a:xfrm rot="-5400000">
              <a:off x="3318" y="2722"/>
              <a:ext cx="488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600" b="1">
                  <a:solidFill>
                    <a:srgbClr val="000000"/>
                  </a:solidFill>
                  <a:latin typeface="Calibri" pitchFamily="34" charset="0"/>
                </a:rPr>
                <a:t>....…</a:t>
              </a:r>
            </a:p>
          </p:txBody>
        </p:sp>
        <p:sp>
          <p:nvSpPr>
            <p:cNvPr id="143379" name="Rectangle 19"/>
            <p:cNvSpPr>
              <a:spLocks noChangeArrowheads="1"/>
            </p:cNvSpPr>
            <p:nvPr/>
          </p:nvSpPr>
          <p:spPr bwMode="auto">
            <a:xfrm>
              <a:off x="576" y="1824"/>
              <a:ext cx="720" cy="576"/>
            </a:xfrm>
            <a:prstGeom prst="rect">
              <a:avLst/>
            </a:prstGeom>
            <a:solidFill>
              <a:srgbClr val="ECAB28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143380" name="AutoShape 20"/>
            <p:cNvCxnSpPr>
              <a:cxnSpLocks noChangeShapeType="1"/>
            </p:cNvCxnSpPr>
            <p:nvPr/>
          </p:nvCxnSpPr>
          <p:spPr bwMode="auto">
            <a:xfrm flipV="1">
              <a:off x="1296" y="1584"/>
              <a:ext cx="414" cy="384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43381" name="Text Box 21"/>
            <p:cNvSpPr txBox="1">
              <a:spLocks noChangeArrowheads="1"/>
            </p:cNvSpPr>
            <p:nvPr/>
          </p:nvSpPr>
          <p:spPr bwMode="auto">
            <a:xfrm>
              <a:off x="448" y="1440"/>
              <a:ext cx="9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Calibri" pitchFamily="34" charset="0"/>
                </a:rPr>
                <a:t>M features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662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/>
              <a:t>Random Forest Classifier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 rot="-5400000">
            <a:off x="-659606" y="3226594"/>
            <a:ext cx="162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N examples</a:t>
            </a:r>
          </a:p>
        </p:txBody>
      </p:sp>
      <p:sp>
        <p:nvSpPr>
          <p:cNvPr id="144388" name="Rectangle 4"/>
          <p:cNvSpPr>
            <a:spLocks noChangeArrowheads="1"/>
          </p:cNvSpPr>
          <p:nvPr/>
        </p:nvSpPr>
        <p:spPr bwMode="auto">
          <a:xfrm>
            <a:off x="2271713" y="19050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4389" name="Rectangle 5"/>
          <p:cNvSpPr>
            <a:spLocks noChangeArrowheads="1"/>
          </p:cNvSpPr>
          <p:nvPr/>
        </p:nvSpPr>
        <p:spPr bwMode="auto">
          <a:xfrm>
            <a:off x="2271713" y="32004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44390" name="AutoShape 6"/>
          <p:cNvCxnSpPr>
            <a:cxnSpLocks noChangeShapeType="1"/>
            <a:endCxn id="144388" idx="1"/>
          </p:cNvCxnSpPr>
          <p:nvPr/>
        </p:nvCxnSpPr>
        <p:spPr bwMode="auto">
          <a:xfrm flipV="1">
            <a:off x="1600200" y="2362200"/>
            <a:ext cx="657225" cy="9144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44391" name="AutoShape 7"/>
          <p:cNvCxnSpPr>
            <a:cxnSpLocks noChangeShapeType="1"/>
          </p:cNvCxnSpPr>
          <p:nvPr/>
        </p:nvCxnSpPr>
        <p:spPr bwMode="auto">
          <a:xfrm>
            <a:off x="1585913" y="3429000"/>
            <a:ext cx="657225" cy="3810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4392" name="Rectangle 8"/>
          <p:cNvSpPr>
            <a:spLocks noChangeArrowheads="1"/>
          </p:cNvSpPr>
          <p:nvPr/>
        </p:nvSpPr>
        <p:spPr bwMode="auto">
          <a:xfrm>
            <a:off x="2271713" y="5181600"/>
            <a:ext cx="1143000" cy="914400"/>
          </a:xfrm>
          <a:prstGeom prst="rect">
            <a:avLst/>
          </a:prstGeom>
          <a:solidFill>
            <a:srgbClr val="4D9F3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4393" name="Text Box 9"/>
          <p:cNvSpPr txBox="1">
            <a:spLocks noChangeArrowheads="1"/>
          </p:cNvSpPr>
          <p:nvPr/>
        </p:nvSpPr>
        <p:spPr bwMode="auto">
          <a:xfrm rot="-5400000">
            <a:off x="2357438" y="4333875"/>
            <a:ext cx="7747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000000"/>
                </a:solidFill>
                <a:latin typeface="Calibri" pitchFamily="34" charset="0"/>
              </a:rPr>
              <a:t>....…</a:t>
            </a:r>
          </a:p>
        </p:txBody>
      </p:sp>
      <p:cxnSp>
        <p:nvCxnSpPr>
          <p:cNvPr id="144394" name="AutoShape 10"/>
          <p:cNvCxnSpPr>
            <a:cxnSpLocks noChangeShapeType="1"/>
          </p:cNvCxnSpPr>
          <p:nvPr/>
        </p:nvCxnSpPr>
        <p:spPr bwMode="auto">
          <a:xfrm>
            <a:off x="1585913" y="3276600"/>
            <a:ext cx="657225" cy="23622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pic>
        <p:nvPicPr>
          <p:cNvPr id="144395" name="Picture 11" descr="Decision"/>
          <p:cNvPicPr>
            <a:picLocks noChangeAspect="1" noChangeArrowheads="1"/>
          </p:cNvPicPr>
          <p:nvPr/>
        </p:nvPicPr>
        <p:blipFill>
          <a:blip r:embed="rId3"/>
          <a:srcRect b="54442"/>
          <a:stretch>
            <a:fillRect/>
          </a:stretch>
        </p:blipFill>
        <p:spPr bwMode="auto">
          <a:xfrm>
            <a:off x="4365625" y="1676400"/>
            <a:ext cx="2020888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96" name="Picture 12" descr="Decision2"/>
          <p:cNvPicPr>
            <a:picLocks noChangeAspect="1" noChangeArrowheads="1"/>
          </p:cNvPicPr>
          <p:nvPr/>
        </p:nvPicPr>
        <p:blipFill>
          <a:blip r:embed="rId4"/>
          <a:srcRect t="54411"/>
          <a:stretch>
            <a:fillRect/>
          </a:stretch>
        </p:blipFill>
        <p:spPr bwMode="auto">
          <a:xfrm>
            <a:off x="4329113" y="2895600"/>
            <a:ext cx="220980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97" name="Picture 13" descr="Decision2"/>
          <p:cNvPicPr>
            <a:picLocks noChangeAspect="1" noChangeArrowheads="1"/>
          </p:cNvPicPr>
          <p:nvPr/>
        </p:nvPicPr>
        <p:blipFill>
          <a:blip r:embed="rId4"/>
          <a:srcRect t="54411"/>
          <a:stretch>
            <a:fillRect/>
          </a:stretch>
        </p:blipFill>
        <p:spPr bwMode="auto">
          <a:xfrm>
            <a:off x="4329113" y="4956175"/>
            <a:ext cx="220980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4398" name="Line 14"/>
          <p:cNvSpPr>
            <a:spLocks noChangeShapeType="1"/>
          </p:cNvSpPr>
          <p:nvPr/>
        </p:nvSpPr>
        <p:spPr bwMode="auto">
          <a:xfrm>
            <a:off x="3429000" y="2286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4399" name="Line 15"/>
          <p:cNvSpPr>
            <a:spLocks noChangeShapeType="1"/>
          </p:cNvSpPr>
          <p:nvPr/>
        </p:nvSpPr>
        <p:spPr bwMode="auto">
          <a:xfrm>
            <a:off x="3414713" y="35814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4400" name="Line 16"/>
          <p:cNvSpPr>
            <a:spLocks noChangeShapeType="1"/>
          </p:cNvSpPr>
          <p:nvPr/>
        </p:nvSpPr>
        <p:spPr bwMode="auto">
          <a:xfrm>
            <a:off x="3490913" y="5562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4401" name="Text Box 17"/>
          <p:cNvSpPr txBox="1">
            <a:spLocks noChangeArrowheads="1"/>
          </p:cNvSpPr>
          <p:nvPr/>
        </p:nvSpPr>
        <p:spPr bwMode="auto">
          <a:xfrm rot="-5400000">
            <a:off x="4795838" y="4321175"/>
            <a:ext cx="7747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000000"/>
                </a:solidFill>
                <a:latin typeface="Calibri" pitchFamily="34" charset="0"/>
              </a:rPr>
              <a:t>....…</a:t>
            </a:r>
          </a:p>
        </p:txBody>
      </p:sp>
      <p:sp>
        <p:nvSpPr>
          <p:cNvPr id="144402" name="Text Box 18"/>
          <p:cNvSpPr txBox="1">
            <a:spLocks noChangeArrowheads="1"/>
          </p:cNvSpPr>
          <p:nvPr/>
        </p:nvSpPr>
        <p:spPr bwMode="auto">
          <a:xfrm>
            <a:off x="7072313" y="3124200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itchFamily="34" charset="0"/>
              </a:rPr>
              <a:t>Take the majority vote</a:t>
            </a:r>
          </a:p>
        </p:txBody>
      </p:sp>
      <p:sp>
        <p:nvSpPr>
          <p:cNvPr id="144403" name="AutoShape 19"/>
          <p:cNvSpPr>
            <a:spLocks/>
          </p:cNvSpPr>
          <p:nvPr/>
        </p:nvSpPr>
        <p:spPr bwMode="auto">
          <a:xfrm>
            <a:off x="6400800" y="1600200"/>
            <a:ext cx="533400" cy="4572000"/>
          </a:xfrm>
          <a:prstGeom prst="rightBrace">
            <a:avLst>
              <a:gd name="adj1" fmla="val 7142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4404" name="Rectangle 20"/>
          <p:cNvSpPr>
            <a:spLocks noChangeArrowheads="1"/>
          </p:cNvSpPr>
          <p:nvPr/>
        </p:nvSpPr>
        <p:spPr bwMode="auto">
          <a:xfrm>
            <a:off x="442913" y="2895600"/>
            <a:ext cx="1143000" cy="914400"/>
          </a:xfrm>
          <a:prstGeom prst="rect">
            <a:avLst/>
          </a:prstGeom>
          <a:solidFill>
            <a:srgbClr val="ECAB2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4405" name="Text Box 21"/>
          <p:cNvSpPr txBox="1">
            <a:spLocks noChangeArrowheads="1"/>
          </p:cNvSpPr>
          <p:nvPr/>
        </p:nvSpPr>
        <p:spPr bwMode="auto">
          <a:xfrm>
            <a:off x="239713" y="2286000"/>
            <a:ext cx="1544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itchFamily="34" charset="0"/>
              </a:rPr>
              <a:t>M features</a:t>
            </a:r>
          </a:p>
        </p:txBody>
      </p:sp>
    </p:spTree>
    <p:extLst>
      <p:ext uri="{BB962C8B-B14F-4D97-AF65-F5344CB8AC3E}">
        <p14:creationId xmlns:p14="http://schemas.microsoft.com/office/powerpoint/2010/main" val="3471032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394" name="Picture 2" descr="random forest classifi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147" y="1263728"/>
            <a:ext cx="8063139" cy="4908472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82147" y="424543"/>
            <a:ext cx="1431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Thus,…..</a:t>
            </a:r>
          </a:p>
        </p:txBody>
      </p:sp>
    </p:spTree>
    <p:extLst>
      <p:ext uri="{BB962C8B-B14F-4D97-AF65-F5344CB8AC3E}">
        <p14:creationId xmlns:p14="http://schemas.microsoft.com/office/powerpoint/2010/main" val="10500428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Random Forests: Pros and Cons</a:t>
            </a:r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338666" y="1143000"/>
            <a:ext cx="8418755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E9430"/>
                </a:solidFill>
                <a:latin typeface="+mn-lt"/>
              </a:rPr>
              <a:t>Very popular in practice, </a:t>
            </a:r>
            <a:r>
              <a:rPr lang="en-US" sz="2400" dirty="0">
                <a:latin typeface="+mn-lt"/>
              </a:rPr>
              <a:t>probably the most popular classifier for dense data (&lt;= a few thousand features)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E9430"/>
                </a:solidFill>
                <a:latin typeface="+mn-lt"/>
              </a:rPr>
              <a:t>Easy to implement </a:t>
            </a:r>
            <a:r>
              <a:rPr lang="en-US" sz="2400" dirty="0">
                <a:latin typeface="+mn-lt"/>
              </a:rPr>
              <a:t>(train a lot of trees). Good match for </a:t>
            </a:r>
            <a:r>
              <a:rPr lang="en-US" sz="2400" dirty="0" err="1">
                <a:latin typeface="+mn-lt"/>
              </a:rPr>
              <a:t>MapReduce</a:t>
            </a:r>
            <a:r>
              <a:rPr lang="en-US" sz="2400" dirty="0">
                <a:latin typeface="+mn-lt"/>
              </a:rPr>
              <a:t>.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E9430"/>
                </a:solidFill>
                <a:latin typeface="+mn-lt"/>
              </a:rPr>
              <a:t>Parallelizes easily </a:t>
            </a:r>
            <a:r>
              <a:rPr lang="en-US" sz="2400" dirty="0">
                <a:latin typeface="+mn-lt"/>
              </a:rPr>
              <a:t>(but not necessarily efficiently).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8000"/>
                </a:solidFill>
                <a:latin typeface="+mn-lt"/>
              </a:rPr>
              <a:t>Inherently immune to missing variables. 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  <a:latin typeface="+mn-lt"/>
              </a:rPr>
              <a:t>Not quite state-of-the-art accuracy </a:t>
            </a:r>
            <a:r>
              <a:rPr lang="en-US" sz="2400" dirty="0">
                <a:latin typeface="+mn-lt"/>
              </a:rPr>
              <a:t>– DNNs generally do better, and sometimes gradient boosted trees.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  <a:latin typeface="+mn-lt"/>
              </a:rPr>
              <a:t>Needs many passes over the data </a:t>
            </a:r>
            <a:r>
              <a:rPr lang="en-US" sz="2400" dirty="0">
                <a:latin typeface="+mn-lt"/>
              </a:rPr>
              <a:t>– at least the max depth of the trees. (&lt;&lt; boosted trees though)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  <a:latin typeface="+mn-lt"/>
              </a:rPr>
              <a:t>Easy to </a:t>
            </a:r>
            <a:r>
              <a:rPr lang="en-US" sz="2400" b="1" dirty="0" err="1">
                <a:solidFill>
                  <a:srgbClr val="C00000"/>
                </a:solidFill>
                <a:latin typeface="+mn-lt"/>
              </a:rPr>
              <a:t>overfit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400" dirty="0">
                <a:latin typeface="+mn-lt"/>
              </a:rPr>
              <a:t>– hard to balance accuracy/fit tradeoff.</a:t>
            </a:r>
          </a:p>
        </p:txBody>
      </p:sp>
    </p:spTree>
    <p:extLst>
      <p:ext uri="{BB962C8B-B14F-4D97-AF65-F5344CB8AC3E}">
        <p14:creationId xmlns:p14="http://schemas.microsoft.com/office/powerpoint/2010/main" val="275159372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/>
              <a:t>Random forest</a:t>
            </a:r>
          </a:p>
        </p:txBody>
      </p:sp>
      <p:sp>
        <p:nvSpPr>
          <p:cNvPr id="14643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z="2000"/>
              <a:t>Available package:</a:t>
            </a:r>
          </a:p>
          <a:p>
            <a:r>
              <a:rPr lang="en-US" sz="2000">
                <a:solidFill>
                  <a:srgbClr val="000000"/>
                </a:solidFill>
                <a:hlinkClick r:id="rId2"/>
              </a:rPr>
              <a:t>http://www.stat.berkeley.edu/~breiman/RandomForests/cc_home.htm</a:t>
            </a:r>
            <a:endParaRPr lang="en-US" sz="2000">
              <a:solidFill>
                <a:srgbClr val="000000"/>
              </a:solidFill>
            </a:endParaRPr>
          </a:p>
          <a:p>
            <a:endParaRPr lang="en-US" sz="2000">
              <a:solidFill>
                <a:srgbClr val="000000"/>
              </a:solidFill>
            </a:endParaRPr>
          </a:p>
          <a:p>
            <a:r>
              <a:rPr lang="en-US" sz="2000">
                <a:solidFill>
                  <a:srgbClr val="000000"/>
                </a:solidFill>
              </a:rPr>
              <a:t>To read more:</a:t>
            </a:r>
          </a:p>
          <a:p>
            <a:r>
              <a:rPr lang="en-US" sz="2000">
                <a:hlinkClick r:id="rId3"/>
              </a:rPr>
              <a:t>http://www-stat.stanford.edu/~hastie/Papers/ESLII.pdf</a:t>
            </a:r>
            <a:r>
              <a:rPr lang="en-US"/>
              <a:t> 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085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F2B2A-1C07-47AE-8943-27E64269643A}" type="slidenum">
              <a:rPr lang="en-US" altLang="zh-CN" smtClean="0">
                <a:solidFill>
                  <a:srgbClr val="000000"/>
                </a:solidFill>
              </a:rPr>
              <a:pPr/>
              <a:t>45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24" y="519764"/>
            <a:ext cx="8579818" cy="550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32914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F2B2A-1C07-47AE-8943-27E64269643A}" type="slidenum">
              <a:rPr lang="en-US" altLang="zh-CN" smtClean="0">
                <a:solidFill>
                  <a:srgbClr val="000000"/>
                </a:solidFill>
              </a:rPr>
              <a:pPr/>
              <a:t>46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30456"/>
            <a:ext cx="8765121" cy="568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4631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F2B2A-1C07-47AE-8943-27E64269643A}" type="slidenum">
              <a:rPr lang="en-US" altLang="zh-CN" smtClean="0">
                <a:solidFill>
                  <a:srgbClr val="000000"/>
                </a:solidFill>
              </a:rPr>
              <a:pPr/>
              <a:t>47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57" y="441100"/>
            <a:ext cx="8420275" cy="558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42706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Boosting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9855"/>
                <a:ext cx="78867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/>
                  <a:t>Guarantee:</a:t>
                </a:r>
              </a:p>
              <a:p>
                <a:pPr lvl="1"/>
                <a:r>
                  <a:rPr lang="en-US" altLang="zh-TW" dirty="0"/>
                  <a:t>If your ML algorithm can produce classifier with error rate smaller than 50% on training data</a:t>
                </a:r>
              </a:p>
              <a:p>
                <a:pPr lvl="1"/>
                <a:r>
                  <a:rPr lang="en-US" altLang="zh-TW" dirty="0"/>
                  <a:t>You can obtain 0% error rate classifier after boosting.</a:t>
                </a:r>
              </a:p>
              <a:p>
                <a:r>
                  <a:rPr lang="en-US" altLang="zh-TW" sz="2400" dirty="0"/>
                  <a:t>Framework of boosting</a:t>
                </a:r>
              </a:p>
              <a:p>
                <a:pPr lvl="1"/>
                <a:r>
                  <a:rPr lang="en-US" altLang="zh-TW" dirty="0"/>
                  <a:t>Obtain the first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Find another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 to help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2"/>
                <a:r>
                  <a:rPr lang="en-US" altLang="zh-TW" sz="2400" dirty="0"/>
                  <a:t>However,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is similar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, it will not help a lot.</a:t>
                </a:r>
              </a:p>
              <a:p>
                <a:pPr lvl="2"/>
                <a:r>
                  <a:rPr lang="en-US" altLang="zh-TW" sz="2400" dirty="0"/>
                  <a:t>We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to be complementary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(How?)</a:t>
                </a:r>
              </a:p>
              <a:p>
                <a:pPr lvl="1"/>
                <a:r>
                  <a:rPr lang="en-US" altLang="zh-TW" dirty="0"/>
                  <a:t>Obtain the second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…… Finally, combining all the classifiers</a:t>
                </a:r>
              </a:p>
              <a:p>
                <a:r>
                  <a:rPr lang="en-US" altLang="zh-TW" sz="2400" dirty="0">
                    <a:solidFill>
                      <a:srgbClr val="0000FF"/>
                    </a:solidFill>
                  </a:rPr>
                  <a:t>The classifiers are learned sequentially. </a:t>
                </a:r>
                <a:endParaRPr lang="zh-TW" altLang="en-US" sz="2400" dirty="0">
                  <a:solidFill>
                    <a:srgbClr val="0000FF"/>
                  </a:solidFill>
                </a:endParaRPr>
              </a:p>
              <a:p>
                <a:pPr lvl="1"/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9855"/>
                <a:ext cx="7886700" cy="5032375"/>
              </a:xfrm>
              <a:blipFill rotWithShape="0">
                <a:blip r:embed="rId3"/>
                <a:stretch>
                  <a:fillRect l="-1005" t="-2300" r="-1314" b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753090" y="234497"/>
                <a:ext cx="5177064" cy="120032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Training data: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zh-TW" altLang="en-US" sz="24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400" dirty="0">
                    <a:solidFill>
                      <a:prstClr val="black"/>
                    </a:solidFill>
                  </a:rPr>
                  <a:t>(binary classification)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090" y="234497"/>
                <a:ext cx="5177064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1882" t="-4040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054138" y="6543370"/>
            <a:ext cx="41896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Blip>
                <a:blip r:embed="rId5"/>
              </a:buBlip>
            </a:pPr>
            <a:r>
              <a:rPr lang="en-US" sz="1400" dirty="0"/>
              <a:t>Slides courtesy: Dr. Hung-</a:t>
            </a:r>
            <a:r>
              <a:rPr lang="en-US" sz="1400" dirty="0" err="1"/>
              <a:t>yi</a:t>
            </a:r>
            <a:r>
              <a:rPr lang="en-US" sz="1400" dirty="0"/>
              <a:t> Lee, NTU, Taiwan</a:t>
            </a:r>
          </a:p>
        </p:txBody>
      </p:sp>
    </p:spTree>
    <p:extLst>
      <p:ext uri="{BB962C8B-B14F-4D97-AF65-F5344CB8AC3E}">
        <p14:creationId xmlns:p14="http://schemas.microsoft.com/office/powerpoint/2010/main" val="262230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obtain different classifiers?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Training on different training data sets</a:t>
            </a:r>
          </a:p>
          <a:p>
            <a:r>
              <a:rPr lang="en-US" altLang="zh-TW" dirty="0"/>
              <a:t>How to have different training data sets</a:t>
            </a:r>
          </a:p>
          <a:p>
            <a:pPr lvl="1"/>
            <a:r>
              <a:rPr lang="en-US" altLang="zh-TW" dirty="0"/>
              <a:t>Re-sampling your training data to form a new set</a:t>
            </a:r>
          </a:p>
          <a:p>
            <a:pPr lvl="1"/>
            <a:r>
              <a:rPr lang="en-US" altLang="zh-TW" dirty="0"/>
              <a:t>Re-weighting your training data to form a new set</a:t>
            </a:r>
          </a:p>
          <a:p>
            <a:pPr lvl="1"/>
            <a:r>
              <a:rPr lang="en-US" altLang="zh-TW" dirty="0"/>
              <a:t>In real implementation, you only have to change the cost/objective function</a:t>
            </a:r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982785" y="4607556"/>
                <a:ext cx="15109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85" y="4607556"/>
                <a:ext cx="1510991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1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959643" y="5273933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43" y="5273933"/>
                <a:ext cx="1530804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1639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982785" y="5942715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85" y="5942715"/>
                <a:ext cx="1530804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667000" y="4607556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607556"/>
                <a:ext cx="95917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4459" r="-700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666999" y="5255838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99" y="5255838"/>
                <a:ext cx="959173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3797" r="-7595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667000" y="5947356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947356"/>
                <a:ext cx="959173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459" t="-1667" r="-764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3771900" y="4561389"/>
            <a:ext cx="8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0.4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771900" y="5209671"/>
            <a:ext cx="8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2.1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771900" y="5896548"/>
            <a:ext cx="8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0.7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178182" y="4380121"/>
                <a:ext cx="3250313" cy="89620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182" y="4380121"/>
                <a:ext cx="3250313" cy="89620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178182" y="5523838"/>
                <a:ext cx="3482235" cy="89620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182" y="5523838"/>
                <a:ext cx="3482235" cy="89620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號: 向下 14"/>
          <p:cNvSpPr/>
          <p:nvPr/>
        </p:nvSpPr>
        <p:spPr>
          <a:xfrm>
            <a:off x="4793648" y="5138863"/>
            <a:ext cx="520700" cy="51094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17" name="直線接點 16"/>
          <p:cNvCxnSpPr/>
          <p:nvPr/>
        </p:nvCxnSpPr>
        <p:spPr>
          <a:xfrm>
            <a:off x="3269610" y="4628448"/>
            <a:ext cx="449179" cy="3688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268954" y="5276684"/>
            <a:ext cx="449179" cy="3688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268954" y="6012277"/>
            <a:ext cx="449179" cy="3688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02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Idea of </a:t>
            </a:r>
            <a:r>
              <a:rPr lang="en-US" altLang="zh-TW" dirty="0" err="1"/>
              <a:t>Adaboost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/>
                  <a:t>Idea: </a:t>
                </a:r>
                <a:r>
                  <a:rPr lang="en-US" altLang="zh-TW" sz="2400" b="1" dirty="0"/>
                  <a:t>training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TW" sz="2400" b="1" dirty="0"/>
                  <a:t> on the new training set that fails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altLang="zh-TW" sz="2400" b="1" dirty="0"/>
              </a:p>
              <a:p>
                <a:r>
                  <a:rPr lang="en-US" altLang="zh-TW" sz="2400" dirty="0">
                    <a:solidFill>
                      <a:srgbClr val="0000FF"/>
                    </a:solidFill>
                  </a:rPr>
                  <a:t>How to find a new training set that fails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srgbClr val="0000FF"/>
                    </a:solidFill>
                  </a:rPr>
                  <a:t>?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617956" y="3240011"/>
                <a:ext cx="4145045" cy="907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p>
                                    <m:sSupPr>
                                      <m:ctrlP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6" y="3240011"/>
                <a:ext cx="4145045" cy="9074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114369" y="3240011"/>
                <a:ext cx="1851597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369" y="3240011"/>
                <a:ext cx="1851597" cy="10455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05256" y="2677897"/>
                <a:ext cx="75057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: the error rate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on its training data  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56" y="2677897"/>
                <a:ext cx="7505700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617956" y="4425253"/>
                <a:ext cx="7886700" cy="471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Changing the example weights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such that    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6" y="4425253"/>
                <a:ext cx="7886700" cy="471283"/>
              </a:xfrm>
              <a:prstGeom prst="rect">
                <a:avLst/>
              </a:prstGeom>
              <a:blipFill rotWithShape="0">
                <a:blip r:embed="rId7"/>
                <a:stretch>
                  <a:fillRect l="-1159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617956" y="5092707"/>
                <a:ext cx="4290726" cy="907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8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p>
                                    <m:sSupPr>
                                      <m:ctrlP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6" y="5092707"/>
                <a:ext cx="4290726" cy="9078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7317334" y="3478281"/>
                <a:ext cx="13379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&lt;0.5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334" y="3478281"/>
                <a:ext cx="1337994" cy="4308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5013612" y="5130859"/>
                <a:ext cx="3989918" cy="830997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white"/>
                    </a:solidFill>
                  </a:rPr>
                  <a:t>The performance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prstClr val="white"/>
                    </a:solidFill>
                  </a:rPr>
                  <a:t> for new weights would be random. </a:t>
                </a:r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12" y="5130859"/>
                <a:ext cx="3989918" cy="83099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605256" y="6149421"/>
                <a:ext cx="6216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Training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based on the new weights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56" y="6149421"/>
                <a:ext cx="6216650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471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87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/>
      <p:bldP spid="8" grpId="0"/>
      <p:bldP spid="9" grpId="0"/>
      <p:bldP spid="10" grpId="0"/>
      <p:bldP spid="11" grpId="0"/>
      <p:bldP spid="12" grpId="0" animBg="1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Re-weighting Training Data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/>
                  <a:t>Idea: </a:t>
                </a:r>
                <a:r>
                  <a:rPr lang="en-US" altLang="zh-TW" sz="2400" b="1" dirty="0"/>
                  <a:t>training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TW" sz="2400" b="1" dirty="0"/>
                  <a:t> on the new training set that fails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altLang="zh-TW" sz="2400" b="1" dirty="0"/>
              </a:p>
              <a:p>
                <a:r>
                  <a:rPr lang="en-US" altLang="zh-TW" sz="2400" dirty="0">
                    <a:solidFill>
                      <a:srgbClr val="0000FF"/>
                    </a:solidFill>
                  </a:rPr>
                  <a:t>How to find a new training set that fails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srgbClr val="0000FF"/>
                    </a:solidFill>
                  </a:rPr>
                  <a:t>?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90560" y="3092178"/>
                <a:ext cx="15109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60" y="3092178"/>
                <a:ext cx="1510991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1639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390560" y="3642464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60" y="3642464"/>
                <a:ext cx="1530804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1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90560" y="4279040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60" y="4279040"/>
                <a:ext cx="1530804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803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158094" y="3080840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094" y="3080840"/>
                <a:ext cx="95917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822" r="-764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158094" y="3597353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094" y="3597353"/>
                <a:ext cx="959173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3822" r="-828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158094" y="4224557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094" y="4224557"/>
                <a:ext cx="959173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3822" r="-828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70747" y="4863099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47" y="4863099"/>
                <a:ext cx="1530804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1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158094" y="4851761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094" y="4851761"/>
                <a:ext cx="959173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3822" r="-828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3908411" y="5857719"/>
                <a:ext cx="8813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411" y="5857719"/>
                <a:ext cx="881395" cy="43088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814" y="3610895"/>
            <a:ext cx="485690" cy="48569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138" y="2959352"/>
            <a:ext cx="549535" cy="549535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076" y="4134455"/>
            <a:ext cx="549535" cy="549535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138" y="4721860"/>
            <a:ext cx="549535" cy="5495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2054977" y="5567322"/>
                <a:ext cx="1378263" cy="461665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solidFill>
                      <a:prstClr val="white"/>
                    </a:solidFill>
                  </a:rPr>
                  <a:t>0.25</a:t>
                </a:r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77" y="5567322"/>
                <a:ext cx="1378263" cy="46166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/>
          <p:cNvSpPr txBox="1"/>
          <p:nvPr/>
        </p:nvSpPr>
        <p:spPr>
          <a:xfrm>
            <a:off x="5166270" y="5544325"/>
            <a:ext cx="85102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0.5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5019566" y="3027684"/>
                <a:ext cx="1481881" cy="412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=1/</m:t>
                      </m:r>
                      <m:rad>
                        <m:radPr>
                          <m:deg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566" y="3027684"/>
                <a:ext cx="1481881" cy="41287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5029954" y="3553815"/>
                <a:ext cx="1167884" cy="412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954" y="3553815"/>
                <a:ext cx="1167884" cy="41287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5016264" y="4124200"/>
                <a:ext cx="1488484" cy="412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264" y="4124200"/>
                <a:ext cx="1488484" cy="41287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5003833" y="4734713"/>
                <a:ext cx="1488484" cy="412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833" y="4734713"/>
                <a:ext cx="1488484" cy="41287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圖片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317" y="3417928"/>
            <a:ext cx="792107" cy="792107"/>
          </a:xfrm>
          <a:prstGeom prst="rect">
            <a:avLst/>
          </a:prstGeom>
        </p:spPr>
      </p:pic>
      <p:cxnSp>
        <p:nvCxnSpPr>
          <p:cNvPr id="32" name="直線單箭頭接點 31"/>
          <p:cNvCxnSpPr/>
          <p:nvPr/>
        </p:nvCxnSpPr>
        <p:spPr>
          <a:xfrm>
            <a:off x="3097866" y="5228486"/>
            <a:ext cx="908973" cy="6530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4789806" y="5270189"/>
            <a:ext cx="908973" cy="6530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6161327" y="5282733"/>
            <a:ext cx="908973" cy="6530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7121855" y="5813544"/>
                <a:ext cx="8813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855" y="5813544"/>
                <a:ext cx="881395" cy="43088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7214330" y="5147583"/>
                <a:ext cx="1378263" cy="461665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TW" sz="2400" dirty="0">
                    <a:solidFill>
                      <a:prstClr val="white"/>
                    </a:solidFill>
                  </a:rPr>
                  <a:t>0.5</a:t>
                </a:r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330" y="5147583"/>
                <a:ext cx="1378263" cy="461665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537" y="3042462"/>
            <a:ext cx="274768" cy="274768"/>
          </a:xfrm>
          <a:prstGeom prst="rect">
            <a:avLst/>
          </a:prstGeom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537" y="4205868"/>
            <a:ext cx="274768" cy="274768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092" y="4846379"/>
            <a:ext cx="274768" cy="27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6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6" grpId="0"/>
      <p:bldP spid="21" grpId="0" animBg="1"/>
      <p:bldP spid="22" grpId="0" animBg="1"/>
      <p:bldP spid="23" grpId="0"/>
      <p:bldP spid="24" grpId="0"/>
      <p:bldP spid="25" grpId="0"/>
      <p:bldP spid="26" grpId="0"/>
      <p:bldP spid="39" grpId="0"/>
      <p:bldP spid="4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Re-weighting Training Data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/>
                  <a:t>Idea: </a:t>
                </a:r>
                <a:r>
                  <a:rPr lang="en-US" altLang="zh-TW" sz="2400" b="1" dirty="0"/>
                  <a:t>training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TW" sz="2400" b="1" dirty="0"/>
                  <a:t> on the new training set that fails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altLang="zh-TW" sz="2400" b="1" dirty="0"/>
              </a:p>
              <a:p>
                <a:r>
                  <a:rPr lang="en-US" altLang="zh-TW" sz="2400" dirty="0">
                    <a:solidFill>
                      <a:srgbClr val="0000FF"/>
                    </a:solidFill>
                  </a:rPr>
                  <a:t>How to find a new training set that fails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srgbClr val="0000FF"/>
                    </a:solidFill>
                  </a:rPr>
                  <a:t>?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870746" y="3001313"/>
                <a:ext cx="66579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misclassified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4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400" dirty="0">
                    <a:solidFill>
                      <a:prstClr val="black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)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46" y="3001313"/>
                <a:ext cx="6657975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46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70746" y="4105963"/>
                <a:ext cx="71723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correctly classified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4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400" dirty="0">
                    <a:solidFill>
                      <a:prstClr val="black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TW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)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46" y="4105963"/>
                <a:ext cx="717232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361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左大括弧 5"/>
          <p:cNvSpPr/>
          <p:nvPr/>
        </p:nvSpPr>
        <p:spPr>
          <a:xfrm>
            <a:off x="628651" y="3037195"/>
            <a:ext cx="316707" cy="2050516"/>
          </a:xfrm>
          <a:prstGeom prst="leftBrace">
            <a:avLst>
              <a:gd name="adj1" fmla="val 3173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169488" y="3571848"/>
            <a:ext cx="1345862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increase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169806" y="4640078"/>
            <a:ext cx="1345544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decrease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979127" y="3571848"/>
                <a:ext cx="3190361" cy="4712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multiplying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27" y="3571848"/>
                <a:ext cx="3190361" cy="471283"/>
              </a:xfrm>
              <a:prstGeom prst="rect">
                <a:avLst/>
              </a:prstGeom>
              <a:blipFill rotWithShape="0">
                <a:blip r:embed="rId6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979127" y="4676845"/>
                <a:ext cx="30306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divided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27" y="4676845"/>
                <a:ext cx="3030638" cy="461665"/>
              </a:xfrm>
              <a:prstGeom prst="rect">
                <a:avLst/>
              </a:prstGeom>
              <a:blipFill rotWithShape="0"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870746" y="5332931"/>
                <a:ext cx="64079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24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400" dirty="0">
                    <a:solidFill>
                      <a:prstClr val="black"/>
                    </a:solidFill>
                  </a:rPr>
                  <a:t>will be learned based on example weights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46" y="5332931"/>
                <a:ext cx="6407943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85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867358" y="5850234"/>
                <a:ext cx="64079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2400" dirty="0">
                    <a:solidFill>
                      <a:prstClr val="black"/>
                    </a:solidFill>
                  </a:rPr>
                  <a:t>What is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? 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358" y="5850234"/>
                <a:ext cx="6407943" cy="461665"/>
              </a:xfrm>
              <a:prstGeom prst="rect">
                <a:avLst/>
              </a:prstGeom>
              <a:blipFill rotWithShape="0">
                <a:blip r:embed="rId9"/>
                <a:stretch>
                  <a:fillRect t="-10667" r="-266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2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 animBg="1"/>
      <p:bldP spid="14" grpId="0"/>
      <p:bldP spid="15" grpId="0"/>
      <p:bldP spid="16" grpId="0"/>
      <p:bldP spid="2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426953" y="823235"/>
                <a:ext cx="3541739" cy="777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zh-TW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53" y="823235"/>
                <a:ext cx="3541739" cy="77790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532881" y="764083"/>
                <a:ext cx="1584215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881" y="764083"/>
                <a:ext cx="1584215" cy="89620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99451" y="1943002"/>
                <a:ext cx="3674531" cy="7782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zh-TW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51" y="1943002"/>
                <a:ext cx="3674531" cy="77829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941727" y="1823596"/>
                <a:ext cx="3190361" cy="4712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multiplying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27" y="1823596"/>
                <a:ext cx="3190361" cy="471283"/>
              </a:xfrm>
              <a:prstGeom prst="rect">
                <a:avLst/>
              </a:prstGeom>
              <a:blipFill rotWithShape="0">
                <a:blip r:embed="rId6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5934860" y="2330643"/>
                <a:ext cx="30306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divided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860" y="2330643"/>
                <a:ext cx="3030638" cy="461665"/>
              </a:xfrm>
              <a:prstGeom prst="rect">
                <a:avLst/>
              </a:prstGeom>
              <a:blipFill rotWithShape="0"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3558321" y="4295642"/>
                <a:ext cx="4597669" cy="941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321" y="4295642"/>
                <a:ext cx="4597669" cy="94186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3499469" y="3127130"/>
                <a:ext cx="3820148" cy="941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469" y="3127130"/>
                <a:ext cx="3820148" cy="94186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73860" y="4175073"/>
                <a:ext cx="1189556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60" y="4175073"/>
                <a:ext cx="1189556" cy="89620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673860" y="3082100"/>
                <a:ext cx="2232278" cy="941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60" y="3082100"/>
                <a:ext cx="2232278" cy="94186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203459" y="41308"/>
            <a:ext cx="48670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>
                <a:solidFill>
                  <a:prstClr val="black"/>
                </a:solidFill>
              </a:rPr>
              <a:t>Re-weighting Training Data</a:t>
            </a:r>
            <a:endParaRPr lang="zh-TW" altLang="en-US" sz="3200" b="1" i="1" u="sng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914027" y="5541618"/>
                <a:ext cx="5706306" cy="9766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027" y="5541618"/>
                <a:ext cx="5706306" cy="97667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手繪多邊形: 圖案 6"/>
          <p:cNvSpPr/>
          <p:nvPr/>
        </p:nvSpPr>
        <p:spPr>
          <a:xfrm rot="20797632">
            <a:off x="204475" y="2315107"/>
            <a:ext cx="304836" cy="1219200"/>
          </a:xfrm>
          <a:custGeom>
            <a:avLst/>
            <a:gdLst>
              <a:gd name="connsiteX0" fmla="*/ 288794 w 304836"/>
              <a:gd name="connsiteY0" fmla="*/ 0 h 1219200"/>
              <a:gd name="connsiteX1" fmla="*/ 36 w 304836"/>
              <a:gd name="connsiteY1" fmla="*/ 577516 h 1219200"/>
              <a:gd name="connsiteX2" fmla="*/ 304836 w 304836"/>
              <a:gd name="connsiteY2" fmla="*/ 121920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36" h="1219200">
                <a:moveTo>
                  <a:pt x="288794" y="0"/>
                </a:moveTo>
                <a:cubicBezTo>
                  <a:pt x="143078" y="187158"/>
                  <a:pt x="-2638" y="374316"/>
                  <a:pt x="36" y="577516"/>
                </a:cubicBezTo>
                <a:cubicBezTo>
                  <a:pt x="2710" y="780716"/>
                  <a:pt x="153773" y="999958"/>
                  <a:pt x="304836" y="1219200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手繪多邊形: 圖案 9"/>
          <p:cNvSpPr/>
          <p:nvPr/>
        </p:nvSpPr>
        <p:spPr>
          <a:xfrm>
            <a:off x="256533" y="2656924"/>
            <a:ext cx="1284334" cy="1894272"/>
          </a:xfrm>
          <a:custGeom>
            <a:avLst/>
            <a:gdLst>
              <a:gd name="connsiteX0" fmla="*/ 1508099 w 1535026"/>
              <a:gd name="connsiteY0" fmla="*/ 6065 h 2060128"/>
              <a:gd name="connsiteX1" fmla="*/ 1459972 w 1535026"/>
              <a:gd name="connsiteY1" fmla="*/ 22107 h 2060128"/>
              <a:gd name="connsiteX2" fmla="*/ 240772 w 1535026"/>
              <a:gd name="connsiteY2" fmla="*/ 342950 h 2060128"/>
              <a:gd name="connsiteX3" fmla="*/ 141 w 1535026"/>
              <a:gd name="connsiteY3" fmla="*/ 1064844 h 2060128"/>
              <a:gd name="connsiteX4" fmla="*/ 208688 w 1535026"/>
              <a:gd name="connsiteY4" fmla="*/ 1899034 h 2060128"/>
              <a:gd name="connsiteX5" fmla="*/ 401193 w 1535026"/>
              <a:gd name="connsiteY5" fmla="*/ 2059455 h 2060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5026" h="2060128">
                <a:moveTo>
                  <a:pt x="1508099" y="6065"/>
                </a:moveTo>
                <a:cubicBezTo>
                  <a:pt x="1589646" y="-13988"/>
                  <a:pt x="1459972" y="22107"/>
                  <a:pt x="1459972" y="22107"/>
                </a:cubicBezTo>
                <a:cubicBezTo>
                  <a:pt x="1248751" y="78255"/>
                  <a:pt x="484077" y="169161"/>
                  <a:pt x="240772" y="342950"/>
                </a:cubicBezTo>
                <a:cubicBezTo>
                  <a:pt x="-2533" y="516740"/>
                  <a:pt x="5488" y="805497"/>
                  <a:pt x="141" y="1064844"/>
                </a:cubicBezTo>
                <a:cubicBezTo>
                  <a:pt x="-5206" y="1324191"/>
                  <a:pt x="141846" y="1733266"/>
                  <a:pt x="208688" y="1899034"/>
                </a:cubicBezTo>
                <a:cubicBezTo>
                  <a:pt x="275530" y="2064802"/>
                  <a:pt x="338361" y="2062128"/>
                  <a:pt x="401193" y="2059455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1153298" y="1121154"/>
            <a:ext cx="543760" cy="8800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2232568" y="1261534"/>
            <a:ext cx="505162" cy="421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591479" y="2407046"/>
            <a:ext cx="505162" cy="421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11" name="直線單箭頭接點 10"/>
          <p:cNvCxnSpPr>
            <a:stCxn id="15" idx="3"/>
          </p:cNvCxnSpPr>
          <p:nvPr/>
        </p:nvCxnSpPr>
        <p:spPr>
          <a:xfrm flipV="1">
            <a:off x="1863416" y="3598060"/>
            <a:ext cx="1516598" cy="102511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7021286" y="5563470"/>
            <a:ext cx="875075" cy="976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solidFill>
                  <a:prstClr val="black"/>
                </a:solidFill>
              </a:rPr>
              <a:t>2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76552" y="5542668"/>
            <a:ext cx="4686300" cy="447675"/>
          </a:xfrm>
          <a:prstGeom prst="rect">
            <a:avLst/>
          </a:prstGeom>
        </p:spPr>
      </p:pic>
      <p:grpSp>
        <p:nvGrpSpPr>
          <p:cNvPr id="28" name="群組 27"/>
          <p:cNvGrpSpPr/>
          <p:nvPr/>
        </p:nvGrpSpPr>
        <p:grpSpPr>
          <a:xfrm>
            <a:off x="1976552" y="6051809"/>
            <a:ext cx="4686300" cy="530228"/>
            <a:chOff x="1976552" y="6051809"/>
            <a:chExt cx="4686300" cy="530228"/>
          </a:xfrm>
        </p:grpSpPr>
        <p:sp>
          <p:nvSpPr>
            <p:cNvPr id="27" name="矩形 26"/>
            <p:cNvSpPr/>
            <p:nvPr/>
          </p:nvSpPr>
          <p:spPr>
            <a:xfrm>
              <a:off x="1976552" y="6051809"/>
              <a:ext cx="4686300" cy="530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pic>
          <p:nvPicPr>
            <p:cNvPr id="22" name="圖片 2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310680" y="6081547"/>
              <a:ext cx="2171700" cy="44767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4124619" y="1833656"/>
                <a:ext cx="18583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19" y="1833656"/>
                <a:ext cx="1858329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658" t="-3947" r="-10197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4124618" y="2330643"/>
                <a:ext cx="18583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18" y="2330643"/>
                <a:ext cx="1858329" cy="461665"/>
              </a:xfrm>
              <a:prstGeom prst="rect">
                <a:avLst/>
              </a:prstGeom>
              <a:blipFill rotWithShape="0">
                <a:blip r:embed="rId16"/>
                <a:stretch>
                  <a:fillRect l="-658" t="-3947" r="-10197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5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3" grpId="0"/>
      <p:bldP spid="14" grpId="0"/>
      <p:bldP spid="15" grpId="0"/>
      <p:bldP spid="16" grpId="0"/>
      <p:bldP spid="18" grpId="0"/>
      <p:bldP spid="7" grpId="0" animBg="1"/>
      <p:bldP spid="10" grpId="0" animBg="1"/>
      <p:bldP spid="23" grpId="0" animBg="1"/>
      <p:bldP spid="24" grpId="0" animBg="1"/>
      <p:bldP spid="21" grpId="0" animBg="1"/>
      <p:bldP spid="29" grpId="0"/>
      <p:bldP spid="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426953" y="823235"/>
                <a:ext cx="3541739" cy="777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zh-TW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53" y="823235"/>
                <a:ext cx="3541739" cy="77790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532881" y="764083"/>
                <a:ext cx="1584215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881" y="764083"/>
                <a:ext cx="1584215" cy="8962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203459" y="41308"/>
            <a:ext cx="48670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>
                <a:solidFill>
                  <a:prstClr val="black"/>
                </a:solidFill>
              </a:rPr>
              <a:t>Re-weighting Training Data</a:t>
            </a:r>
            <a:endParaRPr lang="zh-TW" altLang="en-US" sz="3200" b="1" i="1" u="sng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76688" y="3991687"/>
                <a:ext cx="4501745" cy="1034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88" y="3991687"/>
                <a:ext cx="4501745" cy="1034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678433" y="3991687"/>
                <a:ext cx="4453655" cy="1034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433" y="3991687"/>
                <a:ext cx="4453655" cy="10341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7984811" y="5064794"/>
                <a:ext cx="6476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811" y="5064794"/>
                <a:ext cx="647677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1321" r="-471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269140" y="5089438"/>
                <a:ext cx="14391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140" y="5089438"/>
                <a:ext cx="1439112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23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8161160" y="6185436"/>
                <a:ext cx="6496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160" y="6185436"/>
                <a:ext cx="649601" cy="43088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304695" y="5195343"/>
                <a:ext cx="249196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95" y="5195343"/>
                <a:ext cx="2491964" cy="80945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2098761" y="5780828"/>
                <a:ext cx="2583079" cy="941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761" y="5780828"/>
                <a:ext cx="2583079" cy="94186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070497" y="6094513"/>
                <a:ext cx="2938048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8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497" y="6094513"/>
                <a:ext cx="2938048" cy="5218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071468" y="5608180"/>
                <a:ext cx="373929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468" y="5608180"/>
                <a:ext cx="3739293" cy="43088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99451" y="1943002"/>
                <a:ext cx="3674531" cy="7782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zh-TW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51" y="1943002"/>
                <a:ext cx="3674531" cy="77829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5941727" y="1823596"/>
                <a:ext cx="3190361" cy="4712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multiplying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27" y="1823596"/>
                <a:ext cx="3190361" cy="471283"/>
              </a:xfrm>
              <a:prstGeom prst="rect">
                <a:avLst/>
              </a:prstGeom>
              <a:blipFill rotWithShape="0">
                <a:blip r:embed="rId14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5934860" y="2330643"/>
                <a:ext cx="30306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divided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860" y="2330643"/>
                <a:ext cx="3030638" cy="461665"/>
              </a:xfrm>
              <a:prstGeom prst="rect">
                <a:avLst/>
              </a:prstGeom>
              <a:blipFill rotWithShape="0">
                <a:blip r:embed="rId1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4124619" y="1833656"/>
                <a:ext cx="18583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19" y="1833656"/>
                <a:ext cx="1858329" cy="461665"/>
              </a:xfrm>
              <a:prstGeom prst="rect">
                <a:avLst/>
              </a:prstGeom>
              <a:blipFill rotWithShape="0">
                <a:blip r:embed="rId16"/>
                <a:stretch>
                  <a:fillRect l="-658" t="-3947" r="-10197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4124618" y="2330643"/>
                <a:ext cx="18583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18" y="2330643"/>
                <a:ext cx="1858329" cy="461665"/>
              </a:xfrm>
              <a:prstGeom prst="rect">
                <a:avLst/>
              </a:prstGeom>
              <a:blipFill rotWithShape="0">
                <a:blip r:embed="rId17"/>
                <a:stretch>
                  <a:fillRect l="-658" t="-3947" r="-10197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9451" y="2946860"/>
            <a:ext cx="5981700" cy="1038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5982947" y="2976096"/>
                <a:ext cx="3041089" cy="9766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947" y="2976096"/>
                <a:ext cx="3041089" cy="976678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5"/>
          <p:cNvCxnSpPr/>
          <p:nvPr/>
        </p:nvCxnSpPr>
        <p:spPr>
          <a:xfrm>
            <a:off x="7491119" y="5025881"/>
            <a:ext cx="15329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5216488" y="5002575"/>
            <a:ext cx="15329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97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7" grpId="0"/>
      <p:bldP spid="26" grpId="0"/>
      <p:bldP spid="28" grpId="0"/>
      <p:bldP spid="29" grpId="0"/>
      <p:bldP spid="30" grpId="0"/>
      <p:bldP spid="2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for </a:t>
            </a:r>
            <a:r>
              <a:rPr lang="en-US" altLang="zh-TW" dirty="0" err="1"/>
              <a:t>AdaBoost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79961"/>
                <a:ext cx="7886700" cy="5032375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/>
                  <a:t>Giving training data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lang="zh-TW" altLang="en-US" sz="2400" dirty="0"/>
                  <a:t> </a:t>
                </a:r>
                <a:endParaRPr lang="en-US" altLang="zh-TW" sz="24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(Binary classification),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dirty="0"/>
                  <a:t> (equal weights)</a:t>
                </a:r>
              </a:p>
              <a:p>
                <a:r>
                  <a:rPr lang="en-US" altLang="zh-TW" sz="2400" dirty="0"/>
                  <a:t>For t = 1, …, T:</a:t>
                </a:r>
              </a:p>
              <a:p>
                <a:pPr lvl="1"/>
                <a:r>
                  <a:rPr lang="en-US" altLang="zh-TW" dirty="0"/>
                  <a:t>Training weak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with weights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>
                    <a:latin typeface="Cambria Math" panose="02040503050406030204" pitchFamily="18" charset="0"/>
                  </a:rPr>
                  <a:t>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is the error rate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with weights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For n = 1, …, N:</a:t>
                </a:r>
              </a:p>
              <a:p>
                <a:pPr lvl="2"/>
                <a:r>
                  <a:rPr lang="en-US" altLang="zh-TW" sz="24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/>
                  <a:t> is misclassified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: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lvl="2"/>
                <a:r>
                  <a:rPr lang="en-US" altLang="zh-TW" sz="2400" dirty="0"/>
                  <a:t>Else: </a:t>
                </a:r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lvl="3"/>
                <a:endParaRPr lang="en-US" altLang="zh-TW" sz="2400" dirty="0"/>
              </a:p>
              <a:p>
                <a:endParaRPr lang="zh-TW" altLang="en-US" sz="2400" dirty="0"/>
              </a:p>
              <a:p>
                <a:pPr marL="0" indent="0">
                  <a:buNone/>
                </a:pPr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79961"/>
                <a:ext cx="7886700" cy="5032375"/>
              </a:xfrm>
              <a:blipFill rotWithShape="0">
                <a:blip r:embed="rId3"/>
                <a:stretch>
                  <a:fillRect l="-1005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483365" y="6027661"/>
                <a:ext cx="523604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Sup>
                        <m:sSubSup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365" y="6027661"/>
                <a:ext cx="5236049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1501149" y="4330006"/>
            <a:ext cx="7466388" cy="161576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6109058" y="4750861"/>
                <a:ext cx="2460161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058" y="4750861"/>
                <a:ext cx="2460161" cy="447238"/>
              </a:xfrm>
              <a:prstGeom prst="rect">
                <a:avLst/>
              </a:prstGeom>
              <a:blipFill rotWithShape="0">
                <a:blip r:embed="rId5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109058" y="5248875"/>
                <a:ext cx="274594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𝑙𝑛</m:t>
                      </m:r>
                      <m:rad>
                        <m:radPr>
                          <m:deg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058" y="5248875"/>
                <a:ext cx="2745945" cy="447238"/>
              </a:xfrm>
              <a:prstGeom prst="rect">
                <a:avLst/>
              </a:prstGeom>
              <a:blipFill rotWithShape="0">
                <a:blip r:embed="rId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764758" y="4676223"/>
                <a:ext cx="22818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m:rPr>
                          <m:sty m:val="p"/>
                        </m:rPr>
                        <a:rPr lang="en-US" altLang="zh-TW" sz="2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xp</m:t>
                      </m:r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758" y="4676223"/>
                <a:ext cx="2281843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564733" y="5472494"/>
                <a:ext cx="253146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m:rPr>
                          <m:sty m:val="p"/>
                        </m:rPr>
                        <a:rPr lang="en-US" altLang="zh-TW" sz="2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xp</m:t>
                      </m:r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733" y="5472494"/>
                <a:ext cx="2531462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641013" y="4278088"/>
                <a:ext cx="1841017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013" y="4278088"/>
                <a:ext cx="1841017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5381469" y="6027661"/>
            <a:ext cx="1603947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31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 animBg="1"/>
      <p:bldP spid="11" grpId="0"/>
      <p:bldP spid="12" grpId="0"/>
      <p:bldP spid="4" grpId="0"/>
      <p:bldP spid="13" grpId="0"/>
      <p:bldP spid="14" grpId="0" animBg="1"/>
      <p:bldP spid="5" grpId="0" animBg="1"/>
      <p:bldP spid="5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for </a:t>
            </a:r>
            <a:r>
              <a:rPr lang="en-US" altLang="zh-TW" dirty="0" err="1"/>
              <a:t>AdaBoost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We obtain a set of functions: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How to aggregate them?</a:t>
                </a:r>
              </a:p>
              <a:p>
                <a:pPr lvl="1"/>
                <a:r>
                  <a:rPr lang="en-US" altLang="zh-TW" sz="2800" dirty="0"/>
                  <a:t>Uniform weight: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altLang="zh-TW" sz="2800" dirty="0"/>
              </a:p>
              <a:p>
                <a:pPr lvl="1"/>
                <a:r>
                  <a:rPr lang="en-US" altLang="zh-TW" sz="2800" dirty="0"/>
                  <a:t>Non-uniform weight: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altLang="zh-TW" sz="2800" dirty="0"/>
              </a:p>
              <a:p>
                <a:pPr lvl="1"/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175788" y="3610121"/>
                <a:ext cx="2448862" cy="1200329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white"/>
                    </a:solidFill>
                  </a:rPr>
                  <a:t>Smaller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prstClr val="white"/>
                    </a:solidFill>
                  </a:rPr>
                  <a:t>, larger weight for final voting</a:t>
                </a:r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788" y="3610121"/>
                <a:ext cx="2448862" cy="12003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82505" y="5401882"/>
                <a:ext cx="11510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505" y="5401882"/>
                <a:ext cx="1151084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587" r="-529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7367486" y="5401882"/>
                <a:ext cx="11510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486" y="5401882"/>
                <a:ext cx="1151084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28" r="-5319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697495" y="5950698"/>
                <a:ext cx="11759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1.10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495" y="5950698"/>
                <a:ext cx="117596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736" t="-24590" r="-12953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7382476" y="5950698"/>
                <a:ext cx="11759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0.20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476" y="5950698"/>
                <a:ext cx="1175963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6218" t="-24590" r="-13472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069404" y="5898828"/>
                <a:ext cx="44102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404" y="5898828"/>
                <a:ext cx="4410246" cy="461665"/>
              </a:xfrm>
              <a:prstGeom prst="rect">
                <a:avLst/>
              </a:prstGeom>
              <a:blipFill rotWithShape="0">
                <a:blip r:embed="rId8"/>
                <a:stretch>
                  <a:fillRect t="-4000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454806" y="5268060"/>
                <a:ext cx="274594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𝑙𝑛</m:t>
                      </m:r>
                      <m:rad>
                        <m:radPr>
                          <m:degHide m:val="on"/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806" y="5268060"/>
                <a:ext cx="2745945" cy="447238"/>
              </a:xfrm>
              <a:prstGeom prst="rect">
                <a:avLst/>
              </a:prstGeom>
              <a:blipFill rotWithShape="0">
                <a:blip r:embed="rId9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95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949545" y="2667734"/>
            <a:ext cx="2081178" cy="30841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70723" y="2651440"/>
            <a:ext cx="948409" cy="3084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Toy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t=1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627093" y="285931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086226" y="338253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002978" y="312092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325462" y="390575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398032" y="4670891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31337" y="3856942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137865" y="4936996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682664" y="390575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501816" y="308890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501815" y="4670891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70723" y="2675636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660121" y="3184601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75758" y="2886301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743177" y="3388905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171318" y="3049882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989429" y="3927746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055097" y="4724724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846562" y="4992487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176634" y="4701668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472059" y="4142957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809722" y="4088910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030723" y="784597"/>
            <a:ext cx="49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T=3, weak classifier = decision stump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cxnSp>
        <p:nvCxnSpPr>
          <p:cNvPr id="50" name="直線接點 49"/>
          <p:cNvCxnSpPr/>
          <p:nvPr/>
        </p:nvCxnSpPr>
        <p:spPr>
          <a:xfrm>
            <a:off x="1919132" y="2651440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1446985" y="5800504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985" y="5800504"/>
                <a:ext cx="944294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645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4122183" y="4519625"/>
                <a:ext cx="15157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=0.30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83" y="4519625"/>
                <a:ext cx="1515798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箭號: 向右 54"/>
          <p:cNvSpPr/>
          <p:nvPr/>
        </p:nvSpPr>
        <p:spPr>
          <a:xfrm>
            <a:off x="4287134" y="3856942"/>
            <a:ext cx="1160221" cy="62552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4115096" y="5049254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=1.53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096" y="5049254"/>
                <a:ext cx="1490501" cy="461665"/>
              </a:xfrm>
              <a:prstGeom prst="rect">
                <a:avLst/>
              </a:prstGeom>
              <a:blipFill rotWithShape="0">
                <a:blip r:embed="rId4"/>
                <a:stretch>
                  <a:fillRect r="-81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4122183" y="5543731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=0.42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83" y="5543731"/>
                <a:ext cx="1490501" cy="461665"/>
              </a:xfrm>
              <a:prstGeom prst="rect">
                <a:avLst/>
              </a:prstGeom>
              <a:blipFill rotWithShape="0">
                <a:blip r:embed="rId5"/>
                <a:stretch>
                  <a:fillRect r="-40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59"/>
          <p:cNvSpPr txBox="1"/>
          <p:nvPr/>
        </p:nvSpPr>
        <p:spPr>
          <a:xfrm>
            <a:off x="7392350" y="2759056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073860" y="3982049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+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6095637" y="4774350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+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711875" y="3916996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6876876" y="5026378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407566" y="3966460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8211502" y="3105203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8199058" y="4747834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680409" y="2691930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6168439" y="3200895"/>
            <a:ext cx="88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1.53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912518" y="2902595"/>
            <a:ext cx="75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1.53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7312091" y="3405199"/>
            <a:ext cx="8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1.53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743530" y="3066176"/>
            <a:ext cx="8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637981" y="3944040"/>
            <a:ext cx="744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5605597" y="4741018"/>
            <a:ext cx="842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448056" y="5008781"/>
            <a:ext cx="79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762462" y="4717962"/>
            <a:ext cx="807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7181745" y="4159251"/>
            <a:ext cx="82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6519408" y="4105204"/>
            <a:ext cx="73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83" name="橢圓 82"/>
          <p:cNvSpPr/>
          <p:nvPr/>
        </p:nvSpPr>
        <p:spPr>
          <a:xfrm>
            <a:off x="1827274" y="3150002"/>
            <a:ext cx="628650" cy="4930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2443291" y="2852913"/>
            <a:ext cx="628650" cy="4930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85" name="橢圓 84"/>
          <p:cNvSpPr/>
          <p:nvPr/>
        </p:nvSpPr>
        <p:spPr>
          <a:xfrm>
            <a:off x="2842792" y="3397606"/>
            <a:ext cx="699742" cy="4930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7834875" y="3259585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6711875" y="3034445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78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2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47" grpId="0"/>
      <p:bldP spid="51" grpId="0"/>
      <p:bldP spid="54" grpId="0"/>
      <p:bldP spid="55" grpId="0" animBg="1"/>
      <p:bldP spid="56" grpId="0"/>
      <p:bldP spid="57" grpId="0"/>
      <p:bldP spid="60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3" grpId="0" animBg="1"/>
      <p:bldP spid="84" grpId="0" animBg="1"/>
      <p:bldP spid="85" grpId="0" animBg="1"/>
      <p:bldP spid="86" grpId="0"/>
      <p:bldP spid="8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3658812" y="2783848"/>
            <a:ext cx="374931" cy="30841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84182" y="2776947"/>
            <a:ext cx="2634333" cy="3084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Toy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t=2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141031" y="754172"/>
            <a:ext cx="49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T=3, weak classifier = decision stump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697764" y="2875170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379274" y="4098163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+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401051" y="4890464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+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017289" y="4033110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82290" y="5142492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12980" y="4082574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516916" y="3221317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04472" y="4863948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85823" y="2808044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473853" y="3317009"/>
            <a:ext cx="88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1.53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217932" y="3018709"/>
            <a:ext cx="75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1.53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617505" y="3521313"/>
            <a:ext cx="8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1.53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048944" y="3182290"/>
            <a:ext cx="8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943395" y="4060154"/>
            <a:ext cx="744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911011" y="4857132"/>
            <a:ext cx="842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753470" y="5124895"/>
            <a:ext cx="79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067876" y="4834076"/>
            <a:ext cx="807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487159" y="4275365"/>
            <a:ext cx="82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824822" y="4221318"/>
            <a:ext cx="73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0.65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140289" y="3375699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017289" y="3150559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cxnSp>
        <p:nvCxnSpPr>
          <p:cNvPr id="28" name="直線接點 27"/>
          <p:cNvCxnSpPr/>
          <p:nvPr/>
        </p:nvCxnSpPr>
        <p:spPr>
          <a:xfrm>
            <a:off x="3618515" y="2783848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3184293" y="5819652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293" y="5819652"/>
                <a:ext cx="944294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1290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4107668" y="4519625"/>
                <a:ext cx="15526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=0.21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668" y="4519625"/>
                <a:ext cx="1552687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箭號: 向右 30"/>
          <p:cNvSpPr/>
          <p:nvPr/>
        </p:nvSpPr>
        <p:spPr>
          <a:xfrm>
            <a:off x="4287134" y="3856942"/>
            <a:ext cx="1160221" cy="62552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4115096" y="5049254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=1.94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096" y="5049254"/>
                <a:ext cx="1490501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408" r="-40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4122183" y="5543731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=0.66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83" y="5543731"/>
                <a:ext cx="1490501" cy="461665"/>
              </a:xfrm>
              <a:prstGeom prst="rect">
                <a:avLst/>
              </a:prstGeom>
              <a:blipFill rotWithShape="0">
                <a:blip r:embed="rId5"/>
                <a:stretch>
                  <a:fillRect r="-81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橢圓 33"/>
          <p:cNvSpPr/>
          <p:nvPr/>
        </p:nvSpPr>
        <p:spPr>
          <a:xfrm>
            <a:off x="1842315" y="4299791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2590615" y="4335622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1812440" y="5168052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335154" y="2962522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5986776" y="4054619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</a:rPr>
              <a:t>+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08553" y="4846920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</a:rPr>
              <a:t>+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769931" y="3889782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934932" y="4999164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465622" y="3939246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153446" y="3192287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FF0000"/>
                </a:solidFill>
              </a:rPr>
              <a:t>-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8141002" y="4834918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FF0000"/>
                </a:solidFill>
              </a:rPr>
              <a:t>-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680409" y="2764500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168439" y="3273465"/>
            <a:ext cx="88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0.78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6912518" y="2975165"/>
            <a:ext cx="75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0.78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7312091" y="3477769"/>
            <a:ext cx="8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0.78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7773339" y="3166436"/>
            <a:ext cx="82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0.33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637981" y="4016610"/>
            <a:ext cx="744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0.33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605597" y="4813588"/>
            <a:ext cx="84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0.33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6448056" y="5081351"/>
            <a:ext cx="79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1.26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7762462" y="4790532"/>
            <a:ext cx="80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0.33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7181745" y="4231821"/>
            <a:ext cx="82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1.26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519408" y="4177774"/>
            <a:ext cx="73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1.26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7777679" y="3463051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6654679" y="3237911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1814478" y="2040333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=0.42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478" y="2040333"/>
                <a:ext cx="1490501" cy="461665"/>
              </a:xfrm>
              <a:prstGeom prst="rect">
                <a:avLst/>
              </a:prstGeom>
              <a:blipFill rotWithShape="0">
                <a:blip r:embed="rId6"/>
                <a:stretch>
                  <a:fillRect r="-41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2377585" y="1459856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: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585" y="1459856"/>
                <a:ext cx="944294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5161" t="-10526" r="-9677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圖片 5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6907" y="1383859"/>
            <a:ext cx="1250206" cy="125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5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 animBg="1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901040" y="4166423"/>
            <a:ext cx="3034542" cy="1899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87099" y="3031227"/>
            <a:ext cx="3048483" cy="1090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Toy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t=3</a:t>
            </a:r>
            <a:endParaRPr lang="zh-TW" altLang="en-US" dirty="0"/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677732" y="2142393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=0.42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732" y="2142393"/>
                <a:ext cx="1490501" cy="461665"/>
              </a:xfrm>
              <a:prstGeom prst="rect">
                <a:avLst/>
              </a:prstGeom>
              <a:blipFill rotWithShape="0">
                <a:blip r:embed="rId2"/>
                <a:stretch>
                  <a:fillRect r="-40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240839" y="1561916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: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839" y="1561916"/>
                <a:ext cx="94429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5844" t="-10526" r="-974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161" y="1485919"/>
            <a:ext cx="1250206" cy="1250206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4141031" y="754172"/>
            <a:ext cx="49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T=3, weak classifier = decision stump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640662" y="2110870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=0.66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62" y="2110870"/>
                <a:ext cx="1490501" cy="461665"/>
              </a:xfrm>
              <a:prstGeom prst="rect">
                <a:avLst/>
              </a:prstGeom>
              <a:blipFill rotWithShape="0">
                <a:blip r:embed="rId5"/>
                <a:stretch>
                  <a:fillRect r="-81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066360" y="1530392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: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360" y="1530392"/>
                <a:ext cx="944294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5161" t="-10526" r="-1871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164" y="1454397"/>
            <a:ext cx="1281728" cy="1281728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2546893" y="3204229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198515" y="4296326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</a:rPr>
              <a:t>+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220292" y="5088627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</a:rPr>
              <a:t>+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981670" y="4131489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146671" y="5240871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677361" y="4180953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365185" y="3433994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FF0000"/>
                </a:solidFill>
              </a:rPr>
              <a:t>-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352741" y="5076625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FF0000"/>
                </a:solidFill>
              </a:rPr>
              <a:t>-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2148" y="3006207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380178" y="3515172"/>
            <a:ext cx="88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0.78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124257" y="3216872"/>
            <a:ext cx="75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0.78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523830" y="3719476"/>
            <a:ext cx="8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0.78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985078" y="3408143"/>
            <a:ext cx="82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0.33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849720" y="4258317"/>
            <a:ext cx="744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0.33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17336" y="5055295"/>
            <a:ext cx="84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0.33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659795" y="5323058"/>
            <a:ext cx="79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1.26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974201" y="5032239"/>
            <a:ext cx="80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0.33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2393484" y="4473528"/>
            <a:ext cx="82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1.26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731147" y="4419481"/>
            <a:ext cx="73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1.26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89418" y="3704758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866418" y="3479618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4031381" y="4497451"/>
                <a:ext cx="15526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=0.13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381" y="4497451"/>
                <a:ext cx="1552687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4038809" y="5027080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=2.59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809" y="5027080"/>
                <a:ext cx="1490501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410" r="-82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045896" y="5521557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896" y="5521557"/>
                <a:ext cx="1490501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123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/>
          <p:cNvCxnSpPr/>
          <p:nvPr/>
        </p:nvCxnSpPr>
        <p:spPr>
          <a:xfrm rot="5400000">
            <a:off x="2393484" y="2594008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968205" y="4226122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3170198" y="3402290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968205" y="5020788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-9275" y="3885598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75" y="3885598"/>
                <a:ext cx="944294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29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5835168" y="3848273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168" y="3848273"/>
                <a:ext cx="1490501" cy="461665"/>
              </a:xfrm>
              <a:prstGeom prst="rect">
                <a:avLst/>
              </a:prstGeom>
              <a:blipFill rotWithShape="0">
                <a:blip r:embed="rId12"/>
                <a:stretch>
                  <a:fillRect r="-1224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6260866" y="3267795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: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866" y="3267795"/>
                <a:ext cx="944294" cy="461665"/>
              </a:xfrm>
              <a:prstGeom prst="rect">
                <a:avLst/>
              </a:prstGeom>
              <a:blipFill rotWithShape="0">
                <a:blip r:embed="rId13"/>
                <a:stretch>
                  <a:fillRect l="-5161" t="-10526" r="-1871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圖片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5033" y="3152865"/>
            <a:ext cx="1298156" cy="129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1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8" grpId="0"/>
      <p:bldP spid="9" grpId="0"/>
      <p:bldP spid="32" grpId="0"/>
      <p:bldP spid="34" grpId="0"/>
      <p:bldP spid="35" grpId="0"/>
      <p:bldP spid="39" grpId="0" animBg="1"/>
      <p:bldP spid="40" grpId="0" animBg="1"/>
      <p:bldP spid="41" grpId="0" animBg="1"/>
      <p:bldP spid="42" grpId="0"/>
      <p:bldP spid="44" grpId="0"/>
      <p:bldP spid="4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102246" y="3574791"/>
            <a:ext cx="898789" cy="1200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84169" y="4840328"/>
            <a:ext cx="1615522" cy="18177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788100" y="4799197"/>
            <a:ext cx="380944" cy="18177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068352" y="3555098"/>
            <a:ext cx="1626585" cy="1200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Toy 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57678" y="1444059"/>
                <a:ext cx="7886700" cy="4351338"/>
              </a:xfrm>
            </p:spPr>
            <p:txBody>
              <a:bodyPr/>
              <a:lstStyle/>
              <a:p>
                <a:r>
                  <a:rPr lang="en-US" altLang="zh-TW" dirty="0"/>
                  <a:t>Final Classifier: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678" y="1444059"/>
                <a:ext cx="7886700" cy="4351338"/>
              </a:xfrm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326952" y="2441484"/>
                <a:ext cx="8658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0.42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952" y="2441484"/>
                <a:ext cx="865827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780" y="2062975"/>
            <a:ext cx="1250206" cy="12502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827862" y="2441483"/>
                <a:ext cx="7876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0.66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862" y="2441483"/>
                <a:ext cx="787681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300996" y="2441483"/>
                <a:ext cx="7688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996" y="2441483"/>
                <a:ext cx="768832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794" r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3346910" y="2406512"/>
            <a:ext cx="721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+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788100" y="2414697"/>
            <a:ext cx="721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+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41895" y="2441483"/>
                <a:ext cx="9423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95" y="2441483"/>
                <a:ext cx="942309" cy="43088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8436004" y="2414697"/>
                <a:ext cx="2308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04" y="2414697"/>
                <a:ext cx="230832" cy="43088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5776697" y="3574790"/>
            <a:ext cx="380944" cy="11786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02246" y="4835911"/>
            <a:ext cx="948409" cy="1781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758616" y="374065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217749" y="426387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134501" y="400226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456985" y="478709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529555" y="5552236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162860" y="4738287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69388" y="5818341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814187" y="478709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33339" y="397025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633338" y="5552236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102246" y="3556981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37" name="直線接點 36"/>
          <p:cNvCxnSpPr/>
          <p:nvPr/>
        </p:nvCxnSpPr>
        <p:spPr>
          <a:xfrm>
            <a:off x="4050655" y="3532785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5744558" y="3556981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rot="5400000">
            <a:off x="4615543" y="3245001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圖片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341" y="2036550"/>
            <a:ext cx="1281728" cy="1281728"/>
          </a:xfrm>
          <a:prstGeom prst="rect">
            <a:avLst/>
          </a:prstGeom>
        </p:spPr>
      </p:pic>
      <p:pic>
        <p:nvPicPr>
          <p:cNvPr id="35" name="圖片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9957" y="1985081"/>
            <a:ext cx="1298156" cy="129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5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6" grpId="0" animBg="1"/>
      <p:bldP spid="45" grpId="0" animBg="1"/>
      <p:bldP spid="44" grpId="0" animBg="1"/>
      <p:bldP spid="14" grpId="0" animBg="1"/>
      <p:bldP spid="1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49" y="263776"/>
            <a:ext cx="8488242" cy="634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887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22" y="311732"/>
            <a:ext cx="8550016" cy="605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837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49" y="231975"/>
            <a:ext cx="8515035" cy="617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194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WordArt 5" descr="PCMahalanobis"/>
          <p:cNvSpPr>
            <a:spLocks noChangeArrowheads="1" noChangeShapeType="1" noTextEdit="1"/>
          </p:cNvSpPr>
          <p:nvPr/>
        </p:nvSpPr>
        <p:spPr bwMode="auto">
          <a:xfrm>
            <a:off x="785813" y="571500"/>
            <a:ext cx="7000875" cy="52149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blipFill dpi="0" rotWithShape="0">
                  <a:blip r:embed="rId2"/>
                  <a:srcRect/>
                  <a:stretch>
                    <a:fillRect/>
                  </a:stretch>
                </a:blipFill>
                <a:latin typeface="Impact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6.7|14.7|15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6.7|14.7|15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6.7|14.7|15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6.7|14.7|15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6.7|14.7|15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6.7|14.7|15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6.7|14.7|15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6.7|14.7|15.7"/>
</p:tagLst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-110" charset="2"/>
          <a:buChar char="n"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-110" charset="2"/>
          <a:buChar char="n"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11233</TotalTime>
  <Words>2745</Words>
  <Application>Microsoft Office PowerPoint</Application>
  <PresentationFormat>On-screen Show (4:3)</PresentationFormat>
  <Paragraphs>659</Paragraphs>
  <Slides>64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64</vt:i4>
      </vt:variant>
    </vt:vector>
  </HeadingPairs>
  <TitlesOfParts>
    <vt:vector size="84" baseType="lpstr">
      <vt:lpstr>MS PGothic</vt:lpstr>
      <vt:lpstr>Arial</vt:lpstr>
      <vt:lpstr>Arial Rounded MT Bold</vt:lpstr>
      <vt:lpstr>Calibri</vt:lpstr>
      <vt:lpstr>Calibri Light</vt:lpstr>
      <vt:lpstr>Cambria Math</vt:lpstr>
      <vt:lpstr>Comic Sans MS</vt:lpstr>
      <vt:lpstr>Garamond</vt:lpstr>
      <vt:lpstr>Impact</vt:lpstr>
      <vt:lpstr>Times New Roman</vt:lpstr>
      <vt:lpstr>Wingdings</vt:lpstr>
      <vt:lpstr>1_Default Design</vt:lpstr>
      <vt:lpstr>Default Design</vt:lpstr>
      <vt:lpstr>2_Default Design</vt:lpstr>
      <vt:lpstr>Office Theme</vt:lpstr>
      <vt:lpstr>Office 佈景主題</vt:lpstr>
      <vt:lpstr>Edge</vt:lpstr>
      <vt:lpstr>Visio</vt:lpstr>
      <vt:lpstr>Equation</vt:lpstr>
      <vt:lpstr>Worksheet</vt:lpstr>
      <vt:lpstr>Tree-based Classifiers and Ensemble Methods  </vt:lpstr>
      <vt:lpstr>Introduction</vt:lpstr>
      <vt:lpstr>A toy data of loan applicants</vt:lpstr>
      <vt:lpstr>A decision tree from the loan data</vt:lpstr>
      <vt:lpstr>Use the decision tree</vt:lpstr>
      <vt:lpstr>Is the decision tree unique?</vt:lpstr>
      <vt:lpstr>From a decision tree to a set of rules</vt:lpstr>
      <vt:lpstr>Algorithm for decision tree learning</vt:lpstr>
      <vt:lpstr>Decision tree learning algorithm</vt:lpstr>
      <vt:lpstr>Choose an attribute to partition data </vt:lpstr>
      <vt:lpstr>The loan data (reproduced)</vt:lpstr>
      <vt:lpstr>Two possible roots, which is better?</vt:lpstr>
      <vt:lpstr>Information theory</vt:lpstr>
      <vt:lpstr>Information theory (cont …)</vt:lpstr>
      <vt:lpstr>Information theory: Entropy measure</vt:lpstr>
      <vt:lpstr>Entropy measure: let us get a feeling</vt:lpstr>
      <vt:lpstr>Information gain</vt:lpstr>
      <vt:lpstr>Information gain (cont …)</vt:lpstr>
      <vt:lpstr>An example</vt:lpstr>
      <vt:lpstr>We build the final tree</vt:lpstr>
      <vt:lpstr>Handling continuous attributes</vt:lpstr>
      <vt:lpstr>An example in a continuous space</vt:lpstr>
      <vt:lpstr>An example</vt:lpstr>
      <vt:lpstr>Ensemble</vt:lpstr>
      <vt:lpstr>Motivations</vt:lpstr>
      <vt:lpstr>PowerPoint Presentation</vt:lpstr>
      <vt:lpstr>Why Ensemble Works? (2)</vt:lpstr>
      <vt:lpstr>Ensemble of Classifiers—Learn to Combine</vt:lpstr>
      <vt:lpstr>Ensemble of Classifiers—Consensus</vt:lpstr>
      <vt:lpstr>Bias and Variance</vt:lpstr>
      <vt:lpstr>Generating Base Classifiers</vt:lpstr>
      <vt:lpstr>PowerPoint Presentation</vt:lpstr>
      <vt:lpstr>PowerPoint Presentation</vt:lpstr>
      <vt:lpstr>PowerPoint Presentation</vt:lpstr>
      <vt:lpstr>Random forest classifier</vt:lpstr>
      <vt:lpstr>Random Forest Classifier</vt:lpstr>
      <vt:lpstr>Random Forest Classifier</vt:lpstr>
      <vt:lpstr>Random Forest Classifier</vt:lpstr>
      <vt:lpstr>Random Forest Classifier</vt:lpstr>
      <vt:lpstr>Random Forest Classifier</vt:lpstr>
      <vt:lpstr>Random Forest Classifier</vt:lpstr>
      <vt:lpstr>PowerPoint Presentation</vt:lpstr>
      <vt:lpstr>Random Forests: Pros and Cons</vt:lpstr>
      <vt:lpstr>Random forest</vt:lpstr>
      <vt:lpstr>PowerPoint Presentation</vt:lpstr>
      <vt:lpstr>PowerPoint Presentation</vt:lpstr>
      <vt:lpstr>PowerPoint Presentation</vt:lpstr>
      <vt:lpstr>Boosting</vt:lpstr>
      <vt:lpstr>How to obtain different classifiers?</vt:lpstr>
      <vt:lpstr>Idea of Adaboost</vt:lpstr>
      <vt:lpstr>Re-weighting Training Data</vt:lpstr>
      <vt:lpstr>Re-weighting Training Data</vt:lpstr>
      <vt:lpstr>PowerPoint Presentation</vt:lpstr>
      <vt:lpstr>PowerPoint Presentation</vt:lpstr>
      <vt:lpstr>Algorithm for AdaBoost</vt:lpstr>
      <vt:lpstr>Algorithm for AdaBoost</vt:lpstr>
      <vt:lpstr>Toy Example</vt:lpstr>
      <vt:lpstr>Toy Example</vt:lpstr>
      <vt:lpstr>Toy Example</vt:lpstr>
      <vt:lpstr>Toy Example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 – Neural Networks</dc:title>
  <dc:creator>Andrew Rosenberg</dc:creator>
  <cp:lastModifiedBy>Swagatam Das</cp:lastModifiedBy>
  <cp:revision>40</cp:revision>
  <cp:lastPrinted>2010-03-18T17:14:41Z</cp:lastPrinted>
  <dcterms:created xsi:type="dcterms:W3CDTF">2010-03-18T13:13:05Z</dcterms:created>
  <dcterms:modified xsi:type="dcterms:W3CDTF">2025-01-25T09:35:22Z</dcterms:modified>
</cp:coreProperties>
</file>