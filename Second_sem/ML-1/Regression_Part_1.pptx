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3.wmf"/><Relationship Id="rId2" Type="http://schemas.openxmlformats.org/officeDocument/2006/relationships/image" Target="../media/image29.wmf"/><Relationship Id="rId1" Type="http://schemas.openxmlformats.org/officeDocument/2006/relationships/image" Target="../media/image13.wmf"/><Relationship Id="rId6" Type="http://schemas.openxmlformats.org/officeDocument/2006/relationships/image" Target="../media/image22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36.wmf"/><Relationship Id="rId7" Type="http://schemas.openxmlformats.org/officeDocument/2006/relationships/image" Target="../media/image29.wmf"/><Relationship Id="rId2" Type="http://schemas.openxmlformats.org/officeDocument/2006/relationships/image" Target="../media/image35.wmf"/><Relationship Id="rId1" Type="http://schemas.openxmlformats.org/officeDocument/2006/relationships/image" Target="../media/image13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22.wmf"/><Relationship Id="rId9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0.wmf"/><Relationship Id="rId4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image" Target="../media/image59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12" Type="http://schemas.openxmlformats.org/officeDocument/2006/relationships/image" Target="../media/image58.wmf"/><Relationship Id="rId2" Type="http://schemas.openxmlformats.org/officeDocument/2006/relationships/image" Target="../media/image62.wmf"/><Relationship Id="rId1" Type="http://schemas.openxmlformats.org/officeDocument/2006/relationships/image" Target="../media/image13.wmf"/><Relationship Id="rId6" Type="http://schemas.openxmlformats.org/officeDocument/2006/relationships/image" Target="../media/image66.wmf"/><Relationship Id="rId11" Type="http://schemas.openxmlformats.org/officeDocument/2006/relationships/image" Target="../media/image61.wmf"/><Relationship Id="rId5" Type="http://schemas.openxmlformats.org/officeDocument/2006/relationships/image" Target="../media/image65.wmf"/><Relationship Id="rId15" Type="http://schemas.openxmlformats.org/officeDocument/2006/relationships/image" Target="../media/image41.wmf"/><Relationship Id="rId10" Type="http://schemas.openxmlformats.org/officeDocument/2006/relationships/image" Target="../media/image6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Relationship Id="rId14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image" Target="../media/image59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12" Type="http://schemas.openxmlformats.org/officeDocument/2006/relationships/image" Target="../media/image58.wmf"/><Relationship Id="rId2" Type="http://schemas.openxmlformats.org/officeDocument/2006/relationships/image" Target="../media/image62.wmf"/><Relationship Id="rId1" Type="http://schemas.openxmlformats.org/officeDocument/2006/relationships/image" Target="../media/image13.wmf"/><Relationship Id="rId6" Type="http://schemas.openxmlformats.org/officeDocument/2006/relationships/image" Target="../media/image66.wmf"/><Relationship Id="rId11" Type="http://schemas.openxmlformats.org/officeDocument/2006/relationships/image" Target="../media/image61.wmf"/><Relationship Id="rId5" Type="http://schemas.openxmlformats.org/officeDocument/2006/relationships/image" Target="../media/image70.wmf"/><Relationship Id="rId15" Type="http://schemas.openxmlformats.org/officeDocument/2006/relationships/image" Target="../media/image41.wmf"/><Relationship Id="rId10" Type="http://schemas.openxmlformats.org/officeDocument/2006/relationships/image" Target="../media/image6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Relationship Id="rId14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5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7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77.wmf"/><Relationship Id="rId7" Type="http://schemas.openxmlformats.org/officeDocument/2006/relationships/image" Target="../media/image41.wmf"/><Relationship Id="rId2" Type="http://schemas.openxmlformats.org/officeDocument/2006/relationships/image" Target="../media/image76.wmf"/><Relationship Id="rId1" Type="http://schemas.openxmlformats.org/officeDocument/2006/relationships/image" Target="../media/image13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9" Type="http://schemas.openxmlformats.org/officeDocument/2006/relationships/image" Target="../media/image81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77.wmf"/><Relationship Id="rId7" Type="http://schemas.openxmlformats.org/officeDocument/2006/relationships/image" Target="../media/image83.wmf"/><Relationship Id="rId2" Type="http://schemas.openxmlformats.org/officeDocument/2006/relationships/image" Target="../media/image76.wmf"/><Relationship Id="rId1" Type="http://schemas.openxmlformats.org/officeDocument/2006/relationships/image" Target="../media/image13.wmf"/><Relationship Id="rId6" Type="http://schemas.openxmlformats.org/officeDocument/2006/relationships/image" Target="../media/image82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9" Type="http://schemas.openxmlformats.org/officeDocument/2006/relationships/image" Target="../media/image4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75.wmf"/><Relationship Id="rId1" Type="http://schemas.openxmlformats.org/officeDocument/2006/relationships/image" Target="../media/image86.wmf"/><Relationship Id="rId5" Type="http://schemas.openxmlformats.org/officeDocument/2006/relationships/image" Target="../media/image88.wmf"/><Relationship Id="rId4" Type="http://schemas.openxmlformats.org/officeDocument/2006/relationships/image" Target="../media/image5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13.wmf"/><Relationship Id="rId4" Type="http://schemas.openxmlformats.org/officeDocument/2006/relationships/image" Target="../media/image9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99.wmf"/><Relationship Id="rId7" Type="http://schemas.openxmlformats.org/officeDocument/2006/relationships/image" Target="../media/image81.wmf"/><Relationship Id="rId2" Type="http://schemas.openxmlformats.org/officeDocument/2006/relationships/image" Target="../media/image98.wmf"/><Relationship Id="rId1" Type="http://schemas.openxmlformats.org/officeDocument/2006/relationships/image" Target="../media/image13.wmf"/><Relationship Id="rId6" Type="http://schemas.openxmlformats.org/officeDocument/2006/relationships/image" Target="../media/image94.wmf"/><Relationship Id="rId5" Type="http://schemas.openxmlformats.org/officeDocument/2006/relationships/image" Target="../media/image100.wmf"/><Relationship Id="rId10" Type="http://schemas.openxmlformats.org/officeDocument/2006/relationships/image" Target="../media/image93.wmf"/><Relationship Id="rId4" Type="http://schemas.openxmlformats.org/officeDocument/2006/relationships/image" Target="../media/image78.wmf"/><Relationship Id="rId9" Type="http://schemas.openxmlformats.org/officeDocument/2006/relationships/image" Target="../media/image9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99.wmf"/><Relationship Id="rId7" Type="http://schemas.openxmlformats.org/officeDocument/2006/relationships/image" Target="../media/image102.wmf"/><Relationship Id="rId2" Type="http://schemas.openxmlformats.org/officeDocument/2006/relationships/image" Target="../media/image98.wmf"/><Relationship Id="rId1" Type="http://schemas.openxmlformats.org/officeDocument/2006/relationships/image" Target="../media/image13.wmf"/><Relationship Id="rId6" Type="http://schemas.openxmlformats.org/officeDocument/2006/relationships/image" Target="../media/image94.wmf"/><Relationship Id="rId5" Type="http://schemas.openxmlformats.org/officeDocument/2006/relationships/image" Target="../media/image101.wmf"/><Relationship Id="rId10" Type="http://schemas.openxmlformats.org/officeDocument/2006/relationships/image" Target="../media/image93.wmf"/><Relationship Id="rId4" Type="http://schemas.openxmlformats.org/officeDocument/2006/relationships/image" Target="../media/image78.wmf"/><Relationship Id="rId9" Type="http://schemas.openxmlformats.org/officeDocument/2006/relationships/image" Target="../media/image9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3.wmf"/><Relationship Id="rId1" Type="http://schemas.openxmlformats.org/officeDocument/2006/relationships/image" Target="../media/image104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99.wmf"/><Relationship Id="rId7" Type="http://schemas.openxmlformats.org/officeDocument/2006/relationships/image" Target="../media/image102.wmf"/><Relationship Id="rId2" Type="http://schemas.openxmlformats.org/officeDocument/2006/relationships/image" Target="../media/image98.wmf"/><Relationship Id="rId1" Type="http://schemas.openxmlformats.org/officeDocument/2006/relationships/image" Target="../media/image13.wmf"/><Relationship Id="rId6" Type="http://schemas.openxmlformats.org/officeDocument/2006/relationships/image" Target="../media/image94.wmf"/><Relationship Id="rId5" Type="http://schemas.openxmlformats.org/officeDocument/2006/relationships/image" Target="../media/image101.wmf"/><Relationship Id="rId10" Type="http://schemas.openxmlformats.org/officeDocument/2006/relationships/image" Target="../media/image93.wmf"/><Relationship Id="rId4" Type="http://schemas.openxmlformats.org/officeDocument/2006/relationships/image" Target="../media/image78.wmf"/><Relationship Id="rId9" Type="http://schemas.openxmlformats.org/officeDocument/2006/relationships/image" Target="../media/image9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62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49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69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90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90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70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58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81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389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-19050"/>
            <a:ext cx="12192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3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6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9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188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89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42672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9F4F0910-16A4-484D-A332-76AE214F474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526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B85C3C-D269-48E0-AA26-B4E7257D62B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52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D269BE-EC88-4DE4-8C68-22B086203EB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559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147888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147888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AFCE09-C802-4D4F-9F8D-4668A3E2AD4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522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3E71DD-D09B-41F0-A09B-C8FC34C3F95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355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3EDC2-0BA5-4923-8412-B90E735EA1D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535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DB7C9F-3680-4508-9612-5E46FE3D19D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331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06DB17-E73C-42C4-AAB0-69BF1CF4283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91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1FCA9B-CF02-4D72-9CF8-60CB7BD55E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3341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34664-3B78-4EE9-9056-C0C7286F214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5036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40752" y="930276"/>
            <a:ext cx="2736849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8084" y="930276"/>
            <a:ext cx="8009467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AFB95E-F216-4486-8A60-DF0920219C6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2511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084" y="930275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2147888"/>
            <a:ext cx="103632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82925E-78C7-4A86-896F-B7E5E743CFB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761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084" y="930275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147888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2147888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281488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75EA1-0D5F-43A0-9F4C-F638CC22B50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08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C17BA-25A9-4537-8B74-17A118CDD90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EEE5E-2257-4B00-B6FD-7370434C0B8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rgbClr val="FFEFD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8084" y="930275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147888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288A475-A680-4BB2-AC69-72FB373F3DB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49251" y="87313"/>
            <a:ext cx="11317816" cy="831850"/>
            <a:chOff x="165" y="55"/>
            <a:chExt cx="5347" cy="524"/>
          </a:xfrm>
        </p:grpSpPr>
        <p:grpSp>
          <p:nvGrpSpPr>
            <p:cNvPr id="3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5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6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7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8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pic>
          <p:nvPicPr>
            <p:cNvPr id="33801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52070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18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3.gi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21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image" Target="../media/image25.wmf"/><Relationship Id="rId10" Type="http://schemas.openxmlformats.org/officeDocument/2006/relationships/image" Target="../media/image20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2.wmf"/><Relationship Id="rId17" Type="http://schemas.openxmlformats.org/officeDocument/2006/relationships/image" Target="../media/image34.wmf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1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29.bin"/><Relationship Id="rId21" Type="http://schemas.openxmlformats.org/officeDocument/2006/relationships/image" Target="../media/image38.wmf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6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29.wmf"/><Relationship Id="rId20" Type="http://schemas.openxmlformats.org/officeDocument/2006/relationships/image" Target="../media/image37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37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13.wmf"/><Relationship Id="rId9" Type="http://schemas.openxmlformats.org/officeDocument/2006/relationships/image" Target="../media/image4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46.wmf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50.wmf"/><Relationship Id="rId3" Type="http://schemas.openxmlformats.org/officeDocument/2006/relationships/oleObject" Target="../embeddings/oleObject44.bin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8.wmf"/><Relationship Id="rId11" Type="http://schemas.openxmlformats.org/officeDocument/2006/relationships/image" Target="../media/image43.wmf"/><Relationship Id="rId5" Type="http://schemas.openxmlformats.org/officeDocument/2006/relationships/oleObject" Target="../embeddings/oleObject45.bin"/><Relationship Id="rId10" Type="http://schemas.openxmlformats.org/officeDocument/2006/relationships/oleObject" Target="../embeddings/oleObject47.bin"/><Relationship Id="rId4" Type="http://schemas.openxmlformats.org/officeDocument/2006/relationships/image" Target="../media/image47.wmf"/><Relationship Id="rId9" Type="http://schemas.openxmlformats.org/officeDocument/2006/relationships/image" Target="../media/image4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59.wmf"/><Relationship Id="rId3" Type="http://schemas.openxmlformats.org/officeDocument/2006/relationships/oleObject" Target="../embeddings/oleObject54.bin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1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60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6.wmf"/><Relationship Id="rId11" Type="http://schemas.openxmlformats.org/officeDocument/2006/relationships/image" Target="../media/image58.wmf"/><Relationship Id="rId5" Type="http://schemas.openxmlformats.org/officeDocument/2006/relationships/oleObject" Target="../embeddings/oleObject55.bin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57.bin"/><Relationship Id="rId4" Type="http://schemas.openxmlformats.org/officeDocument/2006/relationships/image" Target="../media/image55.wmf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8.wmf"/><Relationship Id="rId26" Type="http://schemas.openxmlformats.org/officeDocument/2006/relationships/image" Target="../media/image58.wmf"/><Relationship Id="rId3" Type="http://schemas.openxmlformats.org/officeDocument/2006/relationships/oleObject" Target="../embeddings/oleObject61.bin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68.bin"/><Relationship Id="rId25" Type="http://schemas.openxmlformats.org/officeDocument/2006/relationships/oleObject" Target="../embeddings/oleObject72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29" Type="http://schemas.openxmlformats.org/officeDocument/2006/relationships/oleObject" Target="../embeddings/oleObject74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24" Type="http://schemas.openxmlformats.org/officeDocument/2006/relationships/image" Target="../media/image61.wmf"/><Relationship Id="rId32" Type="http://schemas.openxmlformats.org/officeDocument/2006/relationships/image" Target="../media/image41.wmf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23" Type="http://schemas.openxmlformats.org/officeDocument/2006/relationships/oleObject" Target="../embeddings/oleObject71.bin"/><Relationship Id="rId28" Type="http://schemas.openxmlformats.org/officeDocument/2006/relationships/image" Target="../media/image59.wmf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69.bin"/><Relationship Id="rId31" Type="http://schemas.openxmlformats.org/officeDocument/2006/relationships/oleObject" Target="../embeddings/oleObject75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6.wmf"/><Relationship Id="rId22" Type="http://schemas.openxmlformats.org/officeDocument/2006/relationships/image" Target="../media/image60.wmf"/><Relationship Id="rId27" Type="http://schemas.openxmlformats.org/officeDocument/2006/relationships/oleObject" Target="../embeddings/oleObject73.bin"/><Relationship Id="rId30" Type="http://schemas.openxmlformats.org/officeDocument/2006/relationships/image" Target="../media/image4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71.wmf"/><Relationship Id="rId26" Type="http://schemas.openxmlformats.org/officeDocument/2006/relationships/image" Target="../media/image58.wmf"/><Relationship Id="rId3" Type="http://schemas.openxmlformats.org/officeDocument/2006/relationships/oleObject" Target="../embeddings/oleObject76.bin"/><Relationship Id="rId21" Type="http://schemas.openxmlformats.org/officeDocument/2006/relationships/oleObject" Target="../embeddings/oleObject85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83.bin"/><Relationship Id="rId25" Type="http://schemas.openxmlformats.org/officeDocument/2006/relationships/oleObject" Target="../embeddings/oleObject87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29" Type="http://schemas.openxmlformats.org/officeDocument/2006/relationships/oleObject" Target="../embeddings/oleObject89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80.bin"/><Relationship Id="rId24" Type="http://schemas.openxmlformats.org/officeDocument/2006/relationships/image" Target="../media/image61.wmf"/><Relationship Id="rId32" Type="http://schemas.openxmlformats.org/officeDocument/2006/relationships/image" Target="../media/image41.wmf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23" Type="http://schemas.openxmlformats.org/officeDocument/2006/relationships/oleObject" Target="../embeddings/oleObject86.bin"/><Relationship Id="rId28" Type="http://schemas.openxmlformats.org/officeDocument/2006/relationships/image" Target="../media/image59.wmf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84.bin"/><Relationship Id="rId31" Type="http://schemas.openxmlformats.org/officeDocument/2006/relationships/oleObject" Target="../embeddings/oleObject90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66.wmf"/><Relationship Id="rId22" Type="http://schemas.openxmlformats.org/officeDocument/2006/relationships/image" Target="../media/image60.wmf"/><Relationship Id="rId27" Type="http://schemas.openxmlformats.org/officeDocument/2006/relationships/oleObject" Target="../embeddings/oleObject88.bin"/><Relationship Id="rId30" Type="http://schemas.openxmlformats.org/officeDocument/2006/relationships/image" Target="../media/image4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oleObject" Target="../embeddings/oleObject91.bin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3.wmf"/><Relationship Id="rId11" Type="http://schemas.openxmlformats.org/officeDocument/2006/relationships/image" Target="../media/image57.wmf"/><Relationship Id="rId5" Type="http://schemas.openxmlformats.org/officeDocument/2006/relationships/oleObject" Target="../embeddings/oleObject92.bin"/><Relationship Id="rId10" Type="http://schemas.openxmlformats.org/officeDocument/2006/relationships/oleObject" Target="../embeddings/oleObject94.bin"/><Relationship Id="rId4" Type="http://schemas.openxmlformats.org/officeDocument/2006/relationships/image" Target="../media/image72.wmf"/><Relationship Id="rId9" Type="http://schemas.openxmlformats.org/officeDocument/2006/relationships/image" Target="../media/image7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96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9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41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8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41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113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83.wmf"/><Relationship Id="rId20" Type="http://schemas.openxmlformats.org/officeDocument/2006/relationships/image" Target="../media/image40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82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89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51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119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93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2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image" Target="../media/image95.png"/><Relationship Id="rId7" Type="http://schemas.openxmlformats.org/officeDocument/2006/relationships/image" Target="../media/image9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96.wmf"/><Relationship Id="rId9" Type="http://schemas.openxmlformats.org/officeDocument/2006/relationships/image" Target="../media/image9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34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81.wmf"/><Relationship Id="rId20" Type="http://schemas.openxmlformats.org/officeDocument/2006/relationships/image" Target="../media/image92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94.wmf"/><Relationship Id="rId22" Type="http://schemas.openxmlformats.org/officeDocument/2006/relationships/image" Target="../media/image9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42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137.bin"/><Relationship Id="rId21" Type="http://schemas.openxmlformats.org/officeDocument/2006/relationships/oleObject" Target="../embeddings/oleObject146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44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102.wmf"/><Relationship Id="rId20" Type="http://schemas.openxmlformats.org/officeDocument/2006/relationships/image" Target="../media/image92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145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94.wmf"/><Relationship Id="rId22" Type="http://schemas.openxmlformats.org/officeDocument/2006/relationships/image" Target="../media/image9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94.wmf"/><Relationship Id="rId4" Type="http://schemas.openxmlformats.org/officeDocument/2006/relationships/oleObject" Target="../embeddings/oleObject14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14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54.bin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07.wmf"/><Relationship Id="rId17" Type="http://schemas.openxmlformats.org/officeDocument/2006/relationships/image" Target="../media/image110.wmf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06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0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7" Type="http://schemas.openxmlformats.org/officeDocument/2006/relationships/image" Target="../media/image113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2.wmf"/><Relationship Id="rId5" Type="http://schemas.openxmlformats.org/officeDocument/2006/relationships/image" Target="../media/image94.wmf"/><Relationship Id="rId4" Type="http://schemas.openxmlformats.org/officeDocument/2006/relationships/oleObject" Target="../embeddings/oleObject156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157.bin"/><Relationship Id="rId21" Type="http://schemas.openxmlformats.org/officeDocument/2006/relationships/oleObject" Target="../embeddings/oleObject166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64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102.wmf"/><Relationship Id="rId20" Type="http://schemas.openxmlformats.org/officeDocument/2006/relationships/image" Target="../media/image92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94.wmf"/><Relationship Id="rId22" Type="http://schemas.openxmlformats.org/officeDocument/2006/relationships/image" Target="../media/image93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wmf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Linear Regression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4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0" y="1752600"/>
            <a:ext cx="8153400" cy="4114800"/>
          </a:xfrm>
        </p:spPr>
        <p:txBody>
          <a:bodyPr/>
          <a:lstStyle/>
          <a:p>
            <a:pPr eaLnBrk="1" hangingPunct="1"/>
            <a:endParaRPr lang="en-US" smtClean="0">
              <a:solidFill>
                <a:srgbClr val="0033CC"/>
              </a:solidFill>
            </a:endParaRP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28956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b="1" i="1">
                <a:solidFill>
                  <a:srgbClr val="000000"/>
                </a:solidFill>
              </a:rPr>
              <a:t>Regression Analysis</a:t>
            </a:r>
          </a:p>
        </p:txBody>
      </p:sp>
      <p:pic>
        <p:nvPicPr>
          <p:cNvPr id="1030" name="Picture 7" descr="MENO07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72150" y="2743201"/>
            <a:ext cx="3348038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1911350" y="1676400"/>
          <a:ext cx="85217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2336800" imgH="228600" progId="Equation.3">
                  <p:embed/>
                </p:oleObj>
              </mc:Choice>
              <mc:Fallback>
                <p:oleObj name="Equation" r:id="rId4" imgW="233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676400"/>
                        <a:ext cx="8521700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847851" y="2852738"/>
            <a:ext cx="3122613" cy="3086100"/>
            <a:chOff x="323850" y="2852737"/>
            <a:chExt cx="3122613" cy="3086432"/>
          </a:xfrm>
        </p:grpSpPr>
        <p:sp>
          <p:nvSpPr>
            <p:cNvPr id="6" name="Oval 2"/>
            <p:cNvSpPr>
              <a:spLocks noChangeArrowheads="1"/>
            </p:cNvSpPr>
            <p:nvPr/>
          </p:nvSpPr>
          <p:spPr bwMode="auto">
            <a:xfrm>
              <a:off x="696913" y="3965694"/>
              <a:ext cx="1138237" cy="132570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alpha val="82001"/>
                  </a:schemeClr>
                </a:gs>
                <a:gs pos="100000">
                  <a:schemeClr val="hlink">
                    <a:gamma/>
                    <a:tint val="63922"/>
                    <a:invGamma/>
                    <a:alpha val="82001"/>
                  </a:schemeClr>
                </a:gs>
              </a:gsLst>
              <a:lin ang="5400000" scaled="1"/>
            </a:gradFill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323850" y="4437232"/>
              <a:ext cx="647700" cy="4794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i="1" cap="small" dirty="0">
                  <a:solidFill>
                    <a:srgbClr val="B39041"/>
                  </a:solidFill>
                  <a:latin typeface="Californian FB" pitchFamily="18" charset="0"/>
                </a:rPr>
                <a:t>X</a:t>
              </a:r>
              <a:r>
                <a:rPr lang="en-US" sz="1400" i="1" cap="small" dirty="0">
                  <a:solidFill>
                    <a:srgbClr val="B39041"/>
                  </a:solidFill>
                  <a:latin typeface="Californian FB" pitchFamily="18" charset="0"/>
                </a:rPr>
                <a:t>1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1927225" y="5459692"/>
              <a:ext cx="987425" cy="4794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i="1" cap="small" dirty="0">
                  <a:solidFill>
                    <a:srgbClr val="CC66FF"/>
                  </a:solidFill>
                  <a:latin typeface="Californian FB" pitchFamily="18" charset="0"/>
                </a:rPr>
                <a:t>X</a:t>
              </a:r>
              <a:r>
                <a:rPr lang="en-US" sz="1400" i="1" cap="small" dirty="0">
                  <a:solidFill>
                    <a:srgbClr val="CC66FF"/>
                  </a:solidFill>
                  <a:latin typeface="Californian FB" pitchFamily="18" charset="0"/>
                </a:rPr>
                <a:t>2</a:t>
              </a:r>
            </a:p>
          </p:txBody>
        </p:sp>
        <p:sp>
          <p:nvSpPr>
            <p:cNvPr id="1035" name="Oval 14"/>
            <p:cNvSpPr>
              <a:spLocks noChangeArrowheads="1"/>
            </p:cNvSpPr>
            <p:nvPr/>
          </p:nvSpPr>
          <p:spPr bwMode="auto">
            <a:xfrm>
              <a:off x="820738" y="2884488"/>
              <a:ext cx="1751012" cy="2015647"/>
            </a:xfrm>
            <a:prstGeom prst="ellipse">
              <a:avLst/>
            </a:prstGeom>
            <a:solidFill>
              <a:srgbClr val="009900">
                <a:alpha val="20000"/>
              </a:srgbClr>
            </a:solidFill>
            <a:ln w="57150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36" name="Oval 15"/>
            <p:cNvSpPr>
              <a:spLocks noChangeArrowheads="1"/>
            </p:cNvSpPr>
            <p:nvPr/>
          </p:nvSpPr>
          <p:spPr bwMode="auto">
            <a:xfrm>
              <a:off x="1084263" y="3908425"/>
              <a:ext cx="1406525" cy="1647500"/>
            </a:xfrm>
            <a:prstGeom prst="ellipse">
              <a:avLst/>
            </a:prstGeom>
            <a:solidFill>
              <a:srgbClr val="9966FF">
                <a:alpha val="30196"/>
              </a:srgbClr>
            </a:solidFill>
            <a:ln w="9525">
              <a:solidFill>
                <a:srgbClr val="CC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2" name="Text Box 27"/>
            <p:cNvSpPr txBox="1">
              <a:spLocks noChangeArrowheads="1"/>
            </p:cNvSpPr>
            <p:nvPr/>
          </p:nvSpPr>
          <p:spPr bwMode="auto">
            <a:xfrm>
              <a:off x="2755900" y="3644984"/>
              <a:ext cx="690563" cy="4794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i="1" cap="small" dirty="0">
                  <a:solidFill>
                    <a:srgbClr val="0099CC"/>
                  </a:solidFill>
                  <a:latin typeface="Californian FB" pitchFamily="18" charset="0"/>
                </a:rPr>
                <a:t>X</a:t>
              </a:r>
              <a:r>
                <a:rPr lang="en-US" sz="1400" i="1" cap="small" dirty="0">
                  <a:solidFill>
                    <a:srgbClr val="0099CC"/>
                  </a:solidFill>
                  <a:latin typeface="Californian FB" pitchFamily="18" charset="0"/>
                </a:rPr>
                <a:t>3</a:t>
              </a:r>
            </a:p>
          </p:txBody>
        </p:sp>
        <p:sp>
          <p:nvSpPr>
            <p:cNvPr id="1038" name="Oval 26"/>
            <p:cNvSpPr>
              <a:spLocks noChangeArrowheads="1"/>
            </p:cNvSpPr>
            <p:nvPr/>
          </p:nvSpPr>
          <p:spPr bwMode="auto">
            <a:xfrm>
              <a:off x="1979613" y="3670300"/>
              <a:ext cx="847725" cy="982836"/>
            </a:xfrm>
            <a:prstGeom prst="ellipse">
              <a:avLst/>
            </a:prstGeom>
            <a:solidFill>
              <a:srgbClr val="00CCFF">
                <a:alpha val="52156"/>
              </a:srgbClr>
            </a:solidFill>
            <a:ln w="9525">
              <a:solidFill>
                <a:srgbClr val="CC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FFCC"/>
                </a:solidFill>
              </a:endParaRPr>
            </a:p>
          </p:txBody>
        </p:sp>
        <p:graphicFrame>
          <p:nvGraphicFramePr>
            <p:cNvPr id="1027" name="Object 1"/>
            <p:cNvGraphicFramePr>
              <a:graphicFrameLocks noChangeAspect="1"/>
            </p:cNvGraphicFramePr>
            <p:nvPr/>
          </p:nvGraphicFramePr>
          <p:xfrm>
            <a:off x="620713" y="2852737"/>
            <a:ext cx="422275" cy="644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Equation" r:id="rId6" imgW="139639" imgH="203112" progId="Equation.3">
                    <p:embed/>
                  </p:oleObj>
                </mc:Choice>
                <mc:Fallback>
                  <p:oleObj name="Equation" r:id="rId6" imgW="139639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713" y="2852737"/>
                          <a:ext cx="422275" cy="644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9490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1"/>
            <a:ext cx="7772400" cy="836613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Simple and Multiple Regression Analysis</a:t>
            </a:r>
            <a:r>
              <a:rPr lang="en-US" b="1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4" y="1325564"/>
            <a:ext cx="8605837" cy="53435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Examines whether changes/differences in values of one variable (</a:t>
            </a:r>
            <a:r>
              <a:rPr lang="en-US" sz="2400">
                <a:solidFill>
                  <a:srgbClr val="FF0000"/>
                </a:solidFill>
                <a:latin typeface="Times New Roman" pitchFamily="18" charset="0"/>
              </a:rPr>
              <a:t>dependent variable Y</a:t>
            </a:r>
            <a:r>
              <a:rPr lang="en-US" sz="2400">
                <a:latin typeface="Times New Roman" pitchFamily="18" charset="0"/>
              </a:rPr>
              <a:t>) are linked to changes/differences in values of one or more other variables (</a:t>
            </a:r>
            <a:r>
              <a:rPr lang="en-US" sz="2400">
                <a:solidFill>
                  <a:srgbClr val="FF0000"/>
                </a:solidFill>
                <a:latin typeface="Times New Roman" pitchFamily="18" charset="0"/>
              </a:rPr>
              <a:t>independent variables X</a:t>
            </a:r>
            <a:r>
              <a:rPr lang="en-US" sz="2400" baseline="-2500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sz="2400">
                <a:solidFill>
                  <a:srgbClr val="FF0000"/>
                </a:solidFill>
                <a:latin typeface="Times New Roman" pitchFamily="18" charset="0"/>
              </a:rPr>
              <a:t>, X</a:t>
            </a:r>
            <a:r>
              <a:rPr lang="en-US" sz="2400" baseline="-2500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sz="2400">
                <a:solidFill>
                  <a:srgbClr val="FF0000"/>
                </a:solidFill>
                <a:latin typeface="Times New Roman" pitchFamily="18" charset="0"/>
              </a:rPr>
              <a:t>, etc.</a:t>
            </a:r>
            <a:r>
              <a:rPr lang="en-US" sz="2400">
                <a:latin typeface="Times New Roman" pitchFamily="18" charset="0"/>
              </a:rPr>
              <a:t>), </a:t>
            </a:r>
            <a:r>
              <a:rPr lang="en-US" sz="2400" b="1" u="sng">
                <a:latin typeface="Times New Roman" pitchFamily="18" charset="0"/>
              </a:rPr>
              <a:t>while controlling</a:t>
            </a:r>
            <a:r>
              <a:rPr lang="en-US" sz="2400" b="1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for the changes in values of all other Xs.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>
                <a:solidFill>
                  <a:srgbClr val="3333CC"/>
                </a:solidFill>
                <a:latin typeface="Times New Roman" pitchFamily="18" charset="0"/>
              </a:rPr>
              <a:t>E.g., Relationship between </a:t>
            </a:r>
            <a:r>
              <a:rPr lang="en-US" sz="2000" u="sng">
                <a:solidFill>
                  <a:srgbClr val="3333CC"/>
                </a:solidFill>
                <a:latin typeface="Times New Roman" pitchFamily="18" charset="0"/>
              </a:rPr>
              <a:t>salary</a:t>
            </a:r>
            <a:r>
              <a:rPr lang="en-US" sz="2000">
                <a:solidFill>
                  <a:srgbClr val="3333CC"/>
                </a:solidFill>
                <a:latin typeface="Times New Roman" pitchFamily="18" charset="0"/>
              </a:rPr>
              <a:t> and </a:t>
            </a:r>
            <a:r>
              <a:rPr lang="en-US" sz="2000" u="sng">
                <a:solidFill>
                  <a:srgbClr val="3333CC"/>
                </a:solidFill>
                <a:latin typeface="Times New Roman" pitchFamily="18" charset="0"/>
              </a:rPr>
              <a:t>gender</a:t>
            </a:r>
            <a:r>
              <a:rPr lang="en-US" sz="2000">
                <a:solidFill>
                  <a:srgbClr val="3333CC"/>
                </a:solidFill>
                <a:latin typeface="Times New Roman" pitchFamily="18" charset="0"/>
              </a:rPr>
              <a:t> for people who </a:t>
            </a:r>
            <a:r>
              <a:rPr lang="en-US" sz="2000" u="sng">
                <a:solidFill>
                  <a:srgbClr val="3333CC"/>
                </a:solidFill>
                <a:latin typeface="Times New Roman" pitchFamily="18" charset="0"/>
              </a:rPr>
              <a:t>have the same levels of</a:t>
            </a:r>
            <a:r>
              <a:rPr lang="en-US" sz="2000">
                <a:solidFill>
                  <a:srgbClr val="3333CC"/>
                </a:solidFill>
                <a:latin typeface="Times New Roman" pitchFamily="18" charset="0"/>
              </a:rPr>
              <a:t> education,  work experience, position level, seniority, etc.</a:t>
            </a:r>
          </a:p>
          <a:p>
            <a:pPr lvl="1" eaLnBrk="1" hangingPunct="1">
              <a:lnSpc>
                <a:spcPct val="80000"/>
              </a:lnSpc>
            </a:pPr>
            <a:endParaRPr lang="en-US" sz="120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The DV (Y) must be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</a:rPr>
              <a:t>metric</a:t>
            </a:r>
            <a:r>
              <a:rPr lang="en-US" sz="240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The IVs (Xs) must be either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</a:rPr>
              <a:t>metric</a:t>
            </a:r>
            <a:r>
              <a:rPr lang="en-US" sz="2400">
                <a:latin typeface="Times New Roman" pitchFamily="18" charset="0"/>
              </a:rPr>
              <a:t> or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</a:rPr>
              <a:t>dummy</a:t>
            </a:r>
            <a:r>
              <a:rPr lang="en-US" sz="2400">
                <a:latin typeface="Times New Roman" pitchFamily="18" charset="0"/>
              </a:rPr>
              <a:t> var.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solidFill>
                  <a:srgbClr val="FF0066"/>
                </a:solidFill>
                <a:latin typeface="Times New Roman" pitchFamily="18" charset="0"/>
              </a:rPr>
              <a:t>Central Question Addressed: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Is Y a function of X</a:t>
            </a:r>
            <a:r>
              <a:rPr lang="en-US" sz="2400" baseline="-25000">
                <a:latin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</a:rPr>
              <a:t>, X</a:t>
            </a:r>
            <a:r>
              <a:rPr lang="en-US" sz="2400" baseline="-25000">
                <a:latin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</a:rPr>
              <a:t>, etc.?  How 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Is there a relationship between Y and X</a:t>
            </a:r>
            <a:r>
              <a:rPr lang="en-US" sz="2400" baseline="-25000">
                <a:latin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</a:rPr>
              <a:t>, X</a:t>
            </a:r>
            <a:r>
              <a:rPr lang="en-US" sz="2400" baseline="-25000">
                <a:latin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</a:rPr>
              <a:t> , etc., (in each case, after controlling for the effects of all other Xs)?  In what way?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What is the relative impact of each X on Y, holding all other Xs constant (that is, </a:t>
            </a:r>
            <a:r>
              <a:rPr lang="en-US" sz="2400" u="sng">
                <a:latin typeface="Times New Roman" pitchFamily="18" charset="0"/>
              </a:rPr>
              <a:t>all other Xs being equal</a:t>
            </a:r>
            <a:r>
              <a:rPr lang="en-US" sz="2400">
                <a:latin typeface="Times New Roman" pitchFamily="18" charset="0"/>
              </a:rPr>
              <a:t>)?  </a:t>
            </a: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1738313" y="836613"/>
            <a:ext cx="845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3300"/>
                </a:solidFill>
              </a:rPr>
              <a:t>What does regression analysis do?</a:t>
            </a:r>
          </a:p>
        </p:txBody>
      </p:sp>
      <p:pic>
        <p:nvPicPr>
          <p:cNvPr id="6151" name="Picture 7" descr="j028073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16951" y="3213100"/>
            <a:ext cx="180022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3458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Simple and Multiple Regression Analysis</a:t>
            </a:r>
            <a:r>
              <a:rPr lang="en-US" b="1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1" y="981075"/>
            <a:ext cx="7235825" cy="5562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>
                <a:solidFill>
                  <a:srgbClr val="FF0066"/>
                </a:solidFill>
                <a:latin typeface="Times New Roman" pitchFamily="18" charset="0"/>
              </a:rPr>
              <a:t>More specifically,</a:t>
            </a:r>
          </a:p>
          <a:p>
            <a:pPr eaLnBrk="1" hangingPunct="1">
              <a:lnSpc>
                <a:spcPct val="80000"/>
              </a:lnSpc>
            </a:pPr>
            <a:endParaRPr lang="en-US" sz="2400">
              <a:solidFill>
                <a:srgbClr val="FF0066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Do values of Y tend to increase/decrease as</a:t>
            </a:r>
            <a:br>
              <a:rPr lang="en-US" sz="2400">
                <a:latin typeface="Times New Roman" pitchFamily="18" charset="0"/>
              </a:rPr>
            </a:br>
            <a:r>
              <a:rPr lang="en-US" sz="2400">
                <a:latin typeface="Times New Roman" pitchFamily="18" charset="0"/>
              </a:rPr>
              <a:t>values of X</a:t>
            </a:r>
            <a:r>
              <a:rPr lang="en-US" sz="2400" baseline="-25000">
                <a:latin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</a:rPr>
              <a:t>, X</a:t>
            </a:r>
            <a:r>
              <a:rPr lang="en-US" sz="2400" baseline="-25000">
                <a:latin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</a:rPr>
              <a:t>, etc. increase/decrease?</a:t>
            </a:r>
            <a:br>
              <a:rPr lang="en-US" sz="2400">
                <a:latin typeface="Times New Roman" pitchFamily="18" charset="0"/>
              </a:rPr>
            </a:br>
            <a:r>
              <a:rPr lang="en-US" sz="2400">
                <a:latin typeface="Times New Roman" pitchFamily="18" charset="0"/>
              </a:rPr>
              <a:t/>
            </a:r>
            <a:br>
              <a:rPr lang="en-US" sz="2400">
                <a:latin typeface="Times New Roman" pitchFamily="18" charset="0"/>
              </a:rPr>
            </a:br>
            <a:r>
              <a:rPr lang="en-US" sz="2800" u="sng">
                <a:latin typeface="Times New Roman" pitchFamily="18" charset="0"/>
              </a:rPr>
              <a:t>If so,</a:t>
            </a:r>
            <a:endParaRPr lang="en-US" sz="2800">
              <a:latin typeface="Times New Roman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By how much?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400">
                <a:latin typeface="Times New Roman" pitchFamily="18" charset="0"/>
              </a:rPr>
              <a:t>    And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>
                <a:latin typeface="Times New Roman" pitchFamily="18" charset="0"/>
              </a:rPr>
              <a:t>How strong is the connection/relationship</a:t>
            </a:r>
            <a:br>
              <a:rPr lang="en-US" sz="2400">
                <a:latin typeface="Times New Roman" pitchFamily="18" charset="0"/>
              </a:rPr>
            </a:br>
            <a:r>
              <a:rPr lang="en-US" sz="2400">
                <a:latin typeface="Times New Roman" pitchFamily="18" charset="0"/>
              </a:rPr>
              <a:t>between Xs and Y?</a:t>
            </a:r>
          </a:p>
          <a:p>
            <a:pPr lvl="2" eaLnBrk="1" hangingPunct="1">
              <a:lnSpc>
                <a:spcPct val="80000"/>
              </a:lnSpc>
            </a:pPr>
            <a:r>
              <a:rPr lang="en-US" u="sng" smtClean="0">
                <a:latin typeface="Times New Roman" pitchFamily="18" charset="0"/>
              </a:rPr>
              <a:t>what % of differences/variations </a:t>
            </a:r>
            <a:br>
              <a:rPr lang="en-US" u="sng" smtClean="0">
                <a:latin typeface="Times New Roman" pitchFamily="18" charset="0"/>
              </a:rPr>
            </a:br>
            <a:r>
              <a:rPr lang="en-US" u="sng" smtClean="0">
                <a:latin typeface="Times New Roman" pitchFamily="18" charset="0"/>
              </a:rPr>
              <a:t>in Y values</a:t>
            </a:r>
            <a:r>
              <a:rPr lang="en-US" smtClean="0">
                <a:latin typeface="Times New Roman" pitchFamily="18" charset="0"/>
              </a:rPr>
              <a:t> (e.g., income) among</a:t>
            </a:r>
            <a:br>
              <a:rPr lang="en-US" smtClean="0">
                <a:latin typeface="Times New Roman" pitchFamily="18" charset="0"/>
              </a:rPr>
            </a:br>
            <a:r>
              <a:rPr lang="en-US" smtClean="0">
                <a:latin typeface="Times New Roman" pitchFamily="18" charset="0"/>
              </a:rPr>
              <a:t>study subjects </a:t>
            </a:r>
            <a:r>
              <a:rPr lang="en-US" u="sng" smtClean="0">
                <a:latin typeface="Times New Roman" pitchFamily="18" charset="0"/>
              </a:rPr>
              <a:t>can be explained by</a:t>
            </a:r>
            <a:r>
              <a:rPr lang="en-US" smtClean="0">
                <a:latin typeface="Times New Roman" pitchFamily="18" charset="0"/>
              </a:rPr>
              <a:t/>
            </a:r>
            <a:br>
              <a:rPr lang="en-US" smtClean="0">
                <a:latin typeface="Times New Roman" pitchFamily="18" charset="0"/>
              </a:rPr>
            </a:br>
            <a:r>
              <a:rPr lang="en-US" smtClean="0">
                <a:latin typeface="Times New Roman" pitchFamily="18" charset="0"/>
              </a:rPr>
              <a:t>(or attributed to) differences in</a:t>
            </a:r>
            <a:br>
              <a:rPr lang="en-US" smtClean="0">
                <a:latin typeface="Times New Roman" pitchFamily="18" charset="0"/>
              </a:rPr>
            </a:br>
            <a:r>
              <a:rPr lang="en-US" u="sng" smtClean="0">
                <a:latin typeface="Times New Roman" pitchFamily="18" charset="0"/>
              </a:rPr>
              <a:t>X values</a:t>
            </a:r>
            <a:r>
              <a:rPr lang="en-US" smtClean="0">
                <a:latin typeface="Times New Roman" pitchFamily="18" charset="0"/>
              </a:rPr>
              <a:t> (e.g. years of education, </a:t>
            </a:r>
            <a:br>
              <a:rPr lang="en-US" smtClean="0">
                <a:latin typeface="Times New Roman" pitchFamily="18" charset="0"/>
              </a:rPr>
            </a:br>
            <a:r>
              <a:rPr lang="en-US" smtClean="0">
                <a:latin typeface="Times New Roman" pitchFamily="18" charset="0"/>
              </a:rPr>
              <a:t>years of experience, etc.)?</a:t>
            </a:r>
          </a:p>
          <a:p>
            <a:pPr lvl="2" eaLnBrk="1" hangingPunct="1">
              <a:lnSpc>
                <a:spcPct val="80000"/>
              </a:lnSpc>
            </a:pPr>
            <a:endParaRPr lang="en-US" sz="200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400">
              <a:latin typeface="Times New Roman" pitchFamily="18" charset="0"/>
            </a:endParaRPr>
          </a:p>
        </p:txBody>
      </p:sp>
      <p:pic>
        <p:nvPicPr>
          <p:cNvPr id="3077" name="Picture 7" descr="j02997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43813" y="1125539"/>
            <a:ext cx="2844800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545388" y="3771900"/>
            <a:ext cx="3122612" cy="3086100"/>
            <a:chOff x="323850" y="2852737"/>
            <a:chExt cx="3122613" cy="3086432"/>
          </a:xfrm>
        </p:grpSpPr>
        <p:sp>
          <p:nvSpPr>
            <p:cNvPr id="6" name="Oval 2"/>
            <p:cNvSpPr>
              <a:spLocks noChangeArrowheads="1"/>
            </p:cNvSpPr>
            <p:nvPr/>
          </p:nvSpPr>
          <p:spPr bwMode="auto">
            <a:xfrm>
              <a:off x="696912" y="3965695"/>
              <a:ext cx="1138238" cy="132570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alpha val="82001"/>
                  </a:schemeClr>
                </a:gs>
                <a:gs pos="100000">
                  <a:schemeClr val="hlink">
                    <a:gamma/>
                    <a:tint val="63922"/>
                    <a:invGamma/>
                    <a:alpha val="82001"/>
                  </a:schemeClr>
                </a:gs>
              </a:gsLst>
              <a:lin ang="5400000" scaled="1"/>
            </a:gradFill>
            <a:ln w="952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323850" y="4437232"/>
              <a:ext cx="647700" cy="4794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i="1" cap="small" dirty="0">
                  <a:solidFill>
                    <a:srgbClr val="B39041"/>
                  </a:solidFill>
                  <a:latin typeface="Californian FB" pitchFamily="18" charset="0"/>
                </a:rPr>
                <a:t>X</a:t>
              </a:r>
              <a:r>
                <a:rPr lang="en-US" sz="1400" i="1" cap="small" dirty="0">
                  <a:solidFill>
                    <a:srgbClr val="B39041"/>
                  </a:solidFill>
                  <a:latin typeface="Californian FB" pitchFamily="18" charset="0"/>
                </a:rPr>
                <a:t>1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1927226" y="5459692"/>
              <a:ext cx="987425" cy="4794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i="1" cap="small" dirty="0">
                  <a:solidFill>
                    <a:srgbClr val="CC66FF"/>
                  </a:solidFill>
                  <a:latin typeface="Californian FB" pitchFamily="18" charset="0"/>
                </a:rPr>
                <a:t>X</a:t>
              </a:r>
              <a:r>
                <a:rPr lang="en-US" sz="1400" i="1" cap="small" dirty="0">
                  <a:solidFill>
                    <a:srgbClr val="CC66FF"/>
                  </a:solidFill>
                  <a:latin typeface="Californian FB" pitchFamily="18" charset="0"/>
                </a:rPr>
                <a:t>2</a:t>
              </a:r>
            </a:p>
          </p:txBody>
        </p:sp>
        <p:sp>
          <p:nvSpPr>
            <p:cNvPr id="3082" name="Oval 14"/>
            <p:cNvSpPr>
              <a:spLocks noChangeArrowheads="1"/>
            </p:cNvSpPr>
            <p:nvPr/>
          </p:nvSpPr>
          <p:spPr bwMode="auto">
            <a:xfrm>
              <a:off x="820738" y="2884488"/>
              <a:ext cx="1751012" cy="2015647"/>
            </a:xfrm>
            <a:prstGeom prst="ellipse">
              <a:avLst/>
            </a:prstGeom>
            <a:solidFill>
              <a:srgbClr val="009900">
                <a:alpha val="20000"/>
              </a:srgbClr>
            </a:solidFill>
            <a:ln w="57150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083" name="Oval 15"/>
            <p:cNvSpPr>
              <a:spLocks noChangeArrowheads="1"/>
            </p:cNvSpPr>
            <p:nvPr/>
          </p:nvSpPr>
          <p:spPr bwMode="auto">
            <a:xfrm>
              <a:off x="1084263" y="3908425"/>
              <a:ext cx="1406525" cy="1647500"/>
            </a:xfrm>
            <a:prstGeom prst="ellipse">
              <a:avLst/>
            </a:prstGeom>
            <a:solidFill>
              <a:srgbClr val="9966FF">
                <a:alpha val="30196"/>
              </a:srgbClr>
            </a:solidFill>
            <a:ln w="9525">
              <a:solidFill>
                <a:srgbClr val="CC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1" name="Text Box 27"/>
            <p:cNvSpPr txBox="1">
              <a:spLocks noChangeArrowheads="1"/>
            </p:cNvSpPr>
            <p:nvPr/>
          </p:nvSpPr>
          <p:spPr bwMode="auto">
            <a:xfrm>
              <a:off x="2755901" y="3644985"/>
              <a:ext cx="690562" cy="47947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i="1" cap="small" dirty="0">
                  <a:solidFill>
                    <a:srgbClr val="0099CC"/>
                  </a:solidFill>
                  <a:latin typeface="Californian FB" pitchFamily="18" charset="0"/>
                </a:rPr>
                <a:t>X</a:t>
              </a:r>
              <a:r>
                <a:rPr lang="en-US" sz="1400" i="1" cap="small" dirty="0">
                  <a:solidFill>
                    <a:srgbClr val="0099CC"/>
                  </a:solidFill>
                  <a:latin typeface="Californian FB" pitchFamily="18" charset="0"/>
                </a:rPr>
                <a:t>3</a:t>
              </a:r>
            </a:p>
          </p:txBody>
        </p:sp>
        <p:sp>
          <p:nvSpPr>
            <p:cNvPr id="3085" name="Oval 26"/>
            <p:cNvSpPr>
              <a:spLocks noChangeArrowheads="1"/>
            </p:cNvSpPr>
            <p:nvPr/>
          </p:nvSpPr>
          <p:spPr bwMode="auto">
            <a:xfrm>
              <a:off x="1979613" y="3670300"/>
              <a:ext cx="847725" cy="982836"/>
            </a:xfrm>
            <a:prstGeom prst="ellipse">
              <a:avLst/>
            </a:prstGeom>
            <a:solidFill>
              <a:srgbClr val="00CCFF">
                <a:alpha val="52156"/>
              </a:srgbClr>
            </a:solidFill>
            <a:ln w="9525">
              <a:solidFill>
                <a:srgbClr val="CC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FFCC"/>
                </a:solidFill>
              </a:endParaRPr>
            </a:p>
          </p:txBody>
        </p:sp>
        <p:graphicFrame>
          <p:nvGraphicFramePr>
            <p:cNvPr id="3074" name="Object 1"/>
            <p:cNvGraphicFramePr>
              <a:graphicFrameLocks noChangeAspect="1"/>
            </p:cNvGraphicFramePr>
            <p:nvPr/>
          </p:nvGraphicFramePr>
          <p:xfrm>
            <a:off x="620713" y="2852737"/>
            <a:ext cx="422275" cy="644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Equation" r:id="rId4" imgW="139639" imgH="203112" progId="Equation.3">
                    <p:embed/>
                  </p:oleObj>
                </mc:Choice>
                <mc:Fallback>
                  <p:oleObj name="Equation" r:id="rId4" imgW="139639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713" y="2852737"/>
                          <a:ext cx="422275" cy="644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7627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224" y="0"/>
            <a:ext cx="7772400" cy="785794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chemeClr val="tx1"/>
                </a:solidFill>
              </a:rPr>
              <a:t>Simple and Multiple Regression Analysis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9750" y="881064"/>
            <a:ext cx="8026400" cy="5762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Times New Roman" pitchFamily="18" charset="0"/>
              </a:rPr>
              <a:t>NOTE:  Once we can determine </a:t>
            </a:r>
            <a:r>
              <a:rPr lang="en-US" sz="2400" u="sng">
                <a:latin typeface="Times New Roman" pitchFamily="18" charset="0"/>
              </a:rPr>
              <a:t>how values of Y change as a function of values of X</a:t>
            </a:r>
            <a:r>
              <a:rPr lang="en-US" sz="2400" u="sng" baseline="-25000">
                <a:latin typeface="Times New Roman" pitchFamily="18" charset="0"/>
              </a:rPr>
              <a:t>1</a:t>
            </a:r>
            <a:r>
              <a:rPr lang="en-US" sz="2400" u="sng">
                <a:latin typeface="Times New Roman" pitchFamily="18" charset="0"/>
              </a:rPr>
              <a:t>, X</a:t>
            </a:r>
            <a:r>
              <a:rPr lang="en-US" sz="2400" u="sng" baseline="-25000">
                <a:latin typeface="Times New Roman" pitchFamily="18" charset="0"/>
              </a:rPr>
              <a:t>2</a:t>
            </a:r>
            <a:r>
              <a:rPr lang="en-US" sz="2400" u="sng">
                <a:latin typeface="Times New Roman" pitchFamily="18" charset="0"/>
              </a:rPr>
              <a:t>, etc</a:t>
            </a:r>
            <a:r>
              <a:rPr lang="en-US" sz="2400">
                <a:latin typeface="Times New Roman" pitchFamily="18" charset="0"/>
              </a:rPr>
              <a:t>., we will also be able to </a:t>
            </a:r>
            <a:r>
              <a:rPr lang="en-US" sz="2400" b="1">
                <a:solidFill>
                  <a:srgbClr val="CC00CC"/>
                </a:solidFill>
                <a:latin typeface="Times New Roman" pitchFamily="18" charset="0"/>
              </a:rPr>
              <a:t>predict/estimate</a:t>
            </a:r>
            <a:r>
              <a:rPr lang="en-US" sz="2400">
                <a:latin typeface="Times New Roman" pitchFamily="18" charset="0"/>
              </a:rPr>
              <a:t> the value of Y from specific values of X</a:t>
            </a:r>
            <a:r>
              <a:rPr lang="en-US" sz="2400" baseline="-25000">
                <a:latin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</a:rPr>
              <a:t>, X</a:t>
            </a:r>
            <a:r>
              <a:rPr lang="en-US" sz="2400" baseline="-25000">
                <a:latin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</a:rPr>
              <a:t>, etc.      </a:t>
            </a:r>
            <a:br>
              <a:rPr lang="en-US" sz="2400">
                <a:latin typeface="Times New Roman" pitchFamily="18" charset="0"/>
              </a:rPr>
            </a:br>
            <a:r>
              <a:rPr lang="en-US" sz="2400">
                <a:latin typeface="Times New Roman" pitchFamily="18" charset="0"/>
              </a:rPr>
              <a:t>		 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Y = a + b</a:t>
            </a:r>
            <a:r>
              <a:rPr lang="en-US" sz="1800" b="1" baseline="-25000">
                <a:solidFill>
                  <a:srgbClr val="996633"/>
                </a:solidFill>
                <a:latin typeface="Comic Sans MS" pitchFamily="66" charset="0"/>
              </a:rPr>
              <a:t>1 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x</a:t>
            </a:r>
            <a:r>
              <a:rPr lang="en-US" sz="1800" b="1" baseline="-25000">
                <a:solidFill>
                  <a:srgbClr val="996633"/>
                </a:solidFill>
                <a:latin typeface="Comic Sans MS" pitchFamily="66" charset="0"/>
              </a:rPr>
              <a:t>1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 + b</a:t>
            </a:r>
            <a:r>
              <a:rPr lang="en-US" sz="1800" b="1" baseline="-25000">
                <a:solidFill>
                  <a:srgbClr val="996633"/>
                </a:solidFill>
                <a:latin typeface="Comic Sans MS" pitchFamily="66" charset="0"/>
              </a:rPr>
              <a:t>2 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x</a:t>
            </a:r>
            <a:r>
              <a:rPr lang="en-US" sz="1800" b="1" baseline="-25000">
                <a:solidFill>
                  <a:srgbClr val="996633"/>
                </a:solidFill>
                <a:latin typeface="Comic Sans MS" pitchFamily="66" charset="0"/>
              </a:rPr>
              <a:t>2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 + b</a:t>
            </a:r>
            <a:r>
              <a:rPr lang="en-US" sz="1800" b="1" baseline="-25000">
                <a:solidFill>
                  <a:srgbClr val="996633"/>
                </a:solidFill>
                <a:latin typeface="Comic Sans MS" pitchFamily="66" charset="0"/>
              </a:rPr>
              <a:t>3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 x</a:t>
            </a:r>
            <a:r>
              <a:rPr lang="en-US" sz="1800" b="1" baseline="-25000">
                <a:solidFill>
                  <a:srgbClr val="996633"/>
                </a:solidFill>
                <a:latin typeface="Comic Sans MS" pitchFamily="66" charset="0"/>
              </a:rPr>
              <a:t>3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 + … + b</a:t>
            </a:r>
            <a:r>
              <a:rPr lang="en-US" sz="1800" b="1" baseline="-25000">
                <a:solidFill>
                  <a:srgbClr val="996633"/>
                </a:solidFill>
                <a:latin typeface="Comic Sans MS" pitchFamily="66" charset="0"/>
              </a:rPr>
              <a:t>k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 x</a:t>
            </a:r>
            <a:r>
              <a:rPr lang="en-US" sz="1800" b="1" baseline="-25000">
                <a:solidFill>
                  <a:srgbClr val="996633"/>
                </a:solidFill>
                <a:latin typeface="Comic Sans MS" pitchFamily="66" charset="0"/>
              </a:rPr>
              <a:t>k</a:t>
            </a:r>
            <a:r>
              <a:rPr lang="en-US" sz="1800" b="1">
                <a:solidFill>
                  <a:srgbClr val="996633"/>
                </a:solidFill>
                <a:latin typeface="Comic Sans MS" pitchFamily="66" charset="0"/>
              </a:rPr>
              <a:t>+</a:t>
            </a:r>
            <a:r>
              <a:rPr lang="ru-RU" sz="1800" b="1">
                <a:solidFill>
                  <a:srgbClr val="996633"/>
                </a:solidFill>
                <a:latin typeface="Comic Sans MS" pitchFamily="66" charset="0"/>
              </a:rPr>
              <a:t>є</a:t>
            </a:r>
            <a:endParaRPr lang="en-US" sz="1800" b="1">
              <a:solidFill>
                <a:srgbClr val="996633"/>
              </a:solidFill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>
              <a:solidFill>
                <a:srgbClr val="9900CC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rgbClr val="9900CC"/>
                </a:solidFill>
                <a:latin typeface="Times New Roman" pitchFamily="18" charset="0"/>
              </a:rPr>
              <a:t>Therefore, regression analysis, in a sense, </a:t>
            </a:r>
            <a:r>
              <a:rPr lang="en-US" sz="2400" u="sng">
                <a:solidFill>
                  <a:srgbClr val="9900CC"/>
                </a:solidFill>
                <a:latin typeface="Times New Roman" pitchFamily="18" charset="0"/>
              </a:rPr>
              <a:t>is about</a:t>
            </a:r>
            <a:r>
              <a:rPr lang="en-US" sz="2400">
                <a:solidFill>
                  <a:srgbClr val="9900CC"/>
                </a:solidFill>
                <a:latin typeface="Times New Roman" pitchFamily="18" charset="0"/>
              </a:rPr>
              <a:t> </a:t>
            </a:r>
            <a:r>
              <a:rPr lang="en-US" sz="2400" u="sng">
                <a:solidFill>
                  <a:srgbClr val="9900CC"/>
                </a:solidFill>
                <a:latin typeface="Times New Roman" pitchFamily="18" charset="0"/>
              </a:rPr>
              <a:t>ESTIMATING</a:t>
            </a:r>
            <a:r>
              <a:rPr lang="en-US" sz="2400">
                <a:solidFill>
                  <a:srgbClr val="9900CC"/>
                </a:solidFill>
                <a:latin typeface="Times New Roman" pitchFamily="18" charset="0"/>
              </a:rPr>
              <a:t> values of Y, using information about</a:t>
            </a:r>
            <a:br>
              <a:rPr lang="en-US" sz="2400">
                <a:solidFill>
                  <a:srgbClr val="9900CC"/>
                </a:solidFill>
                <a:latin typeface="Times New Roman" pitchFamily="18" charset="0"/>
              </a:rPr>
            </a:br>
            <a:r>
              <a:rPr lang="en-US" sz="2400">
                <a:solidFill>
                  <a:srgbClr val="9900CC"/>
                </a:solidFill>
                <a:latin typeface="Times New Roman" pitchFamily="18" charset="0"/>
              </a:rPr>
              <a:t>values of Xs:</a:t>
            </a:r>
          </a:p>
          <a:p>
            <a:pPr marL="1143000" lvl="3" indent="0" eaLnBrk="1" hangingPunct="1">
              <a:lnSpc>
                <a:spcPct val="90000"/>
              </a:lnSpc>
              <a:buFont typeface="Wingdings" pitchFamily="2" charset="2"/>
              <a:buChar char="ü"/>
            </a:pPr>
            <a:endParaRPr lang="en-US" sz="1800">
              <a:solidFill>
                <a:srgbClr val="9900CC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imes New Roman" pitchFamily="18" charset="0"/>
              </a:rPr>
              <a:t>Estimation, by definition, involves?     </a:t>
            </a:r>
          </a:p>
          <a:p>
            <a:pPr eaLnBrk="1" hangingPunct="1">
              <a:lnSpc>
                <a:spcPct val="90000"/>
              </a:lnSpc>
            </a:pPr>
            <a:endParaRPr lang="en-US" sz="180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imes New Roman" pitchFamily="18" charset="0"/>
              </a:rPr>
              <a:t>The </a:t>
            </a:r>
            <a:r>
              <a:rPr lang="en-US" sz="2400" u="sng">
                <a:latin typeface="Times New Roman" pitchFamily="18" charset="0"/>
              </a:rPr>
              <a:t>objective</a:t>
            </a:r>
            <a:r>
              <a:rPr lang="en-US" sz="2400">
                <a:latin typeface="Times New Roman" pitchFamily="18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latin typeface="Times New Roman" pitchFamily="18" charset="0"/>
              </a:rPr>
              <a:t>To minimize error in estimation.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latin typeface="Times New Roman" pitchFamily="18" charset="0"/>
              </a:rPr>
              <a:t>Or, to compute </a:t>
            </a:r>
            <a:r>
              <a:rPr lang="en-US" sz="2400" u="sng">
                <a:latin typeface="Times New Roman" pitchFamily="18" charset="0"/>
              </a:rPr>
              <a:t>estimates</a:t>
            </a:r>
            <a:r>
              <a:rPr lang="en-US" sz="2400">
                <a:latin typeface="Times New Roman" pitchFamily="18" charset="0"/>
              </a:rPr>
              <a:t> that are</a:t>
            </a:r>
            <a:br>
              <a:rPr lang="en-US" sz="2400">
                <a:latin typeface="Times New Roman" pitchFamily="18" charset="0"/>
              </a:rPr>
            </a:br>
            <a:r>
              <a:rPr lang="en-US" sz="2400">
                <a:latin typeface="Times New Roman" pitchFamily="18" charset="0"/>
              </a:rPr>
              <a:t>as </a:t>
            </a:r>
            <a:r>
              <a:rPr lang="en-US" sz="2400" u="sng">
                <a:latin typeface="Times New Roman" pitchFamily="18" charset="0"/>
              </a:rPr>
              <a:t>close to the true/actual values</a:t>
            </a:r>
            <a:r>
              <a:rPr lang="en-US" sz="2400">
                <a:latin typeface="Times New Roman" pitchFamily="18" charset="0"/>
              </a:rPr>
              <a:t> as possible.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2400">
              <a:latin typeface="Times New Roman" pitchFamily="18" charset="0"/>
            </a:endParaRPr>
          </a:p>
        </p:txBody>
      </p:sp>
      <p:pic>
        <p:nvPicPr>
          <p:cNvPr id="36868" name="Picture 9" descr="j033268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10638" y="2619375"/>
            <a:ext cx="1547812" cy="140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886576" y="3976689"/>
            <a:ext cx="2735263" cy="1565275"/>
            <a:chOff x="3334" y="1673"/>
            <a:chExt cx="1723" cy="986"/>
          </a:xfrm>
        </p:grpSpPr>
        <p:pic>
          <p:nvPicPr>
            <p:cNvPr id="36871" name="Picture 7" descr="j010474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34" y="1842"/>
              <a:ext cx="779" cy="8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72" name="Line 10"/>
            <p:cNvSpPr>
              <a:spLocks noChangeShapeType="1"/>
            </p:cNvSpPr>
            <p:nvPr/>
          </p:nvSpPr>
          <p:spPr bwMode="auto">
            <a:xfrm flipH="1">
              <a:off x="4105" y="2057"/>
              <a:ext cx="952" cy="0"/>
            </a:xfrm>
            <a:prstGeom prst="line">
              <a:avLst/>
            </a:prstGeom>
            <a:noFill/>
            <a:ln w="76200">
              <a:solidFill>
                <a:srgbClr val="990099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6873" name="Line 13"/>
            <p:cNvSpPr>
              <a:spLocks noChangeShapeType="1"/>
            </p:cNvSpPr>
            <p:nvPr/>
          </p:nvSpPr>
          <p:spPr bwMode="auto">
            <a:xfrm>
              <a:off x="5057" y="1673"/>
              <a:ext cx="0" cy="408"/>
            </a:xfrm>
            <a:prstGeom prst="line">
              <a:avLst/>
            </a:prstGeom>
            <a:noFill/>
            <a:ln w="76200">
              <a:solidFill>
                <a:srgbClr val="990099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3738564" y="2081214"/>
            <a:ext cx="4286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b="1">
                <a:solidFill>
                  <a:srgbClr val="996633"/>
                </a:solidFill>
                <a:sym typeface="Symbol" pitchFamily="18" charset="2"/>
              </a:rPr>
              <a:t></a:t>
            </a:r>
            <a:endParaRPr lang="en-US" sz="1200" b="1">
              <a:solidFill>
                <a:srgbClr val="9966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81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Simple and Multiple Regression Analysis</a:t>
            </a:r>
            <a:r>
              <a:rPr lang="en-US" b="1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009650"/>
            <a:ext cx="6999288" cy="1219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>
                <a:solidFill>
                  <a:srgbClr val="FF0066"/>
                </a:solidFill>
                <a:latin typeface="Times New Roman" pitchFamily="18" charset="0"/>
              </a:rPr>
              <a:t>QUESTION:</a:t>
            </a:r>
            <a:r>
              <a:rPr lang="en-US" sz="2400">
                <a:solidFill>
                  <a:srgbClr val="FF0066"/>
                </a:solidFill>
              </a:rPr>
              <a:t>  </a:t>
            </a:r>
            <a:r>
              <a:rPr lang="en-US" sz="2400">
                <a:latin typeface="Times New Roman" pitchFamily="18" charset="0"/>
              </a:rPr>
              <a:t>What is the </a:t>
            </a:r>
            <a:r>
              <a:rPr lang="en-US" sz="2400" u="sng">
                <a:latin typeface="Times New Roman" pitchFamily="18" charset="0"/>
              </a:rPr>
              <a:t>simplest way to</a:t>
            </a:r>
            <a:r>
              <a:rPr lang="en-US" sz="2400">
                <a:latin typeface="Times New Roman" pitchFamily="18" charset="0"/>
              </a:rPr>
              <a:t> obtain an </a:t>
            </a:r>
            <a:r>
              <a:rPr lang="en-US" sz="2400" u="sng">
                <a:latin typeface="Times New Roman" pitchFamily="18" charset="0"/>
              </a:rPr>
              <a:t>estimate</a:t>
            </a:r>
            <a:r>
              <a:rPr lang="en-US" sz="2400">
                <a:latin typeface="Times New Roman" pitchFamily="18" charset="0"/>
              </a:rPr>
              <a:t> for some population characteristic</a:t>
            </a:r>
            <a:br>
              <a:rPr lang="en-US" sz="2400">
                <a:latin typeface="Times New Roman" pitchFamily="18" charset="0"/>
              </a:rPr>
            </a:br>
            <a:r>
              <a:rPr lang="en-US" sz="2400">
                <a:latin typeface="Times New Roman" pitchFamily="18" charset="0"/>
              </a:rPr>
              <a:t>(e.g., </a:t>
            </a:r>
            <a:r>
              <a:rPr lang="en-US" sz="2400" u="sng">
                <a:latin typeface="Times New Roman" pitchFamily="18" charset="0"/>
              </a:rPr>
              <a:t>number of credit cards</a:t>
            </a:r>
            <a:r>
              <a:rPr lang="en-US" sz="2400">
                <a:latin typeface="Times New Roman" pitchFamily="18" charset="0"/>
              </a:rPr>
              <a:t> per U.S. household)?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828800" y="2341563"/>
            <a:ext cx="8370888" cy="288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solidFill>
                  <a:srgbClr val="FF0066"/>
                </a:solidFill>
              </a:rPr>
              <a:t>ANSWER:</a:t>
            </a:r>
            <a:r>
              <a:rPr lang="en-US">
                <a:solidFill>
                  <a:srgbClr val="000000"/>
                </a:solidFill>
              </a:rPr>
              <a:t>  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Times New Roman" pitchFamily="18" charset="0"/>
              <a:buAutoNum type="arabicPeriod"/>
            </a:pPr>
            <a:r>
              <a:rPr lang="en-US" u="sng">
                <a:solidFill>
                  <a:srgbClr val="000000"/>
                </a:solidFill>
              </a:rPr>
              <a:t>Select a representative sample</a:t>
            </a:r>
            <a:r>
              <a:rPr lang="en-US">
                <a:solidFill>
                  <a:srgbClr val="000000"/>
                </a:solidFill>
              </a:rPr>
              <a:t> from the population and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Times New Roman" pitchFamily="18" charset="0"/>
              <a:buAutoNum type="arabicPeriod"/>
            </a:pPr>
            <a:r>
              <a:rPr lang="en-US">
                <a:solidFill>
                  <a:srgbClr val="000000"/>
                </a:solidFill>
              </a:rPr>
              <a:t>Compute the </a:t>
            </a:r>
            <a:r>
              <a:rPr lang="en-US" u="sng">
                <a:solidFill>
                  <a:srgbClr val="000000"/>
                </a:solidFill>
              </a:rPr>
              <a:t>mean for that sample </a:t>
            </a:r>
            <a:r>
              <a:rPr lang="en-US">
                <a:solidFill>
                  <a:srgbClr val="000000"/>
                </a:solidFill>
              </a:rPr>
              <a:t>(e.g., compute the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average number of CCs for the sample households).   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</a:pPr>
            <a:endParaRPr lang="en-US" sz="16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solidFill>
                  <a:srgbClr val="FF0066"/>
                </a:solidFill>
              </a:rPr>
              <a:t>Regression analysis </a:t>
            </a:r>
            <a:r>
              <a:rPr lang="en-US">
                <a:solidFill>
                  <a:srgbClr val="000000"/>
                </a:solidFill>
              </a:rPr>
              <a:t>can be viewed as</a:t>
            </a:r>
            <a:r>
              <a:rPr lang="en-US">
                <a:solidFill>
                  <a:srgbClr val="FF0066"/>
                </a:solidFill>
              </a:rPr>
              <a:t> a technique that </a:t>
            </a:r>
            <a:r>
              <a:rPr lang="en-US">
                <a:solidFill>
                  <a:srgbClr val="000000"/>
                </a:solidFill>
              </a:rPr>
              <a:t>often significantly </a:t>
            </a:r>
            <a:r>
              <a:rPr lang="en-US" u="sng">
                <a:solidFill>
                  <a:srgbClr val="000000"/>
                </a:solidFill>
              </a:rPr>
              <a:t>improves the accuracy </a:t>
            </a:r>
            <a:r>
              <a:rPr lang="en-US">
                <a:solidFill>
                  <a:srgbClr val="000000"/>
                </a:solidFill>
              </a:rPr>
              <a:t>of estimation results </a:t>
            </a:r>
            <a:r>
              <a:rPr lang="en-US" u="sng">
                <a:solidFill>
                  <a:srgbClr val="000000"/>
                </a:solidFill>
              </a:rPr>
              <a:t>relative to using the mean</a:t>
            </a:r>
            <a:r>
              <a:rPr lang="en-US">
                <a:solidFill>
                  <a:srgbClr val="000000"/>
                </a:solidFill>
              </a:rPr>
              <a:t> value.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solidFill>
                  <a:srgbClr val="FF0066"/>
                </a:solidFill>
              </a:rPr>
              <a:t>So, suppose</a:t>
            </a:r>
            <a:r>
              <a:rPr lang="en-US">
                <a:solidFill>
                  <a:srgbClr val="000000"/>
                </a:solidFill>
              </a:rPr>
              <a:t> we were to estimate the </a:t>
            </a:r>
            <a:r>
              <a:rPr lang="en-US">
                <a:solidFill>
                  <a:srgbClr val="FF0066"/>
                </a:solidFill>
              </a:rPr>
              <a:t>number of credit cards</a:t>
            </a:r>
            <a:r>
              <a:rPr lang="en-US">
                <a:solidFill>
                  <a:srgbClr val="000000"/>
                </a:solidFill>
              </a:rPr>
              <a:t> for U.S. households, based on information from a random sample of, say, </a:t>
            </a:r>
            <a:r>
              <a:rPr lang="en-US">
                <a:solidFill>
                  <a:srgbClr val="FF0066"/>
                </a:solidFill>
              </a:rPr>
              <a:t>n = 8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FF0066"/>
                </a:solidFill>
              </a:rPr>
              <a:t>families</a:t>
            </a:r>
            <a:r>
              <a:rPr lang="en-US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10255" name="Picture 15" descr="j023144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58325" y="2852739"/>
            <a:ext cx="114935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4" name="Picture 16" descr="bd19803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96376" y="908050"/>
            <a:ext cx="1139825" cy="140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7" name="Line 17"/>
          <p:cNvSpPr>
            <a:spLocks noChangeShapeType="1"/>
          </p:cNvSpPr>
          <p:nvPr/>
        </p:nvSpPr>
        <p:spPr bwMode="auto">
          <a:xfrm flipH="1">
            <a:off x="9026526" y="3716338"/>
            <a:ext cx="576263" cy="0"/>
          </a:xfrm>
          <a:prstGeom prst="line">
            <a:avLst/>
          </a:prstGeom>
          <a:noFill/>
          <a:ln w="76200">
            <a:solidFill>
              <a:srgbClr val="FF7C8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8716964" y="3500443"/>
            <a:ext cx="504825" cy="369888"/>
            <a:chOff x="3967" y="2205"/>
            <a:chExt cx="318" cy="233"/>
          </a:xfrm>
        </p:grpSpPr>
        <p:sp>
          <p:nvSpPr>
            <p:cNvPr id="37897" name="Text Box 18"/>
            <p:cNvSpPr txBox="1">
              <a:spLocks noChangeArrowheads="1"/>
            </p:cNvSpPr>
            <p:nvPr/>
          </p:nvSpPr>
          <p:spPr bwMode="auto">
            <a:xfrm>
              <a:off x="3967" y="2205"/>
              <a:ext cx="31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37898" name="Line 19"/>
            <p:cNvSpPr>
              <a:spLocks noChangeShapeType="1"/>
            </p:cNvSpPr>
            <p:nvPr/>
          </p:nvSpPr>
          <p:spPr bwMode="auto">
            <a:xfrm>
              <a:off x="4029" y="223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53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autoUpdateAnimBg="0"/>
      <p:bldP spid="102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2"/>
          <p:cNvSpPr>
            <a:spLocks noGrp="1" noChangeArrowheads="1"/>
          </p:cNvSpPr>
          <p:nvPr>
            <p:ph type="title"/>
          </p:nvPr>
        </p:nvSpPr>
        <p:spPr>
          <a:xfrm>
            <a:off x="2640013" y="260351"/>
            <a:ext cx="7639050" cy="1096963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chemeClr val="tx1"/>
                </a:solidFill>
              </a:rPr>
              <a:t>      Simple and Multiple Regression Analysis</a:t>
            </a:r>
            <a:r>
              <a:rPr lang="en-US" sz="2800" b="1"/>
              <a:t/>
            </a:r>
            <a:br>
              <a:rPr lang="en-US" sz="2800" b="1"/>
            </a:br>
            <a:r>
              <a:rPr lang="en-US" sz="2800" b="1"/>
              <a:t/>
            </a:r>
            <a:br>
              <a:rPr lang="en-US" sz="2800" b="1"/>
            </a:br>
            <a:r>
              <a:rPr lang="en-US" sz="2400" b="1"/>
              <a:t>Estimating </a:t>
            </a:r>
            <a:r>
              <a:rPr lang="en-US" sz="2400" b="1">
                <a:solidFill>
                  <a:srgbClr val="CC6600"/>
                </a:solidFill>
              </a:rPr>
              <a:t>Number of Credit Cards*</a:t>
            </a:r>
          </a:p>
        </p:txBody>
      </p:sp>
      <p:graphicFrame>
        <p:nvGraphicFramePr>
          <p:cNvPr id="9307" name="Group 91"/>
          <p:cNvGraphicFramePr>
            <a:graphicFrameLocks noGrp="1"/>
          </p:cNvGraphicFramePr>
          <p:nvPr>
            <p:ph sz="half" idx="1"/>
          </p:nvPr>
        </p:nvGraphicFramePr>
        <p:xfrm>
          <a:off x="2208213" y="1571625"/>
          <a:ext cx="3810000" cy="4114802"/>
        </p:xfrm>
        <a:graphic>
          <a:graphicData uri="http://schemas.openxmlformats.org/drawingml/2006/table">
            <a:tbl>
              <a:tblPr/>
              <a:tblGrid>
                <a:gridCol w="1524000"/>
                <a:gridCol w="2286000"/>
              </a:tblGrid>
              <a:tr h="1008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# of Credit Cards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98" name="Object 74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88"/>
          <p:cNvGraphicFramePr>
            <a:graphicFrameLocks noChangeAspect="1"/>
          </p:cNvGraphicFramePr>
          <p:nvPr/>
        </p:nvGraphicFramePr>
        <p:xfrm>
          <a:off x="4224338" y="5786439"/>
          <a:ext cx="9779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634725" imgH="253890" progId="Equation.3">
                  <p:embed/>
                </p:oleObj>
              </mc:Choice>
              <mc:Fallback>
                <p:oleObj name="Equation" r:id="rId5" imgW="634725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5786439"/>
                        <a:ext cx="9779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6" name="Text Box 92"/>
          <p:cNvSpPr txBox="1">
            <a:spLocks noChangeArrowheads="1"/>
          </p:cNvSpPr>
          <p:nvPr/>
        </p:nvSpPr>
        <p:spPr bwMode="auto">
          <a:xfrm>
            <a:off x="6743700" y="2357438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Estimate?</a:t>
            </a:r>
          </a:p>
        </p:txBody>
      </p:sp>
      <p:sp>
        <p:nvSpPr>
          <p:cNvPr id="4137" name="Text Box 93"/>
          <p:cNvSpPr txBox="1">
            <a:spLocks noChangeArrowheads="1"/>
          </p:cNvSpPr>
          <p:nvPr/>
        </p:nvSpPr>
        <p:spPr bwMode="auto">
          <a:xfrm>
            <a:off x="5181600" y="4343400"/>
            <a:ext cx="281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313" name="Text Box 97"/>
          <p:cNvSpPr txBox="1">
            <a:spLocks noChangeArrowheads="1"/>
          </p:cNvSpPr>
          <p:nvPr/>
        </p:nvSpPr>
        <p:spPr bwMode="auto">
          <a:xfrm>
            <a:off x="6167438" y="4014788"/>
            <a:ext cx="411480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solidFill>
                  <a:srgbClr val="FF0066"/>
                </a:solidFill>
              </a:rPr>
              <a:t>QUESTION:</a:t>
            </a:r>
            <a:r>
              <a:rPr lang="en-US">
                <a:solidFill>
                  <a:srgbClr val="000000"/>
                </a:solidFill>
              </a:rPr>
              <a:t>  Can we determine </a:t>
            </a:r>
            <a:r>
              <a:rPr lang="en-US">
                <a:solidFill>
                  <a:srgbClr val="FF0066"/>
                </a:solidFill>
              </a:rPr>
              <a:t>how much error in estimation</a:t>
            </a:r>
            <a:r>
              <a:rPr lang="en-US">
                <a:solidFill>
                  <a:srgbClr val="000000"/>
                </a:solidFill>
              </a:rPr>
              <a:t> we are committing </a:t>
            </a:r>
            <a:r>
              <a:rPr lang="en-US" u="sng">
                <a:solidFill>
                  <a:srgbClr val="000000"/>
                </a:solidFill>
              </a:rPr>
              <a:t>by using</a:t>
            </a:r>
            <a:r>
              <a:rPr lang="en-US">
                <a:solidFill>
                  <a:srgbClr val="000000"/>
                </a:solidFill>
              </a:rPr>
              <a:t>           </a:t>
            </a:r>
            <a:r>
              <a:rPr lang="en-US" u="sng">
                <a:solidFill>
                  <a:srgbClr val="000000"/>
                </a:solidFill>
              </a:rPr>
              <a:t>as our estimate</a:t>
            </a:r>
            <a:r>
              <a:rPr lang="en-US">
                <a:solidFill>
                  <a:srgbClr val="000000"/>
                </a:solidFill>
              </a:rPr>
              <a:t>, for each of these households?</a:t>
            </a:r>
          </a:p>
        </p:txBody>
      </p:sp>
      <p:graphicFrame>
        <p:nvGraphicFramePr>
          <p:cNvPr id="9314" name="Object 98"/>
          <p:cNvGraphicFramePr>
            <a:graphicFrameLocks noChangeAspect="1"/>
          </p:cNvGraphicFramePr>
          <p:nvPr/>
        </p:nvGraphicFramePr>
        <p:xfrm>
          <a:off x="7239009" y="5500702"/>
          <a:ext cx="78263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266353" imgH="177569" progId="Equation.3">
                  <p:embed/>
                </p:oleObj>
              </mc:Choice>
              <mc:Fallback>
                <p:oleObj name="Equation" r:id="rId7" imgW="266353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9" y="5500702"/>
                        <a:ext cx="78263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6" name="Object 100"/>
          <p:cNvGraphicFramePr>
            <a:graphicFrameLocks noChangeAspect="1"/>
          </p:cNvGraphicFramePr>
          <p:nvPr/>
        </p:nvGraphicFramePr>
        <p:xfrm>
          <a:off x="6383339" y="2943226"/>
          <a:ext cx="13366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647700" imgH="292100" progId="Equation.3">
                  <p:embed/>
                </p:oleObj>
              </mc:Choice>
              <mc:Fallback>
                <p:oleObj name="Equation" r:id="rId9" imgW="6477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943226"/>
                        <a:ext cx="1336675" cy="5683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FF006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101"/>
          <p:cNvGraphicFramePr>
            <a:graphicFrameLocks noGrp="1" noChangeAspect="1"/>
          </p:cNvGraphicFramePr>
          <p:nvPr>
            <p:ph sz="half" idx="2"/>
          </p:nvPr>
        </p:nvGraphicFramePr>
        <p:xfrm>
          <a:off x="6240463" y="2357438"/>
          <a:ext cx="5762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190335" imgH="164957" progId="Equation.3">
                  <p:embed/>
                </p:oleObj>
              </mc:Choice>
              <mc:Fallback>
                <p:oleObj name="Equation" r:id="rId11" imgW="190335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2357438"/>
                        <a:ext cx="5762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39" name="Picture 113" descr="j0397526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112125" y="1600200"/>
            <a:ext cx="2147888" cy="190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809750" y="6357962"/>
            <a:ext cx="8858250" cy="472006"/>
            <a:chOff x="285720" y="6499246"/>
            <a:chExt cx="8858280" cy="472009"/>
          </a:xfrm>
        </p:grpSpPr>
        <p:sp>
          <p:nvSpPr>
            <p:cNvPr id="4141" name="TextBox 15"/>
            <p:cNvSpPr txBox="1">
              <a:spLocks noChangeArrowheads="1"/>
            </p:cNvSpPr>
            <p:nvPr/>
          </p:nvSpPr>
          <p:spPr bwMode="auto">
            <a:xfrm>
              <a:off x="285720" y="6509587"/>
              <a:ext cx="8858280" cy="4616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rgbClr val="A85400"/>
                  </a:solidFill>
                </a:rPr>
                <a:t>* This example was adopted from Hair, Black, </a:t>
              </a:r>
              <a:r>
                <a:rPr lang="en-US" sz="1200" dirty="0" err="1">
                  <a:solidFill>
                    <a:srgbClr val="A85400"/>
                  </a:solidFill>
                </a:rPr>
                <a:t>Babin</a:t>
              </a:r>
              <a:r>
                <a:rPr lang="en-US" sz="1200" dirty="0">
                  <a:solidFill>
                    <a:srgbClr val="A85400"/>
                  </a:solidFill>
                </a:rPr>
                <a:t>, Anderson, &amp; </a:t>
              </a:r>
              <a:r>
                <a:rPr lang="en-US" sz="1200" dirty="0" err="1">
                  <a:solidFill>
                    <a:srgbClr val="A85400"/>
                  </a:solidFill>
                </a:rPr>
                <a:t>Tatham</a:t>
              </a:r>
              <a:r>
                <a:rPr lang="en-US" sz="1200" dirty="0">
                  <a:solidFill>
                    <a:srgbClr val="A85400"/>
                  </a:solidFill>
                </a:rPr>
                <a:t>, (2006). </a:t>
              </a:r>
              <a:r>
                <a:rPr lang="en-US" sz="1200" i="1" dirty="0">
                  <a:solidFill>
                    <a:srgbClr val="A85400"/>
                  </a:solidFill>
                </a:rPr>
                <a:t>Multivariate Data Analysis</a:t>
              </a:r>
              <a:r>
                <a:rPr lang="en-US" sz="1200" dirty="0">
                  <a:solidFill>
                    <a:srgbClr val="A85400"/>
                  </a:solidFill>
                </a:rPr>
                <a:t>, 6</a:t>
              </a:r>
              <a:r>
                <a:rPr lang="en-US" sz="1200" baseline="30000" dirty="0">
                  <a:solidFill>
                    <a:srgbClr val="A85400"/>
                  </a:solidFill>
                </a:rPr>
                <a:t>th</a:t>
              </a:r>
              <a:r>
                <a:rPr lang="en-US" sz="1200" dirty="0">
                  <a:solidFill>
                    <a:srgbClr val="A85400"/>
                  </a:solidFill>
                </a:rPr>
                <a:t> ed., Prentice Hall.</a:t>
              </a:r>
            </a:p>
          </p:txBody>
        </p:sp>
        <p:cxnSp>
          <p:nvCxnSpPr>
            <p:cNvPr id="4142" name="Straight Connector 13"/>
            <p:cNvCxnSpPr>
              <a:cxnSpLocks noChangeShapeType="1"/>
            </p:cNvCxnSpPr>
            <p:nvPr/>
          </p:nvCxnSpPr>
          <p:spPr bwMode="auto">
            <a:xfrm>
              <a:off x="428596" y="6499246"/>
              <a:ext cx="7715304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149284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    Simple and Multiple Regression Analysis</a:t>
            </a:r>
            <a:r>
              <a:rPr lang="en-US" sz="3200" b="1"/>
              <a:t/>
            </a:r>
            <a:br>
              <a:rPr lang="en-US" sz="3200" b="1"/>
            </a:br>
            <a:r>
              <a:rPr lang="en-US" sz="3200" b="1"/>
              <a:t/>
            </a:r>
            <a:br>
              <a:rPr lang="en-US" sz="3200" b="1"/>
            </a:br>
            <a:r>
              <a:rPr lang="en-US" sz="2400" b="1"/>
              <a:t>Estimating Number of Credit Cards</a:t>
            </a:r>
          </a:p>
        </p:txBody>
      </p:sp>
      <p:graphicFrame>
        <p:nvGraphicFramePr>
          <p:cNvPr id="39001" name="Group 89"/>
          <p:cNvGraphicFramePr>
            <a:graphicFrameLocks noGrp="1"/>
          </p:cNvGraphicFramePr>
          <p:nvPr>
            <p:ph type="tbl" idx="1"/>
          </p:nvPr>
        </p:nvGraphicFramePr>
        <p:xfrm>
          <a:off x="2209800" y="1752600"/>
          <a:ext cx="5715000" cy="3983660"/>
        </p:xfrm>
        <a:graphic>
          <a:graphicData uri="http://schemas.openxmlformats.org/drawingml/2006/table">
            <a:tbl>
              <a:tblPr/>
              <a:tblGrid>
                <a:gridCol w="1066800"/>
                <a:gridCol w="1600200"/>
                <a:gridCol w="1600200"/>
                <a:gridCol w="1447800"/>
              </a:tblGrid>
              <a:tr h="990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# of Credit Cards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</a:rPr>
                        <a:t>Estimate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for  #  of Credit Cards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in Estimation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80" name="Text Box 55"/>
          <p:cNvSpPr txBox="1">
            <a:spLocks noChangeArrowheads="1"/>
          </p:cNvSpPr>
          <p:nvPr/>
        </p:nvSpPr>
        <p:spPr bwMode="auto">
          <a:xfrm>
            <a:off x="8839200" y="5943600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5122" name="Object 56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9"/>
          <p:cNvGraphicFramePr>
            <a:graphicFrameLocks noChangeAspect="1"/>
          </p:cNvGraphicFramePr>
          <p:nvPr/>
        </p:nvGraphicFramePr>
        <p:xfrm>
          <a:off x="3405188" y="5867401"/>
          <a:ext cx="1268412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660113" imgH="253890" progId="Equation.3">
                  <p:embed/>
                </p:oleObj>
              </mc:Choice>
              <mc:Fallback>
                <p:oleObj name="Equation" r:id="rId5" imgW="660113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5867401"/>
                        <a:ext cx="1268412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91"/>
          <p:cNvGraphicFramePr>
            <a:graphicFrameLocks noChangeAspect="1"/>
          </p:cNvGraphicFramePr>
          <p:nvPr/>
        </p:nvGraphicFramePr>
        <p:xfrm>
          <a:off x="4972051" y="5791201"/>
          <a:ext cx="14843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926698" imgH="393529" progId="Equation.3">
                  <p:embed/>
                </p:oleObj>
              </mc:Choice>
              <mc:Fallback>
                <p:oleObj name="Equation" r:id="rId7" imgW="92669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1" y="5791201"/>
                        <a:ext cx="1484313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95"/>
          <p:cNvGraphicFramePr>
            <a:graphicFrameLocks noChangeAspect="1"/>
          </p:cNvGraphicFramePr>
          <p:nvPr/>
        </p:nvGraphicFramePr>
        <p:xfrm>
          <a:off x="5410200" y="1828800"/>
          <a:ext cx="6096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380835" imgH="203112" progId="Equation.3">
                  <p:embed/>
                </p:oleObj>
              </mc:Choice>
              <mc:Fallback>
                <p:oleObj name="Equation" r:id="rId9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828800"/>
                        <a:ext cx="6096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96"/>
          <p:cNvGraphicFramePr>
            <a:graphicFrameLocks noChangeAspect="1"/>
          </p:cNvGraphicFramePr>
          <p:nvPr/>
        </p:nvGraphicFramePr>
        <p:xfrm>
          <a:off x="3886200" y="1752600"/>
          <a:ext cx="2667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165028" imgH="228501" progId="Equation.3">
                  <p:embed/>
                </p:oleObj>
              </mc:Choice>
              <mc:Fallback>
                <p:oleObj name="Equation" r:id="rId11" imgW="16502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52600"/>
                        <a:ext cx="2667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81" name="Picture 102" descr="j0395714"/>
          <p:cNvPicPr>
            <a:picLocks noChangeAspect="1" noChangeArrowheads="1" noCrop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40714" y="1365250"/>
            <a:ext cx="2116137" cy="2116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687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    Simple and Multiple Regression Analysis</a:t>
            </a:r>
            <a:r>
              <a:rPr lang="en-US" sz="3200" b="1"/>
              <a:t/>
            </a:r>
            <a:br>
              <a:rPr lang="en-US" sz="3200" b="1"/>
            </a:br>
            <a:r>
              <a:rPr lang="en-US" sz="3200" b="1"/>
              <a:t/>
            </a:r>
            <a:br>
              <a:rPr lang="en-US" sz="3200" b="1"/>
            </a:br>
            <a:r>
              <a:rPr lang="en-US" sz="2400" b="1"/>
              <a:t>Estimating Number of Credit Cards</a:t>
            </a:r>
          </a:p>
        </p:txBody>
      </p:sp>
      <p:graphicFrame>
        <p:nvGraphicFramePr>
          <p:cNvPr id="75779" name="Group 3"/>
          <p:cNvGraphicFramePr>
            <a:graphicFrameLocks noGrp="1"/>
          </p:cNvGraphicFramePr>
          <p:nvPr>
            <p:ph type="tbl" idx="1"/>
          </p:nvPr>
        </p:nvGraphicFramePr>
        <p:xfrm>
          <a:off x="2209800" y="1752600"/>
          <a:ext cx="5715000" cy="3983660"/>
        </p:xfrm>
        <a:graphic>
          <a:graphicData uri="http://schemas.openxmlformats.org/drawingml/2006/table">
            <a:tbl>
              <a:tblPr/>
              <a:tblGrid>
                <a:gridCol w="1066800"/>
                <a:gridCol w="1600200"/>
                <a:gridCol w="1600200"/>
                <a:gridCol w="1447800"/>
              </a:tblGrid>
              <a:tr h="990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# of Credit Cards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</a:rPr>
                        <a:t>Estimate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for  #  of Credit Cards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in Estimation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</a:rPr>
                        <a:t>-3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</a:rPr>
                        <a:t>+1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</a:rPr>
                        <a:t>+1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</a:rPr>
                        <a:t>+3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05" name="Text Box 55"/>
          <p:cNvSpPr txBox="1">
            <a:spLocks noChangeArrowheads="1"/>
          </p:cNvSpPr>
          <p:nvPr/>
        </p:nvSpPr>
        <p:spPr bwMode="auto">
          <a:xfrm>
            <a:off x="8839200" y="5943600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6146" name="Object 56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8"/>
          <p:cNvGraphicFramePr>
            <a:graphicFrameLocks noChangeAspect="1"/>
          </p:cNvGraphicFramePr>
          <p:nvPr/>
        </p:nvGraphicFramePr>
        <p:xfrm>
          <a:off x="3405188" y="5867401"/>
          <a:ext cx="1268412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660113" imgH="253890" progId="Equation.3">
                  <p:embed/>
                </p:oleObj>
              </mc:Choice>
              <mc:Fallback>
                <p:oleObj name="Equation" r:id="rId5" imgW="660113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5867401"/>
                        <a:ext cx="1268412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59"/>
          <p:cNvGraphicFramePr>
            <a:graphicFrameLocks noChangeAspect="1"/>
          </p:cNvGraphicFramePr>
          <p:nvPr/>
        </p:nvGraphicFramePr>
        <p:xfrm>
          <a:off x="6915150" y="1773239"/>
          <a:ext cx="63658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393529" imgH="228501" progId="Equation.3">
                  <p:embed/>
                </p:oleObj>
              </mc:Choice>
              <mc:Fallback>
                <p:oleObj name="Equation" r:id="rId7" imgW="39352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5150" y="1773239"/>
                        <a:ext cx="636588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60"/>
          <p:cNvGraphicFramePr>
            <a:graphicFrameLocks noChangeAspect="1"/>
          </p:cNvGraphicFramePr>
          <p:nvPr/>
        </p:nvGraphicFramePr>
        <p:xfrm>
          <a:off x="4972051" y="5791201"/>
          <a:ext cx="14843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926698" imgH="393529" progId="Equation.3">
                  <p:embed/>
                </p:oleObj>
              </mc:Choice>
              <mc:Fallback>
                <p:oleObj name="Equation" r:id="rId9" imgW="92669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1" y="5791201"/>
                        <a:ext cx="1484313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1"/>
          <p:cNvGraphicFramePr>
            <a:graphicFrameLocks noChangeAspect="1"/>
          </p:cNvGraphicFramePr>
          <p:nvPr/>
        </p:nvGraphicFramePr>
        <p:xfrm>
          <a:off x="5410200" y="1828800"/>
          <a:ext cx="6096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380835" imgH="203112" progId="Equation.3">
                  <p:embed/>
                </p:oleObj>
              </mc:Choice>
              <mc:Fallback>
                <p:oleObj name="Equation" r:id="rId11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828800"/>
                        <a:ext cx="6096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62"/>
          <p:cNvGraphicFramePr>
            <a:graphicFrameLocks noChangeAspect="1"/>
          </p:cNvGraphicFramePr>
          <p:nvPr/>
        </p:nvGraphicFramePr>
        <p:xfrm>
          <a:off x="3886200" y="1752600"/>
          <a:ext cx="2667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165028" imgH="228501" progId="Equation.3">
                  <p:embed/>
                </p:oleObj>
              </mc:Choice>
              <mc:Fallback>
                <p:oleObj name="Equation" r:id="rId13" imgW="16502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52600"/>
                        <a:ext cx="2667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06" name="Text Box 63"/>
          <p:cNvSpPr txBox="1">
            <a:spLocks noChangeArrowheads="1"/>
          </p:cNvSpPr>
          <p:nvPr/>
        </p:nvSpPr>
        <p:spPr bwMode="auto">
          <a:xfrm>
            <a:off x="8077200" y="5105400"/>
            <a:ext cx="2209800" cy="7112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33CC"/>
                </a:solidFill>
              </a:rPr>
              <a:t>Lets now see all this graphically</a:t>
            </a:r>
          </a:p>
        </p:txBody>
      </p:sp>
      <p:pic>
        <p:nvPicPr>
          <p:cNvPr id="75840" name="Picture 64" descr="j0304323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7751763" y="1341438"/>
            <a:ext cx="23050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053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0"/>
            <a:ext cx="7162800" cy="685800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chemeClr val="tx1"/>
                </a:solidFill>
              </a:rPr>
              <a:t/>
            </a:r>
            <a:br>
              <a:rPr lang="en-US" sz="2800" b="1">
                <a:solidFill>
                  <a:schemeClr val="tx1"/>
                </a:solidFill>
              </a:rPr>
            </a:b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</a:p>
        </p:txBody>
      </p:sp>
      <p:sp>
        <p:nvSpPr>
          <p:cNvPr id="7172" name="Line 3"/>
          <p:cNvSpPr>
            <a:spLocks noChangeShapeType="1"/>
          </p:cNvSpPr>
          <p:nvPr/>
        </p:nvSpPr>
        <p:spPr bwMode="auto">
          <a:xfrm>
            <a:off x="3048000" y="820738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2514600" y="914401"/>
            <a:ext cx="8382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9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8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7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6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0</a:t>
            </a:r>
          </a:p>
          <a:p>
            <a:pPr>
              <a:spcBef>
                <a:spcPct val="50000"/>
              </a:spcBef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7174" name="Line 5"/>
          <p:cNvSpPr>
            <a:spLocks noChangeShapeType="1"/>
          </p:cNvSpPr>
          <p:nvPr/>
        </p:nvSpPr>
        <p:spPr bwMode="auto">
          <a:xfrm>
            <a:off x="2971800" y="2495550"/>
            <a:ext cx="5257800" cy="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75" name="Line 6"/>
          <p:cNvSpPr>
            <a:spLocks noChangeShapeType="1"/>
          </p:cNvSpPr>
          <p:nvPr/>
        </p:nvSpPr>
        <p:spPr bwMode="auto">
          <a:xfrm>
            <a:off x="2895600" y="1143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76" name="Line 7"/>
          <p:cNvSpPr>
            <a:spLocks noChangeShapeType="1"/>
          </p:cNvSpPr>
          <p:nvPr/>
        </p:nvSpPr>
        <p:spPr bwMode="auto">
          <a:xfrm>
            <a:off x="2895600" y="1600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77" name="Line 8"/>
          <p:cNvSpPr>
            <a:spLocks noChangeShapeType="1"/>
          </p:cNvSpPr>
          <p:nvPr/>
        </p:nvSpPr>
        <p:spPr bwMode="auto">
          <a:xfrm>
            <a:off x="2895600" y="2057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78" name="Line 9"/>
          <p:cNvSpPr>
            <a:spLocks noChangeShapeType="1"/>
          </p:cNvSpPr>
          <p:nvPr/>
        </p:nvSpPr>
        <p:spPr bwMode="auto">
          <a:xfrm>
            <a:off x="2895600" y="2971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79" name="Line 10"/>
          <p:cNvSpPr>
            <a:spLocks noChangeShapeType="1"/>
          </p:cNvSpPr>
          <p:nvPr/>
        </p:nvSpPr>
        <p:spPr bwMode="auto">
          <a:xfrm>
            <a:off x="2895600" y="3429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80" name="Line 11"/>
          <p:cNvSpPr>
            <a:spLocks noChangeShapeType="1"/>
          </p:cNvSpPr>
          <p:nvPr/>
        </p:nvSpPr>
        <p:spPr bwMode="auto">
          <a:xfrm>
            <a:off x="2895600" y="3886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81" name="Line 12"/>
          <p:cNvSpPr>
            <a:spLocks noChangeShapeType="1"/>
          </p:cNvSpPr>
          <p:nvPr/>
        </p:nvSpPr>
        <p:spPr bwMode="auto">
          <a:xfrm>
            <a:off x="2895600" y="4343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82" name="Line 13"/>
          <p:cNvSpPr>
            <a:spLocks noChangeShapeType="1"/>
          </p:cNvSpPr>
          <p:nvPr/>
        </p:nvSpPr>
        <p:spPr bwMode="auto">
          <a:xfrm>
            <a:off x="2895600" y="4800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83" name="Line 14"/>
          <p:cNvSpPr>
            <a:spLocks noChangeShapeType="1"/>
          </p:cNvSpPr>
          <p:nvPr/>
        </p:nvSpPr>
        <p:spPr bwMode="auto">
          <a:xfrm>
            <a:off x="2895600" y="5257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84" name="Line 15"/>
          <p:cNvSpPr>
            <a:spLocks noChangeShapeType="1"/>
          </p:cNvSpPr>
          <p:nvPr/>
        </p:nvSpPr>
        <p:spPr bwMode="auto">
          <a:xfrm>
            <a:off x="2895600" y="5715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85" name="Oval 16"/>
          <p:cNvSpPr>
            <a:spLocks noChangeArrowheads="1"/>
          </p:cNvSpPr>
          <p:nvPr/>
        </p:nvSpPr>
        <p:spPr bwMode="auto">
          <a:xfrm>
            <a:off x="5467350" y="3886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5543550" y="37338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F1</a:t>
            </a:r>
          </a:p>
        </p:txBody>
      </p:sp>
      <p:sp>
        <p:nvSpPr>
          <p:cNvPr id="7187" name="Oval 19"/>
          <p:cNvSpPr>
            <a:spLocks noChangeArrowheads="1"/>
          </p:cNvSpPr>
          <p:nvPr/>
        </p:nvSpPr>
        <p:spPr bwMode="auto">
          <a:xfrm>
            <a:off x="5467350" y="2971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88" name="Oval 20"/>
          <p:cNvSpPr>
            <a:spLocks noChangeArrowheads="1"/>
          </p:cNvSpPr>
          <p:nvPr/>
        </p:nvSpPr>
        <p:spPr bwMode="auto">
          <a:xfrm>
            <a:off x="5486400" y="24479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89" name="Oval 21"/>
          <p:cNvSpPr>
            <a:spLocks noChangeArrowheads="1"/>
          </p:cNvSpPr>
          <p:nvPr/>
        </p:nvSpPr>
        <p:spPr bwMode="auto">
          <a:xfrm>
            <a:off x="5505450" y="1981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90" name="Oval 24"/>
          <p:cNvSpPr>
            <a:spLocks noChangeArrowheads="1"/>
          </p:cNvSpPr>
          <p:nvPr/>
        </p:nvSpPr>
        <p:spPr bwMode="auto">
          <a:xfrm>
            <a:off x="5505450" y="10858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2906" name="Text Box 26"/>
          <p:cNvSpPr txBox="1">
            <a:spLocks noChangeArrowheads="1"/>
          </p:cNvSpPr>
          <p:nvPr/>
        </p:nvSpPr>
        <p:spPr bwMode="auto">
          <a:xfrm>
            <a:off x="5505451" y="2724150"/>
            <a:ext cx="11334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F2, F3</a:t>
            </a:r>
          </a:p>
        </p:txBody>
      </p:sp>
      <p:sp>
        <p:nvSpPr>
          <p:cNvPr id="122907" name="Text Box 27"/>
          <p:cNvSpPr txBox="1">
            <a:spLocks noChangeArrowheads="1"/>
          </p:cNvSpPr>
          <p:nvPr/>
        </p:nvSpPr>
        <p:spPr bwMode="auto">
          <a:xfrm>
            <a:off x="5562600" y="241935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F4</a:t>
            </a:r>
          </a:p>
        </p:txBody>
      </p:sp>
      <p:sp>
        <p:nvSpPr>
          <p:cNvPr id="122908" name="Text Box 28"/>
          <p:cNvSpPr txBox="1">
            <a:spLocks noChangeArrowheads="1"/>
          </p:cNvSpPr>
          <p:nvPr/>
        </p:nvSpPr>
        <p:spPr bwMode="auto">
          <a:xfrm>
            <a:off x="5562600" y="16383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F5</a:t>
            </a:r>
          </a:p>
        </p:txBody>
      </p:sp>
      <p:sp>
        <p:nvSpPr>
          <p:cNvPr id="122909" name="Text Box 29"/>
          <p:cNvSpPr txBox="1">
            <a:spLocks noChangeArrowheads="1"/>
          </p:cNvSpPr>
          <p:nvPr/>
        </p:nvSpPr>
        <p:spPr bwMode="auto">
          <a:xfrm>
            <a:off x="5562600" y="21717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F6</a:t>
            </a:r>
          </a:p>
        </p:txBody>
      </p:sp>
      <p:sp>
        <p:nvSpPr>
          <p:cNvPr id="122910" name="Text Box 30"/>
          <p:cNvSpPr txBox="1">
            <a:spLocks noChangeArrowheads="1"/>
          </p:cNvSpPr>
          <p:nvPr/>
        </p:nvSpPr>
        <p:spPr bwMode="auto">
          <a:xfrm>
            <a:off x="5562600" y="188595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F7</a:t>
            </a:r>
          </a:p>
        </p:txBody>
      </p:sp>
      <p:sp>
        <p:nvSpPr>
          <p:cNvPr id="122911" name="Text Box 31"/>
          <p:cNvSpPr txBox="1">
            <a:spLocks noChangeArrowheads="1"/>
          </p:cNvSpPr>
          <p:nvPr/>
        </p:nvSpPr>
        <p:spPr bwMode="auto">
          <a:xfrm>
            <a:off x="5581650" y="108585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F8</a:t>
            </a:r>
          </a:p>
        </p:txBody>
      </p:sp>
      <p:sp>
        <p:nvSpPr>
          <p:cNvPr id="7197" name="Line 38"/>
          <p:cNvSpPr>
            <a:spLocks noChangeShapeType="1"/>
          </p:cNvSpPr>
          <p:nvPr/>
        </p:nvSpPr>
        <p:spPr bwMode="auto">
          <a:xfrm>
            <a:off x="2895600" y="24955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7170" name="Object 39"/>
          <p:cNvGraphicFramePr>
            <a:graphicFrameLocks noChangeAspect="1"/>
          </p:cNvGraphicFramePr>
          <p:nvPr/>
        </p:nvGraphicFramePr>
        <p:xfrm>
          <a:off x="8305800" y="2209800"/>
          <a:ext cx="7620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393359" imgH="266469" progId="Equation.3">
                  <p:embed/>
                </p:oleObj>
              </mc:Choice>
              <mc:Fallback>
                <p:oleObj name="Equation" r:id="rId3" imgW="393359" imgH="2664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209800"/>
                        <a:ext cx="762000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0" name="Text Box 40"/>
          <p:cNvSpPr txBox="1">
            <a:spLocks noChangeArrowheads="1"/>
          </p:cNvSpPr>
          <p:nvPr/>
        </p:nvSpPr>
        <p:spPr bwMode="auto">
          <a:xfrm rot="16186772">
            <a:off x="533400" y="2482334"/>
            <a:ext cx="3352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Actual # of credit cards</a:t>
            </a:r>
          </a:p>
        </p:txBody>
      </p:sp>
      <p:sp>
        <p:nvSpPr>
          <p:cNvPr id="122922" name="Text Box 42"/>
          <p:cNvSpPr txBox="1">
            <a:spLocks noChangeArrowheads="1"/>
          </p:cNvSpPr>
          <p:nvPr/>
        </p:nvSpPr>
        <p:spPr bwMode="auto">
          <a:xfrm>
            <a:off x="9144000" y="2286000"/>
            <a:ext cx="1295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Estimate</a:t>
            </a:r>
          </a:p>
        </p:txBody>
      </p:sp>
      <p:sp>
        <p:nvSpPr>
          <p:cNvPr id="7200" name="Text Box 54"/>
          <p:cNvSpPr txBox="1">
            <a:spLocks noChangeArrowheads="1"/>
          </p:cNvSpPr>
          <p:nvPr/>
        </p:nvSpPr>
        <p:spPr bwMode="auto">
          <a:xfrm>
            <a:off x="3624263" y="5233989"/>
            <a:ext cx="52562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Let’s </a:t>
            </a:r>
            <a:r>
              <a:rPr lang="en-US" u="sng">
                <a:solidFill>
                  <a:srgbClr val="FF0000"/>
                </a:solidFill>
              </a:rPr>
              <a:t>spread the dots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away from each other to see things more clearly! </a:t>
            </a:r>
          </a:p>
        </p:txBody>
      </p:sp>
      <p:pic>
        <p:nvPicPr>
          <p:cNvPr id="7201" name="Picture 55" descr="j040439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00989" y="2924176"/>
            <a:ext cx="2320925" cy="234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0251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0"/>
            <a:ext cx="7162800" cy="685800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chemeClr val="tx1"/>
                </a:solidFill>
              </a:rPr>
              <a:t/>
            </a:r>
            <a:br>
              <a:rPr lang="en-US" sz="2800" b="1">
                <a:solidFill>
                  <a:schemeClr val="tx1"/>
                </a:solidFill>
              </a:rPr>
            </a:b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>
            <a:off x="3048000" y="1004888"/>
            <a:ext cx="0" cy="502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197" name="Text Box 38"/>
          <p:cNvSpPr txBox="1">
            <a:spLocks noChangeArrowheads="1"/>
          </p:cNvSpPr>
          <p:nvPr/>
        </p:nvSpPr>
        <p:spPr bwMode="auto">
          <a:xfrm>
            <a:off x="2514600" y="914401"/>
            <a:ext cx="8382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9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8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7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6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0</a:t>
            </a:r>
          </a:p>
          <a:p>
            <a:pPr>
              <a:spcBef>
                <a:spcPct val="50000"/>
              </a:spcBef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8198" name="Line 39"/>
          <p:cNvSpPr>
            <a:spLocks noChangeShapeType="1"/>
          </p:cNvSpPr>
          <p:nvPr/>
        </p:nvSpPr>
        <p:spPr bwMode="auto">
          <a:xfrm>
            <a:off x="2971800" y="2533650"/>
            <a:ext cx="5257800" cy="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199" name="Line 40"/>
          <p:cNvSpPr>
            <a:spLocks noChangeShapeType="1"/>
          </p:cNvSpPr>
          <p:nvPr/>
        </p:nvSpPr>
        <p:spPr bwMode="auto">
          <a:xfrm>
            <a:off x="2895600" y="1143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0" name="Line 41"/>
          <p:cNvSpPr>
            <a:spLocks noChangeShapeType="1"/>
          </p:cNvSpPr>
          <p:nvPr/>
        </p:nvSpPr>
        <p:spPr bwMode="auto">
          <a:xfrm>
            <a:off x="2895600" y="1600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1" name="Line 42"/>
          <p:cNvSpPr>
            <a:spLocks noChangeShapeType="1"/>
          </p:cNvSpPr>
          <p:nvPr/>
        </p:nvSpPr>
        <p:spPr bwMode="auto">
          <a:xfrm>
            <a:off x="2895600" y="2057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2" name="Line 43"/>
          <p:cNvSpPr>
            <a:spLocks noChangeShapeType="1"/>
          </p:cNvSpPr>
          <p:nvPr/>
        </p:nvSpPr>
        <p:spPr bwMode="auto">
          <a:xfrm>
            <a:off x="2895600" y="2971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3" name="Line 44"/>
          <p:cNvSpPr>
            <a:spLocks noChangeShapeType="1"/>
          </p:cNvSpPr>
          <p:nvPr/>
        </p:nvSpPr>
        <p:spPr bwMode="auto">
          <a:xfrm>
            <a:off x="2895600" y="3429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4" name="Line 45"/>
          <p:cNvSpPr>
            <a:spLocks noChangeShapeType="1"/>
          </p:cNvSpPr>
          <p:nvPr/>
        </p:nvSpPr>
        <p:spPr bwMode="auto">
          <a:xfrm>
            <a:off x="2895600" y="3886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5" name="Line 46"/>
          <p:cNvSpPr>
            <a:spLocks noChangeShapeType="1"/>
          </p:cNvSpPr>
          <p:nvPr/>
        </p:nvSpPr>
        <p:spPr bwMode="auto">
          <a:xfrm>
            <a:off x="2895600" y="4343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6" name="Line 47"/>
          <p:cNvSpPr>
            <a:spLocks noChangeShapeType="1"/>
          </p:cNvSpPr>
          <p:nvPr/>
        </p:nvSpPr>
        <p:spPr bwMode="auto">
          <a:xfrm>
            <a:off x="2895600" y="4800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7" name="Line 48"/>
          <p:cNvSpPr>
            <a:spLocks noChangeShapeType="1"/>
          </p:cNvSpPr>
          <p:nvPr/>
        </p:nvSpPr>
        <p:spPr bwMode="auto">
          <a:xfrm>
            <a:off x="2895600" y="5257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8" name="Line 49"/>
          <p:cNvSpPr>
            <a:spLocks noChangeShapeType="1"/>
          </p:cNvSpPr>
          <p:nvPr/>
        </p:nvSpPr>
        <p:spPr bwMode="auto">
          <a:xfrm>
            <a:off x="2895600" y="5715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09" name="Oval 50"/>
          <p:cNvSpPr>
            <a:spLocks noChangeArrowheads="1"/>
          </p:cNvSpPr>
          <p:nvPr/>
        </p:nvSpPr>
        <p:spPr bwMode="auto">
          <a:xfrm>
            <a:off x="3657600" y="3886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15" name="Text Box 51"/>
          <p:cNvSpPr txBox="1">
            <a:spLocks noChangeArrowheads="1"/>
          </p:cNvSpPr>
          <p:nvPr/>
        </p:nvSpPr>
        <p:spPr bwMode="auto">
          <a:xfrm>
            <a:off x="3200400" y="38100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F1</a:t>
            </a:r>
          </a:p>
        </p:txBody>
      </p:sp>
      <p:sp>
        <p:nvSpPr>
          <p:cNvPr id="8211" name="Oval 52"/>
          <p:cNvSpPr>
            <a:spLocks noChangeArrowheads="1"/>
          </p:cNvSpPr>
          <p:nvPr/>
        </p:nvSpPr>
        <p:spPr bwMode="auto">
          <a:xfrm>
            <a:off x="4343400" y="2971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12" name="Oval 53"/>
          <p:cNvSpPr>
            <a:spLocks noChangeArrowheads="1"/>
          </p:cNvSpPr>
          <p:nvPr/>
        </p:nvSpPr>
        <p:spPr bwMode="auto">
          <a:xfrm>
            <a:off x="4876800" y="2971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13" name="Oval 54"/>
          <p:cNvSpPr>
            <a:spLocks noChangeArrowheads="1"/>
          </p:cNvSpPr>
          <p:nvPr/>
        </p:nvSpPr>
        <p:spPr bwMode="auto">
          <a:xfrm>
            <a:off x="5486400" y="24479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14" name="Oval 55"/>
          <p:cNvSpPr>
            <a:spLocks noChangeArrowheads="1"/>
          </p:cNvSpPr>
          <p:nvPr/>
        </p:nvSpPr>
        <p:spPr bwMode="auto">
          <a:xfrm>
            <a:off x="6096000" y="1981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15" name="Oval 56"/>
          <p:cNvSpPr>
            <a:spLocks noChangeArrowheads="1"/>
          </p:cNvSpPr>
          <p:nvPr/>
        </p:nvSpPr>
        <p:spPr bwMode="auto">
          <a:xfrm>
            <a:off x="6719888" y="24479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16" name="Oval 57"/>
          <p:cNvSpPr>
            <a:spLocks noChangeArrowheads="1"/>
          </p:cNvSpPr>
          <p:nvPr/>
        </p:nvSpPr>
        <p:spPr bwMode="auto">
          <a:xfrm>
            <a:off x="7315200" y="1981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217" name="Oval 58"/>
          <p:cNvSpPr>
            <a:spLocks noChangeArrowheads="1"/>
          </p:cNvSpPr>
          <p:nvPr/>
        </p:nvSpPr>
        <p:spPr bwMode="auto">
          <a:xfrm>
            <a:off x="7924800" y="1066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23" name="Text Box 59"/>
          <p:cNvSpPr txBox="1">
            <a:spLocks noChangeArrowheads="1"/>
          </p:cNvSpPr>
          <p:nvPr/>
        </p:nvSpPr>
        <p:spPr bwMode="auto">
          <a:xfrm>
            <a:off x="4191000" y="3124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F2</a:t>
            </a:r>
          </a:p>
        </p:txBody>
      </p:sp>
      <p:sp>
        <p:nvSpPr>
          <p:cNvPr id="11324" name="Text Box 60"/>
          <p:cNvSpPr txBox="1">
            <a:spLocks noChangeArrowheads="1"/>
          </p:cNvSpPr>
          <p:nvPr/>
        </p:nvSpPr>
        <p:spPr bwMode="auto">
          <a:xfrm>
            <a:off x="4876800" y="272415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F3</a:t>
            </a:r>
          </a:p>
        </p:txBody>
      </p:sp>
      <p:sp>
        <p:nvSpPr>
          <p:cNvPr id="11325" name="Text Box 61"/>
          <p:cNvSpPr txBox="1">
            <a:spLocks noChangeArrowheads="1"/>
          </p:cNvSpPr>
          <p:nvPr/>
        </p:nvSpPr>
        <p:spPr bwMode="auto">
          <a:xfrm>
            <a:off x="5410200" y="25146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F4</a:t>
            </a:r>
          </a:p>
        </p:txBody>
      </p:sp>
      <p:sp>
        <p:nvSpPr>
          <p:cNvPr id="11326" name="Text Box 62"/>
          <p:cNvSpPr txBox="1">
            <a:spLocks noChangeArrowheads="1"/>
          </p:cNvSpPr>
          <p:nvPr/>
        </p:nvSpPr>
        <p:spPr bwMode="auto">
          <a:xfrm>
            <a:off x="5943600" y="1600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F5</a:t>
            </a:r>
          </a:p>
        </p:txBody>
      </p:sp>
      <p:sp>
        <p:nvSpPr>
          <p:cNvPr id="11327" name="Text Box 63"/>
          <p:cNvSpPr txBox="1">
            <a:spLocks noChangeArrowheads="1"/>
          </p:cNvSpPr>
          <p:nvPr/>
        </p:nvSpPr>
        <p:spPr bwMode="auto">
          <a:xfrm>
            <a:off x="6705600" y="25146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F6</a:t>
            </a:r>
          </a:p>
        </p:txBody>
      </p:sp>
      <p:sp>
        <p:nvSpPr>
          <p:cNvPr id="11328" name="Text Box 64"/>
          <p:cNvSpPr txBox="1">
            <a:spLocks noChangeArrowheads="1"/>
          </p:cNvSpPr>
          <p:nvPr/>
        </p:nvSpPr>
        <p:spPr bwMode="auto">
          <a:xfrm>
            <a:off x="7391400" y="19050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F7</a:t>
            </a:r>
          </a:p>
        </p:txBody>
      </p:sp>
      <p:sp>
        <p:nvSpPr>
          <p:cNvPr id="11329" name="Text Box 65"/>
          <p:cNvSpPr txBox="1">
            <a:spLocks noChangeArrowheads="1"/>
          </p:cNvSpPr>
          <p:nvPr/>
        </p:nvSpPr>
        <p:spPr bwMode="auto">
          <a:xfrm>
            <a:off x="8001000" y="10668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F8</a:t>
            </a:r>
          </a:p>
        </p:txBody>
      </p:sp>
      <p:sp>
        <p:nvSpPr>
          <p:cNvPr id="7201" name="AutoShape 66"/>
          <p:cNvSpPr>
            <a:spLocks/>
          </p:cNvSpPr>
          <p:nvPr/>
        </p:nvSpPr>
        <p:spPr bwMode="auto">
          <a:xfrm>
            <a:off x="3733800" y="2514600"/>
            <a:ext cx="152400" cy="13716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202" name="AutoShape 67"/>
          <p:cNvSpPr>
            <a:spLocks/>
          </p:cNvSpPr>
          <p:nvPr/>
        </p:nvSpPr>
        <p:spPr bwMode="auto">
          <a:xfrm>
            <a:off x="4419600" y="2514600"/>
            <a:ext cx="76200" cy="457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32" name="Text Box 68"/>
          <p:cNvSpPr txBox="1">
            <a:spLocks noChangeArrowheads="1"/>
          </p:cNvSpPr>
          <p:nvPr/>
        </p:nvSpPr>
        <p:spPr bwMode="auto">
          <a:xfrm>
            <a:off x="3886200" y="3962400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66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Estimation Error</a:t>
            </a:r>
          </a:p>
        </p:txBody>
      </p:sp>
      <p:sp>
        <p:nvSpPr>
          <p:cNvPr id="7204" name="Line 70"/>
          <p:cNvSpPr>
            <a:spLocks noChangeShapeType="1"/>
          </p:cNvSpPr>
          <p:nvPr/>
        </p:nvSpPr>
        <p:spPr bwMode="auto">
          <a:xfrm flipH="1" flipV="1">
            <a:off x="3810000" y="3352800"/>
            <a:ext cx="990600" cy="685800"/>
          </a:xfrm>
          <a:prstGeom prst="line">
            <a:avLst/>
          </a:prstGeom>
          <a:noFill/>
          <a:ln w="9525">
            <a:solidFill>
              <a:srgbClr val="6666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205" name="Line 71"/>
          <p:cNvSpPr>
            <a:spLocks noChangeShapeType="1"/>
          </p:cNvSpPr>
          <p:nvPr/>
        </p:nvSpPr>
        <p:spPr bwMode="auto">
          <a:xfrm flipH="1" flipV="1">
            <a:off x="4524376" y="2786064"/>
            <a:ext cx="581025" cy="1252537"/>
          </a:xfrm>
          <a:prstGeom prst="line">
            <a:avLst/>
          </a:prstGeom>
          <a:noFill/>
          <a:ln w="9525">
            <a:solidFill>
              <a:srgbClr val="6666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8230" name="Picture 72" descr="PEOPO02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35838" y="3657601"/>
            <a:ext cx="3332162" cy="164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31" name="Line 73"/>
          <p:cNvSpPr>
            <a:spLocks noChangeShapeType="1"/>
          </p:cNvSpPr>
          <p:nvPr/>
        </p:nvSpPr>
        <p:spPr bwMode="auto">
          <a:xfrm>
            <a:off x="28956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8194" name="Object 74"/>
          <p:cNvGraphicFramePr>
            <a:graphicFrameLocks noChangeAspect="1"/>
          </p:cNvGraphicFramePr>
          <p:nvPr/>
        </p:nvGraphicFramePr>
        <p:xfrm>
          <a:off x="8305800" y="2209800"/>
          <a:ext cx="7620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393359" imgH="266469" progId="Equation.3">
                  <p:embed/>
                </p:oleObj>
              </mc:Choice>
              <mc:Fallback>
                <p:oleObj name="Equation" r:id="rId4" imgW="393359" imgH="2664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209800"/>
                        <a:ext cx="762000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40" name="Text Box 76"/>
          <p:cNvSpPr txBox="1">
            <a:spLocks noChangeArrowheads="1"/>
          </p:cNvSpPr>
          <p:nvPr/>
        </p:nvSpPr>
        <p:spPr bwMode="auto">
          <a:xfrm rot="16186772">
            <a:off x="533400" y="2482334"/>
            <a:ext cx="3352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Actual # of credit cards</a:t>
            </a:r>
          </a:p>
        </p:txBody>
      </p:sp>
      <p:sp>
        <p:nvSpPr>
          <p:cNvPr id="8233" name="Rectangle 78"/>
          <p:cNvSpPr>
            <a:spLocks noChangeArrowheads="1"/>
          </p:cNvSpPr>
          <p:nvPr/>
        </p:nvSpPr>
        <p:spPr bwMode="auto">
          <a:xfrm>
            <a:off x="3200401" y="1143000"/>
            <a:ext cx="25542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33CC"/>
                </a:solidFill>
              </a:rPr>
              <a:t>Graphic Representation</a:t>
            </a:r>
          </a:p>
        </p:txBody>
      </p:sp>
      <p:sp>
        <p:nvSpPr>
          <p:cNvPr id="11343" name="Text Box 79"/>
          <p:cNvSpPr txBox="1">
            <a:spLocks noChangeArrowheads="1"/>
          </p:cNvSpPr>
          <p:nvPr/>
        </p:nvSpPr>
        <p:spPr bwMode="auto">
          <a:xfrm>
            <a:off x="9144000" y="2286000"/>
            <a:ext cx="1295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Estimate</a:t>
            </a:r>
          </a:p>
        </p:txBody>
      </p:sp>
      <p:sp>
        <p:nvSpPr>
          <p:cNvPr id="11345" name="Oval 81"/>
          <p:cNvSpPr>
            <a:spLocks noChangeArrowheads="1"/>
          </p:cNvSpPr>
          <p:nvPr/>
        </p:nvSpPr>
        <p:spPr bwMode="auto">
          <a:xfrm>
            <a:off x="6716713" y="2501900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46" name="Oval 82"/>
          <p:cNvSpPr>
            <a:spLocks noChangeArrowheads="1"/>
          </p:cNvSpPr>
          <p:nvPr/>
        </p:nvSpPr>
        <p:spPr bwMode="auto">
          <a:xfrm>
            <a:off x="5487988" y="2520950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47" name="Oval 83"/>
          <p:cNvSpPr>
            <a:spLocks noChangeArrowheads="1"/>
          </p:cNvSpPr>
          <p:nvPr/>
        </p:nvSpPr>
        <p:spPr bwMode="auto">
          <a:xfrm>
            <a:off x="4887913" y="2468563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48" name="Oval 84"/>
          <p:cNvSpPr>
            <a:spLocks noChangeArrowheads="1"/>
          </p:cNvSpPr>
          <p:nvPr/>
        </p:nvSpPr>
        <p:spPr bwMode="auto">
          <a:xfrm>
            <a:off x="4338638" y="2478088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49" name="Oval 85"/>
          <p:cNvSpPr>
            <a:spLocks noChangeArrowheads="1"/>
          </p:cNvSpPr>
          <p:nvPr/>
        </p:nvSpPr>
        <p:spPr bwMode="auto">
          <a:xfrm>
            <a:off x="3648075" y="2478088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50" name="Oval 86"/>
          <p:cNvSpPr>
            <a:spLocks noChangeArrowheads="1"/>
          </p:cNvSpPr>
          <p:nvPr/>
        </p:nvSpPr>
        <p:spPr bwMode="auto">
          <a:xfrm>
            <a:off x="7319963" y="2478088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51" name="Oval 87"/>
          <p:cNvSpPr>
            <a:spLocks noChangeArrowheads="1"/>
          </p:cNvSpPr>
          <p:nvPr/>
        </p:nvSpPr>
        <p:spPr bwMode="auto">
          <a:xfrm>
            <a:off x="7910513" y="2478088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52" name="Oval 88"/>
          <p:cNvSpPr>
            <a:spLocks noChangeArrowheads="1"/>
          </p:cNvSpPr>
          <p:nvPr/>
        </p:nvSpPr>
        <p:spPr bwMode="auto">
          <a:xfrm>
            <a:off x="6102350" y="2468563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53" name="Text Box 89"/>
          <p:cNvSpPr txBox="1">
            <a:spLocks noChangeArrowheads="1"/>
          </p:cNvSpPr>
          <p:nvPr/>
        </p:nvSpPr>
        <p:spPr bwMode="auto">
          <a:xfrm>
            <a:off x="3209926" y="1714500"/>
            <a:ext cx="13684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Actual</a:t>
            </a:r>
          </a:p>
        </p:txBody>
      </p:sp>
      <p:sp>
        <p:nvSpPr>
          <p:cNvPr id="8244" name="Line 90"/>
          <p:cNvSpPr>
            <a:spLocks noChangeShapeType="1"/>
          </p:cNvSpPr>
          <p:nvPr/>
        </p:nvSpPr>
        <p:spPr bwMode="auto">
          <a:xfrm>
            <a:off x="3738564" y="2124075"/>
            <a:ext cx="600075" cy="8334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221" name="Text Box 91"/>
          <p:cNvSpPr txBox="1">
            <a:spLocks noChangeArrowheads="1"/>
          </p:cNvSpPr>
          <p:nvPr/>
        </p:nvSpPr>
        <p:spPr bwMode="auto">
          <a:xfrm>
            <a:off x="4008439" y="4797425"/>
            <a:ext cx="3024187" cy="92333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Can we determine the </a:t>
            </a:r>
            <a:r>
              <a:rPr lang="en-US" b="1">
                <a:solidFill>
                  <a:srgbClr val="FF0000"/>
                </a:solidFill>
              </a:rPr>
              <a:t>total estimation error </a:t>
            </a:r>
            <a:r>
              <a:rPr lang="en-US">
                <a:solidFill>
                  <a:srgbClr val="FF0000"/>
                </a:solidFill>
              </a:rPr>
              <a:t>for all 8 families?</a:t>
            </a:r>
          </a:p>
        </p:txBody>
      </p:sp>
      <p:sp>
        <p:nvSpPr>
          <p:cNvPr id="54" name="Text Box 89"/>
          <p:cNvSpPr txBox="1">
            <a:spLocks noChangeArrowheads="1"/>
          </p:cNvSpPr>
          <p:nvPr/>
        </p:nvSpPr>
        <p:spPr bwMode="auto">
          <a:xfrm>
            <a:off x="4438650" y="1714500"/>
            <a:ext cx="15001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Estimate</a:t>
            </a:r>
          </a:p>
        </p:txBody>
      </p:sp>
      <p:cxnSp>
        <p:nvCxnSpPr>
          <p:cNvPr id="7223" name="Straight Arrow Connector 55"/>
          <p:cNvCxnSpPr>
            <a:cxnSpLocks noChangeShapeType="1"/>
          </p:cNvCxnSpPr>
          <p:nvPr/>
        </p:nvCxnSpPr>
        <p:spPr bwMode="auto">
          <a:xfrm rot="10800000" flipV="1">
            <a:off x="4422776" y="2105026"/>
            <a:ext cx="549275" cy="346075"/>
          </a:xfrm>
          <a:prstGeom prst="straightConnector1">
            <a:avLst/>
          </a:prstGeom>
          <a:noFill/>
          <a:ln w="9525" algn="ctr">
            <a:solidFill>
              <a:srgbClr val="008000"/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99122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7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7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1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1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1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1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1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1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1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1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1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1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11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1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1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11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11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11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7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7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7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7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7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1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1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7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1" grpId="0" animBg="1"/>
      <p:bldP spid="7202" grpId="0" animBg="1"/>
      <p:bldP spid="11332" grpId="0"/>
      <p:bldP spid="7204" grpId="0" animBg="1"/>
      <p:bldP spid="7205" grpId="0" animBg="1"/>
      <p:bldP spid="11345" grpId="0" animBg="1"/>
      <p:bldP spid="11346" grpId="0" animBg="1"/>
      <p:bldP spid="11347" grpId="0" animBg="1"/>
      <p:bldP spid="11348" grpId="0" animBg="1"/>
      <p:bldP spid="11349" grpId="0" animBg="1"/>
      <p:bldP spid="11350" grpId="0" animBg="1"/>
      <p:bldP spid="11351" grpId="0" animBg="1"/>
      <p:bldP spid="11352" grpId="0" animBg="1"/>
      <p:bldP spid="7221" grpId="0" animBg="1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85751"/>
            <a:ext cx="8153400" cy="531813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    Simple and Multiple Regression Analysis</a:t>
            </a:r>
            <a:endParaRPr lang="en-US" sz="2400" b="1"/>
          </a:p>
        </p:txBody>
      </p:sp>
      <p:graphicFrame>
        <p:nvGraphicFramePr>
          <p:cNvPr id="40963" name="Group 3"/>
          <p:cNvGraphicFramePr>
            <a:graphicFrameLocks noGrp="1"/>
          </p:cNvGraphicFramePr>
          <p:nvPr>
            <p:ph type="tbl" idx="1"/>
          </p:nvPr>
        </p:nvGraphicFramePr>
        <p:xfrm>
          <a:off x="2209800" y="1238250"/>
          <a:ext cx="5715000" cy="3983660"/>
        </p:xfrm>
        <a:graphic>
          <a:graphicData uri="http://schemas.openxmlformats.org/drawingml/2006/table">
            <a:tbl>
              <a:tblPr/>
              <a:tblGrid>
                <a:gridCol w="1066800"/>
                <a:gridCol w="1600200"/>
                <a:gridCol w="1600200"/>
                <a:gridCol w="1447800"/>
              </a:tblGrid>
              <a:tr h="990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# of Credit Cards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</a:rPr>
                        <a:t>Estimate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for  #  of Credit Cards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in Estimation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+1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+1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+3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18" name="Object 56"/>
          <p:cNvGraphicFramePr>
            <a:graphicFrameLocks noChangeAspect="1"/>
          </p:cNvGraphicFramePr>
          <p:nvPr/>
        </p:nvGraphicFramePr>
        <p:xfrm>
          <a:off x="6038850" y="28067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280670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58"/>
          <p:cNvGraphicFramePr>
            <a:graphicFrameLocks noChangeAspect="1"/>
          </p:cNvGraphicFramePr>
          <p:nvPr/>
        </p:nvGraphicFramePr>
        <p:xfrm>
          <a:off x="3409950" y="5276851"/>
          <a:ext cx="10175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660113" imgH="253890" progId="Equation.3">
                  <p:embed/>
                </p:oleObj>
              </mc:Choice>
              <mc:Fallback>
                <p:oleObj name="Equation" r:id="rId5" imgW="660113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5276851"/>
                        <a:ext cx="1017588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0" name="Object 60"/>
          <p:cNvGraphicFramePr>
            <a:graphicFrameLocks noChangeAspect="1"/>
          </p:cNvGraphicFramePr>
          <p:nvPr/>
        </p:nvGraphicFramePr>
        <p:xfrm>
          <a:off x="6672264" y="5229226"/>
          <a:ext cx="1042987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685800" imgH="254000" progId="Equation.3">
                  <p:embed/>
                </p:oleObj>
              </mc:Choice>
              <mc:Fallback>
                <p:oleObj name="Equation" r:id="rId7" imgW="6858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5229226"/>
                        <a:ext cx="1042987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62"/>
          <p:cNvGraphicFramePr>
            <a:graphicFrameLocks noChangeAspect="1"/>
          </p:cNvGraphicFramePr>
          <p:nvPr/>
        </p:nvGraphicFramePr>
        <p:xfrm>
          <a:off x="4876800" y="5240339"/>
          <a:ext cx="135413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926698" imgH="393529" progId="Equation.3">
                  <p:embed/>
                </p:oleObj>
              </mc:Choice>
              <mc:Fallback>
                <p:oleObj name="Equation" r:id="rId9" imgW="92669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240339"/>
                        <a:ext cx="1354138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8328025" y="5010150"/>
            <a:ext cx="609600" cy="381000"/>
            <a:chOff x="4286" y="3192"/>
            <a:chExt cx="384" cy="240"/>
          </a:xfrm>
        </p:grpSpPr>
        <p:sp>
          <p:nvSpPr>
            <p:cNvPr id="9283" name="Line 64"/>
            <p:cNvSpPr>
              <a:spLocks noChangeShapeType="1"/>
            </p:cNvSpPr>
            <p:nvPr/>
          </p:nvSpPr>
          <p:spPr bwMode="auto">
            <a:xfrm>
              <a:off x="4668" y="3192"/>
              <a:ext cx="0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284" name="Line 65"/>
            <p:cNvSpPr>
              <a:spLocks noChangeShapeType="1"/>
            </p:cNvSpPr>
            <p:nvPr/>
          </p:nvSpPr>
          <p:spPr bwMode="auto">
            <a:xfrm flipH="1">
              <a:off x="4286" y="3430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41026" name="Text Box 66"/>
          <p:cNvSpPr txBox="1">
            <a:spLocks noChangeArrowheads="1"/>
          </p:cNvSpPr>
          <p:nvPr/>
        </p:nvSpPr>
        <p:spPr bwMode="auto">
          <a:xfrm>
            <a:off x="8040688" y="3284538"/>
            <a:ext cx="2627312" cy="92333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FF0000"/>
                </a:solidFill>
              </a:rPr>
              <a:t>What would be the </a:t>
            </a: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total estimation error</a:t>
            </a:r>
            <a:r>
              <a:rPr lang="en-US" dirty="0">
                <a:solidFill>
                  <a:srgbClr val="FF0000"/>
                </a:solidFill>
              </a:rPr>
              <a:t> for all 8 families combined?</a:t>
            </a:r>
          </a:p>
        </p:txBody>
      </p:sp>
      <p:sp>
        <p:nvSpPr>
          <p:cNvPr id="41027" name="Text Box 67"/>
          <p:cNvSpPr txBox="1">
            <a:spLocks noChangeArrowheads="1"/>
          </p:cNvSpPr>
          <p:nvPr/>
        </p:nvSpPr>
        <p:spPr bwMode="auto">
          <a:xfrm>
            <a:off x="7573963" y="5191125"/>
            <a:ext cx="685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rgbClr val="008000"/>
                </a:solidFill>
              </a:rPr>
              <a:t> </a:t>
            </a:r>
            <a:r>
              <a:rPr lang="en-US" b="1">
                <a:solidFill>
                  <a:srgbClr val="008000"/>
                </a:solidFill>
              </a:rPr>
              <a:t>= 0</a:t>
            </a:r>
          </a:p>
        </p:txBody>
      </p:sp>
      <p:sp>
        <p:nvSpPr>
          <p:cNvPr id="41028" name="Text Box 68"/>
          <p:cNvSpPr txBox="1">
            <a:spLocks noChangeArrowheads="1"/>
          </p:cNvSpPr>
          <p:nvPr/>
        </p:nvSpPr>
        <p:spPr bwMode="auto">
          <a:xfrm>
            <a:off x="6919913" y="565785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660066"/>
                </a:solidFill>
              </a:rPr>
              <a:t>Solution?</a:t>
            </a:r>
          </a:p>
        </p:txBody>
      </p:sp>
      <p:graphicFrame>
        <p:nvGraphicFramePr>
          <p:cNvPr id="9222" name="Object 70"/>
          <p:cNvGraphicFramePr>
            <a:graphicFrameLocks noChangeAspect="1"/>
          </p:cNvGraphicFramePr>
          <p:nvPr/>
        </p:nvGraphicFramePr>
        <p:xfrm>
          <a:off x="5334000" y="1314450"/>
          <a:ext cx="6096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380835" imgH="203112" progId="Equation.3">
                  <p:embed/>
                </p:oleObj>
              </mc:Choice>
              <mc:Fallback>
                <p:oleObj name="Equation" r:id="rId11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314450"/>
                        <a:ext cx="6096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1"/>
          <p:cNvGraphicFramePr>
            <a:graphicFrameLocks noChangeAspect="1"/>
          </p:cNvGraphicFramePr>
          <p:nvPr/>
        </p:nvGraphicFramePr>
        <p:xfrm>
          <a:off x="3962400" y="1238250"/>
          <a:ext cx="3048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165028" imgH="228501" progId="Equation.3">
                  <p:embed/>
                </p:oleObj>
              </mc:Choice>
              <mc:Fallback>
                <p:oleObj name="Equation" r:id="rId13" imgW="16502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238250"/>
                        <a:ext cx="3048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72"/>
          <p:cNvGraphicFramePr>
            <a:graphicFrameLocks noChangeAspect="1"/>
          </p:cNvGraphicFramePr>
          <p:nvPr/>
        </p:nvGraphicFramePr>
        <p:xfrm>
          <a:off x="6934200" y="1238250"/>
          <a:ext cx="6365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393529" imgH="228501" progId="Equation.3">
                  <p:embed/>
                </p:oleObj>
              </mc:Choice>
              <mc:Fallback>
                <p:oleObj name="Equation" r:id="rId15" imgW="39352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238250"/>
                        <a:ext cx="636588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82" name="Picture 75" descr="j0410505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8256588" y="1268414"/>
            <a:ext cx="1727200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1335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7" grpId="0" autoUpdateAnimBg="0"/>
      <p:bldP spid="4102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    Simple and Multiple Regression Analysis</a:t>
            </a:r>
            <a:r>
              <a:rPr lang="en-US" sz="3200" b="1"/>
              <a:t/>
            </a:r>
            <a:br>
              <a:rPr lang="en-US" sz="3200" b="1"/>
            </a:br>
            <a:r>
              <a:rPr lang="en-US" sz="3200" b="1"/>
              <a:t/>
            </a:r>
            <a:br>
              <a:rPr lang="en-US" sz="3200" b="1"/>
            </a:br>
            <a:r>
              <a:rPr lang="en-US" sz="2400" b="1"/>
              <a:t>Estimating Number of Credit Cards</a:t>
            </a:r>
          </a:p>
        </p:txBody>
      </p:sp>
      <p:graphicFrame>
        <p:nvGraphicFramePr>
          <p:cNvPr id="40033" name="Group 1121"/>
          <p:cNvGraphicFramePr>
            <a:graphicFrameLocks noGrp="1"/>
          </p:cNvGraphicFramePr>
          <p:nvPr>
            <p:ph type="tbl" idx="1"/>
          </p:nvPr>
        </p:nvGraphicFramePr>
        <p:xfrm>
          <a:off x="2209800" y="1724025"/>
          <a:ext cx="7467600" cy="4017238"/>
        </p:xfrm>
        <a:graphic>
          <a:graphicData uri="http://schemas.openxmlformats.org/drawingml/2006/table">
            <a:tbl>
              <a:tblPr/>
              <a:tblGrid>
                <a:gridCol w="1066800"/>
                <a:gridCol w="1600200"/>
                <a:gridCol w="1600200"/>
                <a:gridCol w="1447800"/>
                <a:gridCol w="1752600"/>
              </a:tblGrid>
              <a:tr h="1023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# of Credit Cards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</a:rPr>
                        <a:t>Estimate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for  #  of Credit Cards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in Estimation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Errors Squared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-3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+1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+1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+3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242" name="Object 1090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1116"/>
          <p:cNvGraphicFramePr>
            <a:graphicFrameLocks noChangeAspect="1"/>
          </p:cNvGraphicFramePr>
          <p:nvPr/>
        </p:nvGraphicFramePr>
        <p:xfrm>
          <a:off x="8370889" y="1698625"/>
          <a:ext cx="9493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558558" imgH="317362" progId="Equation.3">
                  <p:embed/>
                </p:oleObj>
              </mc:Choice>
              <mc:Fallback>
                <p:oleObj name="Equation" r:id="rId5" imgW="558558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0889" y="1698625"/>
                        <a:ext cx="9493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1120"/>
          <p:cNvGraphicFramePr>
            <a:graphicFrameLocks noChangeAspect="1"/>
          </p:cNvGraphicFramePr>
          <p:nvPr/>
        </p:nvGraphicFramePr>
        <p:xfrm>
          <a:off x="8086725" y="5772150"/>
          <a:ext cx="154463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1028254" imgH="253890" progId="Equation.3">
                  <p:embed/>
                </p:oleObj>
              </mc:Choice>
              <mc:Fallback>
                <p:oleObj name="Equation" r:id="rId7" imgW="1028254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6725" y="5772150"/>
                        <a:ext cx="1544638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34" name="Text Box 1122"/>
          <p:cNvSpPr txBox="1">
            <a:spLocks noChangeArrowheads="1"/>
          </p:cNvSpPr>
          <p:nvPr/>
        </p:nvSpPr>
        <p:spPr bwMode="auto">
          <a:xfrm>
            <a:off x="7620000" y="6324601"/>
            <a:ext cx="2819400" cy="5847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FF0066"/>
                </a:solidFill>
              </a:rPr>
              <a:t>SST</a:t>
            </a:r>
            <a:r>
              <a:rPr lang="en-US" sz="1600">
                <a:solidFill>
                  <a:srgbClr val="FF0066"/>
                </a:solidFill>
              </a:rPr>
              <a:t> </a:t>
            </a:r>
            <a:r>
              <a:rPr lang="en-US" sz="1600" b="1">
                <a:solidFill>
                  <a:srgbClr val="FF0066"/>
                </a:solidFill>
              </a:rPr>
              <a:t>= Sum of  Squares Total</a:t>
            </a:r>
          </a:p>
        </p:txBody>
      </p:sp>
      <p:sp>
        <p:nvSpPr>
          <p:cNvPr id="10315" name="Line 1124"/>
          <p:cNvSpPr>
            <a:spLocks noChangeShapeType="1"/>
          </p:cNvSpPr>
          <p:nvPr/>
        </p:nvSpPr>
        <p:spPr bwMode="auto">
          <a:xfrm flipH="1" flipV="1">
            <a:off x="10134600" y="6019800"/>
            <a:ext cx="0" cy="3048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0316" name="Line 1125"/>
          <p:cNvSpPr>
            <a:spLocks noChangeShapeType="1"/>
          </p:cNvSpPr>
          <p:nvPr/>
        </p:nvSpPr>
        <p:spPr bwMode="auto">
          <a:xfrm flipH="1" flipV="1">
            <a:off x="9753600" y="6019800"/>
            <a:ext cx="381000" cy="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0245" name="Object 1129"/>
          <p:cNvGraphicFramePr>
            <a:graphicFrameLocks noChangeAspect="1"/>
          </p:cNvGraphicFramePr>
          <p:nvPr/>
        </p:nvGraphicFramePr>
        <p:xfrm>
          <a:off x="3886200" y="1752600"/>
          <a:ext cx="3048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165028" imgH="228501" progId="Equation.3">
                  <p:embed/>
                </p:oleObj>
              </mc:Choice>
              <mc:Fallback>
                <p:oleObj name="Equation" r:id="rId9" imgW="16502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52600"/>
                        <a:ext cx="3048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1130"/>
          <p:cNvGraphicFramePr>
            <a:graphicFrameLocks noChangeAspect="1"/>
          </p:cNvGraphicFramePr>
          <p:nvPr/>
        </p:nvGraphicFramePr>
        <p:xfrm>
          <a:off x="5334000" y="1828800"/>
          <a:ext cx="6096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380835" imgH="203112" progId="Equation.3">
                  <p:embed/>
                </p:oleObj>
              </mc:Choice>
              <mc:Fallback>
                <p:oleObj name="Equation" r:id="rId11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828800"/>
                        <a:ext cx="60960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1131"/>
          <p:cNvGraphicFramePr>
            <a:graphicFrameLocks noChangeAspect="1"/>
          </p:cNvGraphicFramePr>
          <p:nvPr/>
        </p:nvGraphicFramePr>
        <p:xfrm>
          <a:off x="6934200" y="1752600"/>
          <a:ext cx="6365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393529" imgH="228501" progId="Equation.3">
                  <p:embed/>
                </p:oleObj>
              </mc:Choice>
              <mc:Fallback>
                <p:oleObj name="Equation" r:id="rId13" imgW="39352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752600"/>
                        <a:ext cx="636588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1132"/>
          <p:cNvGraphicFramePr>
            <a:graphicFrameLocks noChangeAspect="1"/>
          </p:cNvGraphicFramePr>
          <p:nvPr/>
        </p:nvGraphicFramePr>
        <p:xfrm>
          <a:off x="3409950" y="5791201"/>
          <a:ext cx="10175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660113" imgH="253890" progId="Equation.3">
                  <p:embed/>
                </p:oleObj>
              </mc:Choice>
              <mc:Fallback>
                <p:oleObj name="Equation" r:id="rId15" imgW="660113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5791201"/>
                        <a:ext cx="1017588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133"/>
          <p:cNvGraphicFramePr>
            <a:graphicFrameLocks noChangeAspect="1"/>
          </p:cNvGraphicFramePr>
          <p:nvPr/>
        </p:nvGraphicFramePr>
        <p:xfrm>
          <a:off x="4876800" y="5754689"/>
          <a:ext cx="135413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7" imgW="926698" imgH="393529" progId="Equation.3">
                  <p:embed/>
                </p:oleObj>
              </mc:Choice>
              <mc:Fallback>
                <p:oleObj name="Equation" r:id="rId17" imgW="92669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754689"/>
                        <a:ext cx="1354138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134"/>
          <p:cNvGraphicFramePr>
            <a:graphicFrameLocks noChangeAspect="1"/>
          </p:cNvGraphicFramePr>
          <p:nvPr/>
        </p:nvGraphicFramePr>
        <p:xfrm>
          <a:off x="6467475" y="5800726"/>
          <a:ext cx="139065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19" imgW="914400" imgH="254000" progId="Equation.3">
                  <p:embed/>
                </p:oleObj>
              </mc:Choice>
              <mc:Fallback>
                <p:oleObj name="Equation" r:id="rId19" imgW="9144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475" y="5800726"/>
                        <a:ext cx="139065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17" name="Picture 1135" descr="j0246035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9480550" y="1128714"/>
            <a:ext cx="1187450" cy="852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783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Simple and Multiple Regression Analysis</a:t>
            </a:r>
            <a:r>
              <a:rPr lang="en-US" b="1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1847850" y="1260475"/>
            <a:ext cx="8820150" cy="377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008000"/>
                </a:solidFill>
              </a:rPr>
              <a:t>22 = SST = Index </a:t>
            </a:r>
            <a:r>
              <a:rPr lang="en-US" u="sng" dirty="0">
                <a:solidFill>
                  <a:srgbClr val="008000"/>
                </a:solidFill>
              </a:rPr>
              <a:t>for total (combined) amount of estimation error</a:t>
            </a:r>
            <a:r>
              <a:rPr lang="en-US" dirty="0">
                <a:solidFill>
                  <a:srgbClr val="000000"/>
                </a:solidFill>
              </a:rPr>
              <a:t>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        for all families (observations) in the sample </a:t>
            </a:r>
            <a:r>
              <a:rPr lang="en-US" u="sng" dirty="0">
                <a:solidFill>
                  <a:srgbClr val="008000"/>
                </a:solidFill>
              </a:rPr>
              <a:t>when using the mean</a:t>
            </a:r>
            <a:br>
              <a:rPr lang="en-US" u="sng" dirty="0">
                <a:solidFill>
                  <a:srgbClr val="008000"/>
                </a:solidFill>
              </a:rPr>
            </a:br>
            <a:r>
              <a:rPr lang="en-US" dirty="0">
                <a:solidFill>
                  <a:srgbClr val="008000"/>
                </a:solidFill>
              </a:rPr>
              <a:t>       </a:t>
            </a:r>
            <a:r>
              <a:rPr lang="en-US" dirty="0">
                <a:solidFill>
                  <a:srgbClr val="000000"/>
                </a:solidFill>
              </a:rPr>
              <a:t> as the estimate.</a:t>
            </a:r>
          </a:p>
          <a:p>
            <a:pPr marL="285750" lv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>
                <a:solidFill>
                  <a:srgbClr val="000000"/>
                </a:solidFill>
              </a:rPr>
              <a:t>  SST is also the sum of squared deviations from  the mean.</a:t>
            </a:r>
          </a:p>
          <a:p>
            <a:pPr marL="685800" lvl="2">
              <a:lnSpc>
                <a:spcPct val="90000"/>
              </a:lnSpc>
              <a:spcBef>
                <a:spcPct val="20000"/>
              </a:spcBef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</a:rPr>
              <a:t>  </a:t>
            </a:r>
            <a:r>
              <a:rPr lang="en-US" u="sng" dirty="0">
                <a:solidFill>
                  <a:srgbClr val="000000"/>
                </a:solidFill>
              </a:rPr>
              <a:t>Remember</a:t>
            </a:r>
            <a:r>
              <a:rPr lang="en-US" dirty="0">
                <a:solidFill>
                  <a:srgbClr val="000000"/>
                </a:solidFill>
              </a:rPr>
              <a:t> the formula for computing </a:t>
            </a:r>
            <a:r>
              <a:rPr lang="en-US" b="1" dirty="0">
                <a:solidFill>
                  <a:srgbClr val="000000"/>
                </a:solidFill>
              </a:rPr>
              <a:t>Variance</a:t>
            </a:r>
            <a:r>
              <a:rPr lang="en-US" dirty="0">
                <a:solidFill>
                  <a:srgbClr val="000000"/>
                </a:solidFill>
              </a:rPr>
              <a:t>?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rgbClr val="000000"/>
                </a:solidFill>
              </a:rPr>
              <a:t>  </a:t>
            </a:r>
            <a:r>
              <a:rPr lang="en-US" dirty="0">
                <a:solidFill>
                  <a:srgbClr val="FF0066"/>
                </a:solidFill>
              </a:rPr>
              <a:t>Objective in Estimation?</a:t>
            </a:r>
          </a:p>
          <a:p>
            <a:pPr marL="285750" lvl="1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</a:rPr>
              <a:t>Minimize error, maximize precision.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Can we cut down the amount of estimation error (SST)?  How?</a:t>
            </a:r>
          </a:p>
          <a:p>
            <a:pPr marL="285750" lvl="1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</a:rPr>
              <a:t>Yes, we can, </a:t>
            </a:r>
            <a:r>
              <a:rPr 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by using information about other variables</a:t>
            </a:r>
            <a:r>
              <a:rPr lang="en-US" dirty="0">
                <a:solidFill>
                  <a:srgbClr val="000000"/>
                </a:solidFill>
              </a:rPr>
              <a:t> suspected to be strong predictors (strongly related to) # of credit cards possessed by families (e.g., </a:t>
            </a:r>
            <a:r>
              <a:rPr lang="en-US" u="sng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family size</a:t>
            </a: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u="sng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family income</a:t>
            </a:r>
            <a:r>
              <a:rPr lang="en-US" dirty="0">
                <a:solidFill>
                  <a:srgbClr val="000000"/>
                </a:solidFill>
              </a:rPr>
              <a:t>, etc.)..</a:t>
            </a:r>
          </a:p>
        </p:txBody>
      </p:sp>
      <p:pic>
        <p:nvPicPr>
          <p:cNvPr id="38916" name="Picture 7" descr="j0356713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10512" y="4959350"/>
            <a:ext cx="2233612" cy="189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9946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    </a:t>
            </a:r>
            <a:br>
              <a:rPr lang="en-US" sz="3200" b="1">
                <a:solidFill>
                  <a:schemeClr val="tx1"/>
                </a:solidFill>
              </a:rPr>
            </a:br>
            <a:r>
              <a:rPr lang="en-US" sz="3200" b="1">
                <a:solidFill>
                  <a:schemeClr val="tx1"/>
                </a:solidFill>
              </a:rPr>
              <a:t>   </a:t>
            </a: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r>
              <a:rPr lang="en-US" sz="3200" b="1"/>
              <a:t/>
            </a:r>
            <a:br>
              <a:rPr lang="en-US" sz="3200" b="1"/>
            </a:br>
            <a:r>
              <a:rPr lang="en-US" sz="3200" b="1"/>
              <a:t/>
            </a:r>
            <a:br>
              <a:rPr lang="en-US" sz="3200" b="1"/>
            </a:br>
            <a:endParaRPr lang="en-US" sz="2400" b="1"/>
          </a:p>
        </p:txBody>
      </p:sp>
      <p:graphicFrame>
        <p:nvGraphicFramePr>
          <p:cNvPr id="42058" name="Group 74"/>
          <p:cNvGraphicFramePr>
            <a:graphicFrameLocks noGrp="1"/>
          </p:cNvGraphicFramePr>
          <p:nvPr>
            <p:ph type="tbl" idx="1"/>
          </p:nvPr>
        </p:nvGraphicFramePr>
        <p:xfrm>
          <a:off x="1919288" y="2209801"/>
          <a:ext cx="4267200" cy="3963039"/>
        </p:xfrm>
        <a:graphic>
          <a:graphicData uri="http://schemas.openxmlformats.org/drawingml/2006/table">
            <a:tbl>
              <a:tblPr/>
              <a:tblGrid>
                <a:gridCol w="1066800"/>
                <a:gridCol w="1600200"/>
                <a:gridCol w="1600200"/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# of Credit Cards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9900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12" name="Text Box 45"/>
          <p:cNvSpPr txBox="1">
            <a:spLocks noChangeArrowheads="1"/>
          </p:cNvSpPr>
          <p:nvPr/>
        </p:nvSpPr>
        <p:spPr bwMode="auto">
          <a:xfrm>
            <a:off x="8839200" y="5943600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1266" name="Object 46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75"/>
          <p:cNvGraphicFramePr>
            <a:graphicFrameLocks noChangeAspect="1"/>
          </p:cNvGraphicFramePr>
          <p:nvPr/>
        </p:nvGraphicFramePr>
        <p:xfrm>
          <a:off x="3832226" y="2260600"/>
          <a:ext cx="2587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139579" imgH="164957" progId="Equation.3">
                  <p:embed/>
                </p:oleObj>
              </mc:Choice>
              <mc:Fallback>
                <p:oleObj name="Equation" r:id="rId5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226" y="2260600"/>
                        <a:ext cx="258763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76"/>
          <p:cNvGraphicFramePr>
            <a:graphicFrameLocks noChangeAspect="1"/>
          </p:cNvGraphicFramePr>
          <p:nvPr/>
        </p:nvGraphicFramePr>
        <p:xfrm>
          <a:off x="5445125" y="2281239"/>
          <a:ext cx="234950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126835" imgH="139518" progId="Equation.3">
                  <p:embed/>
                </p:oleObj>
              </mc:Choice>
              <mc:Fallback>
                <p:oleObj name="Equation" r:id="rId7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2281239"/>
                        <a:ext cx="234950" cy="22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3" name="Text Box 77"/>
          <p:cNvSpPr txBox="1">
            <a:spLocks noChangeArrowheads="1"/>
          </p:cNvSpPr>
          <p:nvPr/>
        </p:nvSpPr>
        <p:spPr bwMode="auto">
          <a:xfrm>
            <a:off x="6383338" y="3933826"/>
            <a:ext cx="3903662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</a:rPr>
              <a:t>We now can attempt to </a:t>
            </a:r>
            <a:r>
              <a:rPr lang="en-US" u="sng">
                <a:solidFill>
                  <a:srgbClr val="008000"/>
                </a:solidFill>
              </a:rPr>
              <a:t>estimate</a:t>
            </a:r>
            <a:r>
              <a:rPr lang="en-US">
                <a:solidFill>
                  <a:srgbClr val="008000"/>
                </a:solidFill>
              </a:rPr>
              <a:t> # of credit cards </a:t>
            </a:r>
            <a:r>
              <a:rPr lang="en-US" u="sng">
                <a:solidFill>
                  <a:srgbClr val="008000"/>
                </a:solidFill>
              </a:rPr>
              <a:t>from the information on family size</a:t>
            </a:r>
            <a:r>
              <a:rPr lang="en-US">
                <a:solidFill>
                  <a:srgbClr val="008000"/>
                </a:solidFill>
              </a:rPr>
              <a:t>, rather than</a:t>
            </a:r>
            <a:br>
              <a:rPr lang="en-US">
                <a:solidFill>
                  <a:srgbClr val="008000"/>
                </a:solidFill>
              </a:rPr>
            </a:br>
            <a:r>
              <a:rPr lang="en-US">
                <a:solidFill>
                  <a:srgbClr val="008000"/>
                </a:solidFill>
              </a:rPr>
              <a:t>from its own mean.</a:t>
            </a:r>
            <a:r>
              <a:rPr lang="en-US">
                <a:solidFill>
                  <a:srgbClr val="FF0000"/>
                </a:solidFill>
              </a:rPr>
              <a:t>  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Let’s first see this graphically!</a:t>
            </a:r>
          </a:p>
        </p:txBody>
      </p:sp>
      <p:pic>
        <p:nvPicPr>
          <p:cNvPr id="11314" name="Picture 78" descr="j029534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888164" y="1052514"/>
            <a:ext cx="3024187" cy="271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1166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2895600" y="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sz="3200" b="1" i="1">
              <a:solidFill>
                <a:srgbClr val="000000"/>
              </a:solidFill>
            </a:endParaRPr>
          </a:p>
          <a:p>
            <a:r>
              <a:rPr lang="en-US" sz="3200" b="1" i="1">
                <a:solidFill>
                  <a:srgbClr val="000000"/>
                </a:solidFill>
              </a:rPr>
              <a:t>Simple and Multiple Regression Analysis</a:t>
            </a:r>
            <a:r>
              <a:rPr lang="en-US" sz="3200" b="1" i="1">
                <a:solidFill>
                  <a:srgbClr val="CC6600"/>
                </a:solidFill>
              </a:rPr>
              <a:t/>
            </a:r>
            <a:br>
              <a:rPr lang="en-US" sz="3200" b="1" i="1">
                <a:solidFill>
                  <a:srgbClr val="CC6600"/>
                </a:solidFill>
              </a:rPr>
            </a:br>
            <a:endParaRPr lang="en-US" sz="3200" b="1" i="1">
              <a:solidFill>
                <a:srgbClr val="CC6600"/>
              </a:solidFill>
            </a:endParaRPr>
          </a:p>
        </p:txBody>
      </p:sp>
      <p:sp>
        <p:nvSpPr>
          <p:cNvPr id="12294" name="Line 3"/>
          <p:cNvSpPr>
            <a:spLocks noChangeShapeType="1"/>
          </p:cNvSpPr>
          <p:nvPr/>
        </p:nvSpPr>
        <p:spPr bwMode="auto">
          <a:xfrm>
            <a:off x="2743200" y="914400"/>
            <a:ext cx="0" cy="510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295" name="Text Box 4"/>
          <p:cNvSpPr txBox="1">
            <a:spLocks noChangeArrowheads="1"/>
          </p:cNvSpPr>
          <p:nvPr/>
        </p:nvSpPr>
        <p:spPr bwMode="auto">
          <a:xfrm>
            <a:off x="2209800" y="1219201"/>
            <a:ext cx="8382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9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8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7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6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0</a:t>
            </a:r>
          </a:p>
          <a:p>
            <a:pPr>
              <a:spcBef>
                <a:spcPct val="50000"/>
              </a:spcBef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1272" name="Line 5"/>
          <p:cNvSpPr>
            <a:spLocks noChangeShapeType="1"/>
          </p:cNvSpPr>
          <p:nvPr/>
        </p:nvSpPr>
        <p:spPr bwMode="auto">
          <a:xfrm>
            <a:off x="2743200" y="2819400"/>
            <a:ext cx="6477000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297" name="Line 6"/>
          <p:cNvSpPr>
            <a:spLocks noChangeShapeType="1"/>
          </p:cNvSpPr>
          <p:nvPr/>
        </p:nvSpPr>
        <p:spPr bwMode="auto">
          <a:xfrm>
            <a:off x="2667000" y="1371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298" name="Line 7"/>
          <p:cNvSpPr>
            <a:spLocks noChangeShapeType="1"/>
          </p:cNvSpPr>
          <p:nvPr/>
        </p:nvSpPr>
        <p:spPr bwMode="auto">
          <a:xfrm>
            <a:off x="2667000" y="1828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299" name="Line 8"/>
          <p:cNvSpPr>
            <a:spLocks noChangeShapeType="1"/>
          </p:cNvSpPr>
          <p:nvPr/>
        </p:nvSpPr>
        <p:spPr bwMode="auto">
          <a:xfrm>
            <a:off x="2667000" y="2362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00" name="Line 9"/>
          <p:cNvSpPr>
            <a:spLocks noChangeShapeType="1"/>
          </p:cNvSpPr>
          <p:nvPr/>
        </p:nvSpPr>
        <p:spPr bwMode="auto">
          <a:xfrm>
            <a:off x="26670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01" name="Line 10"/>
          <p:cNvSpPr>
            <a:spLocks noChangeShapeType="1"/>
          </p:cNvSpPr>
          <p:nvPr/>
        </p:nvSpPr>
        <p:spPr bwMode="auto">
          <a:xfrm>
            <a:off x="26670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02" name="Line 11"/>
          <p:cNvSpPr>
            <a:spLocks noChangeShapeType="1"/>
          </p:cNvSpPr>
          <p:nvPr/>
        </p:nvSpPr>
        <p:spPr bwMode="auto">
          <a:xfrm>
            <a:off x="2667000" y="4191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03" name="Line 12"/>
          <p:cNvSpPr>
            <a:spLocks noChangeShapeType="1"/>
          </p:cNvSpPr>
          <p:nvPr/>
        </p:nvSpPr>
        <p:spPr bwMode="auto">
          <a:xfrm>
            <a:off x="26670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04" name="Line 13"/>
          <p:cNvSpPr>
            <a:spLocks noChangeShapeType="1"/>
          </p:cNvSpPr>
          <p:nvPr/>
        </p:nvSpPr>
        <p:spPr bwMode="auto">
          <a:xfrm>
            <a:off x="2667000" y="510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05" name="Line 14"/>
          <p:cNvSpPr>
            <a:spLocks noChangeShapeType="1"/>
          </p:cNvSpPr>
          <p:nvPr/>
        </p:nvSpPr>
        <p:spPr bwMode="auto">
          <a:xfrm>
            <a:off x="2667000" y="5562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06" name="Oval 15"/>
          <p:cNvSpPr>
            <a:spLocks noChangeArrowheads="1"/>
          </p:cNvSpPr>
          <p:nvPr/>
        </p:nvSpPr>
        <p:spPr bwMode="auto">
          <a:xfrm>
            <a:off x="4381500" y="41433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224" name="Text Box 16"/>
          <p:cNvSpPr txBox="1">
            <a:spLocks noChangeArrowheads="1"/>
          </p:cNvSpPr>
          <p:nvPr/>
        </p:nvSpPr>
        <p:spPr bwMode="auto">
          <a:xfrm>
            <a:off x="4067175" y="3716338"/>
            <a:ext cx="6477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F1</a:t>
            </a:r>
          </a:p>
        </p:txBody>
      </p:sp>
      <p:sp>
        <p:nvSpPr>
          <p:cNvPr id="12308" name="Oval 17"/>
          <p:cNvSpPr>
            <a:spLocks noChangeArrowheads="1"/>
          </p:cNvSpPr>
          <p:nvPr/>
        </p:nvSpPr>
        <p:spPr bwMode="auto">
          <a:xfrm>
            <a:off x="4400550" y="2743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09" name="Oval 18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10" name="Oval 19"/>
          <p:cNvSpPr>
            <a:spLocks noChangeArrowheads="1"/>
          </p:cNvSpPr>
          <p:nvPr/>
        </p:nvSpPr>
        <p:spPr bwMode="auto">
          <a:xfrm>
            <a:off x="6248400" y="2743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11" name="Oval 20"/>
          <p:cNvSpPr>
            <a:spLocks noChangeArrowheads="1"/>
          </p:cNvSpPr>
          <p:nvPr/>
        </p:nvSpPr>
        <p:spPr bwMode="auto">
          <a:xfrm>
            <a:off x="81534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12" name="Oval 21"/>
          <p:cNvSpPr>
            <a:spLocks noChangeArrowheads="1"/>
          </p:cNvSpPr>
          <p:nvPr/>
        </p:nvSpPr>
        <p:spPr bwMode="auto">
          <a:xfrm>
            <a:off x="7162800" y="27670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13" name="Oval 22"/>
          <p:cNvSpPr>
            <a:spLocks noChangeArrowheads="1"/>
          </p:cNvSpPr>
          <p:nvPr/>
        </p:nvSpPr>
        <p:spPr bwMode="auto">
          <a:xfrm>
            <a:off x="71628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14" name="Oval 23"/>
          <p:cNvSpPr>
            <a:spLocks noChangeArrowheads="1"/>
          </p:cNvSpPr>
          <p:nvPr/>
        </p:nvSpPr>
        <p:spPr bwMode="auto">
          <a:xfrm>
            <a:off x="8153400" y="1295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232" name="Text Box 24"/>
          <p:cNvSpPr txBox="1">
            <a:spLocks noChangeArrowheads="1"/>
          </p:cNvSpPr>
          <p:nvPr/>
        </p:nvSpPr>
        <p:spPr bwMode="auto">
          <a:xfrm>
            <a:off x="3906838" y="23495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F2</a:t>
            </a:r>
          </a:p>
        </p:txBody>
      </p:sp>
      <p:sp>
        <p:nvSpPr>
          <p:cNvPr id="94233" name="Text Box 25"/>
          <p:cNvSpPr txBox="1">
            <a:spLocks noChangeArrowheads="1"/>
          </p:cNvSpPr>
          <p:nvPr/>
        </p:nvSpPr>
        <p:spPr bwMode="auto">
          <a:xfrm>
            <a:off x="6257925" y="3200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F3</a:t>
            </a:r>
          </a:p>
        </p:txBody>
      </p:sp>
      <p:sp>
        <p:nvSpPr>
          <p:cNvPr id="94234" name="Text Box 26"/>
          <p:cNvSpPr txBox="1">
            <a:spLocks noChangeArrowheads="1"/>
          </p:cNvSpPr>
          <p:nvPr/>
        </p:nvSpPr>
        <p:spPr bwMode="auto">
          <a:xfrm>
            <a:off x="5743575" y="2362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F4</a:t>
            </a:r>
          </a:p>
        </p:txBody>
      </p:sp>
      <p:sp>
        <p:nvSpPr>
          <p:cNvPr id="94235" name="Text Box 27"/>
          <p:cNvSpPr txBox="1">
            <a:spLocks noChangeArrowheads="1"/>
          </p:cNvSpPr>
          <p:nvPr/>
        </p:nvSpPr>
        <p:spPr bwMode="auto">
          <a:xfrm>
            <a:off x="7315200" y="2014538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F5</a:t>
            </a:r>
          </a:p>
        </p:txBody>
      </p:sp>
      <p:sp>
        <p:nvSpPr>
          <p:cNvPr id="94236" name="Text Box 28"/>
          <p:cNvSpPr txBox="1">
            <a:spLocks noChangeArrowheads="1"/>
          </p:cNvSpPr>
          <p:nvPr/>
        </p:nvSpPr>
        <p:spPr bwMode="auto">
          <a:xfrm>
            <a:off x="7162800" y="2405063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F6</a:t>
            </a:r>
          </a:p>
        </p:txBody>
      </p:sp>
      <p:sp>
        <p:nvSpPr>
          <p:cNvPr id="94237" name="Text Box 29"/>
          <p:cNvSpPr txBox="1">
            <a:spLocks noChangeArrowheads="1"/>
          </p:cNvSpPr>
          <p:nvPr/>
        </p:nvSpPr>
        <p:spPr bwMode="auto">
          <a:xfrm>
            <a:off x="8305800" y="2028825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F7</a:t>
            </a:r>
          </a:p>
        </p:txBody>
      </p:sp>
      <p:sp>
        <p:nvSpPr>
          <p:cNvPr id="94238" name="Text Box 30"/>
          <p:cNvSpPr txBox="1">
            <a:spLocks noChangeArrowheads="1"/>
          </p:cNvSpPr>
          <p:nvPr/>
        </p:nvSpPr>
        <p:spPr bwMode="auto">
          <a:xfrm>
            <a:off x="8228013" y="950913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F8</a:t>
            </a:r>
          </a:p>
        </p:txBody>
      </p:sp>
      <p:sp>
        <p:nvSpPr>
          <p:cNvPr id="12322" name="Line 31"/>
          <p:cNvSpPr>
            <a:spLocks noChangeShapeType="1"/>
          </p:cNvSpPr>
          <p:nvPr/>
        </p:nvSpPr>
        <p:spPr bwMode="auto">
          <a:xfrm>
            <a:off x="2743200" y="6019800"/>
            <a:ext cx="647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240" name="Text Box 32"/>
          <p:cNvSpPr txBox="1">
            <a:spLocks noChangeArrowheads="1"/>
          </p:cNvSpPr>
          <p:nvPr/>
        </p:nvSpPr>
        <p:spPr bwMode="auto">
          <a:xfrm rot="-5437271">
            <a:off x="723900" y="2634734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 Of Credit Cards</a:t>
            </a:r>
          </a:p>
        </p:txBody>
      </p:sp>
      <p:sp>
        <p:nvSpPr>
          <p:cNvPr id="94241" name="Text Box 33"/>
          <p:cNvSpPr txBox="1">
            <a:spLocks noChangeArrowheads="1"/>
          </p:cNvSpPr>
          <p:nvPr/>
        </p:nvSpPr>
        <p:spPr bwMode="auto">
          <a:xfrm>
            <a:off x="2362200" y="762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</a:p>
        </p:txBody>
      </p:sp>
      <p:sp>
        <p:nvSpPr>
          <p:cNvPr id="12325" name="Text Box 34"/>
          <p:cNvSpPr txBox="1">
            <a:spLocks noChangeArrowheads="1"/>
          </p:cNvSpPr>
          <p:nvPr/>
        </p:nvSpPr>
        <p:spPr bwMode="auto">
          <a:xfrm>
            <a:off x="3352800" y="6019800"/>
            <a:ext cx="624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1	2	3	4	5	6	7</a:t>
            </a:r>
          </a:p>
        </p:txBody>
      </p:sp>
      <p:sp>
        <p:nvSpPr>
          <p:cNvPr id="12326" name="Line 35"/>
          <p:cNvSpPr>
            <a:spLocks noChangeShapeType="1"/>
          </p:cNvSpPr>
          <p:nvPr/>
        </p:nvSpPr>
        <p:spPr bwMode="auto">
          <a:xfrm>
            <a:off x="35052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27" name="Line 36"/>
          <p:cNvSpPr>
            <a:spLocks noChangeShapeType="1"/>
          </p:cNvSpPr>
          <p:nvPr/>
        </p:nvSpPr>
        <p:spPr bwMode="auto">
          <a:xfrm>
            <a:off x="44196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28" name="Line 37"/>
          <p:cNvSpPr>
            <a:spLocks noChangeShapeType="1"/>
          </p:cNvSpPr>
          <p:nvPr/>
        </p:nvSpPr>
        <p:spPr bwMode="auto">
          <a:xfrm>
            <a:off x="53340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29" name="Line 38"/>
          <p:cNvSpPr>
            <a:spLocks noChangeShapeType="1"/>
          </p:cNvSpPr>
          <p:nvPr/>
        </p:nvSpPr>
        <p:spPr bwMode="auto">
          <a:xfrm>
            <a:off x="62484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30" name="Line 39"/>
          <p:cNvSpPr>
            <a:spLocks noChangeShapeType="1"/>
          </p:cNvSpPr>
          <p:nvPr/>
        </p:nvSpPr>
        <p:spPr bwMode="auto">
          <a:xfrm>
            <a:off x="71628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31" name="Line 40"/>
          <p:cNvSpPr>
            <a:spLocks noChangeShapeType="1"/>
          </p:cNvSpPr>
          <p:nvPr/>
        </p:nvSpPr>
        <p:spPr bwMode="auto">
          <a:xfrm>
            <a:off x="80772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32" name="Line 41"/>
          <p:cNvSpPr>
            <a:spLocks noChangeShapeType="1"/>
          </p:cNvSpPr>
          <p:nvPr/>
        </p:nvSpPr>
        <p:spPr bwMode="auto">
          <a:xfrm>
            <a:off x="89916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250" name="Text Box 42"/>
          <p:cNvSpPr txBox="1">
            <a:spLocks noChangeArrowheads="1"/>
          </p:cNvSpPr>
          <p:nvPr/>
        </p:nvSpPr>
        <p:spPr bwMode="auto">
          <a:xfrm>
            <a:off x="8458200" y="2819400"/>
            <a:ext cx="2209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66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Original (Baseline) Estimate</a:t>
            </a:r>
          </a:p>
        </p:txBody>
      </p:sp>
      <p:sp>
        <p:nvSpPr>
          <p:cNvPr id="94251" name="Text Box 43"/>
          <p:cNvSpPr txBox="1">
            <a:spLocks noChangeArrowheads="1"/>
          </p:cNvSpPr>
          <p:nvPr/>
        </p:nvSpPr>
        <p:spPr bwMode="auto">
          <a:xfrm>
            <a:off x="9296400" y="5791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</a:p>
        </p:txBody>
      </p:sp>
      <p:sp>
        <p:nvSpPr>
          <p:cNvPr id="94252" name="Text Box 44"/>
          <p:cNvSpPr txBox="1">
            <a:spLocks noChangeArrowheads="1"/>
          </p:cNvSpPr>
          <p:nvPr/>
        </p:nvSpPr>
        <p:spPr bwMode="auto">
          <a:xfrm>
            <a:off x="8077200" y="6400800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Family Size</a:t>
            </a:r>
          </a:p>
        </p:txBody>
      </p:sp>
      <p:pic>
        <p:nvPicPr>
          <p:cNvPr id="12336" name="Picture 51" descr="GRMIAS5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07514" y="3000376"/>
            <a:ext cx="1360487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266" name="Object 55"/>
          <p:cNvGraphicFramePr>
            <a:graphicFrameLocks noChangeAspect="1"/>
          </p:cNvGraphicFramePr>
          <p:nvPr/>
        </p:nvGraphicFramePr>
        <p:xfrm>
          <a:off x="9296400" y="2438400"/>
          <a:ext cx="10223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4" imgW="380835" imgH="203112" progId="Equation.3">
                  <p:embed/>
                </p:oleObj>
              </mc:Choice>
              <mc:Fallback>
                <p:oleObj name="Equation" r:id="rId4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2438400"/>
                        <a:ext cx="102235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4446589" y="4286250"/>
            <a:ext cx="5970587" cy="1492250"/>
            <a:chOff x="2922588" y="4546600"/>
            <a:chExt cx="5970587" cy="1490982"/>
          </a:xfrm>
        </p:grpSpPr>
        <p:sp>
          <p:nvSpPr>
            <p:cNvPr id="94264" name="Text Box 56"/>
            <p:cNvSpPr txBox="1">
              <a:spLocks noChangeArrowheads="1"/>
            </p:cNvSpPr>
            <p:nvPr/>
          </p:nvSpPr>
          <p:spPr bwMode="auto">
            <a:xfrm>
              <a:off x="2922588" y="4560876"/>
              <a:ext cx="5970587" cy="1476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QUESTION:</a:t>
              </a:r>
              <a:r>
                <a:rPr lang="en-US" dirty="0">
                  <a:solidFill>
                    <a:srgbClr val="FF0066"/>
                  </a:solidFill>
                  <a:latin typeface="Arial" charset="0"/>
                </a:rPr>
                <a:t>  Does the mean       appear to represent the closest estimate of the actual c.c. numbers for our sample families ? </a:t>
              </a:r>
              <a:br>
                <a:rPr lang="en-US" dirty="0">
                  <a:solidFill>
                    <a:srgbClr val="FF0066"/>
                  </a:solidFill>
                  <a:latin typeface="Arial" charset="0"/>
                </a:rPr>
              </a:br>
              <a:r>
                <a:rPr lang="en-US" dirty="0">
                  <a:solidFill>
                    <a:srgbClr val="FF0066"/>
                  </a:solidFill>
                  <a:latin typeface="Arial" charset="0"/>
                </a:rPr>
                <a:t>That is, is the green line the </a:t>
              </a:r>
              <a:r>
                <a:rPr lang="en-US" u="sng" dirty="0">
                  <a:solidFill>
                    <a:srgbClr val="FF0066"/>
                  </a:solidFill>
                  <a:latin typeface="Arial" charset="0"/>
                </a:rPr>
                <a:t>best line to represent the location of estimates</a:t>
              </a:r>
              <a:r>
                <a:rPr lang="en-US" dirty="0">
                  <a:solidFill>
                    <a:srgbClr val="FF0066"/>
                  </a:solidFill>
                  <a:latin typeface="Arial" charset="0"/>
                </a:rPr>
                <a:t> of # of CC for these families?</a:t>
              </a:r>
            </a:p>
          </p:txBody>
        </p:sp>
        <p:graphicFrame>
          <p:nvGraphicFramePr>
            <p:cNvPr id="12292" name="Object 57"/>
            <p:cNvGraphicFramePr>
              <a:graphicFrameLocks noChangeAspect="1"/>
            </p:cNvGraphicFramePr>
            <p:nvPr/>
          </p:nvGraphicFramePr>
          <p:xfrm>
            <a:off x="5921375" y="4546600"/>
            <a:ext cx="477838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" name="Equation" r:id="rId6" imgW="177569" imgH="152202" progId="Equation.3">
                    <p:embed/>
                  </p:oleObj>
                </mc:Choice>
                <mc:Fallback>
                  <p:oleObj name="Equation" r:id="rId6" imgW="177569" imgH="1522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1375" y="4546600"/>
                          <a:ext cx="477838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266" name="Oval 58"/>
          <p:cNvSpPr>
            <a:spLocks noChangeArrowheads="1"/>
          </p:cNvSpPr>
          <p:nvPr/>
        </p:nvSpPr>
        <p:spPr bwMode="auto">
          <a:xfrm>
            <a:off x="6245225" y="2801938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267" name="Oval 59"/>
          <p:cNvSpPr>
            <a:spLocks noChangeArrowheads="1"/>
          </p:cNvSpPr>
          <p:nvPr/>
        </p:nvSpPr>
        <p:spPr bwMode="auto">
          <a:xfrm>
            <a:off x="7161213" y="2817813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268" name="Oval 60"/>
          <p:cNvSpPr>
            <a:spLocks noChangeArrowheads="1"/>
          </p:cNvSpPr>
          <p:nvPr/>
        </p:nvSpPr>
        <p:spPr bwMode="auto">
          <a:xfrm>
            <a:off x="6259513" y="2801938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269" name="Oval 61"/>
          <p:cNvSpPr>
            <a:spLocks noChangeArrowheads="1"/>
          </p:cNvSpPr>
          <p:nvPr/>
        </p:nvSpPr>
        <p:spPr bwMode="auto">
          <a:xfrm>
            <a:off x="4395788" y="2795588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4270" name="Oval 62"/>
          <p:cNvSpPr>
            <a:spLocks noChangeArrowheads="1"/>
          </p:cNvSpPr>
          <p:nvPr/>
        </p:nvSpPr>
        <p:spPr bwMode="auto">
          <a:xfrm>
            <a:off x="8154988" y="2781300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43" name="Line 67"/>
          <p:cNvSpPr>
            <a:spLocks noChangeShapeType="1"/>
          </p:cNvSpPr>
          <p:nvPr/>
        </p:nvSpPr>
        <p:spPr bwMode="auto">
          <a:xfrm>
            <a:off x="3043238" y="4192588"/>
            <a:ext cx="1223962" cy="0"/>
          </a:xfrm>
          <a:prstGeom prst="line">
            <a:avLst/>
          </a:prstGeom>
          <a:noFill/>
          <a:ln w="9525">
            <a:solidFill>
              <a:srgbClr val="FF505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344" name="Line 68"/>
          <p:cNvSpPr>
            <a:spLocks noChangeShapeType="1"/>
          </p:cNvSpPr>
          <p:nvPr/>
        </p:nvSpPr>
        <p:spPr bwMode="auto">
          <a:xfrm>
            <a:off x="4411663" y="4365626"/>
            <a:ext cx="0" cy="1368425"/>
          </a:xfrm>
          <a:prstGeom prst="line">
            <a:avLst/>
          </a:prstGeom>
          <a:noFill/>
          <a:ln w="9525">
            <a:solidFill>
              <a:srgbClr val="FF5050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2291" name="Object 71"/>
          <p:cNvGraphicFramePr>
            <a:graphicFrameLocks noChangeAspect="1"/>
          </p:cNvGraphicFramePr>
          <p:nvPr/>
        </p:nvGraphicFramePr>
        <p:xfrm>
          <a:off x="4524376" y="4000500"/>
          <a:ext cx="15716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8" imgW="723586" imgH="203112" progId="Equation.3">
                  <p:embed/>
                </p:oleObj>
              </mc:Choice>
              <mc:Fallback>
                <p:oleObj name="Equation" r:id="rId8" imgW="72358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6" y="4000500"/>
                        <a:ext cx="15716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45" name="Text Box 72"/>
          <p:cNvSpPr txBox="1">
            <a:spLocks noChangeArrowheads="1"/>
          </p:cNvSpPr>
          <p:nvPr/>
        </p:nvSpPr>
        <p:spPr bwMode="auto">
          <a:xfrm>
            <a:off x="3000375" y="981076"/>
            <a:ext cx="41036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3333CC"/>
                </a:solidFill>
              </a:rPr>
              <a:t>Plot actual numbers of CCs against family Size.</a:t>
            </a:r>
          </a:p>
        </p:txBody>
      </p:sp>
    </p:spTree>
    <p:extLst>
      <p:ext uri="{BB962C8B-B14F-4D97-AF65-F5344CB8AC3E}">
        <p14:creationId xmlns:p14="http://schemas.microsoft.com/office/powerpoint/2010/main" val="30454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4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4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4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4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4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4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4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4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94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4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animBg="1"/>
      <p:bldP spid="94250" grpId="0"/>
      <p:bldP spid="94266" grpId="0" animBg="1"/>
      <p:bldP spid="94267" grpId="0" animBg="1"/>
      <p:bldP spid="94268" grpId="0" animBg="1"/>
      <p:bldP spid="94269" grpId="0" animBg="1"/>
      <p:bldP spid="9427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Line 54"/>
          <p:cNvSpPr>
            <a:spLocks noChangeShapeType="1"/>
          </p:cNvSpPr>
          <p:nvPr/>
        </p:nvSpPr>
        <p:spPr bwMode="auto">
          <a:xfrm rot="21411931" flipV="1">
            <a:off x="2670175" y="1371601"/>
            <a:ext cx="5945188" cy="3503613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99" name="Line 63"/>
          <p:cNvSpPr>
            <a:spLocks noChangeShapeType="1"/>
          </p:cNvSpPr>
          <p:nvPr/>
        </p:nvSpPr>
        <p:spPr bwMode="auto">
          <a:xfrm flipV="1">
            <a:off x="2667000" y="1524000"/>
            <a:ext cx="6019800" cy="320040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21" name="Rectangle 2"/>
          <p:cNvSpPr>
            <a:spLocks noChangeArrowheads="1"/>
          </p:cNvSpPr>
          <p:nvPr/>
        </p:nvSpPr>
        <p:spPr bwMode="auto">
          <a:xfrm>
            <a:off x="2895600" y="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sz="3200" b="1" i="1">
              <a:solidFill>
                <a:srgbClr val="000000"/>
              </a:solidFill>
            </a:endParaRPr>
          </a:p>
          <a:p>
            <a:r>
              <a:rPr lang="en-US" sz="3200" b="1" i="1">
                <a:solidFill>
                  <a:srgbClr val="000000"/>
                </a:solidFill>
              </a:rPr>
              <a:t>Simple and Multiple Regression Analysis</a:t>
            </a:r>
            <a:r>
              <a:rPr lang="en-US" sz="3200" b="1" i="1">
                <a:solidFill>
                  <a:srgbClr val="CC6600"/>
                </a:solidFill>
              </a:rPr>
              <a:t/>
            </a:r>
            <a:br>
              <a:rPr lang="en-US" sz="3200" b="1" i="1">
                <a:solidFill>
                  <a:srgbClr val="CC6600"/>
                </a:solidFill>
              </a:rPr>
            </a:br>
            <a:endParaRPr lang="en-US" sz="3200" b="1" i="1">
              <a:solidFill>
                <a:srgbClr val="CC6600"/>
              </a:solidFill>
            </a:endParaRPr>
          </a:p>
        </p:txBody>
      </p:sp>
      <p:sp>
        <p:nvSpPr>
          <p:cNvPr id="13322" name="Line 3"/>
          <p:cNvSpPr>
            <a:spLocks noChangeShapeType="1"/>
          </p:cNvSpPr>
          <p:nvPr/>
        </p:nvSpPr>
        <p:spPr bwMode="auto">
          <a:xfrm>
            <a:off x="2743200" y="914400"/>
            <a:ext cx="0" cy="510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23" name="Text Box 4"/>
          <p:cNvSpPr txBox="1">
            <a:spLocks noChangeArrowheads="1"/>
          </p:cNvSpPr>
          <p:nvPr/>
        </p:nvSpPr>
        <p:spPr bwMode="auto">
          <a:xfrm>
            <a:off x="2209800" y="1219201"/>
            <a:ext cx="8382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9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8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7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6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0</a:t>
            </a:r>
          </a:p>
          <a:p>
            <a:pPr>
              <a:spcBef>
                <a:spcPct val="50000"/>
              </a:spcBef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3324" name="Line 5"/>
          <p:cNvSpPr>
            <a:spLocks noChangeShapeType="1"/>
          </p:cNvSpPr>
          <p:nvPr/>
        </p:nvSpPr>
        <p:spPr bwMode="auto">
          <a:xfrm>
            <a:off x="2743200" y="2819400"/>
            <a:ext cx="6477000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25" name="Line 6"/>
          <p:cNvSpPr>
            <a:spLocks noChangeShapeType="1"/>
          </p:cNvSpPr>
          <p:nvPr/>
        </p:nvSpPr>
        <p:spPr bwMode="auto">
          <a:xfrm>
            <a:off x="2667000" y="1371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26" name="Line 7"/>
          <p:cNvSpPr>
            <a:spLocks noChangeShapeType="1"/>
          </p:cNvSpPr>
          <p:nvPr/>
        </p:nvSpPr>
        <p:spPr bwMode="auto">
          <a:xfrm>
            <a:off x="2667000" y="1828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27" name="Line 8"/>
          <p:cNvSpPr>
            <a:spLocks noChangeShapeType="1"/>
          </p:cNvSpPr>
          <p:nvPr/>
        </p:nvSpPr>
        <p:spPr bwMode="auto">
          <a:xfrm>
            <a:off x="2667000" y="2362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28" name="Line 9"/>
          <p:cNvSpPr>
            <a:spLocks noChangeShapeType="1"/>
          </p:cNvSpPr>
          <p:nvPr/>
        </p:nvSpPr>
        <p:spPr bwMode="auto">
          <a:xfrm>
            <a:off x="26670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29" name="Line 10"/>
          <p:cNvSpPr>
            <a:spLocks noChangeShapeType="1"/>
          </p:cNvSpPr>
          <p:nvPr/>
        </p:nvSpPr>
        <p:spPr bwMode="auto">
          <a:xfrm>
            <a:off x="26670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0" name="Line 11"/>
          <p:cNvSpPr>
            <a:spLocks noChangeShapeType="1"/>
          </p:cNvSpPr>
          <p:nvPr/>
        </p:nvSpPr>
        <p:spPr bwMode="auto">
          <a:xfrm>
            <a:off x="2667000" y="4191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1" name="Line 12"/>
          <p:cNvSpPr>
            <a:spLocks noChangeShapeType="1"/>
          </p:cNvSpPr>
          <p:nvPr/>
        </p:nvSpPr>
        <p:spPr bwMode="auto">
          <a:xfrm>
            <a:off x="26670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2" name="Line 13"/>
          <p:cNvSpPr>
            <a:spLocks noChangeShapeType="1"/>
          </p:cNvSpPr>
          <p:nvPr/>
        </p:nvSpPr>
        <p:spPr bwMode="auto">
          <a:xfrm>
            <a:off x="2667000" y="510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3" name="Line 14"/>
          <p:cNvSpPr>
            <a:spLocks noChangeShapeType="1"/>
          </p:cNvSpPr>
          <p:nvPr/>
        </p:nvSpPr>
        <p:spPr bwMode="auto">
          <a:xfrm>
            <a:off x="2667000" y="5562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4" name="Oval 16"/>
          <p:cNvSpPr>
            <a:spLocks noChangeArrowheads="1"/>
          </p:cNvSpPr>
          <p:nvPr/>
        </p:nvSpPr>
        <p:spPr bwMode="auto">
          <a:xfrm>
            <a:off x="4267200" y="4114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5" name="Text Box 17"/>
          <p:cNvSpPr txBox="1">
            <a:spLocks noChangeArrowheads="1"/>
          </p:cNvSpPr>
          <p:nvPr/>
        </p:nvSpPr>
        <p:spPr bwMode="auto">
          <a:xfrm>
            <a:off x="4114800" y="41148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F1</a:t>
            </a:r>
          </a:p>
        </p:txBody>
      </p:sp>
      <p:sp>
        <p:nvSpPr>
          <p:cNvPr id="13336" name="Oval 18"/>
          <p:cNvSpPr>
            <a:spLocks noChangeArrowheads="1"/>
          </p:cNvSpPr>
          <p:nvPr/>
        </p:nvSpPr>
        <p:spPr bwMode="auto">
          <a:xfrm>
            <a:off x="4343400" y="27717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7" name="Oval 1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8" name="Oval 20"/>
          <p:cNvSpPr>
            <a:spLocks noChangeArrowheads="1"/>
          </p:cNvSpPr>
          <p:nvPr/>
        </p:nvSpPr>
        <p:spPr bwMode="auto">
          <a:xfrm>
            <a:off x="6248400" y="27717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39" name="Oval 21"/>
          <p:cNvSpPr>
            <a:spLocks noChangeArrowheads="1"/>
          </p:cNvSpPr>
          <p:nvPr/>
        </p:nvSpPr>
        <p:spPr bwMode="auto">
          <a:xfrm>
            <a:off x="81534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40" name="Oval 22"/>
          <p:cNvSpPr>
            <a:spLocks noChangeArrowheads="1"/>
          </p:cNvSpPr>
          <p:nvPr/>
        </p:nvSpPr>
        <p:spPr bwMode="auto">
          <a:xfrm>
            <a:off x="7162800" y="2781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41" name="Oval 23"/>
          <p:cNvSpPr>
            <a:spLocks noChangeArrowheads="1"/>
          </p:cNvSpPr>
          <p:nvPr/>
        </p:nvSpPr>
        <p:spPr bwMode="auto">
          <a:xfrm>
            <a:off x="71628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42" name="Oval 24"/>
          <p:cNvSpPr>
            <a:spLocks noChangeArrowheads="1"/>
          </p:cNvSpPr>
          <p:nvPr/>
        </p:nvSpPr>
        <p:spPr bwMode="auto">
          <a:xfrm>
            <a:off x="8153400" y="1295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43" name="Text Box 25"/>
          <p:cNvSpPr txBox="1">
            <a:spLocks noChangeArrowheads="1"/>
          </p:cNvSpPr>
          <p:nvPr/>
        </p:nvSpPr>
        <p:spPr bwMode="auto">
          <a:xfrm>
            <a:off x="4038600" y="2362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F2</a:t>
            </a:r>
          </a:p>
        </p:txBody>
      </p:sp>
      <p:sp>
        <p:nvSpPr>
          <p:cNvPr id="13344" name="Text Box 26"/>
          <p:cNvSpPr txBox="1">
            <a:spLocks noChangeArrowheads="1"/>
          </p:cNvSpPr>
          <p:nvPr/>
        </p:nvSpPr>
        <p:spPr bwMode="auto">
          <a:xfrm>
            <a:off x="6172200" y="3200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F3</a:t>
            </a:r>
          </a:p>
        </p:txBody>
      </p:sp>
      <p:sp>
        <p:nvSpPr>
          <p:cNvPr id="13345" name="Text Box 27"/>
          <p:cNvSpPr txBox="1">
            <a:spLocks noChangeArrowheads="1"/>
          </p:cNvSpPr>
          <p:nvPr/>
        </p:nvSpPr>
        <p:spPr bwMode="auto">
          <a:xfrm>
            <a:off x="5943600" y="2033588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F4</a:t>
            </a:r>
          </a:p>
        </p:txBody>
      </p:sp>
      <p:sp>
        <p:nvSpPr>
          <p:cNvPr id="13346" name="Text Box 28"/>
          <p:cNvSpPr txBox="1">
            <a:spLocks noChangeArrowheads="1"/>
          </p:cNvSpPr>
          <p:nvPr/>
        </p:nvSpPr>
        <p:spPr bwMode="auto">
          <a:xfrm>
            <a:off x="7315200" y="2057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F5</a:t>
            </a:r>
          </a:p>
        </p:txBody>
      </p:sp>
      <p:sp>
        <p:nvSpPr>
          <p:cNvPr id="13347" name="Text Box 29"/>
          <p:cNvSpPr txBox="1">
            <a:spLocks noChangeArrowheads="1"/>
          </p:cNvSpPr>
          <p:nvPr/>
        </p:nvSpPr>
        <p:spPr bwMode="auto">
          <a:xfrm>
            <a:off x="7162800" y="2847975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F6</a:t>
            </a:r>
          </a:p>
        </p:txBody>
      </p:sp>
      <p:sp>
        <p:nvSpPr>
          <p:cNvPr id="13348" name="Text Box 30"/>
          <p:cNvSpPr txBox="1">
            <a:spLocks noChangeArrowheads="1"/>
          </p:cNvSpPr>
          <p:nvPr/>
        </p:nvSpPr>
        <p:spPr bwMode="auto">
          <a:xfrm>
            <a:off x="8305800" y="2057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F7</a:t>
            </a:r>
          </a:p>
        </p:txBody>
      </p:sp>
      <p:sp>
        <p:nvSpPr>
          <p:cNvPr id="13349" name="Text Box 31"/>
          <p:cNvSpPr txBox="1">
            <a:spLocks noChangeArrowheads="1"/>
          </p:cNvSpPr>
          <p:nvPr/>
        </p:nvSpPr>
        <p:spPr bwMode="auto">
          <a:xfrm>
            <a:off x="7696200" y="9906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F8</a:t>
            </a:r>
          </a:p>
        </p:txBody>
      </p:sp>
      <p:sp>
        <p:nvSpPr>
          <p:cNvPr id="13350" name="Line 37"/>
          <p:cNvSpPr>
            <a:spLocks noChangeShapeType="1"/>
          </p:cNvSpPr>
          <p:nvPr/>
        </p:nvSpPr>
        <p:spPr bwMode="auto">
          <a:xfrm>
            <a:off x="2743200" y="6019800"/>
            <a:ext cx="647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 rot="-5437271">
            <a:off x="723900" y="2634734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 Of Credit Cards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62200" y="7620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</a:p>
        </p:txBody>
      </p:sp>
      <p:sp>
        <p:nvSpPr>
          <p:cNvPr id="13353" name="Text Box 41"/>
          <p:cNvSpPr txBox="1">
            <a:spLocks noChangeArrowheads="1"/>
          </p:cNvSpPr>
          <p:nvPr/>
        </p:nvSpPr>
        <p:spPr bwMode="auto">
          <a:xfrm>
            <a:off x="3352800" y="6019800"/>
            <a:ext cx="624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1	2	3	4	5	6	7</a:t>
            </a:r>
          </a:p>
        </p:txBody>
      </p:sp>
      <p:sp>
        <p:nvSpPr>
          <p:cNvPr id="13354" name="Line 42"/>
          <p:cNvSpPr>
            <a:spLocks noChangeShapeType="1"/>
          </p:cNvSpPr>
          <p:nvPr/>
        </p:nvSpPr>
        <p:spPr bwMode="auto">
          <a:xfrm>
            <a:off x="35052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55" name="Line 43"/>
          <p:cNvSpPr>
            <a:spLocks noChangeShapeType="1"/>
          </p:cNvSpPr>
          <p:nvPr/>
        </p:nvSpPr>
        <p:spPr bwMode="auto">
          <a:xfrm>
            <a:off x="44196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56" name="Line 44"/>
          <p:cNvSpPr>
            <a:spLocks noChangeShapeType="1"/>
          </p:cNvSpPr>
          <p:nvPr/>
        </p:nvSpPr>
        <p:spPr bwMode="auto">
          <a:xfrm>
            <a:off x="53340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57" name="Line 45"/>
          <p:cNvSpPr>
            <a:spLocks noChangeShapeType="1"/>
          </p:cNvSpPr>
          <p:nvPr/>
        </p:nvSpPr>
        <p:spPr bwMode="auto">
          <a:xfrm>
            <a:off x="62484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58" name="Line 46"/>
          <p:cNvSpPr>
            <a:spLocks noChangeShapeType="1"/>
          </p:cNvSpPr>
          <p:nvPr/>
        </p:nvSpPr>
        <p:spPr bwMode="auto">
          <a:xfrm>
            <a:off x="71628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59" name="Line 47"/>
          <p:cNvSpPr>
            <a:spLocks noChangeShapeType="1"/>
          </p:cNvSpPr>
          <p:nvPr/>
        </p:nvSpPr>
        <p:spPr bwMode="auto">
          <a:xfrm>
            <a:off x="80772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60" name="Line 48"/>
          <p:cNvSpPr>
            <a:spLocks noChangeShapeType="1"/>
          </p:cNvSpPr>
          <p:nvPr/>
        </p:nvSpPr>
        <p:spPr bwMode="auto">
          <a:xfrm>
            <a:off x="89916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85" name="Text Box 49"/>
          <p:cNvSpPr txBox="1">
            <a:spLocks noChangeArrowheads="1"/>
          </p:cNvSpPr>
          <p:nvPr/>
        </p:nvSpPr>
        <p:spPr bwMode="auto">
          <a:xfrm>
            <a:off x="8458200" y="2819400"/>
            <a:ext cx="2209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66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Original (Baseline) Estimate</a:t>
            </a:r>
          </a:p>
        </p:txBody>
      </p:sp>
      <p:sp>
        <p:nvSpPr>
          <p:cNvPr id="14386" name="Text Box 50"/>
          <p:cNvSpPr txBox="1">
            <a:spLocks noChangeArrowheads="1"/>
          </p:cNvSpPr>
          <p:nvPr/>
        </p:nvSpPr>
        <p:spPr bwMode="auto">
          <a:xfrm>
            <a:off x="9296400" y="5791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</a:p>
        </p:txBody>
      </p:sp>
      <p:sp>
        <p:nvSpPr>
          <p:cNvPr id="14387" name="Text Box 51"/>
          <p:cNvSpPr txBox="1">
            <a:spLocks noChangeArrowheads="1"/>
          </p:cNvSpPr>
          <p:nvPr/>
        </p:nvSpPr>
        <p:spPr bwMode="auto">
          <a:xfrm>
            <a:off x="8077200" y="6400800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Family Size</a:t>
            </a:r>
          </a:p>
        </p:txBody>
      </p:sp>
      <p:sp>
        <p:nvSpPr>
          <p:cNvPr id="14389" name="Line 53"/>
          <p:cNvSpPr>
            <a:spLocks noChangeShapeType="1"/>
          </p:cNvSpPr>
          <p:nvPr/>
        </p:nvSpPr>
        <p:spPr bwMode="auto">
          <a:xfrm flipV="1">
            <a:off x="2667000" y="2133600"/>
            <a:ext cx="6248400" cy="220980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91" name="Text Box 55"/>
          <p:cNvSpPr txBox="1">
            <a:spLocks noChangeArrowheads="1"/>
          </p:cNvSpPr>
          <p:nvPr/>
        </p:nvSpPr>
        <p:spPr bwMode="auto">
          <a:xfrm>
            <a:off x="2895600" y="914401"/>
            <a:ext cx="4419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CC00CC"/>
                </a:solidFill>
              </a:rPr>
              <a:t>Generic Equation for any straight line:  Y= a + bx</a:t>
            </a:r>
          </a:p>
        </p:txBody>
      </p:sp>
      <p:graphicFrame>
        <p:nvGraphicFramePr>
          <p:cNvPr id="14393" name="Object 57"/>
          <p:cNvGraphicFramePr>
            <a:graphicFrameLocks noChangeAspect="1"/>
          </p:cNvGraphicFramePr>
          <p:nvPr/>
        </p:nvGraphicFramePr>
        <p:xfrm>
          <a:off x="8305800" y="838200"/>
          <a:ext cx="13906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723586" imgH="215806" progId="Equation.3">
                  <p:embed/>
                </p:oleObj>
              </mc:Choice>
              <mc:Fallback>
                <p:oleObj name="Equation" r:id="rId3" imgW="72358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838200"/>
                        <a:ext cx="1390650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94" name="Object 58"/>
          <p:cNvGraphicFramePr>
            <a:graphicFrameLocks noChangeAspect="1"/>
          </p:cNvGraphicFramePr>
          <p:nvPr/>
        </p:nvGraphicFramePr>
        <p:xfrm>
          <a:off x="8915400" y="1981200"/>
          <a:ext cx="1371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761669" imgH="215806" progId="Equation.3">
                  <p:embed/>
                </p:oleObj>
              </mc:Choice>
              <mc:Fallback>
                <p:oleObj name="Equation" r:id="rId5" imgW="76166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1981200"/>
                        <a:ext cx="1371600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95" name="Line 59"/>
          <p:cNvSpPr>
            <a:spLocks noChangeShapeType="1"/>
          </p:cNvSpPr>
          <p:nvPr/>
        </p:nvSpPr>
        <p:spPr bwMode="auto">
          <a:xfrm flipV="1">
            <a:off x="2743200" y="1828800"/>
            <a:ext cx="5791200" cy="29718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67" name="Picture 60" descr="GRMIAS5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794750" y="3810000"/>
            <a:ext cx="18732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400" name="Object 64"/>
          <p:cNvGraphicFramePr>
            <a:graphicFrameLocks noChangeAspect="1"/>
          </p:cNvGraphicFramePr>
          <p:nvPr/>
        </p:nvGraphicFramePr>
        <p:xfrm>
          <a:off x="8763000" y="1219201"/>
          <a:ext cx="13477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8" imgW="749300" imgH="228600" progId="Equation.3">
                  <p:embed/>
                </p:oleObj>
              </mc:Choice>
              <mc:Fallback>
                <p:oleObj name="Equation" r:id="rId8" imgW="749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1219201"/>
                        <a:ext cx="134778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02" name="Text Box 66"/>
          <p:cNvSpPr txBox="1">
            <a:spLocks noChangeArrowheads="1"/>
          </p:cNvSpPr>
          <p:nvPr/>
        </p:nvSpPr>
        <p:spPr bwMode="auto">
          <a:xfrm>
            <a:off x="8458200" y="1600200"/>
            <a:ext cx="1981200" cy="707886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rgbClr val="0033CC"/>
                </a:solidFill>
              </a:rPr>
              <a:t>Regression Line</a:t>
            </a:r>
          </a:p>
        </p:txBody>
      </p:sp>
      <p:graphicFrame>
        <p:nvGraphicFramePr>
          <p:cNvPr id="13317" name="Object 68"/>
          <p:cNvGraphicFramePr>
            <a:graphicFrameLocks noChangeAspect="1"/>
          </p:cNvGraphicFramePr>
          <p:nvPr/>
        </p:nvGraphicFramePr>
        <p:xfrm>
          <a:off x="9296400" y="2438400"/>
          <a:ext cx="10223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10" imgW="380835" imgH="203112" progId="Equation.3">
                  <p:embed/>
                </p:oleObj>
              </mc:Choice>
              <mc:Fallback>
                <p:oleObj name="Equation" r:id="rId10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2438400"/>
                        <a:ext cx="102235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9"/>
          <p:cNvGraphicFramePr>
            <a:graphicFrameLocks noChangeAspect="1"/>
          </p:cNvGraphicFramePr>
          <p:nvPr/>
        </p:nvGraphicFramePr>
        <p:xfrm>
          <a:off x="7399338" y="3341688"/>
          <a:ext cx="166846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2" imgW="622030" imgH="330057" progId="Equation.3">
                  <p:embed/>
                </p:oleObj>
              </mc:Choice>
              <mc:Fallback>
                <p:oleObj name="Equation" r:id="rId12" imgW="622030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9338" y="3341688"/>
                        <a:ext cx="1668462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369" name="Straight Arrow Connector 59"/>
          <p:cNvCxnSpPr>
            <a:cxnSpLocks noChangeShapeType="1"/>
          </p:cNvCxnSpPr>
          <p:nvPr/>
        </p:nvCxnSpPr>
        <p:spPr bwMode="auto">
          <a:xfrm rot="5400000" flipH="1" flipV="1">
            <a:off x="7847013" y="3182938"/>
            <a:ext cx="500063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8" name="Text Box 48"/>
          <p:cNvSpPr txBox="1">
            <a:spLocks noChangeArrowheads="1"/>
          </p:cNvSpPr>
          <p:nvPr/>
        </p:nvSpPr>
        <p:spPr bwMode="auto">
          <a:xfrm>
            <a:off x="5310188" y="3929064"/>
            <a:ext cx="1852612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3333FF"/>
                </a:solidFill>
              </a:rPr>
              <a:t>Regression Line (</a:t>
            </a:r>
            <a:r>
              <a:rPr lang="en-US" sz="1600" u="sng">
                <a:solidFill>
                  <a:srgbClr val="3333FF"/>
                </a:solidFill>
              </a:rPr>
              <a:t>Line of  Best Fit</a:t>
            </a:r>
            <a:r>
              <a:rPr lang="en-US" sz="1600">
                <a:solidFill>
                  <a:srgbClr val="3333FF"/>
                </a:solidFill>
              </a:rPr>
              <a:t>)--new improved location for CC estimates </a:t>
            </a:r>
            <a:r>
              <a:rPr lang="en-US" sz="1600">
                <a:solidFill>
                  <a:srgbClr val="C00000"/>
                </a:solidFill>
              </a:rPr>
              <a:t>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21792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99" grpId="0" animBg="1"/>
      <p:bldP spid="14389" grpId="0" animBg="1"/>
      <p:bldP spid="14391" grpId="0" autoUpdateAnimBg="0"/>
      <p:bldP spid="14395" grpId="0" animBg="1"/>
      <p:bldP spid="14402" grpId="0" animBg="1" autoUpdateAnimBg="0"/>
      <p:bldP spid="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2"/>
          <p:cNvSpPr>
            <a:spLocks noChangeArrowheads="1"/>
          </p:cNvSpPr>
          <p:nvPr/>
        </p:nvSpPr>
        <p:spPr bwMode="auto">
          <a:xfrm>
            <a:off x="2895600" y="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sz="3200" b="1" i="1">
              <a:solidFill>
                <a:srgbClr val="000000"/>
              </a:solidFill>
            </a:endParaRPr>
          </a:p>
          <a:p>
            <a:r>
              <a:rPr lang="en-US" sz="3200" b="1" i="1">
                <a:solidFill>
                  <a:srgbClr val="000000"/>
                </a:solidFill>
              </a:rPr>
              <a:t>Simple and Multiple Regression Analysis</a:t>
            </a:r>
            <a:r>
              <a:rPr lang="en-US" sz="3200" b="1" i="1">
                <a:solidFill>
                  <a:srgbClr val="CC6600"/>
                </a:solidFill>
              </a:rPr>
              <a:t/>
            </a:r>
            <a:br>
              <a:rPr lang="en-US" sz="3200" b="1" i="1">
                <a:solidFill>
                  <a:srgbClr val="CC6600"/>
                </a:solidFill>
              </a:rPr>
            </a:br>
            <a:endParaRPr lang="en-US" sz="3200" b="1" i="1">
              <a:solidFill>
                <a:srgbClr val="CC6600"/>
              </a:solidFill>
            </a:endParaRPr>
          </a:p>
        </p:txBody>
      </p:sp>
      <p:sp>
        <p:nvSpPr>
          <p:cNvPr id="14344" name="Line 3"/>
          <p:cNvSpPr>
            <a:spLocks noChangeShapeType="1"/>
          </p:cNvSpPr>
          <p:nvPr/>
        </p:nvSpPr>
        <p:spPr bwMode="auto">
          <a:xfrm>
            <a:off x="2743200" y="914400"/>
            <a:ext cx="0" cy="510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45" name="Text Box 4"/>
          <p:cNvSpPr txBox="1">
            <a:spLocks noChangeArrowheads="1"/>
          </p:cNvSpPr>
          <p:nvPr/>
        </p:nvSpPr>
        <p:spPr bwMode="auto">
          <a:xfrm>
            <a:off x="2209800" y="1219201"/>
            <a:ext cx="8382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9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8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7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6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0</a:t>
            </a:r>
          </a:p>
          <a:p>
            <a:pPr>
              <a:spcBef>
                <a:spcPct val="50000"/>
              </a:spcBef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4346" name="Line 5"/>
          <p:cNvSpPr>
            <a:spLocks noChangeShapeType="1"/>
          </p:cNvSpPr>
          <p:nvPr/>
        </p:nvSpPr>
        <p:spPr bwMode="auto">
          <a:xfrm>
            <a:off x="2743200" y="2819400"/>
            <a:ext cx="6248400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47" name="Line 6"/>
          <p:cNvSpPr>
            <a:spLocks noChangeShapeType="1"/>
          </p:cNvSpPr>
          <p:nvPr/>
        </p:nvSpPr>
        <p:spPr bwMode="auto">
          <a:xfrm>
            <a:off x="2667000" y="1371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48" name="Line 7"/>
          <p:cNvSpPr>
            <a:spLocks noChangeShapeType="1"/>
          </p:cNvSpPr>
          <p:nvPr/>
        </p:nvSpPr>
        <p:spPr bwMode="auto">
          <a:xfrm>
            <a:off x="2667000" y="1828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49" name="Line 8"/>
          <p:cNvSpPr>
            <a:spLocks noChangeShapeType="1"/>
          </p:cNvSpPr>
          <p:nvPr/>
        </p:nvSpPr>
        <p:spPr bwMode="auto">
          <a:xfrm>
            <a:off x="2667000" y="2362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50" name="Line 9"/>
          <p:cNvSpPr>
            <a:spLocks noChangeShapeType="1"/>
          </p:cNvSpPr>
          <p:nvPr/>
        </p:nvSpPr>
        <p:spPr bwMode="auto">
          <a:xfrm>
            <a:off x="26670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51" name="Line 10"/>
          <p:cNvSpPr>
            <a:spLocks noChangeShapeType="1"/>
          </p:cNvSpPr>
          <p:nvPr/>
        </p:nvSpPr>
        <p:spPr bwMode="auto">
          <a:xfrm>
            <a:off x="26670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52" name="Line 11"/>
          <p:cNvSpPr>
            <a:spLocks noChangeShapeType="1"/>
          </p:cNvSpPr>
          <p:nvPr/>
        </p:nvSpPr>
        <p:spPr bwMode="auto">
          <a:xfrm>
            <a:off x="2667000" y="4191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53" name="Line 12"/>
          <p:cNvSpPr>
            <a:spLocks noChangeShapeType="1"/>
          </p:cNvSpPr>
          <p:nvPr/>
        </p:nvSpPr>
        <p:spPr bwMode="auto">
          <a:xfrm>
            <a:off x="26670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54" name="Line 13"/>
          <p:cNvSpPr>
            <a:spLocks noChangeShapeType="1"/>
          </p:cNvSpPr>
          <p:nvPr/>
        </p:nvSpPr>
        <p:spPr bwMode="auto">
          <a:xfrm>
            <a:off x="2667000" y="510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55" name="Line 14"/>
          <p:cNvSpPr>
            <a:spLocks noChangeShapeType="1"/>
          </p:cNvSpPr>
          <p:nvPr/>
        </p:nvSpPr>
        <p:spPr bwMode="auto">
          <a:xfrm>
            <a:off x="2667000" y="5562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56" name="Oval 15"/>
          <p:cNvSpPr>
            <a:spLocks noChangeArrowheads="1"/>
          </p:cNvSpPr>
          <p:nvPr/>
        </p:nvSpPr>
        <p:spPr bwMode="auto">
          <a:xfrm>
            <a:off x="4295775" y="4114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4157663" y="4143375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F1</a:t>
            </a:r>
          </a:p>
        </p:txBody>
      </p:sp>
      <p:sp>
        <p:nvSpPr>
          <p:cNvPr id="14358" name="Oval 17"/>
          <p:cNvSpPr>
            <a:spLocks noChangeArrowheads="1"/>
          </p:cNvSpPr>
          <p:nvPr/>
        </p:nvSpPr>
        <p:spPr bwMode="auto">
          <a:xfrm>
            <a:off x="4371975" y="27717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59" name="Oval 18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60" name="Oval 19"/>
          <p:cNvSpPr>
            <a:spLocks noChangeArrowheads="1"/>
          </p:cNvSpPr>
          <p:nvPr/>
        </p:nvSpPr>
        <p:spPr bwMode="auto">
          <a:xfrm>
            <a:off x="6248400" y="27717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61" name="Oval 20"/>
          <p:cNvSpPr>
            <a:spLocks noChangeArrowheads="1"/>
          </p:cNvSpPr>
          <p:nvPr/>
        </p:nvSpPr>
        <p:spPr bwMode="auto">
          <a:xfrm>
            <a:off x="81534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62" name="Oval 21"/>
          <p:cNvSpPr>
            <a:spLocks noChangeArrowheads="1"/>
          </p:cNvSpPr>
          <p:nvPr/>
        </p:nvSpPr>
        <p:spPr bwMode="auto">
          <a:xfrm>
            <a:off x="7162800" y="2781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63" name="Oval 22"/>
          <p:cNvSpPr>
            <a:spLocks noChangeArrowheads="1"/>
          </p:cNvSpPr>
          <p:nvPr/>
        </p:nvSpPr>
        <p:spPr bwMode="auto">
          <a:xfrm>
            <a:off x="71628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64" name="Oval 23"/>
          <p:cNvSpPr>
            <a:spLocks noChangeArrowheads="1"/>
          </p:cNvSpPr>
          <p:nvPr/>
        </p:nvSpPr>
        <p:spPr bwMode="auto">
          <a:xfrm>
            <a:off x="8153400" y="1295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104" name="Text Box 24"/>
          <p:cNvSpPr txBox="1">
            <a:spLocks noChangeArrowheads="1"/>
          </p:cNvSpPr>
          <p:nvPr/>
        </p:nvSpPr>
        <p:spPr bwMode="auto">
          <a:xfrm>
            <a:off x="4008438" y="23495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F2</a:t>
            </a:r>
          </a:p>
        </p:txBody>
      </p:sp>
      <p:sp>
        <p:nvSpPr>
          <p:cNvPr id="46105" name="Text Box 25"/>
          <p:cNvSpPr txBox="1">
            <a:spLocks noChangeArrowheads="1"/>
          </p:cNvSpPr>
          <p:nvPr/>
        </p:nvSpPr>
        <p:spPr bwMode="auto">
          <a:xfrm>
            <a:off x="6172200" y="3200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F3</a:t>
            </a:r>
          </a:p>
        </p:txBody>
      </p:sp>
      <p:sp>
        <p:nvSpPr>
          <p:cNvPr id="46106" name="Text Box 26"/>
          <p:cNvSpPr txBox="1">
            <a:spLocks noChangeArrowheads="1"/>
          </p:cNvSpPr>
          <p:nvPr/>
        </p:nvSpPr>
        <p:spPr bwMode="auto">
          <a:xfrm>
            <a:off x="5943600" y="2362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F4</a:t>
            </a:r>
          </a:p>
        </p:txBody>
      </p:sp>
      <p:sp>
        <p:nvSpPr>
          <p:cNvPr id="46107" name="Text Box 27"/>
          <p:cNvSpPr txBox="1">
            <a:spLocks noChangeArrowheads="1"/>
          </p:cNvSpPr>
          <p:nvPr/>
        </p:nvSpPr>
        <p:spPr bwMode="auto">
          <a:xfrm>
            <a:off x="7315200" y="2057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F5</a:t>
            </a:r>
          </a:p>
        </p:txBody>
      </p:sp>
      <p:sp>
        <p:nvSpPr>
          <p:cNvPr id="46108" name="Text Box 28"/>
          <p:cNvSpPr txBox="1">
            <a:spLocks noChangeArrowheads="1"/>
          </p:cNvSpPr>
          <p:nvPr/>
        </p:nvSpPr>
        <p:spPr bwMode="auto">
          <a:xfrm>
            <a:off x="7162800" y="28194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F6</a:t>
            </a:r>
          </a:p>
        </p:txBody>
      </p:sp>
      <p:sp>
        <p:nvSpPr>
          <p:cNvPr id="46109" name="Text Box 29"/>
          <p:cNvSpPr txBox="1">
            <a:spLocks noChangeArrowheads="1"/>
          </p:cNvSpPr>
          <p:nvPr/>
        </p:nvSpPr>
        <p:spPr bwMode="auto">
          <a:xfrm>
            <a:off x="8305800" y="2057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F7</a:t>
            </a:r>
          </a:p>
        </p:txBody>
      </p:sp>
      <p:sp>
        <p:nvSpPr>
          <p:cNvPr id="46110" name="Text Box 30"/>
          <p:cNvSpPr txBox="1">
            <a:spLocks noChangeArrowheads="1"/>
          </p:cNvSpPr>
          <p:nvPr/>
        </p:nvSpPr>
        <p:spPr bwMode="auto">
          <a:xfrm>
            <a:off x="7696200" y="9906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F8</a:t>
            </a:r>
          </a:p>
        </p:txBody>
      </p:sp>
      <p:sp>
        <p:nvSpPr>
          <p:cNvPr id="14372" name="Line 31"/>
          <p:cNvSpPr>
            <a:spLocks noChangeShapeType="1"/>
          </p:cNvSpPr>
          <p:nvPr/>
        </p:nvSpPr>
        <p:spPr bwMode="auto">
          <a:xfrm>
            <a:off x="2743200" y="6019800"/>
            <a:ext cx="647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112" name="Text Box 32"/>
          <p:cNvSpPr txBox="1">
            <a:spLocks noChangeArrowheads="1"/>
          </p:cNvSpPr>
          <p:nvPr/>
        </p:nvSpPr>
        <p:spPr bwMode="auto">
          <a:xfrm rot="-5437271">
            <a:off x="723900" y="2634734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 Of Credit Cards</a:t>
            </a:r>
          </a:p>
        </p:txBody>
      </p:sp>
      <p:sp>
        <p:nvSpPr>
          <p:cNvPr id="46113" name="Text Box 33"/>
          <p:cNvSpPr txBox="1">
            <a:spLocks noChangeArrowheads="1"/>
          </p:cNvSpPr>
          <p:nvPr/>
        </p:nvSpPr>
        <p:spPr bwMode="auto">
          <a:xfrm>
            <a:off x="2362200" y="8382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</a:p>
        </p:txBody>
      </p:sp>
      <p:sp>
        <p:nvSpPr>
          <p:cNvPr id="14375" name="Text Box 34"/>
          <p:cNvSpPr txBox="1">
            <a:spLocks noChangeArrowheads="1"/>
          </p:cNvSpPr>
          <p:nvPr/>
        </p:nvSpPr>
        <p:spPr bwMode="auto">
          <a:xfrm>
            <a:off x="3352800" y="6019800"/>
            <a:ext cx="624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1	2	3	4	5	6	7</a:t>
            </a:r>
          </a:p>
        </p:txBody>
      </p:sp>
      <p:sp>
        <p:nvSpPr>
          <p:cNvPr id="14376" name="Line 35"/>
          <p:cNvSpPr>
            <a:spLocks noChangeShapeType="1"/>
          </p:cNvSpPr>
          <p:nvPr/>
        </p:nvSpPr>
        <p:spPr bwMode="auto">
          <a:xfrm>
            <a:off x="35052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77" name="Line 36"/>
          <p:cNvSpPr>
            <a:spLocks noChangeShapeType="1"/>
          </p:cNvSpPr>
          <p:nvPr/>
        </p:nvSpPr>
        <p:spPr bwMode="auto">
          <a:xfrm>
            <a:off x="44196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78" name="Line 37"/>
          <p:cNvSpPr>
            <a:spLocks noChangeShapeType="1"/>
          </p:cNvSpPr>
          <p:nvPr/>
        </p:nvSpPr>
        <p:spPr bwMode="auto">
          <a:xfrm>
            <a:off x="53340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79" name="Line 38"/>
          <p:cNvSpPr>
            <a:spLocks noChangeShapeType="1"/>
          </p:cNvSpPr>
          <p:nvPr/>
        </p:nvSpPr>
        <p:spPr bwMode="auto">
          <a:xfrm>
            <a:off x="62484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80" name="Line 39"/>
          <p:cNvSpPr>
            <a:spLocks noChangeShapeType="1"/>
          </p:cNvSpPr>
          <p:nvPr/>
        </p:nvSpPr>
        <p:spPr bwMode="auto">
          <a:xfrm>
            <a:off x="71628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81" name="Line 40"/>
          <p:cNvSpPr>
            <a:spLocks noChangeShapeType="1"/>
          </p:cNvSpPr>
          <p:nvPr/>
        </p:nvSpPr>
        <p:spPr bwMode="auto">
          <a:xfrm>
            <a:off x="80772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82" name="Line 41"/>
          <p:cNvSpPr>
            <a:spLocks noChangeShapeType="1"/>
          </p:cNvSpPr>
          <p:nvPr/>
        </p:nvSpPr>
        <p:spPr bwMode="auto">
          <a:xfrm>
            <a:off x="89916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122" name="Text Box 42"/>
          <p:cNvSpPr txBox="1">
            <a:spLocks noChangeArrowheads="1"/>
          </p:cNvSpPr>
          <p:nvPr/>
        </p:nvSpPr>
        <p:spPr bwMode="auto">
          <a:xfrm>
            <a:off x="9372600" y="2590800"/>
            <a:ext cx="12954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66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Original (Baseline) Estimate</a:t>
            </a:r>
          </a:p>
        </p:txBody>
      </p:sp>
      <p:sp>
        <p:nvSpPr>
          <p:cNvPr id="46123" name="Text Box 43"/>
          <p:cNvSpPr txBox="1">
            <a:spLocks noChangeArrowheads="1"/>
          </p:cNvSpPr>
          <p:nvPr/>
        </p:nvSpPr>
        <p:spPr bwMode="auto">
          <a:xfrm>
            <a:off x="9296400" y="5791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auto">
          <a:xfrm>
            <a:off x="8077200" y="6400800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Family Size</a:t>
            </a:r>
          </a:p>
        </p:txBody>
      </p:sp>
      <p:sp>
        <p:nvSpPr>
          <p:cNvPr id="14386" name="Line 45"/>
          <p:cNvSpPr>
            <a:spLocks noChangeShapeType="1"/>
          </p:cNvSpPr>
          <p:nvPr/>
        </p:nvSpPr>
        <p:spPr bwMode="auto">
          <a:xfrm flipV="1">
            <a:off x="2743200" y="1676400"/>
            <a:ext cx="6096000" cy="31242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387" name="Text Box 48"/>
          <p:cNvSpPr txBox="1">
            <a:spLocks noChangeArrowheads="1"/>
          </p:cNvSpPr>
          <p:nvPr/>
        </p:nvSpPr>
        <p:spPr bwMode="auto">
          <a:xfrm>
            <a:off x="8915400" y="1447801"/>
            <a:ext cx="17526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3333FF"/>
                </a:solidFill>
              </a:rPr>
              <a:t>Reg. Line (Line of  Best Fit)--new improved location for CC estimates</a:t>
            </a:r>
          </a:p>
        </p:txBody>
      </p:sp>
      <p:sp>
        <p:nvSpPr>
          <p:cNvPr id="13364" name="AutoShape 50"/>
          <p:cNvSpPr>
            <a:spLocks/>
          </p:cNvSpPr>
          <p:nvPr/>
        </p:nvSpPr>
        <p:spPr bwMode="auto">
          <a:xfrm rot="211417">
            <a:off x="8001000" y="2057400"/>
            <a:ext cx="76200" cy="304800"/>
          </a:xfrm>
          <a:prstGeom prst="leftBrace">
            <a:avLst>
              <a:gd name="adj1" fmla="val 3333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65" name="AutoShape 51"/>
          <p:cNvSpPr>
            <a:spLocks/>
          </p:cNvSpPr>
          <p:nvPr/>
        </p:nvSpPr>
        <p:spPr bwMode="auto">
          <a:xfrm rot="-235021">
            <a:off x="6324600" y="2971800"/>
            <a:ext cx="153988" cy="228600"/>
          </a:xfrm>
          <a:prstGeom prst="rightBrace">
            <a:avLst>
              <a:gd name="adj1" fmla="val 12371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66" name="AutoShape 52"/>
          <p:cNvSpPr>
            <a:spLocks/>
          </p:cNvSpPr>
          <p:nvPr/>
        </p:nvSpPr>
        <p:spPr bwMode="auto">
          <a:xfrm>
            <a:off x="4400550" y="3962400"/>
            <a:ext cx="76200" cy="228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4338" name="Object 54"/>
          <p:cNvGraphicFramePr>
            <a:graphicFrameLocks noChangeAspect="1"/>
          </p:cNvGraphicFramePr>
          <p:nvPr/>
        </p:nvGraphicFramePr>
        <p:xfrm>
          <a:off x="8991600" y="2520950"/>
          <a:ext cx="4381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139639" imgH="190417" progId="Equation.3">
                  <p:embed/>
                </p:oleObj>
              </mc:Choice>
              <mc:Fallback>
                <p:oleObj name="Equation" r:id="rId3" imgW="139639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2520950"/>
                        <a:ext cx="43815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67" name="Text Box 56"/>
          <p:cNvSpPr txBox="1">
            <a:spLocks noChangeArrowheads="1"/>
          </p:cNvSpPr>
          <p:nvPr/>
        </p:nvSpPr>
        <p:spPr bwMode="auto">
          <a:xfrm>
            <a:off x="6248400" y="3962400"/>
            <a:ext cx="1905000" cy="3365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FF0000"/>
                </a:solidFill>
              </a:rPr>
              <a:t> Estimation ERROR</a:t>
            </a:r>
          </a:p>
        </p:txBody>
      </p:sp>
      <p:graphicFrame>
        <p:nvGraphicFramePr>
          <p:cNvPr id="13315" name="Object 59"/>
          <p:cNvGraphicFramePr>
            <a:graphicFrameLocks noChangeAspect="1"/>
          </p:cNvGraphicFramePr>
          <p:nvPr/>
        </p:nvGraphicFramePr>
        <p:xfrm>
          <a:off x="7981950" y="3886200"/>
          <a:ext cx="8572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457002" imgH="203112" progId="Equation.3">
                  <p:embed/>
                </p:oleObj>
              </mc:Choice>
              <mc:Fallback>
                <p:oleObj name="Equation" r:id="rId5" imgW="45700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1950" y="3886200"/>
                        <a:ext cx="8572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68" name="Line 61"/>
          <p:cNvSpPr>
            <a:spLocks noChangeShapeType="1"/>
          </p:cNvSpPr>
          <p:nvPr/>
        </p:nvSpPr>
        <p:spPr bwMode="auto">
          <a:xfrm flipH="1" flipV="1">
            <a:off x="6553200" y="3124200"/>
            <a:ext cx="533400" cy="7620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69" name="Line 63"/>
          <p:cNvSpPr>
            <a:spLocks noChangeShapeType="1"/>
          </p:cNvSpPr>
          <p:nvPr/>
        </p:nvSpPr>
        <p:spPr bwMode="auto">
          <a:xfrm flipV="1">
            <a:off x="7315200" y="2362200"/>
            <a:ext cx="609600" cy="15240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70" name="Text Box 64"/>
          <p:cNvSpPr txBox="1">
            <a:spLocks noChangeArrowheads="1"/>
          </p:cNvSpPr>
          <p:nvPr/>
        </p:nvSpPr>
        <p:spPr bwMode="auto">
          <a:xfrm>
            <a:off x="5735638" y="4343400"/>
            <a:ext cx="4824412" cy="815608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3333FF"/>
                </a:solidFill>
              </a:rPr>
              <a:t>Regression Line will Minimize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3333FF"/>
                </a:solidFill>
              </a:rPr>
              <a:t>                  = total estimation error.</a:t>
            </a:r>
          </a:p>
        </p:txBody>
      </p:sp>
      <p:graphicFrame>
        <p:nvGraphicFramePr>
          <p:cNvPr id="13316" name="Object 68"/>
          <p:cNvGraphicFramePr>
            <a:graphicFrameLocks noChangeAspect="1"/>
          </p:cNvGraphicFramePr>
          <p:nvPr/>
        </p:nvGraphicFramePr>
        <p:xfrm>
          <a:off x="5810248" y="4643447"/>
          <a:ext cx="12382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660113" imgH="330057" progId="Equation.3">
                  <p:embed/>
                </p:oleObj>
              </mc:Choice>
              <mc:Fallback>
                <p:oleObj name="Equation" r:id="rId7" imgW="660113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48" y="4643447"/>
                        <a:ext cx="1238250" cy="5429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51" name="Oval 71"/>
          <p:cNvSpPr>
            <a:spLocks noChangeArrowheads="1"/>
          </p:cNvSpPr>
          <p:nvPr/>
        </p:nvSpPr>
        <p:spPr bwMode="auto">
          <a:xfrm>
            <a:off x="6245225" y="2930525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152" name="Oval 72"/>
          <p:cNvSpPr>
            <a:spLocks noChangeArrowheads="1"/>
          </p:cNvSpPr>
          <p:nvPr/>
        </p:nvSpPr>
        <p:spPr bwMode="auto">
          <a:xfrm>
            <a:off x="7173913" y="2473325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153" name="Oval 73"/>
          <p:cNvSpPr>
            <a:spLocks noChangeArrowheads="1"/>
          </p:cNvSpPr>
          <p:nvPr/>
        </p:nvSpPr>
        <p:spPr bwMode="auto">
          <a:xfrm>
            <a:off x="8140700" y="1974850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154" name="Oval 74"/>
          <p:cNvSpPr>
            <a:spLocks noChangeArrowheads="1"/>
          </p:cNvSpPr>
          <p:nvPr/>
        </p:nvSpPr>
        <p:spPr bwMode="auto">
          <a:xfrm>
            <a:off x="4295775" y="3946525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375" name="Line 76"/>
          <p:cNvSpPr>
            <a:spLocks noChangeShapeType="1"/>
          </p:cNvSpPr>
          <p:nvPr/>
        </p:nvSpPr>
        <p:spPr bwMode="auto">
          <a:xfrm flipH="1">
            <a:off x="4583113" y="4090989"/>
            <a:ext cx="1657350" cy="158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46158" name="Object 78"/>
          <p:cNvGraphicFramePr>
            <a:graphicFrameLocks noChangeAspect="1"/>
          </p:cNvGraphicFramePr>
          <p:nvPr/>
        </p:nvGraphicFramePr>
        <p:xfrm>
          <a:off x="8890001" y="1152525"/>
          <a:ext cx="113506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457002" imgH="165028" progId="Equation.3">
                  <p:embed/>
                </p:oleObj>
              </mc:Choice>
              <mc:Fallback>
                <p:oleObj name="Equation" r:id="rId9" imgW="457002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1" y="1152525"/>
                        <a:ext cx="1135063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79"/>
          <p:cNvSpPr txBox="1">
            <a:spLocks noChangeArrowheads="1"/>
          </p:cNvSpPr>
          <p:nvPr/>
        </p:nvSpPr>
        <p:spPr bwMode="auto">
          <a:xfrm>
            <a:off x="2881314" y="5373688"/>
            <a:ext cx="77866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solidFill>
                  <a:srgbClr val="FF0066"/>
                </a:solidFill>
              </a:rPr>
              <a:t>But, how do we know </a:t>
            </a:r>
            <a:r>
              <a:rPr lang="en-US" sz="20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values </a:t>
            </a:r>
            <a:r>
              <a:rPr lang="en-US" sz="2000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itchFamily="34" charset="0"/>
                <a:ea typeface="Arial Unicode MS" pitchFamily="34" charset="-128"/>
                <a:cs typeface="Arial Unicode MS" pitchFamily="34" charset="-128"/>
              </a:rPr>
              <a:t>a</a:t>
            </a:r>
            <a:r>
              <a:rPr lang="en-US" sz="20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2000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</a:t>
            </a:r>
            <a:r>
              <a:rPr lang="en-US" sz="20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000" dirty="0">
                <a:solidFill>
                  <a:srgbClr val="FF0066"/>
                </a:solidFill>
                <a:latin typeface="Comic Sans MS" pitchFamily="66" charset="0"/>
              </a:rPr>
              <a:t>in                 </a:t>
            </a:r>
            <a:r>
              <a:rPr lang="en-US" sz="2000" dirty="0">
                <a:solidFill>
                  <a:srgbClr val="FF0066"/>
                </a:solidFill>
                <a:latin typeface="Times New Roman"/>
              </a:rPr>
              <a:t>(the reg. line)?</a:t>
            </a:r>
          </a:p>
        </p:txBody>
      </p:sp>
      <p:graphicFrame>
        <p:nvGraphicFramePr>
          <p:cNvPr id="2" name="Object 64"/>
          <p:cNvGraphicFramePr>
            <a:graphicFrameLocks noChangeAspect="1"/>
          </p:cNvGraphicFramePr>
          <p:nvPr/>
        </p:nvGraphicFramePr>
        <p:xfrm>
          <a:off x="7953388" y="5357827"/>
          <a:ext cx="11350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457002" imgH="165028" progId="Equation.3">
                  <p:embed/>
                </p:oleObj>
              </mc:Choice>
              <mc:Fallback>
                <p:oleObj name="Equation" r:id="rId11" imgW="457002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8" y="5357827"/>
                        <a:ext cx="1135062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510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4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4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4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4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2000"/>
                                        <p:tgtEl>
                                          <p:spTgt spid="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4" grpId="0" animBg="1"/>
      <p:bldP spid="13365" grpId="0" animBg="1"/>
      <p:bldP spid="13366" grpId="0" animBg="1"/>
      <p:bldP spid="13367" grpId="0" animBg="1"/>
      <p:bldP spid="13368" grpId="0" animBg="1"/>
      <p:bldP spid="13369" grpId="0" animBg="1"/>
      <p:bldP spid="13370" grpId="0" animBg="1"/>
      <p:bldP spid="46151" grpId="0" animBg="1"/>
      <p:bldP spid="46152" grpId="0" animBg="1"/>
      <p:bldP spid="46153" grpId="0" animBg="1"/>
      <p:bldP spid="46154" grpId="0" animBg="1"/>
      <p:bldP spid="13375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2133600"/>
            <a:ext cx="8153400" cy="37338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smtClean="0">
              <a:solidFill>
                <a:srgbClr val="0033CC"/>
              </a:solidFill>
            </a:endParaRP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15370" name="AutoShape 4"/>
          <p:cNvSpPr>
            <a:spLocks/>
          </p:cNvSpPr>
          <p:nvPr/>
        </p:nvSpPr>
        <p:spPr bwMode="auto">
          <a:xfrm>
            <a:off x="4267200" y="3200400"/>
            <a:ext cx="533400" cy="1657350"/>
          </a:xfrm>
          <a:prstGeom prst="leftBrace">
            <a:avLst>
              <a:gd name="adj1" fmla="val 2856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5029200" y="2673351"/>
          <a:ext cx="272573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1384300" imgH="533400" progId="Equation.3">
                  <p:embed/>
                </p:oleObj>
              </mc:Choice>
              <mc:Fallback>
                <p:oleObj name="Equation" r:id="rId3" imgW="13843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673351"/>
                        <a:ext cx="2725738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6"/>
          <p:cNvGraphicFramePr>
            <a:graphicFrameLocks noChangeAspect="1"/>
          </p:cNvGraphicFramePr>
          <p:nvPr/>
        </p:nvGraphicFramePr>
        <p:xfrm>
          <a:off x="5024438" y="4500563"/>
          <a:ext cx="15684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583947" imgH="241195" progId="Equation.3">
                  <p:embed/>
                </p:oleObj>
              </mc:Choice>
              <mc:Fallback>
                <p:oleObj name="Equation" r:id="rId5" imgW="583947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4500563"/>
                        <a:ext cx="156845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Rectangle 7"/>
          <p:cNvSpPr>
            <a:spLocks noChangeArrowheads="1"/>
          </p:cNvSpPr>
          <p:nvPr/>
        </p:nvSpPr>
        <p:spPr bwMode="auto">
          <a:xfrm>
            <a:off x="28956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4400" b="1" i="1">
                <a:solidFill>
                  <a:srgbClr val="000000"/>
                </a:solidFill>
              </a:rPr>
              <a:t>Actual # of credit cards</a:t>
            </a:r>
          </a:p>
        </p:txBody>
      </p:sp>
      <p:pic>
        <p:nvPicPr>
          <p:cNvPr id="15372" name="Picture 8" descr="MENO07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39064" y="1905001"/>
            <a:ext cx="2928937" cy="327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364" name="Object 9"/>
          <p:cNvGraphicFramePr>
            <a:graphicFrameLocks noChangeAspect="1"/>
          </p:cNvGraphicFramePr>
          <p:nvPr/>
        </p:nvGraphicFramePr>
        <p:xfrm>
          <a:off x="1752600" y="3617914"/>
          <a:ext cx="23622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8" imgW="647419" imgH="203112" progId="Equation.3">
                  <p:embed/>
                </p:oleObj>
              </mc:Choice>
              <mc:Fallback>
                <p:oleObj name="Equation" r:id="rId8" imgW="64741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617914"/>
                        <a:ext cx="2362200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10"/>
          <p:cNvSpPr txBox="1">
            <a:spLocks noChangeArrowheads="1"/>
          </p:cNvSpPr>
          <p:nvPr/>
        </p:nvSpPr>
        <p:spPr bwMode="auto">
          <a:xfrm>
            <a:off x="1828800" y="5181601"/>
            <a:ext cx="7162800" cy="10618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66"/>
                </a:solidFill>
              </a:rPr>
              <a:t>Let’s</a:t>
            </a:r>
            <a:r>
              <a:rPr lang="en-US" dirty="0">
                <a:solidFill>
                  <a:srgbClr val="000000"/>
                </a:solidFill>
              </a:rPr>
              <a:t> use above formulas to </a:t>
            </a:r>
            <a:r>
              <a:rPr lang="en-US" dirty="0">
                <a:solidFill>
                  <a:srgbClr val="FF0066"/>
                </a:solidFill>
              </a:rPr>
              <a:t>compute </a:t>
            </a:r>
            <a:r>
              <a:rPr lang="en-US" dirty="0">
                <a:solidFill>
                  <a:srgbClr val="000000"/>
                </a:solidFill>
              </a:rPr>
              <a:t>the values of</a:t>
            </a:r>
            <a:r>
              <a:rPr lang="en-US" dirty="0">
                <a:solidFill>
                  <a:srgbClr val="FF0066"/>
                </a:solidFill>
              </a:rPr>
              <a:t> “</a:t>
            </a:r>
            <a:r>
              <a:rPr lang="en-US" i="1" dirty="0">
                <a:solidFill>
                  <a:srgbClr val="FF0066"/>
                </a:solidFill>
                <a:latin typeface="Comic Sans MS" pitchFamily="66" charset="0"/>
              </a:rPr>
              <a:t>a</a:t>
            </a:r>
            <a:r>
              <a:rPr lang="en-US" dirty="0">
                <a:solidFill>
                  <a:srgbClr val="FF0066"/>
                </a:solidFill>
              </a:rPr>
              <a:t>” </a:t>
            </a:r>
            <a:r>
              <a:rPr lang="en-US" dirty="0">
                <a:solidFill>
                  <a:srgbClr val="000000"/>
                </a:solidFill>
              </a:rPr>
              <a:t>and</a:t>
            </a:r>
            <a:r>
              <a:rPr lang="en-US" dirty="0">
                <a:solidFill>
                  <a:srgbClr val="FF0066"/>
                </a:solidFill>
              </a:rPr>
              <a:t> “</a:t>
            </a:r>
            <a:r>
              <a:rPr lang="en-US" i="1" dirty="0">
                <a:solidFill>
                  <a:srgbClr val="FF0066"/>
                </a:solidFill>
                <a:latin typeface="Comic Sans MS" pitchFamily="66" charset="0"/>
              </a:rPr>
              <a:t>b</a:t>
            </a:r>
            <a:r>
              <a:rPr lang="en-US" dirty="0">
                <a:solidFill>
                  <a:srgbClr val="FF0066"/>
                </a:solidFill>
              </a:rPr>
              <a:t>”</a:t>
            </a:r>
            <a:r>
              <a:rPr lang="en-US" dirty="0">
                <a:solidFill>
                  <a:srgbClr val="000000"/>
                </a:solidFill>
              </a:rPr>
              <a:t> for the regression line in our example.  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66"/>
                </a:solidFill>
              </a:rPr>
              <a:t>We will need:  			         </a:t>
            </a:r>
            <a:r>
              <a:rPr lang="en-US" dirty="0">
                <a:solidFill>
                  <a:srgbClr val="000000"/>
                </a:solidFill>
              </a:rPr>
              <a:t>and</a:t>
            </a:r>
            <a:r>
              <a:rPr lang="en-US" dirty="0">
                <a:solidFill>
                  <a:srgbClr val="FF0066"/>
                </a:solidFill>
              </a:rPr>
              <a:t>                              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350" name="Text Box 11"/>
          <p:cNvSpPr txBox="1">
            <a:spLocks noChangeArrowheads="1"/>
          </p:cNvSpPr>
          <p:nvPr/>
        </p:nvSpPr>
        <p:spPr bwMode="auto">
          <a:xfrm>
            <a:off x="1905000" y="1447800"/>
            <a:ext cx="81534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0033CC"/>
                </a:solidFill>
              </a:rPr>
              <a:t>EQUATION FOR REGRESSION LINE (LINE OF BEST FIT)--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FF0066"/>
                </a:solidFill>
                <a:latin typeface="Times New Roman"/>
              </a:rPr>
              <a:t>Values of </a:t>
            </a:r>
            <a:r>
              <a:rPr lang="en-US" i="1" dirty="0">
                <a:solidFill>
                  <a:srgbClr val="FF0066"/>
                </a:solidFill>
                <a:latin typeface="Times New Roman"/>
              </a:rPr>
              <a:t>a</a:t>
            </a:r>
            <a:r>
              <a:rPr lang="en-US" dirty="0">
                <a:solidFill>
                  <a:srgbClr val="FF0066"/>
                </a:solidFill>
                <a:latin typeface="Times New Roman"/>
              </a:rPr>
              <a:t> and </a:t>
            </a:r>
            <a:r>
              <a:rPr lang="en-US" i="1" dirty="0">
                <a:solidFill>
                  <a:srgbClr val="FF0066"/>
                </a:solidFill>
                <a:latin typeface="Times New Roman"/>
              </a:rPr>
              <a:t>b for the regression line</a:t>
            </a:r>
            <a:r>
              <a:rPr lang="en-US" dirty="0">
                <a:solidFill>
                  <a:srgbClr val="FF0066"/>
                </a:solidFill>
                <a:latin typeface="Times New Roman"/>
              </a:rPr>
              <a:t>:</a:t>
            </a:r>
          </a:p>
        </p:txBody>
      </p:sp>
      <p:graphicFrame>
        <p:nvGraphicFramePr>
          <p:cNvPr id="15365" name="Object 12"/>
          <p:cNvGraphicFramePr>
            <a:graphicFrameLocks noChangeAspect="1"/>
          </p:cNvGraphicFramePr>
          <p:nvPr/>
        </p:nvGraphicFramePr>
        <p:xfrm>
          <a:off x="3381357" y="5929331"/>
          <a:ext cx="379413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10" imgW="190335" imgH="215713" progId="Equation.3">
                  <p:embed/>
                </p:oleObj>
              </mc:Choice>
              <mc:Fallback>
                <p:oleObj name="Equation" r:id="rId10" imgW="190335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57" y="5929331"/>
                        <a:ext cx="379413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3"/>
          <p:cNvGraphicFramePr>
            <a:graphicFrameLocks noChangeAspect="1"/>
          </p:cNvGraphicFramePr>
          <p:nvPr/>
        </p:nvGraphicFramePr>
        <p:xfrm>
          <a:off x="3881423" y="5857893"/>
          <a:ext cx="3841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2" imgW="190417" imgH="203112" progId="Equation.3">
                  <p:embed/>
                </p:oleObj>
              </mc:Choice>
              <mc:Fallback>
                <p:oleObj name="Equation" r:id="rId12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423" y="5857893"/>
                        <a:ext cx="384175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4"/>
          <p:cNvGraphicFramePr>
            <a:graphicFrameLocks noChangeAspect="1"/>
          </p:cNvGraphicFramePr>
          <p:nvPr/>
        </p:nvGraphicFramePr>
        <p:xfrm>
          <a:off x="4310050" y="5857893"/>
          <a:ext cx="18526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4" imgW="1143000" imgH="228600" progId="Equation.3">
                  <p:embed/>
                </p:oleObj>
              </mc:Choice>
              <mc:Fallback>
                <p:oleObj name="Equation" r:id="rId14" imgW="1143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50" y="5857893"/>
                        <a:ext cx="1852612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5"/>
          <p:cNvGraphicFramePr>
            <a:graphicFrameLocks noChangeAspect="1"/>
          </p:cNvGraphicFramePr>
          <p:nvPr/>
        </p:nvGraphicFramePr>
        <p:xfrm>
          <a:off x="6596066" y="5715017"/>
          <a:ext cx="12954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16" imgW="698500" imgH="330200" progId="Equation.3">
                  <p:embed/>
                </p:oleObj>
              </mc:Choice>
              <mc:Fallback>
                <p:oleObj name="Equation" r:id="rId16" imgW="6985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066" y="5715017"/>
                        <a:ext cx="12954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64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1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</a:t>
            </a: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48287" name="Group 159"/>
          <p:cNvGraphicFramePr>
            <a:graphicFrameLocks noGrp="1"/>
          </p:cNvGraphicFramePr>
          <p:nvPr>
            <p:ph type="tbl" idx="1"/>
          </p:nvPr>
        </p:nvGraphicFramePr>
        <p:xfrm>
          <a:off x="1752600" y="1700213"/>
          <a:ext cx="8610600" cy="4236674"/>
        </p:xfrm>
        <a:graphic>
          <a:graphicData uri="http://schemas.openxmlformats.org/drawingml/2006/table">
            <a:tbl>
              <a:tblPr/>
              <a:tblGrid>
                <a:gridCol w="990600"/>
                <a:gridCol w="1066800"/>
                <a:gridCol w="1066800"/>
                <a:gridCol w="914400"/>
                <a:gridCol w="914400"/>
                <a:gridCol w="2057400"/>
                <a:gridCol w="1600200"/>
              </a:tblGrid>
              <a:tr h="1243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#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of Credit Cards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9900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386" name="Object 56"/>
          <p:cNvGraphicFramePr>
            <a:graphicFrameLocks noChangeAspect="1"/>
          </p:cNvGraphicFramePr>
          <p:nvPr/>
        </p:nvGraphicFramePr>
        <p:xfrm>
          <a:off x="6019800" y="33528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35280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58"/>
          <p:cNvGraphicFramePr>
            <a:graphicFrameLocks noChangeAspect="1"/>
          </p:cNvGraphicFramePr>
          <p:nvPr/>
        </p:nvGraphicFramePr>
        <p:xfrm>
          <a:off x="2590800" y="6043614"/>
          <a:ext cx="10350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761669" imgH="406224" progId="Equation.3">
                  <p:embed/>
                </p:oleObj>
              </mc:Choice>
              <mc:Fallback>
                <p:oleObj name="Equation" r:id="rId5" imgW="76166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6043614"/>
                        <a:ext cx="1035050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59"/>
          <p:cNvGraphicFramePr>
            <a:graphicFrameLocks noChangeAspect="1"/>
          </p:cNvGraphicFramePr>
          <p:nvPr/>
        </p:nvGraphicFramePr>
        <p:xfrm>
          <a:off x="3810000" y="6043614"/>
          <a:ext cx="139223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888614" imgH="393529" progId="Equation.3">
                  <p:embed/>
                </p:oleObj>
              </mc:Choice>
              <mc:Fallback>
                <p:oleObj name="Equation" r:id="rId7" imgW="88861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043614"/>
                        <a:ext cx="1392238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61"/>
          <p:cNvGraphicFramePr>
            <a:graphicFrameLocks noChangeAspect="1"/>
          </p:cNvGraphicFramePr>
          <p:nvPr/>
        </p:nvGraphicFramePr>
        <p:xfrm>
          <a:off x="4953000" y="2057401"/>
          <a:ext cx="762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380670" imgH="177646" progId="Equation.3">
                  <p:embed/>
                </p:oleObj>
              </mc:Choice>
              <mc:Fallback>
                <p:oleObj name="Equation" r:id="rId9" imgW="380670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57401"/>
                        <a:ext cx="7620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72"/>
          <p:cNvGraphicFramePr>
            <a:graphicFrameLocks noChangeAspect="1"/>
          </p:cNvGraphicFramePr>
          <p:nvPr/>
        </p:nvGraphicFramePr>
        <p:xfrm>
          <a:off x="6462714" y="6119813"/>
          <a:ext cx="21621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1333500" imgH="228600" progId="Equation.3">
                  <p:embed/>
                </p:oleObj>
              </mc:Choice>
              <mc:Fallback>
                <p:oleObj name="Equation" r:id="rId11" imgW="1333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714" y="6119813"/>
                        <a:ext cx="2162175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111"/>
          <p:cNvGraphicFramePr>
            <a:graphicFrameLocks noChangeAspect="1"/>
          </p:cNvGraphicFramePr>
          <p:nvPr/>
        </p:nvGraphicFramePr>
        <p:xfrm>
          <a:off x="5943600" y="2057401"/>
          <a:ext cx="685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393359" imgH="215713" progId="Equation.3">
                  <p:embed/>
                </p:oleObj>
              </mc:Choice>
              <mc:Fallback>
                <p:oleObj name="Equation" r:id="rId13" imgW="393359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057401"/>
                        <a:ext cx="685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140"/>
          <p:cNvGraphicFramePr>
            <a:graphicFrameLocks noChangeAspect="1"/>
          </p:cNvGraphicFramePr>
          <p:nvPr/>
        </p:nvGraphicFramePr>
        <p:xfrm>
          <a:off x="6781800" y="2057400"/>
          <a:ext cx="15748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965200" imgH="228600" progId="Equation.3">
                  <p:embed/>
                </p:oleObj>
              </mc:Choice>
              <mc:Fallback>
                <p:oleObj name="Equation" r:id="rId15" imgW="965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057400"/>
                        <a:ext cx="1574800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149"/>
          <p:cNvGraphicFramePr>
            <a:graphicFrameLocks noChangeAspect="1"/>
          </p:cNvGraphicFramePr>
          <p:nvPr/>
        </p:nvGraphicFramePr>
        <p:xfrm>
          <a:off x="8899525" y="6030913"/>
          <a:ext cx="16319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17" imgW="914400" imgH="254000" progId="Equation.3">
                  <p:embed/>
                </p:oleObj>
              </mc:Choice>
              <mc:Fallback>
                <p:oleObj name="Equation" r:id="rId17" imgW="9144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9525" y="6030913"/>
                        <a:ext cx="163195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50"/>
          <p:cNvGraphicFramePr>
            <a:graphicFrameLocks noChangeAspect="1"/>
          </p:cNvGraphicFramePr>
          <p:nvPr/>
        </p:nvGraphicFramePr>
        <p:xfrm>
          <a:off x="8915400" y="1905001"/>
          <a:ext cx="9144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19" imgW="558558" imgH="317362" progId="Equation.3">
                  <p:embed/>
                </p:oleObj>
              </mc:Choice>
              <mc:Fallback>
                <p:oleObj name="Equation" r:id="rId19" imgW="558558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1905001"/>
                        <a:ext cx="914400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4" name="Text Box 160"/>
          <p:cNvSpPr txBox="1">
            <a:spLocks noChangeArrowheads="1"/>
          </p:cNvSpPr>
          <p:nvPr/>
        </p:nvSpPr>
        <p:spPr bwMode="auto">
          <a:xfrm>
            <a:off x="1828800" y="1066800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0033CC"/>
                </a:solidFill>
              </a:rPr>
              <a:t>We need:</a:t>
            </a:r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16395" name="Object 161"/>
          <p:cNvGraphicFramePr>
            <a:graphicFrameLocks noChangeAspect="1"/>
          </p:cNvGraphicFramePr>
          <p:nvPr/>
        </p:nvGraphicFramePr>
        <p:xfrm>
          <a:off x="3962401" y="1143001"/>
          <a:ext cx="185261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21" imgW="1143000" imgH="228600" progId="Equation.3">
                  <p:embed/>
                </p:oleObj>
              </mc:Choice>
              <mc:Fallback>
                <p:oleObj name="Equation" r:id="rId21" imgW="1143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143001"/>
                        <a:ext cx="1852613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62"/>
          <p:cNvGraphicFramePr>
            <a:graphicFrameLocks noChangeAspect="1"/>
          </p:cNvGraphicFramePr>
          <p:nvPr/>
        </p:nvGraphicFramePr>
        <p:xfrm>
          <a:off x="6400801" y="990600"/>
          <a:ext cx="12477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23" imgW="698500" imgH="330200" progId="Equation.3">
                  <p:embed/>
                </p:oleObj>
              </mc:Choice>
              <mc:Fallback>
                <p:oleObj name="Equation" r:id="rId23" imgW="6985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990600"/>
                        <a:ext cx="12477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5" name="Text Box 163"/>
          <p:cNvSpPr txBox="1">
            <a:spLocks noChangeArrowheads="1"/>
          </p:cNvSpPr>
          <p:nvPr/>
        </p:nvSpPr>
        <p:spPr bwMode="auto">
          <a:xfrm>
            <a:off x="5810248" y="1142984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</a:rPr>
              <a:t>and</a:t>
            </a:r>
          </a:p>
        </p:txBody>
      </p:sp>
      <p:graphicFrame>
        <p:nvGraphicFramePr>
          <p:cNvPr id="16397" name="Object 164"/>
          <p:cNvGraphicFramePr>
            <a:graphicFrameLocks noChangeAspect="1"/>
          </p:cNvGraphicFramePr>
          <p:nvPr/>
        </p:nvGraphicFramePr>
        <p:xfrm>
          <a:off x="3246439" y="1143001"/>
          <a:ext cx="3079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25" imgW="190335" imgH="215713" progId="Equation.3">
                  <p:embed/>
                </p:oleObj>
              </mc:Choice>
              <mc:Fallback>
                <p:oleObj name="Equation" r:id="rId25" imgW="190335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9" y="1143001"/>
                        <a:ext cx="30797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65"/>
          <p:cNvGraphicFramePr>
            <a:graphicFrameLocks noChangeAspect="1"/>
          </p:cNvGraphicFramePr>
          <p:nvPr/>
        </p:nvGraphicFramePr>
        <p:xfrm>
          <a:off x="3657601" y="1143001"/>
          <a:ext cx="3079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Equation" r:id="rId27" imgW="190417" imgH="203112" progId="Equation.3">
                  <p:embed/>
                </p:oleObj>
              </mc:Choice>
              <mc:Fallback>
                <p:oleObj name="Equation" r:id="rId27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1143001"/>
                        <a:ext cx="307975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66"/>
          <p:cNvGraphicFramePr>
            <a:graphicFrameLocks noChangeAspect="1"/>
          </p:cNvGraphicFramePr>
          <p:nvPr/>
        </p:nvGraphicFramePr>
        <p:xfrm>
          <a:off x="3124201" y="1752600"/>
          <a:ext cx="2587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Equation" r:id="rId29" imgW="139579" imgH="164957" progId="Equation.3">
                  <p:embed/>
                </p:oleObj>
              </mc:Choice>
              <mc:Fallback>
                <p:oleObj name="Equation" r:id="rId29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1752600"/>
                        <a:ext cx="258763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167"/>
          <p:cNvGraphicFramePr>
            <a:graphicFrameLocks noChangeAspect="1"/>
          </p:cNvGraphicFramePr>
          <p:nvPr/>
        </p:nvGraphicFramePr>
        <p:xfrm>
          <a:off x="4191000" y="1752600"/>
          <a:ext cx="304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Equation" r:id="rId31" imgW="126835" imgH="139518" progId="Equation.3">
                  <p:embed/>
                </p:oleObj>
              </mc:Choice>
              <mc:Fallback>
                <p:oleObj name="Equation" r:id="rId31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752600"/>
                        <a:ext cx="3048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07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</a:t>
            </a: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76803" name="Group 3"/>
          <p:cNvGraphicFramePr>
            <a:graphicFrameLocks noGrp="1"/>
          </p:cNvGraphicFramePr>
          <p:nvPr>
            <p:ph type="tbl" idx="1"/>
          </p:nvPr>
        </p:nvGraphicFramePr>
        <p:xfrm>
          <a:off x="1752600" y="1676400"/>
          <a:ext cx="8610600" cy="4236674"/>
        </p:xfrm>
        <a:graphic>
          <a:graphicData uri="http://schemas.openxmlformats.org/drawingml/2006/table">
            <a:tbl>
              <a:tblPr/>
              <a:tblGrid>
                <a:gridCol w="990600"/>
                <a:gridCol w="1066800"/>
                <a:gridCol w="1066800"/>
                <a:gridCol w="914400"/>
                <a:gridCol w="914400"/>
                <a:gridCol w="2057400"/>
                <a:gridCol w="1600200"/>
              </a:tblGrid>
              <a:tr h="1243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 #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of Credit Cards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9900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-2.25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-3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6.75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5.0625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-2.25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2.25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5.0625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-.25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.0625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-.25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.0625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.75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.75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.5625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.75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.5625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1.75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1.75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3.0625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1.75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5.25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3.0625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10" name="Object 85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86"/>
          <p:cNvGraphicFramePr>
            <a:graphicFrameLocks noChangeAspect="1"/>
          </p:cNvGraphicFramePr>
          <p:nvPr/>
        </p:nvGraphicFramePr>
        <p:xfrm>
          <a:off x="2743200" y="6019800"/>
          <a:ext cx="10350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761669" imgH="406224" progId="Equation.3">
                  <p:embed/>
                </p:oleObj>
              </mc:Choice>
              <mc:Fallback>
                <p:oleObj name="Equation" r:id="rId5" imgW="76166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6019800"/>
                        <a:ext cx="1035050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87"/>
          <p:cNvGraphicFramePr>
            <a:graphicFrameLocks noChangeAspect="1"/>
          </p:cNvGraphicFramePr>
          <p:nvPr/>
        </p:nvGraphicFramePr>
        <p:xfrm>
          <a:off x="3810000" y="6019801"/>
          <a:ext cx="139223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888614" imgH="393529" progId="Equation.3">
                  <p:embed/>
                </p:oleObj>
              </mc:Choice>
              <mc:Fallback>
                <p:oleObj name="Equation" r:id="rId7" imgW="88861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019801"/>
                        <a:ext cx="1392238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88"/>
          <p:cNvGraphicFramePr>
            <a:graphicFrameLocks noChangeAspect="1"/>
          </p:cNvGraphicFramePr>
          <p:nvPr/>
        </p:nvGraphicFramePr>
        <p:xfrm>
          <a:off x="4953000" y="2057401"/>
          <a:ext cx="7620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380670" imgH="177646" progId="Equation.3">
                  <p:embed/>
                </p:oleObj>
              </mc:Choice>
              <mc:Fallback>
                <p:oleObj name="Equation" r:id="rId9" imgW="380670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57401"/>
                        <a:ext cx="7620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89"/>
          <p:cNvGraphicFramePr>
            <a:graphicFrameLocks noChangeAspect="1"/>
          </p:cNvGraphicFramePr>
          <p:nvPr/>
        </p:nvGraphicFramePr>
        <p:xfrm>
          <a:off x="6400800" y="6096001"/>
          <a:ext cx="22860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1409700" imgH="228600" progId="Equation.3">
                  <p:embed/>
                </p:oleObj>
              </mc:Choice>
              <mc:Fallback>
                <p:oleObj name="Equation" r:id="rId11" imgW="1409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6001"/>
                        <a:ext cx="2286000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90"/>
          <p:cNvGraphicFramePr>
            <a:graphicFrameLocks noChangeAspect="1"/>
          </p:cNvGraphicFramePr>
          <p:nvPr/>
        </p:nvGraphicFramePr>
        <p:xfrm>
          <a:off x="5943600" y="2057401"/>
          <a:ext cx="685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393359" imgH="215713" progId="Equation.3">
                  <p:embed/>
                </p:oleObj>
              </mc:Choice>
              <mc:Fallback>
                <p:oleObj name="Equation" r:id="rId13" imgW="393359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057401"/>
                        <a:ext cx="685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91"/>
          <p:cNvGraphicFramePr>
            <a:graphicFrameLocks noChangeAspect="1"/>
          </p:cNvGraphicFramePr>
          <p:nvPr/>
        </p:nvGraphicFramePr>
        <p:xfrm>
          <a:off x="6781800" y="2057400"/>
          <a:ext cx="15748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965200" imgH="228600" progId="Equation.3">
                  <p:embed/>
                </p:oleObj>
              </mc:Choice>
              <mc:Fallback>
                <p:oleObj name="Equation" r:id="rId15" imgW="965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057400"/>
                        <a:ext cx="1574800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2"/>
          <p:cNvGraphicFramePr>
            <a:graphicFrameLocks noChangeAspect="1"/>
          </p:cNvGraphicFramePr>
          <p:nvPr/>
        </p:nvGraphicFramePr>
        <p:xfrm>
          <a:off x="8763000" y="5943600"/>
          <a:ext cx="19050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1066800" imgH="330200" progId="Equation.3">
                  <p:embed/>
                </p:oleObj>
              </mc:Choice>
              <mc:Fallback>
                <p:oleObj name="Equation" r:id="rId17" imgW="10668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943600"/>
                        <a:ext cx="1905000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93"/>
          <p:cNvGraphicFramePr>
            <a:graphicFrameLocks noChangeAspect="1"/>
          </p:cNvGraphicFramePr>
          <p:nvPr/>
        </p:nvGraphicFramePr>
        <p:xfrm>
          <a:off x="8915400" y="1905001"/>
          <a:ext cx="9144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9" imgW="558558" imgH="317362" progId="Equation.3">
                  <p:embed/>
                </p:oleObj>
              </mc:Choice>
              <mc:Fallback>
                <p:oleObj name="Equation" r:id="rId19" imgW="558558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1905001"/>
                        <a:ext cx="914400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08" name="Text Box 94"/>
          <p:cNvSpPr txBox="1">
            <a:spLocks noChangeArrowheads="1"/>
          </p:cNvSpPr>
          <p:nvPr/>
        </p:nvSpPr>
        <p:spPr bwMode="auto">
          <a:xfrm>
            <a:off x="1828800" y="1066800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0033CC"/>
                </a:solidFill>
              </a:rPr>
              <a:t>We need:</a:t>
            </a:r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17419" name="Object 95"/>
          <p:cNvGraphicFramePr>
            <a:graphicFrameLocks noChangeAspect="1"/>
          </p:cNvGraphicFramePr>
          <p:nvPr/>
        </p:nvGraphicFramePr>
        <p:xfrm>
          <a:off x="3962401" y="1143001"/>
          <a:ext cx="185261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1143000" imgH="228600" progId="Equation.3">
                  <p:embed/>
                </p:oleObj>
              </mc:Choice>
              <mc:Fallback>
                <p:oleObj name="Equation" r:id="rId21" imgW="1143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143001"/>
                        <a:ext cx="1852613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96"/>
          <p:cNvGraphicFramePr>
            <a:graphicFrameLocks noChangeAspect="1"/>
          </p:cNvGraphicFramePr>
          <p:nvPr/>
        </p:nvGraphicFramePr>
        <p:xfrm>
          <a:off x="6400801" y="990600"/>
          <a:ext cx="12477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698500" imgH="330200" progId="Equation.3">
                  <p:embed/>
                </p:oleObj>
              </mc:Choice>
              <mc:Fallback>
                <p:oleObj name="Equation" r:id="rId23" imgW="6985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990600"/>
                        <a:ext cx="1247775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09" name="Text Box 97"/>
          <p:cNvSpPr txBox="1">
            <a:spLocks noChangeArrowheads="1"/>
          </p:cNvSpPr>
          <p:nvPr/>
        </p:nvSpPr>
        <p:spPr bwMode="auto">
          <a:xfrm>
            <a:off x="5791200" y="10668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and</a:t>
            </a:r>
          </a:p>
        </p:txBody>
      </p:sp>
      <p:graphicFrame>
        <p:nvGraphicFramePr>
          <p:cNvPr id="17421" name="Object 98"/>
          <p:cNvGraphicFramePr>
            <a:graphicFrameLocks noChangeAspect="1"/>
          </p:cNvGraphicFramePr>
          <p:nvPr/>
        </p:nvGraphicFramePr>
        <p:xfrm>
          <a:off x="3246439" y="1143001"/>
          <a:ext cx="3079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190335" imgH="215713" progId="Equation.3">
                  <p:embed/>
                </p:oleObj>
              </mc:Choice>
              <mc:Fallback>
                <p:oleObj name="Equation" r:id="rId25" imgW="190335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9" y="1143001"/>
                        <a:ext cx="30797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99"/>
          <p:cNvGraphicFramePr>
            <a:graphicFrameLocks noChangeAspect="1"/>
          </p:cNvGraphicFramePr>
          <p:nvPr/>
        </p:nvGraphicFramePr>
        <p:xfrm>
          <a:off x="3657601" y="1143001"/>
          <a:ext cx="3079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190417" imgH="203112" progId="Equation.3">
                  <p:embed/>
                </p:oleObj>
              </mc:Choice>
              <mc:Fallback>
                <p:oleObj name="Equation" r:id="rId27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1143001"/>
                        <a:ext cx="307975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00"/>
          <p:cNvGraphicFramePr>
            <a:graphicFrameLocks noChangeAspect="1"/>
          </p:cNvGraphicFramePr>
          <p:nvPr/>
        </p:nvGraphicFramePr>
        <p:xfrm>
          <a:off x="3124201" y="1752600"/>
          <a:ext cx="2587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29" imgW="139579" imgH="164957" progId="Equation.3">
                  <p:embed/>
                </p:oleObj>
              </mc:Choice>
              <mc:Fallback>
                <p:oleObj name="Equation" r:id="rId29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1752600"/>
                        <a:ext cx="258763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01"/>
          <p:cNvGraphicFramePr>
            <a:graphicFrameLocks noChangeAspect="1"/>
          </p:cNvGraphicFramePr>
          <p:nvPr/>
        </p:nvGraphicFramePr>
        <p:xfrm>
          <a:off x="4191000" y="1752600"/>
          <a:ext cx="304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31" imgW="126835" imgH="139518" progId="Equation.3">
                  <p:embed/>
                </p:oleObj>
              </mc:Choice>
              <mc:Fallback>
                <p:oleObj name="Equation" r:id="rId31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752600"/>
                        <a:ext cx="3048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272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09750" y="1143000"/>
            <a:ext cx="840105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>
                <a:solidFill>
                  <a:srgbClr val="0033CC"/>
                </a:solidFill>
              </a:rPr>
              <a:t>REGRESSION LINE (LINE OF BEST FIT):</a:t>
            </a:r>
          </a:p>
          <a:p>
            <a:pPr eaLnBrk="1" hangingPunct="1"/>
            <a:endParaRPr lang="en-US" smtClean="0">
              <a:solidFill>
                <a:srgbClr val="0033CC"/>
              </a:solidFill>
            </a:endParaRP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r>
              <a:rPr lang="en-US" smtClean="0"/>
              <a:t> </a:t>
            </a:r>
          </a:p>
          <a:p>
            <a:pPr eaLnBrk="1" hangingPunct="1">
              <a:buFontTx/>
              <a:buNone/>
            </a:pPr>
            <a:endParaRPr lang="en-US" smtClean="0"/>
          </a:p>
          <a:p>
            <a:pPr eaLnBrk="1" hangingPunct="1">
              <a:buFontTx/>
              <a:buNone/>
            </a:pPr>
            <a:endParaRPr lang="en-US" sz="1800"/>
          </a:p>
          <a:p>
            <a:pPr eaLnBrk="1" hangingPunct="1">
              <a:buFontTx/>
              <a:buNone/>
            </a:pPr>
            <a:r>
              <a:rPr lang="en-US" sz="2000">
                <a:solidFill>
                  <a:srgbClr val="FF0066"/>
                </a:solidFill>
                <a:latin typeface="Comic Sans MS" pitchFamily="66" charset="0"/>
              </a:rPr>
              <a:t>a =2.87    b = .97</a:t>
            </a:r>
          </a:p>
        </p:txBody>
      </p:sp>
      <p:sp>
        <p:nvSpPr>
          <p:cNvPr id="18439" name="AutoShape 3"/>
          <p:cNvSpPr>
            <a:spLocks/>
          </p:cNvSpPr>
          <p:nvPr/>
        </p:nvSpPr>
        <p:spPr bwMode="auto">
          <a:xfrm>
            <a:off x="4191001" y="2171701"/>
            <a:ext cx="404813" cy="1495425"/>
          </a:xfrm>
          <a:prstGeom prst="leftBrace">
            <a:avLst>
              <a:gd name="adj1" fmla="val 3056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4800601" y="1706564"/>
          <a:ext cx="4549775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2311400" imgH="584200" progId="Equation.3">
                  <p:embed/>
                </p:oleObj>
              </mc:Choice>
              <mc:Fallback>
                <p:oleObj name="Equation" r:id="rId3" imgW="23114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1706564"/>
                        <a:ext cx="4549775" cy="1150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5"/>
          <p:cNvGraphicFramePr>
            <a:graphicFrameLocks noChangeAspect="1"/>
          </p:cNvGraphicFramePr>
          <p:nvPr/>
        </p:nvGraphicFramePr>
        <p:xfrm>
          <a:off x="4724401" y="3238500"/>
          <a:ext cx="48053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1790700" imgH="241300" progId="Equation.3">
                  <p:embed/>
                </p:oleObj>
              </mc:Choice>
              <mc:Fallback>
                <p:oleObj name="Equation" r:id="rId5" imgW="17907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238500"/>
                        <a:ext cx="4805363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6"/>
          <p:cNvSpPr>
            <a:spLocks noChangeArrowheads="1"/>
          </p:cNvSpPr>
          <p:nvPr/>
        </p:nvSpPr>
        <p:spPr bwMode="auto">
          <a:xfrm>
            <a:off x="28956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sz="4400" b="1" i="1">
              <a:solidFill>
                <a:srgbClr val="000000"/>
              </a:solidFill>
            </a:endParaRPr>
          </a:p>
        </p:txBody>
      </p:sp>
      <p:pic>
        <p:nvPicPr>
          <p:cNvPr id="18441" name="Picture 7" descr="MENO07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351838" y="4267200"/>
            <a:ext cx="2316162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8436" name="Object 8"/>
          <p:cNvGraphicFramePr>
            <a:graphicFrameLocks noChangeAspect="1"/>
          </p:cNvGraphicFramePr>
          <p:nvPr/>
        </p:nvGraphicFramePr>
        <p:xfrm>
          <a:off x="2133600" y="4881563"/>
          <a:ext cx="39560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8" imgW="952087" imgH="203112" progId="Equation.3">
                  <p:embed/>
                </p:oleObj>
              </mc:Choice>
              <mc:Fallback>
                <p:oleObj name="Equation" r:id="rId8" imgW="95208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81563"/>
                        <a:ext cx="3956050" cy="8445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9"/>
          <p:cNvGraphicFramePr>
            <a:graphicFrameLocks noChangeAspect="1"/>
          </p:cNvGraphicFramePr>
          <p:nvPr/>
        </p:nvGraphicFramePr>
        <p:xfrm>
          <a:off x="1828800" y="2524126"/>
          <a:ext cx="23622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10" imgW="647419" imgH="203112" progId="Equation.3">
                  <p:embed/>
                </p:oleObj>
              </mc:Choice>
              <mc:Fallback>
                <p:oleObj name="Equation" r:id="rId10" imgW="64741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524126"/>
                        <a:ext cx="2362200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Line 10"/>
          <p:cNvSpPr>
            <a:spLocks noChangeShapeType="1"/>
          </p:cNvSpPr>
          <p:nvPr/>
        </p:nvSpPr>
        <p:spPr bwMode="auto">
          <a:xfrm flipV="1">
            <a:off x="3167064" y="5567364"/>
            <a:ext cx="185737" cy="43338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3024188" y="5472113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?</a:t>
            </a:r>
          </a:p>
        </p:txBody>
      </p:sp>
      <p:sp>
        <p:nvSpPr>
          <p:cNvPr id="49164" name="Text Box 12"/>
          <p:cNvSpPr txBox="1">
            <a:spLocks noChangeArrowheads="1"/>
          </p:cNvSpPr>
          <p:nvPr/>
        </p:nvSpPr>
        <p:spPr bwMode="auto">
          <a:xfrm>
            <a:off x="2524125" y="6000750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Y-Intercept</a:t>
            </a: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V="1">
            <a:off x="5181600" y="5567363"/>
            <a:ext cx="76200" cy="6096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4953000" y="55626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?</a:t>
            </a:r>
          </a:p>
        </p:txBody>
      </p:sp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4452938" y="6172200"/>
            <a:ext cx="312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Regression Coefficient</a:t>
            </a: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  <a:noFill/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</a:t>
            </a: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sp>
        <p:nvSpPr>
          <p:cNvPr id="18449" name="Oval 16"/>
          <p:cNvSpPr>
            <a:spLocks noChangeArrowheads="1"/>
          </p:cNvSpPr>
          <p:nvPr/>
        </p:nvSpPr>
        <p:spPr bwMode="auto">
          <a:xfrm>
            <a:off x="8674101" y="1916114"/>
            <a:ext cx="792163" cy="504825"/>
          </a:xfrm>
          <a:prstGeom prst="ellipse">
            <a:avLst/>
          </a:prstGeom>
          <a:noFill/>
          <a:ln w="28575" algn="ctr">
            <a:solidFill>
              <a:srgbClr val="FF0066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450" name="Oval 17"/>
          <p:cNvSpPr>
            <a:spLocks noChangeArrowheads="1"/>
          </p:cNvSpPr>
          <p:nvPr/>
        </p:nvSpPr>
        <p:spPr bwMode="auto">
          <a:xfrm>
            <a:off x="8813801" y="3357564"/>
            <a:ext cx="792163" cy="503237"/>
          </a:xfrm>
          <a:prstGeom prst="ellipse">
            <a:avLst/>
          </a:prstGeom>
          <a:noFill/>
          <a:ln w="28575" algn="ctr">
            <a:solidFill>
              <a:srgbClr val="FF0066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8451" name="Straight Arrow Connector 19"/>
          <p:cNvCxnSpPr>
            <a:cxnSpLocks noChangeShapeType="1"/>
            <a:stCxn id="18449" idx="3"/>
          </p:cNvCxnSpPr>
          <p:nvPr/>
        </p:nvCxnSpPr>
        <p:spPr bwMode="auto">
          <a:xfrm rot="5400000">
            <a:off x="7621588" y="2189163"/>
            <a:ext cx="1011238" cy="1325563"/>
          </a:xfrm>
          <a:prstGeom prst="straightConnector1">
            <a:avLst/>
          </a:prstGeom>
          <a:noFill/>
          <a:ln w="9525" algn="ctr">
            <a:solidFill>
              <a:srgbClr val="FF0066"/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15128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4" grpId="0" autoUpdateAnimBg="0"/>
      <p:bldP spid="4916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ChangeArrowheads="1"/>
          </p:cNvSpPr>
          <p:nvPr/>
        </p:nvSpPr>
        <p:spPr bwMode="auto">
          <a:xfrm>
            <a:off x="2895600" y="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sz="3200" b="1" i="1">
              <a:solidFill>
                <a:srgbClr val="000000"/>
              </a:solidFill>
            </a:endParaRPr>
          </a:p>
          <a:p>
            <a:r>
              <a:rPr lang="en-US" sz="3200" b="1" i="1">
                <a:solidFill>
                  <a:srgbClr val="000000"/>
                </a:solidFill>
              </a:rPr>
              <a:t>Simple and Multiple Regression Analysis</a:t>
            </a:r>
            <a:r>
              <a:rPr lang="en-US" sz="3200" b="1" i="1">
                <a:solidFill>
                  <a:srgbClr val="CC6600"/>
                </a:solidFill>
              </a:rPr>
              <a:t/>
            </a:r>
            <a:br>
              <a:rPr lang="en-US" sz="3200" b="1" i="1">
                <a:solidFill>
                  <a:srgbClr val="CC6600"/>
                </a:solidFill>
              </a:rPr>
            </a:br>
            <a:endParaRPr lang="en-US" sz="3200" b="1" i="1">
              <a:solidFill>
                <a:srgbClr val="CC6600"/>
              </a:solidFill>
            </a:endParaRPr>
          </a:p>
        </p:txBody>
      </p:sp>
      <p:sp>
        <p:nvSpPr>
          <p:cNvPr id="19461" name="Line 3"/>
          <p:cNvSpPr>
            <a:spLocks noChangeShapeType="1"/>
          </p:cNvSpPr>
          <p:nvPr/>
        </p:nvSpPr>
        <p:spPr bwMode="auto">
          <a:xfrm>
            <a:off x="2743200" y="914400"/>
            <a:ext cx="0" cy="510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2" name="Text Box 4"/>
          <p:cNvSpPr txBox="1">
            <a:spLocks noChangeArrowheads="1"/>
          </p:cNvSpPr>
          <p:nvPr/>
        </p:nvSpPr>
        <p:spPr bwMode="auto">
          <a:xfrm>
            <a:off x="2209800" y="1219201"/>
            <a:ext cx="8382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9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8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7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6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0</a:t>
            </a:r>
          </a:p>
          <a:p>
            <a:pPr>
              <a:spcBef>
                <a:spcPct val="50000"/>
              </a:spcBef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19463" name="Line 5"/>
          <p:cNvSpPr>
            <a:spLocks noChangeShapeType="1"/>
          </p:cNvSpPr>
          <p:nvPr/>
        </p:nvSpPr>
        <p:spPr bwMode="auto">
          <a:xfrm>
            <a:off x="2743200" y="2819400"/>
            <a:ext cx="6248400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4" name="Line 6"/>
          <p:cNvSpPr>
            <a:spLocks noChangeShapeType="1"/>
          </p:cNvSpPr>
          <p:nvPr/>
        </p:nvSpPr>
        <p:spPr bwMode="auto">
          <a:xfrm>
            <a:off x="2667000" y="1371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5" name="Line 7"/>
          <p:cNvSpPr>
            <a:spLocks noChangeShapeType="1"/>
          </p:cNvSpPr>
          <p:nvPr/>
        </p:nvSpPr>
        <p:spPr bwMode="auto">
          <a:xfrm>
            <a:off x="2667000" y="1828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6" name="Line 8"/>
          <p:cNvSpPr>
            <a:spLocks noChangeShapeType="1"/>
          </p:cNvSpPr>
          <p:nvPr/>
        </p:nvSpPr>
        <p:spPr bwMode="auto">
          <a:xfrm>
            <a:off x="2667000" y="2362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7" name="Line 9"/>
          <p:cNvSpPr>
            <a:spLocks noChangeShapeType="1"/>
          </p:cNvSpPr>
          <p:nvPr/>
        </p:nvSpPr>
        <p:spPr bwMode="auto">
          <a:xfrm>
            <a:off x="26670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8" name="Line 10"/>
          <p:cNvSpPr>
            <a:spLocks noChangeShapeType="1"/>
          </p:cNvSpPr>
          <p:nvPr/>
        </p:nvSpPr>
        <p:spPr bwMode="auto">
          <a:xfrm>
            <a:off x="26670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9" name="Line 11"/>
          <p:cNvSpPr>
            <a:spLocks noChangeShapeType="1"/>
          </p:cNvSpPr>
          <p:nvPr/>
        </p:nvSpPr>
        <p:spPr bwMode="auto">
          <a:xfrm>
            <a:off x="2667000" y="4191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0" name="Line 12"/>
          <p:cNvSpPr>
            <a:spLocks noChangeShapeType="1"/>
          </p:cNvSpPr>
          <p:nvPr/>
        </p:nvSpPr>
        <p:spPr bwMode="auto">
          <a:xfrm>
            <a:off x="26670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1" name="Line 13"/>
          <p:cNvSpPr>
            <a:spLocks noChangeShapeType="1"/>
          </p:cNvSpPr>
          <p:nvPr/>
        </p:nvSpPr>
        <p:spPr bwMode="auto">
          <a:xfrm>
            <a:off x="2667000" y="510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2" name="Line 14"/>
          <p:cNvSpPr>
            <a:spLocks noChangeShapeType="1"/>
          </p:cNvSpPr>
          <p:nvPr/>
        </p:nvSpPr>
        <p:spPr bwMode="auto">
          <a:xfrm>
            <a:off x="2667000" y="5562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3" name="Oval 15"/>
          <p:cNvSpPr>
            <a:spLocks noChangeArrowheads="1"/>
          </p:cNvSpPr>
          <p:nvPr/>
        </p:nvSpPr>
        <p:spPr bwMode="auto">
          <a:xfrm>
            <a:off x="4267200" y="4114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048" name="Text Box 16"/>
          <p:cNvSpPr txBox="1">
            <a:spLocks noChangeArrowheads="1"/>
          </p:cNvSpPr>
          <p:nvPr/>
        </p:nvSpPr>
        <p:spPr bwMode="auto">
          <a:xfrm>
            <a:off x="4314825" y="41148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F1</a:t>
            </a:r>
          </a:p>
        </p:txBody>
      </p:sp>
      <p:sp>
        <p:nvSpPr>
          <p:cNvPr id="19475" name="Oval 17"/>
          <p:cNvSpPr>
            <a:spLocks noChangeArrowheads="1"/>
          </p:cNvSpPr>
          <p:nvPr/>
        </p:nvSpPr>
        <p:spPr bwMode="auto">
          <a:xfrm>
            <a:off x="4343400" y="2743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6" name="Oval 18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7" name="Oval 19"/>
          <p:cNvSpPr>
            <a:spLocks noChangeArrowheads="1"/>
          </p:cNvSpPr>
          <p:nvPr/>
        </p:nvSpPr>
        <p:spPr bwMode="auto">
          <a:xfrm>
            <a:off x="6248400" y="2743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8" name="Oval 20"/>
          <p:cNvSpPr>
            <a:spLocks noChangeArrowheads="1"/>
          </p:cNvSpPr>
          <p:nvPr/>
        </p:nvSpPr>
        <p:spPr bwMode="auto">
          <a:xfrm>
            <a:off x="81534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9" name="Oval 21"/>
          <p:cNvSpPr>
            <a:spLocks noChangeArrowheads="1"/>
          </p:cNvSpPr>
          <p:nvPr/>
        </p:nvSpPr>
        <p:spPr bwMode="auto">
          <a:xfrm>
            <a:off x="7162800" y="2781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80" name="Oval 22"/>
          <p:cNvSpPr>
            <a:spLocks noChangeArrowheads="1"/>
          </p:cNvSpPr>
          <p:nvPr/>
        </p:nvSpPr>
        <p:spPr bwMode="auto">
          <a:xfrm>
            <a:off x="71628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81" name="Oval 23"/>
          <p:cNvSpPr>
            <a:spLocks noChangeArrowheads="1"/>
          </p:cNvSpPr>
          <p:nvPr/>
        </p:nvSpPr>
        <p:spPr bwMode="auto">
          <a:xfrm>
            <a:off x="8153400" y="1295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056" name="Text Box 24"/>
          <p:cNvSpPr txBox="1">
            <a:spLocks noChangeArrowheads="1"/>
          </p:cNvSpPr>
          <p:nvPr/>
        </p:nvSpPr>
        <p:spPr bwMode="auto">
          <a:xfrm>
            <a:off x="3895725" y="230505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F2</a:t>
            </a:r>
          </a:p>
        </p:txBody>
      </p:sp>
      <p:sp>
        <p:nvSpPr>
          <p:cNvPr id="44057" name="Text Box 25"/>
          <p:cNvSpPr txBox="1">
            <a:spLocks noChangeArrowheads="1"/>
          </p:cNvSpPr>
          <p:nvPr/>
        </p:nvSpPr>
        <p:spPr bwMode="auto">
          <a:xfrm>
            <a:off x="6172200" y="325755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F3</a:t>
            </a:r>
          </a:p>
        </p:txBody>
      </p:sp>
      <p:sp>
        <p:nvSpPr>
          <p:cNvPr id="44058" name="Text Box 26"/>
          <p:cNvSpPr txBox="1">
            <a:spLocks noChangeArrowheads="1"/>
          </p:cNvSpPr>
          <p:nvPr/>
        </p:nvSpPr>
        <p:spPr bwMode="auto">
          <a:xfrm>
            <a:off x="5815013" y="2319338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F4</a:t>
            </a:r>
          </a:p>
        </p:txBody>
      </p:sp>
      <p:sp>
        <p:nvSpPr>
          <p:cNvPr id="44059" name="Text Box 27"/>
          <p:cNvSpPr txBox="1">
            <a:spLocks noChangeArrowheads="1"/>
          </p:cNvSpPr>
          <p:nvPr/>
        </p:nvSpPr>
        <p:spPr bwMode="auto">
          <a:xfrm>
            <a:off x="7186613" y="188595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F5</a:t>
            </a:r>
          </a:p>
        </p:txBody>
      </p:sp>
      <p:sp>
        <p:nvSpPr>
          <p:cNvPr id="44060" name="Text Box 28"/>
          <p:cNvSpPr txBox="1">
            <a:spLocks noChangeArrowheads="1"/>
          </p:cNvSpPr>
          <p:nvPr/>
        </p:nvSpPr>
        <p:spPr bwMode="auto">
          <a:xfrm>
            <a:off x="7148513" y="2805113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F6</a:t>
            </a:r>
          </a:p>
        </p:txBody>
      </p:sp>
      <p:sp>
        <p:nvSpPr>
          <p:cNvPr id="44061" name="Text Box 29"/>
          <p:cNvSpPr txBox="1">
            <a:spLocks noChangeArrowheads="1"/>
          </p:cNvSpPr>
          <p:nvPr/>
        </p:nvSpPr>
        <p:spPr bwMode="auto">
          <a:xfrm>
            <a:off x="8262938" y="2057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F7</a:t>
            </a:r>
          </a:p>
        </p:txBody>
      </p:sp>
      <p:sp>
        <p:nvSpPr>
          <p:cNvPr id="44062" name="Text Box 30"/>
          <p:cNvSpPr txBox="1">
            <a:spLocks noChangeArrowheads="1"/>
          </p:cNvSpPr>
          <p:nvPr/>
        </p:nvSpPr>
        <p:spPr bwMode="auto">
          <a:xfrm>
            <a:off x="7596188" y="9906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F8</a:t>
            </a:r>
          </a:p>
        </p:txBody>
      </p:sp>
      <p:sp>
        <p:nvSpPr>
          <p:cNvPr id="19489" name="Line 31"/>
          <p:cNvSpPr>
            <a:spLocks noChangeShapeType="1"/>
          </p:cNvSpPr>
          <p:nvPr/>
        </p:nvSpPr>
        <p:spPr bwMode="auto">
          <a:xfrm>
            <a:off x="2743200" y="6019800"/>
            <a:ext cx="647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064" name="Text Box 32"/>
          <p:cNvSpPr txBox="1">
            <a:spLocks noChangeArrowheads="1"/>
          </p:cNvSpPr>
          <p:nvPr/>
        </p:nvSpPr>
        <p:spPr bwMode="auto">
          <a:xfrm rot="-5437271">
            <a:off x="723900" y="2634734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 Of Credit Cards</a:t>
            </a:r>
          </a:p>
        </p:txBody>
      </p:sp>
      <p:sp>
        <p:nvSpPr>
          <p:cNvPr id="44065" name="Text Box 33"/>
          <p:cNvSpPr txBox="1">
            <a:spLocks noChangeArrowheads="1"/>
          </p:cNvSpPr>
          <p:nvPr/>
        </p:nvSpPr>
        <p:spPr bwMode="auto">
          <a:xfrm>
            <a:off x="1905000" y="990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</a:p>
        </p:txBody>
      </p:sp>
      <p:sp>
        <p:nvSpPr>
          <p:cNvPr id="19492" name="Text Box 34"/>
          <p:cNvSpPr txBox="1">
            <a:spLocks noChangeArrowheads="1"/>
          </p:cNvSpPr>
          <p:nvPr/>
        </p:nvSpPr>
        <p:spPr bwMode="auto">
          <a:xfrm>
            <a:off x="3352800" y="6019800"/>
            <a:ext cx="624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1	2	3	4	5	6	7</a:t>
            </a:r>
          </a:p>
        </p:txBody>
      </p:sp>
      <p:sp>
        <p:nvSpPr>
          <p:cNvPr id="19493" name="Line 35"/>
          <p:cNvSpPr>
            <a:spLocks noChangeShapeType="1"/>
          </p:cNvSpPr>
          <p:nvPr/>
        </p:nvSpPr>
        <p:spPr bwMode="auto">
          <a:xfrm>
            <a:off x="35052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94" name="Line 36"/>
          <p:cNvSpPr>
            <a:spLocks noChangeShapeType="1"/>
          </p:cNvSpPr>
          <p:nvPr/>
        </p:nvSpPr>
        <p:spPr bwMode="auto">
          <a:xfrm>
            <a:off x="44196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95" name="Line 37"/>
          <p:cNvSpPr>
            <a:spLocks noChangeShapeType="1"/>
          </p:cNvSpPr>
          <p:nvPr/>
        </p:nvSpPr>
        <p:spPr bwMode="auto">
          <a:xfrm>
            <a:off x="53340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96" name="Line 38"/>
          <p:cNvSpPr>
            <a:spLocks noChangeShapeType="1"/>
          </p:cNvSpPr>
          <p:nvPr/>
        </p:nvSpPr>
        <p:spPr bwMode="auto">
          <a:xfrm>
            <a:off x="62484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97" name="Line 39"/>
          <p:cNvSpPr>
            <a:spLocks noChangeShapeType="1"/>
          </p:cNvSpPr>
          <p:nvPr/>
        </p:nvSpPr>
        <p:spPr bwMode="auto">
          <a:xfrm>
            <a:off x="71628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98" name="Line 40"/>
          <p:cNvSpPr>
            <a:spLocks noChangeShapeType="1"/>
          </p:cNvSpPr>
          <p:nvPr/>
        </p:nvSpPr>
        <p:spPr bwMode="auto">
          <a:xfrm>
            <a:off x="80772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99" name="Line 41"/>
          <p:cNvSpPr>
            <a:spLocks noChangeShapeType="1"/>
          </p:cNvSpPr>
          <p:nvPr/>
        </p:nvSpPr>
        <p:spPr bwMode="auto">
          <a:xfrm>
            <a:off x="89916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074" name="Text Box 42"/>
          <p:cNvSpPr txBox="1">
            <a:spLocks noChangeArrowheads="1"/>
          </p:cNvSpPr>
          <p:nvPr/>
        </p:nvSpPr>
        <p:spPr bwMode="auto">
          <a:xfrm>
            <a:off x="9372600" y="2590801"/>
            <a:ext cx="1295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b="1" dirty="0">
                <a:solidFill>
                  <a:srgbClr val="66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Original (Baseline) Estimate</a:t>
            </a:r>
          </a:p>
        </p:txBody>
      </p:sp>
      <p:sp>
        <p:nvSpPr>
          <p:cNvPr id="44075" name="Text Box 43"/>
          <p:cNvSpPr txBox="1">
            <a:spLocks noChangeArrowheads="1"/>
          </p:cNvSpPr>
          <p:nvPr/>
        </p:nvSpPr>
        <p:spPr bwMode="auto">
          <a:xfrm>
            <a:off x="9296400" y="5791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</a:p>
        </p:txBody>
      </p:sp>
      <p:sp>
        <p:nvSpPr>
          <p:cNvPr id="44076" name="Text Box 44"/>
          <p:cNvSpPr txBox="1">
            <a:spLocks noChangeArrowheads="1"/>
          </p:cNvSpPr>
          <p:nvPr/>
        </p:nvSpPr>
        <p:spPr bwMode="auto">
          <a:xfrm>
            <a:off x="8077200" y="6400800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Family Size</a:t>
            </a:r>
          </a:p>
        </p:txBody>
      </p:sp>
      <p:sp>
        <p:nvSpPr>
          <p:cNvPr id="19503" name="Line 50"/>
          <p:cNvSpPr>
            <a:spLocks noChangeShapeType="1"/>
          </p:cNvSpPr>
          <p:nvPr/>
        </p:nvSpPr>
        <p:spPr bwMode="auto">
          <a:xfrm flipV="1">
            <a:off x="2743200" y="1447800"/>
            <a:ext cx="6553200" cy="33528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9504" name="Picture 51" descr="GRMIAS5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75726" y="3295651"/>
            <a:ext cx="1692275" cy="178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458" name="Object 54"/>
          <p:cNvGraphicFramePr>
            <a:graphicFrameLocks noChangeAspect="1"/>
          </p:cNvGraphicFramePr>
          <p:nvPr/>
        </p:nvGraphicFramePr>
        <p:xfrm>
          <a:off x="8458200" y="1066800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4" imgW="952087" imgH="203112" progId="Equation.3">
                  <p:embed/>
                </p:oleObj>
              </mc:Choice>
              <mc:Fallback>
                <p:oleObj name="Equation" r:id="rId4" imgW="95208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066800"/>
                        <a:ext cx="1905000" cy="406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61"/>
          <p:cNvGraphicFramePr>
            <a:graphicFrameLocks noChangeAspect="1"/>
          </p:cNvGraphicFramePr>
          <p:nvPr/>
        </p:nvGraphicFramePr>
        <p:xfrm>
          <a:off x="8991600" y="2520950"/>
          <a:ext cx="4381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6" imgW="139639" imgH="190417" progId="Equation.3">
                  <p:embed/>
                </p:oleObj>
              </mc:Choice>
              <mc:Fallback>
                <p:oleObj name="Equation" r:id="rId6" imgW="139639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2520950"/>
                        <a:ext cx="43815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04" name="Text Box 72"/>
          <p:cNvSpPr txBox="1">
            <a:spLocks noChangeArrowheads="1"/>
          </p:cNvSpPr>
          <p:nvPr/>
        </p:nvSpPr>
        <p:spPr bwMode="auto">
          <a:xfrm>
            <a:off x="3824289" y="4508501"/>
            <a:ext cx="515143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u="sng" dirty="0">
                <a:solidFill>
                  <a:srgbClr val="FF0000"/>
                </a:solidFill>
              </a:rPr>
              <a:t>Can we tell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how much estimation error</a:t>
            </a:r>
            <a:r>
              <a:rPr lang="en-US" sz="2000" dirty="0">
                <a:solidFill>
                  <a:srgbClr val="FF0000"/>
                </a:solidFill>
              </a:rPr>
              <a:t> we have committed by using the new regression line? </a:t>
            </a:r>
          </a:p>
        </p:txBody>
      </p:sp>
      <p:sp>
        <p:nvSpPr>
          <p:cNvPr id="44105" name="Text Box 73"/>
          <p:cNvSpPr txBox="1">
            <a:spLocks noChangeArrowheads="1"/>
          </p:cNvSpPr>
          <p:nvPr/>
        </p:nvSpPr>
        <p:spPr bwMode="auto">
          <a:xfrm>
            <a:off x="9167813" y="1455738"/>
            <a:ext cx="13716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New Improved Estimates</a:t>
            </a:r>
          </a:p>
        </p:txBody>
      </p:sp>
      <p:sp>
        <p:nvSpPr>
          <p:cNvPr id="44107" name="Oval 75"/>
          <p:cNvSpPr>
            <a:spLocks noChangeArrowheads="1"/>
          </p:cNvSpPr>
          <p:nvPr/>
        </p:nvSpPr>
        <p:spPr bwMode="auto">
          <a:xfrm>
            <a:off x="8140700" y="1968500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108" name="Oval 76"/>
          <p:cNvSpPr>
            <a:spLocks noChangeArrowheads="1"/>
          </p:cNvSpPr>
          <p:nvPr/>
        </p:nvSpPr>
        <p:spPr bwMode="auto">
          <a:xfrm>
            <a:off x="7170738" y="2470150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109" name="Oval 77"/>
          <p:cNvSpPr>
            <a:spLocks noChangeArrowheads="1"/>
          </p:cNvSpPr>
          <p:nvPr/>
        </p:nvSpPr>
        <p:spPr bwMode="auto">
          <a:xfrm>
            <a:off x="6257925" y="2943225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110" name="Oval 78"/>
          <p:cNvSpPr>
            <a:spLocks noChangeArrowheads="1"/>
          </p:cNvSpPr>
          <p:nvPr/>
        </p:nvSpPr>
        <p:spPr bwMode="auto">
          <a:xfrm>
            <a:off x="4271963" y="3957638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111" name="Text Box 79"/>
          <p:cNvSpPr txBox="1">
            <a:spLocks noChangeArrowheads="1"/>
          </p:cNvSpPr>
          <p:nvPr/>
        </p:nvSpPr>
        <p:spPr bwMode="auto">
          <a:xfrm>
            <a:off x="3895726" y="5173664"/>
            <a:ext cx="6448425" cy="7080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>
                <a:solidFill>
                  <a:srgbClr val="6600CC"/>
                </a:solidFill>
                <a:latin typeface="Arial" charset="0"/>
              </a:rPr>
              <a:t>Yes, examine </a:t>
            </a:r>
            <a:r>
              <a:rPr lang="en-US" sz="2000" b="1">
                <a:solidFill>
                  <a:srgbClr val="6600CC"/>
                </a:solidFill>
                <a:latin typeface="Arial" charset="0"/>
              </a:rPr>
              <a:t>differences</a:t>
            </a:r>
            <a:r>
              <a:rPr lang="en-US" sz="2000">
                <a:solidFill>
                  <a:srgbClr val="6600CC"/>
                </a:solidFill>
                <a:latin typeface="Arial" charset="0"/>
              </a:rPr>
              <a:t> between our household’s </a:t>
            </a:r>
            <a:r>
              <a:rPr lang="en-US" sz="2000" b="1">
                <a:solidFill>
                  <a:srgbClr val="6600CC"/>
                </a:solidFill>
                <a:latin typeface="Arial" charset="0"/>
              </a:rPr>
              <a:t>actual</a:t>
            </a:r>
            <a:r>
              <a:rPr lang="en-US" sz="2000">
                <a:solidFill>
                  <a:srgbClr val="6600CC"/>
                </a:solidFill>
                <a:latin typeface="Arial" charset="0"/>
              </a:rPr>
              <a:t> # of CCs and their new/regression </a:t>
            </a:r>
            <a:r>
              <a:rPr lang="en-US" sz="2000" b="1">
                <a:solidFill>
                  <a:srgbClr val="6600CC"/>
                </a:solidFill>
                <a:latin typeface="Arial" charset="0"/>
              </a:rPr>
              <a:t>estimates</a:t>
            </a:r>
            <a:r>
              <a:rPr lang="en-US" sz="2000">
                <a:solidFill>
                  <a:srgbClr val="6600CC"/>
                </a:solidFill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470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07" grpId="0" animBg="1"/>
      <p:bldP spid="44108" grpId="0" animBg="1"/>
      <p:bldP spid="44109" grpId="0" animBg="1"/>
      <p:bldP spid="44110" grpId="0" animBg="1"/>
      <p:bldP spid="441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50332" name="Group 156"/>
          <p:cNvGraphicFramePr>
            <a:graphicFrameLocks noGrp="1"/>
          </p:cNvGraphicFramePr>
          <p:nvPr>
            <p:ph type="tbl" idx="1"/>
          </p:nvPr>
        </p:nvGraphicFramePr>
        <p:xfrm>
          <a:off x="2857500" y="1466851"/>
          <a:ext cx="6667500" cy="4229331"/>
        </p:xfrm>
        <a:graphic>
          <a:graphicData uri="http://schemas.openxmlformats.org/drawingml/2006/table">
            <a:tbl>
              <a:tblPr/>
              <a:tblGrid>
                <a:gridCol w="914400"/>
                <a:gridCol w="1143000"/>
                <a:gridCol w="1066800"/>
                <a:gridCol w="1219200"/>
                <a:gridCol w="1143000"/>
                <a:gridCol w="1181100"/>
              </a:tblGrid>
              <a:tr h="1243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 #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of Credit Cards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9900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Regression Estimate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(Residual)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Errors Squared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82" name="Object 85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90"/>
          <p:cNvGraphicFramePr>
            <a:graphicFrameLocks noChangeAspect="1"/>
          </p:cNvGraphicFramePr>
          <p:nvPr/>
        </p:nvGraphicFramePr>
        <p:xfrm>
          <a:off x="7391400" y="1524000"/>
          <a:ext cx="68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524000"/>
                        <a:ext cx="685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136"/>
          <p:cNvGraphicFramePr>
            <a:graphicFrameLocks noChangeAspect="1"/>
          </p:cNvGraphicFramePr>
          <p:nvPr/>
        </p:nvGraphicFramePr>
        <p:xfrm>
          <a:off x="6443664" y="1524000"/>
          <a:ext cx="2619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139639" imgH="203112" progId="Equation.3">
                  <p:embed/>
                </p:oleObj>
              </mc:Choice>
              <mc:Fallback>
                <p:oleObj name="Equation" r:id="rId7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4" y="1524000"/>
                        <a:ext cx="261937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142"/>
          <p:cNvGraphicFramePr>
            <a:graphicFrameLocks noChangeAspect="1"/>
          </p:cNvGraphicFramePr>
          <p:nvPr/>
        </p:nvGraphicFramePr>
        <p:xfrm>
          <a:off x="8458200" y="1447801"/>
          <a:ext cx="9969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571252" imgH="317362" progId="Equation.3">
                  <p:embed/>
                </p:oleObj>
              </mc:Choice>
              <mc:Fallback>
                <p:oleObj name="Equation" r:id="rId9" imgW="571252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447801"/>
                        <a:ext cx="9969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44"/>
          <p:cNvGraphicFramePr>
            <a:graphicFrameLocks noChangeAspect="1"/>
          </p:cNvGraphicFramePr>
          <p:nvPr/>
        </p:nvGraphicFramePr>
        <p:xfrm>
          <a:off x="4343401" y="990601"/>
          <a:ext cx="19780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952087" imgH="203112" progId="Equation.3">
                  <p:embed/>
                </p:oleObj>
              </mc:Choice>
              <mc:Fallback>
                <p:oleObj name="Equation" r:id="rId11" imgW="95208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990601"/>
                        <a:ext cx="1978025" cy="422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4" name="Line 146"/>
          <p:cNvSpPr>
            <a:spLocks noChangeShapeType="1"/>
          </p:cNvSpPr>
          <p:nvPr/>
        </p:nvSpPr>
        <p:spPr bwMode="auto">
          <a:xfrm flipH="1">
            <a:off x="6781800" y="1143000"/>
            <a:ext cx="838200" cy="1676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565" name="Line 148"/>
          <p:cNvSpPr>
            <a:spLocks noChangeShapeType="1"/>
          </p:cNvSpPr>
          <p:nvPr/>
        </p:nvSpPr>
        <p:spPr bwMode="auto">
          <a:xfrm flipH="1">
            <a:off x="7315200" y="1143000"/>
            <a:ext cx="3048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0487" name="Object 149"/>
          <p:cNvGraphicFramePr>
            <a:graphicFrameLocks noChangeAspect="1"/>
          </p:cNvGraphicFramePr>
          <p:nvPr/>
        </p:nvGraphicFramePr>
        <p:xfrm>
          <a:off x="8534400" y="5638800"/>
          <a:ext cx="13398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710891" imgH="253890" progId="Equation.3">
                  <p:embed/>
                </p:oleObj>
              </mc:Choice>
              <mc:Fallback>
                <p:oleObj name="Equation" r:id="rId13" imgW="710891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5638800"/>
                        <a:ext cx="1339850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6" name="Line 157"/>
          <p:cNvSpPr>
            <a:spLocks noChangeShapeType="1"/>
          </p:cNvSpPr>
          <p:nvPr/>
        </p:nvSpPr>
        <p:spPr bwMode="auto">
          <a:xfrm flipV="1">
            <a:off x="5562600" y="1295400"/>
            <a:ext cx="609600" cy="1524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0488" name="Object 158"/>
          <p:cNvGraphicFramePr>
            <a:graphicFrameLocks noChangeAspect="1"/>
          </p:cNvGraphicFramePr>
          <p:nvPr/>
        </p:nvGraphicFramePr>
        <p:xfrm>
          <a:off x="5257800" y="1600201"/>
          <a:ext cx="234950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126835" imgH="139518" progId="Equation.3">
                  <p:embed/>
                </p:oleObj>
              </mc:Choice>
              <mc:Fallback>
                <p:oleObj name="Equation" r:id="rId15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600201"/>
                        <a:ext cx="234950" cy="22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159"/>
          <p:cNvGraphicFramePr>
            <a:graphicFrameLocks noChangeAspect="1"/>
          </p:cNvGraphicFramePr>
          <p:nvPr/>
        </p:nvGraphicFramePr>
        <p:xfrm>
          <a:off x="4191001" y="1600200"/>
          <a:ext cx="2587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7" imgW="139579" imgH="164957" progId="Equation.3">
                  <p:embed/>
                </p:oleObj>
              </mc:Choice>
              <mc:Fallback>
                <p:oleObj name="Equation" r:id="rId17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1600200"/>
                        <a:ext cx="258763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60"/>
          <p:cNvGraphicFramePr>
            <a:graphicFrameLocks noChangeAspect="1"/>
          </p:cNvGraphicFramePr>
          <p:nvPr/>
        </p:nvGraphicFramePr>
        <p:xfrm>
          <a:off x="7010401" y="990601"/>
          <a:ext cx="2905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19" imgW="139639" imgH="203112" progId="Equation.3">
                  <p:embed/>
                </p:oleObj>
              </mc:Choice>
              <mc:Fallback>
                <p:oleObj name="Equation" r:id="rId19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990601"/>
                        <a:ext cx="290513" cy="422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043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5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77827" name="Group 3"/>
          <p:cNvGraphicFramePr>
            <a:graphicFrameLocks noGrp="1"/>
          </p:cNvGraphicFramePr>
          <p:nvPr>
            <p:ph type="tbl" idx="1"/>
          </p:nvPr>
        </p:nvGraphicFramePr>
        <p:xfrm>
          <a:off x="2857500" y="1466851"/>
          <a:ext cx="6667500" cy="4229331"/>
        </p:xfrm>
        <a:graphic>
          <a:graphicData uri="http://schemas.openxmlformats.org/drawingml/2006/table">
            <a:tbl>
              <a:tblPr/>
              <a:tblGrid>
                <a:gridCol w="914400"/>
                <a:gridCol w="1143000"/>
                <a:gridCol w="1066800"/>
                <a:gridCol w="1219200"/>
                <a:gridCol w="1143000"/>
                <a:gridCol w="1181100"/>
              </a:tblGrid>
              <a:tr h="1243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 #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of Credit Cards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9900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Regression Estimate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(Residual)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Errors Squared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4.81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-.81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.66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4.81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1.19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1.42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6.76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-.76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.58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6.76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.24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.06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7.73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.27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.07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7.73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-.73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.53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8.7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-.7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.49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8.7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1.3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1.69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506" name="Object 75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76"/>
          <p:cNvGraphicFramePr>
            <a:graphicFrameLocks noChangeAspect="1"/>
          </p:cNvGraphicFramePr>
          <p:nvPr/>
        </p:nvGraphicFramePr>
        <p:xfrm>
          <a:off x="7391400" y="1524000"/>
          <a:ext cx="68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524000"/>
                        <a:ext cx="685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77"/>
          <p:cNvGraphicFramePr>
            <a:graphicFrameLocks noChangeAspect="1"/>
          </p:cNvGraphicFramePr>
          <p:nvPr/>
        </p:nvGraphicFramePr>
        <p:xfrm>
          <a:off x="6443664" y="1524000"/>
          <a:ext cx="2619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139639" imgH="203112" progId="Equation.3">
                  <p:embed/>
                </p:oleObj>
              </mc:Choice>
              <mc:Fallback>
                <p:oleObj name="Equation" r:id="rId7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4" y="1524000"/>
                        <a:ext cx="261937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78"/>
          <p:cNvGraphicFramePr>
            <a:graphicFrameLocks noChangeAspect="1"/>
          </p:cNvGraphicFramePr>
          <p:nvPr/>
        </p:nvGraphicFramePr>
        <p:xfrm>
          <a:off x="8458200" y="1447801"/>
          <a:ext cx="9969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571252" imgH="317362" progId="Equation.3">
                  <p:embed/>
                </p:oleObj>
              </mc:Choice>
              <mc:Fallback>
                <p:oleObj name="Equation" r:id="rId9" imgW="571252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1447801"/>
                        <a:ext cx="9969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79"/>
          <p:cNvGraphicFramePr>
            <a:graphicFrameLocks noChangeAspect="1"/>
          </p:cNvGraphicFramePr>
          <p:nvPr/>
        </p:nvGraphicFramePr>
        <p:xfrm>
          <a:off x="1828801" y="990601"/>
          <a:ext cx="19780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952087" imgH="203112" progId="Equation.3">
                  <p:embed/>
                </p:oleObj>
              </mc:Choice>
              <mc:Fallback>
                <p:oleObj name="Equation" r:id="rId11" imgW="95208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990601"/>
                        <a:ext cx="1978025" cy="422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80"/>
          <p:cNvGraphicFramePr>
            <a:graphicFrameLocks noChangeAspect="1"/>
          </p:cNvGraphicFramePr>
          <p:nvPr/>
        </p:nvGraphicFramePr>
        <p:xfrm>
          <a:off x="4191000" y="914401"/>
          <a:ext cx="3124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1459866" imgH="203112" progId="Equation.3">
                  <p:embed/>
                </p:oleObj>
              </mc:Choice>
              <mc:Fallback>
                <p:oleObj name="Equation" r:id="rId13" imgW="145986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914401"/>
                        <a:ext cx="3124200" cy="4349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88" name="Line 81"/>
          <p:cNvSpPr>
            <a:spLocks noChangeShapeType="1"/>
          </p:cNvSpPr>
          <p:nvPr/>
        </p:nvSpPr>
        <p:spPr bwMode="auto">
          <a:xfrm flipH="1">
            <a:off x="6781800" y="1143000"/>
            <a:ext cx="838200" cy="1676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589" name="Line 82"/>
          <p:cNvSpPr>
            <a:spLocks noChangeShapeType="1"/>
          </p:cNvSpPr>
          <p:nvPr/>
        </p:nvSpPr>
        <p:spPr bwMode="auto">
          <a:xfrm flipH="1">
            <a:off x="7315200" y="1143000"/>
            <a:ext cx="3048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1512" name="Object 83"/>
          <p:cNvGraphicFramePr>
            <a:graphicFrameLocks noChangeAspect="1"/>
          </p:cNvGraphicFramePr>
          <p:nvPr/>
        </p:nvGraphicFramePr>
        <p:xfrm>
          <a:off x="8443914" y="5683251"/>
          <a:ext cx="21986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1168400" imgH="228600" progId="Equation.3">
                  <p:embed/>
                </p:oleObj>
              </mc:Choice>
              <mc:Fallback>
                <p:oleObj name="Equation" r:id="rId15" imgW="1168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3914" y="5683251"/>
                        <a:ext cx="2198687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08" name="Text Box 84"/>
          <p:cNvSpPr txBox="1">
            <a:spLocks noChangeArrowheads="1"/>
          </p:cNvSpPr>
          <p:nvPr/>
        </p:nvSpPr>
        <p:spPr bwMode="auto">
          <a:xfrm>
            <a:off x="3095605" y="6021389"/>
            <a:ext cx="5253059" cy="369887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FF0066"/>
                </a:solidFill>
              </a:rPr>
              <a:t>SSE</a:t>
            </a:r>
            <a:r>
              <a:rPr lang="en-US" dirty="0">
                <a:solidFill>
                  <a:srgbClr val="FF0066"/>
                </a:solidFill>
              </a:rPr>
              <a:t> </a:t>
            </a:r>
            <a:r>
              <a:rPr lang="en-US" b="1" dirty="0">
                <a:solidFill>
                  <a:srgbClr val="FF0066"/>
                </a:solidFill>
              </a:rPr>
              <a:t>= Sum of  Squares Error (SS Residual)</a:t>
            </a:r>
          </a:p>
        </p:txBody>
      </p:sp>
      <p:sp>
        <p:nvSpPr>
          <p:cNvPr id="21591" name="Line 85"/>
          <p:cNvSpPr>
            <a:spLocks noChangeShapeType="1"/>
          </p:cNvSpPr>
          <p:nvPr/>
        </p:nvSpPr>
        <p:spPr bwMode="auto">
          <a:xfrm>
            <a:off x="8382000" y="6200775"/>
            <a:ext cx="304800" cy="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592" name="Line 86"/>
          <p:cNvSpPr>
            <a:spLocks noChangeShapeType="1"/>
          </p:cNvSpPr>
          <p:nvPr/>
        </p:nvSpPr>
        <p:spPr bwMode="auto">
          <a:xfrm flipV="1">
            <a:off x="8686800" y="5972175"/>
            <a:ext cx="0" cy="2286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593" name="Line 87"/>
          <p:cNvSpPr>
            <a:spLocks noChangeShapeType="1"/>
          </p:cNvSpPr>
          <p:nvPr/>
        </p:nvSpPr>
        <p:spPr bwMode="auto">
          <a:xfrm flipV="1">
            <a:off x="5562600" y="1295400"/>
            <a:ext cx="609600" cy="15240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1513" name="Object 88"/>
          <p:cNvGraphicFramePr>
            <a:graphicFrameLocks noChangeAspect="1"/>
          </p:cNvGraphicFramePr>
          <p:nvPr/>
        </p:nvGraphicFramePr>
        <p:xfrm>
          <a:off x="5257800" y="1600201"/>
          <a:ext cx="234950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7" imgW="126835" imgH="139518" progId="Equation.3">
                  <p:embed/>
                </p:oleObj>
              </mc:Choice>
              <mc:Fallback>
                <p:oleObj name="Equation" r:id="rId17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600201"/>
                        <a:ext cx="234950" cy="22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89"/>
          <p:cNvGraphicFramePr>
            <a:graphicFrameLocks noChangeAspect="1"/>
          </p:cNvGraphicFramePr>
          <p:nvPr/>
        </p:nvGraphicFramePr>
        <p:xfrm>
          <a:off x="4191001" y="1600200"/>
          <a:ext cx="2587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19" imgW="139579" imgH="164957" progId="Equation.3">
                  <p:embed/>
                </p:oleObj>
              </mc:Choice>
              <mc:Fallback>
                <p:oleObj name="Equation" r:id="rId19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1600200"/>
                        <a:ext cx="258763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883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08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422" y="-179321"/>
            <a:ext cx="7772400" cy="808038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chemeClr val="tx1"/>
                </a:solidFill>
              </a:rPr>
              <a:t>Simple and Multiple Regression Analysis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9939" name="Text Box 4"/>
          <p:cNvSpPr txBox="1">
            <a:spLocks noChangeArrowheads="1"/>
          </p:cNvSpPr>
          <p:nvPr/>
        </p:nvSpPr>
        <p:spPr bwMode="auto">
          <a:xfrm>
            <a:off x="996950" y="681105"/>
            <a:ext cx="8562975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008000"/>
                </a:solidFill>
              </a:rPr>
              <a:t>Total Baseline Error </a:t>
            </a:r>
            <a:r>
              <a:rPr lang="en-US" u="sng" dirty="0">
                <a:solidFill>
                  <a:srgbClr val="008000"/>
                </a:solidFill>
              </a:rPr>
              <a:t>using the mean</a:t>
            </a:r>
            <a:r>
              <a:rPr lang="en-US" dirty="0">
                <a:solidFill>
                  <a:srgbClr val="008000"/>
                </a:solidFill>
              </a:rPr>
              <a:t> (</a:t>
            </a:r>
            <a:r>
              <a:rPr lang="en-US" b="1" dirty="0">
                <a:solidFill>
                  <a:srgbClr val="008000"/>
                </a:solidFill>
              </a:rPr>
              <a:t>SS Total</a:t>
            </a:r>
            <a:r>
              <a:rPr lang="en-US" dirty="0">
                <a:solidFill>
                  <a:srgbClr val="008000"/>
                </a:solidFill>
              </a:rPr>
              <a:t>) </a:t>
            </a:r>
            <a:r>
              <a:rPr lang="en-US" b="1" dirty="0">
                <a:solidFill>
                  <a:srgbClr val="008000"/>
                </a:solidFill>
              </a:rPr>
              <a:t>22.0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FF0000"/>
                </a:solidFill>
              </a:rPr>
              <a:t>New or Remaining Error  (</a:t>
            </a:r>
            <a:r>
              <a:rPr lang="en-US" b="1" dirty="0">
                <a:solidFill>
                  <a:srgbClr val="FF0000"/>
                </a:solidFill>
              </a:rPr>
              <a:t>SS Error </a:t>
            </a:r>
            <a:r>
              <a:rPr lang="en-US" dirty="0">
                <a:solidFill>
                  <a:srgbClr val="FF0000"/>
                </a:solidFill>
              </a:rPr>
              <a:t>or </a:t>
            </a:r>
            <a:r>
              <a:rPr lang="en-US" b="1" dirty="0">
                <a:solidFill>
                  <a:srgbClr val="FF0000"/>
                </a:solidFill>
              </a:rPr>
              <a:t>SS Residual</a:t>
            </a:r>
            <a:r>
              <a:rPr lang="en-US" dirty="0">
                <a:solidFill>
                  <a:srgbClr val="FF0000"/>
                </a:solidFill>
              </a:rPr>
              <a:t>)   </a:t>
            </a:r>
            <a:r>
              <a:rPr lang="en-US" b="1" dirty="0">
                <a:solidFill>
                  <a:srgbClr val="FF0000"/>
                </a:solidFill>
              </a:rPr>
              <a:t>5.486 ~ 5.5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000" b="1" dirty="0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FF0066"/>
                </a:solidFill>
              </a:rPr>
              <a:t>QUESTION:</a:t>
            </a:r>
            <a:r>
              <a:rPr lang="en-US" sz="2000" dirty="0">
                <a:solidFill>
                  <a:srgbClr val="FF0066"/>
                </a:solidFill>
              </a:rPr>
              <a:t>  </a:t>
            </a:r>
            <a:r>
              <a:rPr lang="en-US" sz="2000" u="sng" dirty="0">
                <a:solidFill>
                  <a:srgbClr val="FF0066"/>
                </a:solidFill>
              </a:rPr>
              <a:t>How much</a:t>
            </a:r>
            <a:r>
              <a:rPr lang="en-US" sz="2000" dirty="0">
                <a:solidFill>
                  <a:srgbClr val="FF0066"/>
                </a:solidFill>
              </a:rPr>
              <a:t> of the original estimation error have we </a:t>
            </a:r>
            <a:r>
              <a:rPr lang="en-US" sz="2000" u="sng" dirty="0">
                <a:solidFill>
                  <a:srgbClr val="FF0066"/>
                </a:solidFill>
              </a:rPr>
              <a:t>explained</a:t>
            </a:r>
            <a:r>
              <a:rPr lang="en-US" sz="2000" dirty="0">
                <a:solidFill>
                  <a:srgbClr val="FF0066"/>
                </a:solidFill>
              </a:rPr>
              <a:t/>
            </a:r>
            <a:br>
              <a:rPr lang="en-US" sz="2000" dirty="0">
                <a:solidFill>
                  <a:srgbClr val="FF0066"/>
                </a:solidFill>
              </a:rPr>
            </a:br>
            <a:r>
              <a:rPr lang="en-US" sz="2000" dirty="0">
                <a:solidFill>
                  <a:srgbClr val="FF0066"/>
                </a:solidFill>
              </a:rPr>
              <a:t> away (eliminated) by </a:t>
            </a:r>
            <a:r>
              <a:rPr lang="en-US" sz="2000" u="sng" dirty="0">
                <a:solidFill>
                  <a:srgbClr val="FF0066"/>
                </a:solidFill>
              </a:rPr>
              <a:t>using the regression model </a:t>
            </a:r>
            <a:r>
              <a:rPr lang="en-US" sz="2000" dirty="0">
                <a:solidFill>
                  <a:srgbClr val="FF0066"/>
                </a:solidFill>
              </a:rPr>
              <a:t>(instead of the mean)?</a:t>
            </a:r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1847851" y="4420147"/>
            <a:ext cx="8535988" cy="1289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rgbClr val="0033CC"/>
                </a:solidFill>
              </a:rPr>
              <a:t>16.514 / 22 = .751 or </a:t>
            </a:r>
            <a:r>
              <a:rPr lang="en-US" sz="2000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75%</a:t>
            </a:r>
            <a:r>
              <a:rPr lang="en-US" sz="2000" dirty="0">
                <a:solidFill>
                  <a:srgbClr val="000000"/>
                </a:solidFill>
              </a:rPr>
              <a:t>  </a:t>
            </a:r>
            <a:r>
              <a:rPr lang="en-US" sz="2000" u="sng" dirty="0">
                <a:solidFill>
                  <a:srgbClr val="FF0066"/>
                </a:solidFill>
              </a:rPr>
              <a:t>What is this called?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dirty="0">
                <a:solidFill>
                  <a:srgbClr val="FF0066"/>
                </a:solidFill>
              </a:rPr>
              <a:t>			</a:t>
            </a:r>
            <a:r>
              <a:rPr lang="en-US" sz="2000" u="sng" dirty="0">
                <a:solidFill>
                  <a:srgbClr val="FF0066"/>
                </a:solidFill>
              </a:rPr>
              <a:t>% of differences</a:t>
            </a:r>
            <a:r>
              <a:rPr lang="en-US" sz="2000" dirty="0">
                <a:solidFill>
                  <a:srgbClr val="FF0066"/>
                </a:solidFill>
              </a:rPr>
              <a:t> in # of CCs among households that is 			</a:t>
            </a:r>
            <a:r>
              <a:rPr lang="en-US" sz="2000" u="sng" dirty="0">
                <a:solidFill>
                  <a:srgbClr val="FF0066"/>
                </a:solidFill>
              </a:rPr>
              <a:t>explained by</a:t>
            </a:r>
            <a:r>
              <a:rPr lang="en-US" sz="2000" dirty="0">
                <a:solidFill>
                  <a:srgbClr val="FF0066"/>
                </a:solidFill>
              </a:rPr>
              <a:t> differences in their </a:t>
            </a:r>
            <a:r>
              <a:rPr lang="en-US" sz="2000" u="sng" dirty="0">
                <a:solidFill>
                  <a:srgbClr val="FF0066"/>
                </a:solidFill>
              </a:rPr>
              <a:t>family size.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What does the remaining 25% represent?</a:t>
            </a: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1235870" y="2801065"/>
            <a:ext cx="8458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0033CC"/>
                </a:solidFill>
              </a:rPr>
              <a:t>	22 – 5.486 = </a:t>
            </a:r>
            <a:r>
              <a:rPr lang="en-US" sz="2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16.514</a:t>
            </a:r>
            <a:r>
              <a:rPr lang="en-US" sz="2000" dirty="0">
                <a:solidFill>
                  <a:srgbClr val="0033CC"/>
                </a:solidFill>
              </a:rPr>
              <a:t>  (</a:t>
            </a:r>
            <a:r>
              <a:rPr lang="en-US" sz="2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SS Regression </a:t>
            </a:r>
            <a:r>
              <a:rPr lang="en-US" sz="2000" dirty="0">
                <a:solidFill>
                  <a:srgbClr val="0033CC"/>
                </a:solidFill>
              </a:rPr>
              <a:t>or SS Explained)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000" b="1" dirty="0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rgbClr val="FF0066"/>
                </a:solidFill>
              </a:rPr>
              <a:t>QUESTION:</a:t>
            </a:r>
            <a:r>
              <a:rPr lang="en-US" sz="2000" dirty="0">
                <a:solidFill>
                  <a:srgbClr val="000000"/>
                </a:solidFill>
              </a:rPr>
              <a:t>  </a:t>
            </a:r>
            <a:r>
              <a:rPr lang="en-US" sz="2000" b="1" u="sng" dirty="0">
                <a:solidFill>
                  <a:srgbClr val="FF0066"/>
                </a:solidFill>
              </a:rPr>
              <a:t>What %</a:t>
            </a:r>
            <a:r>
              <a:rPr lang="en-US" sz="2000" dirty="0">
                <a:solidFill>
                  <a:srgbClr val="FF0066"/>
                </a:solidFill>
              </a:rPr>
              <a:t> of estimation error have we </a:t>
            </a:r>
            <a:r>
              <a:rPr lang="en-US" sz="2000" u="sng" dirty="0">
                <a:solidFill>
                  <a:srgbClr val="FF0066"/>
                </a:solidFill>
              </a:rPr>
              <a:t>explained</a:t>
            </a:r>
            <a:r>
              <a:rPr lang="en-US" sz="2000" dirty="0">
                <a:solidFill>
                  <a:srgbClr val="FF0066"/>
                </a:solidFill>
              </a:rPr>
              <a:t> (eliminated by using the regression model?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297569" y="5827890"/>
            <a:ext cx="932903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</a:rPr>
              <a:t>Percent of variation (differences) in number of credit cards owned by families that can be </a:t>
            </a:r>
            <a:r>
              <a:rPr lang="en-US" u="sng" dirty="0">
                <a:solidFill>
                  <a:srgbClr val="000000"/>
                </a:solidFill>
              </a:rPr>
              <a:t>accounted for by:</a:t>
            </a:r>
            <a:r>
              <a:rPr lang="en-US" dirty="0">
                <a:solidFill>
                  <a:srgbClr val="000000"/>
                </a:solidFill>
              </a:rPr>
              <a:t> (a) </a:t>
            </a:r>
            <a:r>
              <a:rPr lang="en-US" u="sng" dirty="0">
                <a:solidFill>
                  <a:srgbClr val="000000"/>
                </a:solidFill>
              </a:rPr>
              <a:t>all other potential predictors</a:t>
            </a:r>
            <a:r>
              <a:rPr lang="en-US" dirty="0">
                <a:solidFill>
                  <a:srgbClr val="000000"/>
                </a:solidFill>
              </a:rPr>
              <a:t> not included in the model, beyond family size, and (b) unexplainable </a:t>
            </a:r>
            <a:r>
              <a:rPr lang="en-US" u="sng" dirty="0">
                <a:solidFill>
                  <a:srgbClr val="000000"/>
                </a:solidFill>
              </a:rPr>
              <a:t>random/chance variations</a:t>
            </a:r>
            <a:r>
              <a:rPr lang="en-US" dirty="0">
                <a:solidFill>
                  <a:srgbClr val="000000"/>
                </a:solidFill>
              </a:rPr>
              <a:t>.  </a:t>
            </a:r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9117014" y="2717800"/>
            <a:ext cx="1019175" cy="9731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9375776" y="2511426"/>
            <a:ext cx="1008063" cy="1008063"/>
          </a:xfrm>
          <a:prstGeom prst="ellipse">
            <a:avLst/>
          </a:prstGeom>
          <a:solidFill>
            <a:srgbClr val="009900">
              <a:alpha val="20000"/>
            </a:srgbClr>
          </a:solidFill>
          <a:ln w="57150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5309" name="Text Box 13"/>
          <p:cNvSpPr txBox="1">
            <a:spLocks noChangeArrowheads="1"/>
          </p:cNvSpPr>
          <p:nvPr/>
        </p:nvSpPr>
        <p:spPr bwMode="auto">
          <a:xfrm>
            <a:off x="8859839" y="3319463"/>
            <a:ext cx="5032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B39041"/>
                </a:solidFill>
              </a:rPr>
              <a:t>X</a:t>
            </a:r>
            <a:r>
              <a:rPr lang="en-US" baseline="-25000">
                <a:solidFill>
                  <a:srgbClr val="B39041"/>
                </a:solidFill>
              </a:rPr>
              <a:t>1</a:t>
            </a:r>
          </a:p>
        </p:txBody>
      </p:sp>
      <p:sp>
        <p:nvSpPr>
          <p:cNvPr id="55310" name="Text Box 14"/>
          <p:cNvSpPr txBox="1">
            <a:spLocks noChangeArrowheads="1"/>
          </p:cNvSpPr>
          <p:nvPr/>
        </p:nvSpPr>
        <p:spPr bwMode="auto">
          <a:xfrm>
            <a:off x="9566275" y="1916113"/>
            <a:ext cx="1187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339933"/>
                </a:solidFill>
              </a:rPr>
              <a:t>Total Var. in Y = 22</a:t>
            </a:r>
          </a:p>
        </p:txBody>
      </p:sp>
      <p:sp>
        <p:nvSpPr>
          <p:cNvPr id="55311" name="Text Box 15"/>
          <p:cNvSpPr txBox="1">
            <a:spLocks noChangeArrowheads="1"/>
          </p:cNvSpPr>
          <p:nvPr/>
        </p:nvSpPr>
        <p:spPr bwMode="auto">
          <a:xfrm>
            <a:off x="9481257" y="3043238"/>
            <a:ext cx="8207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00"/>
                </a:solidFill>
              </a:rPr>
              <a:t>16.5</a:t>
            </a:r>
          </a:p>
        </p:txBody>
      </p:sp>
      <p:sp>
        <p:nvSpPr>
          <p:cNvPr id="55312" name="Text Box 16"/>
          <p:cNvSpPr txBox="1">
            <a:spLocks noChangeArrowheads="1"/>
          </p:cNvSpPr>
          <p:nvPr/>
        </p:nvSpPr>
        <p:spPr bwMode="auto">
          <a:xfrm>
            <a:off x="10012364" y="2784475"/>
            <a:ext cx="5032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00"/>
                </a:solidFill>
              </a:rPr>
              <a:t>5.5</a:t>
            </a:r>
          </a:p>
        </p:txBody>
      </p:sp>
      <p:sp>
        <p:nvSpPr>
          <p:cNvPr id="55313" name="Text Box 17"/>
          <p:cNvSpPr txBox="1">
            <a:spLocks noChangeArrowheads="1"/>
          </p:cNvSpPr>
          <p:nvPr/>
        </p:nvSpPr>
        <p:spPr bwMode="auto">
          <a:xfrm>
            <a:off x="10188576" y="3281364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33CC33"/>
                </a:solidFill>
              </a:rPr>
              <a:t>Y</a:t>
            </a:r>
          </a:p>
        </p:txBody>
      </p:sp>
      <p:sp>
        <p:nvSpPr>
          <p:cNvPr id="55314" name="Text Box 18"/>
          <p:cNvSpPr txBox="1">
            <a:spLocks noChangeArrowheads="1"/>
          </p:cNvSpPr>
          <p:nvPr/>
        </p:nvSpPr>
        <p:spPr bwMode="auto">
          <a:xfrm>
            <a:off x="2881291" y="4429132"/>
            <a:ext cx="796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aseline="30000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=</a:t>
            </a:r>
          </a:p>
        </p:txBody>
      </p:sp>
      <p:sp>
        <p:nvSpPr>
          <p:cNvPr id="55315" name="Line 19"/>
          <p:cNvSpPr>
            <a:spLocks noChangeShapeType="1"/>
          </p:cNvSpPr>
          <p:nvPr/>
        </p:nvSpPr>
        <p:spPr bwMode="auto">
          <a:xfrm flipH="1">
            <a:off x="10117138" y="2559050"/>
            <a:ext cx="144462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5316" name="Line 20"/>
          <p:cNvSpPr>
            <a:spLocks noChangeShapeType="1"/>
          </p:cNvSpPr>
          <p:nvPr/>
        </p:nvSpPr>
        <p:spPr bwMode="auto">
          <a:xfrm flipH="1">
            <a:off x="9791701" y="2559050"/>
            <a:ext cx="3603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53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5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5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5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5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5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5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1" grpId="0" build="allAtOnce" autoUpdateAnimBg="0"/>
      <p:bldP spid="55303" grpId="0" autoUpdateAnimBg="0"/>
      <p:bldP spid="55306" grpId="0" autoUpdateAnimBg="0"/>
      <p:bldP spid="55307" grpId="0" animBg="1"/>
      <p:bldP spid="55308" grpId="0" animBg="1"/>
      <p:bldP spid="55309" grpId="0"/>
      <p:bldP spid="55310" grpId="0"/>
      <p:bldP spid="55311" grpId="0"/>
      <p:bldP spid="55312" grpId="0"/>
      <p:bldP spid="55313" grpId="0"/>
      <p:bldP spid="55314" grpId="0"/>
      <p:bldP spid="55315" grpId="0" animBg="1"/>
      <p:bldP spid="553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6057" y="-113631"/>
            <a:ext cx="7772400" cy="745067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chemeClr val="tx1"/>
                </a:solidFill>
              </a:rPr>
              <a:t>Simple and Multiple Regression Analysis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196057" y="1701801"/>
            <a:ext cx="10114757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sz="2000" baseline="300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000" baseline="30000" dirty="0">
                <a:solidFill>
                  <a:srgbClr val="0033CC"/>
                </a:solidFill>
              </a:rPr>
              <a:t> </a:t>
            </a:r>
            <a:r>
              <a:rPr lang="en-US" sz="2000" dirty="0">
                <a:solidFill>
                  <a:srgbClr val="0033CC"/>
                </a:solidFill>
              </a:rPr>
              <a:t>is</a:t>
            </a:r>
            <a:r>
              <a:rPr lang="en-US" sz="2000" dirty="0">
                <a:solidFill>
                  <a:srgbClr val="FF0000"/>
                </a:solidFill>
              </a:rPr>
              <a:t> a measure of our success </a:t>
            </a:r>
            <a:r>
              <a:rPr lang="en-US" sz="2000" dirty="0">
                <a:solidFill>
                  <a:srgbClr val="0033CC"/>
                </a:solidFill>
              </a:rPr>
              <a:t>regarding accuracy of our estimation effort.</a:t>
            </a:r>
          </a:p>
          <a:p>
            <a:pPr marL="855663" lvl="1" indent="-398463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000" dirty="0">
                <a:solidFill>
                  <a:srgbClr val="0000FF"/>
                </a:solidFill>
              </a:rPr>
              <a:t>R</a:t>
            </a:r>
            <a:r>
              <a:rPr lang="en-US" sz="2000" baseline="30000" dirty="0">
                <a:solidFill>
                  <a:srgbClr val="0000FF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 =  </a:t>
            </a:r>
            <a:r>
              <a:rPr lang="en-US" sz="2000" u="sng" dirty="0">
                <a:solidFill>
                  <a:srgbClr val="000000"/>
                </a:solidFill>
              </a:rPr>
              <a:t>% of estimation error</a:t>
            </a:r>
            <a:r>
              <a:rPr lang="en-US" sz="2000" dirty="0">
                <a:solidFill>
                  <a:srgbClr val="000000"/>
                </a:solidFill>
              </a:rPr>
              <a:t> that we have been able to </a:t>
            </a:r>
            <a:r>
              <a:rPr lang="en-US" sz="2000" u="sng" dirty="0">
                <a:solidFill>
                  <a:srgbClr val="000000"/>
                </a:solidFill>
              </a:rPr>
              <a:t>explain away</a:t>
            </a:r>
            <a:r>
              <a:rPr lang="en-US" sz="2000" dirty="0">
                <a:solidFill>
                  <a:srgbClr val="000000"/>
                </a:solidFill>
              </a:rPr>
              <a:t> by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          using the regression model, instead of using the mean. </a:t>
            </a:r>
          </a:p>
          <a:p>
            <a:pPr marL="855663" lvl="1" indent="-398463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000" dirty="0">
                <a:solidFill>
                  <a:srgbClr val="0000FF"/>
                </a:solidFill>
              </a:rPr>
              <a:t>R</a:t>
            </a:r>
            <a:r>
              <a:rPr lang="en-US" sz="2000" baseline="30000" dirty="0">
                <a:solidFill>
                  <a:srgbClr val="0000FF"/>
                </a:solidFill>
              </a:rPr>
              <a:t>2</a:t>
            </a:r>
            <a:r>
              <a:rPr lang="en-US" sz="2000" dirty="0">
                <a:solidFill>
                  <a:srgbClr val="0000FF"/>
                </a:solidFill>
              </a:rPr>
              <a:t>   </a:t>
            </a:r>
            <a:r>
              <a:rPr lang="en-US" sz="2000" dirty="0">
                <a:solidFill>
                  <a:srgbClr val="000000"/>
                </a:solidFill>
              </a:rPr>
              <a:t>indicates </a:t>
            </a:r>
            <a:r>
              <a:rPr lang="en-US" sz="2000" u="sng" dirty="0">
                <a:solidFill>
                  <a:srgbClr val="000000"/>
                </a:solidFill>
              </a:rPr>
              <a:t>how much better we can predict Y </a:t>
            </a:r>
            <a:r>
              <a:rPr lang="en-US" sz="2000" dirty="0">
                <a:solidFill>
                  <a:srgbClr val="000000"/>
                </a:solidFill>
              </a:rPr>
              <a:t>from information about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         </a:t>
            </a:r>
            <a:r>
              <a:rPr lang="en-US" sz="2000" dirty="0" err="1">
                <a:solidFill>
                  <a:srgbClr val="000000"/>
                </a:solidFill>
              </a:rPr>
              <a:t>Xs</a:t>
            </a:r>
            <a:r>
              <a:rPr lang="en-US" sz="2000" dirty="0">
                <a:solidFill>
                  <a:srgbClr val="000000"/>
                </a:solidFill>
              </a:rPr>
              <a:t>, rather than from using its own mean. </a:t>
            </a:r>
          </a:p>
          <a:p>
            <a:pPr marL="855663" lvl="1" indent="-398463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000" dirty="0">
                <a:solidFill>
                  <a:srgbClr val="0000FF"/>
                </a:solidFill>
              </a:rPr>
              <a:t>R</a:t>
            </a:r>
            <a:r>
              <a:rPr lang="en-US" sz="2000" baseline="30000" dirty="0">
                <a:solidFill>
                  <a:srgbClr val="0000FF"/>
                </a:solidFill>
              </a:rPr>
              <a:t>2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= % of differences (variations) in Y values that is explained by 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        (attributable to) differences in X values.</a:t>
            </a:r>
            <a:br>
              <a:rPr lang="en-US" sz="2000" dirty="0">
                <a:solidFill>
                  <a:srgbClr val="000000"/>
                </a:solidFill>
              </a:rPr>
            </a:b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800" dirty="0">
                <a:solidFill>
                  <a:srgbClr val="0033CC"/>
                </a:solidFill>
              </a:rPr>
              <a:t>Note:  </a:t>
            </a:r>
            <a:r>
              <a:rPr lang="en-US" dirty="0">
                <a:solidFill>
                  <a:srgbClr val="0033CC"/>
                </a:solidFill>
              </a:rPr>
              <a:t>When dealing with </a:t>
            </a:r>
            <a:r>
              <a:rPr lang="en-US" u="sng" dirty="0">
                <a:solidFill>
                  <a:srgbClr val="0033CC"/>
                </a:solidFill>
              </a:rPr>
              <a:t>only two variables</a:t>
            </a:r>
            <a:r>
              <a:rPr lang="en-US" dirty="0">
                <a:solidFill>
                  <a:srgbClr val="0033CC"/>
                </a:solidFill>
              </a:rPr>
              <a:t> (</a:t>
            </a:r>
            <a:r>
              <a:rPr lang="en-US" u="sng" dirty="0">
                <a:solidFill>
                  <a:srgbClr val="0033CC"/>
                </a:solidFill>
              </a:rPr>
              <a:t>a single X </a:t>
            </a:r>
            <a:r>
              <a:rPr lang="en-US" dirty="0">
                <a:solidFill>
                  <a:srgbClr val="0033CC"/>
                </a:solidFill>
              </a:rPr>
              <a:t>and Y):</a:t>
            </a:r>
            <a:r>
              <a:rPr lang="en-US" sz="2800" dirty="0">
                <a:solidFill>
                  <a:srgbClr val="0033CC"/>
                </a:solidFill>
              </a:rPr>
              <a:t>	</a:t>
            </a:r>
            <a:r>
              <a:rPr lang="en-US" sz="2000" dirty="0">
                <a:solidFill>
                  <a:srgbClr val="0033CC"/>
                </a:solidFill>
              </a:rPr>
              <a:t>		 	              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>
                <a:solidFill>
                  <a:srgbClr val="0033CC"/>
                </a:solidFill>
              </a:rPr>
              <a:t>			                       </a:t>
            </a:r>
            <a:r>
              <a:rPr lang="en-US" sz="2000" dirty="0">
                <a:solidFill>
                  <a:srgbClr val="0033CC"/>
                </a:solidFill>
              </a:rPr>
              <a:t>			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000" dirty="0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solidFill>
                  <a:srgbClr val="0033CC"/>
                </a:solidFill>
              </a:rPr>
              <a:t>Let’s now examine all this graphically! </a:t>
            </a:r>
          </a:p>
        </p:txBody>
      </p:sp>
      <p:graphicFrame>
        <p:nvGraphicFramePr>
          <p:cNvPr id="61448" name="Object 8"/>
          <p:cNvGraphicFramePr>
            <a:graphicFrameLocks noChangeAspect="1"/>
          </p:cNvGraphicFramePr>
          <p:nvPr>
            <p:extLst/>
          </p:nvPr>
        </p:nvGraphicFramePr>
        <p:xfrm>
          <a:off x="1719263" y="4856251"/>
          <a:ext cx="445135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2362200" imgH="495300" progId="Equation.3">
                  <p:embed/>
                </p:oleObj>
              </mc:Choice>
              <mc:Fallback>
                <p:oleObj name="Equation" r:id="rId3" imgW="23622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4856251"/>
                        <a:ext cx="4451350" cy="80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2618582" y="745067"/>
            <a:ext cx="7818437" cy="86793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solidFill>
                  <a:srgbClr val="0000FF"/>
                </a:solidFill>
              </a:rPr>
              <a:t>R</a:t>
            </a:r>
            <a:r>
              <a:rPr lang="en-US" sz="2800" baseline="30000" dirty="0">
                <a:solidFill>
                  <a:srgbClr val="0000FF"/>
                </a:solidFill>
              </a:rPr>
              <a:t>2</a:t>
            </a:r>
            <a:r>
              <a:rPr lang="en-US" sz="2800" dirty="0">
                <a:solidFill>
                  <a:srgbClr val="0000FF"/>
                </a:solidFill>
              </a:rPr>
              <a:t> = SS Regression / SS Total = 16.5/22  = 75%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6697133" y="4663369"/>
            <a:ext cx="2881313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66"/>
                </a:solidFill>
              </a:rPr>
              <a:t>Pearson Correlation</a:t>
            </a:r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of Y with X</a:t>
            </a:r>
            <a:r>
              <a:rPr lang="en-US" baseline="-25000" dirty="0">
                <a:solidFill>
                  <a:srgbClr val="000000"/>
                </a:solidFill>
              </a:rPr>
              <a:t>1 </a:t>
            </a:r>
            <a:br>
              <a:rPr lang="en-US" baseline="-25000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(NOT controlling for any other var.) </a:t>
            </a:r>
            <a:endParaRPr lang="en-US" baseline="-25000" dirty="0">
              <a:solidFill>
                <a:srgbClr val="000000"/>
              </a:solidFill>
            </a:endParaRPr>
          </a:p>
        </p:txBody>
      </p:sp>
      <p:pic>
        <p:nvPicPr>
          <p:cNvPr id="61453" name="Picture 13" descr="j04238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019771" y="4686482"/>
            <a:ext cx="1635125" cy="188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593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6" grpId="0" autoUpdateAnimBg="0"/>
      <p:bldP spid="614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328" name="Object 56"/>
          <p:cNvGraphicFramePr>
            <a:graphicFrameLocks noChangeAspect="1"/>
          </p:cNvGraphicFramePr>
          <p:nvPr/>
        </p:nvGraphicFramePr>
        <p:xfrm>
          <a:off x="4705350" y="3886200"/>
          <a:ext cx="6667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355292" imgH="203024" progId="Equation.3">
                  <p:embed/>
                </p:oleObj>
              </mc:Choice>
              <mc:Fallback>
                <p:oleObj name="Equation" r:id="rId3" imgW="355292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3886200"/>
                        <a:ext cx="6667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32" name="Text Box 60"/>
          <p:cNvSpPr txBox="1">
            <a:spLocks noChangeArrowheads="1"/>
          </p:cNvSpPr>
          <p:nvPr/>
        </p:nvSpPr>
        <p:spPr bwMode="auto">
          <a:xfrm>
            <a:off x="4443413" y="38290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</a:p>
        </p:txBody>
      </p:sp>
      <p:sp>
        <p:nvSpPr>
          <p:cNvPr id="23560" name="Rectangle 2"/>
          <p:cNvSpPr>
            <a:spLocks noChangeArrowheads="1"/>
          </p:cNvSpPr>
          <p:nvPr/>
        </p:nvSpPr>
        <p:spPr bwMode="auto">
          <a:xfrm>
            <a:off x="2895600" y="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sz="3200" b="1" i="1">
              <a:solidFill>
                <a:srgbClr val="000000"/>
              </a:solidFill>
            </a:endParaRPr>
          </a:p>
          <a:p>
            <a:r>
              <a:rPr lang="en-US" sz="3200" b="1" i="1">
                <a:solidFill>
                  <a:srgbClr val="000000"/>
                </a:solidFill>
              </a:rPr>
              <a:t>Simple and Multiple Regression Analysis</a:t>
            </a:r>
            <a:r>
              <a:rPr lang="en-US" sz="3200" b="1" i="1">
                <a:solidFill>
                  <a:srgbClr val="CC6600"/>
                </a:solidFill>
              </a:rPr>
              <a:t/>
            </a:r>
            <a:br>
              <a:rPr lang="en-US" sz="3200" b="1" i="1">
                <a:solidFill>
                  <a:srgbClr val="CC6600"/>
                </a:solidFill>
              </a:rPr>
            </a:br>
            <a:endParaRPr lang="en-US" sz="3200" b="1" i="1">
              <a:solidFill>
                <a:srgbClr val="CC6600"/>
              </a:solidFill>
            </a:endParaRPr>
          </a:p>
        </p:txBody>
      </p:sp>
      <p:sp>
        <p:nvSpPr>
          <p:cNvPr id="23561" name="Line 3"/>
          <p:cNvSpPr>
            <a:spLocks noChangeShapeType="1"/>
          </p:cNvSpPr>
          <p:nvPr/>
        </p:nvSpPr>
        <p:spPr bwMode="auto">
          <a:xfrm>
            <a:off x="2743200" y="914400"/>
            <a:ext cx="0" cy="510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62" name="Text Box 4"/>
          <p:cNvSpPr txBox="1">
            <a:spLocks noChangeArrowheads="1"/>
          </p:cNvSpPr>
          <p:nvPr/>
        </p:nvSpPr>
        <p:spPr bwMode="auto">
          <a:xfrm>
            <a:off x="2209800" y="1219201"/>
            <a:ext cx="8382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9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8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7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6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00"/>
                </a:solidFill>
              </a:rPr>
              <a:t>0</a:t>
            </a:r>
          </a:p>
          <a:p>
            <a:pPr>
              <a:spcBef>
                <a:spcPct val="50000"/>
              </a:spcBef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54277" name="Line 5"/>
          <p:cNvSpPr>
            <a:spLocks noChangeShapeType="1"/>
          </p:cNvSpPr>
          <p:nvPr/>
        </p:nvSpPr>
        <p:spPr bwMode="auto">
          <a:xfrm>
            <a:off x="2743200" y="2819400"/>
            <a:ext cx="6248400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64" name="Line 6"/>
          <p:cNvSpPr>
            <a:spLocks noChangeShapeType="1"/>
          </p:cNvSpPr>
          <p:nvPr/>
        </p:nvSpPr>
        <p:spPr bwMode="auto">
          <a:xfrm>
            <a:off x="2667000" y="1371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65" name="Line 7"/>
          <p:cNvSpPr>
            <a:spLocks noChangeShapeType="1"/>
          </p:cNvSpPr>
          <p:nvPr/>
        </p:nvSpPr>
        <p:spPr bwMode="auto">
          <a:xfrm>
            <a:off x="2667000" y="1828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66" name="Line 8"/>
          <p:cNvSpPr>
            <a:spLocks noChangeShapeType="1"/>
          </p:cNvSpPr>
          <p:nvPr/>
        </p:nvSpPr>
        <p:spPr bwMode="auto">
          <a:xfrm>
            <a:off x="2667000" y="2362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67" name="Line 9"/>
          <p:cNvSpPr>
            <a:spLocks noChangeShapeType="1"/>
          </p:cNvSpPr>
          <p:nvPr/>
        </p:nvSpPr>
        <p:spPr bwMode="auto">
          <a:xfrm>
            <a:off x="2667000" y="3276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68" name="Line 10"/>
          <p:cNvSpPr>
            <a:spLocks noChangeShapeType="1"/>
          </p:cNvSpPr>
          <p:nvPr/>
        </p:nvSpPr>
        <p:spPr bwMode="auto">
          <a:xfrm>
            <a:off x="2667000" y="3733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69" name="Line 11"/>
          <p:cNvSpPr>
            <a:spLocks noChangeShapeType="1"/>
          </p:cNvSpPr>
          <p:nvPr/>
        </p:nvSpPr>
        <p:spPr bwMode="auto">
          <a:xfrm>
            <a:off x="2667000" y="4191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70" name="Line 12"/>
          <p:cNvSpPr>
            <a:spLocks noChangeShapeType="1"/>
          </p:cNvSpPr>
          <p:nvPr/>
        </p:nvSpPr>
        <p:spPr bwMode="auto">
          <a:xfrm>
            <a:off x="26670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71" name="Line 13"/>
          <p:cNvSpPr>
            <a:spLocks noChangeShapeType="1"/>
          </p:cNvSpPr>
          <p:nvPr/>
        </p:nvSpPr>
        <p:spPr bwMode="auto">
          <a:xfrm>
            <a:off x="2667000" y="510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72" name="Line 14"/>
          <p:cNvSpPr>
            <a:spLocks noChangeShapeType="1"/>
          </p:cNvSpPr>
          <p:nvPr/>
        </p:nvSpPr>
        <p:spPr bwMode="auto">
          <a:xfrm>
            <a:off x="2667000" y="5562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73" name="Oval 15"/>
          <p:cNvSpPr>
            <a:spLocks noChangeArrowheads="1"/>
          </p:cNvSpPr>
          <p:nvPr/>
        </p:nvSpPr>
        <p:spPr bwMode="auto">
          <a:xfrm>
            <a:off x="4267200" y="4114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4114800" y="41148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F1</a:t>
            </a:r>
          </a:p>
        </p:txBody>
      </p:sp>
      <p:sp>
        <p:nvSpPr>
          <p:cNvPr id="23575" name="Oval 17"/>
          <p:cNvSpPr>
            <a:spLocks noChangeArrowheads="1"/>
          </p:cNvSpPr>
          <p:nvPr/>
        </p:nvSpPr>
        <p:spPr bwMode="auto">
          <a:xfrm>
            <a:off x="4343400" y="2743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76" name="Oval 18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77" name="Oval 19"/>
          <p:cNvSpPr>
            <a:spLocks noChangeArrowheads="1"/>
          </p:cNvSpPr>
          <p:nvPr/>
        </p:nvSpPr>
        <p:spPr bwMode="auto">
          <a:xfrm>
            <a:off x="6248400" y="2743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78" name="Oval 20"/>
          <p:cNvSpPr>
            <a:spLocks noChangeArrowheads="1"/>
          </p:cNvSpPr>
          <p:nvPr/>
        </p:nvSpPr>
        <p:spPr bwMode="auto">
          <a:xfrm>
            <a:off x="81534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79" name="Oval 21"/>
          <p:cNvSpPr>
            <a:spLocks noChangeArrowheads="1"/>
          </p:cNvSpPr>
          <p:nvPr/>
        </p:nvSpPr>
        <p:spPr bwMode="auto">
          <a:xfrm>
            <a:off x="7162800" y="27527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80" name="Oval 22"/>
          <p:cNvSpPr>
            <a:spLocks noChangeArrowheads="1"/>
          </p:cNvSpPr>
          <p:nvPr/>
        </p:nvSpPr>
        <p:spPr bwMode="auto">
          <a:xfrm>
            <a:off x="7162800" y="2286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81" name="Oval 23"/>
          <p:cNvSpPr>
            <a:spLocks noChangeArrowheads="1"/>
          </p:cNvSpPr>
          <p:nvPr/>
        </p:nvSpPr>
        <p:spPr bwMode="auto">
          <a:xfrm>
            <a:off x="8153400" y="1295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4038600" y="2362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F2</a:t>
            </a:r>
          </a:p>
        </p:txBody>
      </p:sp>
      <p:sp>
        <p:nvSpPr>
          <p:cNvPr id="54297" name="Text Box 25"/>
          <p:cNvSpPr txBox="1">
            <a:spLocks noChangeArrowheads="1"/>
          </p:cNvSpPr>
          <p:nvPr/>
        </p:nvSpPr>
        <p:spPr bwMode="auto">
          <a:xfrm>
            <a:off x="6172200" y="3200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F3</a:t>
            </a:r>
          </a:p>
        </p:txBody>
      </p:sp>
      <p:sp>
        <p:nvSpPr>
          <p:cNvPr id="54298" name="Text Box 26"/>
          <p:cNvSpPr txBox="1">
            <a:spLocks noChangeArrowheads="1"/>
          </p:cNvSpPr>
          <p:nvPr/>
        </p:nvSpPr>
        <p:spPr bwMode="auto">
          <a:xfrm>
            <a:off x="5943600" y="2362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F4</a:t>
            </a:r>
          </a:p>
        </p:txBody>
      </p:sp>
      <p:sp>
        <p:nvSpPr>
          <p:cNvPr id="54299" name="Text Box 27"/>
          <p:cNvSpPr txBox="1">
            <a:spLocks noChangeArrowheads="1"/>
          </p:cNvSpPr>
          <p:nvPr/>
        </p:nvSpPr>
        <p:spPr bwMode="auto">
          <a:xfrm>
            <a:off x="7186613" y="2014538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F5</a:t>
            </a:r>
          </a:p>
        </p:txBody>
      </p:sp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7162800" y="2447925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F6</a:t>
            </a:r>
          </a:p>
        </p:txBody>
      </p:sp>
      <p:sp>
        <p:nvSpPr>
          <p:cNvPr id="54301" name="Text Box 29"/>
          <p:cNvSpPr txBox="1">
            <a:spLocks noChangeArrowheads="1"/>
          </p:cNvSpPr>
          <p:nvPr/>
        </p:nvSpPr>
        <p:spPr bwMode="auto">
          <a:xfrm>
            <a:off x="8162925" y="20574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F7</a:t>
            </a:r>
          </a:p>
        </p:txBody>
      </p:sp>
      <p:sp>
        <p:nvSpPr>
          <p:cNvPr id="54302" name="Text Box 30"/>
          <p:cNvSpPr txBox="1">
            <a:spLocks noChangeArrowheads="1"/>
          </p:cNvSpPr>
          <p:nvPr/>
        </p:nvSpPr>
        <p:spPr bwMode="auto">
          <a:xfrm>
            <a:off x="7696200" y="9906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F8</a:t>
            </a:r>
          </a:p>
        </p:txBody>
      </p:sp>
      <p:sp>
        <p:nvSpPr>
          <p:cNvPr id="23589" name="Line 31"/>
          <p:cNvSpPr>
            <a:spLocks noChangeShapeType="1"/>
          </p:cNvSpPr>
          <p:nvPr/>
        </p:nvSpPr>
        <p:spPr bwMode="auto">
          <a:xfrm>
            <a:off x="2743200" y="6019800"/>
            <a:ext cx="647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04" name="Text Box 32"/>
          <p:cNvSpPr txBox="1">
            <a:spLocks noChangeArrowheads="1"/>
          </p:cNvSpPr>
          <p:nvPr/>
        </p:nvSpPr>
        <p:spPr bwMode="auto">
          <a:xfrm rot="-5437271">
            <a:off x="723900" y="2634734"/>
            <a:ext cx="2667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 Of Credit Cards</a:t>
            </a:r>
          </a:p>
        </p:txBody>
      </p:sp>
      <p:sp>
        <p:nvSpPr>
          <p:cNvPr id="54305" name="Text Box 33"/>
          <p:cNvSpPr txBox="1">
            <a:spLocks noChangeArrowheads="1"/>
          </p:cNvSpPr>
          <p:nvPr/>
        </p:nvSpPr>
        <p:spPr bwMode="auto">
          <a:xfrm>
            <a:off x="1905000" y="990600"/>
            <a:ext cx="457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</a:t>
            </a:r>
          </a:p>
        </p:txBody>
      </p:sp>
      <p:sp>
        <p:nvSpPr>
          <p:cNvPr id="23592" name="Text Box 34"/>
          <p:cNvSpPr txBox="1">
            <a:spLocks noChangeArrowheads="1"/>
          </p:cNvSpPr>
          <p:nvPr/>
        </p:nvSpPr>
        <p:spPr bwMode="auto">
          <a:xfrm>
            <a:off x="3352800" y="6019800"/>
            <a:ext cx="6248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1	2	3	4	5	6	7</a:t>
            </a:r>
          </a:p>
        </p:txBody>
      </p:sp>
      <p:sp>
        <p:nvSpPr>
          <p:cNvPr id="23593" name="Line 35"/>
          <p:cNvSpPr>
            <a:spLocks noChangeShapeType="1"/>
          </p:cNvSpPr>
          <p:nvPr/>
        </p:nvSpPr>
        <p:spPr bwMode="auto">
          <a:xfrm>
            <a:off x="35052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94" name="Line 36"/>
          <p:cNvSpPr>
            <a:spLocks noChangeShapeType="1"/>
          </p:cNvSpPr>
          <p:nvPr/>
        </p:nvSpPr>
        <p:spPr bwMode="auto">
          <a:xfrm>
            <a:off x="4419600" y="5867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95" name="Line 37"/>
          <p:cNvSpPr>
            <a:spLocks noChangeShapeType="1"/>
          </p:cNvSpPr>
          <p:nvPr/>
        </p:nvSpPr>
        <p:spPr bwMode="auto">
          <a:xfrm>
            <a:off x="53340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96" name="Line 38"/>
          <p:cNvSpPr>
            <a:spLocks noChangeShapeType="1"/>
          </p:cNvSpPr>
          <p:nvPr/>
        </p:nvSpPr>
        <p:spPr bwMode="auto">
          <a:xfrm>
            <a:off x="62484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97" name="Line 39"/>
          <p:cNvSpPr>
            <a:spLocks noChangeShapeType="1"/>
          </p:cNvSpPr>
          <p:nvPr/>
        </p:nvSpPr>
        <p:spPr bwMode="auto">
          <a:xfrm>
            <a:off x="71628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98" name="Line 40"/>
          <p:cNvSpPr>
            <a:spLocks noChangeShapeType="1"/>
          </p:cNvSpPr>
          <p:nvPr/>
        </p:nvSpPr>
        <p:spPr bwMode="auto">
          <a:xfrm>
            <a:off x="80772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599" name="Line 41"/>
          <p:cNvSpPr>
            <a:spLocks noChangeShapeType="1"/>
          </p:cNvSpPr>
          <p:nvPr/>
        </p:nvSpPr>
        <p:spPr bwMode="auto">
          <a:xfrm>
            <a:off x="8991600" y="586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14" name="Text Box 42"/>
          <p:cNvSpPr txBox="1">
            <a:spLocks noChangeArrowheads="1"/>
          </p:cNvSpPr>
          <p:nvPr/>
        </p:nvSpPr>
        <p:spPr bwMode="auto">
          <a:xfrm>
            <a:off x="9372600" y="2590800"/>
            <a:ext cx="12954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66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Original (Baseline) Estimate</a:t>
            </a:r>
          </a:p>
        </p:txBody>
      </p:sp>
      <p:sp>
        <p:nvSpPr>
          <p:cNvPr id="54315" name="Text Box 43"/>
          <p:cNvSpPr txBox="1">
            <a:spLocks noChangeArrowheads="1"/>
          </p:cNvSpPr>
          <p:nvPr/>
        </p:nvSpPr>
        <p:spPr bwMode="auto">
          <a:xfrm>
            <a:off x="9296400" y="5791200"/>
            <a:ext cx="53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</a:p>
        </p:txBody>
      </p:sp>
      <p:sp>
        <p:nvSpPr>
          <p:cNvPr id="54316" name="Text Box 44"/>
          <p:cNvSpPr txBox="1">
            <a:spLocks noChangeArrowheads="1"/>
          </p:cNvSpPr>
          <p:nvPr/>
        </p:nvSpPr>
        <p:spPr bwMode="auto">
          <a:xfrm>
            <a:off x="8077200" y="6400800"/>
            <a:ext cx="228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Family Size</a:t>
            </a:r>
          </a:p>
        </p:txBody>
      </p:sp>
      <p:sp>
        <p:nvSpPr>
          <p:cNvPr id="54317" name="Line 45"/>
          <p:cNvSpPr>
            <a:spLocks noChangeShapeType="1"/>
          </p:cNvSpPr>
          <p:nvPr/>
        </p:nvSpPr>
        <p:spPr bwMode="auto">
          <a:xfrm flipV="1">
            <a:off x="2743200" y="1676400"/>
            <a:ext cx="6096000" cy="31242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54319" name="Object 47"/>
          <p:cNvGraphicFramePr>
            <a:graphicFrameLocks noChangeAspect="1"/>
          </p:cNvGraphicFramePr>
          <p:nvPr/>
        </p:nvGraphicFramePr>
        <p:xfrm>
          <a:off x="8496300" y="1308100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952087" imgH="203112" progId="Equation.3">
                  <p:embed/>
                </p:oleObj>
              </mc:Choice>
              <mc:Fallback>
                <p:oleObj name="Equation" r:id="rId5" imgW="95208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6300" y="1308100"/>
                        <a:ext cx="1905000" cy="406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20" name="Text Box 48"/>
          <p:cNvSpPr txBox="1">
            <a:spLocks noChangeArrowheads="1"/>
          </p:cNvSpPr>
          <p:nvPr/>
        </p:nvSpPr>
        <p:spPr bwMode="auto">
          <a:xfrm>
            <a:off x="3200400" y="3276601"/>
            <a:ext cx="9906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008000"/>
                </a:solidFill>
              </a:rPr>
              <a:t>Original Baseline ERROR </a:t>
            </a:r>
            <a:r>
              <a:rPr lang="en-US" sz="1400" b="1">
                <a:solidFill>
                  <a:srgbClr val="008000"/>
                </a:solidFill>
              </a:rPr>
              <a:t>for F1</a:t>
            </a:r>
            <a:endParaRPr lang="en-US" sz="1600" b="1">
              <a:solidFill>
                <a:srgbClr val="008000"/>
              </a:solidFill>
            </a:endParaRPr>
          </a:p>
        </p:txBody>
      </p:sp>
      <p:sp>
        <p:nvSpPr>
          <p:cNvPr id="54321" name="AutoShape 49"/>
          <p:cNvSpPr>
            <a:spLocks/>
          </p:cNvSpPr>
          <p:nvPr/>
        </p:nvSpPr>
        <p:spPr bwMode="auto">
          <a:xfrm>
            <a:off x="4095750" y="2819400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22" name="AutoShape 50"/>
          <p:cNvSpPr>
            <a:spLocks/>
          </p:cNvSpPr>
          <p:nvPr/>
        </p:nvSpPr>
        <p:spPr bwMode="auto">
          <a:xfrm>
            <a:off x="4352925" y="2819401"/>
            <a:ext cx="261938" cy="1185863"/>
          </a:xfrm>
          <a:prstGeom prst="rightBrace">
            <a:avLst>
              <a:gd name="adj1" fmla="val 37727"/>
              <a:gd name="adj2" fmla="val 50000"/>
            </a:avLst>
          </a:prstGeom>
          <a:noFill/>
          <a:ln w="9525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23" name="AutoShape 51"/>
          <p:cNvSpPr>
            <a:spLocks/>
          </p:cNvSpPr>
          <p:nvPr/>
        </p:nvSpPr>
        <p:spPr bwMode="auto">
          <a:xfrm>
            <a:off x="4325939" y="4005263"/>
            <a:ext cx="185737" cy="14446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54324" name="Object 52"/>
          <p:cNvGraphicFramePr>
            <a:graphicFrameLocks noChangeAspect="1"/>
          </p:cNvGraphicFramePr>
          <p:nvPr/>
        </p:nvGraphicFramePr>
        <p:xfrm>
          <a:off x="4619625" y="2895600"/>
          <a:ext cx="6667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355292" imgH="203024" progId="Equation.3">
                  <p:embed/>
                </p:oleObj>
              </mc:Choice>
              <mc:Fallback>
                <p:oleObj name="Equation" r:id="rId7" imgW="355292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2895600"/>
                        <a:ext cx="6667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3"/>
          <p:cNvGraphicFramePr>
            <a:graphicFrameLocks noChangeAspect="1"/>
          </p:cNvGraphicFramePr>
          <p:nvPr/>
        </p:nvGraphicFramePr>
        <p:xfrm>
          <a:off x="8991600" y="2520950"/>
          <a:ext cx="4381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139639" imgH="190417" progId="Equation.3">
                  <p:embed/>
                </p:oleObj>
              </mc:Choice>
              <mc:Fallback>
                <p:oleObj name="Equation" r:id="rId9" imgW="139639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2520950"/>
                        <a:ext cx="43815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26" name="Object 54"/>
          <p:cNvGraphicFramePr>
            <a:graphicFrameLocks noChangeAspect="1"/>
          </p:cNvGraphicFramePr>
          <p:nvPr/>
        </p:nvGraphicFramePr>
        <p:xfrm>
          <a:off x="3352800" y="3048000"/>
          <a:ext cx="6667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355446" imgH="190417" progId="Equation.3">
                  <p:embed/>
                </p:oleObj>
              </mc:Choice>
              <mc:Fallback>
                <p:oleObj name="Equation" r:id="rId11" imgW="355446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048000"/>
                        <a:ext cx="66675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27" name="Text Box 55"/>
          <p:cNvSpPr txBox="1">
            <a:spLocks noChangeArrowheads="1"/>
          </p:cNvSpPr>
          <p:nvPr/>
        </p:nvSpPr>
        <p:spPr bwMode="auto">
          <a:xfrm>
            <a:off x="4572000" y="4191000"/>
            <a:ext cx="13716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FF0000"/>
                </a:solidFill>
              </a:rPr>
              <a:t>New ERROR  (Unexplained/ RESIDUAL) </a:t>
            </a:r>
          </a:p>
        </p:txBody>
      </p:sp>
      <p:sp>
        <p:nvSpPr>
          <p:cNvPr id="54329" name="Text Box 57"/>
          <p:cNvSpPr txBox="1">
            <a:spLocks noChangeArrowheads="1"/>
          </p:cNvSpPr>
          <p:nvPr/>
        </p:nvSpPr>
        <p:spPr bwMode="auto">
          <a:xfrm>
            <a:off x="4762500" y="3181350"/>
            <a:ext cx="13716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0033CC"/>
                </a:solidFill>
              </a:rPr>
              <a:t>Explained by REGRESSION Model</a:t>
            </a:r>
          </a:p>
        </p:txBody>
      </p:sp>
      <p:sp>
        <p:nvSpPr>
          <p:cNvPr id="54330" name="Text Box 58"/>
          <p:cNvSpPr txBox="1">
            <a:spLocks noChangeArrowheads="1"/>
          </p:cNvSpPr>
          <p:nvPr/>
        </p:nvSpPr>
        <p:spPr bwMode="auto">
          <a:xfrm>
            <a:off x="2927350" y="981076"/>
            <a:ext cx="4495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3333FF"/>
                </a:solidFill>
              </a:rPr>
              <a:t>Regression Line (New Improved Estimates):   </a:t>
            </a:r>
          </a:p>
        </p:txBody>
      </p:sp>
      <p:sp>
        <p:nvSpPr>
          <p:cNvPr id="54331" name="Text Box 59"/>
          <p:cNvSpPr txBox="1">
            <a:spLocks noChangeArrowheads="1"/>
          </p:cNvSpPr>
          <p:nvPr/>
        </p:nvSpPr>
        <p:spPr bwMode="auto">
          <a:xfrm>
            <a:off x="4557713" y="3124200"/>
            <a:ext cx="304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33CC"/>
                </a:solidFill>
              </a:rPr>
              <a:t>?</a:t>
            </a:r>
          </a:p>
        </p:txBody>
      </p:sp>
      <p:sp>
        <p:nvSpPr>
          <p:cNvPr id="54334" name="Oval 62"/>
          <p:cNvSpPr>
            <a:spLocks noChangeArrowheads="1"/>
          </p:cNvSpPr>
          <p:nvPr/>
        </p:nvSpPr>
        <p:spPr bwMode="auto">
          <a:xfrm>
            <a:off x="6257925" y="2943225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35" name="Oval 63"/>
          <p:cNvSpPr>
            <a:spLocks noChangeArrowheads="1"/>
          </p:cNvSpPr>
          <p:nvPr/>
        </p:nvSpPr>
        <p:spPr bwMode="auto">
          <a:xfrm>
            <a:off x="7145338" y="2487613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36" name="Oval 64"/>
          <p:cNvSpPr>
            <a:spLocks noChangeArrowheads="1"/>
          </p:cNvSpPr>
          <p:nvPr/>
        </p:nvSpPr>
        <p:spPr bwMode="auto">
          <a:xfrm>
            <a:off x="4259263" y="3973513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37" name="Oval 65"/>
          <p:cNvSpPr>
            <a:spLocks noChangeArrowheads="1"/>
          </p:cNvSpPr>
          <p:nvPr/>
        </p:nvSpPr>
        <p:spPr bwMode="auto">
          <a:xfrm>
            <a:off x="8145463" y="1958975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38" name="Oval 66"/>
          <p:cNvSpPr>
            <a:spLocks noChangeArrowheads="1"/>
          </p:cNvSpPr>
          <p:nvPr/>
        </p:nvSpPr>
        <p:spPr bwMode="auto">
          <a:xfrm>
            <a:off x="6259513" y="2801938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39" name="Oval 67"/>
          <p:cNvSpPr>
            <a:spLocks noChangeArrowheads="1"/>
          </p:cNvSpPr>
          <p:nvPr/>
        </p:nvSpPr>
        <p:spPr bwMode="auto">
          <a:xfrm>
            <a:off x="7161213" y="2817813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40" name="Oval 68"/>
          <p:cNvSpPr>
            <a:spLocks noChangeArrowheads="1"/>
          </p:cNvSpPr>
          <p:nvPr/>
        </p:nvSpPr>
        <p:spPr bwMode="auto">
          <a:xfrm>
            <a:off x="8161338" y="2803525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4341" name="Oval 69"/>
          <p:cNvSpPr>
            <a:spLocks noChangeArrowheads="1"/>
          </p:cNvSpPr>
          <p:nvPr/>
        </p:nvSpPr>
        <p:spPr bwMode="auto">
          <a:xfrm>
            <a:off x="4346575" y="2803525"/>
            <a:ext cx="76200" cy="76200"/>
          </a:xfrm>
          <a:prstGeom prst="ellipse">
            <a:avLst/>
          </a:prstGeom>
          <a:solidFill>
            <a:srgbClr val="00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23620" name="Picture 72" descr="j0424456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35925" y="3479801"/>
            <a:ext cx="182245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064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4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4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4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4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4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4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32" grpId="0"/>
      <p:bldP spid="54277" grpId="0" animBg="1"/>
      <p:bldP spid="54314" grpId="0"/>
      <p:bldP spid="54317" grpId="0" animBg="1"/>
      <p:bldP spid="54320" grpId="0"/>
      <p:bldP spid="54321" grpId="0" animBg="1"/>
      <p:bldP spid="54322" grpId="0" animBg="1"/>
      <p:bldP spid="54323" grpId="0" animBg="1"/>
      <p:bldP spid="54327" grpId="0" autoUpdateAnimBg="0"/>
      <p:bldP spid="54329" grpId="0" autoUpdateAnimBg="0"/>
      <p:bldP spid="54330" grpId="0"/>
      <p:bldP spid="54331" grpId="0"/>
      <p:bldP spid="54334" grpId="0" animBg="1"/>
      <p:bldP spid="54335" grpId="0" animBg="1"/>
      <p:bldP spid="54336" grpId="0" animBg="1"/>
      <p:bldP spid="54337" grpId="0" animBg="1"/>
      <p:bldP spid="54338" grpId="0" animBg="1"/>
      <p:bldP spid="54339" grpId="0" animBg="1"/>
      <p:bldP spid="54340" grpId="0" animBg="1"/>
      <p:bldP spid="543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Simple and Multiple Regression Analysis</a:t>
            </a:r>
            <a:r>
              <a:rPr lang="en-US" b="1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1905000" y="1549401"/>
            <a:ext cx="8763000" cy="3721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solidFill>
                  <a:srgbClr val="FF0066"/>
                </a:solidFill>
              </a:rPr>
              <a:t>5.5 = SSE =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33CC"/>
                </a:solidFill>
              </a:rPr>
              <a:t>The amount of </a:t>
            </a:r>
            <a:r>
              <a:rPr lang="en-US" u="sng">
                <a:solidFill>
                  <a:srgbClr val="0033CC"/>
                </a:solidFill>
              </a:rPr>
              <a:t>estimation error</a:t>
            </a:r>
            <a:r>
              <a:rPr lang="en-US">
                <a:solidFill>
                  <a:srgbClr val="0033CC"/>
                </a:solidFill>
              </a:rPr>
              <a:t> for the 8 sample families when </a:t>
            </a:r>
            <a:r>
              <a:rPr lang="en-US" u="sng">
                <a:solidFill>
                  <a:srgbClr val="0033CC"/>
                </a:solidFill>
              </a:rPr>
              <a:t>using simple regression</a:t>
            </a:r>
            <a:r>
              <a:rPr lang="en-US">
                <a:solidFill>
                  <a:srgbClr val="0033CC"/>
                </a:solidFill>
              </a:rPr>
              <a:t> (i.e., a regression model that includes </a:t>
            </a:r>
            <a:r>
              <a:rPr lang="en-US" u="sng">
                <a:solidFill>
                  <a:srgbClr val="0033CC"/>
                </a:solidFill>
              </a:rPr>
              <a:t>only</a:t>
            </a:r>
            <a:r>
              <a:rPr lang="en-US">
                <a:solidFill>
                  <a:srgbClr val="0033CC"/>
                </a:solidFill>
              </a:rPr>
              <a:t> information about </a:t>
            </a:r>
            <a:r>
              <a:rPr lang="en-US" u="sng">
                <a:solidFill>
                  <a:srgbClr val="0033CC"/>
                </a:solidFill>
              </a:rPr>
              <a:t>family size)</a:t>
            </a:r>
            <a:r>
              <a:rPr lang="en-US">
                <a:solidFill>
                  <a:srgbClr val="0033CC"/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u="sng">
                <a:solidFill>
                  <a:srgbClr val="FF0066"/>
                </a:solidFill>
              </a:rPr>
              <a:t>Can we reduce</a:t>
            </a:r>
            <a:r>
              <a:rPr lang="en-US">
                <a:solidFill>
                  <a:srgbClr val="FF0066"/>
                </a:solidFill>
              </a:rPr>
              <a:t> the amount of </a:t>
            </a:r>
            <a:r>
              <a:rPr lang="en-US" u="sng">
                <a:solidFill>
                  <a:srgbClr val="FF0066"/>
                </a:solidFill>
              </a:rPr>
              <a:t>estimation</a:t>
            </a:r>
            <a:br>
              <a:rPr lang="en-US" u="sng">
                <a:solidFill>
                  <a:srgbClr val="FF0066"/>
                </a:solidFill>
              </a:rPr>
            </a:br>
            <a:r>
              <a:rPr lang="en-US" u="sng">
                <a:solidFill>
                  <a:srgbClr val="FF0066"/>
                </a:solidFill>
              </a:rPr>
              <a:t>error</a:t>
            </a:r>
            <a:r>
              <a:rPr lang="en-US">
                <a:solidFill>
                  <a:srgbClr val="FF0066"/>
                </a:solidFill>
              </a:rPr>
              <a:t> (SSE) to an even lower level and, </a:t>
            </a:r>
            <a:br>
              <a:rPr lang="en-US">
                <a:solidFill>
                  <a:srgbClr val="FF0066"/>
                </a:solidFill>
              </a:rPr>
            </a:br>
            <a:r>
              <a:rPr lang="en-US">
                <a:solidFill>
                  <a:srgbClr val="FF0066"/>
                </a:solidFill>
              </a:rPr>
              <a:t>thus, improving the estimation process?  How?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>
              <a:solidFill>
                <a:srgbClr val="0033CC"/>
              </a:solidFill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>
                <a:solidFill>
                  <a:srgbClr val="0033CC"/>
                </a:solidFill>
              </a:rPr>
              <a:t>Yes, by </a:t>
            </a:r>
            <a:r>
              <a:rPr lang="en-US" u="sng">
                <a:solidFill>
                  <a:srgbClr val="0033CC"/>
                </a:solidFill>
              </a:rPr>
              <a:t>adding </a:t>
            </a:r>
            <a:r>
              <a:rPr lang="en-US">
                <a:solidFill>
                  <a:srgbClr val="0033CC"/>
                </a:solidFill>
              </a:rPr>
              <a:t>information on </a:t>
            </a:r>
            <a:r>
              <a:rPr lang="en-US" u="sng">
                <a:solidFill>
                  <a:srgbClr val="0033CC"/>
                </a:solidFill>
              </a:rPr>
              <a:t>a second variables</a:t>
            </a:r>
            <a:r>
              <a:rPr lang="en-US">
                <a:solidFill>
                  <a:srgbClr val="0033CC"/>
                </a:solidFill>
              </a:rPr>
              <a:t> suspected to be strongly related to # of credit cards (e.g., </a:t>
            </a:r>
            <a:r>
              <a:rPr lang="en-US" u="sng">
                <a:solidFill>
                  <a:srgbClr val="0033CC"/>
                </a:solidFill>
              </a:rPr>
              <a:t>family income</a:t>
            </a:r>
            <a:r>
              <a:rPr lang="en-US">
                <a:solidFill>
                  <a:srgbClr val="0033CC"/>
                </a:solidFill>
              </a:rPr>
              <a:t>--</a:t>
            </a:r>
            <a:r>
              <a:rPr lang="en-US">
                <a:solidFill>
                  <a:srgbClr val="FF00FF"/>
                </a:solidFill>
              </a:rPr>
              <a:t>X</a:t>
            </a:r>
            <a:r>
              <a:rPr lang="en-US" baseline="-25000">
                <a:solidFill>
                  <a:srgbClr val="FF00FF"/>
                </a:solidFill>
              </a:rPr>
              <a:t>2</a:t>
            </a:r>
            <a:r>
              <a:rPr lang="en-US">
                <a:solidFill>
                  <a:srgbClr val="0033CC"/>
                </a:solidFill>
              </a:rPr>
              <a:t>).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>
              <a:solidFill>
                <a:srgbClr val="0033CC"/>
              </a:solidFill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40964" name="Picture 10" descr="j042385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20064" y="2487613"/>
            <a:ext cx="1495425" cy="191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729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    </a:t>
            </a:r>
            <a:br>
              <a:rPr lang="en-US" sz="3200" b="1">
                <a:solidFill>
                  <a:schemeClr val="tx1"/>
                </a:solidFill>
              </a:rPr>
            </a:br>
            <a:r>
              <a:rPr lang="en-US" sz="3200" b="1">
                <a:solidFill>
                  <a:schemeClr val="tx1"/>
                </a:solidFill>
              </a:rPr>
              <a:t>   </a:t>
            </a: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r>
              <a:rPr lang="en-US" sz="3200" b="1"/>
              <a:t/>
            </a:r>
            <a:br>
              <a:rPr lang="en-US" sz="3200" b="1"/>
            </a:br>
            <a:r>
              <a:rPr lang="en-US" sz="3200" b="1"/>
              <a:t/>
            </a:r>
            <a:br>
              <a:rPr lang="en-US" sz="3200" b="1"/>
            </a:br>
            <a:endParaRPr lang="en-US" sz="2400" b="1"/>
          </a:p>
        </p:txBody>
      </p:sp>
      <p:graphicFrame>
        <p:nvGraphicFramePr>
          <p:cNvPr id="59477" name="Group 85"/>
          <p:cNvGraphicFramePr>
            <a:graphicFrameLocks noGrp="1"/>
          </p:cNvGraphicFramePr>
          <p:nvPr>
            <p:ph type="tbl" idx="1"/>
          </p:nvPr>
        </p:nvGraphicFramePr>
        <p:xfrm>
          <a:off x="1851025" y="1295401"/>
          <a:ext cx="5867400" cy="3993191"/>
        </p:xfrm>
        <a:graphic>
          <a:graphicData uri="http://schemas.openxmlformats.org/drawingml/2006/table">
            <a:tbl>
              <a:tblPr/>
              <a:tblGrid>
                <a:gridCol w="1066800"/>
                <a:gridCol w="1600200"/>
                <a:gridCol w="1600200"/>
                <a:gridCol w="1600200"/>
              </a:tblGrid>
              <a:tr h="1000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# of Credit Cards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9900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</a:rPr>
                        <a:t>Family Income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635" name="Text Box 55"/>
          <p:cNvSpPr txBox="1">
            <a:spLocks noChangeArrowheads="1"/>
          </p:cNvSpPr>
          <p:nvPr/>
        </p:nvSpPr>
        <p:spPr bwMode="auto">
          <a:xfrm>
            <a:off x="8839200" y="5943600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4578" name="Object 56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70" name="Text Box 78"/>
          <p:cNvSpPr txBox="1">
            <a:spLocks noChangeArrowheads="1"/>
          </p:cNvSpPr>
          <p:nvPr/>
        </p:nvSpPr>
        <p:spPr bwMode="auto">
          <a:xfrm>
            <a:off x="1774825" y="5562600"/>
            <a:ext cx="518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Generic Equation for a </a:t>
            </a:r>
            <a:r>
              <a:rPr lang="en-US" b="1" i="1" u="sng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linear plane</a:t>
            </a:r>
            <a:r>
              <a:rPr lang="en-US" b="1" i="1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</a:p>
        </p:txBody>
      </p:sp>
      <p:graphicFrame>
        <p:nvGraphicFramePr>
          <p:cNvPr id="24579" name="Object 79"/>
          <p:cNvGraphicFramePr>
            <a:graphicFrameLocks noChangeAspect="1"/>
          </p:cNvGraphicFramePr>
          <p:nvPr/>
        </p:nvGraphicFramePr>
        <p:xfrm>
          <a:off x="6802439" y="5564188"/>
          <a:ext cx="23209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748975" imgH="165028" progId="Equation.3">
                  <p:embed/>
                </p:oleObj>
              </mc:Choice>
              <mc:Fallback>
                <p:oleObj name="Equation" r:id="rId5" imgW="748975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439" y="5564188"/>
                        <a:ext cx="2320925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81"/>
          <p:cNvGraphicFramePr>
            <a:graphicFrameLocks noChangeAspect="1"/>
          </p:cNvGraphicFramePr>
          <p:nvPr/>
        </p:nvGraphicFramePr>
        <p:xfrm>
          <a:off x="5410201" y="1219200"/>
          <a:ext cx="3651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152268" imgH="215713" progId="Equation.3">
                  <p:embed/>
                </p:oleObj>
              </mc:Choice>
              <mc:Fallback>
                <p:oleObj name="Equation" r:id="rId7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1" y="1219200"/>
                        <a:ext cx="365125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82"/>
          <p:cNvGraphicFramePr>
            <a:graphicFrameLocks noChangeAspect="1"/>
          </p:cNvGraphicFramePr>
          <p:nvPr/>
        </p:nvGraphicFramePr>
        <p:xfrm>
          <a:off x="6919914" y="1219200"/>
          <a:ext cx="39528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164885" imgH="215619" progId="Equation.3">
                  <p:embed/>
                </p:oleObj>
              </mc:Choice>
              <mc:Fallback>
                <p:oleObj name="Equation" r:id="rId9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4" y="1219200"/>
                        <a:ext cx="395287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37" name="Text Box 83"/>
          <p:cNvSpPr txBox="1">
            <a:spLocks noChangeArrowheads="1"/>
          </p:cNvSpPr>
          <p:nvPr/>
        </p:nvSpPr>
        <p:spPr bwMode="auto">
          <a:xfrm>
            <a:off x="1927226" y="6172200"/>
            <a:ext cx="6981825" cy="70788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Let’s examine the regression plane for our example graphically.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4638" name="Text Box 77"/>
          <p:cNvSpPr txBox="1">
            <a:spLocks noChangeArrowheads="1"/>
          </p:cNvSpPr>
          <p:nvPr/>
        </p:nvSpPr>
        <p:spPr bwMode="auto">
          <a:xfrm>
            <a:off x="7824788" y="1862139"/>
            <a:ext cx="2843212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</a:rPr>
              <a:t>We now can attempt to </a:t>
            </a:r>
            <a:r>
              <a:rPr lang="en-US" u="sng">
                <a:solidFill>
                  <a:srgbClr val="008000"/>
                </a:solidFill>
              </a:rPr>
              <a:t>estimate</a:t>
            </a:r>
            <a:r>
              <a:rPr lang="en-US">
                <a:solidFill>
                  <a:srgbClr val="008000"/>
                </a:solidFill>
              </a:rPr>
              <a:t> # of CCs </a:t>
            </a:r>
            <a:r>
              <a:rPr lang="en-US" u="sng">
                <a:solidFill>
                  <a:srgbClr val="008000"/>
                </a:solidFill>
              </a:rPr>
              <a:t>from</a:t>
            </a:r>
            <a:r>
              <a:rPr lang="en-US">
                <a:solidFill>
                  <a:srgbClr val="008000"/>
                </a:solidFill>
              </a:rPr>
              <a:t> our information on </a:t>
            </a:r>
            <a:r>
              <a:rPr lang="en-US" u="sng">
                <a:solidFill>
                  <a:srgbClr val="008000"/>
                </a:solidFill>
              </a:rPr>
              <a:t>family size</a:t>
            </a:r>
            <a:r>
              <a:rPr lang="en-US">
                <a:solidFill>
                  <a:srgbClr val="008000"/>
                </a:solidFill>
              </a:rPr>
              <a:t> and </a:t>
            </a:r>
            <a:r>
              <a:rPr lang="en-US" u="sng">
                <a:solidFill>
                  <a:srgbClr val="008000"/>
                </a:solidFill>
              </a:rPr>
              <a:t>family income</a:t>
            </a:r>
            <a:r>
              <a:rPr lang="en-US">
                <a:solidFill>
                  <a:srgbClr val="008000"/>
                </a:solidFill>
              </a:rPr>
              <a:t>!</a:t>
            </a:r>
            <a:r>
              <a:rPr lang="en-US">
                <a:solidFill>
                  <a:srgbClr val="FF0000"/>
                </a:solidFill>
              </a:rPr>
              <a:t>  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Our regression model will now be a </a:t>
            </a:r>
            <a:r>
              <a:rPr lang="en-US" u="sng">
                <a:solidFill>
                  <a:srgbClr val="FF0000"/>
                </a:solidFill>
              </a:rPr>
              <a:t>linear plane,</a:t>
            </a:r>
            <a:r>
              <a:rPr lang="en-US">
                <a:solidFill>
                  <a:srgbClr val="FF0000"/>
                </a:solidFill>
              </a:rPr>
              <a:t> rather than a straight line!</a:t>
            </a:r>
          </a:p>
        </p:txBody>
      </p:sp>
    </p:spTree>
    <p:extLst>
      <p:ext uri="{BB962C8B-B14F-4D97-AF65-F5344CB8AC3E}">
        <p14:creationId xmlns:p14="http://schemas.microsoft.com/office/powerpoint/2010/main" val="17927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2" descr="bo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0238" y="0"/>
            <a:ext cx="499586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5" descr="BS0015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1" y="1"/>
            <a:ext cx="714375" cy="95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602" name="Object 7"/>
          <p:cNvGraphicFramePr>
            <a:graphicFrameLocks noChangeAspect="1"/>
          </p:cNvGraphicFramePr>
          <p:nvPr/>
        </p:nvGraphicFramePr>
        <p:xfrm>
          <a:off x="1546225" y="3167063"/>
          <a:ext cx="28082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5" imgW="1497950" imgH="215806" progId="Equation.3">
                  <p:embed/>
                </p:oleObj>
              </mc:Choice>
              <mc:Fallback>
                <p:oleObj name="Equation" r:id="rId5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3167063"/>
                        <a:ext cx="2808288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9"/>
          <p:cNvSpPr txBox="1">
            <a:spLocks noChangeArrowheads="1"/>
          </p:cNvSpPr>
          <p:nvPr/>
        </p:nvSpPr>
        <p:spPr bwMode="auto">
          <a:xfrm>
            <a:off x="1709738" y="3719513"/>
            <a:ext cx="2286000" cy="1754326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Let’s now see how much error in estimation we are committing by using this multiple regression model.</a:t>
            </a:r>
          </a:p>
        </p:txBody>
      </p:sp>
      <p:sp>
        <p:nvSpPr>
          <p:cNvPr id="25607" name="Line 10"/>
          <p:cNvSpPr>
            <a:spLocks noChangeShapeType="1"/>
          </p:cNvSpPr>
          <p:nvPr/>
        </p:nvSpPr>
        <p:spPr bwMode="auto">
          <a:xfrm>
            <a:off x="4865688" y="5661025"/>
            <a:ext cx="3529012" cy="64770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08" name="Line 11"/>
          <p:cNvSpPr>
            <a:spLocks noChangeShapeType="1"/>
          </p:cNvSpPr>
          <p:nvPr/>
        </p:nvSpPr>
        <p:spPr bwMode="auto">
          <a:xfrm flipV="1">
            <a:off x="4865688" y="476251"/>
            <a:ext cx="0" cy="5184775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09" name="Line 12"/>
          <p:cNvSpPr>
            <a:spLocks noChangeShapeType="1"/>
          </p:cNvSpPr>
          <p:nvPr/>
        </p:nvSpPr>
        <p:spPr bwMode="auto">
          <a:xfrm flipV="1">
            <a:off x="4865688" y="2852739"/>
            <a:ext cx="2665412" cy="2808287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10" name="Text Box 13"/>
          <p:cNvSpPr txBox="1">
            <a:spLocks noChangeArrowheads="1"/>
          </p:cNvSpPr>
          <p:nvPr/>
        </p:nvSpPr>
        <p:spPr bwMode="auto">
          <a:xfrm>
            <a:off x="4506914" y="100013"/>
            <a:ext cx="2592387" cy="366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Y = # of Credit Cards</a:t>
            </a:r>
          </a:p>
        </p:txBody>
      </p:sp>
      <p:sp>
        <p:nvSpPr>
          <p:cNvPr id="25611" name="Text Box 14"/>
          <p:cNvSpPr txBox="1">
            <a:spLocks noChangeArrowheads="1"/>
          </p:cNvSpPr>
          <p:nvPr/>
        </p:nvSpPr>
        <p:spPr bwMode="auto">
          <a:xfrm>
            <a:off x="8434389" y="6275388"/>
            <a:ext cx="2016125" cy="366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9900"/>
                </a:solidFill>
                <a:latin typeface="Comic Sans MS" pitchFamily="66" charset="0"/>
              </a:rPr>
              <a:t>X1 = Family Size</a:t>
            </a:r>
          </a:p>
        </p:txBody>
      </p:sp>
      <p:sp>
        <p:nvSpPr>
          <p:cNvPr id="25612" name="Text Box 15"/>
          <p:cNvSpPr txBox="1">
            <a:spLocks noChangeArrowheads="1"/>
          </p:cNvSpPr>
          <p:nvPr/>
        </p:nvSpPr>
        <p:spPr bwMode="auto">
          <a:xfrm>
            <a:off x="7559676" y="2593976"/>
            <a:ext cx="1800225" cy="3667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  <a:latin typeface="Comic Sans MS" pitchFamily="66" charset="0"/>
              </a:rPr>
              <a:t>Family Income</a:t>
            </a:r>
          </a:p>
        </p:txBody>
      </p:sp>
      <p:sp>
        <p:nvSpPr>
          <p:cNvPr id="25613" name="Text Box 16"/>
          <p:cNvSpPr txBox="1">
            <a:spLocks noChangeArrowheads="1"/>
          </p:cNvSpPr>
          <p:nvPr/>
        </p:nvSpPr>
        <p:spPr bwMode="auto">
          <a:xfrm rot="616061">
            <a:off x="4724400" y="6016625"/>
            <a:ext cx="3627438" cy="3365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tabLst>
                <a:tab pos="406400" algn="l"/>
                <a:tab pos="798513" algn="l"/>
                <a:tab pos="1204913" algn="l"/>
                <a:tab pos="1597025" algn="l"/>
                <a:tab pos="2003425" algn="l"/>
                <a:tab pos="2395538" algn="l"/>
                <a:tab pos="2801938" algn="l"/>
                <a:tab pos="3208338" algn="l"/>
              </a:tabLst>
            </a:pPr>
            <a:r>
              <a:rPr lang="en-US" sz="1600">
                <a:solidFill>
                  <a:srgbClr val="000000"/>
                </a:solidFill>
              </a:rPr>
              <a:t>0	1	2	3	4	5	6	7	8</a:t>
            </a:r>
          </a:p>
        </p:txBody>
      </p:sp>
      <p:sp>
        <p:nvSpPr>
          <p:cNvPr id="25614" name="Text Box 17"/>
          <p:cNvSpPr txBox="1">
            <a:spLocks noChangeArrowheads="1"/>
          </p:cNvSpPr>
          <p:nvPr/>
        </p:nvSpPr>
        <p:spPr bwMode="auto">
          <a:xfrm>
            <a:off x="4367213" y="549276"/>
            <a:ext cx="476250" cy="55038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12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11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9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8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7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6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1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0</a:t>
            </a:r>
            <a:endParaRPr lang="en-US" sz="800">
              <a:solidFill>
                <a:srgbClr val="000000"/>
              </a:solidFill>
              <a:latin typeface="Comic Sans MS" pitchFamily="66" charset="0"/>
            </a:endParaRPr>
          </a:p>
          <a:p>
            <a:pPr>
              <a:spcBef>
                <a:spcPct val="50000"/>
              </a:spcBef>
            </a:pPr>
            <a:endParaRPr lang="en-US" sz="800">
              <a:solidFill>
                <a:srgbClr val="000000"/>
              </a:solidFill>
              <a:latin typeface="Comic Sans MS" pitchFamily="66" charset="0"/>
            </a:endParaRPr>
          </a:p>
        </p:txBody>
      </p:sp>
      <p:sp>
        <p:nvSpPr>
          <p:cNvPr id="25615" name="Rectangle 8"/>
          <p:cNvSpPr>
            <a:spLocks noChangeArrowheads="1"/>
          </p:cNvSpPr>
          <p:nvPr/>
        </p:nvSpPr>
        <p:spPr bwMode="auto">
          <a:xfrm>
            <a:off x="1574801" y="1419226"/>
            <a:ext cx="336867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>
                <a:solidFill>
                  <a:srgbClr val="0033CC"/>
                </a:solidFill>
              </a:rPr>
              <a:t>Formulas are available for computing values of</a:t>
            </a:r>
            <a:br>
              <a:rPr lang="en-US">
                <a:solidFill>
                  <a:srgbClr val="0033CC"/>
                </a:solidFill>
              </a:rPr>
            </a:br>
            <a:r>
              <a:rPr lang="en-US">
                <a:solidFill>
                  <a:srgbClr val="0033CC"/>
                </a:solidFill>
              </a:rPr>
              <a:t>a, b</a:t>
            </a:r>
            <a:r>
              <a:rPr lang="en-US" baseline="-20000">
                <a:solidFill>
                  <a:srgbClr val="0033CC"/>
                </a:solidFill>
              </a:rPr>
              <a:t>1</a:t>
            </a:r>
            <a:r>
              <a:rPr lang="en-US">
                <a:solidFill>
                  <a:srgbClr val="0033CC"/>
                </a:solidFill>
              </a:rPr>
              <a:t> and b</a:t>
            </a:r>
            <a:r>
              <a:rPr lang="en-US" baseline="-20000">
                <a:solidFill>
                  <a:srgbClr val="0033CC"/>
                </a:solidFill>
              </a:rPr>
              <a:t>2</a:t>
            </a:r>
            <a:r>
              <a:rPr lang="en-US">
                <a:solidFill>
                  <a:srgbClr val="0033CC"/>
                </a:solidFill>
              </a:rPr>
              <a:t> </a:t>
            </a:r>
          </a:p>
          <a:p>
            <a:pPr>
              <a:spcBef>
                <a:spcPct val="20000"/>
              </a:spcBef>
            </a:pPr>
            <a:endParaRPr lang="en-US" sz="1100">
              <a:solidFill>
                <a:srgbClr val="0033CC"/>
              </a:solidFill>
            </a:endParaRPr>
          </a:p>
          <a:p>
            <a:pPr>
              <a:spcBef>
                <a:spcPct val="20000"/>
              </a:spcBef>
            </a:pPr>
            <a:r>
              <a:rPr lang="en-US" sz="1600">
                <a:solidFill>
                  <a:srgbClr val="0033CC"/>
                </a:solidFill>
              </a:rPr>
              <a:t>MULTIPLE REGRESSION</a:t>
            </a:r>
            <a:br>
              <a:rPr lang="en-US" sz="1600">
                <a:solidFill>
                  <a:srgbClr val="0033CC"/>
                </a:solidFill>
              </a:rPr>
            </a:br>
            <a:r>
              <a:rPr lang="en-US" sz="1600">
                <a:solidFill>
                  <a:srgbClr val="0033CC"/>
                </a:solidFill>
              </a:rPr>
              <a:t>MODEL FOR OUR EXAMPLE:</a:t>
            </a:r>
          </a:p>
        </p:txBody>
      </p:sp>
      <p:sp>
        <p:nvSpPr>
          <p:cNvPr id="25616" name="Oval 18"/>
          <p:cNvSpPr>
            <a:spLocks noChangeArrowheads="1"/>
          </p:cNvSpPr>
          <p:nvPr/>
        </p:nvSpPr>
        <p:spPr bwMode="auto">
          <a:xfrm>
            <a:off x="6372225" y="3386138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17" name="Oval 19"/>
          <p:cNvSpPr>
            <a:spLocks noChangeArrowheads="1"/>
          </p:cNvSpPr>
          <p:nvPr/>
        </p:nvSpPr>
        <p:spPr bwMode="auto">
          <a:xfrm>
            <a:off x="6572250" y="2557463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18" name="Oval 20"/>
          <p:cNvSpPr>
            <a:spLocks noChangeArrowheads="1"/>
          </p:cNvSpPr>
          <p:nvPr/>
        </p:nvSpPr>
        <p:spPr bwMode="auto">
          <a:xfrm>
            <a:off x="7186613" y="2771775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19" name="Oval 21"/>
          <p:cNvSpPr>
            <a:spLocks noChangeArrowheads="1"/>
          </p:cNvSpPr>
          <p:nvPr/>
        </p:nvSpPr>
        <p:spPr bwMode="auto">
          <a:xfrm>
            <a:off x="7329488" y="2200275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20" name="Oval 22"/>
          <p:cNvSpPr>
            <a:spLocks noChangeArrowheads="1"/>
          </p:cNvSpPr>
          <p:nvPr/>
        </p:nvSpPr>
        <p:spPr bwMode="auto">
          <a:xfrm>
            <a:off x="7781925" y="1816100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21" name="Oval 23"/>
          <p:cNvSpPr>
            <a:spLocks noChangeArrowheads="1"/>
          </p:cNvSpPr>
          <p:nvPr/>
        </p:nvSpPr>
        <p:spPr bwMode="auto">
          <a:xfrm>
            <a:off x="7967663" y="2060575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22" name="Oval 24"/>
          <p:cNvSpPr>
            <a:spLocks noChangeArrowheads="1"/>
          </p:cNvSpPr>
          <p:nvPr/>
        </p:nvSpPr>
        <p:spPr bwMode="auto">
          <a:xfrm>
            <a:off x="8602663" y="736600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505" name="Oval 25"/>
          <p:cNvSpPr>
            <a:spLocks noChangeArrowheads="1"/>
          </p:cNvSpPr>
          <p:nvPr/>
        </p:nvSpPr>
        <p:spPr bwMode="auto">
          <a:xfrm>
            <a:off x="6388100" y="3101975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506" name="Oval 26"/>
          <p:cNvSpPr>
            <a:spLocks noChangeArrowheads="1"/>
          </p:cNvSpPr>
          <p:nvPr/>
        </p:nvSpPr>
        <p:spPr bwMode="auto">
          <a:xfrm>
            <a:off x="6573838" y="2830513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507" name="Oval 27"/>
          <p:cNvSpPr>
            <a:spLocks noChangeArrowheads="1"/>
          </p:cNvSpPr>
          <p:nvPr/>
        </p:nvSpPr>
        <p:spPr bwMode="auto">
          <a:xfrm>
            <a:off x="7188200" y="3087688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508" name="Oval 28"/>
          <p:cNvSpPr>
            <a:spLocks noChangeArrowheads="1"/>
          </p:cNvSpPr>
          <p:nvPr/>
        </p:nvSpPr>
        <p:spPr bwMode="auto">
          <a:xfrm>
            <a:off x="7345363" y="2373313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509" name="Oval 29"/>
          <p:cNvSpPr>
            <a:spLocks noChangeArrowheads="1"/>
          </p:cNvSpPr>
          <p:nvPr/>
        </p:nvSpPr>
        <p:spPr bwMode="auto">
          <a:xfrm>
            <a:off x="7783513" y="2032000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510" name="Oval 30"/>
          <p:cNvSpPr>
            <a:spLocks noChangeArrowheads="1"/>
          </p:cNvSpPr>
          <p:nvPr/>
        </p:nvSpPr>
        <p:spPr bwMode="auto">
          <a:xfrm>
            <a:off x="7969250" y="1619250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511" name="Oval 31"/>
          <p:cNvSpPr>
            <a:spLocks noChangeArrowheads="1"/>
          </p:cNvSpPr>
          <p:nvPr/>
        </p:nvSpPr>
        <p:spPr bwMode="auto">
          <a:xfrm>
            <a:off x="8604250" y="881063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30" name="Oval 32"/>
          <p:cNvSpPr>
            <a:spLocks noChangeArrowheads="1"/>
          </p:cNvSpPr>
          <p:nvPr/>
        </p:nvSpPr>
        <p:spPr bwMode="auto">
          <a:xfrm>
            <a:off x="5808663" y="5229225"/>
            <a:ext cx="76200" cy="762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31" name="Oval 33"/>
          <p:cNvSpPr>
            <a:spLocks noChangeArrowheads="1"/>
          </p:cNvSpPr>
          <p:nvPr/>
        </p:nvSpPr>
        <p:spPr bwMode="auto">
          <a:xfrm>
            <a:off x="5810250" y="5445125"/>
            <a:ext cx="76200" cy="76200"/>
          </a:xfrm>
          <a:prstGeom prst="ellipse">
            <a:avLst/>
          </a:prstGeom>
          <a:solidFill>
            <a:srgbClr val="66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632" name="Text Box 34"/>
          <p:cNvSpPr txBox="1">
            <a:spLocks noChangeArrowheads="1"/>
          </p:cNvSpPr>
          <p:nvPr/>
        </p:nvSpPr>
        <p:spPr bwMode="auto">
          <a:xfrm>
            <a:off x="5910263" y="5186364"/>
            <a:ext cx="1871662" cy="45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1400">
                <a:solidFill>
                  <a:srgbClr val="000000"/>
                </a:solidFill>
              </a:rPr>
              <a:t>Actual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1400">
                <a:solidFill>
                  <a:srgbClr val="000000"/>
                </a:solidFill>
              </a:rPr>
              <a:t>Regression Estimate</a:t>
            </a:r>
          </a:p>
        </p:txBody>
      </p:sp>
      <p:pic>
        <p:nvPicPr>
          <p:cNvPr id="25633" name="Picture 35" descr="j042381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255125" y="4394201"/>
            <a:ext cx="1233488" cy="148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603" name="Object 1"/>
          <p:cNvGraphicFramePr>
            <a:graphicFrameLocks noChangeAspect="1"/>
          </p:cNvGraphicFramePr>
          <p:nvPr/>
        </p:nvGraphicFramePr>
        <p:xfrm>
          <a:off x="1854201" y="990601"/>
          <a:ext cx="20812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8" imgW="748975" imgH="165028" progId="Equation.3">
                  <p:embed/>
                </p:oleObj>
              </mc:Choice>
              <mc:Fallback>
                <p:oleObj name="Equation" r:id="rId8" imgW="748975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1" y="990601"/>
                        <a:ext cx="2081213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39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5" grpId="0" animBg="1"/>
      <p:bldP spid="20506" grpId="0" animBg="1"/>
      <p:bldP spid="20507" grpId="0" animBg="1"/>
      <p:bldP spid="20508" grpId="0" animBg="1"/>
      <p:bldP spid="20509" grpId="0" animBg="1"/>
      <p:bldP spid="20510" grpId="0" animBg="1"/>
      <p:bldP spid="205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56459" name="Group 139"/>
          <p:cNvGraphicFramePr>
            <a:graphicFrameLocks noGrp="1"/>
          </p:cNvGraphicFramePr>
          <p:nvPr>
            <p:ph type="tbl" idx="1"/>
          </p:nvPr>
        </p:nvGraphicFramePr>
        <p:xfrm>
          <a:off x="1752600" y="1447801"/>
          <a:ext cx="7886700" cy="4314705"/>
        </p:xfrm>
        <a:graphic>
          <a:graphicData uri="http://schemas.openxmlformats.org/drawingml/2006/table">
            <a:tbl>
              <a:tblPr/>
              <a:tblGrid>
                <a:gridCol w="990600"/>
                <a:gridCol w="1066800"/>
                <a:gridCol w="1066800"/>
                <a:gridCol w="952500"/>
                <a:gridCol w="1257300"/>
                <a:gridCol w="1371600"/>
                <a:gridCol w="1181100"/>
              </a:tblGrid>
              <a:tr h="1328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 #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of Credit Cards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9900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</a:rPr>
                        <a:t>Family Income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($000)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Regression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Estimate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(Residual)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Errors Squared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?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626" name="Object 75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76"/>
          <p:cNvGraphicFramePr>
            <a:graphicFrameLocks noChangeAspect="1"/>
          </p:cNvGraphicFramePr>
          <p:nvPr/>
        </p:nvGraphicFramePr>
        <p:xfrm>
          <a:off x="7467600" y="1447800"/>
          <a:ext cx="68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447800"/>
                        <a:ext cx="685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77"/>
          <p:cNvGraphicFramePr>
            <a:graphicFrameLocks noChangeAspect="1"/>
          </p:cNvGraphicFramePr>
          <p:nvPr/>
        </p:nvGraphicFramePr>
        <p:xfrm>
          <a:off x="6172200" y="1447800"/>
          <a:ext cx="2619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139639" imgH="203112" progId="Equation.3">
                  <p:embed/>
                </p:oleObj>
              </mc:Choice>
              <mc:Fallback>
                <p:oleObj name="Equation" r:id="rId7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47800"/>
                        <a:ext cx="26193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78"/>
          <p:cNvGraphicFramePr>
            <a:graphicFrameLocks noChangeAspect="1"/>
          </p:cNvGraphicFramePr>
          <p:nvPr/>
        </p:nvGraphicFramePr>
        <p:xfrm>
          <a:off x="8610600" y="1431926"/>
          <a:ext cx="9969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571252" imgH="317362" progId="Equation.3">
                  <p:embed/>
                </p:oleObj>
              </mc:Choice>
              <mc:Fallback>
                <p:oleObj name="Equation" r:id="rId9" imgW="571252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1431926"/>
                        <a:ext cx="9969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19" name="Line 81"/>
          <p:cNvSpPr>
            <a:spLocks noChangeShapeType="1"/>
          </p:cNvSpPr>
          <p:nvPr/>
        </p:nvSpPr>
        <p:spPr bwMode="auto">
          <a:xfrm flipH="1">
            <a:off x="6553200" y="1295400"/>
            <a:ext cx="685800" cy="1600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6630" name="Object 83"/>
          <p:cNvGraphicFramePr>
            <a:graphicFrameLocks noChangeAspect="1"/>
          </p:cNvGraphicFramePr>
          <p:nvPr/>
        </p:nvGraphicFramePr>
        <p:xfrm>
          <a:off x="8610600" y="5791201"/>
          <a:ext cx="1270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710891" imgH="253890" progId="Equation.3">
                  <p:embed/>
                </p:oleObj>
              </mc:Choice>
              <mc:Fallback>
                <p:oleObj name="Equation" r:id="rId11" imgW="710891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5791201"/>
                        <a:ext cx="12700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0" name="Line 87"/>
          <p:cNvSpPr>
            <a:spLocks noChangeShapeType="1"/>
          </p:cNvSpPr>
          <p:nvPr/>
        </p:nvSpPr>
        <p:spPr bwMode="auto">
          <a:xfrm flipV="1">
            <a:off x="4419600" y="1295400"/>
            <a:ext cx="685800" cy="1600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6631" name="Object 88"/>
          <p:cNvGraphicFramePr>
            <a:graphicFrameLocks noChangeAspect="1"/>
          </p:cNvGraphicFramePr>
          <p:nvPr/>
        </p:nvGraphicFramePr>
        <p:xfrm>
          <a:off x="3505200" y="914400"/>
          <a:ext cx="281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1497950" imgH="215806" progId="Equation.3">
                  <p:embed/>
                </p:oleObj>
              </mc:Choice>
              <mc:Fallback>
                <p:oleObj name="Equation" r:id="rId13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914400"/>
                        <a:ext cx="2819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9"/>
          <p:cNvGraphicFramePr>
            <a:graphicFrameLocks noChangeAspect="1"/>
          </p:cNvGraphicFramePr>
          <p:nvPr/>
        </p:nvGraphicFramePr>
        <p:xfrm>
          <a:off x="7162801" y="990601"/>
          <a:ext cx="24447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139639" imgH="203112" progId="Equation.3">
                  <p:embed/>
                </p:oleObj>
              </mc:Choice>
              <mc:Fallback>
                <p:oleObj name="Equation" r:id="rId15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1" y="990601"/>
                        <a:ext cx="244475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1" name="Line 132"/>
          <p:cNvSpPr>
            <a:spLocks noChangeShapeType="1"/>
          </p:cNvSpPr>
          <p:nvPr/>
        </p:nvSpPr>
        <p:spPr bwMode="auto">
          <a:xfrm flipV="1">
            <a:off x="5486400" y="1295400"/>
            <a:ext cx="609600" cy="1600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6633" name="Object 133"/>
          <p:cNvGraphicFramePr>
            <a:graphicFrameLocks noChangeAspect="1"/>
          </p:cNvGraphicFramePr>
          <p:nvPr/>
        </p:nvGraphicFramePr>
        <p:xfrm>
          <a:off x="3048001" y="1524000"/>
          <a:ext cx="2587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17" imgW="139579" imgH="164957" progId="Equation.3">
                  <p:embed/>
                </p:oleObj>
              </mc:Choice>
              <mc:Fallback>
                <p:oleObj name="Equation" r:id="rId17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1524000"/>
                        <a:ext cx="258763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34"/>
          <p:cNvGraphicFramePr>
            <a:graphicFrameLocks noChangeAspect="1"/>
          </p:cNvGraphicFramePr>
          <p:nvPr/>
        </p:nvGraphicFramePr>
        <p:xfrm>
          <a:off x="4191001" y="1371600"/>
          <a:ext cx="3651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19" imgW="152268" imgH="215713" progId="Equation.3">
                  <p:embed/>
                </p:oleObj>
              </mc:Choice>
              <mc:Fallback>
                <p:oleObj name="Equation" r:id="rId19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1371600"/>
                        <a:ext cx="365125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35"/>
          <p:cNvGraphicFramePr>
            <a:graphicFrameLocks noChangeAspect="1"/>
          </p:cNvGraphicFramePr>
          <p:nvPr/>
        </p:nvGraphicFramePr>
        <p:xfrm>
          <a:off x="5105400" y="1371600"/>
          <a:ext cx="3952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21" imgW="164885" imgH="215619" progId="Equation.3">
                  <p:embed/>
                </p:oleObj>
              </mc:Choice>
              <mc:Fallback>
                <p:oleObj name="Equation" r:id="rId21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371600"/>
                        <a:ext cx="395288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571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78851" name="Group 3"/>
          <p:cNvGraphicFramePr>
            <a:graphicFrameLocks noGrp="1"/>
          </p:cNvGraphicFramePr>
          <p:nvPr>
            <p:ph type="tbl" idx="1"/>
          </p:nvPr>
        </p:nvGraphicFramePr>
        <p:xfrm>
          <a:off x="1752600" y="1447801"/>
          <a:ext cx="7886700" cy="4314705"/>
        </p:xfrm>
        <a:graphic>
          <a:graphicData uri="http://schemas.openxmlformats.org/drawingml/2006/table">
            <a:tbl>
              <a:tblPr/>
              <a:tblGrid>
                <a:gridCol w="990600"/>
                <a:gridCol w="1066800"/>
                <a:gridCol w="1066800"/>
                <a:gridCol w="952500"/>
                <a:gridCol w="1257300"/>
                <a:gridCol w="1371600"/>
                <a:gridCol w="1181100"/>
              </a:tblGrid>
              <a:tr h="1328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#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of Credit Cards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9900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</a:rPr>
                        <a:t>Family Income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($000)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Regression Estimate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(Residual)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Errors Squared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4.77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-.77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.59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5.20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.80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.64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6.03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-.03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.00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6.68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.32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.10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7.53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.47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.22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8.18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-1.18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1.39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7.95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.05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.00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9.67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.33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.11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650" name="Object 85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86"/>
          <p:cNvGraphicFramePr>
            <a:graphicFrameLocks noChangeAspect="1"/>
          </p:cNvGraphicFramePr>
          <p:nvPr/>
        </p:nvGraphicFramePr>
        <p:xfrm>
          <a:off x="7467600" y="1447800"/>
          <a:ext cx="68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447800"/>
                        <a:ext cx="685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87"/>
          <p:cNvGraphicFramePr>
            <a:graphicFrameLocks noChangeAspect="1"/>
          </p:cNvGraphicFramePr>
          <p:nvPr/>
        </p:nvGraphicFramePr>
        <p:xfrm>
          <a:off x="6172200" y="1447800"/>
          <a:ext cx="2619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139639" imgH="203112" progId="Equation.3">
                  <p:embed/>
                </p:oleObj>
              </mc:Choice>
              <mc:Fallback>
                <p:oleObj name="Equation" r:id="rId7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47800"/>
                        <a:ext cx="26193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88"/>
          <p:cNvGraphicFramePr>
            <a:graphicFrameLocks noChangeAspect="1"/>
          </p:cNvGraphicFramePr>
          <p:nvPr/>
        </p:nvGraphicFramePr>
        <p:xfrm>
          <a:off x="8610600" y="1447801"/>
          <a:ext cx="9969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571252" imgH="317362" progId="Equation.3">
                  <p:embed/>
                </p:oleObj>
              </mc:Choice>
              <mc:Fallback>
                <p:oleObj name="Equation" r:id="rId9" imgW="571252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1447801"/>
                        <a:ext cx="9969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43" name="Line 89"/>
          <p:cNvSpPr>
            <a:spLocks noChangeShapeType="1"/>
          </p:cNvSpPr>
          <p:nvPr/>
        </p:nvSpPr>
        <p:spPr bwMode="auto">
          <a:xfrm flipH="1">
            <a:off x="6705600" y="1219200"/>
            <a:ext cx="990600" cy="1676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7654" name="Object 90"/>
          <p:cNvGraphicFramePr>
            <a:graphicFrameLocks noChangeAspect="1"/>
          </p:cNvGraphicFramePr>
          <p:nvPr>
            <p:extLst/>
          </p:nvPr>
        </p:nvGraphicFramePr>
        <p:xfrm>
          <a:off x="8281723" y="5854016"/>
          <a:ext cx="21764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1219200" imgH="330200" progId="Equation.3">
                  <p:embed/>
                </p:oleObj>
              </mc:Choice>
              <mc:Fallback>
                <p:oleObj name="Equation" r:id="rId11" imgW="12192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1723" y="5854016"/>
                        <a:ext cx="2176462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39" name="Text Box 91"/>
          <p:cNvSpPr txBox="1">
            <a:spLocks noChangeArrowheads="1"/>
          </p:cNvSpPr>
          <p:nvPr/>
        </p:nvSpPr>
        <p:spPr bwMode="auto">
          <a:xfrm>
            <a:off x="3131344" y="5820911"/>
            <a:ext cx="4343400" cy="646331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0066"/>
                </a:solidFill>
              </a:rPr>
              <a:t>SSE</a:t>
            </a:r>
            <a:r>
              <a:rPr lang="en-US">
                <a:solidFill>
                  <a:srgbClr val="FF0066"/>
                </a:solidFill>
              </a:rPr>
              <a:t> </a:t>
            </a:r>
            <a:r>
              <a:rPr lang="en-US" b="1">
                <a:solidFill>
                  <a:srgbClr val="FF0066"/>
                </a:solidFill>
              </a:rPr>
              <a:t>= Sum of  Squares Error (Residual)</a:t>
            </a:r>
          </a:p>
        </p:txBody>
      </p:sp>
      <p:sp>
        <p:nvSpPr>
          <p:cNvPr id="27745" name="Line 94"/>
          <p:cNvSpPr>
            <a:spLocks noChangeShapeType="1"/>
          </p:cNvSpPr>
          <p:nvPr/>
        </p:nvSpPr>
        <p:spPr bwMode="auto">
          <a:xfrm flipV="1">
            <a:off x="4495800" y="1219200"/>
            <a:ext cx="1600200" cy="1676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7655" name="Object 95"/>
          <p:cNvGraphicFramePr>
            <a:graphicFrameLocks noChangeAspect="1"/>
          </p:cNvGraphicFramePr>
          <p:nvPr/>
        </p:nvGraphicFramePr>
        <p:xfrm>
          <a:off x="1524000" y="914400"/>
          <a:ext cx="281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1497950" imgH="215806" progId="Equation.3">
                  <p:embed/>
                </p:oleObj>
              </mc:Choice>
              <mc:Fallback>
                <p:oleObj name="Equation" r:id="rId13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914400"/>
                        <a:ext cx="2819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96"/>
          <p:cNvGraphicFramePr>
            <a:graphicFrameLocks noChangeAspect="1"/>
          </p:cNvGraphicFramePr>
          <p:nvPr/>
        </p:nvGraphicFramePr>
        <p:xfrm>
          <a:off x="4572000" y="914401"/>
          <a:ext cx="36576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15" imgW="2095500" imgH="203200" progId="Equation.3">
                  <p:embed/>
                </p:oleObj>
              </mc:Choice>
              <mc:Fallback>
                <p:oleObj name="Equation" r:id="rId15" imgW="2095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14401"/>
                        <a:ext cx="3657600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46" name="Line 97"/>
          <p:cNvSpPr>
            <a:spLocks noChangeShapeType="1"/>
          </p:cNvSpPr>
          <p:nvPr/>
        </p:nvSpPr>
        <p:spPr bwMode="auto">
          <a:xfrm flipV="1">
            <a:off x="5562600" y="1219200"/>
            <a:ext cx="1676400" cy="1600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7657" name="Object 98"/>
          <p:cNvGraphicFramePr>
            <a:graphicFrameLocks noChangeAspect="1"/>
          </p:cNvGraphicFramePr>
          <p:nvPr/>
        </p:nvGraphicFramePr>
        <p:xfrm>
          <a:off x="3048001" y="1524000"/>
          <a:ext cx="2587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Equation" r:id="rId17" imgW="139579" imgH="164957" progId="Equation.3">
                  <p:embed/>
                </p:oleObj>
              </mc:Choice>
              <mc:Fallback>
                <p:oleObj name="Equation" r:id="rId17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1524000"/>
                        <a:ext cx="258763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99"/>
          <p:cNvGraphicFramePr>
            <a:graphicFrameLocks noChangeAspect="1"/>
          </p:cNvGraphicFramePr>
          <p:nvPr/>
        </p:nvGraphicFramePr>
        <p:xfrm>
          <a:off x="4191001" y="1371600"/>
          <a:ext cx="3651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" name="Equation" r:id="rId19" imgW="152268" imgH="215713" progId="Equation.3">
                  <p:embed/>
                </p:oleObj>
              </mc:Choice>
              <mc:Fallback>
                <p:oleObj name="Equation" r:id="rId19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1371600"/>
                        <a:ext cx="365125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00"/>
          <p:cNvGraphicFramePr>
            <a:graphicFrameLocks noChangeAspect="1"/>
          </p:cNvGraphicFramePr>
          <p:nvPr/>
        </p:nvGraphicFramePr>
        <p:xfrm>
          <a:off x="5105400" y="1371600"/>
          <a:ext cx="3952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Equation" r:id="rId21" imgW="164885" imgH="215619" progId="Equation.3">
                  <p:embed/>
                </p:oleObj>
              </mc:Choice>
              <mc:Fallback>
                <p:oleObj name="Equation" r:id="rId21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371600"/>
                        <a:ext cx="395288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47" name="Line 101"/>
          <p:cNvSpPr>
            <a:spLocks noChangeShapeType="1"/>
          </p:cNvSpPr>
          <p:nvPr/>
        </p:nvSpPr>
        <p:spPr bwMode="auto">
          <a:xfrm>
            <a:off x="7648575" y="6144076"/>
            <a:ext cx="504825" cy="0"/>
          </a:xfrm>
          <a:prstGeom prst="line">
            <a:avLst/>
          </a:prstGeom>
          <a:noFill/>
          <a:ln w="9525">
            <a:solidFill>
              <a:srgbClr val="FF3399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8950" name="Text Box 102"/>
          <p:cNvSpPr txBox="1">
            <a:spLocks noChangeArrowheads="1"/>
          </p:cNvSpPr>
          <p:nvPr/>
        </p:nvSpPr>
        <p:spPr bwMode="auto">
          <a:xfrm>
            <a:off x="0" y="6418205"/>
            <a:ext cx="89178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9900CC"/>
                </a:solidFill>
              </a:rPr>
              <a:t>Unique (additional) contribution of </a:t>
            </a:r>
            <a:r>
              <a:rPr lang="en-US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b="1" baseline="-250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en-US" b="1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(family income) </a:t>
            </a:r>
            <a:r>
              <a:rPr lang="en-US" b="1" dirty="0">
                <a:solidFill>
                  <a:srgbClr val="9900CC"/>
                </a:solidFill>
              </a:rPr>
              <a:t>beyond </a:t>
            </a:r>
            <a:r>
              <a:rPr lang="en-US" sz="2000" b="1" dirty="0">
                <a:solidFill>
                  <a:srgbClr val="9900CC"/>
                </a:solidFill>
              </a:rPr>
              <a:t>X</a:t>
            </a:r>
            <a:r>
              <a:rPr lang="en-US" sz="2000" b="1" baseline="-25000" dirty="0">
                <a:solidFill>
                  <a:srgbClr val="9900CC"/>
                </a:solidFill>
              </a:rPr>
              <a:t>1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9900CC"/>
                </a:solidFill>
              </a:rPr>
              <a:t>= ?</a:t>
            </a:r>
          </a:p>
        </p:txBody>
      </p:sp>
      <p:sp>
        <p:nvSpPr>
          <p:cNvPr id="78951" name="Text Box 103"/>
          <p:cNvSpPr txBox="1">
            <a:spLocks noChangeArrowheads="1"/>
          </p:cNvSpPr>
          <p:nvPr/>
        </p:nvSpPr>
        <p:spPr bwMode="auto">
          <a:xfrm>
            <a:off x="8467726" y="6388101"/>
            <a:ext cx="28437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9900CC"/>
                </a:solidFill>
              </a:rPr>
              <a:t>5.5 – 3.05 = 2.45</a:t>
            </a:r>
          </a:p>
        </p:txBody>
      </p:sp>
    </p:spTree>
    <p:extLst>
      <p:ext uri="{BB962C8B-B14F-4D97-AF65-F5344CB8AC3E}">
        <p14:creationId xmlns:p14="http://schemas.microsoft.com/office/powerpoint/2010/main" val="251537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39" grpId="0" animBg="1" autoUpdateAnimBg="0"/>
      <p:bldP spid="78950" grpId="0"/>
      <p:bldP spid="7895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6"/>
          <p:cNvSpPr>
            <a:spLocks noChangeArrowheads="1"/>
          </p:cNvSpPr>
          <p:nvPr/>
        </p:nvSpPr>
        <p:spPr bwMode="auto">
          <a:xfrm>
            <a:off x="2895600" y="-952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sz="4400" b="1" i="1">
              <a:solidFill>
                <a:srgbClr val="000000"/>
              </a:solidFill>
            </a:endParaRPr>
          </a:p>
        </p:txBody>
      </p:sp>
      <p:pic>
        <p:nvPicPr>
          <p:cNvPr id="28676" name="Picture 7" descr="MENO07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55076" y="381000"/>
            <a:ext cx="1812925" cy="202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7" name="Line 10"/>
          <p:cNvSpPr>
            <a:spLocks noChangeShapeType="1"/>
          </p:cNvSpPr>
          <p:nvPr/>
        </p:nvSpPr>
        <p:spPr bwMode="auto">
          <a:xfrm flipV="1">
            <a:off x="3200400" y="1881188"/>
            <a:ext cx="457200" cy="4572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8678" name="Text Box 11"/>
          <p:cNvSpPr txBox="1">
            <a:spLocks noChangeArrowheads="1"/>
          </p:cNvSpPr>
          <p:nvPr/>
        </p:nvSpPr>
        <p:spPr bwMode="auto">
          <a:xfrm>
            <a:off x="2895600" y="20764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?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1631950" y="2414589"/>
            <a:ext cx="2979738" cy="3031599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Y-Intercept</a:t>
            </a:r>
            <a:r>
              <a:rPr lang="en-US" sz="2000">
                <a:solidFill>
                  <a:srgbClr val="009900"/>
                </a:solidFill>
              </a:rPr>
              <a:t>, “</a:t>
            </a:r>
            <a:r>
              <a:rPr lang="en-US" sz="2000" i="1">
                <a:solidFill>
                  <a:srgbClr val="009900"/>
                </a:solidFill>
              </a:rPr>
              <a:t>a</a:t>
            </a:r>
            <a:r>
              <a:rPr lang="en-US" sz="2000">
                <a:solidFill>
                  <a:srgbClr val="009900"/>
                </a:solidFill>
              </a:rPr>
              <a:t>”</a:t>
            </a:r>
            <a:r>
              <a:rPr lang="en-US" sz="2000">
                <a:solidFill>
                  <a:srgbClr val="FF0066"/>
                </a:solidFill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9900"/>
                </a:solidFill>
              </a:rPr>
              <a:t>(</a:t>
            </a:r>
            <a:r>
              <a:rPr lang="en-US" b="1">
                <a:solidFill>
                  <a:srgbClr val="009900"/>
                </a:solidFill>
              </a:rPr>
              <a:t>NOTE:</a:t>
            </a:r>
            <a:r>
              <a:rPr lang="en-US">
                <a:solidFill>
                  <a:srgbClr val="009900"/>
                </a:solidFill>
              </a:rPr>
              <a:t>  Only when all Xs can meaningfully take on value of zero, the intercept will have a meaningful/direct/ practical interpretation.  Otherwise, it is simply an aid in increasing accuracy of estimation.</a:t>
            </a:r>
          </a:p>
        </p:txBody>
      </p:sp>
      <p:sp>
        <p:nvSpPr>
          <p:cNvPr id="28680" name="Line 13"/>
          <p:cNvSpPr>
            <a:spLocks noChangeShapeType="1"/>
          </p:cNvSpPr>
          <p:nvPr/>
        </p:nvSpPr>
        <p:spPr bwMode="auto">
          <a:xfrm flipV="1">
            <a:off x="6705600" y="1957388"/>
            <a:ext cx="533400" cy="3810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8681" name="Text Box 14"/>
          <p:cNvSpPr txBox="1">
            <a:spLocks noChangeArrowheads="1"/>
          </p:cNvSpPr>
          <p:nvPr/>
        </p:nvSpPr>
        <p:spPr bwMode="auto">
          <a:xfrm>
            <a:off x="6324600" y="2033588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?</a:t>
            </a: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4800599" y="2420938"/>
            <a:ext cx="6443133" cy="3724096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b="1" i="1" baseline="-250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FF0066"/>
                </a:solidFill>
              </a:rPr>
              <a:t>and</a:t>
            </a:r>
            <a:r>
              <a:rPr 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sz="2000" b="1" i="1" baseline="-250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Regression Coefficients</a:t>
            </a:r>
          </a:p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FF0066"/>
                </a:solidFill>
              </a:rPr>
              <a:t>0.63</a:t>
            </a:r>
            <a:r>
              <a:rPr lang="en-US" dirty="0">
                <a:solidFill>
                  <a:srgbClr val="FF0066"/>
                </a:solidFill>
              </a:rPr>
              <a:t>:  </a:t>
            </a:r>
            <a:r>
              <a:rPr lang="en-US" u="sng" dirty="0">
                <a:solidFill>
                  <a:srgbClr val="FF0066"/>
                </a:solidFill>
              </a:rPr>
              <a:t>Among families of the same income</a:t>
            </a:r>
            <a:r>
              <a:rPr lang="en-US" dirty="0">
                <a:solidFill>
                  <a:srgbClr val="FF0066"/>
                </a:solidFill>
              </a:rPr>
              <a:t>, an increase in family size by one person would, on average, result in .63 more credit cards.</a:t>
            </a:r>
          </a:p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FF0066"/>
                </a:solidFill>
              </a:rPr>
              <a:t>0.21</a:t>
            </a:r>
            <a:r>
              <a:rPr lang="en-US" dirty="0">
                <a:solidFill>
                  <a:srgbClr val="FF0066"/>
                </a:solidFill>
              </a:rPr>
              <a:t>:   </a:t>
            </a:r>
            <a:r>
              <a:rPr lang="en-US" u="sng" dirty="0">
                <a:solidFill>
                  <a:srgbClr val="FF0066"/>
                </a:solidFill>
              </a:rPr>
              <a:t>Among families of the same size</a:t>
            </a:r>
            <a:r>
              <a:rPr lang="en-US" dirty="0">
                <a:solidFill>
                  <a:srgbClr val="FF0066"/>
                </a:solidFill>
              </a:rPr>
              <a:t>, an income increase of $1,000, results in an </a:t>
            </a:r>
            <a:r>
              <a:rPr lang="en-US" u="sng" dirty="0">
                <a:solidFill>
                  <a:srgbClr val="FF0066"/>
                </a:solidFill>
              </a:rPr>
              <a:t>average increase</a:t>
            </a:r>
            <a:r>
              <a:rPr lang="en-US" dirty="0">
                <a:solidFill>
                  <a:srgbClr val="FF0066"/>
                </a:solidFill>
              </a:rPr>
              <a:t> of 0.2 credit cards . </a:t>
            </a:r>
          </a:p>
          <a:p>
            <a:pPr>
              <a:spcBef>
                <a:spcPct val="50000"/>
              </a:spcBef>
              <a:defRPr/>
            </a:pPr>
            <a:r>
              <a:rPr lang="en-US" b="1" dirty="0">
                <a:solidFill>
                  <a:srgbClr val="FF0066"/>
                </a:solidFill>
              </a:rPr>
              <a:t>“</a:t>
            </a:r>
            <a:r>
              <a:rPr lang="en-US" b="1" i="1" dirty="0" err="1">
                <a:solidFill>
                  <a:srgbClr val="FF0066"/>
                </a:solidFill>
              </a:rPr>
              <a:t>b</a:t>
            </a:r>
            <a:r>
              <a:rPr lang="en-US" b="1" dirty="0" err="1">
                <a:solidFill>
                  <a:srgbClr val="FF0066"/>
                </a:solidFill>
              </a:rPr>
              <a:t>”s</a:t>
            </a:r>
            <a:r>
              <a:rPr lang="en-US" b="1" dirty="0">
                <a:solidFill>
                  <a:srgbClr val="FF0066"/>
                </a:solidFill>
              </a:rPr>
              <a:t> represent </a:t>
            </a:r>
            <a:r>
              <a:rPr lang="en-US" b="1" u="sng" dirty="0">
                <a:solidFill>
                  <a:srgbClr val="FF0066"/>
                </a:solidFill>
              </a:rPr>
              <a:t>effect of each X</a:t>
            </a:r>
            <a:r>
              <a:rPr lang="en-US" b="1" dirty="0">
                <a:solidFill>
                  <a:srgbClr val="FF0066"/>
                </a:solidFill>
              </a:rPr>
              <a:t> on Y </a:t>
            </a:r>
            <a:r>
              <a:rPr lang="en-US" b="1" u="sng" dirty="0">
                <a:solidFill>
                  <a:srgbClr val="FF0066"/>
                </a:solidFill>
              </a:rPr>
              <a:t>when all other Xs are controlled for</a:t>
            </a:r>
            <a:r>
              <a:rPr lang="en-US" b="1" dirty="0">
                <a:solidFill>
                  <a:srgbClr val="FF0066"/>
                </a:solidFill>
              </a:rPr>
              <a:t>/held constant/taken into account</a:t>
            </a:r>
          </a:p>
          <a:p>
            <a:pPr marL="400050" lvl="1" indent="-171450">
              <a:spcBef>
                <a:spcPct val="50000"/>
              </a:spcBef>
              <a:buFontTx/>
              <a:buChar char="•"/>
              <a:defRPr/>
            </a:pPr>
            <a:r>
              <a:rPr lang="en-US" b="1" dirty="0">
                <a:solidFill>
                  <a:srgbClr val="FF0066"/>
                </a:solidFill>
              </a:rPr>
              <a:t> i.e., after impacts of all other variables are  accounted for (remember the high blood pressure-hearing problem connection?)</a:t>
            </a:r>
            <a:r>
              <a:rPr lang="en-US" dirty="0">
                <a:solidFill>
                  <a:srgbClr val="FF0066"/>
                </a:solidFill>
              </a:rPr>
              <a:t>  </a:t>
            </a:r>
          </a:p>
        </p:txBody>
      </p:sp>
      <p:sp>
        <p:nvSpPr>
          <p:cNvPr id="28683" name="Rectangle 16"/>
          <p:cNvSpPr>
            <a:spLocks noGrp="1" noChangeArrowheads="1"/>
          </p:cNvSpPr>
          <p:nvPr>
            <p:ph type="title"/>
          </p:nvPr>
        </p:nvSpPr>
        <p:spPr>
          <a:xfrm>
            <a:off x="2514600" y="209550"/>
            <a:ext cx="7848600" cy="533400"/>
          </a:xfrm>
          <a:noFill/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</a:t>
            </a: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28674" name="Object 18"/>
          <p:cNvGraphicFramePr>
            <a:graphicFrameLocks noChangeAspect="1"/>
          </p:cNvGraphicFramePr>
          <p:nvPr/>
        </p:nvGraphicFramePr>
        <p:xfrm>
          <a:off x="2133600" y="1209676"/>
          <a:ext cx="65532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4" imgW="1497950" imgH="215806" progId="Equation.3">
                  <p:embed/>
                </p:oleObj>
              </mc:Choice>
              <mc:Fallback>
                <p:oleObj name="Equation" r:id="rId4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09676"/>
                        <a:ext cx="6553200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Line 19"/>
          <p:cNvSpPr>
            <a:spLocks noChangeShapeType="1"/>
          </p:cNvSpPr>
          <p:nvPr/>
        </p:nvSpPr>
        <p:spPr bwMode="auto">
          <a:xfrm flipH="1" flipV="1">
            <a:off x="5638800" y="1881188"/>
            <a:ext cx="685800" cy="4572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8685" name="Text Box 24"/>
          <p:cNvSpPr txBox="1">
            <a:spLocks noChangeArrowheads="1"/>
          </p:cNvSpPr>
          <p:nvPr/>
        </p:nvSpPr>
        <p:spPr bwMode="auto">
          <a:xfrm>
            <a:off x="1776413" y="904876"/>
            <a:ext cx="7924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>
                <a:solidFill>
                  <a:srgbClr val="0033CC"/>
                </a:solidFill>
              </a:rPr>
              <a:t>The MULTIPLE REGRESSION MODEL FOR OUR EXAMPLE:</a:t>
            </a:r>
            <a:endParaRPr 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73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6" grpId="0" animBg="1" autoUpdateAnimBg="0"/>
      <p:bldP spid="57359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47851" y="2120901"/>
            <a:ext cx="3960813" cy="12366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>
                <a:solidFill>
                  <a:srgbClr val="0000FF"/>
                </a:solidFill>
              </a:rPr>
              <a:t>SST = 22        SSE = 3.05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>
                <a:solidFill>
                  <a:srgbClr val="0000FF"/>
                </a:solidFill>
              </a:rPr>
              <a:t>What is our new R</a:t>
            </a:r>
            <a:r>
              <a:rPr lang="en-US" sz="2800" baseline="50000">
                <a:solidFill>
                  <a:srgbClr val="0000FF"/>
                </a:solidFill>
              </a:rPr>
              <a:t>2</a:t>
            </a:r>
            <a:r>
              <a:rPr lang="en-US" sz="280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2895600" y="-952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en-US" sz="4400" b="1" i="1">
              <a:solidFill>
                <a:srgbClr val="000000"/>
              </a:solidFill>
            </a:endParaRPr>
          </a:p>
        </p:txBody>
      </p:sp>
      <p:pic>
        <p:nvPicPr>
          <p:cNvPr id="29701" name="Picture 4" descr="MENO07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55076" y="381000"/>
            <a:ext cx="1812925" cy="202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Rectangle 11"/>
          <p:cNvSpPr>
            <a:spLocks noGrp="1" noChangeArrowheads="1"/>
          </p:cNvSpPr>
          <p:nvPr>
            <p:ph type="title"/>
          </p:nvPr>
        </p:nvSpPr>
        <p:spPr>
          <a:xfrm>
            <a:off x="2514600" y="209550"/>
            <a:ext cx="7848600" cy="533400"/>
          </a:xfrm>
          <a:noFill/>
        </p:spPr>
        <p:txBody>
          <a:bodyPr/>
          <a:lstStyle/>
          <a:p>
            <a:pPr eaLnBrk="1" hangingPunct="1"/>
            <a:r>
              <a:rPr lang="en-US" sz="3200" b="1">
                <a:solidFill>
                  <a:schemeClr val="tx1"/>
                </a:solidFill>
              </a:rPr>
              <a:t>  </a:t>
            </a:r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29698" name="Object 12"/>
          <p:cNvGraphicFramePr>
            <a:graphicFrameLocks noChangeAspect="1"/>
          </p:cNvGraphicFramePr>
          <p:nvPr>
            <p:extLst/>
          </p:nvPr>
        </p:nvGraphicFramePr>
        <p:xfrm>
          <a:off x="3368675" y="1357313"/>
          <a:ext cx="401478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4" imgW="1536480" imgH="215640" progId="Equation.3">
                  <p:embed/>
                </p:oleObj>
              </mc:Choice>
              <mc:Fallback>
                <p:oleObj name="Equation" r:id="rId4" imgW="1536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1357313"/>
                        <a:ext cx="4014788" cy="563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4" name="Text Box 14"/>
          <p:cNvSpPr txBox="1">
            <a:spLocks noChangeArrowheads="1"/>
          </p:cNvSpPr>
          <p:nvPr/>
        </p:nvSpPr>
        <p:spPr bwMode="auto">
          <a:xfrm>
            <a:off x="1774825" y="3500439"/>
            <a:ext cx="4622800" cy="12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>
                <a:solidFill>
                  <a:srgbClr val="0033CC"/>
                </a:solidFill>
              </a:rPr>
              <a:t>SS Regression = 22 – 3.05 = 18.95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28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sz="2800" baseline="50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2800" baseline="50000">
                <a:solidFill>
                  <a:srgbClr val="0033CC"/>
                </a:solidFill>
              </a:rPr>
              <a:t> </a:t>
            </a:r>
            <a:r>
              <a:rPr lang="en-US" sz="2800">
                <a:solidFill>
                  <a:srgbClr val="0033CC"/>
                </a:solidFill>
              </a:rPr>
              <a:t>= 18.95 / 22 = .861 or 86%</a:t>
            </a:r>
            <a:endParaRPr lang="en-US" sz="2800" baseline="30000">
              <a:solidFill>
                <a:srgbClr val="0033CC"/>
              </a:solidFill>
            </a:endParaRPr>
          </a:p>
        </p:txBody>
      </p:sp>
      <p:sp>
        <p:nvSpPr>
          <p:cNvPr id="29704" name="Text Box 15"/>
          <p:cNvSpPr txBox="1">
            <a:spLocks noChangeArrowheads="1"/>
          </p:cNvSpPr>
          <p:nvPr/>
        </p:nvSpPr>
        <p:spPr bwMode="auto">
          <a:xfrm>
            <a:off x="1776413" y="904876"/>
            <a:ext cx="7924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>
                <a:solidFill>
                  <a:srgbClr val="0033CC"/>
                </a:solidFill>
              </a:rPr>
              <a:t>The MULTIPLE REGRESSION MODEL FOR OUR EXAMPLE: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133136" name="Text Box 16"/>
          <p:cNvSpPr txBox="1">
            <a:spLocks noChangeArrowheads="1"/>
          </p:cNvSpPr>
          <p:nvPr/>
        </p:nvSpPr>
        <p:spPr bwMode="auto">
          <a:xfrm>
            <a:off x="6808788" y="3524250"/>
            <a:ext cx="3751262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Percent of differences in households’ number of CCs that is explained by differences in family size and family income.  </a:t>
            </a:r>
          </a:p>
        </p:txBody>
      </p:sp>
      <p:sp>
        <p:nvSpPr>
          <p:cNvPr id="133137" name="Text Box 17"/>
          <p:cNvSpPr txBox="1">
            <a:spLocks noChangeArrowheads="1"/>
          </p:cNvSpPr>
          <p:nvPr/>
        </p:nvSpPr>
        <p:spPr bwMode="auto">
          <a:xfrm>
            <a:off x="2135188" y="5013325"/>
            <a:ext cx="30480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The Remaining 14%?</a:t>
            </a:r>
          </a:p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(3.05 / 22 = .14)</a:t>
            </a:r>
          </a:p>
        </p:txBody>
      </p:sp>
      <p:sp>
        <p:nvSpPr>
          <p:cNvPr id="29707" name="Text Box 18"/>
          <p:cNvSpPr txBox="1">
            <a:spLocks noChangeArrowheads="1"/>
          </p:cNvSpPr>
          <p:nvPr/>
        </p:nvSpPr>
        <p:spPr bwMode="auto">
          <a:xfrm>
            <a:off x="1520826" y="4557713"/>
            <a:ext cx="39989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33139" name="Line 19"/>
          <p:cNvSpPr>
            <a:spLocks noChangeShapeType="1"/>
          </p:cNvSpPr>
          <p:nvPr/>
        </p:nvSpPr>
        <p:spPr bwMode="auto">
          <a:xfrm>
            <a:off x="5087939" y="5229225"/>
            <a:ext cx="835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6305550" y="4919664"/>
            <a:ext cx="42672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Percent of variation in number of credit cards that can be accounted for by (a) </a:t>
            </a:r>
            <a:r>
              <a:rPr lang="en-US" u="sng">
                <a:solidFill>
                  <a:srgbClr val="000000"/>
                </a:solidFill>
              </a:rPr>
              <a:t>all other relevant factors</a:t>
            </a:r>
            <a:r>
              <a:rPr lang="en-US">
                <a:solidFill>
                  <a:srgbClr val="000000"/>
                </a:solidFill>
              </a:rPr>
              <a:t> not included in the model, beyond family size and income, and (b) </a:t>
            </a:r>
            <a:r>
              <a:rPr lang="en-US" u="sng">
                <a:solidFill>
                  <a:srgbClr val="000000"/>
                </a:solidFill>
              </a:rPr>
              <a:t>unexplainable random/chance</a:t>
            </a:r>
            <a:r>
              <a:rPr lang="en-US">
                <a:solidFill>
                  <a:srgbClr val="000000"/>
                </a:solidFill>
              </a:rPr>
              <a:t> variations.  </a:t>
            </a: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>
            <a:off x="6311901" y="4221163"/>
            <a:ext cx="417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8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4" grpId="0" autoUpdateAnimBg="0"/>
      <p:bldP spid="133136" grpId="0" animBg="1" autoUpdateAnimBg="0"/>
      <p:bldP spid="133137" grpId="0" autoUpdateAnimBg="0"/>
      <p:bldP spid="133139" grpId="0" animBg="1"/>
      <p:bldP spid="13" grpId="0" animBg="1" autoUpdateAnimBg="0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6" name="Oval 4"/>
          <p:cNvSpPr>
            <a:spLocks noChangeArrowheads="1"/>
          </p:cNvSpPr>
          <p:nvPr/>
        </p:nvSpPr>
        <p:spPr bwMode="auto">
          <a:xfrm>
            <a:off x="2351088" y="1033464"/>
            <a:ext cx="1477962" cy="153828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9707" name="Oval 27"/>
          <p:cNvSpPr>
            <a:spLocks noChangeArrowheads="1"/>
          </p:cNvSpPr>
          <p:nvPr/>
        </p:nvSpPr>
        <p:spPr bwMode="auto">
          <a:xfrm>
            <a:off x="2797175" y="1341439"/>
            <a:ext cx="1531938" cy="1538287"/>
          </a:xfrm>
          <a:prstGeom prst="ellipse">
            <a:avLst/>
          </a:prstGeom>
          <a:solidFill>
            <a:srgbClr val="9966FF">
              <a:alpha val="30196"/>
            </a:srgbClr>
          </a:solidFill>
          <a:ln w="9525">
            <a:solidFill>
              <a:srgbClr val="CC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9708" name="Oval 28"/>
          <p:cNvSpPr>
            <a:spLocks noChangeArrowheads="1"/>
          </p:cNvSpPr>
          <p:nvPr/>
        </p:nvSpPr>
        <p:spPr bwMode="auto">
          <a:xfrm>
            <a:off x="2659063" y="836613"/>
            <a:ext cx="1579562" cy="1611312"/>
          </a:xfrm>
          <a:prstGeom prst="ellipse">
            <a:avLst/>
          </a:prstGeom>
          <a:solidFill>
            <a:srgbClr val="009900">
              <a:alpha val="20000"/>
            </a:srgbClr>
          </a:solidFill>
          <a:ln w="57150">
            <a:solidFill>
              <a:srgbClr val="00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11621" name="Object 5"/>
          <p:cNvGraphicFramePr>
            <a:graphicFrameLocks noChangeAspect="1"/>
          </p:cNvGraphicFramePr>
          <p:nvPr/>
        </p:nvGraphicFramePr>
        <p:xfrm>
          <a:off x="8218489" y="3546476"/>
          <a:ext cx="23066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1256755" imgH="444307" progId="Equation.3">
                  <p:embed/>
                </p:oleObj>
              </mc:Choice>
              <mc:Fallback>
                <p:oleObj name="Equation" r:id="rId3" imgW="1256755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8489" y="3546476"/>
                        <a:ext cx="2306637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6"/>
          <p:cNvGraphicFramePr>
            <a:graphicFrameLocks noChangeAspect="1"/>
          </p:cNvGraphicFramePr>
          <p:nvPr/>
        </p:nvGraphicFramePr>
        <p:xfrm>
          <a:off x="6024563" y="3163888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114151" imgH="215619" progId="Equation.3">
                  <p:embed/>
                </p:oleObj>
              </mc:Choice>
              <mc:Fallback>
                <p:oleObj name="Equation" r:id="rId5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163888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Object 7"/>
          <p:cNvGraphicFramePr>
            <a:graphicFrameLocks noChangeAspect="1"/>
          </p:cNvGraphicFramePr>
          <p:nvPr/>
        </p:nvGraphicFramePr>
        <p:xfrm>
          <a:off x="5964238" y="5187951"/>
          <a:ext cx="20574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1256755" imgH="444307" progId="Equation.3">
                  <p:embed/>
                </p:oleObj>
              </mc:Choice>
              <mc:Fallback>
                <p:oleObj name="Equation" r:id="rId7" imgW="1256755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4238" y="5187951"/>
                        <a:ext cx="20574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Text Box 8"/>
          <p:cNvSpPr txBox="1">
            <a:spLocks noChangeArrowheads="1"/>
          </p:cNvSpPr>
          <p:nvPr/>
        </p:nvSpPr>
        <p:spPr bwMode="auto">
          <a:xfrm>
            <a:off x="1524000" y="2217738"/>
            <a:ext cx="11366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>
                <a:solidFill>
                  <a:srgbClr val="B39041"/>
                </a:solidFill>
              </a:rPr>
              <a:t>X</a:t>
            </a:r>
            <a:r>
              <a:rPr lang="en-US" sz="2200" baseline="-20000">
                <a:solidFill>
                  <a:srgbClr val="B39041"/>
                </a:solidFill>
              </a:rPr>
              <a:t>1</a:t>
            </a:r>
            <a:r>
              <a:rPr lang="en-US" sz="1400">
                <a:solidFill>
                  <a:srgbClr val="B39041"/>
                </a:solidFill>
              </a:rPr>
              <a:t>=Family</a:t>
            </a:r>
            <a:br>
              <a:rPr lang="en-US" sz="1400">
                <a:solidFill>
                  <a:srgbClr val="B39041"/>
                </a:solidFill>
              </a:rPr>
            </a:br>
            <a:r>
              <a:rPr lang="en-US" sz="1400">
                <a:solidFill>
                  <a:srgbClr val="B39041"/>
                </a:solidFill>
              </a:rPr>
              <a:t>         Size</a:t>
            </a:r>
          </a:p>
        </p:txBody>
      </p:sp>
      <p:sp>
        <p:nvSpPr>
          <p:cNvPr id="29710" name="Text Box 9"/>
          <p:cNvSpPr txBox="1">
            <a:spLocks noChangeArrowheads="1"/>
          </p:cNvSpPr>
          <p:nvPr/>
        </p:nvSpPr>
        <p:spPr bwMode="auto">
          <a:xfrm>
            <a:off x="2551114" y="2714625"/>
            <a:ext cx="1258887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>
                <a:solidFill>
                  <a:srgbClr val="CC00CC"/>
                </a:solidFill>
              </a:rPr>
              <a:t>X</a:t>
            </a:r>
            <a:r>
              <a:rPr lang="en-US" sz="2200" baseline="-20000">
                <a:solidFill>
                  <a:srgbClr val="CC00CC"/>
                </a:solidFill>
              </a:rPr>
              <a:t>2</a:t>
            </a:r>
            <a:r>
              <a:rPr lang="en-US" sz="2200">
                <a:solidFill>
                  <a:srgbClr val="CC00CC"/>
                </a:solidFill>
              </a:rPr>
              <a:t> </a:t>
            </a:r>
            <a:r>
              <a:rPr lang="en-US" sz="1400">
                <a:solidFill>
                  <a:srgbClr val="CC00CC"/>
                </a:solidFill>
              </a:rPr>
              <a:t>= Family</a:t>
            </a:r>
            <a:br>
              <a:rPr lang="en-US" sz="1400">
                <a:solidFill>
                  <a:srgbClr val="CC00CC"/>
                </a:solidFill>
              </a:rPr>
            </a:br>
            <a:r>
              <a:rPr lang="en-US" sz="1400">
                <a:solidFill>
                  <a:srgbClr val="CC00CC"/>
                </a:solidFill>
              </a:rPr>
              <a:t>           Income</a:t>
            </a:r>
          </a:p>
        </p:txBody>
      </p:sp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3556000" y="8382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2798763" y="1019175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3827463" y="1595438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3184525" y="1604963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</a:p>
        </p:txBody>
      </p:sp>
      <p:sp>
        <p:nvSpPr>
          <p:cNvPr id="30738" name="Text Box 14"/>
          <p:cNvSpPr txBox="1">
            <a:spLocks noChangeArrowheads="1"/>
          </p:cNvSpPr>
          <p:nvPr/>
        </p:nvSpPr>
        <p:spPr bwMode="auto">
          <a:xfrm>
            <a:off x="4056064" y="946150"/>
            <a:ext cx="23447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009900"/>
                </a:solidFill>
              </a:rPr>
              <a:t>Y= </a:t>
            </a:r>
            <a:r>
              <a:rPr lang="en-US" sz="1400">
                <a:solidFill>
                  <a:srgbClr val="009900"/>
                </a:solidFill>
              </a:rPr>
              <a:t># of CC</a:t>
            </a:r>
          </a:p>
        </p:txBody>
      </p:sp>
      <p:sp>
        <p:nvSpPr>
          <p:cNvPr id="111632" name="Text Box 16"/>
          <p:cNvSpPr txBox="1">
            <a:spLocks noChangeArrowheads="1"/>
          </p:cNvSpPr>
          <p:nvPr/>
        </p:nvSpPr>
        <p:spPr bwMode="auto">
          <a:xfrm>
            <a:off x="6446839" y="2963863"/>
            <a:ext cx="1843087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Pearson/simple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Correlation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of Y with X</a:t>
            </a:r>
            <a:r>
              <a:rPr lang="en-US" baseline="-25000">
                <a:solidFill>
                  <a:srgbClr val="000000"/>
                </a:solidFill>
              </a:rPr>
              <a:t>1  </a:t>
            </a:r>
            <a:r>
              <a:rPr lang="en-US">
                <a:solidFill>
                  <a:srgbClr val="000000"/>
                </a:solidFill>
              </a:rPr>
              <a:t>(not controlling for X</a:t>
            </a:r>
            <a:r>
              <a:rPr lang="en-US" baseline="-25000">
                <a:solidFill>
                  <a:srgbClr val="000000"/>
                </a:solidFill>
              </a:rPr>
              <a:t>2</a:t>
            </a:r>
            <a:r>
              <a:rPr lang="en-US">
                <a:solidFill>
                  <a:srgbClr val="000000"/>
                </a:solidFill>
              </a:rPr>
              <a:t>) </a:t>
            </a:r>
            <a:endParaRPr lang="en-US" baseline="-25000">
              <a:solidFill>
                <a:srgbClr val="000000"/>
              </a:solidFill>
            </a:endParaRPr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4164013" y="5160963"/>
            <a:ext cx="1814512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Pearson/simple Correlation of Y with X</a:t>
            </a:r>
            <a:r>
              <a:rPr lang="en-US" baseline="-25000">
                <a:solidFill>
                  <a:srgbClr val="000000"/>
                </a:solidFill>
              </a:rPr>
              <a:t>2 </a:t>
            </a:r>
            <a:r>
              <a:rPr lang="en-US">
                <a:solidFill>
                  <a:srgbClr val="000000"/>
                </a:solidFill>
              </a:rPr>
              <a:t>(not controlling for X</a:t>
            </a:r>
            <a:r>
              <a:rPr lang="en-US" baseline="-25000">
                <a:solidFill>
                  <a:srgbClr val="000000"/>
                </a:solidFill>
              </a:rPr>
              <a:t>1</a:t>
            </a:r>
            <a:r>
              <a:rPr lang="en-US">
                <a:solidFill>
                  <a:srgbClr val="000000"/>
                </a:solidFill>
              </a:rPr>
              <a:t>) </a:t>
            </a:r>
            <a:r>
              <a:rPr lang="en-US" b="1">
                <a:solidFill>
                  <a:srgbClr val="000000"/>
                </a:solidFill>
              </a:rPr>
              <a:t>?</a:t>
            </a:r>
          </a:p>
          <a:p>
            <a:pPr>
              <a:spcBef>
                <a:spcPct val="50000"/>
              </a:spcBef>
            </a:pPr>
            <a:endParaRPr lang="en-US" baseline="-25000">
              <a:solidFill>
                <a:srgbClr val="000000"/>
              </a:solidFill>
            </a:endParaRPr>
          </a:p>
        </p:txBody>
      </p:sp>
      <p:sp>
        <p:nvSpPr>
          <p:cNvPr id="29718" name="Text Box 24"/>
          <p:cNvSpPr txBox="1">
            <a:spLocks noChangeArrowheads="1"/>
          </p:cNvSpPr>
          <p:nvPr/>
        </p:nvSpPr>
        <p:spPr bwMode="auto">
          <a:xfrm>
            <a:off x="4206875" y="1265239"/>
            <a:ext cx="58181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339966"/>
                </a:solidFill>
              </a:rPr>
              <a:t>Total Variation/Error in Y = SS Total = a + b + c + d = </a:t>
            </a:r>
            <a:r>
              <a:rPr lang="en-US" sz="2000" b="1">
                <a:solidFill>
                  <a:srgbClr val="339966"/>
                </a:solidFill>
              </a:rPr>
              <a:t>22</a:t>
            </a:r>
          </a:p>
        </p:txBody>
      </p:sp>
      <p:graphicFrame>
        <p:nvGraphicFramePr>
          <p:cNvPr id="111641" name="Object 25"/>
          <p:cNvGraphicFramePr>
            <a:graphicFrameLocks noGrp="1" noChangeAspect="1"/>
          </p:cNvGraphicFramePr>
          <p:nvPr>
            <p:ph sz="half" idx="1"/>
          </p:nvPr>
        </p:nvGraphicFramePr>
        <p:xfrm>
          <a:off x="5946776" y="5983289"/>
          <a:ext cx="20177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749300" imgH="279400" progId="Equation.3">
                  <p:embed/>
                </p:oleObj>
              </mc:Choice>
              <mc:Fallback>
                <p:oleObj name="Equation" r:id="rId9" imgW="7493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76" y="5983289"/>
                        <a:ext cx="2017713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42" name="Object 2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289925" y="2987675"/>
          <a:ext cx="1905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1" imgW="1803400" imgH="444500" progId="Equation.3">
                  <p:embed/>
                </p:oleObj>
              </mc:Choice>
              <mc:Fallback>
                <p:oleObj name="Equation" r:id="rId11" imgW="1803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9925" y="2987675"/>
                        <a:ext cx="1905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47" name="Object 31"/>
          <p:cNvGraphicFramePr>
            <a:graphicFrameLocks noChangeAspect="1"/>
          </p:cNvGraphicFramePr>
          <p:nvPr/>
        </p:nvGraphicFramePr>
        <p:xfrm>
          <a:off x="4083051" y="4857750"/>
          <a:ext cx="1655763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3" imgW="1282700" imgH="203200" progId="Equation.3">
                  <p:embed/>
                </p:oleObj>
              </mc:Choice>
              <mc:Fallback>
                <p:oleObj name="Equation" r:id="rId13" imgW="1282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1" y="4857750"/>
                        <a:ext cx="1655763" cy="2619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48" name="Object 32"/>
          <p:cNvGraphicFramePr>
            <a:graphicFrameLocks noChangeAspect="1"/>
          </p:cNvGraphicFramePr>
          <p:nvPr/>
        </p:nvGraphicFramePr>
        <p:xfrm>
          <a:off x="5303839" y="2000250"/>
          <a:ext cx="19573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15" imgW="1040948" imgH="203112" progId="Equation.3">
                  <p:embed/>
                </p:oleObj>
              </mc:Choice>
              <mc:Fallback>
                <p:oleObj name="Equation" r:id="rId15" imgW="104094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9" y="2000250"/>
                        <a:ext cx="1957387" cy="3825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50" name="Text Box 34"/>
          <p:cNvSpPr txBox="1">
            <a:spLocks noChangeArrowheads="1"/>
          </p:cNvSpPr>
          <p:nvPr/>
        </p:nvSpPr>
        <p:spPr bwMode="auto">
          <a:xfrm>
            <a:off x="7381875" y="1957388"/>
            <a:ext cx="10429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66"/>
                </a:solidFill>
              </a:rPr>
              <a:t>r</a:t>
            </a:r>
            <a:r>
              <a:rPr lang="en-US" sz="2000" baseline="30000">
                <a:solidFill>
                  <a:srgbClr val="FF0066"/>
                </a:solidFill>
              </a:rPr>
              <a:t>2</a:t>
            </a:r>
            <a:r>
              <a:rPr lang="en-US" sz="2000">
                <a:solidFill>
                  <a:srgbClr val="FF0066"/>
                </a:solidFill>
              </a:rPr>
              <a:t> = ?</a:t>
            </a:r>
          </a:p>
        </p:txBody>
      </p:sp>
      <p:sp>
        <p:nvSpPr>
          <p:cNvPr id="111651" name="Text Box 35"/>
          <p:cNvSpPr txBox="1">
            <a:spLocks noChangeArrowheads="1"/>
          </p:cNvSpPr>
          <p:nvPr/>
        </p:nvSpPr>
        <p:spPr bwMode="auto">
          <a:xfrm>
            <a:off x="8096251" y="2000251"/>
            <a:ext cx="24288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3333CC"/>
                </a:solidFill>
              </a:rPr>
              <a:t>R</a:t>
            </a:r>
            <a:r>
              <a:rPr lang="en-US" baseline="30000">
                <a:solidFill>
                  <a:srgbClr val="3333CC"/>
                </a:solidFill>
              </a:rPr>
              <a:t>2</a:t>
            </a:r>
            <a:r>
              <a:rPr lang="en-US">
                <a:solidFill>
                  <a:srgbClr val="3333CC"/>
                </a:solidFill>
              </a:rPr>
              <a:t> =  (a+c) / (a+b+c+d)</a:t>
            </a:r>
          </a:p>
        </p:txBody>
      </p:sp>
      <p:sp>
        <p:nvSpPr>
          <p:cNvPr id="111652" name="Text Box 36"/>
          <p:cNvSpPr txBox="1">
            <a:spLocks noChangeArrowheads="1"/>
          </p:cNvSpPr>
          <p:nvPr/>
        </p:nvSpPr>
        <p:spPr bwMode="auto">
          <a:xfrm>
            <a:off x="5861051" y="4813301"/>
            <a:ext cx="44497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3333CC"/>
                </a:solidFill>
              </a:rPr>
              <a:t>r</a:t>
            </a:r>
            <a:r>
              <a:rPr lang="en-US" baseline="30000">
                <a:solidFill>
                  <a:srgbClr val="3333CC"/>
                </a:solidFill>
              </a:rPr>
              <a:t>2</a:t>
            </a:r>
            <a:r>
              <a:rPr lang="en-US">
                <a:solidFill>
                  <a:srgbClr val="3333CC"/>
                </a:solidFill>
              </a:rPr>
              <a:t> = (b+c) / (a+b+c+d)  = 15.12 / 22 = 0.687</a:t>
            </a:r>
          </a:p>
        </p:txBody>
      </p:sp>
      <p:pic>
        <p:nvPicPr>
          <p:cNvPr id="30745" name="Picture 39" descr="j0424474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8739188" y="5080000"/>
            <a:ext cx="1466850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3486151" y="2149476"/>
            <a:ext cx="2790825" cy="2343151"/>
            <a:chOff x="1236" y="1510"/>
            <a:chExt cx="1758" cy="1476"/>
          </a:xfrm>
        </p:grpSpPr>
        <p:sp>
          <p:nvSpPr>
            <p:cNvPr id="30758" name="Oval 42"/>
            <p:cNvSpPr>
              <a:spLocks noChangeArrowheads="1"/>
            </p:cNvSpPr>
            <p:nvPr/>
          </p:nvSpPr>
          <p:spPr bwMode="auto">
            <a:xfrm>
              <a:off x="1845" y="1830"/>
              <a:ext cx="891" cy="96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0759" name="Oval 43"/>
            <p:cNvSpPr>
              <a:spLocks noChangeArrowheads="1"/>
            </p:cNvSpPr>
            <p:nvPr/>
          </p:nvSpPr>
          <p:spPr bwMode="auto">
            <a:xfrm>
              <a:off x="2041" y="1706"/>
              <a:ext cx="953" cy="1008"/>
            </a:xfrm>
            <a:prstGeom prst="ellipse">
              <a:avLst/>
            </a:prstGeom>
            <a:solidFill>
              <a:srgbClr val="009900">
                <a:alpha val="20000"/>
              </a:srgbClr>
            </a:solidFill>
            <a:ln w="571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0760" name="Text Box 18"/>
            <p:cNvSpPr txBox="1">
              <a:spLocks noChangeArrowheads="1"/>
            </p:cNvSpPr>
            <p:nvPr/>
          </p:nvSpPr>
          <p:spPr bwMode="auto">
            <a:xfrm>
              <a:off x="1236" y="2443"/>
              <a:ext cx="782" cy="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B39041"/>
                  </a:solidFill>
                </a:rPr>
                <a:t>X</a:t>
              </a:r>
              <a:r>
                <a:rPr lang="en-US" baseline="-20000">
                  <a:solidFill>
                    <a:srgbClr val="B39041"/>
                  </a:solidFill>
                </a:rPr>
                <a:t>1</a:t>
              </a:r>
              <a:r>
                <a:rPr lang="en-US" sz="1600">
                  <a:solidFill>
                    <a:srgbClr val="B39041"/>
                  </a:solidFill>
                </a:rPr>
                <a:t>=Family</a:t>
              </a:r>
              <a:br>
                <a:rPr lang="en-US" sz="1600">
                  <a:solidFill>
                    <a:srgbClr val="B39041"/>
                  </a:solidFill>
                </a:rPr>
              </a:br>
              <a:r>
                <a:rPr lang="en-US" sz="1600">
                  <a:solidFill>
                    <a:srgbClr val="B39041"/>
                  </a:solidFill>
                </a:rPr>
                <a:t>            size</a:t>
              </a:r>
            </a:p>
          </p:txBody>
        </p:sp>
        <p:sp>
          <p:nvSpPr>
            <p:cNvPr id="30761" name="Text Box 19"/>
            <p:cNvSpPr txBox="1">
              <a:spLocks noChangeArrowheads="1"/>
            </p:cNvSpPr>
            <p:nvPr/>
          </p:nvSpPr>
          <p:spPr bwMode="auto">
            <a:xfrm>
              <a:off x="2098" y="1510"/>
              <a:ext cx="27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111645" name="Text Box 29"/>
            <p:cNvSpPr txBox="1">
              <a:spLocks noChangeArrowheads="1"/>
            </p:cNvSpPr>
            <p:nvPr/>
          </p:nvSpPr>
          <p:spPr bwMode="auto">
            <a:xfrm>
              <a:off x="2050" y="1908"/>
              <a:ext cx="785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SSR</a:t>
              </a:r>
              <a:r>
                <a:rPr lang="en-US" sz="20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=</a:t>
              </a:r>
              <a: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b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</a:br>
              <a: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 a + c</a:t>
              </a:r>
              <a:b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</a:br>
              <a:r>
                <a:rPr lang="en-US" sz="16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</a:t>
              </a:r>
              <a: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</a:t>
              </a:r>
              <a:r>
                <a:rPr lang="en-US" sz="16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 16.5</a:t>
              </a:r>
              <a:endParaRPr lang="en-US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2128838" y="4532313"/>
            <a:ext cx="1962150" cy="2043112"/>
            <a:chOff x="274" y="2795"/>
            <a:chExt cx="1236" cy="1287"/>
          </a:xfrm>
        </p:grpSpPr>
        <p:sp>
          <p:nvSpPr>
            <p:cNvPr id="30754" name="Oval 44"/>
            <p:cNvSpPr>
              <a:spLocks noChangeArrowheads="1"/>
            </p:cNvSpPr>
            <p:nvPr/>
          </p:nvSpPr>
          <p:spPr bwMode="auto">
            <a:xfrm>
              <a:off x="582" y="3113"/>
              <a:ext cx="928" cy="969"/>
            </a:xfrm>
            <a:prstGeom prst="ellipse">
              <a:avLst/>
            </a:prstGeom>
            <a:solidFill>
              <a:srgbClr val="9966FF">
                <a:alpha val="30196"/>
              </a:srgbClr>
            </a:solidFill>
            <a:ln w="9525">
              <a:solidFill>
                <a:srgbClr val="CC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0755" name="Oval 45"/>
            <p:cNvSpPr>
              <a:spLocks noChangeArrowheads="1"/>
            </p:cNvSpPr>
            <p:nvPr/>
          </p:nvSpPr>
          <p:spPr bwMode="auto">
            <a:xfrm>
              <a:off x="495" y="2795"/>
              <a:ext cx="958" cy="1015"/>
            </a:xfrm>
            <a:prstGeom prst="ellipse">
              <a:avLst/>
            </a:prstGeom>
            <a:solidFill>
              <a:srgbClr val="009900">
                <a:alpha val="20000"/>
              </a:srgbClr>
            </a:solidFill>
            <a:ln w="571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0756" name="Text Box 23"/>
            <p:cNvSpPr txBox="1">
              <a:spLocks noChangeArrowheads="1"/>
            </p:cNvSpPr>
            <p:nvPr/>
          </p:nvSpPr>
          <p:spPr bwMode="auto">
            <a:xfrm>
              <a:off x="274" y="2854"/>
              <a:ext cx="27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9900"/>
                  </a:solidFill>
                </a:rPr>
                <a:t>Y</a:t>
              </a:r>
            </a:p>
          </p:txBody>
        </p:sp>
        <p:sp>
          <p:nvSpPr>
            <p:cNvPr id="111646" name="Text Box 30"/>
            <p:cNvSpPr txBox="1">
              <a:spLocks noChangeArrowheads="1"/>
            </p:cNvSpPr>
            <p:nvPr/>
          </p:nvSpPr>
          <p:spPr bwMode="auto">
            <a:xfrm>
              <a:off x="720" y="3189"/>
              <a:ext cx="717" cy="5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SSR =</a:t>
              </a:r>
              <a:r>
                <a:rPr lang="en-US" sz="20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/>
              </a:r>
              <a:br>
                <a:rPr lang="en-US" sz="20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</a:br>
              <a: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c + b</a:t>
              </a:r>
              <a:br>
                <a:rPr lang="en-US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</a:br>
              <a:r>
                <a:rPr lang="en-US" sz="16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 15.12</a:t>
              </a:r>
              <a:endParaRPr lang="en-US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111667" name="Text Box 51"/>
          <p:cNvSpPr txBox="1">
            <a:spLocks noChangeArrowheads="1"/>
          </p:cNvSpPr>
          <p:nvPr/>
        </p:nvSpPr>
        <p:spPr bwMode="auto">
          <a:xfrm>
            <a:off x="6161088" y="2641600"/>
            <a:ext cx="42846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66"/>
                </a:solidFill>
              </a:rPr>
              <a:t>What do we call the square root of this? </a:t>
            </a:r>
          </a:p>
        </p:txBody>
      </p:sp>
      <p:sp>
        <p:nvSpPr>
          <p:cNvPr id="30749" name="Text Box 56"/>
          <p:cNvSpPr txBox="1">
            <a:spLocks noChangeArrowheads="1"/>
          </p:cNvSpPr>
          <p:nvPr/>
        </p:nvSpPr>
        <p:spPr bwMode="auto">
          <a:xfrm>
            <a:off x="6311900" y="2674939"/>
            <a:ext cx="19446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1693864" y="6135688"/>
            <a:ext cx="1258887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>
                <a:solidFill>
                  <a:srgbClr val="CC00CC"/>
                </a:solidFill>
              </a:rPr>
              <a:t>X</a:t>
            </a:r>
            <a:r>
              <a:rPr lang="en-US" sz="2200" baseline="-20000">
                <a:solidFill>
                  <a:srgbClr val="CC00CC"/>
                </a:solidFill>
              </a:rPr>
              <a:t>2</a:t>
            </a:r>
            <a:r>
              <a:rPr lang="en-US" sz="2200">
                <a:solidFill>
                  <a:srgbClr val="CC00CC"/>
                </a:solidFill>
              </a:rPr>
              <a:t> </a:t>
            </a:r>
            <a:r>
              <a:rPr lang="en-US" sz="1400">
                <a:solidFill>
                  <a:srgbClr val="CC00CC"/>
                </a:solidFill>
              </a:rPr>
              <a:t>= Family</a:t>
            </a:r>
            <a:br>
              <a:rPr lang="en-US" sz="1400">
                <a:solidFill>
                  <a:srgbClr val="CC00CC"/>
                </a:solidFill>
              </a:rPr>
            </a:br>
            <a:r>
              <a:rPr lang="en-US" sz="1400">
                <a:solidFill>
                  <a:srgbClr val="CC00CC"/>
                </a:solidFill>
              </a:rPr>
              <a:t>           Income</a:t>
            </a:r>
          </a:p>
        </p:txBody>
      </p:sp>
      <p:sp>
        <p:nvSpPr>
          <p:cNvPr id="46" name="Text Box 35"/>
          <p:cNvSpPr txBox="1">
            <a:spLocks noChangeArrowheads="1"/>
          </p:cNvSpPr>
          <p:nvPr/>
        </p:nvSpPr>
        <p:spPr bwMode="auto">
          <a:xfrm>
            <a:off x="6238876" y="2357438"/>
            <a:ext cx="24114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3333CC"/>
                </a:solidFill>
              </a:rPr>
              <a:t>R</a:t>
            </a:r>
            <a:r>
              <a:rPr lang="en-US" baseline="30000">
                <a:solidFill>
                  <a:srgbClr val="3333CC"/>
                </a:solidFill>
              </a:rPr>
              <a:t>2</a:t>
            </a:r>
            <a:r>
              <a:rPr lang="en-US">
                <a:solidFill>
                  <a:srgbClr val="3333CC"/>
                </a:solidFill>
              </a:rPr>
              <a:t> = 16.5 / 22 = 0.75</a:t>
            </a:r>
          </a:p>
        </p:txBody>
      </p:sp>
      <p:sp>
        <p:nvSpPr>
          <p:cNvPr id="41" name="Oval 40"/>
          <p:cNvSpPr>
            <a:spLocks noChangeArrowheads="1"/>
          </p:cNvSpPr>
          <p:nvPr/>
        </p:nvSpPr>
        <p:spPr bwMode="auto">
          <a:xfrm>
            <a:off x="9767889" y="3084514"/>
            <a:ext cx="504825" cy="287337"/>
          </a:xfrm>
          <a:prstGeom prst="ellipse">
            <a:avLst/>
          </a:prstGeom>
          <a:noFill/>
          <a:ln w="28575" algn="ctr">
            <a:solidFill>
              <a:srgbClr val="C000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7391401" y="6253164"/>
            <a:ext cx="504825" cy="287337"/>
          </a:xfrm>
          <a:prstGeom prst="ellipse">
            <a:avLst/>
          </a:prstGeom>
          <a:noFill/>
          <a:ln w="28575" algn="ctr">
            <a:solidFill>
              <a:srgbClr val="C000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830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3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30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30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12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1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1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6" grpId="0" animBg="1"/>
      <p:bldP spid="29706" grpId="1" animBg="1"/>
      <p:bldP spid="29707" grpId="0" animBg="1"/>
      <p:bldP spid="29708" grpId="0" animBg="1"/>
      <p:bldP spid="29709" grpId="0"/>
      <p:bldP spid="29709" grpId="1"/>
      <p:bldP spid="29710" grpId="0"/>
      <p:bldP spid="111632" grpId="0"/>
      <p:bldP spid="111633" grpId="0"/>
      <p:bldP spid="29718" grpId="0"/>
      <p:bldP spid="111650" grpId="0"/>
      <p:bldP spid="111651" grpId="0"/>
      <p:bldP spid="111652" grpId="0"/>
      <p:bldP spid="111667" grpId="0"/>
      <p:bldP spid="43" grpId="0"/>
      <p:bldP spid="46" grpId="0"/>
      <p:bldP spid="41" grpId="0" animBg="1"/>
      <p:bldP spid="4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16"/>
          <p:cNvSpPr txBox="1">
            <a:spLocks noChangeArrowheads="1"/>
          </p:cNvSpPr>
          <p:nvPr/>
        </p:nvSpPr>
        <p:spPr bwMode="auto">
          <a:xfrm>
            <a:off x="3309938" y="3287714"/>
            <a:ext cx="7072312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solidFill>
                  <a:srgbClr val="3333CC"/>
                </a:solidFill>
              </a:rPr>
              <a:t>	SSR = a + b +c = 18.95</a:t>
            </a:r>
          </a:p>
          <a:p>
            <a:pPr>
              <a:spcBef>
                <a:spcPct val="50000"/>
              </a:spcBef>
              <a:defRPr/>
            </a:pPr>
            <a:r>
              <a:rPr lang="en-US" sz="2000" dirty="0">
                <a:solidFill>
                  <a:srgbClr val="3333CC"/>
                </a:solidFill>
              </a:rPr>
              <a:t>	SST = a + b + c + d = 22</a:t>
            </a:r>
          </a:p>
          <a:p>
            <a:pPr>
              <a:spcBef>
                <a:spcPct val="50000"/>
              </a:spcBef>
              <a:defRPr/>
            </a:pPr>
            <a:r>
              <a:rPr lang="en-US" sz="200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000" baseline="4000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00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SSR / SST </a:t>
            </a:r>
            <a:r>
              <a:rPr lang="en-US" sz="2000" dirty="0">
                <a:solidFill>
                  <a:srgbClr val="3333CC"/>
                </a:solidFill>
              </a:rPr>
              <a:t>= (a + b + c) / (a + b + c + d) = </a:t>
            </a:r>
            <a:r>
              <a:rPr lang="en-US" sz="200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18.95 / 22 </a:t>
            </a:r>
            <a:r>
              <a:rPr lang="en-US" sz="2000" dirty="0">
                <a:solidFill>
                  <a:srgbClr val="3333CC"/>
                </a:solidFill>
              </a:rPr>
              <a:t>= 86%</a:t>
            </a:r>
          </a:p>
          <a:p>
            <a:pPr>
              <a:spcBef>
                <a:spcPct val="50000"/>
              </a:spcBef>
              <a:defRPr/>
            </a:pPr>
            <a:r>
              <a:rPr lang="en-US" sz="2000" dirty="0">
                <a:solidFill>
                  <a:srgbClr val="FF0066"/>
                </a:solidFill>
              </a:rPr>
              <a:t>SSE = ?</a:t>
            </a:r>
          </a:p>
        </p:txBody>
      </p:sp>
      <p:pic>
        <p:nvPicPr>
          <p:cNvPr id="31748" name="Picture 7" descr="MENO02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90026" y="-1243013"/>
            <a:ext cx="1763713" cy="1339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2881314" y="5429250"/>
            <a:ext cx="38893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FF"/>
                </a:solidFill>
              </a:rPr>
              <a:t>SSE</a:t>
            </a:r>
            <a:r>
              <a:rPr lang="en-US" baseline="30000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0000FF"/>
                </a:solidFill>
              </a:rPr>
              <a:t>= d = 22 – 18.95 = 3.05 </a:t>
            </a:r>
          </a:p>
        </p:txBody>
      </p:sp>
      <p:graphicFrame>
        <p:nvGraphicFramePr>
          <p:cNvPr id="30722" name="Object 15"/>
          <p:cNvGraphicFramePr>
            <a:graphicFrameLocks noGrp="1" noChangeAspect="1"/>
          </p:cNvGraphicFramePr>
          <p:nvPr>
            <p:ph sz="half" idx="2"/>
          </p:nvPr>
        </p:nvGraphicFramePr>
        <p:xfrm>
          <a:off x="4452938" y="1000125"/>
          <a:ext cx="358616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4" imgW="1497950" imgH="215806" progId="Equation.3">
                  <p:embed/>
                </p:oleObj>
              </mc:Choice>
              <mc:Fallback>
                <p:oleObj name="Equation" r:id="rId4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38" y="1000125"/>
                        <a:ext cx="3586162" cy="5159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61" name="Picture 21" descr="j042382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167813" y="928688"/>
            <a:ext cx="12573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2" name="Picture 22" descr="j042446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24751" y="4714876"/>
            <a:ext cx="1901825" cy="163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Oval 32"/>
          <p:cNvSpPr>
            <a:spLocks noChangeArrowheads="1"/>
          </p:cNvSpPr>
          <p:nvPr/>
        </p:nvSpPr>
        <p:spPr bwMode="auto">
          <a:xfrm>
            <a:off x="2452688" y="1071564"/>
            <a:ext cx="1458912" cy="157162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0729" name="Oval 33"/>
          <p:cNvSpPr>
            <a:spLocks noChangeArrowheads="1"/>
          </p:cNvSpPr>
          <p:nvPr/>
        </p:nvSpPr>
        <p:spPr bwMode="auto">
          <a:xfrm>
            <a:off x="2900363" y="1379539"/>
            <a:ext cx="1511300" cy="1571625"/>
          </a:xfrm>
          <a:prstGeom prst="ellipse">
            <a:avLst/>
          </a:prstGeom>
          <a:solidFill>
            <a:srgbClr val="9966FF">
              <a:alpha val="30196"/>
            </a:srgbClr>
          </a:solidFill>
          <a:ln w="9525">
            <a:solidFill>
              <a:srgbClr val="CC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1754" name="Oval 34"/>
          <p:cNvSpPr>
            <a:spLocks noChangeArrowheads="1"/>
          </p:cNvSpPr>
          <p:nvPr/>
        </p:nvSpPr>
        <p:spPr bwMode="auto">
          <a:xfrm>
            <a:off x="2760663" y="874714"/>
            <a:ext cx="1560512" cy="1646237"/>
          </a:xfrm>
          <a:prstGeom prst="ellipse">
            <a:avLst/>
          </a:prstGeom>
          <a:solidFill>
            <a:srgbClr val="009900">
              <a:alpha val="20000"/>
            </a:srgbClr>
          </a:solidFill>
          <a:ln w="57150">
            <a:solidFill>
              <a:srgbClr val="00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0731" name="Text Box 35"/>
          <p:cNvSpPr txBox="1">
            <a:spLocks noChangeArrowheads="1"/>
          </p:cNvSpPr>
          <p:nvPr/>
        </p:nvSpPr>
        <p:spPr bwMode="auto">
          <a:xfrm>
            <a:off x="1524000" y="2143126"/>
            <a:ext cx="11366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>
                <a:solidFill>
                  <a:srgbClr val="B39041"/>
                </a:solidFill>
              </a:rPr>
              <a:t>X</a:t>
            </a:r>
            <a:r>
              <a:rPr lang="en-US" sz="2200" baseline="-20000">
                <a:solidFill>
                  <a:srgbClr val="B39041"/>
                </a:solidFill>
              </a:rPr>
              <a:t>1</a:t>
            </a:r>
            <a:r>
              <a:rPr lang="en-US" sz="1400">
                <a:solidFill>
                  <a:srgbClr val="B39041"/>
                </a:solidFill>
              </a:rPr>
              <a:t>=Family</a:t>
            </a:r>
            <a:br>
              <a:rPr lang="en-US" sz="1400">
                <a:solidFill>
                  <a:srgbClr val="B39041"/>
                </a:solidFill>
              </a:rPr>
            </a:br>
            <a:r>
              <a:rPr lang="en-US" sz="1400">
                <a:solidFill>
                  <a:srgbClr val="B39041"/>
                </a:solidFill>
              </a:rPr>
              <a:t>         Size</a:t>
            </a:r>
          </a:p>
        </p:txBody>
      </p:sp>
      <p:sp>
        <p:nvSpPr>
          <p:cNvPr id="30732" name="Text Box 36"/>
          <p:cNvSpPr txBox="1">
            <a:spLocks noChangeArrowheads="1"/>
          </p:cNvSpPr>
          <p:nvPr/>
        </p:nvSpPr>
        <p:spPr bwMode="auto">
          <a:xfrm>
            <a:off x="2667001" y="2852738"/>
            <a:ext cx="1243013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>
                <a:solidFill>
                  <a:srgbClr val="CC00CC"/>
                </a:solidFill>
              </a:rPr>
              <a:t>X</a:t>
            </a:r>
            <a:r>
              <a:rPr lang="en-US" sz="2200" baseline="-20000">
                <a:solidFill>
                  <a:srgbClr val="CC00CC"/>
                </a:solidFill>
              </a:rPr>
              <a:t>2</a:t>
            </a:r>
            <a:r>
              <a:rPr lang="en-US" sz="2200">
                <a:solidFill>
                  <a:srgbClr val="CC00CC"/>
                </a:solidFill>
              </a:rPr>
              <a:t> </a:t>
            </a:r>
            <a:r>
              <a:rPr lang="en-US" sz="1400">
                <a:solidFill>
                  <a:srgbClr val="CC00CC"/>
                </a:solidFill>
              </a:rPr>
              <a:t>= Family</a:t>
            </a:r>
            <a:br>
              <a:rPr lang="en-US" sz="1400">
                <a:solidFill>
                  <a:srgbClr val="CC00CC"/>
                </a:solidFill>
              </a:rPr>
            </a:br>
            <a:r>
              <a:rPr lang="en-US" sz="1400">
                <a:solidFill>
                  <a:srgbClr val="CC00CC"/>
                </a:solidFill>
              </a:rPr>
              <a:t>           Income</a:t>
            </a:r>
          </a:p>
        </p:txBody>
      </p:sp>
      <p:sp>
        <p:nvSpPr>
          <p:cNvPr id="112677" name="Text Box 37"/>
          <p:cNvSpPr txBox="1">
            <a:spLocks noChangeArrowheads="1"/>
          </p:cNvSpPr>
          <p:nvPr/>
        </p:nvSpPr>
        <p:spPr bwMode="auto">
          <a:xfrm>
            <a:off x="3638550" y="8763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</a:p>
        </p:txBody>
      </p:sp>
      <p:sp>
        <p:nvSpPr>
          <p:cNvPr id="112678" name="Text Box 38"/>
          <p:cNvSpPr txBox="1">
            <a:spLocks noChangeArrowheads="1"/>
          </p:cNvSpPr>
          <p:nvPr/>
        </p:nvSpPr>
        <p:spPr bwMode="auto">
          <a:xfrm>
            <a:off x="2881313" y="1057275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</a:p>
        </p:txBody>
      </p:sp>
      <p:sp>
        <p:nvSpPr>
          <p:cNvPr id="112679" name="Text Box 39"/>
          <p:cNvSpPr txBox="1">
            <a:spLocks noChangeArrowheads="1"/>
          </p:cNvSpPr>
          <p:nvPr/>
        </p:nvSpPr>
        <p:spPr bwMode="auto">
          <a:xfrm>
            <a:off x="3910013" y="1633538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</a:p>
        </p:txBody>
      </p:sp>
      <p:sp>
        <p:nvSpPr>
          <p:cNvPr id="112680" name="Text Box 40"/>
          <p:cNvSpPr txBox="1">
            <a:spLocks noChangeArrowheads="1"/>
          </p:cNvSpPr>
          <p:nvPr/>
        </p:nvSpPr>
        <p:spPr bwMode="auto">
          <a:xfrm>
            <a:off x="3267075" y="1643063"/>
            <a:ext cx="22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</a:p>
        </p:txBody>
      </p:sp>
      <p:sp>
        <p:nvSpPr>
          <p:cNvPr id="112681" name="Text Box 41"/>
          <p:cNvSpPr txBox="1">
            <a:spLocks noChangeArrowheads="1"/>
          </p:cNvSpPr>
          <p:nvPr/>
        </p:nvSpPr>
        <p:spPr bwMode="auto">
          <a:xfrm>
            <a:off x="5024438" y="2241550"/>
            <a:ext cx="3929062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000000"/>
                </a:solidFill>
              </a:rPr>
              <a:t>NOTE:</a:t>
            </a:r>
            <a:r>
              <a:rPr lang="en-US">
                <a:solidFill>
                  <a:srgbClr val="000000"/>
                </a:solidFill>
              </a:rPr>
              <a:t>  </a:t>
            </a:r>
            <a:r>
              <a:rPr lang="en-US" b="1">
                <a:solidFill>
                  <a:srgbClr val="008000"/>
                </a:solidFill>
              </a:rPr>
              <a:t>c</a:t>
            </a:r>
            <a:r>
              <a:rPr lang="en-US">
                <a:solidFill>
                  <a:srgbClr val="000000"/>
                </a:solidFill>
              </a:rPr>
              <a:t> is explained by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          both </a:t>
            </a:r>
            <a:r>
              <a:rPr lang="en-US">
                <a:solidFill>
                  <a:srgbClr val="996633"/>
                </a:solidFill>
              </a:rPr>
              <a:t>X</a:t>
            </a:r>
            <a:r>
              <a:rPr lang="en-US" baseline="-25000">
                <a:solidFill>
                  <a:srgbClr val="996633"/>
                </a:solidFill>
              </a:rPr>
              <a:t>1</a:t>
            </a:r>
            <a:r>
              <a:rPr lang="en-US">
                <a:solidFill>
                  <a:srgbClr val="000000"/>
                </a:solidFill>
              </a:rPr>
              <a:t> and </a:t>
            </a:r>
            <a:r>
              <a:rPr lang="en-US">
                <a:solidFill>
                  <a:srgbClr val="CC00CC"/>
                </a:solidFill>
              </a:rPr>
              <a:t>X</a:t>
            </a:r>
            <a:r>
              <a:rPr lang="en-US" baseline="-25000">
                <a:solidFill>
                  <a:srgbClr val="CC00CC"/>
                </a:solidFill>
              </a:rPr>
              <a:t>2</a:t>
            </a:r>
          </a:p>
        </p:txBody>
      </p:sp>
      <p:sp>
        <p:nvSpPr>
          <p:cNvPr id="18" name="Text Box 50"/>
          <p:cNvSpPr txBox="1">
            <a:spLocks noChangeArrowheads="1"/>
          </p:cNvSpPr>
          <p:nvPr/>
        </p:nvSpPr>
        <p:spPr bwMode="auto">
          <a:xfrm>
            <a:off x="4881564" y="1785938"/>
            <a:ext cx="29162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66"/>
                </a:solidFill>
              </a:rPr>
              <a:t>R</a:t>
            </a:r>
            <a:r>
              <a:rPr lang="en-US" sz="2000" baseline="30000">
                <a:solidFill>
                  <a:srgbClr val="FF0066"/>
                </a:solidFill>
              </a:rPr>
              <a:t>2</a:t>
            </a:r>
            <a:r>
              <a:rPr lang="en-US" sz="2000">
                <a:solidFill>
                  <a:srgbClr val="FF0066"/>
                </a:solidFill>
              </a:rPr>
              <a:t>  </a:t>
            </a:r>
            <a:r>
              <a:rPr lang="en-US">
                <a:solidFill>
                  <a:srgbClr val="FF0066"/>
                </a:solidFill>
              </a:rPr>
              <a:t>Graphically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FF0066"/>
                </a:solidFill>
              </a:rPr>
              <a:t>= ? </a:t>
            </a:r>
          </a:p>
        </p:txBody>
      </p:sp>
      <p:sp>
        <p:nvSpPr>
          <p:cNvPr id="30739" name="Oval 18"/>
          <p:cNvSpPr>
            <a:spLocks noChangeArrowheads="1"/>
          </p:cNvSpPr>
          <p:nvPr/>
        </p:nvSpPr>
        <p:spPr bwMode="auto">
          <a:xfrm>
            <a:off x="8873067" y="4176889"/>
            <a:ext cx="1682044" cy="489332"/>
          </a:xfrm>
          <a:prstGeom prst="ellipse">
            <a:avLst/>
          </a:prstGeom>
          <a:noFill/>
          <a:ln w="28575" algn="ctr">
            <a:solidFill>
              <a:srgbClr val="C00000"/>
            </a:solidFill>
            <a:round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2930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12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112649" grpId="0"/>
      <p:bldP spid="30728" grpId="0" animBg="1"/>
      <p:bldP spid="30729" grpId="0" animBg="1"/>
      <p:bldP spid="30731" grpId="0"/>
      <p:bldP spid="30732" grpId="0"/>
      <p:bldP spid="112681" grpId="0"/>
      <p:bldP spid="18" grpId="0"/>
      <p:bldP spid="3073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848600" cy="533400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chemeClr val="tx1"/>
                </a:solidFill>
              </a:rPr>
              <a:t>Simple and Multiple Regression Analysis</a:t>
            </a:r>
            <a:endParaRPr lang="en-US" sz="2400" b="1"/>
          </a:p>
        </p:txBody>
      </p:sp>
      <p:graphicFrame>
        <p:nvGraphicFramePr>
          <p:cNvPr id="99331" name="Group 3"/>
          <p:cNvGraphicFramePr>
            <a:graphicFrameLocks noGrp="1"/>
          </p:cNvGraphicFramePr>
          <p:nvPr>
            <p:ph type="tbl" idx="1"/>
          </p:nvPr>
        </p:nvGraphicFramePr>
        <p:xfrm>
          <a:off x="1752600" y="1447801"/>
          <a:ext cx="7886700" cy="4314705"/>
        </p:xfrm>
        <a:graphic>
          <a:graphicData uri="http://schemas.openxmlformats.org/drawingml/2006/table">
            <a:tbl>
              <a:tblPr/>
              <a:tblGrid>
                <a:gridCol w="990600"/>
                <a:gridCol w="1066800"/>
                <a:gridCol w="1066800"/>
                <a:gridCol w="952500"/>
                <a:gridCol w="1257300"/>
                <a:gridCol w="1371600"/>
                <a:gridCol w="1181100"/>
              </a:tblGrid>
              <a:tr h="1328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Family Number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Actual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#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of Credit Cards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Family Size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Family Income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($000)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Regression Estimate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Error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(Residual)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Errors Squared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4.77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-.77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.59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5.20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.80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.64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6.03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-.03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.00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6.68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.32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.10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7.53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.47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.22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8.18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-1.18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1.39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7.95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.05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.00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</a:rPr>
                        <a:t>9.67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.33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.11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770" name="Object 85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86"/>
          <p:cNvGraphicFramePr>
            <a:graphicFrameLocks noChangeAspect="1"/>
          </p:cNvGraphicFramePr>
          <p:nvPr/>
        </p:nvGraphicFramePr>
        <p:xfrm>
          <a:off x="7467600" y="1447800"/>
          <a:ext cx="68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447800"/>
                        <a:ext cx="685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87"/>
          <p:cNvGraphicFramePr>
            <a:graphicFrameLocks noChangeAspect="1"/>
          </p:cNvGraphicFramePr>
          <p:nvPr/>
        </p:nvGraphicFramePr>
        <p:xfrm>
          <a:off x="6172200" y="1447800"/>
          <a:ext cx="26193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139639" imgH="203112" progId="Equation.3">
                  <p:embed/>
                </p:oleObj>
              </mc:Choice>
              <mc:Fallback>
                <p:oleObj name="Equation" r:id="rId7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47800"/>
                        <a:ext cx="26193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88"/>
          <p:cNvGraphicFramePr>
            <a:graphicFrameLocks noChangeAspect="1"/>
          </p:cNvGraphicFramePr>
          <p:nvPr/>
        </p:nvGraphicFramePr>
        <p:xfrm>
          <a:off x="8610600" y="1447801"/>
          <a:ext cx="9969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9" imgW="571252" imgH="317362" progId="Equation.3">
                  <p:embed/>
                </p:oleObj>
              </mc:Choice>
              <mc:Fallback>
                <p:oleObj name="Equation" r:id="rId9" imgW="571252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1447801"/>
                        <a:ext cx="9969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63" name="Line 89"/>
          <p:cNvSpPr>
            <a:spLocks noChangeShapeType="1"/>
          </p:cNvSpPr>
          <p:nvPr/>
        </p:nvSpPr>
        <p:spPr bwMode="auto">
          <a:xfrm flipH="1">
            <a:off x="6705600" y="1219200"/>
            <a:ext cx="990600" cy="1676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32774" name="Object 90"/>
          <p:cNvGraphicFramePr>
            <a:graphicFrameLocks noChangeAspect="1"/>
          </p:cNvGraphicFramePr>
          <p:nvPr/>
        </p:nvGraphicFramePr>
        <p:xfrm>
          <a:off x="8491538" y="5715000"/>
          <a:ext cx="21764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1" imgW="1219200" imgH="330200" progId="Equation.3">
                  <p:embed/>
                </p:oleObj>
              </mc:Choice>
              <mc:Fallback>
                <p:oleObj name="Equation" r:id="rId11" imgW="12192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1538" y="5715000"/>
                        <a:ext cx="2176462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64" name="Text Box 91"/>
          <p:cNvSpPr txBox="1">
            <a:spLocks noChangeArrowheads="1"/>
          </p:cNvSpPr>
          <p:nvPr/>
        </p:nvSpPr>
        <p:spPr bwMode="auto">
          <a:xfrm>
            <a:off x="3621088" y="5876926"/>
            <a:ext cx="4343400" cy="646331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0066"/>
                </a:solidFill>
              </a:rPr>
              <a:t>SSE</a:t>
            </a:r>
            <a:r>
              <a:rPr lang="en-US">
                <a:solidFill>
                  <a:srgbClr val="FF0066"/>
                </a:solidFill>
              </a:rPr>
              <a:t> </a:t>
            </a:r>
            <a:r>
              <a:rPr lang="en-US" b="1">
                <a:solidFill>
                  <a:srgbClr val="FF0066"/>
                </a:solidFill>
              </a:rPr>
              <a:t>= Sum of  Squares Error (Residual)</a:t>
            </a:r>
          </a:p>
        </p:txBody>
      </p:sp>
      <p:sp>
        <p:nvSpPr>
          <p:cNvPr id="32865" name="Line 92"/>
          <p:cNvSpPr>
            <a:spLocks noChangeShapeType="1"/>
          </p:cNvSpPr>
          <p:nvPr/>
        </p:nvSpPr>
        <p:spPr bwMode="auto">
          <a:xfrm flipV="1">
            <a:off x="4495800" y="1219200"/>
            <a:ext cx="1600200" cy="1676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32775" name="Object 93"/>
          <p:cNvGraphicFramePr>
            <a:graphicFrameLocks noChangeAspect="1"/>
          </p:cNvGraphicFramePr>
          <p:nvPr/>
        </p:nvGraphicFramePr>
        <p:xfrm>
          <a:off x="1524000" y="914400"/>
          <a:ext cx="281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13" imgW="1497950" imgH="215806" progId="Equation.3">
                  <p:embed/>
                </p:oleObj>
              </mc:Choice>
              <mc:Fallback>
                <p:oleObj name="Equation" r:id="rId13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914400"/>
                        <a:ext cx="2819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94"/>
          <p:cNvGraphicFramePr>
            <a:graphicFrameLocks noChangeAspect="1"/>
          </p:cNvGraphicFramePr>
          <p:nvPr/>
        </p:nvGraphicFramePr>
        <p:xfrm>
          <a:off x="4572000" y="914401"/>
          <a:ext cx="36576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15" imgW="2095500" imgH="203200" progId="Equation.3">
                  <p:embed/>
                </p:oleObj>
              </mc:Choice>
              <mc:Fallback>
                <p:oleObj name="Equation" r:id="rId15" imgW="2095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14401"/>
                        <a:ext cx="3657600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66" name="Line 95"/>
          <p:cNvSpPr>
            <a:spLocks noChangeShapeType="1"/>
          </p:cNvSpPr>
          <p:nvPr/>
        </p:nvSpPr>
        <p:spPr bwMode="auto">
          <a:xfrm flipV="1">
            <a:off x="5562600" y="1219200"/>
            <a:ext cx="1676400" cy="16002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32777" name="Object 96"/>
          <p:cNvGraphicFramePr>
            <a:graphicFrameLocks noChangeAspect="1"/>
          </p:cNvGraphicFramePr>
          <p:nvPr/>
        </p:nvGraphicFramePr>
        <p:xfrm>
          <a:off x="3048001" y="1524000"/>
          <a:ext cx="258763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17" imgW="139579" imgH="164957" progId="Equation.3">
                  <p:embed/>
                </p:oleObj>
              </mc:Choice>
              <mc:Fallback>
                <p:oleObj name="Equation" r:id="rId17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1524000"/>
                        <a:ext cx="258763" cy="26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97"/>
          <p:cNvGraphicFramePr>
            <a:graphicFrameLocks noChangeAspect="1"/>
          </p:cNvGraphicFramePr>
          <p:nvPr/>
        </p:nvGraphicFramePr>
        <p:xfrm>
          <a:off x="4191001" y="1371600"/>
          <a:ext cx="3651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4" name="Equation" r:id="rId19" imgW="152268" imgH="215713" progId="Equation.3">
                  <p:embed/>
                </p:oleObj>
              </mc:Choice>
              <mc:Fallback>
                <p:oleObj name="Equation" r:id="rId19" imgW="152268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1371600"/>
                        <a:ext cx="365125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98"/>
          <p:cNvGraphicFramePr>
            <a:graphicFrameLocks noChangeAspect="1"/>
          </p:cNvGraphicFramePr>
          <p:nvPr/>
        </p:nvGraphicFramePr>
        <p:xfrm>
          <a:off x="5105400" y="1371600"/>
          <a:ext cx="3952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name="Equation" r:id="rId21" imgW="164885" imgH="215619" progId="Equation.3">
                  <p:embed/>
                </p:oleObj>
              </mc:Choice>
              <mc:Fallback>
                <p:oleObj name="Equation" r:id="rId21" imgW="164885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371600"/>
                        <a:ext cx="395288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67" name="Line 99"/>
          <p:cNvSpPr>
            <a:spLocks noChangeShapeType="1"/>
          </p:cNvSpPr>
          <p:nvPr/>
        </p:nvSpPr>
        <p:spPr bwMode="auto">
          <a:xfrm>
            <a:off x="7967664" y="6021388"/>
            <a:ext cx="504825" cy="0"/>
          </a:xfrm>
          <a:prstGeom prst="line">
            <a:avLst/>
          </a:prstGeom>
          <a:noFill/>
          <a:ln w="9525">
            <a:solidFill>
              <a:srgbClr val="FF3399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9428" name="Text Box 100"/>
          <p:cNvSpPr txBox="1">
            <a:spLocks noChangeArrowheads="1"/>
          </p:cNvSpPr>
          <p:nvPr/>
        </p:nvSpPr>
        <p:spPr bwMode="auto">
          <a:xfrm>
            <a:off x="3242332" y="6483290"/>
            <a:ext cx="799333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9900CC"/>
                </a:solidFill>
              </a:rPr>
              <a:t>Unique (additional) contribution of X</a:t>
            </a:r>
            <a:r>
              <a:rPr lang="en-US" b="1" baseline="-25000" dirty="0">
                <a:solidFill>
                  <a:srgbClr val="9900CC"/>
                </a:solidFill>
              </a:rPr>
              <a:t>2  </a:t>
            </a:r>
            <a:r>
              <a:rPr lang="en-US" b="1" dirty="0">
                <a:solidFill>
                  <a:srgbClr val="9900CC"/>
                </a:solidFill>
              </a:rPr>
              <a:t>=  </a:t>
            </a:r>
            <a:r>
              <a:rPr lang="en-US" sz="2000" b="1" dirty="0">
                <a:solidFill>
                  <a:srgbClr val="9900CC"/>
                </a:solidFill>
              </a:rPr>
              <a:t>5.5 – 3.05 = 2.45</a:t>
            </a:r>
            <a:endParaRPr lang="en-US" b="1" dirty="0">
              <a:solidFill>
                <a:srgbClr val="9900CC"/>
              </a:solidFill>
            </a:endParaRPr>
          </a:p>
        </p:txBody>
      </p:sp>
      <p:sp>
        <p:nvSpPr>
          <p:cNvPr id="32869" name="Text Box 101"/>
          <p:cNvSpPr txBox="1">
            <a:spLocks noChangeArrowheads="1"/>
          </p:cNvSpPr>
          <p:nvPr/>
        </p:nvSpPr>
        <p:spPr bwMode="auto">
          <a:xfrm>
            <a:off x="1566863" y="6362700"/>
            <a:ext cx="17208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Remember:</a:t>
            </a:r>
          </a:p>
        </p:txBody>
      </p:sp>
    </p:spTree>
    <p:extLst>
      <p:ext uri="{BB962C8B-B14F-4D97-AF65-F5344CB8AC3E}">
        <p14:creationId xmlns:p14="http://schemas.microsoft.com/office/powerpoint/2010/main" val="281274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94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4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994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2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1733550" y="1368425"/>
            <a:ext cx="3786188" cy="1282700"/>
          </a:xfrm>
          <a:noFill/>
        </p:spPr>
        <p:txBody>
          <a:bodyPr/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/>
              <a:t>			       	     				     No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>
                <a:solidFill>
                  <a:srgbClr val="FF0066"/>
                </a:solidFill>
              </a:rPr>
              <a:t>1. Is overall F significant?</a:t>
            </a:r>
            <a:r>
              <a:rPr lang="en-US" sz="1800"/>
              <a:t>	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/>
              <a:t>    (i.e., </a:t>
            </a:r>
            <a:r>
              <a:rPr lang="en-US" sz="1800">
                <a:sym typeface="Symbol" pitchFamily="18" charset="2"/>
              </a:rPr>
              <a:t></a:t>
            </a:r>
            <a:r>
              <a:rPr lang="en-US" sz="1800"/>
              <a:t> </a:t>
            </a:r>
            <a:r>
              <a:rPr lang="en-US" sz="1800" u="sng"/>
              <a:t>&lt;</a:t>
            </a:r>
            <a:r>
              <a:rPr lang="en-US" sz="1800"/>
              <a:t> 0.05)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/>
              <a:t>				     Yes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1752600" y="850900"/>
            <a:ext cx="89154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</a:rPr>
              <a:t>H</a:t>
            </a:r>
            <a:r>
              <a:rPr lang="en-US" b="1" baseline="-25000">
                <a:solidFill>
                  <a:srgbClr val="000000"/>
                </a:solidFill>
              </a:rPr>
              <a:t>o</a:t>
            </a:r>
            <a:r>
              <a:rPr lang="en-US" b="1">
                <a:solidFill>
                  <a:srgbClr val="000000"/>
                </a:solidFill>
              </a:rPr>
              <a:t>:   R</a:t>
            </a:r>
            <a:r>
              <a:rPr lang="en-US" b="1" baseline="30000">
                <a:solidFill>
                  <a:srgbClr val="000000"/>
                </a:solidFill>
              </a:rPr>
              <a:t>2</a:t>
            </a:r>
            <a:r>
              <a:rPr lang="en-US" b="1">
                <a:solidFill>
                  <a:srgbClr val="000000"/>
                </a:solidFill>
              </a:rPr>
              <a:t> = 0.   That is, There is </a:t>
            </a:r>
            <a:r>
              <a:rPr lang="en-US" b="1" u="sng">
                <a:solidFill>
                  <a:srgbClr val="000000"/>
                </a:solidFill>
              </a:rPr>
              <a:t>NO RELATIONSHIP</a:t>
            </a:r>
            <a:r>
              <a:rPr lang="en-US" b="1">
                <a:solidFill>
                  <a:srgbClr val="000000"/>
                </a:solidFill>
              </a:rPr>
              <a:t> between the DV and </a:t>
            </a:r>
            <a:r>
              <a:rPr lang="en-US" b="1" u="sng">
                <a:solidFill>
                  <a:srgbClr val="000000"/>
                </a:solidFill>
              </a:rPr>
              <a:t>ANY OF</a:t>
            </a:r>
            <a:r>
              <a:rPr lang="en-US" b="1">
                <a:solidFill>
                  <a:srgbClr val="000000"/>
                </a:solidFill>
              </a:rPr>
              <a:t> the IVs included in the regression model.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5562600" y="1471614"/>
            <a:ext cx="5105400" cy="13287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Don’t reject Ho; No indep. Variable has a sig.  relationship with dep. Variable.            </a:t>
            </a:r>
            <a:r>
              <a:rPr lang="en-US" b="1">
                <a:solidFill>
                  <a:srgbClr val="000000"/>
                </a:solidFill>
              </a:rPr>
              <a:t>Stop</a:t>
            </a:r>
            <a:r>
              <a:rPr lang="en-US">
                <a:solidFill>
                  <a:srgbClr val="000000"/>
                </a:solidFill>
              </a:rPr>
              <a:t>. 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Reject Ho; One or more independent variables are significantly related to the dep. Variable.</a:t>
            </a: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738313" y="3114675"/>
            <a:ext cx="8610600" cy="20145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2.  </a:t>
            </a:r>
            <a:r>
              <a:rPr lang="en-US" u="sng">
                <a:solidFill>
                  <a:srgbClr val="FF0066"/>
                </a:solidFill>
              </a:rPr>
              <a:t>Which independent variable(s)</a:t>
            </a:r>
            <a:r>
              <a:rPr lang="en-US">
                <a:solidFill>
                  <a:srgbClr val="000000"/>
                </a:solidFill>
              </a:rPr>
              <a:t> have significant relationships with the dep. Var.? In the “Coefficients” table, look up the result of the t-test for each indep. variable’s regression coefficient (b).  H</a:t>
            </a:r>
            <a:r>
              <a:rPr lang="en-US" baseline="-25000">
                <a:solidFill>
                  <a:srgbClr val="000000"/>
                </a:solidFill>
              </a:rPr>
              <a:t>o</a:t>
            </a:r>
            <a:r>
              <a:rPr lang="en-US">
                <a:solidFill>
                  <a:srgbClr val="000000"/>
                </a:solidFill>
              </a:rPr>
              <a:t> for t-test of a given variable hypothesizes that the coefficient b = 0.  That is, there is no relationship between the corresponding independent variable and the dep. Variable.  If a t-test’s </a:t>
            </a:r>
            <a:r>
              <a:rPr lang="en-US">
                <a:solidFill>
                  <a:srgbClr val="000000"/>
                </a:solidFill>
                <a:sym typeface="Symbol" pitchFamily="18" charset="2"/>
              </a:rPr>
              <a:t>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u="sng">
                <a:solidFill>
                  <a:srgbClr val="000000"/>
                </a:solidFill>
              </a:rPr>
              <a:t>&lt;</a:t>
            </a:r>
            <a:r>
              <a:rPr lang="en-US">
                <a:solidFill>
                  <a:srgbClr val="000000"/>
                </a:solidFill>
              </a:rPr>
              <a:t> 0.05, reject the null and conclude that the corresponding variable has a significant relationship with the dep. Variable. 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1774826" y="5211764"/>
            <a:ext cx="68421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66"/>
                </a:solidFill>
              </a:rPr>
              <a:t>3.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FF0066"/>
                </a:solidFill>
              </a:rPr>
              <a:t>Look up the sign of the regression coefficient (b) </a:t>
            </a:r>
            <a:r>
              <a:rPr lang="en-US" u="sng">
                <a:solidFill>
                  <a:srgbClr val="FF0066"/>
                </a:solidFill>
              </a:rPr>
              <a:t>ONLY FOR</a:t>
            </a:r>
            <a:br>
              <a:rPr lang="en-US" u="sng">
                <a:solidFill>
                  <a:srgbClr val="FF0066"/>
                </a:solidFill>
              </a:rPr>
            </a:br>
            <a:r>
              <a:rPr lang="en-US">
                <a:solidFill>
                  <a:srgbClr val="FF0066"/>
                </a:solidFill>
              </a:rPr>
              <a:t>   </a:t>
            </a:r>
            <a:r>
              <a:rPr lang="en-US" u="sng">
                <a:solidFill>
                  <a:srgbClr val="FF0066"/>
                </a:solidFill>
              </a:rPr>
              <a:t>those</a:t>
            </a:r>
            <a:r>
              <a:rPr lang="en-US">
                <a:solidFill>
                  <a:srgbClr val="000000"/>
                </a:solidFill>
              </a:rPr>
              <a:t> indep. variables that are found to have a significant 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relationship with the dependent variable (i.e., those 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  </a:t>
            </a:r>
            <a:r>
              <a:rPr lang="en-US">
                <a:solidFill>
                  <a:srgbClr val="FF0066"/>
                </a:solidFill>
              </a:rPr>
              <a:t>with </a:t>
            </a:r>
            <a:r>
              <a:rPr lang="en-US">
                <a:solidFill>
                  <a:srgbClr val="FF0066"/>
                </a:solidFill>
                <a:sym typeface="Symbol" pitchFamily="18" charset="2"/>
              </a:rPr>
              <a:t></a:t>
            </a:r>
            <a:r>
              <a:rPr lang="en-US">
                <a:solidFill>
                  <a:srgbClr val="FF0066"/>
                </a:solidFill>
              </a:rPr>
              <a:t> </a:t>
            </a:r>
            <a:r>
              <a:rPr lang="en-US" u="sng">
                <a:solidFill>
                  <a:srgbClr val="FF0066"/>
                </a:solidFill>
              </a:rPr>
              <a:t>&lt;</a:t>
            </a:r>
            <a:r>
              <a:rPr lang="en-US">
                <a:solidFill>
                  <a:srgbClr val="FF0066"/>
                </a:solidFill>
              </a:rPr>
              <a:t> 0.05), and state your conclusions accordingly</a:t>
            </a:r>
            <a:r>
              <a:rPr lang="en-US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2855913" y="203201"/>
            <a:ext cx="655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>
                <a:solidFill>
                  <a:srgbClr val="000000"/>
                </a:solidFill>
              </a:rPr>
              <a:t>Interpreting Regression Results</a:t>
            </a:r>
          </a:p>
        </p:txBody>
      </p:sp>
      <p:sp>
        <p:nvSpPr>
          <p:cNvPr id="44040" name="Line 8"/>
          <p:cNvSpPr>
            <a:spLocks noChangeShapeType="1"/>
          </p:cNvSpPr>
          <p:nvPr/>
        </p:nvSpPr>
        <p:spPr bwMode="auto">
          <a:xfrm>
            <a:off x="5303838" y="1687513"/>
            <a:ext cx="315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452939" y="1649413"/>
            <a:ext cx="446087" cy="785812"/>
            <a:chOff x="1845" y="1207"/>
            <a:chExt cx="281" cy="454"/>
          </a:xfrm>
        </p:grpSpPr>
        <p:sp>
          <p:nvSpPr>
            <p:cNvPr id="44047" name="Line 9"/>
            <p:cNvSpPr>
              <a:spLocks noChangeShapeType="1"/>
            </p:cNvSpPr>
            <p:nvPr/>
          </p:nvSpPr>
          <p:spPr bwMode="auto">
            <a:xfrm>
              <a:off x="1845" y="137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48" name="Line 10"/>
            <p:cNvSpPr>
              <a:spLocks noChangeShapeType="1"/>
            </p:cNvSpPr>
            <p:nvPr/>
          </p:nvSpPr>
          <p:spPr bwMode="auto">
            <a:xfrm>
              <a:off x="1990" y="120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49" name="Line 11"/>
            <p:cNvSpPr>
              <a:spLocks noChangeShapeType="1"/>
            </p:cNvSpPr>
            <p:nvPr/>
          </p:nvSpPr>
          <p:spPr bwMode="auto">
            <a:xfrm>
              <a:off x="1981" y="1207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50" name="Line 12"/>
            <p:cNvSpPr>
              <a:spLocks noChangeShapeType="1"/>
            </p:cNvSpPr>
            <p:nvPr/>
          </p:nvSpPr>
          <p:spPr bwMode="auto">
            <a:xfrm>
              <a:off x="1982" y="165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44042" name="Line 13"/>
          <p:cNvSpPr>
            <a:spLocks noChangeShapeType="1"/>
          </p:cNvSpPr>
          <p:nvPr/>
        </p:nvSpPr>
        <p:spPr bwMode="auto">
          <a:xfrm>
            <a:off x="6456363" y="2795588"/>
            <a:ext cx="0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043" name="Line 14"/>
          <p:cNvSpPr>
            <a:spLocks noChangeShapeType="1"/>
          </p:cNvSpPr>
          <p:nvPr/>
        </p:nvSpPr>
        <p:spPr bwMode="auto">
          <a:xfrm>
            <a:off x="4800600" y="481488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044" name="Line 15"/>
          <p:cNvSpPr>
            <a:spLocks noChangeShapeType="1"/>
          </p:cNvSpPr>
          <p:nvPr/>
        </p:nvSpPr>
        <p:spPr bwMode="auto">
          <a:xfrm>
            <a:off x="5276851" y="2398713"/>
            <a:ext cx="315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045" name="Line 16"/>
          <p:cNvSpPr>
            <a:spLocks noChangeShapeType="1"/>
          </p:cNvSpPr>
          <p:nvPr/>
        </p:nvSpPr>
        <p:spPr bwMode="auto">
          <a:xfrm>
            <a:off x="8832850" y="1962150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4046" name="Picture 19" descr="j042449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32850" y="5157789"/>
            <a:ext cx="144145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792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012" y="264624"/>
            <a:ext cx="8432045" cy="64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8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02" y="0"/>
            <a:ext cx="8517427" cy="67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8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60" y="207068"/>
            <a:ext cx="8325025" cy="646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32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707" y="233597"/>
            <a:ext cx="8486607" cy="648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3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2887</Words>
  <Application>Microsoft Office PowerPoint</Application>
  <PresentationFormat>Widescreen</PresentationFormat>
  <Paragraphs>1171</Paragraphs>
  <Slides>43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Arial Unicode MS</vt:lpstr>
      <vt:lpstr>Arial</vt:lpstr>
      <vt:lpstr>Berlin Sans FB</vt:lpstr>
      <vt:lpstr>Calibri</vt:lpstr>
      <vt:lpstr>Calibri Light</vt:lpstr>
      <vt:lpstr>Californian FB</vt:lpstr>
      <vt:lpstr>Comic Sans MS</vt:lpstr>
      <vt:lpstr>Courier New</vt:lpstr>
      <vt:lpstr>Symbol</vt:lpstr>
      <vt:lpstr>Tahoma</vt:lpstr>
      <vt:lpstr>Times New Roman</vt:lpstr>
      <vt:lpstr>Wingdings</vt:lpstr>
      <vt:lpstr>1_Office Theme</vt:lpstr>
      <vt:lpstr>Global</vt:lpstr>
      <vt:lpstr>Equation</vt:lpstr>
      <vt:lpstr>Linear Regression Analysis</vt:lpstr>
      <vt:lpstr>PowerPoint Presentation</vt:lpstr>
      <vt:lpstr>Simple and Multiple Regression Analysis </vt:lpstr>
      <vt:lpstr>Simple and Multiple Regression Analysis </vt:lpstr>
      <vt:lpstr>Simple and Multiple Regression Analysis </vt:lpstr>
      <vt:lpstr>Simple and Multiple Regression Analysis </vt:lpstr>
      <vt:lpstr>      Simple and Multiple Regression Analysis  Estimating Number of Credit Cards*</vt:lpstr>
      <vt:lpstr>      Simple and Multiple Regression Analysis  Estimating Number of Credit Cards</vt:lpstr>
      <vt:lpstr>      Simple and Multiple Regression Analysis  Estimating Number of Credit Cards</vt:lpstr>
      <vt:lpstr> Simple and Multiple Regression Analysis</vt:lpstr>
      <vt:lpstr> Simple and Multiple Regression Analysis</vt:lpstr>
      <vt:lpstr>      Simple and Multiple Regression Analysis</vt:lpstr>
      <vt:lpstr>      Simple and Multiple Regression Analysis  Estimating Number of Credit Cards</vt:lpstr>
      <vt:lpstr>Simple and Multiple Regression Analysis </vt:lpstr>
      <vt:lpstr>          Simple and Multiple Regression Analysis  </vt:lpstr>
      <vt:lpstr>PowerPoint Presentation</vt:lpstr>
      <vt:lpstr>PowerPoint Presentation</vt:lpstr>
      <vt:lpstr>PowerPoint Presentation</vt:lpstr>
      <vt:lpstr>PowerPoint Presentation</vt:lpstr>
      <vt:lpstr>  Simple and Multiple Regression Analysis</vt:lpstr>
      <vt:lpstr>  Simple and Multiple Regression Analysis</vt:lpstr>
      <vt:lpstr>  Simple and Multiple Regression Analysis</vt:lpstr>
      <vt:lpstr>PowerPoint Presentation</vt:lpstr>
      <vt:lpstr>Simple and Multiple Regression Analysis</vt:lpstr>
      <vt:lpstr>Simple and Multiple Regression Analysis</vt:lpstr>
      <vt:lpstr>Simple and Multiple Regression Analysis </vt:lpstr>
      <vt:lpstr>Simple and Multiple Regression Analysis </vt:lpstr>
      <vt:lpstr>PowerPoint Presentation</vt:lpstr>
      <vt:lpstr>Simple and Multiple Regression Analysis </vt:lpstr>
      <vt:lpstr>          Simple and Multiple Regression Analysis  </vt:lpstr>
      <vt:lpstr>PowerPoint Presentation</vt:lpstr>
      <vt:lpstr>Simple and Multiple Regression Analysis</vt:lpstr>
      <vt:lpstr>Simple and Multiple Regression Analysis</vt:lpstr>
      <vt:lpstr>  Simple and Multiple Regression Analysis</vt:lpstr>
      <vt:lpstr>  Simple and Multiple Regression Analysis</vt:lpstr>
      <vt:lpstr>PowerPoint Presentation</vt:lpstr>
      <vt:lpstr>PowerPoint Presentation</vt:lpstr>
      <vt:lpstr>Simple and Multiple Regression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Analysis</dc:title>
  <dc:creator>Microsoft account</dc:creator>
  <cp:lastModifiedBy>Microsoft account</cp:lastModifiedBy>
  <cp:revision>1</cp:revision>
  <dcterms:created xsi:type="dcterms:W3CDTF">2021-04-17T13:12:31Z</dcterms:created>
  <dcterms:modified xsi:type="dcterms:W3CDTF">2021-04-17T13:19:41Z</dcterms:modified>
</cp:coreProperties>
</file>