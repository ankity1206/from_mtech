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9" r:id="rId2"/>
    <p:sldId id="256" r:id="rId3"/>
    <p:sldId id="308" r:id="rId4"/>
    <p:sldId id="257" r:id="rId5"/>
    <p:sldId id="258" r:id="rId6"/>
    <p:sldId id="259" r:id="rId7"/>
    <p:sldId id="260" r:id="rId8"/>
    <p:sldId id="261" r:id="rId9"/>
    <p:sldId id="262" r:id="rId10"/>
    <p:sldId id="263" r:id="rId11"/>
    <p:sldId id="264" r:id="rId12"/>
    <p:sldId id="265" r:id="rId13"/>
    <p:sldId id="306" r:id="rId14"/>
    <p:sldId id="30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F2A8A547-D223-4B17-A721-D80A2E740C1D}" type="datetimeFigureOut">
              <a:rPr lang="en-IN" smtClean="0"/>
              <a:t>28-03-2022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2807483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2A8A547-D223-4B17-A721-D80A2E740C1D}" type="datetimeFigureOut">
              <a:rPr lang="en-IN" smtClean="0"/>
              <a:t>28-03-2022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311459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A8A547-D223-4B17-A721-D80A2E740C1D}" type="datetimeFigureOut">
              <a:rPr lang="en-IN" smtClean="0"/>
              <a:t>28-03-2022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922802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F2A8A547-D223-4B17-A721-D80A2E740C1D}" type="datetimeFigureOut">
              <a:rPr lang="en-IN" smtClean="0"/>
              <a:t>28-03-2022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12791846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F2A8A547-D223-4B17-A721-D80A2E740C1D}" type="datetimeFigureOut">
              <a:rPr lang="en-IN" smtClean="0"/>
              <a:t>28-03-2022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20526335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F2A8A547-D223-4B17-A721-D80A2E740C1D}" type="datetimeFigureOut">
              <a:rPr lang="en-IN" smtClean="0"/>
              <a:t>28-03-2022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239860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A8A547-D223-4B17-A721-D80A2E740C1D}" type="datetimeFigureOut">
              <a:rPr lang="en-IN" smtClean="0"/>
              <a:t>28-03-2022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1241296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A8A547-D223-4B17-A721-D80A2E740C1D}" type="datetimeFigureOut">
              <a:rPr lang="en-IN" smtClean="0"/>
              <a:t>28-03-2022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2145200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A8A547-D223-4B17-A721-D80A2E740C1D}" type="datetimeFigureOut">
              <a:rPr lang="en-IN" smtClean="0"/>
              <a:t>28-03-2022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2968470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2A8A547-D223-4B17-A721-D80A2E740C1D}" type="datetimeFigureOut">
              <a:rPr lang="en-IN" smtClean="0"/>
              <a:t>28-03-2022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2295628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F2A8A547-D223-4B17-A721-D80A2E740C1D}" type="datetimeFigureOut">
              <a:rPr lang="en-IN" smtClean="0"/>
              <a:t>28-03-2022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D6FE4A4-A476-4226-B03F-A1F528B9F170}" type="slidenum">
              <a:rPr lang="en-IN" smtClean="0"/>
              <a:t>‹#›</a:t>
            </a:fld>
            <a:endParaRPr lang="en-IN"/>
          </a:p>
        </p:txBody>
      </p:sp>
    </p:spTree>
    <p:extLst>
      <p:ext uri="{BB962C8B-B14F-4D97-AF65-F5344CB8AC3E}">
        <p14:creationId xmlns:p14="http://schemas.microsoft.com/office/powerpoint/2010/main" val="322902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A8A547-D223-4B17-A721-D80A2E740C1D}" type="datetimeFigureOut">
              <a:rPr lang="en-IN" smtClean="0"/>
              <a:t>28-03-2022</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6FE4A4-A476-4226-B03F-A1F528B9F170}" type="slidenum">
              <a:rPr lang="en-IN" smtClean="0"/>
              <a:t>‹#›</a:t>
            </a:fld>
            <a:endParaRPr lang="en-IN"/>
          </a:p>
        </p:txBody>
      </p:sp>
    </p:spTree>
    <p:extLst>
      <p:ext uri="{BB962C8B-B14F-4D97-AF65-F5344CB8AC3E}">
        <p14:creationId xmlns:p14="http://schemas.microsoft.com/office/powerpoint/2010/main" val="31155291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44129" y="2454875"/>
            <a:ext cx="7278211" cy="923330"/>
          </a:xfrm>
          <a:prstGeom prst="rect">
            <a:avLst/>
          </a:prstGeom>
          <a:noFill/>
        </p:spPr>
        <p:txBody>
          <a:bodyPr wrap="none" rtlCol="0">
            <a:spAutoFit/>
          </a:bodyPr>
          <a:lstStyle/>
          <a:p>
            <a:r>
              <a:rPr lang="en-IN" sz="5400" dirty="0" smtClean="0"/>
              <a:t>MLE and MAP Estimation</a:t>
            </a:r>
            <a:endParaRPr lang="en-IN" sz="5400" dirty="0"/>
          </a:p>
        </p:txBody>
      </p:sp>
    </p:spTree>
    <p:extLst>
      <p:ext uri="{BB962C8B-B14F-4D97-AF65-F5344CB8AC3E}">
        <p14:creationId xmlns:p14="http://schemas.microsoft.com/office/powerpoint/2010/main" val="4685259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4227" y="431106"/>
            <a:ext cx="9662984" cy="2585323"/>
          </a:xfrm>
          <a:prstGeom prst="rect">
            <a:avLst/>
          </a:prstGeom>
        </p:spPr>
        <p:txBody>
          <a:bodyPr wrap="square">
            <a:spAutoFit/>
          </a:bodyPr>
          <a:lstStyle/>
          <a:p>
            <a:r>
              <a:rPr lang="en-IN" b="1" i="0" dirty="0" smtClean="0">
                <a:solidFill>
                  <a:srgbClr val="C00000"/>
                </a:solidFill>
                <a:effectLst/>
                <a:latin typeface="sohne"/>
              </a:rPr>
              <a:t>Probability that Liverpool FC wins a match in the next season</a:t>
            </a:r>
          </a:p>
          <a:p>
            <a:endParaRPr lang="en-IN" b="1" dirty="0">
              <a:solidFill>
                <a:srgbClr val="C00000"/>
              </a:solidFill>
              <a:latin typeface="sohne"/>
            </a:endParaRPr>
          </a:p>
          <a:p>
            <a:endParaRPr lang="en-IN" b="0" i="0" dirty="0" smtClean="0">
              <a:solidFill>
                <a:srgbClr val="292929"/>
              </a:solidFill>
              <a:effectLst/>
              <a:latin typeface="sohne"/>
            </a:endParaRPr>
          </a:p>
          <a:p>
            <a:r>
              <a:rPr lang="en-IN" b="0" i="0" dirty="0" smtClean="0">
                <a:solidFill>
                  <a:srgbClr val="292929"/>
                </a:solidFill>
                <a:effectLst/>
                <a:latin typeface="charter"/>
              </a:rPr>
              <a:t>In 2018-19 season, Liverpool FC won 30 matches out of 38 matches in Premier league. Having this data, we’d like to make a guess at the probability that Liverpool FC wins a match in the next season.</a:t>
            </a:r>
          </a:p>
          <a:p>
            <a:endParaRPr lang="en-IN" b="0" i="0" dirty="0" smtClean="0">
              <a:solidFill>
                <a:srgbClr val="292929"/>
              </a:solidFill>
              <a:effectLst/>
              <a:latin typeface="charter"/>
            </a:endParaRPr>
          </a:p>
          <a:p>
            <a:r>
              <a:rPr lang="en-IN" b="0" i="0" dirty="0" smtClean="0">
                <a:solidFill>
                  <a:srgbClr val="292929"/>
                </a:solidFill>
                <a:effectLst/>
                <a:latin typeface="charter"/>
              </a:rPr>
              <a:t>The simplest guess here would be </a:t>
            </a:r>
            <a:r>
              <a:rPr lang="en-IN" b="0" i="1" dirty="0" smtClean="0">
                <a:solidFill>
                  <a:srgbClr val="292929"/>
                </a:solidFill>
                <a:effectLst/>
                <a:latin typeface="charter"/>
              </a:rPr>
              <a:t>30/38 = 79%</a:t>
            </a:r>
            <a:r>
              <a:rPr lang="en-IN" b="0" i="0" dirty="0" smtClean="0">
                <a:solidFill>
                  <a:srgbClr val="292929"/>
                </a:solidFill>
                <a:effectLst/>
                <a:latin typeface="charter"/>
              </a:rPr>
              <a:t>, which is the best possible guess based on the data. This actually is an estimation with </a:t>
            </a:r>
            <a:r>
              <a:rPr lang="en-IN" b="1" i="0" dirty="0" smtClean="0">
                <a:solidFill>
                  <a:srgbClr val="292929"/>
                </a:solidFill>
                <a:effectLst/>
                <a:latin typeface="charter"/>
              </a:rPr>
              <a:t>MLE</a:t>
            </a:r>
            <a:r>
              <a:rPr lang="en-IN" b="0" i="0" dirty="0" smtClean="0">
                <a:solidFill>
                  <a:srgbClr val="292929"/>
                </a:solidFill>
                <a:effectLst/>
                <a:latin typeface="charter"/>
              </a:rPr>
              <a:t> method.</a:t>
            </a:r>
            <a:endParaRPr lang="en-IN" b="0" i="0" dirty="0">
              <a:solidFill>
                <a:srgbClr val="292929"/>
              </a:solidFill>
              <a:effectLst/>
              <a:latin typeface="charter"/>
            </a:endParaRPr>
          </a:p>
        </p:txBody>
      </p:sp>
      <p:sp>
        <p:nvSpPr>
          <p:cNvPr id="5" name="Rectangle 4"/>
          <p:cNvSpPr/>
          <p:nvPr/>
        </p:nvSpPr>
        <p:spPr>
          <a:xfrm>
            <a:off x="354227" y="3993458"/>
            <a:ext cx="10429102" cy="1754326"/>
          </a:xfrm>
          <a:prstGeom prst="rect">
            <a:avLst/>
          </a:prstGeom>
        </p:spPr>
        <p:txBody>
          <a:bodyPr wrap="square">
            <a:spAutoFit/>
          </a:bodyPr>
          <a:lstStyle/>
          <a:p>
            <a:r>
              <a:rPr lang="en-IN" b="1" i="0" dirty="0" smtClean="0">
                <a:solidFill>
                  <a:srgbClr val="0070C0"/>
                </a:solidFill>
                <a:effectLst/>
                <a:latin typeface="charter"/>
              </a:rPr>
              <a:t>Then, assume we know that Liverpool’s winning percentages for the past few seasons were around 50%. </a:t>
            </a:r>
          </a:p>
          <a:p>
            <a:endParaRPr lang="en-IN" b="1" dirty="0">
              <a:solidFill>
                <a:srgbClr val="0070C0"/>
              </a:solidFill>
              <a:latin typeface="charter"/>
            </a:endParaRPr>
          </a:p>
          <a:p>
            <a:r>
              <a:rPr lang="en-IN" b="1" i="0" dirty="0" smtClean="0">
                <a:solidFill>
                  <a:srgbClr val="0070C0"/>
                </a:solidFill>
                <a:effectLst/>
                <a:latin typeface="charter"/>
              </a:rPr>
              <a:t>Do you think our best guess is still 79%? I think some value between 50% and 79% would be more realistic, considering the prior knowledge as well as the data from this season. This is an estimation with MAP method.</a:t>
            </a:r>
            <a:endParaRPr lang="en-IN" b="1" dirty="0">
              <a:solidFill>
                <a:srgbClr val="0070C0"/>
              </a:solidFill>
            </a:endParaRPr>
          </a:p>
        </p:txBody>
      </p:sp>
    </p:spTree>
    <p:extLst>
      <p:ext uri="{BB962C8B-B14F-4D97-AF65-F5344CB8AC3E}">
        <p14:creationId xmlns:p14="http://schemas.microsoft.com/office/powerpoint/2010/main" val="167303778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368" y="403824"/>
            <a:ext cx="9943070" cy="369332"/>
          </a:xfrm>
          <a:prstGeom prst="rect">
            <a:avLst/>
          </a:prstGeom>
        </p:spPr>
        <p:txBody>
          <a:bodyPr wrap="square">
            <a:spAutoFit/>
          </a:bodyPr>
          <a:lstStyle/>
          <a:p>
            <a:r>
              <a:rPr lang="en-IN" dirty="0" smtClean="0"/>
              <a:t>MLE and MAP are method of estimating </a:t>
            </a:r>
            <a:r>
              <a:rPr lang="en-IN" b="1" dirty="0" smtClean="0">
                <a:effectLst/>
                <a:latin typeface="charter"/>
              </a:rPr>
              <a:t>parameters of statistical models</a:t>
            </a:r>
            <a:r>
              <a:rPr lang="en-IN" dirty="0" smtClean="0"/>
              <a:t>.</a:t>
            </a:r>
            <a:endParaRPr lang="en-IN" dirty="0"/>
          </a:p>
        </p:txBody>
      </p:sp>
      <p:sp>
        <p:nvSpPr>
          <p:cNvPr id="3" name="Rectangle 2"/>
          <p:cNvSpPr/>
          <p:nvPr/>
        </p:nvSpPr>
        <p:spPr>
          <a:xfrm>
            <a:off x="354226" y="1210614"/>
            <a:ext cx="11343503" cy="1200329"/>
          </a:xfrm>
          <a:prstGeom prst="rect">
            <a:avLst/>
          </a:prstGeom>
        </p:spPr>
        <p:txBody>
          <a:bodyPr wrap="square">
            <a:spAutoFit/>
          </a:bodyPr>
          <a:lstStyle/>
          <a:p>
            <a:r>
              <a:rPr lang="en-IN" b="0" i="0" dirty="0" smtClean="0">
                <a:solidFill>
                  <a:srgbClr val="292929"/>
                </a:solidFill>
                <a:effectLst/>
                <a:latin typeface="charter"/>
              </a:rPr>
              <a:t>In this example, we’re simplifying that Liverpool has a single winning probability (let’s call this as </a:t>
            </a:r>
            <a:r>
              <a:rPr lang="en-IN" b="0" i="1" dirty="0" smtClean="0">
                <a:solidFill>
                  <a:srgbClr val="292929"/>
                </a:solidFill>
                <a:effectLst/>
                <a:latin typeface="charter"/>
              </a:rPr>
              <a:t>θ</a:t>
            </a:r>
            <a:r>
              <a:rPr lang="en-IN" b="0" i="0" dirty="0" smtClean="0">
                <a:solidFill>
                  <a:srgbClr val="292929"/>
                </a:solidFill>
                <a:effectLst/>
                <a:latin typeface="charter"/>
              </a:rPr>
              <a:t>) throughout all matches across seasons, regardless of uniqueness of each match and any complex factors of real football matches. On the other words, we’re assuming each of Liverpool’s match as a Bernoulli trial with the winning probability </a:t>
            </a:r>
            <a:r>
              <a:rPr lang="en-IN" b="0" i="1" dirty="0" smtClean="0">
                <a:solidFill>
                  <a:srgbClr val="292929"/>
                </a:solidFill>
                <a:effectLst/>
                <a:latin typeface="charter"/>
              </a:rPr>
              <a:t>θ</a:t>
            </a:r>
            <a:r>
              <a:rPr lang="en-IN" b="0" i="0" dirty="0" smtClean="0">
                <a:solidFill>
                  <a:srgbClr val="292929"/>
                </a:solidFill>
                <a:effectLst/>
                <a:latin typeface="charter"/>
              </a:rPr>
              <a:t>.</a:t>
            </a:r>
            <a:endParaRPr lang="en-IN" dirty="0"/>
          </a:p>
        </p:txBody>
      </p:sp>
      <p:sp>
        <p:nvSpPr>
          <p:cNvPr id="4" name="Rectangle 3"/>
          <p:cNvSpPr/>
          <p:nvPr/>
        </p:nvSpPr>
        <p:spPr>
          <a:xfrm>
            <a:off x="428368" y="2848401"/>
            <a:ext cx="10733903" cy="1200329"/>
          </a:xfrm>
          <a:prstGeom prst="rect">
            <a:avLst/>
          </a:prstGeom>
        </p:spPr>
        <p:txBody>
          <a:bodyPr wrap="square">
            <a:spAutoFit/>
          </a:bodyPr>
          <a:lstStyle/>
          <a:p>
            <a:pPr algn="just"/>
            <a:r>
              <a:rPr lang="en-IN" b="0" i="0" dirty="0" smtClean="0">
                <a:solidFill>
                  <a:srgbClr val="292929"/>
                </a:solidFill>
                <a:effectLst/>
                <a:latin typeface="charter"/>
              </a:rPr>
              <a:t>With this assumption, we can describe </a:t>
            </a:r>
            <a:r>
              <a:rPr lang="en-IN" b="1" i="0" dirty="0" smtClean="0">
                <a:solidFill>
                  <a:srgbClr val="0000FF"/>
                </a:solidFill>
                <a:effectLst/>
                <a:latin typeface="charter"/>
              </a:rPr>
              <a:t>probability that Liverpool wins </a:t>
            </a:r>
            <a:r>
              <a:rPr lang="en-IN" b="1" i="1" dirty="0" smtClean="0">
                <a:solidFill>
                  <a:srgbClr val="0000FF"/>
                </a:solidFill>
                <a:effectLst/>
                <a:latin typeface="charter"/>
              </a:rPr>
              <a:t>k</a:t>
            </a:r>
            <a:r>
              <a:rPr lang="en-IN" b="1" i="0" dirty="0" smtClean="0">
                <a:solidFill>
                  <a:srgbClr val="0000FF"/>
                </a:solidFill>
                <a:effectLst/>
                <a:latin typeface="charter"/>
              </a:rPr>
              <a:t> times out of </a:t>
            </a:r>
            <a:r>
              <a:rPr lang="en-IN" b="1" i="1" dirty="0" smtClean="0">
                <a:solidFill>
                  <a:srgbClr val="0000FF"/>
                </a:solidFill>
                <a:effectLst/>
                <a:latin typeface="charter"/>
              </a:rPr>
              <a:t>n</a:t>
            </a:r>
            <a:r>
              <a:rPr lang="en-IN" b="1" i="0" dirty="0" smtClean="0">
                <a:solidFill>
                  <a:srgbClr val="0000FF"/>
                </a:solidFill>
                <a:effectLst/>
                <a:latin typeface="charter"/>
              </a:rPr>
              <a:t> matches </a:t>
            </a:r>
            <a:r>
              <a:rPr lang="en-IN" b="0" i="0" dirty="0" smtClean="0">
                <a:solidFill>
                  <a:srgbClr val="292929"/>
                </a:solidFill>
                <a:effectLst/>
                <a:latin typeface="charter"/>
              </a:rPr>
              <a:t>for any given number </a:t>
            </a:r>
            <a:r>
              <a:rPr lang="en-IN" b="0" i="1" dirty="0" smtClean="0">
                <a:solidFill>
                  <a:srgbClr val="292929"/>
                </a:solidFill>
                <a:effectLst/>
                <a:latin typeface="charter"/>
              </a:rPr>
              <a:t>k</a:t>
            </a:r>
            <a:r>
              <a:rPr lang="en-IN" b="0" i="0" dirty="0" smtClean="0">
                <a:solidFill>
                  <a:srgbClr val="292929"/>
                </a:solidFill>
                <a:effectLst/>
                <a:latin typeface="charter"/>
              </a:rPr>
              <a:t> and </a:t>
            </a:r>
            <a:r>
              <a:rPr lang="en-IN" b="0" i="1" dirty="0" smtClean="0">
                <a:solidFill>
                  <a:srgbClr val="292929"/>
                </a:solidFill>
                <a:effectLst/>
                <a:latin typeface="charter"/>
              </a:rPr>
              <a:t>n</a:t>
            </a:r>
            <a:r>
              <a:rPr lang="en-IN" b="0" i="0" dirty="0" smtClean="0">
                <a:solidFill>
                  <a:srgbClr val="292929"/>
                </a:solidFill>
                <a:effectLst/>
                <a:latin typeface="charter"/>
              </a:rPr>
              <a:t> (</a:t>
            </a:r>
            <a:r>
              <a:rPr lang="en-IN" b="0" i="1" dirty="0" smtClean="0">
                <a:solidFill>
                  <a:srgbClr val="292929"/>
                </a:solidFill>
                <a:effectLst/>
                <a:latin typeface="charter"/>
              </a:rPr>
              <a:t>k ≤ n</a:t>
            </a:r>
            <a:r>
              <a:rPr lang="en-IN" b="0" i="0" dirty="0" smtClean="0">
                <a:solidFill>
                  <a:srgbClr val="292929"/>
                </a:solidFill>
                <a:effectLst/>
                <a:latin typeface="charter"/>
              </a:rPr>
              <a:t>). More precisely, we assume that the number of wins of Liverpool follows </a:t>
            </a:r>
            <a:r>
              <a:rPr lang="en-IN" b="1" i="0" dirty="0" smtClean="0">
                <a:solidFill>
                  <a:srgbClr val="0070C0"/>
                </a:solidFill>
                <a:effectLst/>
                <a:latin typeface="charter"/>
              </a:rPr>
              <a:t>binomial distribution</a:t>
            </a:r>
            <a:r>
              <a:rPr lang="en-IN" b="1" i="0" dirty="0" smtClean="0">
                <a:solidFill>
                  <a:srgbClr val="292929"/>
                </a:solidFill>
                <a:effectLst/>
                <a:latin typeface="charter"/>
              </a:rPr>
              <a:t> </a:t>
            </a:r>
            <a:r>
              <a:rPr lang="en-IN" b="0" i="0" dirty="0" smtClean="0">
                <a:solidFill>
                  <a:srgbClr val="292929"/>
                </a:solidFill>
                <a:effectLst/>
                <a:latin typeface="charter"/>
              </a:rPr>
              <a:t>with parameter </a:t>
            </a:r>
            <a:r>
              <a:rPr lang="en-IN" b="0" i="1" dirty="0" smtClean="0">
                <a:solidFill>
                  <a:srgbClr val="292929"/>
                </a:solidFill>
                <a:effectLst/>
                <a:latin typeface="charter"/>
              </a:rPr>
              <a:t>θ</a:t>
            </a:r>
            <a:r>
              <a:rPr lang="en-IN" b="0" i="0" dirty="0" smtClean="0">
                <a:solidFill>
                  <a:srgbClr val="292929"/>
                </a:solidFill>
                <a:effectLst/>
                <a:latin typeface="charter"/>
              </a:rPr>
              <a:t>. The formula of the probability that Liverpool wins </a:t>
            </a:r>
            <a:r>
              <a:rPr lang="en-IN" b="0" i="1" dirty="0" smtClean="0">
                <a:solidFill>
                  <a:srgbClr val="292929"/>
                </a:solidFill>
                <a:effectLst/>
                <a:latin typeface="charter"/>
              </a:rPr>
              <a:t>k</a:t>
            </a:r>
            <a:r>
              <a:rPr lang="en-IN" b="0" i="0" dirty="0" smtClean="0">
                <a:solidFill>
                  <a:srgbClr val="292929"/>
                </a:solidFill>
                <a:effectLst/>
                <a:latin typeface="charter"/>
              </a:rPr>
              <a:t> times out of </a:t>
            </a:r>
            <a:r>
              <a:rPr lang="en-IN" b="0" i="1" dirty="0" smtClean="0">
                <a:solidFill>
                  <a:srgbClr val="292929"/>
                </a:solidFill>
                <a:effectLst/>
                <a:latin typeface="charter"/>
              </a:rPr>
              <a:t>n</a:t>
            </a:r>
            <a:r>
              <a:rPr lang="en-IN" b="0" i="0" dirty="0" smtClean="0">
                <a:solidFill>
                  <a:srgbClr val="292929"/>
                </a:solidFill>
                <a:effectLst/>
                <a:latin typeface="charter"/>
              </a:rPr>
              <a:t> matches, given the winning probability </a:t>
            </a:r>
            <a:r>
              <a:rPr lang="en-IN" b="0" i="1" dirty="0" smtClean="0">
                <a:solidFill>
                  <a:srgbClr val="292929"/>
                </a:solidFill>
                <a:effectLst/>
                <a:latin typeface="charter"/>
              </a:rPr>
              <a:t>θ</a:t>
            </a:r>
            <a:r>
              <a:rPr lang="en-IN" b="0" i="0" dirty="0" smtClean="0">
                <a:solidFill>
                  <a:srgbClr val="292929"/>
                </a:solidFill>
                <a:effectLst/>
                <a:latin typeface="charter"/>
              </a:rPr>
              <a:t>, is below.</a:t>
            </a:r>
            <a:endParaRPr lang="en-IN" dirty="0"/>
          </a:p>
        </p:txBody>
      </p:sp>
      <p:pic>
        <p:nvPicPr>
          <p:cNvPr id="1026" name="Picture 2" descr="https://miro.medium.com/max/860/1*nSxC3iyny6wSAiy7R8USv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531" y="4257332"/>
            <a:ext cx="7448550" cy="100965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560173" y="5679128"/>
            <a:ext cx="11137556" cy="646331"/>
          </a:xfrm>
          <a:prstGeom prst="rect">
            <a:avLst/>
          </a:prstGeom>
        </p:spPr>
        <p:txBody>
          <a:bodyPr wrap="square">
            <a:spAutoFit/>
          </a:bodyPr>
          <a:lstStyle/>
          <a:p>
            <a:r>
              <a:rPr lang="en-IN" b="0" i="0" dirty="0" smtClean="0">
                <a:solidFill>
                  <a:srgbClr val="292929"/>
                </a:solidFill>
                <a:effectLst/>
                <a:latin typeface="charter"/>
              </a:rPr>
              <a:t>This simplification (describing the probability using just a single parameter </a:t>
            </a:r>
            <a:r>
              <a:rPr lang="en-IN" b="0" i="1" dirty="0" smtClean="0">
                <a:solidFill>
                  <a:srgbClr val="292929"/>
                </a:solidFill>
                <a:effectLst/>
                <a:latin typeface="charter"/>
              </a:rPr>
              <a:t>θ</a:t>
            </a:r>
            <a:r>
              <a:rPr lang="en-IN" b="0" i="0" dirty="0" smtClean="0">
                <a:solidFill>
                  <a:srgbClr val="292929"/>
                </a:solidFill>
                <a:effectLst/>
                <a:latin typeface="charter"/>
              </a:rPr>
              <a:t> regardless of real world complexity) is the statistical modelling of this example, and </a:t>
            </a:r>
            <a:r>
              <a:rPr lang="en-IN" b="0" i="1" dirty="0" smtClean="0">
                <a:solidFill>
                  <a:srgbClr val="292929"/>
                </a:solidFill>
                <a:effectLst/>
                <a:latin typeface="charter"/>
              </a:rPr>
              <a:t>θ</a:t>
            </a:r>
            <a:r>
              <a:rPr lang="en-IN" b="0" i="0" dirty="0" smtClean="0">
                <a:solidFill>
                  <a:srgbClr val="292929"/>
                </a:solidFill>
                <a:effectLst/>
                <a:latin typeface="charter"/>
              </a:rPr>
              <a:t> is the parameter to be estimated.</a:t>
            </a:r>
            <a:endParaRPr lang="en-IN" dirty="0"/>
          </a:p>
        </p:txBody>
      </p:sp>
    </p:spTree>
    <p:extLst>
      <p:ext uri="{BB962C8B-B14F-4D97-AF65-F5344CB8AC3E}">
        <p14:creationId xmlns:p14="http://schemas.microsoft.com/office/powerpoint/2010/main" val="21873742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5373" y="141238"/>
            <a:ext cx="10750378" cy="1754326"/>
          </a:xfrm>
          <a:prstGeom prst="rect">
            <a:avLst/>
          </a:prstGeom>
        </p:spPr>
        <p:txBody>
          <a:bodyPr wrap="square">
            <a:spAutoFit/>
          </a:bodyPr>
          <a:lstStyle/>
          <a:p>
            <a:r>
              <a:rPr lang="en-IN" b="1" i="0" dirty="0" smtClean="0">
                <a:solidFill>
                  <a:srgbClr val="FF0000"/>
                </a:solidFill>
                <a:effectLst/>
                <a:latin typeface="sohne"/>
              </a:rPr>
              <a:t>Maximum Likelihood Estimation (MLE):</a:t>
            </a:r>
          </a:p>
          <a:p>
            <a:endParaRPr lang="en-IN" b="0" i="0" dirty="0" smtClean="0">
              <a:solidFill>
                <a:srgbClr val="292929"/>
              </a:solidFill>
              <a:effectLst/>
              <a:latin typeface="sohne"/>
            </a:endParaRPr>
          </a:p>
          <a:p>
            <a:pPr algn="just"/>
            <a:r>
              <a:rPr lang="en-IN" b="0" i="0" dirty="0" smtClean="0">
                <a:solidFill>
                  <a:srgbClr val="292929"/>
                </a:solidFill>
                <a:effectLst/>
                <a:latin typeface="charter"/>
              </a:rPr>
              <a:t>In the previous section, we got the formula of probability that Liverpool wins </a:t>
            </a:r>
            <a:r>
              <a:rPr lang="en-IN" b="0" i="1" dirty="0" smtClean="0">
                <a:solidFill>
                  <a:srgbClr val="292929"/>
                </a:solidFill>
                <a:effectLst/>
                <a:latin typeface="charter"/>
              </a:rPr>
              <a:t>k</a:t>
            </a:r>
            <a:r>
              <a:rPr lang="en-IN" b="0" i="0" dirty="0" smtClean="0">
                <a:solidFill>
                  <a:srgbClr val="292929"/>
                </a:solidFill>
                <a:effectLst/>
                <a:latin typeface="charter"/>
              </a:rPr>
              <a:t> times out of </a:t>
            </a:r>
            <a:r>
              <a:rPr lang="en-IN" b="0" i="1" dirty="0" smtClean="0">
                <a:solidFill>
                  <a:srgbClr val="292929"/>
                </a:solidFill>
                <a:effectLst/>
                <a:latin typeface="charter"/>
              </a:rPr>
              <a:t>n</a:t>
            </a:r>
            <a:r>
              <a:rPr lang="en-IN" b="0" i="0" dirty="0" smtClean="0">
                <a:solidFill>
                  <a:srgbClr val="292929"/>
                </a:solidFill>
                <a:effectLst/>
                <a:latin typeface="charter"/>
              </a:rPr>
              <a:t> matches for given </a:t>
            </a:r>
            <a:r>
              <a:rPr lang="en-IN" b="0" i="1" dirty="0" smtClean="0">
                <a:solidFill>
                  <a:srgbClr val="292929"/>
                </a:solidFill>
                <a:effectLst/>
                <a:latin typeface="charter"/>
              </a:rPr>
              <a:t>θ</a:t>
            </a:r>
            <a:r>
              <a:rPr lang="en-IN" b="0" i="0" dirty="0" smtClean="0">
                <a:solidFill>
                  <a:srgbClr val="292929"/>
                </a:solidFill>
                <a:effectLst/>
                <a:latin typeface="charter"/>
              </a:rPr>
              <a:t>. Since we have the observed data from this season, which is </a:t>
            </a:r>
            <a:r>
              <a:rPr lang="en-IN" b="0" i="1" dirty="0" smtClean="0">
                <a:solidFill>
                  <a:srgbClr val="292929"/>
                </a:solidFill>
                <a:effectLst/>
                <a:latin typeface="charter"/>
              </a:rPr>
              <a:t>30 wins out of 38 matches </a:t>
            </a:r>
            <a:r>
              <a:rPr lang="en-IN" b="0" i="0" dirty="0" smtClean="0">
                <a:solidFill>
                  <a:srgbClr val="292929"/>
                </a:solidFill>
                <a:effectLst/>
                <a:latin typeface="charter"/>
              </a:rPr>
              <a:t>(let’s call this data as </a:t>
            </a:r>
            <a:r>
              <a:rPr lang="en-IN" b="0" i="1" dirty="0" smtClean="0">
                <a:solidFill>
                  <a:srgbClr val="292929"/>
                </a:solidFill>
                <a:effectLst/>
                <a:latin typeface="charter"/>
              </a:rPr>
              <a:t>D</a:t>
            </a:r>
            <a:r>
              <a:rPr lang="en-IN" b="0" i="0" dirty="0" smtClean="0">
                <a:solidFill>
                  <a:srgbClr val="292929"/>
                </a:solidFill>
                <a:effectLst/>
                <a:latin typeface="charter"/>
              </a:rPr>
              <a:t>), we can calculate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 — </a:t>
            </a:r>
            <a:r>
              <a:rPr lang="en-IN" b="0" i="0" dirty="0" smtClean="0">
                <a:solidFill>
                  <a:srgbClr val="292929"/>
                </a:solidFill>
                <a:effectLst/>
                <a:latin typeface="charter"/>
              </a:rPr>
              <a:t>the probability that this data </a:t>
            </a:r>
            <a:r>
              <a:rPr lang="en-IN" b="0" i="1" dirty="0" smtClean="0">
                <a:solidFill>
                  <a:srgbClr val="292929"/>
                </a:solidFill>
                <a:effectLst/>
                <a:latin typeface="charter"/>
              </a:rPr>
              <a:t>D </a:t>
            </a:r>
            <a:r>
              <a:rPr lang="en-IN" b="0" i="0" dirty="0" smtClean="0">
                <a:solidFill>
                  <a:srgbClr val="292929"/>
                </a:solidFill>
                <a:effectLst/>
                <a:latin typeface="charter"/>
              </a:rPr>
              <a:t>is observed for given </a:t>
            </a:r>
            <a:r>
              <a:rPr lang="en-IN" b="0" i="1" dirty="0" smtClean="0">
                <a:solidFill>
                  <a:srgbClr val="292929"/>
                </a:solidFill>
                <a:effectLst/>
                <a:latin typeface="charter"/>
              </a:rPr>
              <a:t>θ</a:t>
            </a:r>
            <a:r>
              <a:rPr lang="en-IN" b="0" i="0" dirty="0" smtClean="0">
                <a:solidFill>
                  <a:srgbClr val="292929"/>
                </a:solidFill>
                <a:effectLst/>
                <a:latin typeface="charter"/>
              </a:rPr>
              <a:t>. Let’s calculate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a:t>
            </a:r>
            <a:r>
              <a:rPr lang="en-IN" b="0" i="0" dirty="0" smtClean="0">
                <a:solidFill>
                  <a:srgbClr val="292929"/>
                </a:solidFill>
                <a:effectLst/>
                <a:latin typeface="charter"/>
              </a:rPr>
              <a:t> for </a:t>
            </a:r>
            <a:r>
              <a:rPr lang="en-IN" b="0" i="1" dirty="0" smtClean="0">
                <a:solidFill>
                  <a:srgbClr val="292929"/>
                </a:solidFill>
                <a:effectLst/>
                <a:latin typeface="charter"/>
              </a:rPr>
              <a:t>θ=0.1 </a:t>
            </a:r>
            <a:r>
              <a:rPr lang="en-IN" b="0" i="0" dirty="0" smtClean="0">
                <a:solidFill>
                  <a:srgbClr val="292929"/>
                </a:solidFill>
                <a:effectLst/>
                <a:latin typeface="charter"/>
              </a:rPr>
              <a:t>and</a:t>
            </a:r>
            <a:r>
              <a:rPr lang="en-IN" b="0" i="1" dirty="0" smtClean="0">
                <a:solidFill>
                  <a:srgbClr val="292929"/>
                </a:solidFill>
                <a:effectLst/>
                <a:latin typeface="charter"/>
              </a:rPr>
              <a:t> θ=0.7</a:t>
            </a:r>
            <a:r>
              <a:rPr lang="en-IN" b="0" i="0" dirty="0" smtClean="0">
                <a:solidFill>
                  <a:srgbClr val="292929"/>
                </a:solidFill>
                <a:effectLst/>
                <a:latin typeface="charter"/>
              </a:rPr>
              <a:t> as examples.</a:t>
            </a:r>
            <a:endParaRPr lang="en-IN" b="0" i="0" dirty="0">
              <a:solidFill>
                <a:srgbClr val="292929"/>
              </a:solidFill>
              <a:effectLst/>
              <a:latin typeface="charter"/>
            </a:endParaRPr>
          </a:p>
        </p:txBody>
      </p:sp>
      <p:sp>
        <p:nvSpPr>
          <p:cNvPr id="3" name="Rectangle 2"/>
          <p:cNvSpPr/>
          <p:nvPr/>
        </p:nvSpPr>
        <p:spPr>
          <a:xfrm>
            <a:off x="255372" y="2225930"/>
            <a:ext cx="11351741" cy="646331"/>
          </a:xfrm>
          <a:prstGeom prst="rect">
            <a:avLst/>
          </a:prstGeom>
        </p:spPr>
        <p:txBody>
          <a:bodyPr wrap="square">
            <a:spAutoFit/>
          </a:bodyPr>
          <a:lstStyle/>
          <a:p>
            <a:r>
              <a:rPr lang="en-IN" b="0" i="0" dirty="0" smtClean="0">
                <a:solidFill>
                  <a:srgbClr val="292929"/>
                </a:solidFill>
                <a:effectLst/>
                <a:latin typeface="charter"/>
              </a:rPr>
              <a:t>When Liverpool’s winning probability </a:t>
            </a:r>
            <a:r>
              <a:rPr lang="en-IN" b="0" i="1" dirty="0" smtClean="0">
                <a:solidFill>
                  <a:srgbClr val="292929"/>
                </a:solidFill>
                <a:effectLst/>
                <a:latin typeface="charter"/>
              </a:rPr>
              <a:t>θ = 0.1</a:t>
            </a:r>
            <a:r>
              <a:rPr lang="en-IN" b="0" i="0" dirty="0" smtClean="0">
                <a:solidFill>
                  <a:srgbClr val="292929"/>
                </a:solidFill>
                <a:effectLst/>
                <a:latin typeface="charter"/>
              </a:rPr>
              <a:t>, the probability that this data </a:t>
            </a:r>
            <a:r>
              <a:rPr lang="en-IN" b="0" i="1" dirty="0" smtClean="0">
                <a:solidFill>
                  <a:srgbClr val="292929"/>
                </a:solidFill>
                <a:effectLst/>
                <a:latin typeface="charter"/>
              </a:rPr>
              <a:t>D </a:t>
            </a:r>
            <a:r>
              <a:rPr lang="en-IN" b="0" i="0" dirty="0" smtClean="0">
                <a:solidFill>
                  <a:srgbClr val="292929"/>
                </a:solidFill>
                <a:effectLst/>
                <a:latin typeface="charter"/>
              </a:rPr>
              <a:t>(</a:t>
            </a:r>
            <a:r>
              <a:rPr lang="en-IN" b="0" i="1" dirty="0" smtClean="0">
                <a:solidFill>
                  <a:srgbClr val="292929"/>
                </a:solidFill>
                <a:effectLst/>
                <a:latin typeface="charter"/>
              </a:rPr>
              <a:t>30 wins in 38 matches</a:t>
            </a:r>
            <a:r>
              <a:rPr lang="en-IN" b="0" i="0" dirty="0" smtClean="0">
                <a:solidFill>
                  <a:srgbClr val="292929"/>
                </a:solidFill>
                <a:effectLst/>
                <a:latin typeface="charter"/>
              </a:rPr>
              <a:t>) is observed is following.</a:t>
            </a:r>
            <a:endParaRPr lang="en-IN" dirty="0"/>
          </a:p>
        </p:txBody>
      </p:sp>
      <p:pic>
        <p:nvPicPr>
          <p:cNvPr id="2050" name="Picture 2" descr="https://miro.medium.com/max/1428/1*QeRVGqCCREhoUI3Nci5d1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233" y="2872261"/>
            <a:ext cx="10230658" cy="851242"/>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15233" y="4229268"/>
            <a:ext cx="10230658" cy="646331"/>
          </a:xfrm>
          <a:prstGeom prst="rect">
            <a:avLst/>
          </a:prstGeom>
        </p:spPr>
        <p:txBody>
          <a:bodyPr wrap="square">
            <a:spAutoFit/>
          </a:bodyPr>
          <a:lstStyle/>
          <a:p>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 = 0.00000000000000000000211</a:t>
            </a:r>
            <a:r>
              <a:rPr lang="en-IN" b="0" i="0" dirty="0" smtClean="0">
                <a:solidFill>
                  <a:srgbClr val="292929"/>
                </a:solidFill>
                <a:effectLst/>
                <a:latin typeface="charter"/>
              </a:rPr>
              <a:t>. So, if Liverpool’s winning probability </a:t>
            </a:r>
            <a:r>
              <a:rPr lang="en-IN" b="0" i="1" dirty="0" smtClean="0">
                <a:solidFill>
                  <a:srgbClr val="292929"/>
                </a:solidFill>
                <a:effectLst/>
                <a:latin typeface="charter"/>
              </a:rPr>
              <a:t>θ </a:t>
            </a:r>
            <a:r>
              <a:rPr lang="en-IN" b="0" i="0" dirty="0" smtClean="0">
                <a:solidFill>
                  <a:srgbClr val="292929"/>
                </a:solidFill>
                <a:effectLst/>
                <a:latin typeface="charter"/>
              </a:rPr>
              <a:t>is actually </a:t>
            </a:r>
            <a:r>
              <a:rPr lang="en-IN" b="0" i="1" dirty="0" smtClean="0">
                <a:solidFill>
                  <a:srgbClr val="292929"/>
                </a:solidFill>
                <a:effectLst/>
                <a:latin typeface="charter"/>
              </a:rPr>
              <a:t>0.1</a:t>
            </a:r>
            <a:r>
              <a:rPr lang="en-IN" b="0" i="0" dirty="0" smtClean="0">
                <a:solidFill>
                  <a:srgbClr val="292929"/>
                </a:solidFill>
                <a:effectLst/>
                <a:latin typeface="charter"/>
              </a:rPr>
              <a:t>, this data </a:t>
            </a:r>
            <a:r>
              <a:rPr lang="en-IN" b="0" i="1" dirty="0" smtClean="0">
                <a:solidFill>
                  <a:srgbClr val="292929"/>
                </a:solidFill>
                <a:effectLst/>
                <a:latin typeface="charter"/>
              </a:rPr>
              <a:t>D</a:t>
            </a:r>
            <a:r>
              <a:rPr lang="en-IN" b="0" i="0" dirty="0" smtClean="0">
                <a:solidFill>
                  <a:srgbClr val="292929"/>
                </a:solidFill>
                <a:effectLst/>
                <a:latin typeface="charter"/>
              </a:rPr>
              <a:t> (</a:t>
            </a:r>
            <a:r>
              <a:rPr lang="en-IN" b="0" i="1" dirty="0" smtClean="0">
                <a:solidFill>
                  <a:srgbClr val="292929"/>
                </a:solidFill>
                <a:effectLst/>
                <a:latin typeface="charter"/>
              </a:rPr>
              <a:t>30 wins in 38 matches</a:t>
            </a:r>
            <a:r>
              <a:rPr lang="en-IN" b="0" i="0" dirty="0" smtClean="0">
                <a:solidFill>
                  <a:srgbClr val="292929"/>
                </a:solidFill>
                <a:effectLst/>
                <a:latin typeface="charter"/>
              </a:rPr>
              <a:t>) is extremely unlikely to be observed. Then what if </a:t>
            </a:r>
            <a:r>
              <a:rPr lang="en-IN" b="0" i="1" dirty="0" smtClean="0">
                <a:solidFill>
                  <a:srgbClr val="292929"/>
                </a:solidFill>
                <a:effectLst/>
                <a:latin typeface="charter"/>
              </a:rPr>
              <a:t>θ = 0.7?</a:t>
            </a:r>
            <a:endParaRPr lang="en-IN" dirty="0"/>
          </a:p>
        </p:txBody>
      </p:sp>
    </p:spTree>
    <p:extLst>
      <p:ext uri="{BB962C8B-B14F-4D97-AF65-F5344CB8AC3E}">
        <p14:creationId xmlns:p14="http://schemas.microsoft.com/office/powerpoint/2010/main" val="374582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miro.medium.com/max/1467/1*kfyck-rx1z7ZVkqSA3Yha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179" y="133200"/>
            <a:ext cx="10083114" cy="83144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84886" y="1328006"/>
            <a:ext cx="10890421" cy="646331"/>
          </a:xfrm>
          <a:prstGeom prst="rect">
            <a:avLst/>
          </a:prstGeom>
        </p:spPr>
        <p:txBody>
          <a:bodyPr wrap="square">
            <a:spAutoFit/>
          </a:bodyPr>
          <a:lstStyle/>
          <a:p>
            <a:r>
              <a:rPr lang="en-IN" b="0" i="0" dirty="0" smtClean="0">
                <a:solidFill>
                  <a:srgbClr val="292929"/>
                </a:solidFill>
                <a:effectLst/>
                <a:latin typeface="charter"/>
              </a:rPr>
              <a:t>Much </a:t>
            </a:r>
            <a:r>
              <a:rPr lang="en-IN" b="1" i="0" dirty="0" smtClean="0">
                <a:solidFill>
                  <a:srgbClr val="FF0000"/>
                </a:solidFill>
                <a:effectLst/>
                <a:latin typeface="charter"/>
              </a:rPr>
              <a:t>higher</a:t>
            </a:r>
            <a:r>
              <a:rPr lang="en-IN" b="0" i="0" dirty="0" smtClean="0">
                <a:solidFill>
                  <a:srgbClr val="292929"/>
                </a:solidFill>
                <a:effectLst/>
                <a:latin typeface="charter"/>
              </a:rPr>
              <a:t> than previous one. So if Liverpool’s winning probability </a:t>
            </a:r>
            <a:r>
              <a:rPr lang="en-IN" b="0" i="1" dirty="0" smtClean="0">
                <a:solidFill>
                  <a:srgbClr val="292929"/>
                </a:solidFill>
                <a:effectLst/>
                <a:latin typeface="charter"/>
              </a:rPr>
              <a:t>θ </a:t>
            </a:r>
            <a:r>
              <a:rPr lang="en-IN" b="0" i="0" dirty="0" smtClean="0">
                <a:solidFill>
                  <a:srgbClr val="292929"/>
                </a:solidFill>
                <a:effectLst/>
                <a:latin typeface="charter"/>
              </a:rPr>
              <a:t>is 0.7, this data </a:t>
            </a:r>
            <a:r>
              <a:rPr lang="en-IN" b="0" i="1" dirty="0" smtClean="0">
                <a:solidFill>
                  <a:srgbClr val="292929"/>
                </a:solidFill>
                <a:effectLst/>
                <a:latin typeface="charter"/>
              </a:rPr>
              <a:t>D</a:t>
            </a:r>
            <a:r>
              <a:rPr lang="en-IN" b="0" i="0" dirty="0" smtClean="0">
                <a:solidFill>
                  <a:srgbClr val="292929"/>
                </a:solidFill>
                <a:effectLst/>
                <a:latin typeface="charter"/>
              </a:rPr>
              <a:t> is much more likely to be observed than when </a:t>
            </a:r>
            <a:r>
              <a:rPr lang="en-IN" b="0" i="1" dirty="0" smtClean="0">
                <a:solidFill>
                  <a:srgbClr val="292929"/>
                </a:solidFill>
                <a:effectLst/>
                <a:latin typeface="charter"/>
              </a:rPr>
              <a:t>θ = 0.1</a:t>
            </a:r>
            <a:r>
              <a:rPr lang="en-IN" b="0" i="0" dirty="0" smtClean="0">
                <a:solidFill>
                  <a:srgbClr val="292929"/>
                </a:solidFill>
                <a:effectLst/>
                <a:latin typeface="charter"/>
              </a:rPr>
              <a:t>.</a:t>
            </a:r>
            <a:endParaRPr lang="en-IN" dirty="0"/>
          </a:p>
        </p:txBody>
      </p:sp>
      <p:sp>
        <p:nvSpPr>
          <p:cNvPr id="3" name="Rectangle 2"/>
          <p:cNvSpPr/>
          <p:nvPr/>
        </p:nvSpPr>
        <p:spPr>
          <a:xfrm>
            <a:off x="584886" y="3070302"/>
            <a:ext cx="10668000" cy="2308324"/>
          </a:xfrm>
          <a:prstGeom prst="rect">
            <a:avLst/>
          </a:prstGeom>
        </p:spPr>
        <p:txBody>
          <a:bodyPr wrap="square">
            <a:spAutoFit/>
          </a:bodyPr>
          <a:lstStyle/>
          <a:p>
            <a:r>
              <a:rPr lang="en-IN" b="0" i="0" dirty="0" smtClean="0">
                <a:solidFill>
                  <a:srgbClr val="292929"/>
                </a:solidFill>
                <a:effectLst/>
                <a:latin typeface="charter"/>
              </a:rPr>
              <a:t>Based on this comparison, we would be able to say that </a:t>
            </a:r>
            <a:r>
              <a:rPr lang="en-IN" b="0" i="1" dirty="0" smtClean="0">
                <a:solidFill>
                  <a:srgbClr val="292929"/>
                </a:solidFill>
                <a:effectLst/>
                <a:latin typeface="charter"/>
              </a:rPr>
              <a:t>θ</a:t>
            </a:r>
            <a:r>
              <a:rPr lang="en-IN" b="0" i="0" dirty="0" smtClean="0">
                <a:solidFill>
                  <a:srgbClr val="292929"/>
                </a:solidFill>
                <a:effectLst/>
                <a:latin typeface="charter"/>
              </a:rPr>
              <a:t> is more likely to be </a:t>
            </a:r>
            <a:r>
              <a:rPr lang="en-IN" b="0" i="1" dirty="0" smtClean="0">
                <a:solidFill>
                  <a:srgbClr val="292929"/>
                </a:solidFill>
                <a:effectLst/>
                <a:latin typeface="charter"/>
              </a:rPr>
              <a:t>0.7</a:t>
            </a:r>
            <a:r>
              <a:rPr lang="en-IN" b="0" i="0" dirty="0" smtClean="0">
                <a:solidFill>
                  <a:srgbClr val="292929"/>
                </a:solidFill>
                <a:effectLst/>
                <a:latin typeface="charter"/>
              </a:rPr>
              <a:t> than </a:t>
            </a:r>
            <a:r>
              <a:rPr lang="en-IN" b="0" i="1" dirty="0" smtClean="0">
                <a:solidFill>
                  <a:srgbClr val="292929"/>
                </a:solidFill>
                <a:effectLst/>
                <a:latin typeface="charter"/>
              </a:rPr>
              <a:t>0.1</a:t>
            </a:r>
            <a:r>
              <a:rPr lang="en-IN" b="0" i="0" dirty="0" smtClean="0">
                <a:solidFill>
                  <a:srgbClr val="292929"/>
                </a:solidFill>
                <a:effectLst/>
                <a:latin typeface="charter"/>
              </a:rPr>
              <a:t> considering the actual observed data </a:t>
            </a:r>
            <a:r>
              <a:rPr lang="en-IN" b="0" i="1" dirty="0" smtClean="0">
                <a:solidFill>
                  <a:srgbClr val="292929"/>
                </a:solidFill>
                <a:effectLst/>
                <a:latin typeface="charter"/>
              </a:rPr>
              <a:t>D</a:t>
            </a:r>
            <a:r>
              <a:rPr lang="en-IN" b="0" i="0" dirty="0" smtClean="0">
                <a:solidFill>
                  <a:srgbClr val="292929"/>
                </a:solidFill>
                <a:effectLst/>
                <a:latin typeface="charter"/>
              </a:rPr>
              <a:t>.</a:t>
            </a:r>
          </a:p>
          <a:p>
            <a:r>
              <a:rPr lang="en-IN" dirty="0" smtClean="0"/>
              <a:t/>
            </a:r>
            <a:br>
              <a:rPr lang="en-IN" dirty="0" smtClean="0"/>
            </a:br>
            <a:r>
              <a:rPr lang="en-IN" b="0" i="0" dirty="0" smtClean="0">
                <a:solidFill>
                  <a:srgbClr val="292929"/>
                </a:solidFill>
                <a:effectLst/>
                <a:latin typeface="charter"/>
              </a:rPr>
              <a:t>Here, we’ve been calculating the probability that </a:t>
            </a:r>
            <a:r>
              <a:rPr lang="en-IN" b="0" i="1" dirty="0" smtClean="0">
                <a:solidFill>
                  <a:srgbClr val="292929"/>
                </a:solidFill>
                <a:effectLst/>
                <a:latin typeface="charter"/>
              </a:rPr>
              <a:t>D </a:t>
            </a:r>
            <a:r>
              <a:rPr lang="en-IN" b="0" i="0" dirty="0" smtClean="0">
                <a:solidFill>
                  <a:srgbClr val="292929"/>
                </a:solidFill>
                <a:effectLst/>
                <a:latin typeface="charter"/>
              </a:rPr>
              <a:t>is observed for each </a:t>
            </a:r>
            <a:r>
              <a:rPr lang="en-IN" b="0" i="1" dirty="0" smtClean="0">
                <a:solidFill>
                  <a:srgbClr val="292929"/>
                </a:solidFill>
                <a:effectLst/>
                <a:latin typeface="charter"/>
              </a:rPr>
              <a:t>θ</a:t>
            </a:r>
            <a:r>
              <a:rPr lang="en-IN" b="0" i="0" dirty="0" smtClean="0">
                <a:solidFill>
                  <a:srgbClr val="292929"/>
                </a:solidFill>
                <a:effectLst/>
                <a:latin typeface="charter"/>
              </a:rPr>
              <a:t>, but at the same time, we can also say that we’ve been checking likelihood of each value of </a:t>
            </a:r>
            <a:r>
              <a:rPr lang="en-IN" b="0" i="1" dirty="0" smtClean="0">
                <a:solidFill>
                  <a:srgbClr val="292929"/>
                </a:solidFill>
                <a:effectLst/>
                <a:latin typeface="charter"/>
              </a:rPr>
              <a:t>θ</a:t>
            </a:r>
            <a:r>
              <a:rPr lang="en-IN" b="0" i="0" dirty="0" smtClean="0">
                <a:solidFill>
                  <a:srgbClr val="292929"/>
                </a:solidFill>
                <a:effectLst/>
                <a:latin typeface="charter"/>
              </a:rPr>
              <a:t> based on the observed data. </a:t>
            </a:r>
          </a:p>
          <a:p>
            <a:endParaRPr lang="en-IN" dirty="0">
              <a:solidFill>
                <a:srgbClr val="292929"/>
              </a:solidFill>
              <a:latin typeface="charter"/>
            </a:endParaRPr>
          </a:p>
          <a:p>
            <a:r>
              <a:rPr lang="en-IN" b="0" i="0" dirty="0" smtClean="0">
                <a:solidFill>
                  <a:srgbClr val="292929"/>
                </a:solidFill>
                <a:effectLst/>
                <a:latin typeface="charter"/>
              </a:rPr>
              <a:t>Because of this,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a:t>
            </a:r>
            <a:r>
              <a:rPr lang="en-IN" b="0" i="0" dirty="0" smtClean="0">
                <a:solidFill>
                  <a:srgbClr val="292929"/>
                </a:solidFill>
                <a:effectLst/>
                <a:latin typeface="charter"/>
              </a:rPr>
              <a:t> is also considered as </a:t>
            </a:r>
            <a:r>
              <a:rPr lang="en-IN" b="1" i="0" dirty="0" smtClean="0">
                <a:solidFill>
                  <a:srgbClr val="FF0000"/>
                </a:solidFill>
                <a:effectLst/>
                <a:latin typeface="charter"/>
              </a:rPr>
              <a:t>Likelihood</a:t>
            </a:r>
            <a:r>
              <a:rPr lang="en-IN" b="0" i="0" dirty="0" smtClean="0">
                <a:solidFill>
                  <a:srgbClr val="292929"/>
                </a:solidFill>
                <a:effectLst/>
                <a:latin typeface="charter"/>
              </a:rPr>
              <a:t> of </a:t>
            </a:r>
            <a:r>
              <a:rPr lang="en-IN" b="0" i="1" dirty="0" smtClean="0">
                <a:solidFill>
                  <a:srgbClr val="292929"/>
                </a:solidFill>
                <a:effectLst/>
                <a:latin typeface="charter"/>
              </a:rPr>
              <a:t>θ</a:t>
            </a:r>
            <a:r>
              <a:rPr lang="en-IN" b="0" i="0" dirty="0" smtClean="0">
                <a:solidFill>
                  <a:srgbClr val="292929"/>
                </a:solidFill>
                <a:effectLst/>
                <a:latin typeface="charter"/>
              </a:rPr>
              <a:t>. The next question here is, what is the exact value of </a:t>
            </a:r>
            <a:r>
              <a:rPr lang="en-IN" b="0" i="1" dirty="0" smtClean="0">
                <a:solidFill>
                  <a:srgbClr val="292929"/>
                </a:solidFill>
                <a:effectLst/>
                <a:latin typeface="charter"/>
              </a:rPr>
              <a:t>θ</a:t>
            </a:r>
            <a:r>
              <a:rPr lang="en-IN" b="0" i="0" dirty="0" smtClean="0">
                <a:solidFill>
                  <a:srgbClr val="292929"/>
                </a:solidFill>
                <a:effectLst/>
                <a:latin typeface="charter"/>
              </a:rPr>
              <a:t> which maximise the likelihood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a:t>
            </a:r>
            <a:r>
              <a:rPr lang="en-IN" b="0" i="0" dirty="0" smtClean="0">
                <a:solidFill>
                  <a:srgbClr val="292929"/>
                </a:solidFill>
                <a:effectLst/>
                <a:latin typeface="charter"/>
              </a:rPr>
              <a:t>? Yes, this is the </a:t>
            </a:r>
            <a:r>
              <a:rPr lang="en-IN" b="0" i="0" dirty="0" smtClean="0">
                <a:solidFill>
                  <a:srgbClr val="0000FF"/>
                </a:solidFill>
                <a:effectLst/>
                <a:latin typeface="charter"/>
              </a:rPr>
              <a:t>Maximum Likelihood Estimation!</a:t>
            </a:r>
            <a:endParaRPr lang="en-IN" dirty="0">
              <a:solidFill>
                <a:srgbClr val="0000FF"/>
              </a:solidFill>
            </a:endParaRPr>
          </a:p>
        </p:txBody>
      </p:sp>
    </p:spTree>
    <p:extLst>
      <p:ext uri="{BB962C8B-B14F-4D97-AF65-F5344CB8AC3E}">
        <p14:creationId xmlns:p14="http://schemas.microsoft.com/office/powerpoint/2010/main" val="62524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421" y="339465"/>
            <a:ext cx="11154033" cy="646331"/>
          </a:xfrm>
          <a:prstGeom prst="rect">
            <a:avLst/>
          </a:prstGeom>
        </p:spPr>
        <p:txBody>
          <a:bodyPr wrap="square">
            <a:spAutoFit/>
          </a:bodyPr>
          <a:lstStyle/>
          <a:p>
            <a:r>
              <a:rPr lang="en-IN" b="0" i="0" dirty="0" smtClean="0">
                <a:solidFill>
                  <a:srgbClr val="292929"/>
                </a:solidFill>
                <a:effectLst/>
                <a:latin typeface="charter"/>
              </a:rPr>
              <a:t>The value of </a:t>
            </a:r>
            <a:r>
              <a:rPr lang="en-IN" b="0" i="1" dirty="0" smtClean="0">
                <a:solidFill>
                  <a:srgbClr val="292929"/>
                </a:solidFill>
                <a:effectLst/>
                <a:latin typeface="charter"/>
              </a:rPr>
              <a:t>θ </a:t>
            </a:r>
            <a:r>
              <a:rPr lang="en-IN" b="0" i="0" dirty="0" smtClean="0">
                <a:solidFill>
                  <a:srgbClr val="292929"/>
                </a:solidFill>
                <a:effectLst/>
                <a:latin typeface="charter"/>
              </a:rPr>
              <a:t>maximising the likelihood can be obtained by having derivative of the likelihood function with respect to </a:t>
            </a:r>
            <a:r>
              <a:rPr lang="en-IN" b="0" i="1" dirty="0" smtClean="0">
                <a:solidFill>
                  <a:srgbClr val="292929"/>
                </a:solidFill>
                <a:effectLst/>
                <a:latin typeface="charter"/>
              </a:rPr>
              <a:t>θ</a:t>
            </a:r>
            <a:r>
              <a:rPr lang="en-IN" b="0" i="0" dirty="0" smtClean="0">
                <a:solidFill>
                  <a:srgbClr val="292929"/>
                </a:solidFill>
                <a:effectLst/>
                <a:latin typeface="charter"/>
              </a:rPr>
              <a:t>, and setting it to zero.</a:t>
            </a:r>
            <a:endParaRPr lang="en-IN" dirty="0"/>
          </a:p>
        </p:txBody>
      </p:sp>
      <p:pic>
        <p:nvPicPr>
          <p:cNvPr id="4098" name="Picture 2" descr="https://miro.medium.com/max/1331/1*wIiE6nsBZy7qyaLnLaa8W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997" y="1269785"/>
            <a:ext cx="11525250" cy="297180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3"/>
          <p:cNvSpPr>
            <a:spLocks noChangeArrowheads="1"/>
          </p:cNvSpPr>
          <p:nvPr/>
        </p:nvSpPr>
        <p:spPr bwMode="auto">
          <a:xfrm>
            <a:off x="510745" y="4241586"/>
            <a:ext cx="10394192" cy="3231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dirty="0" smtClean="0">
                <a:ln>
                  <a:noFill/>
                </a:ln>
                <a:solidFill>
                  <a:srgbClr val="292929"/>
                </a:solidFill>
                <a:effectLst/>
                <a:latin typeface="charter"/>
              </a:rPr>
              <a:t>By solving this, </a:t>
            </a:r>
            <a:r>
              <a:rPr kumimoji="0" lang="en-US" altLang="en-US" sz="1500" b="0" i="1" u="none" strike="noStrike" cap="none" normalizeH="0" baseline="0" dirty="0" smtClean="0">
                <a:ln>
                  <a:noFill/>
                </a:ln>
                <a:solidFill>
                  <a:srgbClr val="292929"/>
                </a:solidFill>
                <a:effectLst/>
                <a:latin typeface="charter"/>
              </a:rPr>
              <a:t>θ = 0,1 or k/n</a:t>
            </a:r>
            <a:r>
              <a:rPr kumimoji="0" lang="en-US" altLang="en-US" sz="1500" b="0" i="0" u="none" strike="noStrike" cap="none" normalizeH="0" baseline="0" dirty="0" smtClean="0">
                <a:ln>
                  <a:noFill/>
                </a:ln>
                <a:solidFill>
                  <a:srgbClr val="292929"/>
                </a:solidFill>
                <a:effectLst/>
                <a:latin typeface="charter"/>
              </a:rPr>
              <a:t>. Since likelihood goes to zero when </a:t>
            </a:r>
            <a:r>
              <a:rPr kumimoji="0" lang="en-US" altLang="en-US" sz="1500" b="0" i="1" u="none" strike="noStrike" cap="none" normalizeH="0" baseline="0" dirty="0" smtClean="0">
                <a:ln>
                  <a:noFill/>
                </a:ln>
                <a:solidFill>
                  <a:srgbClr val="292929"/>
                </a:solidFill>
                <a:effectLst/>
                <a:latin typeface="charter"/>
              </a:rPr>
              <a:t>θ= 0 or 1</a:t>
            </a:r>
            <a:r>
              <a:rPr kumimoji="0" lang="en-US" altLang="en-US" sz="1500" b="0" i="0" u="none" strike="noStrike" cap="none" normalizeH="0" baseline="0" dirty="0" smtClean="0">
                <a:ln>
                  <a:noFill/>
                </a:ln>
                <a:solidFill>
                  <a:srgbClr val="292929"/>
                </a:solidFill>
                <a:effectLst/>
                <a:latin typeface="charter"/>
              </a:rPr>
              <a:t>, the value of </a:t>
            </a:r>
            <a:r>
              <a:rPr kumimoji="0" lang="en-US" altLang="en-US" sz="1500" b="0" i="1" u="none" strike="noStrike" cap="none" normalizeH="0" baseline="0" dirty="0" smtClean="0">
                <a:ln>
                  <a:noFill/>
                </a:ln>
                <a:solidFill>
                  <a:srgbClr val="292929"/>
                </a:solidFill>
                <a:effectLst/>
                <a:latin typeface="charter"/>
              </a:rPr>
              <a:t>θ </a:t>
            </a:r>
            <a:r>
              <a:rPr kumimoji="0" lang="en-US" altLang="en-US" sz="1500" b="0" i="0" u="none" strike="noStrike" cap="none" normalizeH="0" baseline="0" dirty="0" smtClean="0">
                <a:ln>
                  <a:noFill/>
                </a:ln>
                <a:solidFill>
                  <a:srgbClr val="292929"/>
                </a:solidFill>
                <a:effectLst/>
                <a:latin typeface="charter"/>
              </a:rPr>
              <a:t>maximize the likelihood is </a:t>
            </a:r>
            <a:r>
              <a:rPr kumimoji="0" lang="en-US" altLang="en-US" sz="1500" b="0" i="1" u="none" strike="noStrike" cap="none" normalizeH="0" baseline="0" dirty="0" smtClean="0">
                <a:ln>
                  <a:noFill/>
                </a:ln>
                <a:solidFill>
                  <a:srgbClr val="292929"/>
                </a:solidFill>
                <a:effectLst/>
                <a:latin typeface="charter"/>
              </a:rPr>
              <a:t>k/n</a:t>
            </a:r>
            <a:r>
              <a:rPr kumimoji="0" lang="en-US" altLang="en-US" sz="1500" b="0" i="0" u="none" strike="noStrike" cap="none" normalizeH="0" baseline="0" dirty="0" smtClean="0">
                <a:ln>
                  <a:noFill/>
                </a:ln>
                <a:solidFill>
                  <a:srgbClr val="292929"/>
                </a:solidFill>
                <a:effectLst/>
                <a:latin typeface="charter"/>
              </a:rPr>
              <a:t>.</a:t>
            </a:r>
            <a:endParaRPr kumimoji="0" lang="en-US" altLang="en-US" sz="4800" b="0" i="0" u="none" strike="noStrike" cap="none" normalizeH="0" baseline="0" dirty="0" smtClean="0">
              <a:ln>
                <a:noFill/>
              </a:ln>
              <a:solidFill>
                <a:schemeClr val="tx1"/>
              </a:solidFill>
              <a:effectLst/>
              <a:latin typeface="Arial" panose="020B0604020202020204" pitchFamily="34" charset="0"/>
            </a:endParaRPr>
          </a:p>
        </p:txBody>
      </p:sp>
      <p:pic>
        <p:nvPicPr>
          <p:cNvPr id="4102" name="Picture 6" descr="https://miro.medium.com/max/519/1*aw135gzMg-4cUEbCvCpQvw.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634" y="4898853"/>
            <a:ext cx="4495800" cy="762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42122" y="5994955"/>
            <a:ext cx="11261125" cy="369332"/>
          </a:xfrm>
          <a:prstGeom prst="rect">
            <a:avLst/>
          </a:prstGeom>
        </p:spPr>
        <p:txBody>
          <a:bodyPr wrap="square">
            <a:spAutoFit/>
          </a:bodyPr>
          <a:lstStyle/>
          <a:p>
            <a:r>
              <a:rPr lang="en-IN" b="0" i="0" dirty="0" smtClean="0">
                <a:solidFill>
                  <a:srgbClr val="292929"/>
                </a:solidFill>
                <a:effectLst/>
                <a:latin typeface="charter"/>
              </a:rPr>
              <a:t>In this example, the estimated value of </a:t>
            </a:r>
            <a:r>
              <a:rPr lang="en-IN" b="0" i="1" dirty="0" smtClean="0">
                <a:solidFill>
                  <a:srgbClr val="292929"/>
                </a:solidFill>
                <a:effectLst/>
                <a:latin typeface="charter"/>
              </a:rPr>
              <a:t>θ </a:t>
            </a:r>
            <a:r>
              <a:rPr lang="en-IN" b="0" i="0" dirty="0" smtClean="0">
                <a:solidFill>
                  <a:srgbClr val="292929"/>
                </a:solidFill>
                <a:effectLst/>
                <a:latin typeface="charter"/>
              </a:rPr>
              <a:t>is</a:t>
            </a:r>
            <a:r>
              <a:rPr lang="en-IN" b="0" i="1" dirty="0" smtClean="0">
                <a:solidFill>
                  <a:srgbClr val="292929"/>
                </a:solidFill>
                <a:effectLst/>
                <a:latin typeface="charter"/>
              </a:rPr>
              <a:t> 30/38 = 78.9%</a:t>
            </a:r>
            <a:r>
              <a:rPr lang="en-IN" b="0" i="0" dirty="0" smtClean="0">
                <a:solidFill>
                  <a:srgbClr val="292929"/>
                </a:solidFill>
                <a:effectLst/>
                <a:latin typeface="charter"/>
              </a:rPr>
              <a:t> when estimated with MLE.</a:t>
            </a:r>
            <a:endParaRPr lang="en-IN" dirty="0"/>
          </a:p>
        </p:txBody>
      </p:sp>
    </p:spTree>
    <p:extLst>
      <p:ext uri="{BB962C8B-B14F-4D97-AF65-F5344CB8AC3E}">
        <p14:creationId xmlns:p14="http://schemas.microsoft.com/office/powerpoint/2010/main" val="1078179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102"/>
                                        </p:tgtEl>
                                        <p:attrNameLst>
                                          <p:attrName>style.visibility</p:attrName>
                                        </p:attrNameLst>
                                      </p:cBhvr>
                                      <p:to>
                                        <p:strVal val="visible"/>
                                      </p:to>
                                    </p:set>
                                    <p:animEffect transition="in" filter="barn(inVertical)">
                                      <p:cBhvr>
                                        <p:cTn id="12" dur="500"/>
                                        <p:tgtEl>
                                          <p:spTgt spid="410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8942" y="311664"/>
            <a:ext cx="3847976" cy="369332"/>
          </a:xfrm>
          <a:prstGeom prst="rect">
            <a:avLst/>
          </a:prstGeom>
        </p:spPr>
        <p:txBody>
          <a:bodyPr wrap="none">
            <a:spAutoFit/>
          </a:bodyPr>
          <a:lstStyle/>
          <a:p>
            <a:r>
              <a:rPr lang="en-IN" b="1" i="0" dirty="0" smtClean="0">
                <a:solidFill>
                  <a:srgbClr val="0000FF"/>
                </a:solidFill>
                <a:effectLst/>
                <a:latin typeface="sohne"/>
              </a:rPr>
              <a:t>Maximum A Posteriori Estimation</a:t>
            </a:r>
            <a:endParaRPr lang="en-IN" b="1" i="0" dirty="0">
              <a:solidFill>
                <a:srgbClr val="0000FF"/>
              </a:solidFill>
              <a:effectLst/>
              <a:latin typeface="sohne"/>
            </a:endParaRPr>
          </a:p>
        </p:txBody>
      </p:sp>
      <p:sp>
        <p:nvSpPr>
          <p:cNvPr id="3" name="Rectangle 2"/>
          <p:cNvSpPr/>
          <p:nvPr/>
        </p:nvSpPr>
        <p:spPr>
          <a:xfrm>
            <a:off x="264229" y="1062333"/>
            <a:ext cx="11450596" cy="1200329"/>
          </a:xfrm>
          <a:prstGeom prst="rect">
            <a:avLst/>
          </a:prstGeom>
        </p:spPr>
        <p:txBody>
          <a:bodyPr wrap="square">
            <a:spAutoFit/>
          </a:bodyPr>
          <a:lstStyle/>
          <a:p>
            <a:r>
              <a:rPr lang="en-IN" b="0" i="0" dirty="0" smtClean="0">
                <a:solidFill>
                  <a:srgbClr val="292929"/>
                </a:solidFill>
                <a:effectLst/>
                <a:latin typeface="charter"/>
              </a:rPr>
              <a:t>MLE is powerful when you have enough data. However, it doesn’t work well when observed data size is small. For example, if Liverpool only had 2 matches and they won the 2 matches, then the estimated value of </a:t>
            </a:r>
            <a:r>
              <a:rPr lang="en-IN" b="0" i="1" dirty="0" smtClean="0">
                <a:solidFill>
                  <a:srgbClr val="292929"/>
                </a:solidFill>
                <a:effectLst/>
                <a:latin typeface="charter"/>
              </a:rPr>
              <a:t>θ</a:t>
            </a:r>
            <a:r>
              <a:rPr lang="en-IN" b="0" i="0" dirty="0" smtClean="0">
                <a:solidFill>
                  <a:srgbClr val="292929"/>
                </a:solidFill>
                <a:effectLst/>
                <a:latin typeface="charter"/>
              </a:rPr>
              <a:t> by MLE is </a:t>
            </a:r>
            <a:r>
              <a:rPr lang="en-IN" b="0" i="1" dirty="0" smtClean="0">
                <a:solidFill>
                  <a:srgbClr val="292929"/>
                </a:solidFill>
                <a:effectLst/>
                <a:latin typeface="charter"/>
              </a:rPr>
              <a:t>2/2 = 1</a:t>
            </a:r>
            <a:r>
              <a:rPr lang="en-IN" b="0" i="0" dirty="0" smtClean="0">
                <a:solidFill>
                  <a:srgbClr val="292929"/>
                </a:solidFill>
                <a:effectLst/>
                <a:latin typeface="charter"/>
              </a:rPr>
              <a:t>. It means that the estimation says Liverpool wins </a:t>
            </a:r>
            <a:r>
              <a:rPr lang="en-IN" b="0" i="1" dirty="0" smtClean="0">
                <a:solidFill>
                  <a:srgbClr val="292929"/>
                </a:solidFill>
                <a:effectLst/>
                <a:latin typeface="charter"/>
              </a:rPr>
              <a:t>100%</a:t>
            </a:r>
            <a:r>
              <a:rPr lang="en-IN" b="0" i="0" dirty="0" smtClean="0">
                <a:solidFill>
                  <a:srgbClr val="292929"/>
                </a:solidFill>
                <a:effectLst/>
                <a:latin typeface="charter"/>
              </a:rPr>
              <a:t>, which is unrealistic estimation. MAP can help dealing with this issue.</a:t>
            </a:r>
            <a:endParaRPr lang="en-IN" dirty="0"/>
          </a:p>
        </p:txBody>
      </p:sp>
      <p:sp>
        <p:nvSpPr>
          <p:cNvPr id="4" name="Rectangle 3"/>
          <p:cNvSpPr/>
          <p:nvPr/>
        </p:nvSpPr>
        <p:spPr>
          <a:xfrm>
            <a:off x="288942" y="2800519"/>
            <a:ext cx="5700585" cy="3416320"/>
          </a:xfrm>
          <a:prstGeom prst="rect">
            <a:avLst/>
          </a:prstGeom>
        </p:spPr>
        <p:txBody>
          <a:bodyPr wrap="square">
            <a:spAutoFit/>
          </a:bodyPr>
          <a:lstStyle/>
          <a:p>
            <a:pPr algn="just"/>
            <a:r>
              <a:rPr lang="en-IN" b="0" i="0" dirty="0" smtClean="0">
                <a:solidFill>
                  <a:srgbClr val="292929"/>
                </a:solidFill>
                <a:effectLst/>
                <a:latin typeface="charter"/>
              </a:rPr>
              <a:t>Assume that we have a prior knowledge that Liverpool’s winning percentage for the past few seasons were around 50%.</a:t>
            </a:r>
          </a:p>
          <a:p>
            <a:pPr algn="just"/>
            <a:r>
              <a:rPr lang="en-IN" dirty="0" smtClean="0"/>
              <a:t/>
            </a:r>
            <a:br>
              <a:rPr lang="en-IN" dirty="0" smtClean="0"/>
            </a:br>
            <a:r>
              <a:rPr lang="en-IN" b="0" i="0" dirty="0" smtClean="0">
                <a:solidFill>
                  <a:srgbClr val="292929"/>
                </a:solidFill>
                <a:effectLst/>
                <a:latin typeface="charter"/>
              </a:rPr>
              <a:t>Then, without the data from this season, we already have somewhat idea of potential value of </a:t>
            </a:r>
            <a:r>
              <a:rPr lang="en-IN" b="0" i="1" dirty="0" smtClean="0">
                <a:solidFill>
                  <a:srgbClr val="292929"/>
                </a:solidFill>
                <a:effectLst/>
                <a:latin typeface="charter"/>
              </a:rPr>
              <a:t>θ</a:t>
            </a:r>
            <a:r>
              <a:rPr lang="en-IN" b="0" i="0" dirty="0" smtClean="0">
                <a:solidFill>
                  <a:srgbClr val="292929"/>
                </a:solidFill>
                <a:effectLst/>
                <a:latin typeface="charter"/>
              </a:rPr>
              <a:t>. Based (only) on the prior knowledge, the value of </a:t>
            </a:r>
            <a:r>
              <a:rPr lang="en-IN" b="0" i="1" dirty="0" smtClean="0">
                <a:solidFill>
                  <a:srgbClr val="292929"/>
                </a:solidFill>
                <a:effectLst/>
                <a:latin typeface="charter"/>
              </a:rPr>
              <a:t>θ</a:t>
            </a:r>
            <a:r>
              <a:rPr lang="en-IN" b="0" i="0" dirty="0" smtClean="0">
                <a:solidFill>
                  <a:srgbClr val="292929"/>
                </a:solidFill>
                <a:effectLst/>
                <a:latin typeface="charter"/>
              </a:rPr>
              <a:t> is most likely to be </a:t>
            </a:r>
            <a:r>
              <a:rPr lang="en-IN" b="0" i="1" dirty="0" smtClean="0">
                <a:solidFill>
                  <a:srgbClr val="292929"/>
                </a:solidFill>
                <a:effectLst/>
                <a:latin typeface="charter"/>
              </a:rPr>
              <a:t>0.5</a:t>
            </a:r>
            <a:r>
              <a:rPr lang="en-IN" b="0" i="0" dirty="0" smtClean="0">
                <a:solidFill>
                  <a:srgbClr val="292929"/>
                </a:solidFill>
                <a:effectLst/>
                <a:latin typeface="charter"/>
              </a:rPr>
              <a:t>, and less likely to be </a:t>
            </a:r>
            <a:r>
              <a:rPr lang="en-IN" b="0" i="1" dirty="0" smtClean="0">
                <a:solidFill>
                  <a:srgbClr val="292929"/>
                </a:solidFill>
                <a:effectLst/>
                <a:latin typeface="charter"/>
              </a:rPr>
              <a:t>0 or 1</a:t>
            </a:r>
            <a:r>
              <a:rPr lang="en-IN" b="0" i="0" dirty="0" smtClean="0">
                <a:solidFill>
                  <a:srgbClr val="292929"/>
                </a:solidFill>
                <a:effectLst/>
                <a:latin typeface="charter"/>
              </a:rPr>
              <a:t>. On the other words, the probability of </a:t>
            </a:r>
            <a:r>
              <a:rPr lang="en-IN" b="0" i="1" dirty="0" smtClean="0">
                <a:solidFill>
                  <a:srgbClr val="292929"/>
                </a:solidFill>
                <a:effectLst/>
                <a:latin typeface="charter"/>
              </a:rPr>
              <a:t>θ=0.5</a:t>
            </a:r>
            <a:r>
              <a:rPr lang="en-IN" b="0" i="0" dirty="0" smtClean="0">
                <a:solidFill>
                  <a:srgbClr val="292929"/>
                </a:solidFill>
                <a:effectLst/>
                <a:latin typeface="charter"/>
              </a:rPr>
              <a:t> is higher than </a:t>
            </a:r>
            <a:r>
              <a:rPr lang="en-IN" b="0" i="1" dirty="0" smtClean="0">
                <a:solidFill>
                  <a:srgbClr val="292929"/>
                </a:solidFill>
                <a:effectLst/>
                <a:latin typeface="charter"/>
              </a:rPr>
              <a:t>θ=0 or 1</a:t>
            </a:r>
            <a:r>
              <a:rPr lang="en-IN" b="0" i="0" dirty="0" smtClean="0">
                <a:solidFill>
                  <a:srgbClr val="292929"/>
                </a:solidFill>
                <a:effectLst/>
                <a:latin typeface="charter"/>
              </a:rPr>
              <a:t>. Calling this as the </a:t>
            </a:r>
            <a:r>
              <a:rPr lang="en-IN" b="1" i="0" dirty="0" smtClean="0">
                <a:solidFill>
                  <a:srgbClr val="292929"/>
                </a:solidFill>
                <a:effectLst/>
                <a:latin typeface="charter"/>
              </a:rPr>
              <a:t>prior probability</a:t>
            </a:r>
            <a:r>
              <a:rPr lang="en-IN" b="0" i="0" dirty="0" smtClean="0">
                <a:solidFill>
                  <a:srgbClr val="292929"/>
                </a:solidFill>
                <a:effectLst/>
                <a:latin typeface="charter"/>
              </a:rPr>
              <a:t> </a:t>
            </a:r>
            <a:r>
              <a:rPr lang="en-IN" b="0" i="1" dirty="0" smtClean="0">
                <a:solidFill>
                  <a:srgbClr val="292929"/>
                </a:solidFill>
                <a:effectLst/>
                <a:latin typeface="charter"/>
              </a:rPr>
              <a:t>P(θ), </a:t>
            </a:r>
            <a:r>
              <a:rPr lang="en-IN" b="0" i="0" dirty="0" smtClean="0">
                <a:solidFill>
                  <a:srgbClr val="292929"/>
                </a:solidFill>
                <a:effectLst/>
                <a:latin typeface="charter"/>
              </a:rPr>
              <a:t>and if we visualise this, it would be like the figure.</a:t>
            </a:r>
            <a:endParaRPr lang="en-IN" dirty="0"/>
          </a:p>
        </p:txBody>
      </p:sp>
      <p:pic>
        <p:nvPicPr>
          <p:cNvPr id="5122" name="Picture 2" descr="https://miro.medium.com/max/1320/1*sDmq4gqhxo1EQQ20p2M8b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7851" y="2800519"/>
            <a:ext cx="5436974" cy="3396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93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anim calcmode="lin" valueType="num">
                                      <p:cBhvr additive="base">
                                        <p:cTn id="19" dur="500" fill="hold"/>
                                        <p:tgtEl>
                                          <p:spTgt spid="5122"/>
                                        </p:tgtEl>
                                        <p:attrNameLst>
                                          <p:attrName>ppt_x</p:attrName>
                                        </p:attrNameLst>
                                      </p:cBhvr>
                                      <p:tavLst>
                                        <p:tav tm="0">
                                          <p:val>
                                            <p:strVal val="#ppt_x"/>
                                          </p:val>
                                        </p:tav>
                                        <p:tav tm="100000">
                                          <p:val>
                                            <p:strVal val="#ppt_x"/>
                                          </p:val>
                                        </p:tav>
                                      </p:tavLst>
                                    </p:anim>
                                    <p:anim calcmode="lin" valueType="num">
                                      <p:cBhvr additive="base">
                                        <p:cTn id="20"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8896" y="355421"/>
            <a:ext cx="11425882" cy="1754326"/>
          </a:xfrm>
          <a:prstGeom prst="rect">
            <a:avLst/>
          </a:prstGeom>
        </p:spPr>
        <p:txBody>
          <a:bodyPr wrap="square">
            <a:spAutoFit/>
          </a:bodyPr>
          <a:lstStyle/>
          <a:p>
            <a:r>
              <a:rPr lang="en-IN" b="0" i="0" dirty="0" smtClean="0">
                <a:solidFill>
                  <a:srgbClr val="292929"/>
                </a:solidFill>
                <a:effectLst/>
                <a:latin typeface="charter"/>
              </a:rPr>
              <a:t>Then, having the observed data </a:t>
            </a:r>
            <a:r>
              <a:rPr lang="en-IN" b="0" i="1" dirty="0" smtClean="0">
                <a:solidFill>
                  <a:srgbClr val="292929"/>
                </a:solidFill>
                <a:effectLst/>
                <a:latin typeface="charter"/>
              </a:rPr>
              <a:t>D (30 win out of 38 matches)</a:t>
            </a:r>
            <a:r>
              <a:rPr lang="en-IN" b="0" i="0" dirty="0" smtClean="0">
                <a:solidFill>
                  <a:srgbClr val="292929"/>
                </a:solidFill>
                <a:effectLst/>
                <a:latin typeface="charter"/>
              </a:rPr>
              <a:t> from this season, we can update this </a:t>
            </a:r>
            <a:r>
              <a:rPr lang="en-IN" b="0" i="1" dirty="0" smtClean="0">
                <a:solidFill>
                  <a:srgbClr val="292929"/>
                </a:solidFill>
                <a:effectLst/>
                <a:latin typeface="charter"/>
              </a:rPr>
              <a:t>P(θ) </a:t>
            </a:r>
            <a:r>
              <a:rPr lang="en-IN" b="0" i="0" dirty="0" smtClean="0">
                <a:solidFill>
                  <a:srgbClr val="292929"/>
                </a:solidFill>
                <a:effectLst/>
                <a:latin typeface="charter"/>
              </a:rPr>
              <a:t>which is based only on the prior knowledge. The updated probability of </a:t>
            </a:r>
            <a:r>
              <a:rPr lang="en-IN" b="0" i="1" dirty="0" smtClean="0">
                <a:solidFill>
                  <a:srgbClr val="292929"/>
                </a:solidFill>
                <a:effectLst/>
                <a:latin typeface="charter"/>
              </a:rPr>
              <a:t>θ </a:t>
            </a:r>
            <a:r>
              <a:rPr lang="en-IN" b="0" i="0" dirty="0" smtClean="0">
                <a:solidFill>
                  <a:srgbClr val="292929"/>
                </a:solidFill>
                <a:effectLst/>
                <a:latin typeface="charter"/>
              </a:rPr>
              <a:t>given </a:t>
            </a:r>
            <a:r>
              <a:rPr lang="en-IN" b="0" i="1" dirty="0" smtClean="0">
                <a:solidFill>
                  <a:srgbClr val="292929"/>
                </a:solidFill>
                <a:effectLst/>
                <a:latin typeface="charter"/>
              </a:rPr>
              <a:t>D</a:t>
            </a:r>
            <a:r>
              <a:rPr lang="en-IN" b="0" i="0" dirty="0" smtClean="0">
                <a:solidFill>
                  <a:srgbClr val="292929"/>
                </a:solidFill>
                <a:effectLst/>
                <a:latin typeface="charter"/>
              </a:rPr>
              <a:t> is expressed as </a:t>
            </a:r>
            <a:r>
              <a:rPr lang="en-IN" b="0" i="1" dirty="0" smtClean="0">
                <a:solidFill>
                  <a:srgbClr val="292929"/>
                </a:solidFill>
                <a:effectLst/>
                <a:latin typeface="charter"/>
              </a:rPr>
              <a:t>P(</a:t>
            </a:r>
            <a:r>
              <a:rPr lang="en-IN" b="0" i="1" dirty="0" err="1" smtClean="0">
                <a:solidFill>
                  <a:srgbClr val="292929"/>
                </a:solidFill>
                <a:effectLst/>
                <a:latin typeface="charter"/>
              </a:rPr>
              <a:t>θ|D</a:t>
            </a:r>
            <a:r>
              <a:rPr lang="en-IN" b="0" i="1" dirty="0" smtClean="0">
                <a:solidFill>
                  <a:srgbClr val="292929"/>
                </a:solidFill>
                <a:effectLst/>
                <a:latin typeface="charter"/>
              </a:rPr>
              <a:t>)</a:t>
            </a:r>
            <a:r>
              <a:rPr lang="en-IN" b="0" i="0" dirty="0" smtClean="0">
                <a:solidFill>
                  <a:srgbClr val="292929"/>
                </a:solidFill>
                <a:effectLst/>
                <a:latin typeface="charter"/>
              </a:rPr>
              <a:t> and called the </a:t>
            </a:r>
            <a:r>
              <a:rPr lang="en-IN" b="1" i="0" dirty="0" smtClean="0">
                <a:solidFill>
                  <a:srgbClr val="292929"/>
                </a:solidFill>
                <a:effectLst/>
                <a:latin typeface="charter"/>
              </a:rPr>
              <a:t>posterior probability</a:t>
            </a:r>
            <a:r>
              <a:rPr lang="en-IN" b="0" i="0" dirty="0" smtClean="0">
                <a:solidFill>
                  <a:srgbClr val="292929"/>
                </a:solidFill>
                <a:effectLst/>
                <a:latin typeface="charter"/>
              </a:rPr>
              <a:t>.</a:t>
            </a:r>
          </a:p>
          <a:p>
            <a:r>
              <a:rPr lang="en-IN" dirty="0" smtClean="0"/>
              <a:t/>
            </a:r>
            <a:br>
              <a:rPr lang="en-IN" dirty="0" smtClean="0"/>
            </a:br>
            <a:r>
              <a:rPr lang="en-IN" b="0" i="0" dirty="0" smtClean="0">
                <a:solidFill>
                  <a:srgbClr val="292929"/>
                </a:solidFill>
                <a:effectLst/>
                <a:latin typeface="charter"/>
              </a:rPr>
              <a:t>Now, we want to know the best guess of </a:t>
            </a:r>
            <a:r>
              <a:rPr lang="en-IN" b="0" i="1" dirty="0" smtClean="0">
                <a:solidFill>
                  <a:srgbClr val="292929"/>
                </a:solidFill>
                <a:effectLst/>
                <a:latin typeface="charter"/>
              </a:rPr>
              <a:t>θ </a:t>
            </a:r>
            <a:r>
              <a:rPr lang="en-IN" b="0" i="0" dirty="0" smtClean="0">
                <a:solidFill>
                  <a:srgbClr val="292929"/>
                </a:solidFill>
                <a:effectLst/>
                <a:latin typeface="charter"/>
              </a:rPr>
              <a:t>considering both our prior knowledge and the observed data. It means maximising </a:t>
            </a:r>
            <a:r>
              <a:rPr lang="en-IN" b="0" i="1" dirty="0" smtClean="0">
                <a:solidFill>
                  <a:srgbClr val="292929"/>
                </a:solidFill>
                <a:effectLst/>
                <a:latin typeface="charter"/>
              </a:rPr>
              <a:t>P(</a:t>
            </a:r>
            <a:r>
              <a:rPr lang="en-IN" b="0" i="1" dirty="0" err="1" smtClean="0">
                <a:solidFill>
                  <a:srgbClr val="292929"/>
                </a:solidFill>
                <a:effectLst/>
                <a:latin typeface="charter"/>
              </a:rPr>
              <a:t>θ|D</a:t>
            </a:r>
            <a:r>
              <a:rPr lang="en-IN" b="0" i="1" dirty="0" smtClean="0">
                <a:solidFill>
                  <a:srgbClr val="292929"/>
                </a:solidFill>
                <a:effectLst/>
                <a:latin typeface="charter"/>
              </a:rPr>
              <a:t>)</a:t>
            </a:r>
            <a:r>
              <a:rPr lang="en-IN" b="0" i="0" dirty="0" smtClean="0">
                <a:solidFill>
                  <a:srgbClr val="292929"/>
                </a:solidFill>
                <a:effectLst/>
                <a:latin typeface="charter"/>
              </a:rPr>
              <a:t> and it’s the MAP estimation.</a:t>
            </a:r>
            <a:endParaRPr lang="en-IN" dirty="0"/>
          </a:p>
        </p:txBody>
      </p:sp>
      <p:pic>
        <p:nvPicPr>
          <p:cNvPr id="6146" name="Picture 2" descr="https://miro.medium.com/max/750/1*62Lf0sgsvPlRM5k9Rsj1u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7900" y="2302905"/>
            <a:ext cx="6496050" cy="5334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87177" y="3029463"/>
            <a:ext cx="10256109" cy="923330"/>
          </a:xfrm>
          <a:prstGeom prst="rect">
            <a:avLst/>
          </a:prstGeom>
        </p:spPr>
        <p:txBody>
          <a:bodyPr wrap="square">
            <a:spAutoFit/>
          </a:bodyPr>
          <a:lstStyle/>
          <a:p>
            <a:r>
              <a:rPr lang="en-IN" b="0" i="0" dirty="0" smtClean="0">
                <a:solidFill>
                  <a:srgbClr val="292929"/>
                </a:solidFill>
                <a:effectLst/>
                <a:latin typeface="charter"/>
              </a:rPr>
              <a:t>The question here is, </a:t>
            </a:r>
            <a:r>
              <a:rPr lang="en-IN" b="1" i="0" dirty="0" smtClean="0">
                <a:solidFill>
                  <a:srgbClr val="0000FF"/>
                </a:solidFill>
                <a:effectLst/>
                <a:latin typeface="charter"/>
              </a:rPr>
              <a:t>how to calculate </a:t>
            </a:r>
            <a:r>
              <a:rPr lang="en-IN" b="1" i="1" dirty="0" smtClean="0">
                <a:solidFill>
                  <a:srgbClr val="0000FF"/>
                </a:solidFill>
                <a:effectLst/>
                <a:latin typeface="charter"/>
              </a:rPr>
              <a:t>P(</a:t>
            </a:r>
            <a:r>
              <a:rPr lang="en-IN" b="1" i="1" dirty="0" err="1" smtClean="0">
                <a:solidFill>
                  <a:srgbClr val="0000FF"/>
                </a:solidFill>
                <a:effectLst/>
                <a:latin typeface="charter"/>
              </a:rPr>
              <a:t>θ|D</a:t>
            </a:r>
            <a:r>
              <a:rPr lang="en-IN" b="1" i="1" dirty="0" smtClean="0">
                <a:solidFill>
                  <a:srgbClr val="0000FF"/>
                </a:solidFill>
                <a:effectLst/>
                <a:latin typeface="charter"/>
              </a:rPr>
              <a:t>)</a:t>
            </a:r>
            <a:r>
              <a:rPr lang="en-IN" b="1" i="0" dirty="0" smtClean="0">
                <a:solidFill>
                  <a:srgbClr val="0000FF"/>
                </a:solidFill>
                <a:effectLst/>
                <a:latin typeface="charter"/>
              </a:rPr>
              <a:t>? </a:t>
            </a:r>
            <a:r>
              <a:rPr lang="en-IN" b="0" i="0" dirty="0" smtClean="0">
                <a:solidFill>
                  <a:srgbClr val="292929"/>
                </a:solidFill>
                <a:effectLst/>
                <a:latin typeface="charter"/>
              </a:rPr>
              <a:t>So far in this </a:t>
            </a:r>
            <a:r>
              <a:rPr lang="en-IN" b="0" i="0" dirty="0" smtClean="0">
                <a:solidFill>
                  <a:srgbClr val="292929"/>
                </a:solidFill>
                <a:effectLst/>
                <a:latin typeface="charter"/>
              </a:rPr>
              <a:t>presentation, </a:t>
            </a:r>
            <a:r>
              <a:rPr lang="en-IN" b="0" i="0" dirty="0" smtClean="0">
                <a:solidFill>
                  <a:srgbClr val="292929"/>
                </a:solidFill>
                <a:effectLst/>
                <a:latin typeface="charter"/>
              </a:rPr>
              <a:t>we checked the way to calculate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a:t>
            </a:r>
            <a:r>
              <a:rPr lang="en-IN" b="0" i="0" dirty="0" smtClean="0">
                <a:solidFill>
                  <a:srgbClr val="292929"/>
                </a:solidFill>
                <a:effectLst/>
                <a:latin typeface="charter"/>
              </a:rPr>
              <a:t> but haven’t seen the way to calculate </a:t>
            </a:r>
            <a:r>
              <a:rPr lang="en-IN" b="0" i="1" dirty="0" smtClean="0">
                <a:solidFill>
                  <a:srgbClr val="292929"/>
                </a:solidFill>
                <a:effectLst/>
                <a:latin typeface="charter"/>
              </a:rPr>
              <a:t>P(</a:t>
            </a:r>
            <a:r>
              <a:rPr lang="en-IN" b="0" i="1" dirty="0" err="1" smtClean="0">
                <a:solidFill>
                  <a:srgbClr val="292929"/>
                </a:solidFill>
                <a:effectLst/>
                <a:latin typeface="charter"/>
              </a:rPr>
              <a:t>θ|D</a:t>
            </a:r>
            <a:r>
              <a:rPr lang="en-IN" b="0" i="1" dirty="0" smtClean="0">
                <a:solidFill>
                  <a:srgbClr val="292929"/>
                </a:solidFill>
                <a:effectLst/>
                <a:latin typeface="charter"/>
              </a:rPr>
              <a:t>)</a:t>
            </a:r>
            <a:r>
              <a:rPr lang="en-IN" b="0" i="0" dirty="0" smtClean="0">
                <a:solidFill>
                  <a:srgbClr val="292929"/>
                </a:solidFill>
                <a:effectLst/>
                <a:latin typeface="charter"/>
              </a:rPr>
              <a:t>. To do so, we need to use Bayes’ theorem below.</a:t>
            </a:r>
            <a:endParaRPr lang="en-IN" dirty="0"/>
          </a:p>
        </p:txBody>
      </p:sp>
      <p:pic>
        <p:nvPicPr>
          <p:cNvPr id="6148" name="Picture 4" descr="https://miro.medium.com/max/805/1*L61Vh8oNChtksR-GXNBIh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6181" y="4232318"/>
            <a:ext cx="6972300" cy="990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85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ppt_x"/>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6148"/>
                                        </p:tgtEl>
                                        <p:attrNameLst>
                                          <p:attrName>style.visibility</p:attrName>
                                        </p:attrNameLst>
                                      </p:cBhvr>
                                      <p:to>
                                        <p:strVal val="visible"/>
                                      </p:to>
                                    </p:set>
                                    <p:anim calcmode="lin" valueType="num">
                                      <p:cBhvr additive="base">
                                        <p:cTn id="20" dur="500" fill="hold"/>
                                        <p:tgtEl>
                                          <p:spTgt spid="6148"/>
                                        </p:tgtEl>
                                        <p:attrNameLst>
                                          <p:attrName>ppt_x</p:attrName>
                                        </p:attrNameLst>
                                      </p:cBhvr>
                                      <p:tavLst>
                                        <p:tav tm="0">
                                          <p:val>
                                            <p:strVal val="#ppt_x"/>
                                          </p:val>
                                        </p:tav>
                                        <p:tav tm="100000">
                                          <p:val>
                                            <p:strVal val="#ppt_x"/>
                                          </p:val>
                                        </p:tav>
                                      </p:tavLst>
                                    </p:anim>
                                    <p:anim calcmode="lin" valueType="num">
                                      <p:cBhvr additive="base">
                                        <p:cTn id="21" dur="500" fill="hold"/>
                                        <p:tgtEl>
                                          <p:spTgt spid="61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799" y="385286"/>
            <a:ext cx="11228173" cy="1477328"/>
          </a:xfrm>
          <a:prstGeom prst="rect">
            <a:avLst/>
          </a:prstGeom>
        </p:spPr>
        <p:txBody>
          <a:bodyPr wrap="square">
            <a:spAutoFit/>
          </a:bodyPr>
          <a:lstStyle/>
          <a:p>
            <a:r>
              <a:rPr lang="en-IN" b="0" i="0" dirty="0" smtClean="0">
                <a:solidFill>
                  <a:srgbClr val="292929"/>
                </a:solidFill>
                <a:effectLst/>
                <a:latin typeface="charter"/>
              </a:rPr>
              <a:t>we can calculate the </a:t>
            </a:r>
            <a:r>
              <a:rPr lang="en-IN" b="1" i="0" dirty="0" smtClean="0">
                <a:solidFill>
                  <a:srgbClr val="0000FF"/>
                </a:solidFill>
                <a:effectLst/>
                <a:latin typeface="charter"/>
              </a:rPr>
              <a:t>posterior probability</a:t>
            </a:r>
            <a:r>
              <a:rPr lang="en-IN" b="0" i="0" dirty="0" smtClean="0">
                <a:solidFill>
                  <a:srgbClr val="292929"/>
                </a:solidFill>
                <a:effectLst/>
                <a:latin typeface="charter"/>
              </a:rPr>
              <a:t> </a:t>
            </a:r>
            <a:r>
              <a:rPr lang="en-IN" b="0" i="1" dirty="0" smtClean="0">
                <a:solidFill>
                  <a:srgbClr val="292929"/>
                </a:solidFill>
                <a:effectLst/>
                <a:latin typeface="charter"/>
              </a:rPr>
              <a:t>P(</a:t>
            </a:r>
            <a:r>
              <a:rPr lang="en-IN" b="0" i="1" dirty="0" err="1" smtClean="0">
                <a:solidFill>
                  <a:srgbClr val="292929"/>
                </a:solidFill>
                <a:effectLst/>
                <a:latin typeface="charter"/>
              </a:rPr>
              <a:t>θ|D</a:t>
            </a:r>
            <a:r>
              <a:rPr lang="en-IN" b="0" i="1" dirty="0" smtClean="0">
                <a:solidFill>
                  <a:srgbClr val="292929"/>
                </a:solidFill>
                <a:effectLst/>
                <a:latin typeface="charter"/>
              </a:rPr>
              <a:t>) </a:t>
            </a:r>
            <a:r>
              <a:rPr lang="en-IN" b="0" i="0" dirty="0" smtClean="0">
                <a:solidFill>
                  <a:srgbClr val="292929"/>
                </a:solidFill>
                <a:effectLst/>
                <a:latin typeface="charter"/>
              </a:rPr>
              <a:t>using the </a:t>
            </a:r>
            <a:r>
              <a:rPr lang="en-IN" b="1" i="0" dirty="0" smtClean="0">
                <a:solidFill>
                  <a:srgbClr val="0000FF"/>
                </a:solidFill>
                <a:effectLst/>
                <a:latin typeface="charter"/>
              </a:rPr>
              <a:t>likelihood</a:t>
            </a:r>
            <a:r>
              <a:rPr lang="en-IN" b="0" i="0" dirty="0" smtClean="0">
                <a:solidFill>
                  <a:srgbClr val="292929"/>
                </a:solidFill>
                <a:effectLst/>
                <a:latin typeface="charter"/>
              </a:rPr>
              <a:t>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 </a:t>
            </a:r>
            <a:r>
              <a:rPr lang="en-IN" b="0" i="0" dirty="0" smtClean="0">
                <a:solidFill>
                  <a:srgbClr val="292929"/>
                </a:solidFill>
                <a:effectLst/>
                <a:latin typeface="charter"/>
              </a:rPr>
              <a:t>and the </a:t>
            </a:r>
            <a:r>
              <a:rPr lang="en-IN" b="1" i="0" dirty="0" smtClean="0">
                <a:solidFill>
                  <a:srgbClr val="0000FF"/>
                </a:solidFill>
                <a:effectLst/>
                <a:latin typeface="charter"/>
              </a:rPr>
              <a:t>prior probability</a:t>
            </a:r>
            <a:r>
              <a:rPr lang="en-IN" b="0" i="0" dirty="0" smtClean="0">
                <a:solidFill>
                  <a:srgbClr val="292929"/>
                </a:solidFill>
                <a:effectLst/>
                <a:latin typeface="charter"/>
              </a:rPr>
              <a:t> </a:t>
            </a:r>
            <a:r>
              <a:rPr lang="en-IN" b="0" i="1" dirty="0" smtClean="0">
                <a:solidFill>
                  <a:srgbClr val="292929"/>
                </a:solidFill>
                <a:effectLst/>
                <a:latin typeface="charter"/>
              </a:rPr>
              <a:t>P(θ)</a:t>
            </a:r>
            <a:r>
              <a:rPr lang="en-IN" b="0" i="0" dirty="0" smtClean="0">
                <a:solidFill>
                  <a:srgbClr val="292929"/>
                </a:solidFill>
                <a:effectLst/>
                <a:latin typeface="charter"/>
              </a:rPr>
              <a:t>.</a:t>
            </a:r>
          </a:p>
          <a:p>
            <a:endParaRPr lang="en-IN" b="0" i="0" dirty="0" smtClean="0">
              <a:solidFill>
                <a:srgbClr val="292929"/>
              </a:solidFill>
              <a:effectLst/>
              <a:latin typeface="charter"/>
            </a:endParaRPr>
          </a:p>
          <a:p>
            <a:r>
              <a:rPr lang="en-IN" b="0" i="0" dirty="0" smtClean="0">
                <a:solidFill>
                  <a:srgbClr val="292929"/>
                </a:solidFill>
                <a:effectLst/>
                <a:latin typeface="charter"/>
              </a:rPr>
              <a:t>There’s </a:t>
            </a:r>
            <a:r>
              <a:rPr lang="en-IN" b="0" i="1" dirty="0" smtClean="0">
                <a:solidFill>
                  <a:srgbClr val="292929"/>
                </a:solidFill>
                <a:effectLst/>
                <a:latin typeface="charter"/>
              </a:rPr>
              <a:t>P(D)</a:t>
            </a:r>
            <a:r>
              <a:rPr lang="en-IN" b="0" i="0" dirty="0" smtClean="0">
                <a:solidFill>
                  <a:srgbClr val="292929"/>
                </a:solidFill>
                <a:effectLst/>
                <a:latin typeface="charter"/>
              </a:rPr>
              <a:t> in the equation, but </a:t>
            </a:r>
            <a:r>
              <a:rPr lang="en-IN" b="0" i="1" dirty="0" smtClean="0">
                <a:solidFill>
                  <a:srgbClr val="292929"/>
                </a:solidFill>
                <a:effectLst/>
                <a:latin typeface="charter"/>
              </a:rPr>
              <a:t>P(D)</a:t>
            </a:r>
            <a:r>
              <a:rPr lang="en-IN" b="0" i="0" dirty="0" smtClean="0">
                <a:solidFill>
                  <a:srgbClr val="292929"/>
                </a:solidFill>
                <a:effectLst/>
                <a:latin typeface="charter"/>
              </a:rPr>
              <a:t> is independent to the value of </a:t>
            </a:r>
            <a:r>
              <a:rPr lang="en-IN" b="0" i="1" dirty="0" smtClean="0">
                <a:solidFill>
                  <a:srgbClr val="292929"/>
                </a:solidFill>
                <a:effectLst/>
                <a:latin typeface="charter"/>
              </a:rPr>
              <a:t>θ</a:t>
            </a:r>
            <a:r>
              <a:rPr lang="en-IN" b="0" i="0" dirty="0" smtClean="0">
                <a:solidFill>
                  <a:srgbClr val="292929"/>
                </a:solidFill>
                <a:effectLst/>
                <a:latin typeface="charter"/>
              </a:rPr>
              <a:t>. Since we’re only interested in finding </a:t>
            </a:r>
            <a:r>
              <a:rPr lang="en-IN" b="0" i="1" dirty="0" smtClean="0">
                <a:solidFill>
                  <a:srgbClr val="292929"/>
                </a:solidFill>
                <a:effectLst/>
                <a:latin typeface="charter"/>
              </a:rPr>
              <a:t>θ </a:t>
            </a:r>
            <a:r>
              <a:rPr lang="en-IN" b="0" i="0" dirty="0" smtClean="0">
                <a:solidFill>
                  <a:srgbClr val="292929"/>
                </a:solidFill>
                <a:effectLst/>
                <a:latin typeface="charter"/>
              </a:rPr>
              <a:t>maximising </a:t>
            </a:r>
            <a:r>
              <a:rPr lang="en-IN" b="0" i="1" dirty="0" smtClean="0">
                <a:solidFill>
                  <a:srgbClr val="292929"/>
                </a:solidFill>
                <a:effectLst/>
                <a:latin typeface="charter"/>
              </a:rPr>
              <a:t>P(</a:t>
            </a:r>
            <a:r>
              <a:rPr lang="en-IN" b="0" i="1" dirty="0" err="1" smtClean="0">
                <a:solidFill>
                  <a:srgbClr val="292929"/>
                </a:solidFill>
                <a:effectLst/>
                <a:latin typeface="charter"/>
              </a:rPr>
              <a:t>θ|D</a:t>
            </a:r>
            <a:r>
              <a:rPr lang="en-IN" b="0" i="1" dirty="0" smtClean="0">
                <a:solidFill>
                  <a:srgbClr val="292929"/>
                </a:solidFill>
                <a:effectLst/>
                <a:latin typeface="charter"/>
              </a:rPr>
              <a:t>)</a:t>
            </a:r>
            <a:r>
              <a:rPr lang="en-IN" b="0" i="0" dirty="0" smtClean="0">
                <a:solidFill>
                  <a:srgbClr val="292929"/>
                </a:solidFill>
                <a:effectLst/>
                <a:latin typeface="charter"/>
              </a:rPr>
              <a:t>, we can ignore </a:t>
            </a:r>
            <a:r>
              <a:rPr lang="en-IN" b="0" i="1" dirty="0" smtClean="0">
                <a:solidFill>
                  <a:srgbClr val="292929"/>
                </a:solidFill>
                <a:effectLst/>
                <a:latin typeface="charter"/>
              </a:rPr>
              <a:t>P(D)</a:t>
            </a:r>
            <a:r>
              <a:rPr lang="en-IN" b="0" i="0" dirty="0" smtClean="0">
                <a:solidFill>
                  <a:srgbClr val="292929"/>
                </a:solidFill>
                <a:effectLst/>
                <a:latin typeface="charter"/>
              </a:rPr>
              <a:t> in our maximisation.</a:t>
            </a:r>
            <a:endParaRPr lang="en-IN" b="0" i="0" dirty="0">
              <a:solidFill>
                <a:srgbClr val="292929"/>
              </a:solidFill>
              <a:effectLst/>
              <a:latin typeface="charter"/>
            </a:endParaRPr>
          </a:p>
        </p:txBody>
      </p:sp>
      <p:sp>
        <p:nvSpPr>
          <p:cNvPr id="3" name="Rectangle 2"/>
          <p:cNvSpPr/>
          <p:nvPr/>
        </p:nvSpPr>
        <p:spPr>
          <a:xfrm>
            <a:off x="395416" y="2812101"/>
            <a:ext cx="10190205" cy="923330"/>
          </a:xfrm>
          <a:prstGeom prst="rect">
            <a:avLst/>
          </a:prstGeom>
        </p:spPr>
        <p:txBody>
          <a:bodyPr wrap="square">
            <a:spAutoFit/>
          </a:bodyPr>
          <a:lstStyle/>
          <a:p>
            <a:r>
              <a:rPr lang="en-IN" b="0" i="0" dirty="0" smtClean="0">
                <a:solidFill>
                  <a:srgbClr val="292929"/>
                </a:solidFill>
                <a:effectLst/>
                <a:latin typeface="charter"/>
              </a:rPr>
              <a:t>The equation above means that the maximisation of the posterior probability </a:t>
            </a:r>
            <a:r>
              <a:rPr lang="en-IN" b="0" i="1" dirty="0" smtClean="0">
                <a:solidFill>
                  <a:srgbClr val="292929"/>
                </a:solidFill>
                <a:effectLst/>
                <a:latin typeface="charter"/>
              </a:rPr>
              <a:t>P(</a:t>
            </a:r>
            <a:r>
              <a:rPr lang="en-IN" b="0" i="1" dirty="0" err="1" smtClean="0">
                <a:solidFill>
                  <a:srgbClr val="292929"/>
                </a:solidFill>
                <a:effectLst/>
                <a:latin typeface="charter"/>
              </a:rPr>
              <a:t>θ|D</a:t>
            </a:r>
            <a:r>
              <a:rPr lang="en-IN" b="0" i="1" dirty="0" smtClean="0">
                <a:solidFill>
                  <a:srgbClr val="292929"/>
                </a:solidFill>
                <a:effectLst/>
                <a:latin typeface="charter"/>
              </a:rPr>
              <a:t>) </a:t>
            </a:r>
            <a:r>
              <a:rPr lang="en-IN" b="0" i="0" dirty="0" smtClean="0">
                <a:solidFill>
                  <a:srgbClr val="292929"/>
                </a:solidFill>
                <a:effectLst/>
                <a:latin typeface="charter"/>
              </a:rPr>
              <a:t>with respect to </a:t>
            </a:r>
            <a:r>
              <a:rPr lang="en-IN" b="0" i="1" dirty="0" smtClean="0">
                <a:solidFill>
                  <a:srgbClr val="292929"/>
                </a:solidFill>
                <a:effectLst/>
                <a:latin typeface="charter"/>
              </a:rPr>
              <a:t>θ </a:t>
            </a:r>
            <a:r>
              <a:rPr lang="en-IN" b="0" i="0" dirty="0" smtClean="0">
                <a:solidFill>
                  <a:srgbClr val="292929"/>
                </a:solidFill>
                <a:effectLst/>
                <a:latin typeface="charter"/>
              </a:rPr>
              <a:t>is equal to the maximisation of the product of Likelihood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a:t>
            </a:r>
            <a:r>
              <a:rPr lang="en-IN" b="0" i="0" dirty="0" smtClean="0">
                <a:solidFill>
                  <a:srgbClr val="292929"/>
                </a:solidFill>
                <a:effectLst/>
                <a:latin typeface="charter"/>
              </a:rPr>
              <a:t> and Prior probability </a:t>
            </a:r>
            <a:r>
              <a:rPr lang="en-IN" b="0" i="1" dirty="0" smtClean="0">
                <a:solidFill>
                  <a:srgbClr val="292929"/>
                </a:solidFill>
                <a:effectLst/>
                <a:latin typeface="charter"/>
              </a:rPr>
              <a:t>P(θ)</a:t>
            </a:r>
            <a:r>
              <a:rPr lang="en-IN" b="0" i="0" dirty="0" smtClean="0">
                <a:solidFill>
                  <a:srgbClr val="292929"/>
                </a:solidFill>
                <a:effectLst/>
                <a:latin typeface="charter"/>
              </a:rPr>
              <a:t> with respect to </a:t>
            </a:r>
            <a:r>
              <a:rPr lang="en-IN" b="0" i="1" dirty="0" smtClean="0">
                <a:solidFill>
                  <a:srgbClr val="292929"/>
                </a:solidFill>
                <a:effectLst/>
                <a:latin typeface="charter"/>
              </a:rPr>
              <a:t>θ</a:t>
            </a:r>
            <a:r>
              <a:rPr lang="en-IN" b="0" i="0" dirty="0" smtClean="0">
                <a:solidFill>
                  <a:srgbClr val="292929"/>
                </a:solidFill>
                <a:effectLst/>
                <a:latin typeface="charter"/>
              </a:rPr>
              <a:t>.</a:t>
            </a:r>
            <a:endParaRPr lang="en-IN" dirty="0"/>
          </a:p>
        </p:txBody>
      </p:sp>
      <p:pic>
        <p:nvPicPr>
          <p:cNvPr id="7170" name="Picture 2" descr="https://miro.medium.com/max/840/1*mm96Re-AKM1-tPZJ4nB6E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4115" y="2042082"/>
            <a:ext cx="7277100" cy="59055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94269" y="4833718"/>
            <a:ext cx="11219935" cy="923330"/>
          </a:xfrm>
          <a:prstGeom prst="rect">
            <a:avLst/>
          </a:prstGeom>
        </p:spPr>
        <p:txBody>
          <a:bodyPr wrap="square">
            <a:spAutoFit/>
          </a:bodyPr>
          <a:lstStyle/>
          <a:p>
            <a:r>
              <a:rPr lang="en-IN" b="0" i="0" dirty="0" smtClean="0">
                <a:solidFill>
                  <a:srgbClr val="292929"/>
                </a:solidFill>
                <a:effectLst/>
                <a:latin typeface="charter"/>
              </a:rPr>
              <a:t>Intrinsically, we can use any formulas describing probability distribution as </a:t>
            </a:r>
            <a:r>
              <a:rPr lang="en-IN" b="0" i="1" dirty="0" smtClean="0">
                <a:solidFill>
                  <a:srgbClr val="292929"/>
                </a:solidFill>
                <a:effectLst/>
                <a:latin typeface="charter"/>
              </a:rPr>
              <a:t>P(θ)</a:t>
            </a:r>
            <a:r>
              <a:rPr lang="en-IN" b="0" i="0" dirty="0" smtClean="0">
                <a:solidFill>
                  <a:srgbClr val="292929"/>
                </a:solidFill>
                <a:effectLst/>
                <a:latin typeface="charter"/>
              </a:rPr>
              <a:t> to express our prior knowledge well. However, for the computational simplicity, specific probability distributions are used corresponding to the probability distribution of likelihood. It’s called </a:t>
            </a:r>
            <a:r>
              <a:rPr lang="en-IN" b="1" i="0" dirty="0" smtClean="0">
                <a:solidFill>
                  <a:srgbClr val="0000FF"/>
                </a:solidFill>
                <a:effectLst/>
                <a:latin typeface="charter"/>
              </a:rPr>
              <a:t>conjugate prior distribution</a:t>
            </a:r>
            <a:r>
              <a:rPr lang="en-IN" b="0" i="0" dirty="0" smtClean="0">
                <a:solidFill>
                  <a:srgbClr val="292929"/>
                </a:solidFill>
                <a:effectLst/>
                <a:latin typeface="charter"/>
              </a:rPr>
              <a:t>.</a:t>
            </a:r>
            <a:endParaRPr lang="en-IN" dirty="0"/>
          </a:p>
        </p:txBody>
      </p:sp>
    </p:spTree>
    <p:extLst>
      <p:ext uri="{BB962C8B-B14F-4D97-AF65-F5344CB8AC3E}">
        <p14:creationId xmlns:p14="http://schemas.microsoft.com/office/powerpoint/2010/main" val="38934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415149"/>
            <a:ext cx="11277600" cy="923330"/>
          </a:xfrm>
          <a:prstGeom prst="rect">
            <a:avLst/>
          </a:prstGeom>
        </p:spPr>
        <p:txBody>
          <a:bodyPr wrap="square">
            <a:spAutoFit/>
          </a:bodyPr>
          <a:lstStyle/>
          <a:p>
            <a:r>
              <a:rPr lang="en-IN" b="0" i="0" dirty="0" smtClean="0">
                <a:solidFill>
                  <a:srgbClr val="292929"/>
                </a:solidFill>
                <a:effectLst/>
                <a:latin typeface="charter"/>
              </a:rPr>
              <a:t>In this example, the likelihood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 </a:t>
            </a:r>
            <a:r>
              <a:rPr lang="en-IN" b="0" i="0" dirty="0" smtClean="0">
                <a:solidFill>
                  <a:srgbClr val="292929"/>
                </a:solidFill>
                <a:effectLst/>
                <a:latin typeface="charter"/>
              </a:rPr>
              <a:t>follows binomial distribution. Since the conjugate prior of binomial distribution is Beta distribution, we use Beta distribution to express </a:t>
            </a:r>
            <a:r>
              <a:rPr lang="en-IN" b="0" i="1" dirty="0" smtClean="0">
                <a:solidFill>
                  <a:srgbClr val="292929"/>
                </a:solidFill>
                <a:effectLst/>
                <a:latin typeface="charter"/>
              </a:rPr>
              <a:t>P(θ)</a:t>
            </a:r>
            <a:r>
              <a:rPr lang="en-IN" b="0" i="0" dirty="0" smtClean="0">
                <a:solidFill>
                  <a:srgbClr val="292929"/>
                </a:solidFill>
                <a:effectLst/>
                <a:latin typeface="charter"/>
              </a:rPr>
              <a:t> here. Beta distribution is described as below.</a:t>
            </a:r>
            <a:endParaRPr lang="en-IN" dirty="0"/>
          </a:p>
        </p:txBody>
      </p:sp>
      <p:pic>
        <p:nvPicPr>
          <p:cNvPr id="8194" name="Picture 2" descr="https://miro.medium.com/max/878/1*5QkPiTyCK6Ns6nMfrV4OE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629" y="1566219"/>
            <a:ext cx="7600950" cy="8763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07092" y="2897308"/>
            <a:ext cx="5329881" cy="3416320"/>
          </a:xfrm>
          <a:prstGeom prst="rect">
            <a:avLst/>
          </a:prstGeom>
        </p:spPr>
        <p:txBody>
          <a:bodyPr wrap="square">
            <a:spAutoFit/>
          </a:bodyPr>
          <a:lstStyle/>
          <a:p>
            <a:pPr algn="just"/>
            <a:r>
              <a:rPr lang="en-IN" b="0" i="0" dirty="0" smtClean="0">
                <a:solidFill>
                  <a:srgbClr val="292929"/>
                </a:solidFill>
                <a:effectLst/>
                <a:latin typeface="charter"/>
              </a:rPr>
              <a:t>where, </a:t>
            </a:r>
            <a:r>
              <a:rPr lang="en-IN" b="0" i="1" dirty="0" smtClean="0">
                <a:solidFill>
                  <a:srgbClr val="292929"/>
                </a:solidFill>
                <a:effectLst/>
                <a:latin typeface="charter"/>
              </a:rPr>
              <a:t>α</a:t>
            </a:r>
            <a:r>
              <a:rPr lang="en-IN" b="0" i="0" dirty="0" smtClean="0">
                <a:solidFill>
                  <a:srgbClr val="292929"/>
                </a:solidFill>
                <a:effectLst/>
                <a:latin typeface="charter"/>
              </a:rPr>
              <a:t> and </a:t>
            </a:r>
            <a:r>
              <a:rPr lang="en-IN" b="0" i="1" dirty="0" smtClean="0">
                <a:solidFill>
                  <a:srgbClr val="292929"/>
                </a:solidFill>
                <a:effectLst/>
                <a:latin typeface="charter"/>
              </a:rPr>
              <a:t>β</a:t>
            </a:r>
            <a:r>
              <a:rPr lang="en-IN" b="0" i="0" dirty="0" smtClean="0">
                <a:solidFill>
                  <a:srgbClr val="292929"/>
                </a:solidFill>
                <a:effectLst/>
                <a:latin typeface="charter"/>
              </a:rPr>
              <a:t> are called</a:t>
            </a:r>
            <a:r>
              <a:rPr lang="en-IN" b="0" i="0" dirty="0" smtClean="0">
                <a:solidFill>
                  <a:srgbClr val="0000FF"/>
                </a:solidFill>
                <a:effectLst/>
                <a:latin typeface="charter"/>
              </a:rPr>
              <a:t> </a:t>
            </a:r>
            <a:r>
              <a:rPr lang="en-IN" b="1" i="0" dirty="0" err="1" smtClean="0">
                <a:solidFill>
                  <a:srgbClr val="0000FF"/>
                </a:solidFill>
                <a:effectLst/>
                <a:latin typeface="charter"/>
              </a:rPr>
              <a:t>hyperparameter</a:t>
            </a:r>
            <a:r>
              <a:rPr lang="en-IN" b="0" i="0" dirty="0" smtClean="0">
                <a:solidFill>
                  <a:srgbClr val="292929"/>
                </a:solidFill>
                <a:effectLst/>
                <a:latin typeface="charter"/>
              </a:rPr>
              <a:t>, which cannot be determined by data. Rather we set them subjectively to express our prior knowledge well. For example, graphs next are some visualisation of Beta distribution with different values of </a:t>
            </a:r>
            <a:r>
              <a:rPr lang="en-IN" b="0" i="1" dirty="0" smtClean="0">
                <a:solidFill>
                  <a:srgbClr val="292929"/>
                </a:solidFill>
                <a:effectLst/>
                <a:latin typeface="charter"/>
              </a:rPr>
              <a:t>α</a:t>
            </a:r>
            <a:r>
              <a:rPr lang="en-IN" b="0" i="0" dirty="0" smtClean="0">
                <a:solidFill>
                  <a:srgbClr val="292929"/>
                </a:solidFill>
                <a:effectLst/>
                <a:latin typeface="charter"/>
              </a:rPr>
              <a:t> and </a:t>
            </a:r>
            <a:r>
              <a:rPr lang="en-IN" b="0" i="1" dirty="0" smtClean="0">
                <a:solidFill>
                  <a:srgbClr val="292929"/>
                </a:solidFill>
                <a:effectLst/>
                <a:latin typeface="charter"/>
              </a:rPr>
              <a:t>β</a:t>
            </a:r>
            <a:r>
              <a:rPr lang="en-IN" b="0" i="0" dirty="0" smtClean="0">
                <a:solidFill>
                  <a:srgbClr val="292929"/>
                </a:solidFill>
                <a:effectLst/>
                <a:latin typeface="charter"/>
              </a:rPr>
              <a:t>. You can see the top left graph is the one we used in the example above (expressing that </a:t>
            </a:r>
            <a:r>
              <a:rPr lang="en-IN" b="0" i="1" dirty="0" smtClean="0">
                <a:solidFill>
                  <a:srgbClr val="292929"/>
                </a:solidFill>
                <a:effectLst/>
                <a:latin typeface="charter"/>
              </a:rPr>
              <a:t>θ=0.5 </a:t>
            </a:r>
            <a:r>
              <a:rPr lang="en-IN" b="0" i="0" dirty="0" smtClean="0">
                <a:solidFill>
                  <a:srgbClr val="292929"/>
                </a:solidFill>
                <a:effectLst/>
                <a:latin typeface="charter"/>
              </a:rPr>
              <a:t>is the most likely value based on the prior knowledge), and the top right graph is also expressing the same prior knowledge but this one is for the believer that past seasons’ results are reflecting Liverpool’s true capability very well.</a:t>
            </a:r>
            <a:endParaRPr lang="en-IN" dirty="0"/>
          </a:p>
        </p:txBody>
      </p:sp>
      <p:pic>
        <p:nvPicPr>
          <p:cNvPr id="8196" name="Picture 4" descr="https://miro.medium.com/max/1769/1*TdAPtdZMOkyZGp_hzIqT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0191" y="2670259"/>
            <a:ext cx="6358541" cy="3970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6629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 fill="hold"/>
                                        <p:tgtEl>
                                          <p:spTgt spid="8194"/>
                                        </p:tgtEl>
                                        <p:attrNameLst>
                                          <p:attrName>ppt_x</p:attrName>
                                        </p:attrNameLst>
                                      </p:cBhvr>
                                      <p:tavLst>
                                        <p:tav tm="0">
                                          <p:val>
                                            <p:strVal val="#ppt_x"/>
                                          </p:val>
                                        </p:tav>
                                        <p:tav tm="100000">
                                          <p:val>
                                            <p:strVal val="#ppt_x"/>
                                          </p:val>
                                        </p:tav>
                                      </p:tavLst>
                                    </p:anim>
                                    <p:anim calcmode="lin" valueType="num">
                                      <p:cBhvr additive="base">
                                        <p:cTn id="8" dur="500" fill="hold"/>
                                        <p:tgtEl>
                                          <p:spTgt spid="81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6"/>
                                        </p:tgtEl>
                                        <p:attrNameLst>
                                          <p:attrName>style.visibility</p:attrName>
                                        </p:attrNameLst>
                                      </p:cBhvr>
                                      <p:to>
                                        <p:strVal val="visible"/>
                                      </p:to>
                                    </p:set>
                                    <p:anim calcmode="lin" valueType="num">
                                      <p:cBhvr additive="base">
                                        <p:cTn id="19" dur="500" fill="hold"/>
                                        <p:tgtEl>
                                          <p:spTgt spid="8196"/>
                                        </p:tgtEl>
                                        <p:attrNameLst>
                                          <p:attrName>ppt_x</p:attrName>
                                        </p:attrNameLst>
                                      </p:cBhvr>
                                      <p:tavLst>
                                        <p:tav tm="0">
                                          <p:val>
                                            <p:strVal val="#ppt_x"/>
                                          </p:val>
                                        </p:tav>
                                        <p:tav tm="100000">
                                          <p:val>
                                            <p:strVal val="#ppt_x"/>
                                          </p:val>
                                        </p:tav>
                                      </p:tavLst>
                                    </p:anim>
                                    <p:anim calcmode="lin" valueType="num">
                                      <p:cBhvr additive="base">
                                        <p:cTn id="20" dur="500" fill="hold"/>
                                        <p:tgtEl>
                                          <p:spTgt spid="81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9555" y="242155"/>
            <a:ext cx="11368217" cy="646331"/>
          </a:xfrm>
          <a:prstGeom prst="rect">
            <a:avLst/>
          </a:prstGeom>
        </p:spPr>
        <p:txBody>
          <a:bodyPr wrap="square">
            <a:spAutoFit/>
          </a:bodyPr>
          <a:lstStyle/>
          <a:p>
            <a:r>
              <a:rPr lang="en-IN" b="0" i="0" dirty="0" smtClean="0">
                <a:solidFill>
                  <a:srgbClr val="292929"/>
                </a:solidFill>
                <a:effectLst/>
                <a:latin typeface="charter"/>
              </a:rPr>
              <a:t>A note here about the bottom right graph: when </a:t>
            </a:r>
            <a:r>
              <a:rPr lang="en-IN" b="0" i="1" dirty="0" smtClean="0">
                <a:solidFill>
                  <a:srgbClr val="292929"/>
                </a:solidFill>
                <a:effectLst/>
                <a:latin typeface="charter"/>
              </a:rPr>
              <a:t>α=1</a:t>
            </a:r>
            <a:r>
              <a:rPr lang="en-IN" b="0" i="0" dirty="0" smtClean="0">
                <a:solidFill>
                  <a:srgbClr val="292929"/>
                </a:solidFill>
                <a:effectLst/>
                <a:latin typeface="charter"/>
              </a:rPr>
              <a:t> and </a:t>
            </a:r>
            <a:r>
              <a:rPr lang="en-IN" b="0" i="1" dirty="0" smtClean="0">
                <a:solidFill>
                  <a:srgbClr val="292929"/>
                </a:solidFill>
                <a:effectLst/>
                <a:latin typeface="charter"/>
              </a:rPr>
              <a:t>β=1</a:t>
            </a:r>
            <a:r>
              <a:rPr lang="en-IN" b="0" i="0" dirty="0" smtClean="0">
                <a:solidFill>
                  <a:srgbClr val="292929"/>
                </a:solidFill>
                <a:effectLst/>
                <a:latin typeface="charter"/>
              </a:rPr>
              <a:t>, it means we don’t have any prior knowledge about </a:t>
            </a:r>
            <a:r>
              <a:rPr lang="en-IN" b="0" i="1" dirty="0" smtClean="0">
                <a:solidFill>
                  <a:srgbClr val="292929"/>
                </a:solidFill>
                <a:effectLst/>
                <a:latin typeface="charter"/>
              </a:rPr>
              <a:t>θ</a:t>
            </a:r>
            <a:r>
              <a:rPr lang="en-IN" b="0" i="0" dirty="0" smtClean="0">
                <a:solidFill>
                  <a:srgbClr val="292929"/>
                </a:solidFill>
                <a:effectLst/>
                <a:latin typeface="charter"/>
              </a:rPr>
              <a:t>. In this case the estimation will be completely same as the one by MLE.</a:t>
            </a:r>
            <a:endParaRPr lang="en-IN" dirty="0"/>
          </a:p>
        </p:txBody>
      </p:sp>
      <p:sp>
        <p:nvSpPr>
          <p:cNvPr id="3" name="Rectangle 2"/>
          <p:cNvSpPr/>
          <p:nvPr/>
        </p:nvSpPr>
        <p:spPr>
          <a:xfrm>
            <a:off x="469554" y="1227608"/>
            <a:ext cx="10791569" cy="369332"/>
          </a:xfrm>
          <a:prstGeom prst="rect">
            <a:avLst/>
          </a:prstGeom>
        </p:spPr>
        <p:txBody>
          <a:bodyPr wrap="square">
            <a:spAutoFit/>
          </a:bodyPr>
          <a:lstStyle/>
          <a:p>
            <a:r>
              <a:rPr lang="en-IN" b="0" i="0" dirty="0" smtClean="0">
                <a:solidFill>
                  <a:srgbClr val="292929"/>
                </a:solidFill>
                <a:effectLst/>
                <a:latin typeface="charter"/>
              </a:rPr>
              <a:t>So, by now we have all the components to calculate </a:t>
            </a:r>
            <a:r>
              <a:rPr lang="en-IN" b="0" i="1" dirty="0" smtClean="0">
                <a:solidFill>
                  <a:srgbClr val="292929"/>
                </a:solidFill>
                <a:effectLst/>
                <a:latin typeface="charter"/>
              </a:rPr>
              <a:t>P(</a:t>
            </a:r>
            <a:r>
              <a:rPr lang="en-IN" b="0" i="1" dirty="0" err="1" smtClean="0">
                <a:solidFill>
                  <a:srgbClr val="292929"/>
                </a:solidFill>
                <a:effectLst/>
                <a:latin typeface="charter"/>
              </a:rPr>
              <a:t>D|θ</a:t>
            </a:r>
            <a:r>
              <a:rPr lang="en-IN" b="0" i="1" dirty="0" smtClean="0">
                <a:solidFill>
                  <a:srgbClr val="292929"/>
                </a:solidFill>
                <a:effectLst/>
                <a:latin typeface="charter"/>
              </a:rPr>
              <a:t>)P(θ)</a:t>
            </a:r>
            <a:r>
              <a:rPr lang="en-IN" b="0" i="0" dirty="0" smtClean="0">
                <a:solidFill>
                  <a:srgbClr val="292929"/>
                </a:solidFill>
                <a:effectLst/>
                <a:latin typeface="charter"/>
              </a:rPr>
              <a:t> to maximise.</a:t>
            </a:r>
            <a:endParaRPr lang="en-IN" dirty="0"/>
          </a:p>
        </p:txBody>
      </p:sp>
      <p:pic>
        <p:nvPicPr>
          <p:cNvPr id="9218" name="Picture 2" descr="https://miro.medium.com/max/1223/1*apbMK3YGujmqFsbe0WmE_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1953" y="1816143"/>
            <a:ext cx="6299266" cy="131423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69554" y="3220996"/>
            <a:ext cx="11121084" cy="646331"/>
          </a:xfrm>
          <a:prstGeom prst="rect">
            <a:avLst/>
          </a:prstGeom>
        </p:spPr>
        <p:txBody>
          <a:bodyPr wrap="square">
            <a:spAutoFit/>
          </a:bodyPr>
          <a:lstStyle/>
          <a:p>
            <a:r>
              <a:rPr lang="en-IN" b="0" i="0" dirty="0" smtClean="0">
                <a:solidFill>
                  <a:srgbClr val="292929"/>
                </a:solidFill>
                <a:effectLst/>
                <a:latin typeface="charter"/>
              </a:rPr>
              <a:t>As same as MLE, we can get </a:t>
            </a:r>
            <a:r>
              <a:rPr lang="en-IN" b="0" i="1" dirty="0" smtClean="0">
                <a:solidFill>
                  <a:srgbClr val="292929"/>
                </a:solidFill>
                <a:effectLst/>
                <a:latin typeface="charter"/>
              </a:rPr>
              <a:t>θ </a:t>
            </a:r>
            <a:r>
              <a:rPr lang="en-IN" b="0" i="0" dirty="0" smtClean="0">
                <a:solidFill>
                  <a:srgbClr val="292929"/>
                </a:solidFill>
                <a:effectLst/>
                <a:latin typeface="charter"/>
              </a:rPr>
              <a:t>maximising this by having derivative of the this function with respect to </a:t>
            </a:r>
            <a:r>
              <a:rPr lang="en-IN" b="0" i="1" dirty="0" smtClean="0">
                <a:solidFill>
                  <a:srgbClr val="292929"/>
                </a:solidFill>
                <a:effectLst/>
                <a:latin typeface="charter"/>
              </a:rPr>
              <a:t>θ</a:t>
            </a:r>
            <a:r>
              <a:rPr lang="en-IN" b="0" i="0" dirty="0" smtClean="0">
                <a:solidFill>
                  <a:srgbClr val="292929"/>
                </a:solidFill>
                <a:effectLst/>
                <a:latin typeface="charter"/>
              </a:rPr>
              <a:t>, and setting it to zero</a:t>
            </a:r>
            <a:endParaRPr lang="en-IN" dirty="0"/>
          </a:p>
        </p:txBody>
      </p:sp>
      <p:pic>
        <p:nvPicPr>
          <p:cNvPr id="9222" name="Picture 6" descr="https://miro.medium.com/max/1698/1*LHlIHEpBTl-vLIT0HgZMP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222" y="4244143"/>
            <a:ext cx="8992848" cy="1852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48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 fill="hold"/>
                                        <p:tgtEl>
                                          <p:spTgt spid="9218"/>
                                        </p:tgtEl>
                                        <p:attrNameLst>
                                          <p:attrName>ppt_x</p:attrName>
                                        </p:attrNameLst>
                                      </p:cBhvr>
                                      <p:tavLst>
                                        <p:tav tm="0">
                                          <p:val>
                                            <p:strVal val="#ppt_x"/>
                                          </p:val>
                                        </p:tav>
                                        <p:tav tm="100000">
                                          <p:val>
                                            <p:strVal val="#ppt_x"/>
                                          </p:val>
                                        </p:tav>
                                      </p:tavLst>
                                    </p:anim>
                                    <p:anim calcmode="lin" valueType="num">
                                      <p:cBhvr additive="base">
                                        <p:cTn id="8" dur="500" fill="hold"/>
                                        <p:tgtEl>
                                          <p:spTgt spid="92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222"/>
                                        </p:tgtEl>
                                        <p:attrNameLst>
                                          <p:attrName>style.visibility</p:attrName>
                                        </p:attrNameLst>
                                      </p:cBhvr>
                                      <p:to>
                                        <p:strVal val="visible"/>
                                      </p:to>
                                    </p:set>
                                    <p:anim calcmode="lin" valueType="num">
                                      <p:cBhvr additive="base">
                                        <p:cTn id="19" dur="500" fill="hold"/>
                                        <p:tgtEl>
                                          <p:spTgt spid="9222"/>
                                        </p:tgtEl>
                                        <p:attrNameLst>
                                          <p:attrName>ppt_x</p:attrName>
                                        </p:attrNameLst>
                                      </p:cBhvr>
                                      <p:tavLst>
                                        <p:tav tm="0">
                                          <p:val>
                                            <p:strVal val="#ppt_x"/>
                                          </p:val>
                                        </p:tav>
                                        <p:tav tm="100000">
                                          <p:val>
                                            <p:strVal val="#ppt_x"/>
                                          </p:val>
                                        </p:tav>
                                      </p:tavLst>
                                    </p:anim>
                                    <p:anim calcmode="lin" valueType="num">
                                      <p:cBhvr additive="base">
                                        <p:cTn id="20" dur="500" fill="hold"/>
                                        <p:tgtEl>
                                          <p:spTgt spid="92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286" y="328140"/>
            <a:ext cx="3736920" cy="369332"/>
          </a:xfrm>
          <a:prstGeom prst="rect">
            <a:avLst/>
          </a:prstGeom>
        </p:spPr>
        <p:txBody>
          <a:bodyPr wrap="none">
            <a:spAutoFit/>
          </a:bodyPr>
          <a:lstStyle/>
          <a:p>
            <a:r>
              <a:rPr lang="en-IN" b="0" i="0" dirty="0" smtClean="0">
                <a:solidFill>
                  <a:srgbClr val="292929"/>
                </a:solidFill>
                <a:effectLst/>
                <a:latin typeface="charter"/>
              </a:rPr>
              <a:t>By solving this, we obtain following</a:t>
            </a:r>
            <a:endParaRPr lang="en-IN" dirty="0"/>
          </a:p>
        </p:txBody>
      </p:sp>
      <p:pic>
        <p:nvPicPr>
          <p:cNvPr id="10242" name="Picture 2" descr="https://miro.medium.com/max/691/1*__rBAOTIFRxmYyO76bgpZQ.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7154" y="951470"/>
            <a:ext cx="5981700" cy="9525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28367" y="2157968"/>
            <a:ext cx="10190206" cy="1754326"/>
          </a:xfrm>
          <a:prstGeom prst="rect">
            <a:avLst/>
          </a:prstGeom>
        </p:spPr>
        <p:txBody>
          <a:bodyPr wrap="square">
            <a:spAutoFit/>
          </a:bodyPr>
          <a:lstStyle/>
          <a:p>
            <a:r>
              <a:rPr lang="en-IN" b="0" i="0" dirty="0" smtClean="0">
                <a:solidFill>
                  <a:srgbClr val="292929"/>
                </a:solidFill>
                <a:effectLst/>
                <a:latin typeface="charter"/>
              </a:rPr>
              <a:t>In this example, assuming we use </a:t>
            </a:r>
            <a:r>
              <a:rPr lang="en-IN" b="0" i="1" dirty="0" smtClean="0">
                <a:solidFill>
                  <a:srgbClr val="292929"/>
                </a:solidFill>
                <a:effectLst/>
                <a:latin typeface="charter"/>
              </a:rPr>
              <a:t>α=10</a:t>
            </a:r>
            <a:r>
              <a:rPr lang="en-IN" b="0" i="0" dirty="0" smtClean="0">
                <a:solidFill>
                  <a:srgbClr val="292929"/>
                </a:solidFill>
                <a:effectLst/>
                <a:latin typeface="charter"/>
              </a:rPr>
              <a:t> and </a:t>
            </a:r>
            <a:r>
              <a:rPr lang="en-IN" b="0" i="1" dirty="0" smtClean="0">
                <a:solidFill>
                  <a:srgbClr val="292929"/>
                </a:solidFill>
                <a:effectLst/>
                <a:latin typeface="charter"/>
              </a:rPr>
              <a:t>β=10</a:t>
            </a:r>
            <a:r>
              <a:rPr lang="en-IN" b="0" i="0" dirty="0" smtClean="0">
                <a:solidFill>
                  <a:srgbClr val="292929"/>
                </a:solidFill>
                <a:effectLst/>
                <a:latin typeface="charter"/>
              </a:rPr>
              <a:t>, then </a:t>
            </a:r>
            <a:r>
              <a:rPr lang="en-IN" b="0" i="1" dirty="0" smtClean="0">
                <a:solidFill>
                  <a:srgbClr val="292929"/>
                </a:solidFill>
                <a:effectLst/>
                <a:latin typeface="charter"/>
              </a:rPr>
              <a:t>θ=(30+10–1)/(38+10+10–2) = 39/56 = 69.6%</a:t>
            </a:r>
          </a:p>
          <a:p>
            <a:endParaRPr lang="en-IN" i="1" dirty="0">
              <a:solidFill>
                <a:srgbClr val="292929"/>
              </a:solidFill>
              <a:latin typeface="charter"/>
            </a:endParaRPr>
          </a:p>
          <a:p>
            <a:r>
              <a:rPr lang="en-IN" b="0" i="0" dirty="0" smtClean="0">
                <a:solidFill>
                  <a:srgbClr val="292929"/>
                </a:solidFill>
                <a:effectLst/>
                <a:latin typeface="charter"/>
              </a:rPr>
              <a:t>As seen in the example above, the ideas behind the complicated mathematical equations of MLE and MAP are surprisingly simple. I used a binomial distribution as an example in the slides, but MLE and MAP are applicable to other statistical models as well. </a:t>
            </a:r>
            <a:endParaRPr lang="en-IN" b="0" i="0" dirty="0">
              <a:solidFill>
                <a:srgbClr val="292929"/>
              </a:solidFill>
              <a:effectLst/>
              <a:latin typeface="charter"/>
            </a:endParaRPr>
          </a:p>
        </p:txBody>
      </p:sp>
    </p:spTree>
    <p:extLst>
      <p:ext uri="{BB962C8B-B14F-4D97-AF65-F5344CB8AC3E}">
        <p14:creationId xmlns:p14="http://schemas.microsoft.com/office/powerpoint/2010/main" val="18299047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6977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59954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216</TotalTime>
  <Words>363</Words>
  <Application>Microsoft Office PowerPoint</Application>
  <PresentationFormat>Widescreen</PresentationFormat>
  <Paragraphs>48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charter</vt:lpstr>
      <vt:lpstr>sohne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cssc</dc:creator>
  <cp:lastModifiedBy>cssc</cp:lastModifiedBy>
  <cp:revision>10</cp:revision>
  <dcterms:created xsi:type="dcterms:W3CDTF">2021-04-19T07:38:58Z</dcterms:created>
  <dcterms:modified xsi:type="dcterms:W3CDTF">2022-03-28T08:49:15Z</dcterms:modified>
</cp:coreProperties>
</file>