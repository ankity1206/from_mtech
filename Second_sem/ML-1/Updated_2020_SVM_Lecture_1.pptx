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26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30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5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28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2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27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24.xml"/>
  <Override ContentType="application/vnd.openxmlformats-officedocument.theme+xml" PartName="/ppt/theme/theme5.xml"/>
  <Override ContentType="application/vnd.openxmlformats-officedocument.theme+xml" PartName="/ppt/theme/theme26.xml"/>
  <Override ContentType="application/vnd.openxmlformats-officedocument.theme+xml" PartName="/ppt/theme/theme7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23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27.xml"/>
  <Override ContentType="application/vnd.openxmlformats-officedocument.theme+xml" PartName="/ppt/theme/theme14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31.xml"/>
  <Override ContentType="application/vnd.openxmlformats-officedocument.theme+xml" PartName="/ppt/theme/theme30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28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29.xml"/>
  <Override ContentType="application/vnd.openxmlformats-officedocument.theme+xml" PartName="/ppt/theme/theme16.xml"/>
  <Override ContentType="application/vnd.openxmlformats-officedocument.theme+xml" PartName="/ppt/theme/theme25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  <p:sldMasterId id="2147483688" r:id="rId7"/>
    <p:sldMasterId id="2147483689" r:id="rId8"/>
    <p:sldMasterId id="2147483690" r:id="rId9"/>
    <p:sldMasterId id="2147483691" r:id="rId10"/>
    <p:sldMasterId id="2147483692" r:id="rId11"/>
    <p:sldMasterId id="2147483693" r:id="rId12"/>
    <p:sldMasterId id="2147483694" r:id="rId13"/>
    <p:sldMasterId id="2147483695" r:id="rId14"/>
    <p:sldMasterId id="2147483696" r:id="rId15"/>
    <p:sldMasterId id="2147483697" r:id="rId16"/>
    <p:sldMasterId id="2147483698" r:id="rId17"/>
    <p:sldMasterId id="2147483699" r:id="rId18"/>
    <p:sldMasterId id="2147483700" r:id="rId19"/>
    <p:sldMasterId id="2147483701" r:id="rId20"/>
    <p:sldMasterId id="2147483702" r:id="rId21"/>
    <p:sldMasterId id="2147483703" r:id="rId22"/>
    <p:sldMasterId id="2147483704" r:id="rId23"/>
    <p:sldMasterId id="2147483705" r:id="rId24"/>
    <p:sldMasterId id="2147483706" r:id="rId25"/>
    <p:sldMasterId id="2147483707" r:id="rId26"/>
    <p:sldMasterId id="2147483708" r:id="rId27"/>
    <p:sldMasterId id="2147483709" r:id="rId28"/>
    <p:sldMasterId id="2147483710" r:id="rId29"/>
    <p:sldMasterId id="2147483711" r:id="rId30"/>
    <p:sldMasterId id="2147483712" r:id="rId31"/>
    <p:sldMasterId id="2147483713" r:id="rId32"/>
    <p:sldMasterId id="2147483714" r:id="rId33"/>
  </p:sldMasterIdLst>
  <p:notesMasterIdLst>
    <p:notesMasterId r:id="rId34"/>
  </p:notesMasterIdLst>
  <p:sldIdLst>
    <p:sldId id="256" r:id="rId35"/>
    <p:sldId id="257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1" r:id="rId60"/>
    <p:sldId id="282" r:id="rId61"/>
    <p:sldId id="283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  <p:sldId id="294" r:id="rId73"/>
    <p:sldId id="295" r:id="rId74"/>
    <p:sldId id="296" r:id="rId75"/>
    <p:sldId id="297" r:id="rId76"/>
    <p:sldId id="298" r:id="rId77"/>
    <p:sldId id="299" r:id="rId78"/>
    <p:sldId id="300" r:id="rId79"/>
    <p:sldId id="301" r:id="rId80"/>
    <p:sldId id="302" r:id="rId81"/>
  </p:sldIdLst>
  <p:sldSz cy="6858000" cx="9144000"/>
  <p:notesSz cx="6858000" cy="9144000"/>
  <p:embeddedFontLst>
    <p:embeddedFont>
      <p:font typeface="Garamond"/>
      <p:regular r:id="rId82"/>
      <p:bold r:id="rId83"/>
      <p:italic r:id="rId84"/>
      <p:boldItalic r:id="rId85"/>
    </p:embeddedFont>
    <p:embeddedFont>
      <p:font typeface="Tahoma"/>
      <p:regular r:id="rId86"/>
      <p:bold r:id="rId87"/>
    </p:embeddedFont>
    <p:embeddedFont>
      <p:font typeface="Noto Sans Symbols"/>
      <p:regular r:id="rId88"/>
      <p:bold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6.xml"/><Relationship Id="rId84" Type="http://schemas.openxmlformats.org/officeDocument/2006/relationships/font" Target="fonts/Garamond-italic.fntdata"/><Relationship Id="rId83" Type="http://schemas.openxmlformats.org/officeDocument/2006/relationships/font" Target="fonts/Garamond-bold.fntdata"/><Relationship Id="rId42" Type="http://schemas.openxmlformats.org/officeDocument/2006/relationships/slide" Target="slides/slide8.xml"/><Relationship Id="rId86" Type="http://schemas.openxmlformats.org/officeDocument/2006/relationships/font" Target="fonts/Tahoma-regular.fntdata"/><Relationship Id="rId41" Type="http://schemas.openxmlformats.org/officeDocument/2006/relationships/slide" Target="slides/slide7.xml"/><Relationship Id="rId85" Type="http://schemas.openxmlformats.org/officeDocument/2006/relationships/font" Target="fonts/Garamond-boldItalic.fntdata"/><Relationship Id="rId44" Type="http://schemas.openxmlformats.org/officeDocument/2006/relationships/slide" Target="slides/slide10.xml"/><Relationship Id="rId88" Type="http://schemas.openxmlformats.org/officeDocument/2006/relationships/font" Target="fonts/NotoSansSymbols-regular.fntdata"/><Relationship Id="rId43" Type="http://schemas.openxmlformats.org/officeDocument/2006/relationships/slide" Target="slides/slide9.xml"/><Relationship Id="rId87" Type="http://schemas.openxmlformats.org/officeDocument/2006/relationships/font" Target="fonts/Tahoma-bold.fntdata"/><Relationship Id="rId46" Type="http://schemas.openxmlformats.org/officeDocument/2006/relationships/slide" Target="slides/slide12.xml"/><Relationship Id="rId45" Type="http://schemas.openxmlformats.org/officeDocument/2006/relationships/slide" Target="slides/slide11.xml"/><Relationship Id="rId89" Type="http://schemas.openxmlformats.org/officeDocument/2006/relationships/font" Target="fonts/NotoSansSymbols-bold.fntdata"/><Relationship Id="rId80" Type="http://schemas.openxmlformats.org/officeDocument/2006/relationships/slide" Target="slides/slide46.xml"/><Relationship Id="rId82" Type="http://schemas.openxmlformats.org/officeDocument/2006/relationships/font" Target="fonts/Garamond-regular.fntdata"/><Relationship Id="rId81" Type="http://schemas.openxmlformats.org/officeDocument/2006/relationships/slide" Target="slides/slide47.xml"/><Relationship Id="rId1" Type="http://schemas.openxmlformats.org/officeDocument/2006/relationships/theme" Target="theme/theme30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14.xml"/><Relationship Id="rId47" Type="http://schemas.openxmlformats.org/officeDocument/2006/relationships/slide" Target="slides/slide13.xml"/><Relationship Id="rId49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slide" Target="slides/slide39.xml"/><Relationship Id="rId72" Type="http://schemas.openxmlformats.org/officeDocument/2006/relationships/slide" Target="slides/slide38.xml"/><Relationship Id="rId31" Type="http://schemas.openxmlformats.org/officeDocument/2006/relationships/slideMaster" Target="slideMasters/slideMaster28.xml"/><Relationship Id="rId75" Type="http://schemas.openxmlformats.org/officeDocument/2006/relationships/slide" Target="slides/slide41.xml"/><Relationship Id="rId30" Type="http://schemas.openxmlformats.org/officeDocument/2006/relationships/slideMaster" Target="slideMasters/slideMaster27.xml"/><Relationship Id="rId74" Type="http://schemas.openxmlformats.org/officeDocument/2006/relationships/slide" Target="slides/slide40.xml"/><Relationship Id="rId33" Type="http://schemas.openxmlformats.org/officeDocument/2006/relationships/slideMaster" Target="slideMasters/slideMaster30.xml"/><Relationship Id="rId77" Type="http://schemas.openxmlformats.org/officeDocument/2006/relationships/slide" Target="slides/slide43.xml"/><Relationship Id="rId32" Type="http://schemas.openxmlformats.org/officeDocument/2006/relationships/slideMaster" Target="slideMasters/slideMaster29.xml"/><Relationship Id="rId76" Type="http://schemas.openxmlformats.org/officeDocument/2006/relationships/slide" Target="slides/slide42.xml"/><Relationship Id="rId35" Type="http://schemas.openxmlformats.org/officeDocument/2006/relationships/slide" Target="slides/slide1.xml"/><Relationship Id="rId79" Type="http://schemas.openxmlformats.org/officeDocument/2006/relationships/slide" Target="slides/slide45.xml"/><Relationship Id="rId34" Type="http://schemas.openxmlformats.org/officeDocument/2006/relationships/notesMaster" Target="notesMasters/notesMaster1.xml"/><Relationship Id="rId78" Type="http://schemas.openxmlformats.org/officeDocument/2006/relationships/slide" Target="slides/slide44.xml"/><Relationship Id="rId71" Type="http://schemas.openxmlformats.org/officeDocument/2006/relationships/slide" Target="slides/slide37.xml"/><Relationship Id="rId70" Type="http://schemas.openxmlformats.org/officeDocument/2006/relationships/slide" Target="slides/slide36.xml"/><Relationship Id="rId37" Type="http://schemas.openxmlformats.org/officeDocument/2006/relationships/slide" Target="slides/slide3.xml"/><Relationship Id="rId36" Type="http://schemas.openxmlformats.org/officeDocument/2006/relationships/slide" Target="slides/slide2.xml"/><Relationship Id="rId39" Type="http://schemas.openxmlformats.org/officeDocument/2006/relationships/slide" Target="slides/slide5.xml"/><Relationship Id="rId38" Type="http://schemas.openxmlformats.org/officeDocument/2006/relationships/slide" Target="slides/slide4.xml"/><Relationship Id="rId62" Type="http://schemas.openxmlformats.org/officeDocument/2006/relationships/slide" Target="slides/slide28.xml"/><Relationship Id="rId61" Type="http://schemas.openxmlformats.org/officeDocument/2006/relationships/slide" Target="slides/slide27.xml"/><Relationship Id="rId20" Type="http://schemas.openxmlformats.org/officeDocument/2006/relationships/slideMaster" Target="slideMasters/slideMaster17.xml"/><Relationship Id="rId64" Type="http://schemas.openxmlformats.org/officeDocument/2006/relationships/slide" Target="slides/slide30.xml"/><Relationship Id="rId63" Type="http://schemas.openxmlformats.org/officeDocument/2006/relationships/slide" Target="slides/slide29.xml"/><Relationship Id="rId22" Type="http://schemas.openxmlformats.org/officeDocument/2006/relationships/slideMaster" Target="slideMasters/slideMaster19.xml"/><Relationship Id="rId66" Type="http://schemas.openxmlformats.org/officeDocument/2006/relationships/slide" Target="slides/slide32.xml"/><Relationship Id="rId21" Type="http://schemas.openxmlformats.org/officeDocument/2006/relationships/slideMaster" Target="slideMasters/slideMaster18.xml"/><Relationship Id="rId65" Type="http://schemas.openxmlformats.org/officeDocument/2006/relationships/slide" Target="slides/slide31.xml"/><Relationship Id="rId24" Type="http://schemas.openxmlformats.org/officeDocument/2006/relationships/slideMaster" Target="slideMasters/slideMaster21.xml"/><Relationship Id="rId68" Type="http://schemas.openxmlformats.org/officeDocument/2006/relationships/slide" Target="slides/slide34.xml"/><Relationship Id="rId23" Type="http://schemas.openxmlformats.org/officeDocument/2006/relationships/slideMaster" Target="slideMasters/slideMaster20.xml"/><Relationship Id="rId67" Type="http://schemas.openxmlformats.org/officeDocument/2006/relationships/slide" Target="slides/slide33.xml"/><Relationship Id="rId60" Type="http://schemas.openxmlformats.org/officeDocument/2006/relationships/slide" Target="slides/slide26.xml"/><Relationship Id="rId26" Type="http://schemas.openxmlformats.org/officeDocument/2006/relationships/slideMaster" Target="slideMasters/slideMaster23.xml"/><Relationship Id="rId25" Type="http://schemas.openxmlformats.org/officeDocument/2006/relationships/slideMaster" Target="slideMasters/slideMaster22.xml"/><Relationship Id="rId69" Type="http://schemas.openxmlformats.org/officeDocument/2006/relationships/slide" Target="slides/slide35.xml"/><Relationship Id="rId28" Type="http://schemas.openxmlformats.org/officeDocument/2006/relationships/slideMaster" Target="slideMasters/slideMaster25.xml"/><Relationship Id="rId27" Type="http://schemas.openxmlformats.org/officeDocument/2006/relationships/slideMaster" Target="slideMasters/slideMaster24.xml"/><Relationship Id="rId29" Type="http://schemas.openxmlformats.org/officeDocument/2006/relationships/slideMaster" Target="slideMasters/slideMaster26.xml"/><Relationship Id="rId51" Type="http://schemas.openxmlformats.org/officeDocument/2006/relationships/slide" Target="slides/slide17.xml"/><Relationship Id="rId50" Type="http://schemas.openxmlformats.org/officeDocument/2006/relationships/slide" Target="slides/slide16.xml"/><Relationship Id="rId53" Type="http://schemas.openxmlformats.org/officeDocument/2006/relationships/slide" Target="slides/slide19.xml"/><Relationship Id="rId52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21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20.xml"/><Relationship Id="rId13" Type="http://schemas.openxmlformats.org/officeDocument/2006/relationships/slideMaster" Target="slideMasters/slideMaster10.xml"/><Relationship Id="rId57" Type="http://schemas.openxmlformats.org/officeDocument/2006/relationships/slide" Target="slides/slide23.xml"/><Relationship Id="rId12" Type="http://schemas.openxmlformats.org/officeDocument/2006/relationships/slideMaster" Target="slideMasters/slideMaster9.xml"/><Relationship Id="rId56" Type="http://schemas.openxmlformats.org/officeDocument/2006/relationships/slide" Target="slides/slide22.xml"/><Relationship Id="rId15" Type="http://schemas.openxmlformats.org/officeDocument/2006/relationships/slideMaster" Target="slideMasters/slideMaster12.xml"/><Relationship Id="rId59" Type="http://schemas.openxmlformats.org/officeDocument/2006/relationships/slide" Target="slides/slide25.xml"/><Relationship Id="rId14" Type="http://schemas.openxmlformats.org/officeDocument/2006/relationships/slideMaster" Target="slideMasters/slideMaster11.xml"/><Relationship Id="rId58" Type="http://schemas.openxmlformats.org/officeDocument/2006/relationships/slide" Target="slides/slide24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75" name="Google Shape;875;p11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76" name="Google Shape;876;p11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38" name="Google Shape;938;p16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39" name="Google Shape;939;p16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So, if change internal points, no effect on the decision boundary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0" name="Google Shape;1030;p25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31" name="Google Shape;1031;p25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Let x(1) and x(-1) be two S.V.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Then b = -1/2( w^T x(1) + w^T x(-1) 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92" name="Google Shape;1092;p28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93" name="Google Shape;1093;p28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Note also, everything is done by inner-products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91" name="Google Shape;1191;p33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92" name="Google Shape;1192;p33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3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94" name="Google Shape;1294;p35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95" name="Google Shape;1295;p35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0" name="Google Shape;1310;p37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11" name="Google Shape;1311;p37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0" name="Google Shape;1330;p39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31" name="Google Shape;1331;p39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Despite violating Mercer condition, the sigmoid kernel function can still work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40" name="Google Shape;1340;p40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1" name="Google Shape;1341;p40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 =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4           9         -25         -36          49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 9          25         -81        -121         169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-25         -81         289         441        -625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-36        -121         441         676        -961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    49         169        -625        -961        1369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4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49" name="Google Shape;1349;p41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50" name="Google Shape;1350;p41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optimization toolbox of matlab contains a quadratic programming solver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61" name="Google Shape;1361;p42:notes"/>
          <p:cNvSpPr/>
          <p:nvPr>
            <p:ph idx="2" type="sldImg"/>
          </p:nvPr>
        </p:nvSpPr>
        <p:spPr>
          <a:xfrm>
            <a:off x="1144587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62" name="Google Shape;1362;p42:notes"/>
          <p:cNvSpPr txBox="1"/>
          <p:nvPr>
            <p:ph idx="1" type="body"/>
          </p:nvPr>
        </p:nvSpPr>
        <p:spPr>
          <a:xfrm>
            <a:off x="914400" y="4343400"/>
            <a:ext cx="50307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 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01" name="Google Shape;201;p3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  <p:sp>
        <p:nvSpPr>
          <p:cNvPr id="213" name="Google Shape;213;p3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225" name="Google Shape;225;p39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226" name="Google Shape;226;p3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238" name="Google Shape;238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239" name="Google Shape;239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240" name="Google Shape;240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241" name="Google Shape;241;p4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35280" lvl="1" marL="91440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/>
        </p:txBody>
      </p:sp>
      <p:sp>
        <p:nvSpPr>
          <p:cNvPr id="264" name="Google Shape;264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65" name="Google Shape;265;p4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78" name="Google Shape;278;p4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9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90" name="Google Shape;290;p4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02" name="Google Shape;302;p5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5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showMasterSp="0" type="txAndObj">
  <p:cSld name="TEXT_AND_OBJEC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3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3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14" name="Google Shape;314;p53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5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showMasterSp="0" type="txAndTwoObj">
  <p:cSld name="TEXT_AND_TWO_OBJECT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5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27" name="Google Shape;327;p55"/>
          <p:cNvSpPr txBox="1"/>
          <p:nvPr>
            <p:ph idx="2" type="body"/>
          </p:nvPr>
        </p:nvSpPr>
        <p:spPr>
          <a:xfrm>
            <a:off x="4648200" y="1600200"/>
            <a:ext cx="40386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28" name="Google Shape;328;p55"/>
          <p:cNvSpPr txBox="1"/>
          <p:nvPr>
            <p:ph idx="3" type="body"/>
          </p:nvPr>
        </p:nvSpPr>
        <p:spPr>
          <a:xfrm>
            <a:off x="4648200" y="3941763"/>
            <a:ext cx="40386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29" name="Google Shape;329;p5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5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7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42" name="Google Shape;342;p57"/>
          <p:cNvSpPr txBox="1"/>
          <p:nvPr>
            <p:ph idx="11" type="ftr"/>
          </p:nvPr>
        </p:nvSpPr>
        <p:spPr>
          <a:xfrm>
            <a:off x="685800" y="6243637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5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  <p:sp>
        <p:nvSpPr>
          <p:cNvPr id="352" name="Google Shape;352;p59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61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362" name="Google Shape;362;p61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363" name="Google Shape;363;p61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6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6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373" name="Google Shape;373;p6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374" name="Google Shape;374;p6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375" name="Google Shape;375;p6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376" name="Google Shape;376;p63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6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65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6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7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6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2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2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18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1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theme" Target="../theme/theme28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theme" Target="../theme/theme2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theme" Target="../theme/theme20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theme" Target="../theme/theme19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1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3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16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8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2.xml"/></Relationships>
</file>

<file path=ppt/slideMasters/_rels/slideMaster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9.xml"/></Relationships>
</file>

<file path=ppt/slideMasters/_rels/slideMaster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5.xml"/></Relationships>
</file>

<file path=ppt/slideMasters/_rels/slideMaster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25.xml"/></Relationships>
</file>

<file path=ppt/slideMasters/_rels/slideMaster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theme" Target="../theme/theme11.xml"/></Relationships>
</file>

<file path=ppt/slideMasters/_rels/slideMaster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31.xml"/></Relationships>
</file>

<file path=ppt/slideMasters/_rels/slideMaster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7.xml"/></Relationships>
</file>

<file path=ppt/slideMasters/_rels/slideMaster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theme" Target="../theme/theme21.xml"/></Relationships>
</file>

<file path=ppt/slideMasters/_rels/slideMaster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27.xml"/></Relationships>
</file>

<file path=ppt/slideMasters/_rels/slideMaster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theme" Target="../theme/theme13.xml"/></Relationships>
</file>

<file path=ppt/slideMasters/_rels/slideMaster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15.xml"/></Relationships>
</file>

<file path=ppt/slideMasters/_rels/slideMaster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24.xml"/></Relationships>
</file>

<file path=ppt/slideMasters/_rels/slideMaster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22.xml"/></Relationships>
</file>

<file path=ppt/slideMasters/_rels/slideMaster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7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28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8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cxnSp>
        <p:nvCxnSpPr>
          <p:cNvPr id="163" name="Google Shape;163;p29"/>
          <p:cNvCxnSpPr/>
          <p:nvPr/>
        </p:nvCxnSpPr>
        <p:spPr>
          <a:xfrm>
            <a:off x="1295400" y="1752600"/>
            <a:ext cx="784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" name="Google Shape;164;p29"/>
          <p:cNvCxnSpPr/>
          <p:nvPr/>
        </p:nvCxnSpPr>
        <p:spPr>
          <a:xfrm>
            <a:off x="1295400" y="1752600"/>
            <a:ext cx="784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5" name="Google Shape;165;p29"/>
          <p:cNvSpPr txBox="1"/>
          <p:nvPr/>
        </p:nvSpPr>
        <p:spPr>
          <a:xfrm>
            <a:off x="7518400" y="6473825"/>
            <a:ext cx="9048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Carla P. Gomes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</a:pPr>
            <a:r>
              <a:rPr b="0" i="0" lang="en-US" sz="9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CS4700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/>
          <p:nvPr/>
        </p:nvSpPr>
        <p:spPr>
          <a:xfrm>
            <a:off x="609600" y="1219200"/>
            <a:ext cx="79248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32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1" name="Google Shape;181;p3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3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4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4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4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3" name="Google Shape;273;p4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83" name="Google Shape;283;p4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4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4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4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5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5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5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07" name="Google Shape;307;p5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5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20" name="Google Shape;320;p5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5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/>
          <p:cNvSpPr/>
          <p:nvPr/>
        </p:nvSpPr>
        <p:spPr>
          <a:xfrm>
            <a:off x="609600" y="1219200"/>
            <a:ext cx="79248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56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5" name="Google Shape;335;p5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11" type="ftr"/>
          </p:nvPr>
        </p:nvSpPr>
        <p:spPr>
          <a:xfrm>
            <a:off x="685800" y="6243637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46" name="Google Shape;346;p5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7" name="Google Shape;347;p58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p5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56" name="Google Shape;356;p6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60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8" name="Google Shape;358;p6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67" name="Google Shape;367;p6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62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6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80" name="Google Shape;380;p6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64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6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89" name="Google Shape;389;p6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0" name="Google Shape;390;p66"/>
          <p:cNvSpPr txBox="1"/>
          <p:nvPr>
            <p:ph idx="11" type="ftr"/>
          </p:nvPr>
        </p:nvSpPr>
        <p:spPr>
          <a:xfrm>
            <a:off x="457200" y="6248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1" name="Google Shape;391;p6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11" Type="http://schemas.openxmlformats.org/officeDocument/2006/relationships/image" Target="../media/image35.png"/><Relationship Id="rId10" Type="http://schemas.openxmlformats.org/officeDocument/2006/relationships/image" Target="../media/image38.png"/><Relationship Id="rId9" Type="http://schemas.openxmlformats.org/officeDocument/2006/relationships/image" Target="../media/image59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6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Relationship Id="rId4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Relationship Id="rId6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png"/><Relationship Id="rId4" Type="http://schemas.openxmlformats.org/officeDocument/2006/relationships/image" Target="../media/image61.png"/><Relationship Id="rId5" Type="http://schemas.openxmlformats.org/officeDocument/2006/relationships/image" Target="../media/image66.png"/><Relationship Id="rId6" Type="http://schemas.openxmlformats.org/officeDocument/2006/relationships/image" Target="../media/image57.png"/><Relationship Id="rId7" Type="http://schemas.openxmlformats.org/officeDocument/2006/relationships/image" Target="../media/image56.png"/><Relationship Id="rId8" Type="http://schemas.openxmlformats.org/officeDocument/2006/relationships/image" Target="../media/image6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8"/>
          <p:cNvSpPr txBox="1"/>
          <p:nvPr>
            <p:ph idx="4294967295" type="ctrTitle"/>
          </p:nvPr>
        </p:nvSpPr>
        <p:spPr>
          <a:xfrm>
            <a:off x="685800" y="2438400"/>
            <a:ext cx="7848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CC"/>
              </a:buClr>
              <a:buSzPts val="4000"/>
              <a:buFont typeface="Comic Sans MS"/>
              <a:buNone/>
            </a:pPr>
            <a:r>
              <a:rPr b="1" i="0" lang="en-US" sz="4000" u="none" cap="none" strike="noStrike">
                <a:solidFill>
                  <a:srgbClr val="66FF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Support Vector Machines: A Simple Introduction</a:t>
            </a:r>
            <a:br>
              <a:rPr b="1" i="0" lang="en-US" sz="4000" u="none" cap="none" strike="noStrike">
                <a:solidFill>
                  <a:srgbClr val="66FFCC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b="1" i="0" lang="en-US" sz="4000" u="none" cap="none" strike="noStrike">
                <a:solidFill>
                  <a:srgbClr val="66FFCC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05" name="Google Shape;405;p69"/>
          <p:cNvSpPr txBox="1"/>
          <p:nvPr>
            <p:ph type="title"/>
          </p:nvPr>
        </p:nvSpPr>
        <p:spPr>
          <a:xfrm>
            <a:off x="0" y="7937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Introduction</a:t>
            </a:r>
            <a:endParaRPr/>
          </a:p>
        </p:txBody>
      </p:sp>
      <p:sp>
        <p:nvSpPr>
          <p:cNvPr id="406" name="Google Shape;406;p69"/>
          <p:cNvSpPr txBox="1"/>
          <p:nvPr>
            <p:ph idx="1" type="body"/>
          </p:nvPr>
        </p:nvSpPr>
        <p:spPr>
          <a:xfrm>
            <a:off x="228600" y="838200"/>
            <a:ext cx="8686800" cy="486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vector machines were invented by V. Vapnik and his co-workers in 1970s in Russia and became known to the West in 1992.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SVMs are </a:t>
            </a:r>
            <a:r>
              <a:rPr b="0" i="0" lang="en-US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classifiers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find a hyperplane to separate </a:t>
            </a:r>
            <a:r>
              <a:rPr b="0" i="0" lang="en-US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class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data, positive and negative.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Kernel functions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used for nonlinear separation.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SVM not only has a rigorous theoretical foundation, but also performs classification more accurately than most other methods in applications, especially for high dimensional data.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perhaps the best (non-deep) classifier for text classification. 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9"/>
          <p:cNvSpPr txBox="1"/>
          <p:nvPr/>
        </p:nvSpPr>
        <p:spPr>
          <a:xfrm>
            <a:off x="609600" y="5562600"/>
            <a:ext cx="81534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excellent resource: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https://www.syncfusion.com/ebooks/support_vector_machines_succinctly/solving-the-optimization-problem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0"/>
          <p:cNvSpPr txBox="1"/>
          <p:nvPr/>
        </p:nvSpPr>
        <p:spPr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Linear Classifiers</a:t>
            </a:r>
            <a:endParaRPr/>
          </a:p>
        </p:txBody>
      </p:sp>
      <p:sp>
        <p:nvSpPr>
          <p:cNvPr id="413" name="Google Shape;413;p70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414" name="Google Shape;414;p70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5" name="Google Shape;415;p70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416" name="Google Shape;416;p70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7" name="Google Shape;417;p70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418" name="Google Shape;418;p70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9" name="Google Shape;419;p70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420" name="Google Shape;420;p70"/>
          <p:cNvSpPr txBox="1"/>
          <p:nvPr/>
        </p:nvSpPr>
        <p:spPr>
          <a:xfrm>
            <a:off x="381000" y="18288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421" name="Google Shape;421;p70"/>
          <p:cNvSpPr/>
          <p:nvPr/>
        </p:nvSpPr>
        <p:spPr>
          <a:xfrm rot="4740000">
            <a:off x="381793" y="19804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0"/>
          <p:cNvSpPr/>
          <p:nvPr/>
        </p:nvSpPr>
        <p:spPr>
          <a:xfrm rot="5880000">
            <a:off x="382587" y="24368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70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4" name="Google Shape;424;p70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5" name="Google Shape;425;p70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0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0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0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0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0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0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0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0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0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0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0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0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0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0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0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0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0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0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0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0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0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0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0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0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0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0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0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0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0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0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0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0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0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0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cxnSp>
        <p:nvCxnSpPr>
          <p:cNvPr id="460" name="Google Shape;460;p70"/>
          <p:cNvCxnSpPr/>
          <p:nvPr/>
        </p:nvCxnSpPr>
        <p:spPr>
          <a:xfrm flipH="1" rot="10800000">
            <a:off x="2590800" y="2209800"/>
            <a:ext cx="3124200" cy="304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61" name="Google Shape;461;p70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0"/>
          <p:cNvSpPr txBox="1"/>
          <p:nvPr/>
        </p:nvSpPr>
        <p:spPr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would you classify this data?</a:t>
            </a:r>
            <a:endParaRPr/>
          </a:p>
        </p:txBody>
      </p:sp>
      <p:sp>
        <p:nvSpPr>
          <p:cNvPr id="463" name="Google Shape;463;p70"/>
          <p:cNvSpPr txBox="1"/>
          <p:nvPr/>
        </p:nvSpPr>
        <p:spPr>
          <a:xfrm rot="-2760000">
            <a:off x="3962400" y="27432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1800"/>
              <a:buFont typeface="Arial"/>
              <a:buNone/>
            </a:pP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b=0</a:t>
            </a:r>
            <a:endParaRPr/>
          </a:p>
        </p:txBody>
      </p:sp>
      <p:sp>
        <p:nvSpPr>
          <p:cNvPr id="464" name="Google Shape;464;p70"/>
          <p:cNvSpPr txBox="1"/>
          <p:nvPr/>
        </p:nvSpPr>
        <p:spPr>
          <a:xfrm>
            <a:off x="4648200" y="48768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1800"/>
              <a:buFont typeface="Arial"/>
              <a:buNone/>
            </a:pP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b&lt;0</a:t>
            </a:r>
            <a:endParaRPr/>
          </a:p>
        </p:txBody>
      </p:sp>
      <p:sp>
        <p:nvSpPr>
          <p:cNvPr id="465" name="Google Shape;465;p70"/>
          <p:cNvSpPr txBox="1"/>
          <p:nvPr/>
        </p:nvSpPr>
        <p:spPr>
          <a:xfrm>
            <a:off x="2590800" y="19050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1800"/>
              <a:buFont typeface="Arial"/>
              <a:buNone/>
            </a:pP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1" lang="en-US" sz="1800" u="non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b&gt;0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1"/>
          <p:cNvSpPr txBox="1"/>
          <p:nvPr/>
        </p:nvSpPr>
        <p:spPr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Linear Classifiers</a:t>
            </a:r>
            <a:endParaRPr/>
          </a:p>
        </p:txBody>
      </p:sp>
      <p:sp>
        <p:nvSpPr>
          <p:cNvPr id="471" name="Google Shape;471;p71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472" name="Google Shape;472;p71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73" name="Google Shape;473;p71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474" name="Google Shape;474;p71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75" name="Google Shape;475;p71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476" name="Google Shape;476;p71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77" name="Google Shape;477;p71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478" name="Google Shape;478;p71"/>
          <p:cNvSpPr txBox="1"/>
          <p:nvPr/>
        </p:nvSpPr>
        <p:spPr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479" name="Google Shape;479;p71"/>
          <p:cNvSpPr/>
          <p:nvPr/>
        </p:nvSpPr>
        <p:spPr>
          <a:xfrm rot="4740000">
            <a:off x="915193" y="20566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1"/>
          <p:cNvSpPr/>
          <p:nvPr/>
        </p:nvSpPr>
        <p:spPr>
          <a:xfrm rot="5880000">
            <a:off x="915987" y="25130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71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82" name="Google Shape;482;p71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83" name="Google Shape;483;p71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71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1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1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1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71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1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1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1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1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1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71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71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71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1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71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71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1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1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71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1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1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71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71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1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1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1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71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1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1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1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1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1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71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71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cxnSp>
        <p:nvCxnSpPr>
          <p:cNvPr id="518" name="Google Shape;518;p71"/>
          <p:cNvCxnSpPr/>
          <p:nvPr/>
        </p:nvCxnSpPr>
        <p:spPr>
          <a:xfrm flipH="1" rot="10800000">
            <a:off x="2286000" y="2362200"/>
            <a:ext cx="4038600" cy="2590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9" name="Google Shape;519;p71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1"/>
          <p:cNvSpPr txBox="1"/>
          <p:nvPr/>
        </p:nvSpPr>
        <p:spPr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would you classify this data?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85800"/>
            <a:ext cx="30480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2612" y="838200"/>
            <a:ext cx="6021387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3"/>
          <p:cNvSpPr txBox="1"/>
          <p:nvPr/>
        </p:nvSpPr>
        <p:spPr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Linear Classifiers</a:t>
            </a:r>
            <a:endParaRPr/>
          </a:p>
        </p:txBody>
      </p:sp>
      <p:sp>
        <p:nvSpPr>
          <p:cNvPr id="532" name="Google Shape;532;p73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533" name="Google Shape;533;p73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34" name="Google Shape;534;p73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535" name="Google Shape;535;p73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36" name="Google Shape;536;p73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537" name="Google Shape;537;p73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38" name="Google Shape;538;p73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539" name="Google Shape;539;p73"/>
          <p:cNvSpPr txBox="1"/>
          <p:nvPr/>
        </p:nvSpPr>
        <p:spPr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540" name="Google Shape;540;p73"/>
          <p:cNvSpPr/>
          <p:nvPr/>
        </p:nvSpPr>
        <p:spPr>
          <a:xfrm rot="4740000">
            <a:off x="915193" y="20566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3"/>
          <p:cNvSpPr/>
          <p:nvPr/>
        </p:nvSpPr>
        <p:spPr>
          <a:xfrm rot="5880000">
            <a:off x="915987" y="25130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73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3" name="Google Shape;543;p73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4" name="Google Shape;544;p73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73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3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3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3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3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3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3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3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73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3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73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3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3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3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3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3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3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3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3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3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3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3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3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3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3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3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73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73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73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3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3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3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73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3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cxnSp>
        <p:nvCxnSpPr>
          <p:cNvPr id="579" name="Google Shape;579;p73"/>
          <p:cNvCxnSpPr/>
          <p:nvPr/>
        </p:nvCxnSpPr>
        <p:spPr>
          <a:xfrm flipH="1" rot="10800000">
            <a:off x="3429000" y="1676400"/>
            <a:ext cx="1447800" cy="403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80" name="Google Shape;580;p73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3"/>
          <p:cNvSpPr txBox="1"/>
          <p:nvPr/>
        </p:nvSpPr>
        <p:spPr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would you classify this data?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4"/>
          <p:cNvSpPr txBox="1"/>
          <p:nvPr/>
        </p:nvSpPr>
        <p:spPr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Linear Classifiers</a:t>
            </a:r>
            <a:endParaRPr/>
          </a:p>
        </p:txBody>
      </p:sp>
      <p:sp>
        <p:nvSpPr>
          <p:cNvPr id="587" name="Google Shape;587;p74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588" name="Google Shape;588;p74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89" name="Google Shape;589;p74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590" name="Google Shape;590;p74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1" name="Google Shape;591;p74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592" name="Google Shape;592;p74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3" name="Google Shape;593;p74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594" name="Google Shape;594;p74"/>
          <p:cNvSpPr txBox="1"/>
          <p:nvPr/>
        </p:nvSpPr>
        <p:spPr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595" name="Google Shape;595;p74"/>
          <p:cNvSpPr/>
          <p:nvPr/>
        </p:nvSpPr>
        <p:spPr>
          <a:xfrm rot="4740000">
            <a:off x="915193" y="20566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74"/>
          <p:cNvSpPr/>
          <p:nvPr/>
        </p:nvSpPr>
        <p:spPr>
          <a:xfrm rot="5880000">
            <a:off x="915987" y="25130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74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8" name="Google Shape;598;p74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9" name="Google Shape;599;p74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74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74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4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74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74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4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4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4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4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74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4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74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74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74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4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4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4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4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4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4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4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4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4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4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4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4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4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4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74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4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4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4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4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4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cxnSp>
        <p:nvCxnSpPr>
          <p:cNvPr id="634" name="Google Shape;634;p74"/>
          <p:cNvCxnSpPr/>
          <p:nvPr/>
        </p:nvCxnSpPr>
        <p:spPr>
          <a:xfrm flipH="1" rot="10800000">
            <a:off x="3429000" y="1676400"/>
            <a:ext cx="1447800" cy="403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35" name="Google Shape;635;p74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4"/>
          <p:cNvSpPr txBox="1"/>
          <p:nvPr/>
        </p:nvSpPr>
        <p:spPr>
          <a:xfrm>
            <a:off x="6400800" y="3352800"/>
            <a:ext cx="22098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Any of these would be fine..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..but which is best?</a:t>
            </a:r>
            <a:endParaRPr/>
          </a:p>
        </p:txBody>
      </p:sp>
      <p:cxnSp>
        <p:nvCxnSpPr>
          <p:cNvPr id="637" name="Google Shape;637;p74"/>
          <p:cNvCxnSpPr/>
          <p:nvPr/>
        </p:nvCxnSpPr>
        <p:spPr>
          <a:xfrm flipH="1" rot="10800000">
            <a:off x="2286000" y="2362200"/>
            <a:ext cx="4038600" cy="2590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8" name="Google Shape;638;p74"/>
          <p:cNvCxnSpPr/>
          <p:nvPr/>
        </p:nvCxnSpPr>
        <p:spPr>
          <a:xfrm flipH="1" rot="10800000">
            <a:off x="2590800" y="2209800"/>
            <a:ext cx="3124200" cy="304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9" name="Google Shape;639;p74"/>
          <p:cNvCxnSpPr/>
          <p:nvPr/>
        </p:nvCxnSpPr>
        <p:spPr>
          <a:xfrm flipH="1" rot="10800000">
            <a:off x="2057400" y="2438400"/>
            <a:ext cx="48006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0" name="Google Shape;640;p74"/>
          <p:cNvCxnSpPr/>
          <p:nvPr/>
        </p:nvCxnSpPr>
        <p:spPr>
          <a:xfrm flipH="1" rot="10800000">
            <a:off x="2438400" y="2209800"/>
            <a:ext cx="3810000" cy="281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1" name="Google Shape;641;p74"/>
          <p:cNvCxnSpPr/>
          <p:nvPr/>
        </p:nvCxnSpPr>
        <p:spPr>
          <a:xfrm flipH="1" rot="10800000">
            <a:off x="2362200" y="1905000"/>
            <a:ext cx="3886200" cy="3352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2" name="Google Shape;642;p74"/>
          <p:cNvCxnSpPr/>
          <p:nvPr/>
        </p:nvCxnSpPr>
        <p:spPr>
          <a:xfrm flipH="1" rot="10800000">
            <a:off x="2590800" y="1752600"/>
            <a:ext cx="3429000" cy="3352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3" name="Google Shape;643;p74"/>
          <p:cNvCxnSpPr/>
          <p:nvPr/>
        </p:nvCxnSpPr>
        <p:spPr>
          <a:xfrm flipH="1" rot="10800000">
            <a:off x="2819400" y="2133600"/>
            <a:ext cx="2743200" cy="3505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4" name="Google Shape;644;p74"/>
          <p:cNvCxnSpPr/>
          <p:nvPr/>
        </p:nvCxnSpPr>
        <p:spPr>
          <a:xfrm flipH="1" rot="10800000">
            <a:off x="2362200" y="2209800"/>
            <a:ext cx="4114800" cy="281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5"/>
          <p:cNvSpPr txBox="1"/>
          <p:nvPr/>
        </p:nvSpPr>
        <p:spPr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Linear Classifiers</a:t>
            </a:r>
            <a:endParaRPr/>
          </a:p>
        </p:txBody>
      </p:sp>
      <p:sp>
        <p:nvSpPr>
          <p:cNvPr id="650" name="Google Shape;650;p75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651" name="Google Shape;651;p75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2" name="Google Shape;652;p75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653" name="Google Shape;653;p75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4" name="Google Shape;654;p75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655" name="Google Shape;655;p75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6" name="Google Shape;656;p75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657" name="Google Shape;657;p75"/>
          <p:cNvSpPr txBox="1"/>
          <p:nvPr/>
        </p:nvSpPr>
        <p:spPr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658" name="Google Shape;658;p75"/>
          <p:cNvSpPr/>
          <p:nvPr/>
        </p:nvSpPr>
        <p:spPr>
          <a:xfrm rot="4740000">
            <a:off x="915193" y="20566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5"/>
          <p:cNvSpPr/>
          <p:nvPr/>
        </p:nvSpPr>
        <p:spPr>
          <a:xfrm rot="5880000">
            <a:off x="915987" y="25130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75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1" name="Google Shape;661;p75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62" name="Google Shape;662;p75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75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75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75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5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75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75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75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75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75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75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5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75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5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5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5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5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75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5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5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5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75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75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75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75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5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75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5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75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5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5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5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75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75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5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697" name="Google Shape;697;p75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75"/>
          <p:cNvSpPr txBox="1"/>
          <p:nvPr/>
        </p:nvSpPr>
        <p:spPr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would you classify this data?</a:t>
            </a:r>
            <a:endParaRPr/>
          </a:p>
        </p:txBody>
      </p:sp>
      <p:cxnSp>
        <p:nvCxnSpPr>
          <p:cNvPr id="699" name="Google Shape;699;p75"/>
          <p:cNvCxnSpPr/>
          <p:nvPr/>
        </p:nvCxnSpPr>
        <p:spPr>
          <a:xfrm flipH="1" rot="10800000">
            <a:off x="3429000" y="1676400"/>
            <a:ext cx="1447800" cy="403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00" name="Google Shape;700;p75"/>
          <p:cNvSpPr txBox="1"/>
          <p:nvPr/>
        </p:nvSpPr>
        <p:spPr>
          <a:xfrm>
            <a:off x="3657600" y="4724400"/>
            <a:ext cx="76200" cy="76200"/>
          </a:xfrm>
          <a:prstGeom prst="rect">
            <a:avLst/>
          </a:prstGeom>
          <a:solidFill>
            <a:srgbClr val="9933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75"/>
          <p:cNvCxnSpPr/>
          <p:nvPr/>
        </p:nvCxnSpPr>
        <p:spPr>
          <a:xfrm flipH="1" rot="10800000">
            <a:off x="2590800" y="2209800"/>
            <a:ext cx="3124200" cy="304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02" name="Google Shape;702;p75"/>
          <p:cNvSpPr/>
          <p:nvPr/>
        </p:nvSpPr>
        <p:spPr>
          <a:xfrm>
            <a:off x="4343400" y="5867400"/>
            <a:ext cx="1676400" cy="685800"/>
          </a:xfrm>
          <a:prstGeom prst="ellipse">
            <a:avLst/>
          </a:prstGeom>
          <a:solidFill>
            <a:srgbClr val="CC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Misclassified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+1 class</a:t>
            </a:r>
            <a:endParaRPr/>
          </a:p>
        </p:txBody>
      </p:sp>
      <p:cxnSp>
        <p:nvCxnSpPr>
          <p:cNvPr id="703" name="Google Shape;703;p75"/>
          <p:cNvCxnSpPr/>
          <p:nvPr/>
        </p:nvCxnSpPr>
        <p:spPr>
          <a:xfrm flipH="1" rot="5400000">
            <a:off x="3333750" y="5200650"/>
            <a:ext cx="1333500" cy="6858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6"/>
          <p:cNvSpPr txBox="1"/>
          <p:nvPr/>
        </p:nvSpPr>
        <p:spPr>
          <a:xfrm>
            <a:off x="304800" y="4572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Classifier Margin</a:t>
            </a:r>
            <a:endParaRPr/>
          </a:p>
        </p:txBody>
      </p:sp>
      <p:sp>
        <p:nvSpPr>
          <p:cNvPr id="709" name="Google Shape;709;p76"/>
          <p:cNvSpPr txBox="1"/>
          <p:nvPr/>
        </p:nvSpPr>
        <p:spPr>
          <a:xfrm>
            <a:off x="5486400" y="9286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710" name="Google Shape;710;p76"/>
          <p:cNvCxnSpPr/>
          <p:nvPr/>
        </p:nvCxnSpPr>
        <p:spPr>
          <a:xfrm>
            <a:off x="4114800" y="12192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1" name="Google Shape;711;p76"/>
          <p:cNvSpPr txBox="1"/>
          <p:nvPr/>
        </p:nvSpPr>
        <p:spPr>
          <a:xfrm>
            <a:off x="3657600" y="9144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712" name="Google Shape;712;p76"/>
          <p:cNvCxnSpPr/>
          <p:nvPr/>
        </p:nvCxnSpPr>
        <p:spPr>
          <a:xfrm>
            <a:off x="6172200" y="5334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3" name="Google Shape;713;p76"/>
          <p:cNvSpPr txBox="1"/>
          <p:nvPr/>
        </p:nvSpPr>
        <p:spPr>
          <a:xfrm>
            <a:off x="5943600" y="15240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714" name="Google Shape;714;p76"/>
          <p:cNvCxnSpPr/>
          <p:nvPr/>
        </p:nvCxnSpPr>
        <p:spPr>
          <a:xfrm>
            <a:off x="7086600" y="12192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5" name="Google Shape;715;p76"/>
          <p:cNvSpPr txBox="1"/>
          <p:nvPr/>
        </p:nvSpPr>
        <p:spPr>
          <a:xfrm>
            <a:off x="8458200" y="9906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716" name="Google Shape;716;p76"/>
          <p:cNvSpPr txBox="1"/>
          <p:nvPr/>
        </p:nvSpPr>
        <p:spPr>
          <a:xfrm>
            <a:off x="990600" y="20574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717" name="Google Shape;717;p76"/>
          <p:cNvSpPr/>
          <p:nvPr/>
        </p:nvSpPr>
        <p:spPr>
          <a:xfrm rot="4740000">
            <a:off x="1067593" y="22090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6"/>
          <p:cNvSpPr/>
          <p:nvPr/>
        </p:nvSpPr>
        <p:spPr>
          <a:xfrm rot="5880000">
            <a:off x="1068387" y="26654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p76"/>
          <p:cNvCxnSpPr/>
          <p:nvPr/>
        </p:nvCxnSpPr>
        <p:spPr>
          <a:xfrm>
            <a:off x="2743200" y="23622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0" name="Google Shape;720;p76"/>
          <p:cNvCxnSpPr/>
          <p:nvPr/>
        </p:nvCxnSpPr>
        <p:spPr>
          <a:xfrm>
            <a:off x="2590800" y="5715000"/>
            <a:ext cx="365760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721" name="Google Shape;721;p76"/>
          <p:cNvSpPr/>
          <p:nvPr/>
        </p:nvSpPr>
        <p:spPr>
          <a:xfrm>
            <a:off x="3870325" y="51847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76"/>
          <p:cNvSpPr/>
          <p:nvPr/>
        </p:nvSpPr>
        <p:spPr>
          <a:xfrm>
            <a:off x="2638425" y="40560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76"/>
          <p:cNvSpPr/>
          <p:nvPr/>
        </p:nvSpPr>
        <p:spPr>
          <a:xfrm>
            <a:off x="4492625" y="29670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76"/>
          <p:cNvSpPr/>
          <p:nvPr/>
        </p:nvSpPr>
        <p:spPr>
          <a:xfrm>
            <a:off x="4556125" y="37877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76"/>
          <p:cNvSpPr/>
          <p:nvPr/>
        </p:nvSpPr>
        <p:spPr>
          <a:xfrm>
            <a:off x="3562350" y="28162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76"/>
          <p:cNvSpPr/>
          <p:nvPr/>
        </p:nvSpPr>
        <p:spPr>
          <a:xfrm>
            <a:off x="4038600" y="38862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76"/>
          <p:cNvSpPr/>
          <p:nvPr/>
        </p:nvSpPr>
        <p:spPr>
          <a:xfrm>
            <a:off x="3200400" y="32766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76"/>
          <p:cNvSpPr/>
          <p:nvPr/>
        </p:nvSpPr>
        <p:spPr>
          <a:xfrm>
            <a:off x="5257800" y="42672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6"/>
          <p:cNvSpPr/>
          <p:nvPr/>
        </p:nvSpPr>
        <p:spPr>
          <a:xfrm rot="-1140000">
            <a:off x="4040187" y="45958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76"/>
          <p:cNvSpPr/>
          <p:nvPr/>
        </p:nvSpPr>
        <p:spPr>
          <a:xfrm rot="-1140000">
            <a:off x="6156325" y="33813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6"/>
          <p:cNvSpPr/>
          <p:nvPr/>
        </p:nvSpPr>
        <p:spPr>
          <a:xfrm rot="-1140000">
            <a:off x="5448300" y="46974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6"/>
          <p:cNvSpPr/>
          <p:nvPr/>
        </p:nvSpPr>
        <p:spPr>
          <a:xfrm rot="-1140000">
            <a:off x="3276600" y="28194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76"/>
          <p:cNvSpPr/>
          <p:nvPr/>
        </p:nvSpPr>
        <p:spPr>
          <a:xfrm rot="-1140000">
            <a:off x="4864100" y="3736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76"/>
          <p:cNvSpPr/>
          <p:nvPr/>
        </p:nvSpPr>
        <p:spPr>
          <a:xfrm rot="-1140000">
            <a:off x="6019800" y="46482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76"/>
          <p:cNvSpPr/>
          <p:nvPr/>
        </p:nvSpPr>
        <p:spPr>
          <a:xfrm rot="-1140000">
            <a:off x="3267075" y="37925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6"/>
          <p:cNvSpPr/>
          <p:nvPr/>
        </p:nvSpPr>
        <p:spPr>
          <a:xfrm rot="5880000">
            <a:off x="4019550" y="32099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6"/>
          <p:cNvSpPr/>
          <p:nvPr/>
        </p:nvSpPr>
        <p:spPr>
          <a:xfrm rot="5880000">
            <a:off x="4288631" y="53951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76"/>
          <p:cNvSpPr/>
          <p:nvPr/>
        </p:nvSpPr>
        <p:spPr>
          <a:xfrm rot="5880000">
            <a:off x="3267075" y="4251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76"/>
          <p:cNvSpPr/>
          <p:nvPr/>
        </p:nvSpPr>
        <p:spPr>
          <a:xfrm rot="5880000">
            <a:off x="4495800" y="25463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6"/>
          <p:cNvSpPr/>
          <p:nvPr/>
        </p:nvSpPr>
        <p:spPr>
          <a:xfrm rot="5880000">
            <a:off x="5457031" y="42965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6"/>
          <p:cNvSpPr/>
          <p:nvPr/>
        </p:nvSpPr>
        <p:spPr>
          <a:xfrm rot="5880000">
            <a:off x="4522787" y="42322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6"/>
          <p:cNvSpPr/>
          <p:nvPr/>
        </p:nvSpPr>
        <p:spPr>
          <a:xfrm rot="5880000">
            <a:off x="5772150" y="35179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76"/>
          <p:cNvSpPr/>
          <p:nvPr/>
        </p:nvSpPr>
        <p:spPr>
          <a:xfrm rot="5880000">
            <a:off x="3240087" y="24987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76"/>
          <p:cNvSpPr/>
          <p:nvPr/>
        </p:nvSpPr>
        <p:spPr>
          <a:xfrm rot="5880000">
            <a:off x="5413375" y="34258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76"/>
          <p:cNvSpPr/>
          <p:nvPr/>
        </p:nvSpPr>
        <p:spPr>
          <a:xfrm rot="5880000">
            <a:off x="5269706" y="48712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76"/>
          <p:cNvSpPr/>
          <p:nvPr/>
        </p:nvSpPr>
        <p:spPr>
          <a:xfrm rot="4740000">
            <a:off x="3650456" y="36869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76"/>
          <p:cNvSpPr/>
          <p:nvPr/>
        </p:nvSpPr>
        <p:spPr>
          <a:xfrm rot="4740000">
            <a:off x="4803775" y="54070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76"/>
          <p:cNvSpPr/>
          <p:nvPr/>
        </p:nvSpPr>
        <p:spPr>
          <a:xfrm rot="4740000">
            <a:off x="4498975" y="50260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76"/>
          <p:cNvSpPr/>
          <p:nvPr/>
        </p:nvSpPr>
        <p:spPr>
          <a:xfrm rot="4740000">
            <a:off x="2969418" y="38885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76"/>
          <p:cNvSpPr/>
          <p:nvPr/>
        </p:nvSpPr>
        <p:spPr>
          <a:xfrm rot="4740000">
            <a:off x="3865562" y="29289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76"/>
          <p:cNvSpPr/>
          <p:nvPr/>
        </p:nvSpPr>
        <p:spPr>
          <a:xfrm rot="4740000">
            <a:off x="4508500" y="45164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76"/>
          <p:cNvSpPr/>
          <p:nvPr/>
        </p:nvSpPr>
        <p:spPr>
          <a:xfrm rot="4740000">
            <a:off x="2656681" y="32345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76"/>
          <p:cNvSpPr/>
          <p:nvPr/>
        </p:nvSpPr>
        <p:spPr>
          <a:xfrm rot="4740000">
            <a:off x="4090193" y="52014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76"/>
          <p:cNvSpPr/>
          <p:nvPr/>
        </p:nvSpPr>
        <p:spPr>
          <a:xfrm rot="4740000">
            <a:off x="5456237" y="49085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76"/>
          <p:cNvSpPr txBox="1"/>
          <p:nvPr/>
        </p:nvSpPr>
        <p:spPr>
          <a:xfrm>
            <a:off x="5638800" y="18288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756" name="Google Shape;756;p76"/>
          <p:cNvSpPr txBox="1"/>
          <p:nvPr/>
        </p:nvSpPr>
        <p:spPr>
          <a:xfrm>
            <a:off x="6400800" y="33528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76"/>
          <p:cNvSpPr txBox="1"/>
          <p:nvPr/>
        </p:nvSpPr>
        <p:spPr>
          <a:xfrm>
            <a:off x="6553200" y="2438400"/>
            <a:ext cx="2743200" cy="301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 the </a:t>
            </a:r>
            <a:r>
              <a:rPr b="0" i="0" lang="en-US" sz="2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margin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 linear classifier as the width that the boundary could be increased by before hitting a datapoint.</a:t>
            </a:r>
            <a:endParaRPr/>
          </a:p>
        </p:txBody>
      </p:sp>
      <p:sp>
        <p:nvSpPr>
          <p:cNvPr id="758" name="Google Shape;758;p76"/>
          <p:cNvSpPr txBox="1"/>
          <p:nvPr/>
        </p:nvSpPr>
        <p:spPr>
          <a:xfrm>
            <a:off x="304800" y="4572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Classifier Margin</a:t>
            </a:r>
            <a:endParaRPr/>
          </a:p>
        </p:txBody>
      </p:sp>
      <p:sp>
        <p:nvSpPr>
          <p:cNvPr id="759" name="Google Shape;759;p76"/>
          <p:cNvSpPr txBox="1"/>
          <p:nvPr/>
        </p:nvSpPr>
        <p:spPr>
          <a:xfrm>
            <a:off x="5486400" y="9286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760" name="Google Shape;760;p76"/>
          <p:cNvCxnSpPr/>
          <p:nvPr/>
        </p:nvCxnSpPr>
        <p:spPr>
          <a:xfrm>
            <a:off x="4114800" y="12192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1" name="Google Shape;761;p76"/>
          <p:cNvSpPr txBox="1"/>
          <p:nvPr/>
        </p:nvSpPr>
        <p:spPr>
          <a:xfrm>
            <a:off x="3657600" y="9144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762" name="Google Shape;762;p76"/>
          <p:cNvCxnSpPr/>
          <p:nvPr/>
        </p:nvCxnSpPr>
        <p:spPr>
          <a:xfrm>
            <a:off x="6172200" y="5334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3" name="Google Shape;763;p76"/>
          <p:cNvSpPr txBox="1"/>
          <p:nvPr/>
        </p:nvSpPr>
        <p:spPr>
          <a:xfrm>
            <a:off x="5943600" y="15240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764" name="Google Shape;764;p76"/>
          <p:cNvCxnSpPr/>
          <p:nvPr/>
        </p:nvCxnSpPr>
        <p:spPr>
          <a:xfrm>
            <a:off x="7086600" y="12192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5" name="Google Shape;765;p76"/>
          <p:cNvSpPr txBox="1"/>
          <p:nvPr/>
        </p:nvSpPr>
        <p:spPr>
          <a:xfrm>
            <a:off x="8458200" y="9906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766" name="Google Shape;766;p76"/>
          <p:cNvSpPr txBox="1"/>
          <p:nvPr/>
        </p:nvSpPr>
        <p:spPr>
          <a:xfrm>
            <a:off x="990600" y="20574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767" name="Google Shape;767;p76"/>
          <p:cNvSpPr/>
          <p:nvPr/>
        </p:nvSpPr>
        <p:spPr>
          <a:xfrm rot="4740000">
            <a:off x="1067593" y="22090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76"/>
          <p:cNvSpPr/>
          <p:nvPr/>
        </p:nvSpPr>
        <p:spPr>
          <a:xfrm rot="5880000">
            <a:off x="1068387" y="26654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76"/>
          <p:cNvCxnSpPr/>
          <p:nvPr/>
        </p:nvCxnSpPr>
        <p:spPr>
          <a:xfrm>
            <a:off x="2743200" y="2362200"/>
            <a:ext cx="0" cy="3505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0" name="Google Shape;770;p76"/>
          <p:cNvCxnSpPr/>
          <p:nvPr/>
        </p:nvCxnSpPr>
        <p:spPr>
          <a:xfrm>
            <a:off x="2590800" y="5715000"/>
            <a:ext cx="36576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1" name="Google Shape;771;p76"/>
          <p:cNvSpPr/>
          <p:nvPr/>
        </p:nvSpPr>
        <p:spPr>
          <a:xfrm>
            <a:off x="3870325" y="51847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6"/>
          <p:cNvSpPr/>
          <p:nvPr/>
        </p:nvSpPr>
        <p:spPr>
          <a:xfrm>
            <a:off x="2638425" y="40560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6"/>
          <p:cNvSpPr/>
          <p:nvPr/>
        </p:nvSpPr>
        <p:spPr>
          <a:xfrm>
            <a:off x="4492625" y="29670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6"/>
          <p:cNvSpPr/>
          <p:nvPr/>
        </p:nvSpPr>
        <p:spPr>
          <a:xfrm>
            <a:off x="4556125" y="37877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6"/>
          <p:cNvSpPr/>
          <p:nvPr/>
        </p:nvSpPr>
        <p:spPr>
          <a:xfrm>
            <a:off x="3562350" y="28162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6"/>
          <p:cNvSpPr/>
          <p:nvPr/>
        </p:nvSpPr>
        <p:spPr>
          <a:xfrm>
            <a:off x="4038600" y="38862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6"/>
          <p:cNvSpPr/>
          <p:nvPr/>
        </p:nvSpPr>
        <p:spPr>
          <a:xfrm>
            <a:off x="3200400" y="32766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6"/>
          <p:cNvSpPr/>
          <p:nvPr/>
        </p:nvSpPr>
        <p:spPr>
          <a:xfrm>
            <a:off x="5257800" y="42672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76"/>
          <p:cNvSpPr/>
          <p:nvPr/>
        </p:nvSpPr>
        <p:spPr>
          <a:xfrm rot="-1140000">
            <a:off x="4040187" y="45958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6"/>
          <p:cNvSpPr/>
          <p:nvPr/>
        </p:nvSpPr>
        <p:spPr>
          <a:xfrm rot="-1140000">
            <a:off x="6156325" y="33813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76"/>
          <p:cNvSpPr/>
          <p:nvPr/>
        </p:nvSpPr>
        <p:spPr>
          <a:xfrm rot="-1140000">
            <a:off x="5448300" y="46974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/>
          <p:nvPr/>
        </p:nvSpPr>
        <p:spPr>
          <a:xfrm rot="-1140000">
            <a:off x="3276600" y="28194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6"/>
          <p:cNvSpPr/>
          <p:nvPr/>
        </p:nvSpPr>
        <p:spPr>
          <a:xfrm rot="-1140000">
            <a:off x="4864100" y="3736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6"/>
          <p:cNvSpPr/>
          <p:nvPr/>
        </p:nvSpPr>
        <p:spPr>
          <a:xfrm rot="-1140000">
            <a:off x="6019800" y="46482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6"/>
          <p:cNvSpPr/>
          <p:nvPr/>
        </p:nvSpPr>
        <p:spPr>
          <a:xfrm rot="-1140000">
            <a:off x="3267075" y="37925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6"/>
          <p:cNvSpPr/>
          <p:nvPr/>
        </p:nvSpPr>
        <p:spPr>
          <a:xfrm rot="5880000">
            <a:off x="4019550" y="32099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6"/>
          <p:cNvSpPr/>
          <p:nvPr/>
        </p:nvSpPr>
        <p:spPr>
          <a:xfrm rot="5880000">
            <a:off x="4288631" y="53951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6"/>
          <p:cNvSpPr/>
          <p:nvPr/>
        </p:nvSpPr>
        <p:spPr>
          <a:xfrm rot="5880000">
            <a:off x="3267075" y="4251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76"/>
          <p:cNvSpPr/>
          <p:nvPr/>
        </p:nvSpPr>
        <p:spPr>
          <a:xfrm rot="5880000">
            <a:off x="4495800" y="25463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76"/>
          <p:cNvSpPr/>
          <p:nvPr/>
        </p:nvSpPr>
        <p:spPr>
          <a:xfrm rot="5880000">
            <a:off x="5457031" y="42965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6"/>
          <p:cNvSpPr/>
          <p:nvPr/>
        </p:nvSpPr>
        <p:spPr>
          <a:xfrm rot="5880000">
            <a:off x="4522787" y="42322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76"/>
          <p:cNvSpPr/>
          <p:nvPr/>
        </p:nvSpPr>
        <p:spPr>
          <a:xfrm rot="5880000">
            <a:off x="5772150" y="35179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76"/>
          <p:cNvSpPr/>
          <p:nvPr/>
        </p:nvSpPr>
        <p:spPr>
          <a:xfrm rot="5880000">
            <a:off x="3240087" y="24987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6"/>
          <p:cNvSpPr/>
          <p:nvPr/>
        </p:nvSpPr>
        <p:spPr>
          <a:xfrm rot="5880000">
            <a:off x="5413375" y="34258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6"/>
          <p:cNvSpPr/>
          <p:nvPr/>
        </p:nvSpPr>
        <p:spPr>
          <a:xfrm rot="5880000">
            <a:off x="5269706" y="48712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6"/>
          <p:cNvSpPr/>
          <p:nvPr/>
        </p:nvSpPr>
        <p:spPr>
          <a:xfrm rot="4740000">
            <a:off x="3650456" y="36869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6"/>
          <p:cNvSpPr/>
          <p:nvPr/>
        </p:nvSpPr>
        <p:spPr>
          <a:xfrm rot="4740000">
            <a:off x="4803775" y="54070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76"/>
          <p:cNvSpPr/>
          <p:nvPr/>
        </p:nvSpPr>
        <p:spPr>
          <a:xfrm rot="4740000">
            <a:off x="4498975" y="50260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6"/>
          <p:cNvSpPr/>
          <p:nvPr/>
        </p:nvSpPr>
        <p:spPr>
          <a:xfrm rot="4740000">
            <a:off x="2969418" y="38885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76"/>
          <p:cNvSpPr/>
          <p:nvPr/>
        </p:nvSpPr>
        <p:spPr>
          <a:xfrm rot="4740000">
            <a:off x="3865562" y="29289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6"/>
          <p:cNvSpPr/>
          <p:nvPr/>
        </p:nvSpPr>
        <p:spPr>
          <a:xfrm rot="4740000">
            <a:off x="4508500" y="45164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6"/>
          <p:cNvSpPr/>
          <p:nvPr/>
        </p:nvSpPr>
        <p:spPr>
          <a:xfrm rot="4740000">
            <a:off x="2656681" y="32345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76"/>
          <p:cNvSpPr/>
          <p:nvPr/>
        </p:nvSpPr>
        <p:spPr>
          <a:xfrm rot="4740000">
            <a:off x="4090193" y="52014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76"/>
          <p:cNvSpPr/>
          <p:nvPr/>
        </p:nvSpPr>
        <p:spPr>
          <a:xfrm rot="4740000">
            <a:off x="5456237" y="49085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6"/>
          <p:cNvSpPr txBox="1"/>
          <p:nvPr/>
        </p:nvSpPr>
        <p:spPr>
          <a:xfrm>
            <a:off x="5638800" y="18288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806" name="Google Shape;806;p76"/>
          <p:cNvSpPr txBox="1"/>
          <p:nvPr/>
        </p:nvSpPr>
        <p:spPr>
          <a:xfrm>
            <a:off x="6400800" y="33528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6"/>
          <p:cNvSpPr txBox="1"/>
          <p:nvPr/>
        </p:nvSpPr>
        <p:spPr>
          <a:xfrm>
            <a:off x="6553200" y="2438400"/>
            <a:ext cx="2743200" cy="301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 the </a:t>
            </a:r>
            <a:r>
              <a:rPr b="0" i="0" lang="en-US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margin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 linear classifier as the width that the boundary could be increased by before hitting a datapoint.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2" name="Google Shape;812;p77"/>
          <p:cNvCxnSpPr/>
          <p:nvPr/>
        </p:nvCxnSpPr>
        <p:spPr>
          <a:xfrm rot="-3480000">
            <a:off x="1239837" y="4076700"/>
            <a:ext cx="5410200" cy="0"/>
          </a:xfrm>
          <a:prstGeom prst="straightConnector1">
            <a:avLst/>
          </a:prstGeom>
          <a:noFill/>
          <a:ln cap="flat" cmpd="sng" w="3619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3" name="Google Shape;813;p77"/>
          <p:cNvCxnSpPr/>
          <p:nvPr/>
        </p:nvCxnSpPr>
        <p:spPr>
          <a:xfrm rot="-3480000">
            <a:off x="1163637" y="4076700"/>
            <a:ext cx="5562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14" name="Google Shape;814;p77"/>
          <p:cNvSpPr txBox="1"/>
          <p:nvPr/>
        </p:nvSpPr>
        <p:spPr>
          <a:xfrm>
            <a:off x="457200" y="3048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Maximum Margin</a:t>
            </a:r>
            <a:endParaRPr/>
          </a:p>
        </p:txBody>
      </p:sp>
      <p:sp>
        <p:nvSpPr>
          <p:cNvPr id="815" name="Google Shape;815;p77"/>
          <p:cNvSpPr txBox="1"/>
          <p:nvPr/>
        </p:nvSpPr>
        <p:spPr>
          <a:xfrm>
            <a:off x="5334000" y="776287"/>
            <a:ext cx="1600200" cy="65405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1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</a:t>
            </a:r>
            <a:endParaRPr/>
          </a:p>
        </p:txBody>
      </p:sp>
      <p:cxnSp>
        <p:nvCxnSpPr>
          <p:cNvPr id="816" name="Google Shape;816;p77"/>
          <p:cNvCxnSpPr/>
          <p:nvPr/>
        </p:nvCxnSpPr>
        <p:spPr>
          <a:xfrm>
            <a:off x="39624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17" name="Google Shape;817;p77"/>
          <p:cNvSpPr txBox="1"/>
          <p:nvPr/>
        </p:nvSpPr>
        <p:spPr>
          <a:xfrm>
            <a:off x="3505200" y="762000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/>
          </a:p>
        </p:txBody>
      </p:sp>
      <p:cxnSp>
        <p:nvCxnSpPr>
          <p:cNvPr id="818" name="Google Shape;818;p77"/>
          <p:cNvCxnSpPr/>
          <p:nvPr/>
        </p:nvCxnSpPr>
        <p:spPr>
          <a:xfrm>
            <a:off x="6019800" y="381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19" name="Google Shape;819;p77"/>
          <p:cNvSpPr txBox="1"/>
          <p:nvPr/>
        </p:nvSpPr>
        <p:spPr>
          <a:xfrm>
            <a:off x="5791200" y="0"/>
            <a:ext cx="381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820" name="Google Shape;820;p77"/>
          <p:cNvCxnSpPr/>
          <p:nvPr/>
        </p:nvCxnSpPr>
        <p:spPr>
          <a:xfrm>
            <a:off x="6934200" y="10668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21" name="Google Shape;821;p77"/>
          <p:cNvSpPr txBox="1"/>
          <p:nvPr/>
        </p:nvSpPr>
        <p:spPr>
          <a:xfrm>
            <a:off x="8305800" y="838200"/>
            <a:ext cx="838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baseline="3000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</a:t>
            </a:r>
            <a:endParaRPr/>
          </a:p>
        </p:txBody>
      </p:sp>
      <p:sp>
        <p:nvSpPr>
          <p:cNvPr id="822" name="Google Shape;822;p77"/>
          <p:cNvSpPr txBox="1"/>
          <p:nvPr/>
        </p:nvSpPr>
        <p:spPr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denotes -1</a:t>
            </a:r>
            <a:endParaRPr/>
          </a:p>
        </p:txBody>
      </p:sp>
      <p:sp>
        <p:nvSpPr>
          <p:cNvPr id="823" name="Google Shape;823;p77"/>
          <p:cNvSpPr/>
          <p:nvPr/>
        </p:nvSpPr>
        <p:spPr>
          <a:xfrm rot="4740000">
            <a:off x="915193" y="2056606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7"/>
          <p:cNvSpPr/>
          <p:nvPr/>
        </p:nvSpPr>
        <p:spPr>
          <a:xfrm rot="5880000">
            <a:off x="915987" y="2513012"/>
            <a:ext cx="50800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77"/>
          <p:cNvCxnSpPr/>
          <p:nvPr/>
        </p:nvCxnSpPr>
        <p:spPr>
          <a:xfrm>
            <a:off x="2590800" y="2209800"/>
            <a:ext cx="0" cy="3505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6" name="Google Shape;826;p77"/>
          <p:cNvCxnSpPr/>
          <p:nvPr/>
        </p:nvCxnSpPr>
        <p:spPr>
          <a:xfrm>
            <a:off x="2438400" y="5562600"/>
            <a:ext cx="36576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7" name="Google Shape;827;p77"/>
          <p:cNvSpPr/>
          <p:nvPr/>
        </p:nvSpPr>
        <p:spPr>
          <a:xfrm>
            <a:off x="3717925" y="5032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7"/>
          <p:cNvSpPr/>
          <p:nvPr/>
        </p:nvSpPr>
        <p:spPr>
          <a:xfrm>
            <a:off x="2486025" y="3903662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77"/>
          <p:cNvSpPr/>
          <p:nvPr/>
        </p:nvSpPr>
        <p:spPr>
          <a:xfrm>
            <a:off x="4340225" y="28146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77"/>
          <p:cNvSpPr/>
          <p:nvPr/>
        </p:nvSpPr>
        <p:spPr>
          <a:xfrm>
            <a:off x="4403725" y="3635375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7"/>
          <p:cNvSpPr/>
          <p:nvPr/>
        </p:nvSpPr>
        <p:spPr>
          <a:xfrm>
            <a:off x="3409950" y="2663825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77"/>
          <p:cNvSpPr/>
          <p:nvPr/>
        </p:nvSpPr>
        <p:spPr>
          <a:xfrm>
            <a:off x="3886200" y="3733800"/>
            <a:ext cx="5397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77"/>
          <p:cNvSpPr/>
          <p:nvPr/>
        </p:nvSpPr>
        <p:spPr>
          <a:xfrm>
            <a:off x="3048000" y="3124200"/>
            <a:ext cx="60325" cy="587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77"/>
          <p:cNvSpPr/>
          <p:nvPr/>
        </p:nvSpPr>
        <p:spPr>
          <a:xfrm>
            <a:off x="5105400" y="4114800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77"/>
          <p:cNvSpPr/>
          <p:nvPr/>
        </p:nvSpPr>
        <p:spPr>
          <a:xfrm rot="-1140000">
            <a:off x="3887787" y="4443412"/>
            <a:ext cx="5397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77"/>
          <p:cNvSpPr/>
          <p:nvPr/>
        </p:nvSpPr>
        <p:spPr>
          <a:xfrm rot="-1140000">
            <a:off x="6003925" y="32289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7"/>
          <p:cNvSpPr/>
          <p:nvPr/>
        </p:nvSpPr>
        <p:spPr>
          <a:xfrm rot="-1140000">
            <a:off x="5295900" y="4545012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77"/>
          <p:cNvSpPr/>
          <p:nvPr/>
        </p:nvSpPr>
        <p:spPr>
          <a:xfrm rot="-1140000">
            <a:off x="3124200" y="2667000"/>
            <a:ext cx="60325" cy="50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77"/>
          <p:cNvSpPr/>
          <p:nvPr/>
        </p:nvSpPr>
        <p:spPr>
          <a:xfrm rot="-1140000">
            <a:off x="4711700" y="3584575"/>
            <a:ext cx="60325" cy="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77"/>
          <p:cNvSpPr/>
          <p:nvPr/>
        </p:nvSpPr>
        <p:spPr>
          <a:xfrm rot="-1140000">
            <a:off x="5867400" y="4495800"/>
            <a:ext cx="60325" cy="47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77"/>
          <p:cNvSpPr/>
          <p:nvPr/>
        </p:nvSpPr>
        <p:spPr>
          <a:xfrm rot="-1140000">
            <a:off x="3114675" y="3640137"/>
            <a:ext cx="60325" cy="476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77"/>
          <p:cNvSpPr/>
          <p:nvPr/>
        </p:nvSpPr>
        <p:spPr>
          <a:xfrm rot="5880000">
            <a:off x="3867150" y="3057525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77"/>
          <p:cNvSpPr/>
          <p:nvPr/>
        </p:nvSpPr>
        <p:spPr>
          <a:xfrm rot="5880000">
            <a:off x="4136231" y="5242718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77"/>
          <p:cNvSpPr/>
          <p:nvPr/>
        </p:nvSpPr>
        <p:spPr>
          <a:xfrm rot="5880000">
            <a:off x="3114675" y="40989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7"/>
          <p:cNvSpPr/>
          <p:nvPr/>
        </p:nvSpPr>
        <p:spPr>
          <a:xfrm rot="5880000">
            <a:off x="4343400" y="2393950"/>
            <a:ext cx="47625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7"/>
          <p:cNvSpPr/>
          <p:nvPr/>
        </p:nvSpPr>
        <p:spPr>
          <a:xfrm rot="5880000">
            <a:off x="5304631" y="4144168"/>
            <a:ext cx="58737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7"/>
          <p:cNvSpPr/>
          <p:nvPr/>
        </p:nvSpPr>
        <p:spPr>
          <a:xfrm rot="5880000">
            <a:off x="4370387" y="407987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77"/>
          <p:cNvSpPr/>
          <p:nvPr/>
        </p:nvSpPr>
        <p:spPr>
          <a:xfrm rot="5880000">
            <a:off x="5619750" y="3365500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77"/>
          <p:cNvSpPr/>
          <p:nvPr/>
        </p:nvSpPr>
        <p:spPr>
          <a:xfrm rot="5880000">
            <a:off x="3087687" y="2346325"/>
            <a:ext cx="47625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77"/>
          <p:cNvSpPr/>
          <p:nvPr/>
        </p:nvSpPr>
        <p:spPr>
          <a:xfrm rot="5880000">
            <a:off x="5260975" y="32734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77"/>
          <p:cNvSpPr/>
          <p:nvPr/>
        </p:nvSpPr>
        <p:spPr>
          <a:xfrm rot="5880000">
            <a:off x="5117306" y="4718843"/>
            <a:ext cx="58737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77"/>
          <p:cNvSpPr/>
          <p:nvPr/>
        </p:nvSpPr>
        <p:spPr>
          <a:xfrm rot="4740000">
            <a:off x="3498056" y="3534568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77"/>
          <p:cNvSpPr/>
          <p:nvPr/>
        </p:nvSpPr>
        <p:spPr>
          <a:xfrm rot="4740000">
            <a:off x="4651375" y="5254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77"/>
          <p:cNvSpPr/>
          <p:nvPr/>
        </p:nvSpPr>
        <p:spPr>
          <a:xfrm rot="4740000">
            <a:off x="4346575" y="4873625"/>
            <a:ext cx="47625" cy="5397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7"/>
          <p:cNvSpPr/>
          <p:nvPr/>
        </p:nvSpPr>
        <p:spPr>
          <a:xfrm rot="4740000">
            <a:off x="2817018" y="3736181"/>
            <a:ext cx="58737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77"/>
          <p:cNvSpPr/>
          <p:nvPr/>
        </p:nvSpPr>
        <p:spPr>
          <a:xfrm rot="4740000">
            <a:off x="3713162" y="2776537"/>
            <a:ext cx="50800" cy="5397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77"/>
          <p:cNvSpPr/>
          <p:nvPr/>
        </p:nvSpPr>
        <p:spPr>
          <a:xfrm rot="4740000">
            <a:off x="4356100" y="4364037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77"/>
          <p:cNvSpPr/>
          <p:nvPr/>
        </p:nvSpPr>
        <p:spPr>
          <a:xfrm rot="4740000">
            <a:off x="2504281" y="3082131"/>
            <a:ext cx="58737" cy="603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77"/>
          <p:cNvSpPr/>
          <p:nvPr/>
        </p:nvSpPr>
        <p:spPr>
          <a:xfrm rot="4740000">
            <a:off x="3937793" y="5049043"/>
            <a:ext cx="55562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7"/>
          <p:cNvSpPr/>
          <p:nvPr/>
        </p:nvSpPr>
        <p:spPr>
          <a:xfrm rot="4740000">
            <a:off x="5303837" y="4756150"/>
            <a:ext cx="50800" cy="603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77"/>
          <p:cNvSpPr txBox="1"/>
          <p:nvPr/>
        </p:nvSpPr>
        <p:spPr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,b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sign(</a:t>
            </a:r>
            <a:r>
              <a:rPr b="1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b="1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862" name="Google Shape;862;p77"/>
          <p:cNvSpPr txBox="1"/>
          <p:nvPr/>
        </p:nvSpPr>
        <p:spPr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77"/>
          <p:cNvSpPr txBox="1"/>
          <p:nvPr/>
        </p:nvSpPr>
        <p:spPr>
          <a:xfrm>
            <a:off x="6400800" y="2286000"/>
            <a:ext cx="2743200" cy="3925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2400" u="non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maximum margin linear classifier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the linear classifier with the, um, maximum margin.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the simplest kind of SVM (Called an LSVM)</a:t>
            </a:r>
            <a:endParaRPr/>
          </a:p>
        </p:txBody>
      </p:sp>
      <p:sp>
        <p:nvSpPr>
          <p:cNvPr id="864" name="Google Shape;864;p77"/>
          <p:cNvSpPr/>
          <p:nvPr/>
        </p:nvSpPr>
        <p:spPr>
          <a:xfrm>
            <a:off x="4441825" y="6097587"/>
            <a:ext cx="1758950" cy="381000"/>
          </a:xfrm>
          <a:prstGeom prst="wedgeRectCallout">
            <a:avLst>
              <a:gd fmla="val 24778" name="adj1"/>
              <a:gd fmla="val -7830" name="adj2"/>
            </a:avLst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Linear SVM</a:t>
            </a:r>
            <a:endParaRPr/>
          </a:p>
        </p:txBody>
      </p:sp>
      <p:sp>
        <p:nvSpPr>
          <p:cNvPr id="865" name="Google Shape;865;p77"/>
          <p:cNvSpPr txBox="1"/>
          <p:nvPr/>
        </p:nvSpPr>
        <p:spPr>
          <a:xfrm>
            <a:off x="173037" y="3675062"/>
            <a:ext cx="21209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Support Vectors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those datapoints that the margin pushes up against</a:t>
            </a:r>
            <a:endParaRPr/>
          </a:p>
        </p:txBody>
      </p:sp>
      <p:sp>
        <p:nvSpPr>
          <p:cNvPr id="866" name="Google Shape;866;p77"/>
          <p:cNvSpPr/>
          <p:nvPr/>
        </p:nvSpPr>
        <p:spPr>
          <a:xfrm>
            <a:off x="2112962" y="3725862"/>
            <a:ext cx="1708150" cy="155575"/>
          </a:xfrm>
          <a:custGeom>
            <a:rect b="b" l="l" r="r" t="t"/>
            <a:pathLst>
              <a:path extrusionOk="0" h="98" w="1076">
                <a:moveTo>
                  <a:pt x="0" y="98"/>
                </a:moveTo>
                <a:cubicBezTo>
                  <a:pt x="38" y="87"/>
                  <a:pt x="66" y="53"/>
                  <a:pt x="104" y="39"/>
                </a:cubicBezTo>
                <a:cubicBezTo>
                  <a:pt x="132" y="9"/>
                  <a:pt x="172" y="6"/>
                  <a:pt x="212" y="0"/>
                </a:cubicBezTo>
                <a:cubicBezTo>
                  <a:pt x="262" y="3"/>
                  <a:pt x="286" y="0"/>
                  <a:pt x="326" y="11"/>
                </a:cubicBezTo>
                <a:lnTo>
                  <a:pt x="386" y="39"/>
                </a:lnTo>
                <a:cubicBezTo>
                  <a:pt x="386" y="39"/>
                  <a:pt x="386" y="39"/>
                  <a:pt x="386" y="39"/>
                </a:cubicBezTo>
                <a:cubicBezTo>
                  <a:pt x="428" y="52"/>
                  <a:pt x="469" y="69"/>
                  <a:pt x="511" y="82"/>
                </a:cubicBezTo>
                <a:cubicBezTo>
                  <a:pt x="670" y="74"/>
                  <a:pt x="829" y="60"/>
                  <a:pt x="989" y="55"/>
                </a:cubicBezTo>
                <a:cubicBezTo>
                  <a:pt x="1017" y="51"/>
                  <a:pt x="1048" y="44"/>
                  <a:pt x="1076" y="44"/>
                </a:cubicBez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77"/>
          <p:cNvSpPr/>
          <p:nvPr/>
        </p:nvSpPr>
        <p:spPr>
          <a:xfrm>
            <a:off x="2079625" y="3317875"/>
            <a:ext cx="2293937" cy="485775"/>
          </a:xfrm>
          <a:custGeom>
            <a:rect b="b" l="l" r="r" t="t"/>
            <a:pathLst>
              <a:path extrusionOk="0" h="306" w="1445">
                <a:moveTo>
                  <a:pt x="0" y="306"/>
                </a:moveTo>
                <a:cubicBezTo>
                  <a:pt x="5" y="304"/>
                  <a:pt x="12" y="305"/>
                  <a:pt x="16" y="301"/>
                </a:cubicBezTo>
                <a:cubicBezTo>
                  <a:pt x="24" y="293"/>
                  <a:pt x="21" y="278"/>
                  <a:pt x="27" y="268"/>
                </a:cubicBezTo>
                <a:cubicBezTo>
                  <a:pt x="33" y="257"/>
                  <a:pt x="41" y="247"/>
                  <a:pt x="48" y="236"/>
                </a:cubicBezTo>
                <a:cubicBezTo>
                  <a:pt x="58" y="221"/>
                  <a:pt x="117" y="177"/>
                  <a:pt x="125" y="171"/>
                </a:cubicBezTo>
                <a:cubicBezTo>
                  <a:pt x="159" y="146"/>
                  <a:pt x="186" y="117"/>
                  <a:pt x="228" y="105"/>
                </a:cubicBezTo>
                <a:cubicBezTo>
                  <a:pt x="249" y="91"/>
                  <a:pt x="273" y="79"/>
                  <a:pt x="298" y="73"/>
                </a:cubicBezTo>
                <a:cubicBezTo>
                  <a:pt x="394" y="11"/>
                  <a:pt x="526" y="10"/>
                  <a:pt x="635" y="2"/>
                </a:cubicBezTo>
                <a:cubicBezTo>
                  <a:pt x="773" y="5"/>
                  <a:pt x="907" y="0"/>
                  <a:pt x="1043" y="18"/>
                </a:cubicBezTo>
                <a:cubicBezTo>
                  <a:pt x="1068" y="27"/>
                  <a:pt x="1093" y="34"/>
                  <a:pt x="1119" y="40"/>
                </a:cubicBezTo>
                <a:cubicBezTo>
                  <a:pt x="1150" y="63"/>
                  <a:pt x="1183" y="68"/>
                  <a:pt x="1217" y="84"/>
                </a:cubicBezTo>
                <a:cubicBezTo>
                  <a:pt x="1257" y="104"/>
                  <a:pt x="1293" y="119"/>
                  <a:pt x="1336" y="132"/>
                </a:cubicBezTo>
                <a:cubicBezTo>
                  <a:pt x="1370" y="142"/>
                  <a:pt x="1410" y="165"/>
                  <a:pt x="1445" y="165"/>
                </a:cubicBez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77"/>
          <p:cNvSpPr/>
          <p:nvPr/>
        </p:nvSpPr>
        <p:spPr>
          <a:xfrm>
            <a:off x="2105025" y="3994150"/>
            <a:ext cx="1733550" cy="449262"/>
          </a:xfrm>
          <a:custGeom>
            <a:rect b="b" l="l" r="r" t="t"/>
            <a:pathLst>
              <a:path extrusionOk="0" h="283" w="1092">
                <a:moveTo>
                  <a:pt x="0" y="0"/>
                </a:moveTo>
                <a:cubicBezTo>
                  <a:pt x="47" y="9"/>
                  <a:pt x="84" y="40"/>
                  <a:pt x="130" y="54"/>
                </a:cubicBezTo>
                <a:cubicBezTo>
                  <a:pt x="184" y="96"/>
                  <a:pt x="261" y="129"/>
                  <a:pt x="326" y="147"/>
                </a:cubicBezTo>
                <a:cubicBezTo>
                  <a:pt x="348" y="162"/>
                  <a:pt x="373" y="163"/>
                  <a:pt x="397" y="174"/>
                </a:cubicBezTo>
                <a:cubicBezTo>
                  <a:pt x="439" y="193"/>
                  <a:pt x="481" y="209"/>
                  <a:pt x="527" y="217"/>
                </a:cubicBezTo>
                <a:cubicBezTo>
                  <a:pt x="704" y="283"/>
                  <a:pt x="907" y="272"/>
                  <a:pt x="1092" y="272"/>
                </a:cubicBez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77"/>
          <p:cNvSpPr/>
          <p:nvPr/>
        </p:nvSpPr>
        <p:spPr>
          <a:xfrm>
            <a:off x="4341812" y="3579812"/>
            <a:ext cx="152400" cy="152400"/>
          </a:xfrm>
          <a:prstGeom prst="ellipse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77"/>
          <p:cNvSpPr/>
          <p:nvPr/>
        </p:nvSpPr>
        <p:spPr>
          <a:xfrm>
            <a:off x="3844925" y="3689350"/>
            <a:ext cx="152400" cy="152400"/>
          </a:xfrm>
          <a:prstGeom prst="ellipse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77"/>
          <p:cNvSpPr/>
          <p:nvPr/>
        </p:nvSpPr>
        <p:spPr>
          <a:xfrm>
            <a:off x="3833812" y="4384675"/>
            <a:ext cx="152400" cy="152400"/>
          </a:xfrm>
          <a:prstGeom prst="ellipse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77"/>
          <p:cNvSpPr txBox="1"/>
          <p:nvPr/>
        </p:nvSpPr>
        <p:spPr>
          <a:xfrm>
            <a:off x="4044950" y="1276350"/>
            <a:ext cx="4968875" cy="2162175"/>
          </a:xfrm>
          <a:prstGeom prst="rect">
            <a:avLst/>
          </a:prstGeom>
          <a:solidFill>
            <a:srgbClr val="CCFFCC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Maximizing the margin is good according to intuition and PAC theory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Implies that only support vectors are important; other training examples are ignorable.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Empirically it works very very well.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8"/>
          <p:cNvSpPr txBox="1"/>
          <p:nvPr>
            <p:ph type="title"/>
          </p:nvPr>
        </p:nvSpPr>
        <p:spPr>
          <a:xfrm>
            <a:off x="914400" y="28575"/>
            <a:ext cx="8029575" cy="11922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Decision Boundary: Margin Should Be Large</a:t>
            </a:r>
            <a:endParaRPr/>
          </a:p>
        </p:txBody>
      </p:sp>
      <p:sp>
        <p:nvSpPr>
          <p:cNvPr id="879" name="Google Shape;879;p78"/>
          <p:cNvSpPr txBox="1"/>
          <p:nvPr>
            <p:ph idx="1" type="body"/>
          </p:nvPr>
        </p:nvSpPr>
        <p:spPr>
          <a:xfrm>
            <a:off x="990600" y="19812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decision boundary should be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far away from the data of both classes as possible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should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maximize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margin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cxnSp>
        <p:nvCxnSpPr>
          <p:cNvPr id="880" name="Google Shape;880;p78"/>
          <p:cNvCxnSpPr/>
          <p:nvPr/>
        </p:nvCxnSpPr>
        <p:spPr>
          <a:xfrm flipH="1" rot="10800000">
            <a:off x="685800" y="2741612"/>
            <a:ext cx="1587" cy="3203575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81" name="Google Shape;881;p78"/>
          <p:cNvCxnSpPr/>
          <p:nvPr/>
        </p:nvCxnSpPr>
        <p:spPr>
          <a:xfrm>
            <a:off x="685800" y="5943600"/>
            <a:ext cx="3048000" cy="1587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82" name="Google Shape;882;p78"/>
          <p:cNvSpPr/>
          <p:nvPr/>
        </p:nvSpPr>
        <p:spPr>
          <a:xfrm>
            <a:off x="2743200" y="3352800"/>
            <a:ext cx="152400" cy="1524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8"/>
          <p:cNvSpPr/>
          <p:nvPr/>
        </p:nvSpPr>
        <p:spPr>
          <a:xfrm>
            <a:off x="2971800" y="3962400"/>
            <a:ext cx="152400" cy="1524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78"/>
          <p:cNvSpPr/>
          <p:nvPr/>
        </p:nvSpPr>
        <p:spPr>
          <a:xfrm>
            <a:off x="3810000" y="4191000"/>
            <a:ext cx="152400" cy="1524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78"/>
          <p:cNvSpPr/>
          <p:nvPr/>
        </p:nvSpPr>
        <p:spPr>
          <a:xfrm>
            <a:off x="2286000" y="3505200"/>
            <a:ext cx="152400" cy="1524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78"/>
          <p:cNvSpPr/>
          <p:nvPr/>
        </p:nvSpPr>
        <p:spPr>
          <a:xfrm>
            <a:off x="3276600" y="4495800"/>
            <a:ext cx="152400" cy="1524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8"/>
          <p:cNvSpPr/>
          <p:nvPr/>
        </p:nvSpPr>
        <p:spPr>
          <a:xfrm>
            <a:off x="990600" y="44196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78"/>
          <p:cNvSpPr/>
          <p:nvPr/>
        </p:nvSpPr>
        <p:spPr>
          <a:xfrm>
            <a:off x="2209800" y="48768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78"/>
          <p:cNvSpPr/>
          <p:nvPr/>
        </p:nvSpPr>
        <p:spPr>
          <a:xfrm>
            <a:off x="2057400" y="53340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78"/>
          <p:cNvSpPr/>
          <p:nvPr/>
        </p:nvSpPr>
        <p:spPr>
          <a:xfrm>
            <a:off x="1447800" y="48768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78"/>
          <p:cNvSpPr/>
          <p:nvPr/>
        </p:nvSpPr>
        <p:spPr>
          <a:xfrm>
            <a:off x="1143000" y="52578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78"/>
          <p:cNvSpPr/>
          <p:nvPr/>
        </p:nvSpPr>
        <p:spPr>
          <a:xfrm>
            <a:off x="1295400" y="4114800"/>
            <a:ext cx="152400" cy="152400"/>
          </a:xfrm>
          <a:prstGeom prst="roundRect">
            <a:avLst>
              <a:gd fmla="val 225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78"/>
          <p:cNvSpPr/>
          <p:nvPr/>
        </p:nvSpPr>
        <p:spPr>
          <a:xfrm>
            <a:off x="990600" y="5459412"/>
            <a:ext cx="971550" cy="396875"/>
          </a:xfrm>
          <a:prstGeom prst="roundRect">
            <a:avLst>
              <a:gd fmla="val 86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1</a:t>
            </a:r>
            <a:endParaRPr/>
          </a:p>
        </p:txBody>
      </p:sp>
      <p:sp>
        <p:nvSpPr>
          <p:cNvPr id="894" name="Google Shape;894;p78"/>
          <p:cNvSpPr/>
          <p:nvPr/>
        </p:nvSpPr>
        <p:spPr>
          <a:xfrm>
            <a:off x="3429000" y="4267200"/>
            <a:ext cx="971550" cy="396875"/>
          </a:xfrm>
          <a:prstGeom prst="roundRect">
            <a:avLst>
              <a:gd fmla="val 86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2</a:t>
            </a:r>
            <a:endParaRPr/>
          </a:p>
        </p:txBody>
      </p:sp>
      <p:cxnSp>
        <p:nvCxnSpPr>
          <p:cNvPr id="895" name="Google Shape;895;p78"/>
          <p:cNvCxnSpPr/>
          <p:nvPr/>
        </p:nvCxnSpPr>
        <p:spPr>
          <a:xfrm>
            <a:off x="1752600" y="2971800"/>
            <a:ext cx="2514600" cy="2514600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6" name="Google Shape;896;p78"/>
          <p:cNvCxnSpPr/>
          <p:nvPr/>
        </p:nvCxnSpPr>
        <p:spPr>
          <a:xfrm>
            <a:off x="762000" y="3352800"/>
            <a:ext cx="2971800" cy="2971800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7" name="Google Shape;897;p78"/>
          <p:cNvCxnSpPr/>
          <p:nvPr/>
        </p:nvCxnSpPr>
        <p:spPr>
          <a:xfrm>
            <a:off x="762000" y="2667000"/>
            <a:ext cx="3886200" cy="3886200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898" name="Google Shape;89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6019800"/>
            <a:ext cx="2057400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876800"/>
            <a:ext cx="2039937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6096000"/>
            <a:ext cx="2308225" cy="38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78"/>
          <p:cNvCxnSpPr/>
          <p:nvPr/>
        </p:nvCxnSpPr>
        <p:spPr>
          <a:xfrm flipH="1">
            <a:off x="3198812" y="5133975"/>
            <a:ext cx="727075" cy="733425"/>
          </a:xfrm>
          <a:prstGeom prst="straightConnector1">
            <a:avLst/>
          </a:prstGeom>
          <a:noFill/>
          <a:ln cap="flat" cmpd="sng" w="25550">
            <a:solidFill>
              <a:srgbClr val="FF00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id="902" name="Google Shape;902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2590800"/>
            <a:ext cx="11430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8"/>
          <p:cNvSpPr/>
          <p:nvPr/>
        </p:nvSpPr>
        <p:spPr>
          <a:xfrm>
            <a:off x="3124200" y="5257800"/>
            <a:ext cx="439737" cy="457200"/>
          </a:xfrm>
          <a:prstGeom prst="roundRect">
            <a:avLst>
              <a:gd fmla="val 7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CC"/>
              </a:buClr>
              <a:buSzPts val="2400"/>
              <a:buFont typeface="Tahoma"/>
              <a:buNone/>
            </a:pPr>
            <a:r>
              <a:rPr b="0" i="1" lang="en-US" sz="2400" u="none">
                <a:solidFill>
                  <a:srgbClr val="CC00CC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/>
          </a:p>
        </p:txBody>
      </p:sp>
      <p:cxnSp>
        <p:nvCxnSpPr>
          <p:cNvPr id="904" name="Google Shape;904;p78"/>
          <p:cNvCxnSpPr/>
          <p:nvPr/>
        </p:nvCxnSpPr>
        <p:spPr>
          <a:xfrm flipH="1" rot="10800000">
            <a:off x="1905000" y="3351212"/>
            <a:ext cx="1600200" cy="1679575"/>
          </a:xfrm>
          <a:prstGeom prst="straightConnector1">
            <a:avLst/>
          </a:prstGeom>
          <a:noFill/>
          <a:ln cap="flat" cmpd="sng" w="25550">
            <a:solidFill>
              <a:srgbClr val="993366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905" name="Google Shape;905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200400"/>
            <a:ext cx="284162" cy="1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3733800"/>
            <a:ext cx="21431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7" name="Google Shape;907;p78"/>
          <p:cNvCxnSpPr/>
          <p:nvPr/>
        </p:nvCxnSpPr>
        <p:spPr>
          <a:xfrm flipH="1" rot="10800000">
            <a:off x="3352800" y="3657600"/>
            <a:ext cx="533400" cy="838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08" name="Google Shape;908;p78"/>
          <p:cNvCxnSpPr/>
          <p:nvPr/>
        </p:nvCxnSpPr>
        <p:spPr>
          <a:xfrm flipH="1" rot="10800000">
            <a:off x="2286000" y="3505200"/>
            <a:ext cx="1524000" cy="137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09" name="Google Shape;909;p78"/>
          <p:cNvSpPr txBox="1"/>
          <p:nvPr/>
        </p:nvSpPr>
        <p:spPr>
          <a:xfrm>
            <a:off x="3733800" y="3124200"/>
            <a:ext cx="2317750" cy="8350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datapoints that the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pushes up against</a:t>
            </a:r>
            <a:endParaRPr/>
          </a:p>
        </p:txBody>
      </p:sp>
      <p:sp>
        <p:nvSpPr>
          <p:cNvPr id="910" name="Google Shape;910;p78"/>
          <p:cNvSpPr txBox="1"/>
          <p:nvPr/>
        </p:nvSpPr>
        <p:spPr>
          <a:xfrm>
            <a:off x="6324600" y="4800600"/>
            <a:ext cx="45720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margin linear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b="0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classifier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maximum margin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simplest kind 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(Called an </a:t>
            </a:r>
            <a:r>
              <a:rPr b="0" i="0" lang="en-US" sz="1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SVM</a:t>
            </a: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pic>
        <p:nvPicPr>
          <p:cNvPr id="911" name="Google Shape;911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1200" y="2514600"/>
            <a:ext cx="990600" cy="60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9"/>
          <p:cNvSpPr txBox="1"/>
          <p:nvPr>
            <p:ph type="title"/>
          </p:nvPr>
        </p:nvSpPr>
        <p:spPr>
          <a:xfrm>
            <a:off x="304800" y="304800"/>
            <a:ext cx="7886700" cy="430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SVMs optimization problem </a:t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512" y="1219200"/>
            <a:ext cx="9282112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04800" y="6324600"/>
            <a:ext cx="7614264" cy="3781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0966" l="-640" r="0" t="-112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0"/>
          <p:cNvSpPr txBox="1"/>
          <p:nvPr>
            <p:ph type="title"/>
          </p:nvPr>
        </p:nvSpPr>
        <p:spPr>
          <a:xfrm>
            <a:off x="533400" y="304800"/>
            <a:ext cx="78867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Solving the Optimization Problem </a:t>
            </a:r>
            <a:endParaRPr/>
          </a:p>
        </p:txBody>
      </p:sp>
      <p:sp>
        <p:nvSpPr>
          <p:cNvPr id="924" name="Google Shape;924;p80"/>
          <p:cNvSpPr txBox="1"/>
          <p:nvPr>
            <p:ph idx="4294967295" type="body"/>
          </p:nvPr>
        </p:nvSpPr>
        <p:spPr>
          <a:xfrm>
            <a:off x="566651" y="1447800"/>
            <a:ext cx="7886700" cy="47863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95" r="-772" t="-21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0" i="0" lang="en-US" sz="21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81"/>
          <p:cNvSpPr txBox="1"/>
          <p:nvPr>
            <p:ph type="title"/>
          </p:nvPr>
        </p:nvSpPr>
        <p:spPr>
          <a:xfrm>
            <a:off x="304800" y="304800"/>
            <a:ext cx="7886700" cy="60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SVM Lagrangian problem </a:t>
            </a:r>
            <a:endParaRPr/>
          </a:p>
        </p:txBody>
      </p:sp>
      <p:sp>
        <p:nvSpPr>
          <p:cNvPr id="930" name="Google Shape;930;p81"/>
          <p:cNvSpPr txBox="1"/>
          <p:nvPr>
            <p:ph idx="4294967295" type="body"/>
          </p:nvPr>
        </p:nvSpPr>
        <p:spPr>
          <a:xfrm>
            <a:off x="533400" y="1447800"/>
            <a:ext cx="7886700" cy="4876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62" r="-463" t="-87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0" i="0" lang="en-US" sz="21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8264525" cy="57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3"/>
          <p:cNvSpPr/>
          <p:nvPr/>
        </p:nvSpPr>
        <p:spPr>
          <a:xfrm>
            <a:off x="3352800" y="4495800"/>
            <a:ext cx="113506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=1.4</a:t>
            </a:r>
            <a:endParaRPr/>
          </a:p>
        </p:txBody>
      </p:sp>
      <p:sp>
        <p:nvSpPr>
          <p:cNvPr id="942" name="Google Shape;942;p83"/>
          <p:cNvSpPr txBox="1"/>
          <p:nvPr>
            <p:ph type="title"/>
          </p:nvPr>
        </p:nvSpPr>
        <p:spPr>
          <a:xfrm>
            <a:off x="1066800" y="304800"/>
            <a:ext cx="77739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Geometrical Interpretation</a:t>
            </a:r>
            <a:endParaRPr/>
          </a:p>
        </p:txBody>
      </p:sp>
      <p:cxnSp>
        <p:nvCxnSpPr>
          <p:cNvPr id="943" name="Google Shape;943;p83"/>
          <p:cNvCxnSpPr/>
          <p:nvPr/>
        </p:nvCxnSpPr>
        <p:spPr>
          <a:xfrm flipH="1" rot="10800000">
            <a:off x="1219200" y="1609725"/>
            <a:ext cx="1587" cy="4283075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44" name="Google Shape;944;p83"/>
          <p:cNvCxnSpPr/>
          <p:nvPr/>
        </p:nvCxnSpPr>
        <p:spPr>
          <a:xfrm>
            <a:off x="1219200" y="5891212"/>
            <a:ext cx="4076700" cy="1587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45" name="Google Shape;945;p83"/>
          <p:cNvSpPr/>
          <p:nvPr/>
        </p:nvSpPr>
        <p:spPr>
          <a:xfrm>
            <a:off x="3971925" y="2427287"/>
            <a:ext cx="203200" cy="2032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83"/>
          <p:cNvSpPr/>
          <p:nvPr/>
        </p:nvSpPr>
        <p:spPr>
          <a:xfrm>
            <a:off x="4648200" y="3276600"/>
            <a:ext cx="204787" cy="204787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83"/>
          <p:cNvSpPr/>
          <p:nvPr/>
        </p:nvSpPr>
        <p:spPr>
          <a:xfrm>
            <a:off x="5399087" y="3548062"/>
            <a:ext cx="203200" cy="2032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3"/>
          <p:cNvSpPr/>
          <p:nvPr/>
        </p:nvSpPr>
        <p:spPr>
          <a:xfrm>
            <a:off x="3359150" y="2630487"/>
            <a:ext cx="204787" cy="204787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3"/>
          <p:cNvSpPr/>
          <p:nvPr/>
        </p:nvSpPr>
        <p:spPr>
          <a:xfrm>
            <a:off x="4684712" y="3956050"/>
            <a:ext cx="203200" cy="203200"/>
          </a:xfrm>
          <a:prstGeom prst="ellipse">
            <a:avLst/>
          </a:prstGeom>
          <a:solidFill>
            <a:srgbClr val="00E4A8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83"/>
          <p:cNvSpPr/>
          <p:nvPr/>
        </p:nvSpPr>
        <p:spPr>
          <a:xfrm>
            <a:off x="1676400" y="4038600"/>
            <a:ext cx="203200" cy="203200"/>
          </a:xfrm>
          <a:prstGeom prst="roundRect">
            <a:avLst>
              <a:gd fmla="val 168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83"/>
          <p:cNvSpPr/>
          <p:nvPr/>
        </p:nvSpPr>
        <p:spPr>
          <a:xfrm>
            <a:off x="3352800" y="4419600"/>
            <a:ext cx="204787" cy="203200"/>
          </a:xfrm>
          <a:prstGeom prst="roundRect">
            <a:avLst>
              <a:gd fmla="val 168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83"/>
          <p:cNvSpPr/>
          <p:nvPr/>
        </p:nvSpPr>
        <p:spPr>
          <a:xfrm>
            <a:off x="3054350" y="5076825"/>
            <a:ext cx="203200" cy="203200"/>
          </a:xfrm>
          <a:prstGeom prst="roundRect">
            <a:avLst>
              <a:gd fmla="val 168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83"/>
          <p:cNvSpPr/>
          <p:nvPr/>
        </p:nvSpPr>
        <p:spPr>
          <a:xfrm>
            <a:off x="1830387" y="4975225"/>
            <a:ext cx="204787" cy="203200"/>
          </a:xfrm>
          <a:prstGeom prst="roundRect">
            <a:avLst>
              <a:gd fmla="val 168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83"/>
          <p:cNvSpPr/>
          <p:nvPr/>
        </p:nvSpPr>
        <p:spPr>
          <a:xfrm>
            <a:off x="2035175" y="3446462"/>
            <a:ext cx="203200" cy="203200"/>
          </a:xfrm>
          <a:prstGeom prst="roundRect">
            <a:avLst>
              <a:gd fmla="val 168" name="adj"/>
            </a:avLst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3"/>
          <p:cNvSpPr/>
          <p:nvPr/>
        </p:nvSpPr>
        <p:spPr>
          <a:xfrm>
            <a:off x="1752600" y="5486400"/>
            <a:ext cx="971550" cy="396875"/>
          </a:xfrm>
          <a:prstGeom prst="roundRect">
            <a:avLst>
              <a:gd fmla="val 86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1</a:t>
            </a:r>
            <a:endParaRPr/>
          </a:p>
        </p:txBody>
      </p:sp>
      <p:sp>
        <p:nvSpPr>
          <p:cNvPr id="956" name="Google Shape;956;p83"/>
          <p:cNvSpPr/>
          <p:nvPr/>
        </p:nvSpPr>
        <p:spPr>
          <a:xfrm>
            <a:off x="3048000" y="1447800"/>
            <a:ext cx="971550" cy="396875"/>
          </a:xfrm>
          <a:prstGeom prst="roundRect">
            <a:avLst>
              <a:gd fmla="val 86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2</a:t>
            </a:r>
            <a:endParaRPr/>
          </a:p>
        </p:txBody>
      </p:sp>
      <p:cxnSp>
        <p:nvCxnSpPr>
          <p:cNvPr id="957" name="Google Shape;957;p83"/>
          <p:cNvCxnSpPr/>
          <p:nvPr/>
        </p:nvCxnSpPr>
        <p:spPr>
          <a:xfrm>
            <a:off x="2646362" y="1917700"/>
            <a:ext cx="3363912" cy="3362325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58" name="Google Shape;958;p83"/>
          <p:cNvCxnSpPr/>
          <p:nvPr/>
        </p:nvCxnSpPr>
        <p:spPr>
          <a:xfrm>
            <a:off x="1320800" y="2427287"/>
            <a:ext cx="3632200" cy="3590925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59" name="Google Shape;959;p83"/>
          <p:cNvCxnSpPr/>
          <p:nvPr/>
        </p:nvCxnSpPr>
        <p:spPr>
          <a:xfrm>
            <a:off x="1320800" y="1509712"/>
            <a:ext cx="4165600" cy="4129087"/>
          </a:xfrm>
          <a:prstGeom prst="straightConnector1">
            <a:avLst/>
          </a:prstGeom>
          <a:noFill/>
          <a:ln cap="flat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960" name="Google Shape;96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5410200"/>
            <a:ext cx="1905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4800600"/>
            <a:ext cx="1828800" cy="34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5943600"/>
            <a:ext cx="2133600" cy="354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3" name="Google Shape;963;p83"/>
          <p:cNvCxnSpPr/>
          <p:nvPr/>
        </p:nvCxnSpPr>
        <p:spPr>
          <a:xfrm flipH="1" rot="10800000">
            <a:off x="2849562" y="2425700"/>
            <a:ext cx="2141537" cy="2244725"/>
          </a:xfrm>
          <a:prstGeom prst="straightConnector1">
            <a:avLst/>
          </a:prstGeom>
          <a:noFill/>
          <a:ln cap="flat" cmpd="sng" w="25550">
            <a:solidFill>
              <a:srgbClr val="993366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964" name="Google Shape;964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2400" y="2971800"/>
            <a:ext cx="381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3"/>
          <p:cNvSpPr/>
          <p:nvPr/>
        </p:nvSpPr>
        <p:spPr>
          <a:xfrm>
            <a:off x="4876800" y="3886200"/>
            <a:ext cx="113506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=0.8</a:t>
            </a:r>
            <a:endParaRPr/>
          </a:p>
        </p:txBody>
      </p:sp>
      <p:sp>
        <p:nvSpPr>
          <p:cNvPr id="966" name="Google Shape;966;p83"/>
          <p:cNvSpPr/>
          <p:nvPr/>
        </p:nvSpPr>
        <p:spPr>
          <a:xfrm>
            <a:off x="5410200" y="31242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67" name="Google Shape;967;p83"/>
          <p:cNvSpPr/>
          <p:nvPr/>
        </p:nvSpPr>
        <p:spPr>
          <a:xfrm>
            <a:off x="2971800" y="52578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68" name="Google Shape;968;p83"/>
          <p:cNvSpPr/>
          <p:nvPr/>
        </p:nvSpPr>
        <p:spPr>
          <a:xfrm>
            <a:off x="1295400" y="41148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69" name="Google Shape;969;p83"/>
          <p:cNvSpPr/>
          <p:nvPr/>
        </p:nvSpPr>
        <p:spPr>
          <a:xfrm>
            <a:off x="1066800" y="32766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70" name="Google Shape;970;p83"/>
          <p:cNvSpPr/>
          <p:nvPr/>
        </p:nvSpPr>
        <p:spPr>
          <a:xfrm>
            <a:off x="4648200" y="28956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71" name="Google Shape;971;p83"/>
          <p:cNvSpPr txBox="1"/>
          <p:nvPr/>
        </p:nvSpPr>
        <p:spPr>
          <a:xfrm>
            <a:off x="2743200" y="2209800"/>
            <a:ext cx="1143000" cy="51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=0.6</a:t>
            </a:r>
            <a:endParaRPr/>
          </a:p>
        </p:txBody>
      </p:sp>
      <p:sp>
        <p:nvSpPr>
          <p:cNvPr id="972" name="Google Shape;972;p83"/>
          <p:cNvSpPr/>
          <p:nvPr/>
        </p:nvSpPr>
        <p:spPr>
          <a:xfrm>
            <a:off x="1600200" y="5029200"/>
            <a:ext cx="876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sp>
        <p:nvSpPr>
          <p:cNvPr id="973" name="Google Shape;973;p83"/>
          <p:cNvSpPr/>
          <p:nvPr/>
        </p:nvSpPr>
        <p:spPr>
          <a:xfrm>
            <a:off x="3962400" y="2057400"/>
            <a:ext cx="987425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=0</a:t>
            </a:r>
            <a:endParaRPr/>
          </a:p>
        </p:txBody>
      </p:sp>
      <p:grpSp>
        <p:nvGrpSpPr>
          <p:cNvPr id="974" name="Google Shape;974;p83"/>
          <p:cNvGrpSpPr/>
          <p:nvPr/>
        </p:nvGrpSpPr>
        <p:grpSpPr>
          <a:xfrm>
            <a:off x="3505200" y="1866900"/>
            <a:ext cx="4879975" cy="2628900"/>
            <a:chOff x="2208" y="1176"/>
            <a:chExt cx="3074" cy="1656"/>
          </a:xfrm>
        </p:grpSpPr>
        <p:cxnSp>
          <p:nvCxnSpPr>
            <p:cNvPr id="975" name="Google Shape;975;p83"/>
            <p:cNvCxnSpPr/>
            <p:nvPr/>
          </p:nvCxnSpPr>
          <p:spPr>
            <a:xfrm flipH="1" rot="10800000">
              <a:off x="3024" y="1488"/>
              <a:ext cx="960" cy="105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976" name="Google Shape;976;p83"/>
            <p:cNvCxnSpPr/>
            <p:nvPr/>
          </p:nvCxnSpPr>
          <p:spPr>
            <a:xfrm flipH="1" rot="10800000">
              <a:off x="2208" y="1488"/>
              <a:ext cx="1728" cy="192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977" name="Google Shape;977;p83"/>
            <p:cNvCxnSpPr/>
            <p:nvPr/>
          </p:nvCxnSpPr>
          <p:spPr>
            <a:xfrm flipH="1" rot="10800000">
              <a:off x="2208" y="1536"/>
              <a:ext cx="1728" cy="129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978" name="Google Shape;978;p83"/>
            <p:cNvSpPr txBox="1"/>
            <p:nvPr/>
          </p:nvSpPr>
          <p:spPr>
            <a:xfrm>
              <a:off x="4070" y="1176"/>
              <a:ext cx="1212" cy="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 vectors</a:t>
              </a: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🡪α’s with values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from zero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(they </a:t>
              </a:r>
              <a:r>
                <a:rPr b="0" i="1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hold up</a:t>
              </a: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the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separating plane)! 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0" y="228600"/>
            <a:ext cx="8001000" cy="5827712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4"/>
          <p:cNvSpPr txBox="1"/>
          <p:nvPr/>
        </p:nvSpPr>
        <p:spPr>
          <a:xfrm>
            <a:off x="152400" y="6288087"/>
            <a:ext cx="8255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Slide: </a:t>
            </a:r>
            <a:endParaRPr/>
          </a:p>
        </p:txBody>
      </p:sp>
      <p:pic>
        <p:nvPicPr>
          <p:cNvPr id="985" name="Google Shape;985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326187"/>
            <a:ext cx="3962400" cy="29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762000"/>
            <a:ext cx="7985125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12" y="228600"/>
            <a:ext cx="8435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86"/>
          <p:cNvSpPr txBox="1"/>
          <p:nvPr/>
        </p:nvSpPr>
        <p:spPr>
          <a:xfrm>
            <a:off x="674687" y="5029200"/>
            <a:ext cx="8153400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Slater's constraint qualification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 for convex programming states that strong duality holds if there exists an x that is strictly feasible (i.e. all constraints are satisfied and the nonlinear constraints are satisfied with strict inequalities).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0"/>
            <a:ext cx="8774112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8"/>
          <p:cNvSpPr txBox="1"/>
          <p:nvPr>
            <p:ph type="title"/>
          </p:nvPr>
        </p:nvSpPr>
        <p:spPr>
          <a:xfrm>
            <a:off x="228600" y="152400"/>
            <a:ext cx="7886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Wolfe dual problem</a:t>
            </a:r>
            <a:endParaRPr/>
          </a:p>
        </p:txBody>
      </p:sp>
      <p:sp>
        <p:nvSpPr>
          <p:cNvPr id="1007" name="Google Shape;1007;p88"/>
          <p:cNvSpPr txBox="1"/>
          <p:nvPr>
            <p:ph idx="4294967295" type="body"/>
          </p:nvPr>
        </p:nvSpPr>
        <p:spPr>
          <a:xfrm>
            <a:off x="457200" y="838200"/>
            <a:ext cx="8420793" cy="5562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182" l="-289" r="0" t="-7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0" i="0" lang="en-US" sz="21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8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00" y="2211387"/>
            <a:ext cx="8331200" cy="3671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1392237"/>
            <a:ext cx="5002212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1862" y="1347787"/>
            <a:ext cx="1997075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9"/>
          <p:cNvSpPr txBox="1"/>
          <p:nvPr/>
        </p:nvSpPr>
        <p:spPr>
          <a:xfrm>
            <a:off x="8081962" y="857250"/>
            <a:ext cx="993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0"/>
          <p:cNvSpPr txBox="1"/>
          <p:nvPr>
            <p:ph type="title"/>
          </p:nvPr>
        </p:nvSpPr>
        <p:spPr>
          <a:xfrm>
            <a:off x="361950" y="152400"/>
            <a:ext cx="78867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Wolfe dual problem</a:t>
            </a:r>
            <a:endParaRPr/>
          </a:p>
        </p:txBody>
      </p:sp>
      <p:sp>
        <p:nvSpPr>
          <p:cNvPr id="1021" name="Google Shape;1021;p90"/>
          <p:cNvSpPr/>
          <p:nvPr/>
        </p:nvSpPr>
        <p:spPr>
          <a:xfrm>
            <a:off x="533400" y="990600"/>
            <a:ext cx="7786947" cy="57163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1"/>
          <p:cNvSpPr txBox="1"/>
          <p:nvPr>
            <p:ph type="title"/>
          </p:nvPr>
        </p:nvSpPr>
        <p:spPr>
          <a:xfrm>
            <a:off x="381000" y="381000"/>
            <a:ext cx="7886700" cy="436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function</a:t>
            </a:r>
            <a:endParaRPr/>
          </a:p>
        </p:txBody>
      </p:sp>
      <p:sp>
        <p:nvSpPr>
          <p:cNvPr id="1027" name="Google Shape;1027;p91"/>
          <p:cNvSpPr txBox="1"/>
          <p:nvPr>
            <p:ph idx="4294967295" type="body"/>
          </p:nvPr>
        </p:nvSpPr>
        <p:spPr>
          <a:xfrm>
            <a:off x="609600" y="1524000"/>
            <a:ext cx="7886700" cy="36538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17" r="0" t="-15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0" i="0" lang="en-US" sz="21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92"/>
          <p:cNvSpPr txBox="1"/>
          <p:nvPr>
            <p:ph type="title"/>
          </p:nvPr>
        </p:nvSpPr>
        <p:spPr>
          <a:xfrm>
            <a:off x="1066800" y="304800"/>
            <a:ext cx="7773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Wolfe Dual  Optimization Problem</a:t>
            </a:r>
            <a:endParaRPr/>
          </a:p>
        </p:txBody>
      </p:sp>
      <p:sp>
        <p:nvSpPr>
          <p:cNvPr id="1034" name="Google Shape;1034;p92"/>
          <p:cNvSpPr txBox="1"/>
          <p:nvPr>
            <p:ph idx="1" type="body"/>
          </p:nvPr>
        </p:nvSpPr>
        <p:spPr>
          <a:xfrm>
            <a:off x="990600" y="19812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transform the problem to its dual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49" lvl="4" marL="1198562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</a:pPr>
            <a:r>
              <a:t/>
            </a:r>
            <a:endParaRPr b="0" i="0" sz="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49" lvl="4" marL="1198562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</a:pPr>
            <a:r>
              <a:t/>
            </a:r>
            <a:endParaRPr b="0" i="0" sz="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49" lvl="4" marL="1198562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</a:pPr>
            <a:r>
              <a:t/>
            </a:r>
            <a:endParaRPr b="0" i="0" sz="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convex quadratic programming (QP) problem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maximum of </a:t>
            </a:r>
            <a:r>
              <a:rPr b="0" i="0" lang="en-US" sz="200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always be found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🡪well established tools for solving this optimization problem (e.g. cplex)</a:t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endParaRPr/>
          </a:p>
        </p:txBody>
      </p:sp>
      <p:pic>
        <p:nvPicPr>
          <p:cNvPr id="1035" name="Google Shape;1035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3352800"/>
            <a:ext cx="3200400" cy="58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514600"/>
            <a:ext cx="5791200" cy="7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6019800"/>
            <a:ext cx="1752600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92"/>
          <p:cNvSpPr/>
          <p:nvPr/>
        </p:nvSpPr>
        <p:spPr>
          <a:xfrm>
            <a:off x="7315200" y="2514600"/>
            <a:ext cx="914400" cy="609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9" name="Google Shape;1039;p92"/>
          <p:cNvGrpSpPr/>
          <p:nvPr/>
        </p:nvGrpSpPr>
        <p:grpSpPr>
          <a:xfrm>
            <a:off x="4724400" y="2971800"/>
            <a:ext cx="3959225" cy="1712912"/>
            <a:chOff x="2976" y="1872"/>
            <a:chExt cx="2494" cy="1079"/>
          </a:xfrm>
        </p:grpSpPr>
        <p:grpSp>
          <p:nvGrpSpPr>
            <p:cNvPr id="1040" name="Google Shape;1040;p92"/>
            <p:cNvGrpSpPr/>
            <p:nvPr/>
          </p:nvGrpSpPr>
          <p:grpSpPr>
            <a:xfrm>
              <a:off x="2976" y="1872"/>
              <a:ext cx="1680" cy="624"/>
              <a:chOff x="2976" y="1872"/>
              <a:chExt cx="1680" cy="624"/>
            </a:xfrm>
          </p:grpSpPr>
          <p:cxnSp>
            <p:nvCxnSpPr>
              <p:cNvPr id="1041" name="Google Shape;1041;p92"/>
              <p:cNvCxnSpPr/>
              <p:nvPr/>
            </p:nvCxnSpPr>
            <p:spPr>
              <a:xfrm>
                <a:off x="2976" y="1920"/>
                <a:ext cx="1680" cy="576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042" name="Google Shape;1042;p92"/>
              <p:cNvCxnSpPr/>
              <p:nvPr/>
            </p:nvCxnSpPr>
            <p:spPr>
              <a:xfrm>
                <a:off x="4128" y="1872"/>
                <a:ext cx="528" cy="624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043" name="Google Shape;1043;p92"/>
              <p:cNvCxnSpPr/>
              <p:nvPr/>
            </p:nvCxnSpPr>
            <p:spPr>
              <a:xfrm>
                <a:off x="4320" y="1872"/>
                <a:ext cx="336" cy="624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sp>
          <p:nvSpPr>
            <p:cNvPr id="1044" name="Google Shape;1044;p92"/>
            <p:cNvSpPr txBox="1"/>
            <p:nvPr/>
          </p:nvSpPr>
          <p:spPr>
            <a:xfrm>
              <a:off x="3936" y="2541"/>
              <a:ext cx="1534" cy="41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α’s 🡪 New variables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(Lagrangian multipliers)</a:t>
              </a:r>
              <a:endParaRPr/>
            </a:p>
          </p:txBody>
        </p:sp>
      </p:grpSp>
      <p:sp>
        <p:nvSpPr>
          <p:cNvPr id="1045" name="Google Shape;1045;p92"/>
          <p:cNvSpPr txBox="1"/>
          <p:nvPr/>
        </p:nvSpPr>
        <p:spPr>
          <a:xfrm>
            <a:off x="7375525" y="2095500"/>
            <a:ext cx="1752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 product of 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3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Non-linearly Separable Problems</a:t>
            </a:r>
            <a:endParaRPr/>
          </a:p>
        </p:txBody>
      </p:sp>
      <p:sp>
        <p:nvSpPr>
          <p:cNvPr id="1051" name="Google Shape;1051;p93"/>
          <p:cNvSpPr txBox="1"/>
          <p:nvPr>
            <p:ph idx="1" type="body"/>
          </p:nvPr>
        </p:nvSpPr>
        <p:spPr>
          <a:xfrm>
            <a:off x="9906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allow “error”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ξ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classification; it is based on the output of the discriminant function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30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ξ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approximates the number of misclassified samples</a:t>
            </a:r>
            <a:endParaRPr/>
          </a:p>
        </p:txBody>
      </p:sp>
      <p:grpSp>
        <p:nvGrpSpPr>
          <p:cNvPr id="1052" name="Google Shape;1052;p93"/>
          <p:cNvGrpSpPr/>
          <p:nvPr/>
        </p:nvGrpSpPr>
        <p:grpSpPr>
          <a:xfrm>
            <a:off x="457200" y="2787650"/>
            <a:ext cx="5943600" cy="4070350"/>
            <a:chOff x="1008" y="1056"/>
            <a:chExt cx="4416" cy="3024"/>
          </a:xfrm>
        </p:grpSpPr>
        <p:cxnSp>
          <p:nvCxnSpPr>
            <p:cNvPr id="1053" name="Google Shape;1053;p93"/>
            <p:cNvCxnSpPr/>
            <p:nvPr/>
          </p:nvCxnSpPr>
          <p:spPr>
            <a:xfrm rot="10800000">
              <a:off x="1344" y="1128"/>
              <a:ext cx="0" cy="269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054" name="Google Shape;1054;p93"/>
            <p:cNvCxnSpPr/>
            <p:nvPr/>
          </p:nvCxnSpPr>
          <p:spPr>
            <a:xfrm>
              <a:off x="1344" y="3824"/>
              <a:ext cx="256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055" name="Google Shape;1055;p93"/>
            <p:cNvSpPr/>
            <p:nvPr/>
          </p:nvSpPr>
          <p:spPr>
            <a:xfrm>
              <a:off x="3078" y="1642"/>
              <a:ext cx="129" cy="12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93"/>
            <p:cNvSpPr/>
            <p:nvPr/>
          </p:nvSpPr>
          <p:spPr>
            <a:xfrm>
              <a:off x="3601" y="1344"/>
              <a:ext cx="131" cy="13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93"/>
            <p:cNvSpPr/>
            <p:nvPr/>
          </p:nvSpPr>
          <p:spPr>
            <a:xfrm>
              <a:off x="3935" y="2496"/>
              <a:ext cx="129" cy="12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93"/>
            <p:cNvSpPr/>
            <p:nvPr/>
          </p:nvSpPr>
          <p:spPr>
            <a:xfrm>
              <a:off x="2400" y="1728"/>
              <a:ext cx="130" cy="12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93"/>
            <p:cNvSpPr/>
            <p:nvPr/>
          </p:nvSpPr>
          <p:spPr>
            <a:xfrm>
              <a:off x="4081" y="2064"/>
              <a:ext cx="127" cy="126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93"/>
            <p:cNvSpPr txBox="1"/>
            <p:nvPr/>
          </p:nvSpPr>
          <p:spPr>
            <a:xfrm>
              <a:off x="1632" y="2656"/>
              <a:ext cx="129" cy="129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93"/>
            <p:cNvSpPr txBox="1"/>
            <p:nvPr/>
          </p:nvSpPr>
          <p:spPr>
            <a:xfrm>
              <a:off x="3360" y="2448"/>
              <a:ext cx="129" cy="13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93"/>
            <p:cNvSpPr txBox="1"/>
            <p:nvPr/>
          </p:nvSpPr>
          <p:spPr>
            <a:xfrm>
              <a:off x="2208" y="2928"/>
              <a:ext cx="131" cy="13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93"/>
            <p:cNvSpPr txBox="1"/>
            <p:nvPr/>
          </p:nvSpPr>
          <p:spPr>
            <a:xfrm>
              <a:off x="1729" y="3247"/>
              <a:ext cx="131" cy="12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93"/>
            <p:cNvSpPr txBox="1"/>
            <p:nvPr/>
          </p:nvSpPr>
          <p:spPr>
            <a:xfrm>
              <a:off x="1440" y="2832"/>
              <a:ext cx="130" cy="127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93"/>
            <p:cNvSpPr txBox="1"/>
            <p:nvPr/>
          </p:nvSpPr>
          <p:spPr>
            <a:xfrm>
              <a:off x="1680" y="3569"/>
              <a:ext cx="722" cy="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Class 1</a:t>
              </a:r>
              <a:endParaRPr/>
            </a:p>
          </p:txBody>
        </p:sp>
        <p:sp>
          <p:nvSpPr>
            <p:cNvPr id="1066" name="Google Shape;1066;p93"/>
            <p:cNvSpPr txBox="1"/>
            <p:nvPr/>
          </p:nvSpPr>
          <p:spPr>
            <a:xfrm>
              <a:off x="3792" y="1488"/>
              <a:ext cx="722" cy="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Class 2</a:t>
              </a:r>
              <a:endParaRPr/>
            </a:p>
          </p:txBody>
        </p:sp>
        <p:cxnSp>
          <p:nvCxnSpPr>
            <p:cNvPr id="1067" name="Google Shape;1067;p93"/>
            <p:cNvCxnSpPr/>
            <p:nvPr/>
          </p:nvCxnSpPr>
          <p:spPr>
            <a:xfrm>
              <a:off x="2497" y="1056"/>
              <a:ext cx="2118" cy="2118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68" name="Google Shape;1068;p93"/>
            <p:cNvCxnSpPr/>
            <p:nvPr/>
          </p:nvCxnSpPr>
          <p:spPr>
            <a:xfrm>
              <a:off x="1008" y="1728"/>
              <a:ext cx="2288" cy="2262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69" name="Google Shape;1069;p93"/>
            <p:cNvCxnSpPr/>
            <p:nvPr/>
          </p:nvCxnSpPr>
          <p:spPr>
            <a:xfrm>
              <a:off x="1408" y="1064"/>
              <a:ext cx="2624" cy="2601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pic>
          <p:nvPicPr>
            <p:cNvPr id="1070" name="Google Shape;1070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36" y="3521"/>
              <a:ext cx="1200" cy="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1" name="Google Shape;1071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72" y="3137"/>
              <a:ext cx="1152" cy="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2" name="Google Shape;1072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16" y="3857"/>
              <a:ext cx="1344" cy="2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3" name="Google Shape;1073;p93"/>
            <p:cNvCxnSpPr/>
            <p:nvPr/>
          </p:nvCxnSpPr>
          <p:spPr>
            <a:xfrm flipH="1" rot="10800000">
              <a:off x="2371" y="1642"/>
              <a:ext cx="1347" cy="1412"/>
            </a:xfrm>
            <a:prstGeom prst="straightConnector1">
              <a:avLst/>
            </a:prstGeom>
            <a:noFill/>
            <a:ln cap="flat" cmpd="sng" w="25400">
              <a:solidFill>
                <a:srgbClr val="993366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pic>
          <p:nvPicPr>
            <p:cNvPr id="1074" name="Google Shape;1074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24" y="1968"/>
              <a:ext cx="240" cy="1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5" name="Google Shape;1075;p93"/>
            <p:cNvCxnSpPr/>
            <p:nvPr/>
          </p:nvCxnSpPr>
          <p:spPr>
            <a:xfrm flipH="1">
              <a:off x="2622" y="2554"/>
              <a:ext cx="769" cy="768"/>
            </a:xfrm>
            <a:prstGeom prst="straightConnector1">
              <a:avLst/>
            </a:prstGeom>
            <a:noFill/>
            <a:ln cap="flat" cmpd="sng" w="25400">
              <a:solidFill>
                <a:srgbClr val="FF00FF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pic>
          <p:nvPicPr>
            <p:cNvPr id="1076" name="Google Shape;1076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76" y="2976"/>
              <a:ext cx="190" cy="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9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97" y="2592"/>
              <a:ext cx="199" cy="15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8" name="Google Shape;1078;p93"/>
            <p:cNvCxnSpPr/>
            <p:nvPr/>
          </p:nvCxnSpPr>
          <p:spPr>
            <a:xfrm flipH="1">
              <a:off x="2497" y="1429"/>
              <a:ext cx="375" cy="347"/>
            </a:xfrm>
            <a:prstGeom prst="straightConnector1">
              <a:avLst/>
            </a:prstGeom>
            <a:noFill/>
            <a:ln cap="flat" cmpd="sng" w="25400">
              <a:solidFill>
                <a:srgbClr val="FF00FF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pic>
          <p:nvPicPr>
            <p:cNvPr id="1079" name="Google Shape;1079;p9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530" y="1802"/>
              <a:ext cx="221" cy="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0" name="Google Shape;1080;p9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89" y="1373"/>
              <a:ext cx="215" cy="2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1" name="Google Shape;1081;p9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600" y="3429000"/>
            <a:ext cx="2952750" cy="4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3"/>
          <p:cNvSpPr txBox="1"/>
          <p:nvPr/>
        </p:nvSpPr>
        <p:spPr>
          <a:xfrm>
            <a:off x="6553200" y="2895600"/>
            <a:ext cx="2393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objective function:</a:t>
            </a:r>
            <a:endParaRPr/>
          </a:p>
        </p:txBody>
      </p:sp>
      <p:sp>
        <p:nvSpPr>
          <p:cNvPr id="1083" name="Google Shape;1083;p93"/>
          <p:cNvSpPr txBox="1"/>
          <p:nvPr/>
        </p:nvSpPr>
        <p:spPr>
          <a:xfrm>
            <a:off x="4267200" y="4267200"/>
            <a:ext cx="4876800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tradeoff parameter between </a:t>
            </a:r>
            <a:endParaRPr/>
          </a:p>
          <a:p>
            <a:pPr indent="0" lvl="1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and margin; </a:t>
            </a:r>
            <a:endParaRPr/>
          </a:p>
          <a:p>
            <a:pPr indent="0" lvl="1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by the user; </a:t>
            </a:r>
            <a:endParaRPr/>
          </a:p>
          <a:p>
            <a:pPr indent="0" lvl="1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C means a higher </a:t>
            </a:r>
            <a:endParaRPr/>
          </a:p>
          <a:p>
            <a:pPr indent="0" lvl="1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penalty to errors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4"/>
          <p:cNvSpPr txBox="1"/>
          <p:nvPr>
            <p:ph type="title"/>
          </p:nvPr>
        </p:nvSpPr>
        <p:spPr>
          <a:xfrm>
            <a:off x="457200" y="381000"/>
            <a:ext cx="78867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Times New Roman"/>
              <a:buNone/>
            </a:pPr>
            <a:r>
              <a:rPr b="1" i="0" lang="en-US" sz="22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margin SVM</a:t>
            </a:r>
            <a:endParaRPr/>
          </a:p>
        </p:txBody>
      </p:sp>
      <p:sp>
        <p:nvSpPr>
          <p:cNvPr id="1089" name="Google Shape;1089;p94"/>
          <p:cNvSpPr txBox="1"/>
          <p:nvPr>
            <p:ph idx="4294967295" type="body"/>
          </p:nvPr>
        </p:nvSpPr>
        <p:spPr>
          <a:xfrm>
            <a:off x="533400" y="1143000"/>
            <a:ext cx="8001000" cy="525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26" l="-304" r="-74" t="-11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95"/>
          <p:cNvSpPr txBox="1"/>
          <p:nvPr>
            <p:ph type="title"/>
          </p:nvPr>
        </p:nvSpPr>
        <p:spPr>
          <a:xfrm>
            <a:off x="1066800" y="304800"/>
            <a:ext cx="77739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Wolfe dual problem</a:t>
            </a:r>
            <a:endParaRPr/>
          </a:p>
        </p:txBody>
      </p:sp>
      <p:sp>
        <p:nvSpPr>
          <p:cNvPr id="1096" name="Google Shape;1096;p95"/>
          <p:cNvSpPr txBox="1"/>
          <p:nvPr>
            <p:ph idx="1" type="body"/>
          </p:nvPr>
        </p:nvSpPr>
        <p:spPr>
          <a:xfrm>
            <a:off x="990600" y="19812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dual of the problem is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also recovered as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only difference with the linear separable case is that there is an upper bound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again, a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QP solver can be used to find </a:t>
            </a:r>
            <a:r>
              <a:rPr b="0" i="0" lang="en-US" sz="200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efficiently!!!</a:t>
            </a:r>
            <a:endParaRPr/>
          </a:p>
        </p:txBody>
      </p:sp>
      <p:pic>
        <p:nvPicPr>
          <p:cNvPr id="1097" name="Google Shape;1097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057400"/>
            <a:ext cx="7543800" cy="96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" y="3048000"/>
            <a:ext cx="5691187" cy="90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9025" y="4117975"/>
            <a:ext cx="3309937" cy="4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5"/>
          <p:cNvSpPr txBox="1"/>
          <p:nvPr/>
        </p:nvSpPr>
        <p:spPr>
          <a:xfrm>
            <a:off x="2895600" y="3124200"/>
            <a:ext cx="1905000" cy="685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57200"/>
            <a:ext cx="8569325" cy="57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/>
          <p:nvPr/>
        </p:nvSpPr>
        <p:spPr>
          <a:xfrm>
            <a:off x="1219200" y="3581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to Non-linear SVMs</a:t>
            </a:r>
            <a:b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(Kernel Machines)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8"/>
          <p:cNvSpPr txBox="1"/>
          <p:nvPr>
            <p:ph idx="4294967295"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 SVM</a:t>
            </a:r>
            <a:endParaRPr/>
          </a:p>
        </p:txBody>
      </p:sp>
      <p:sp>
        <p:nvSpPr>
          <p:cNvPr id="1116" name="Google Shape;1116;p98"/>
          <p:cNvSpPr txBox="1"/>
          <p:nvPr>
            <p:ph idx="4294967295" type="body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could we generalize this procedure to non-linear data?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Vapnik in 1992 showed that transforming input data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a higher dimensional makes the problem easier.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know that data appears only as dot products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i∙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1714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transform the data to some (possibly infinite dimensional) space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via a mapping function Φ such that the data appears of the form Φ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Φ(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1714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operation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equivalent to non-linear operation in input space.</a:t>
            </a:r>
            <a:endParaRPr/>
          </a:p>
        </p:txBody>
      </p:sp>
      <p:sp>
        <p:nvSpPr>
          <p:cNvPr id="1117" name="Google Shape;1117;p98"/>
          <p:cNvSpPr txBox="1"/>
          <p:nvPr/>
        </p:nvSpPr>
        <p:spPr>
          <a:xfrm>
            <a:off x="4648200" y="3048000"/>
            <a:ext cx="3460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Similar to Hidden Layers in ANN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9"/>
          <p:cNvSpPr txBox="1"/>
          <p:nvPr/>
        </p:nvSpPr>
        <p:spPr>
          <a:xfrm>
            <a:off x="381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 SVMs:  Feature Space</a:t>
            </a:r>
            <a:endParaRPr/>
          </a:p>
        </p:txBody>
      </p:sp>
      <p:cxnSp>
        <p:nvCxnSpPr>
          <p:cNvPr id="1123" name="Google Shape;1123;p99"/>
          <p:cNvCxnSpPr/>
          <p:nvPr/>
        </p:nvCxnSpPr>
        <p:spPr>
          <a:xfrm rot="10800000">
            <a:off x="2068512" y="2559050"/>
            <a:ext cx="0" cy="30416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24" name="Google Shape;1124;p99"/>
          <p:cNvCxnSpPr/>
          <p:nvPr/>
        </p:nvCxnSpPr>
        <p:spPr>
          <a:xfrm>
            <a:off x="447675" y="4170362"/>
            <a:ext cx="331946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25" name="Google Shape;1125;p99"/>
          <p:cNvSpPr/>
          <p:nvPr/>
        </p:nvSpPr>
        <p:spPr>
          <a:xfrm>
            <a:off x="2098675" y="3390900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99"/>
          <p:cNvSpPr/>
          <p:nvPr/>
        </p:nvSpPr>
        <p:spPr>
          <a:xfrm>
            <a:off x="1524000" y="374808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99"/>
          <p:cNvSpPr/>
          <p:nvPr/>
        </p:nvSpPr>
        <p:spPr>
          <a:xfrm>
            <a:off x="1676400" y="429418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99"/>
          <p:cNvSpPr/>
          <p:nvPr/>
        </p:nvSpPr>
        <p:spPr>
          <a:xfrm>
            <a:off x="2209800" y="477043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99"/>
          <p:cNvSpPr/>
          <p:nvPr/>
        </p:nvSpPr>
        <p:spPr>
          <a:xfrm>
            <a:off x="1790700" y="343693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99"/>
          <p:cNvSpPr/>
          <p:nvPr/>
        </p:nvSpPr>
        <p:spPr>
          <a:xfrm>
            <a:off x="1295400" y="406558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99"/>
          <p:cNvSpPr/>
          <p:nvPr/>
        </p:nvSpPr>
        <p:spPr>
          <a:xfrm>
            <a:off x="1714500" y="480853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99"/>
          <p:cNvSpPr/>
          <p:nvPr/>
        </p:nvSpPr>
        <p:spPr>
          <a:xfrm>
            <a:off x="2209800" y="3836987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99"/>
          <p:cNvSpPr/>
          <p:nvPr/>
        </p:nvSpPr>
        <p:spPr>
          <a:xfrm>
            <a:off x="3111500" y="382428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99"/>
          <p:cNvSpPr/>
          <p:nvPr/>
        </p:nvSpPr>
        <p:spPr>
          <a:xfrm>
            <a:off x="2971800" y="50371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99"/>
          <p:cNvSpPr/>
          <p:nvPr/>
        </p:nvSpPr>
        <p:spPr>
          <a:xfrm>
            <a:off x="723900" y="395128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99"/>
          <p:cNvSpPr/>
          <p:nvPr/>
        </p:nvSpPr>
        <p:spPr>
          <a:xfrm>
            <a:off x="2235200" y="54054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99"/>
          <p:cNvSpPr/>
          <p:nvPr/>
        </p:nvSpPr>
        <p:spPr>
          <a:xfrm>
            <a:off x="3200400" y="456088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99"/>
          <p:cNvSpPr/>
          <p:nvPr/>
        </p:nvSpPr>
        <p:spPr>
          <a:xfrm>
            <a:off x="1263650" y="51006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99"/>
          <p:cNvSpPr/>
          <p:nvPr/>
        </p:nvSpPr>
        <p:spPr>
          <a:xfrm>
            <a:off x="952500" y="46180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99"/>
          <p:cNvSpPr/>
          <p:nvPr/>
        </p:nvSpPr>
        <p:spPr>
          <a:xfrm>
            <a:off x="1009650" y="30940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99"/>
          <p:cNvSpPr/>
          <p:nvPr/>
        </p:nvSpPr>
        <p:spPr>
          <a:xfrm>
            <a:off x="2505075" y="4229100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99"/>
          <p:cNvSpPr/>
          <p:nvPr/>
        </p:nvSpPr>
        <p:spPr>
          <a:xfrm>
            <a:off x="2124075" y="4362450"/>
            <a:ext cx="88900" cy="88900"/>
          </a:xfrm>
          <a:prstGeom prst="octagon">
            <a:avLst>
              <a:gd fmla="val 29289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99"/>
          <p:cNvSpPr/>
          <p:nvPr/>
        </p:nvSpPr>
        <p:spPr>
          <a:xfrm>
            <a:off x="2409825" y="3124200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99"/>
          <p:cNvSpPr/>
          <p:nvPr/>
        </p:nvSpPr>
        <p:spPr>
          <a:xfrm>
            <a:off x="1114425" y="3209925"/>
            <a:ext cx="1885950" cy="1905000"/>
          </a:xfrm>
          <a:prstGeom prst="ellipse">
            <a:avLst/>
          </a:prstGeom>
          <a:noFill/>
          <a:ln cap="flat" cmpd="sng" w="158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99"/>
          <p:cNvSpPr/>
          <p:nvPr/>
        </p:nvSpPr>
        <p:spPr>
          <a:xfrm>
            <a:off x="1162050" y="324643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99"/>
          <p:cNvSpPr/>
          <p:nvPr/>
        </p:nvSpPr>
        <p:spPr>
          <a:xfrm>
            <a:off x="3086100" y="3227387"/>
            <a:ext cx="88900" cy="88900"/>
          </a:xfrm>
          <a:prstGeom prst="octagon">
            <a:avLst>
              <a:gd fmla="val 29289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99"/>
          <p:cNvSpPr txBox="1"/>
          <p:nvPr/>
        </p:nvSpPr>
        <p:spPr>
          <a:xfrm>
            <a:off x="446087" y="6477000"/>
            <a:ext cx="7478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slide is courtesy of </a:t>
            </a:r>
            <a:r>
              <a:rPr b="0" i="1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www.iro.umontreal.ca/~pift6080/documents/papers/</a:t>
            </a:r>
            <a:r>
              <a:rPr b="1" i="1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r>
              <a:rPr b="0" i="1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_tutorial.</a:t>
            </a:r>
            <a:r>
              <a:rPr b="1" i="1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1148" name="Google Shape;1148;p99"/>
          <p:cNvGrpSpPr/>
          <p:nvPr/>
        </p:nvGrpSpPr>
        <p:grpSpPr>
          <a:xfrm>
            <a:off x="3581400" y="2057400"/>
            <a:ext cx="5264150" cy="3581400"/>
            <a:chOff x="2256" y="1296"/>
            <a:chExt cx="3316" cy="2256"/>
          </a:xfrm>
        </p:grpSpPr>
        <p:sp>
          <p:nvSpPr>
            <p:cNvPr id="1149" name="Google Shape;1149;p99"/>
            <p:cNvSpPr/>
            <p:nvPr/>
          </p:nvSpPr>
          <p:spPr>
            <a:xfrm>
              <a:off x="2256" y="1488"/>
              <a:ext cx="1032" cy="288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8000"/>
            </a:soli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99"/>
            <p:cNvSpPr txBox="1"/>
            <p:nvPr/>
          </p:nvSpPr>
          <p:spPr>
            <a:xfrm>
              <a:off x="2256" y="1920"/>
              <a:ext cx="12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Φ:  </a:t>
              </a: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φ(</a:t>
              </a: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grpSp>
          <p:nvGrpSpPr>
            <p:cNvPr id="1151" name="Google Shape;1151;p99"/>
            <p:cNvGrpSpPr/>
            <p:nvPr/>
          </p:nvGrpSpPr>
          <p:grpSpPr>
            <a:xfrm>
              <a:off x="2736" y="1296"/>
              <a:ext cx="2836" cy="2256"/>
              <a:chOff x="2736" y="1296"/>
              <a:chExt cx="2836" cy="2256"/>
            </a:xfrm>
          </p:grpSpPr>
          <p:cxnSp>
            <p:nvCxnSpPr>
              <p:cNvPr id="1152" name="Google Shape;1152;p99"/>
              <p:cNvCxnSpPr/>
              <p:nvPr/>
            </p:nvCxnSpPr>
            <p:spPr>
              <a:xfrm rot="10800000">
                <a:off x="3847" y="1456"/>
                <a:ext cx="0" cy="1304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153" name="Google Shape;1153;p99"/>
              <p:cNvCxnSpPr/>
              <p:nvPr/>
            </p:nvCxnSpPr>
            <p:spPr>
              <a:xfrm>
                <a:off x="3828" y="2771"/>
                <a:ext cx="1479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1154" name="Google Shape;1154;p99"/>
              <p:cNvSpPr/>
              <p:nvPr/>
            </p:nvSpPr>
            <p:spPr>
              <a:xfrm>
                <a:off x="4016" y="2370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99"/>
              <p:cNvSpPr/>
              <p:nvPr/>
            </p:nvSpPr>
            <p:spPr>
              <a:xfrm>
                <a:off x="3654" y="259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99"/>
              <p:cNvSpPr/>
              <p:nvPr/>
            </p:nvSpPr>
            <p:spPr>
              <a:xfrm>
                <a:off x="3894" y="294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99"/>
              <p:cNvSpPr/>
              <p:nvPr/>
            </p:nvSpPr>
            <p:spPr>
              <a:xfrm>
                <a:off x="4410" y="294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99"/>
              <p:cNvSpPr/>
              <p:nvPr/>
            </p:nvSpPr>
            <p:spPr>
              <a:xfrm>
                <a:off x="3822" y="2399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99"/>
              <p:cNvSpPr/>
              <p:nvPr/>
            </p:nvSpPr>
            <p:spPr>
              <a:xfrm>
                <a:off x="3954" y="2573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99"/>
              <p:cNvSpPr/>
              <p:nvPr/>
            </p:nvSpPr>
            <p:spPr>
              <a:xfrm>
                <a:off x="4098" y="2969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99"/>
              <p:cNvSpPr/>
              <p:nvPr/>
            </p:nvSpPr>
            <p:spPr>
              <a:xfrm>
                <a:off x="4086" y="2651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99"/>
              <p:cNvSpPr/>
              <p:nvPr/>
            </p:nvSpPr>
            <p:spPr>
              <a:xfrm>
                <a:off x="5098" y="2421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99"/>
              <p:cNvSpPr/>
              <p:nvPr/>
            </p:nvSpPr>
            <p:spPr>
              <a:xfrm>
                <a:off x="5010" y="318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99"/>
              <p:cNvSpPr/>
              <p:nvPr/>
            </p:nvSpPr>
            <p:spPr>
              <a:xfrm>
                <a:off x="4710" y="1769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99"/>
              <p:cNvSpPr/>
              <p:nvPr/>
            </p:nvSpPr>
            <p:spPr>
              <a:xfrm>
                <a:off x="4714" y="256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99"/>
              <p:cNvSpPr/>
              <p:nvPr/>
            </p:nvSpPr>
            <p:spPr>
              <a:xfrm>
                <a:off x="5154" y="288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99"/>
              <p:cNvSpPr/>
              <p:nvPr/>
            </p:nvSpPr>
            <p:spPr>
              <a:xfrm>
                <a:off x="4414" y="2217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99"/>
              <p:cNvSpPr/>
              <p:nvPr/>
            </p:nvSpPr>
            <p:spPr>
              <a:xfrm>
                <a:off x="4794" y="2993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99"/>
              <p:cNvSpPr/>
              <p:nvPr/>
            </p:nvSpPr>
            <p:spPr>
              <a:xfrm>
                <a:off x="4662" y="1901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99"/>
              <p:cNvSpPr/>
              <p:nvPr/>
            </p:nvSpPr>
            <p:spPr>
              <a:xfrm>
                <a:off x="3786" y="2850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99"/>
              <p:cNvSpPr/>
              <p:nvPr/>
            </p:nvSpPr>
            <p:spPr>
              <a:xfrm>
                <a:off x="3546" y="2934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FF0000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99"/>
              <p:cNvSpPr/>
              <p:nvPr/>
            </p:nvSpPr>
            <p:spPr>
              <a:xfrm>
                <a:off x="4656" y="1980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99"/>
              <p:cNvSpPr/>
              <p:nvPr/>
            </p:nvSpPr>
            <p:spPr>
              <a:xfrm>
                <a:off x="4374" y="168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99"/>
              <p:cNvSpPr/>
              <p:nvPr/>
            </p:nvSpPr>
            <p:spPr>
              <a:xfrm>
                <a:off x="5082" y="2045"/>
                <a:ext cx="56" cy="56"/>
              </a:xfrm>
              <a:prstGeom prst="octagon">
                <a:avLst>
                  <a:gd fmla="val 29289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75" name="Google Shape;1175;p99"/>
              <p:cNvCxnSpPr/>
              <p:nvPr/>
            </p:nvCxnSpPr>
            <p:spPr>
              <a:xfrm flipH="1">
                <a:off x="3061" y="2772"/>
                <a:ext cx="780" cy="62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grpSp>
            <p:nvGrpSpPr>
              <p:cNvPr id="1176" name="Google Shape;1176;p99"/>
              <p:cNvGrpSpPr/>
              <p:nvPr/>
            </p:nvGrpSpPr>
            <p:grpSpPr>
              <a:xfrm>
                <a:off x="2904" y="1920"/>
                <a:ext cx="1848" cy="1632"/>
                <a:chOff x="2904" y="1920"/>
                <a:chExt cx="1848" cy="1632"/>
              </a:xfrm>
            </p:grpSpPr>
            <p:cxnSp>
              <p:nvCxnSpPr>
                <p:cNvPr id="1177" name="Google Shape;1177;p99"/>
                <p:cNvCxnSpPr/>
                <p:nvPr/>
              </p:nvCxnSpPr>
              <p:spPr>
                <a:xfrm>
                  <a:off x="3840" y="1920"/>
                  <a:ext cx="912" cy="840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78" name="Google Shape;1178;p99"/>
                <p:cNvCxnSpPr/>
                <p:nvPr/>
              </p:nvCxnSpPr>
              <p:spPr>
                <a:xfrm flipH="1" rot="10800000">
                  <a:off x="3984" y="2784"/>
                  <a:ext cx="768" cy="76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79" name="Google Shape;1179;p99"/>
                <p:cNvCxnSpPr/>
                <p:nvPr/>
              </p:nvCxnSpPr>
              <p:spPr>
                <a:xfrm flipH="1" rot="10800000">
                  <a:off x="2916" y="1944"/>
                  <a:ext cx="924" cy="52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80" name="Google Shape;1180;p99"/>
                <p:cNvCxnSpPr/>
                <p:nvPr/>
              </p:nvCxnSpPr>
              <p:spPr>
                <a:xfrm>
                  <a:off x="2904" y="2472"/>
                  <a:ext cx="1080" cy="1068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81" name="Google Shape;1181;p99"/>
              <p:cNvSpPr txBox="1"/>
              <p:nvPr/>
            </p:nvSpPr>
            <p:spPr>
              <a:xfrm>
                <a:off x="2736" y="3024"/>
                <a:ext cx="34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b="0" baseline="-2500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0" baseline="3000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  <p:sp>
            <p:nvSpPr>
              <p:cNvPr id="1182" name="Google Shape;1182;p99"/>
              <p:cNvSpPr txBox="1"/>
              <p:nvPr/>
            </p:nvSpPr>
            <p:spPr>
              <a:xfrm>
                <a:off x="5232" y="2544"/>
                <a:ext cx="34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b="0" baseline="-2500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r>
                  <a:rPr b="0" baseline="30000" i="0" lang="en-US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  <p:sp>
            <p:nvSpPr>
              <p:cNvPr id="1183" name="Google Shape;1183;p99"/>
              <p:cNvSpPr txBox="1"/>
              <p:nvPr/>
            </p:nvSpPr>
            <p:spPr>
              <a:xfrm>
                <a:off x="3264" y="1296"/>
                <a:ext cx="54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0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√2x</a:t>
                </a:r>
                <a:r>
                  <a:rPr b="0" baseline="-25000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0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b="0" baseline="-25000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</p:grpSp>
      </p:grpSp>
      <p:sp>
        <p:nvSpPr>
          <p:cNvPr id="1184" name="Google Shape;1184;p99"/>
          <p:cNvSpPr txBox="1"/>
          <p:nvPr/>
        </p:nvSpPr>
        <p:spPr>
          <a:xfrm>
            <a:off x="625475" y="5486400"/>
            <a:ext cx="8126412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data are mapped into higher a space of sufficiently high dimension,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they will in general  be linearly separable;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data points are in general separable in a space of N-1 dimensions or more!!!</a:t>
            </a:r>
            <a:endParaRPr/>
          </a:p>
        </p:txBody>
      </p:sp>
      <p:sp>
        <p:nvSpPr>
          <p:cNvPr id="1185" name="Google Shape;1185;p99"/>
          <p:cNvSpPr txBox="1"/>
          <p:nvPr/>
        </p:nvSpPr>
        <p:spPr>
          <a:xfrm>
            <a:off x="227012" y="1704975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x=(x</a:t>
            </a:r>
            <a:r>
              <a:rPr b="0" baseline="-25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,x</a:t>
            </a:r>
            <a:r>
              <a:rPr b="0" baseline="-25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1186" name="Google Shape;1186;p99"/>
          <p:cNvGrpSpPr/>
          <p:nvPr/>
        </p:nvGrpSpPr>
        <p:grpSpPr>
          <a:xfrm>
            <a:off x="293687" y="1058862"/>
            <a:ext cx="8412162" cy="5029200"/>
            <a:chOff x="29" y="816"/>
            <a:chExt cx="5299" cy="3168"/>
          </a:xfrm>
        </p:grpSpPr>
        <p:sp>
          <p:nvSpPr>
            <p:cNvPr id="1187" name="Google Shape;1187;p99"/>
            <p:cNvSpPr txBox="1"/>
            <p:nvPr/>
          </p:nvSpPr>
          <p:spPr>
            <a:xfrm>
              <a:off x="144" y="816"/>
              <a:ext cx="5184" cy="3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Times New Roman"/>
                <a:buNone/>
              </a:pP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General idea:  the </a:t>
              </a:r>
              <a:r>
                <a:rPr b="0" i="0" lang="en-US" sz="19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original input space</a:t>
              </a: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(x) can be </a:t>
              </a:r>
              <a:r>
                <a:rPr b="0" i="0" lang="en-US" sz="19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mapped to some higher-dimensional feature space (</a:t>
              </a: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φ(</a:t>
              </a:r>
              <a:r>
                <a:rPr b="1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)where the training set is separable:</a:t>
              </a:r>
              <a:endParaRPr/>
            </a:p>
          </p:txBody>
        </p:sp>
        <p:sp>
          <p:nvSpPr>
            <p:cNvPr id="1188" name="Google Shape;1188;p99"/>
            <p:cNvSpPr txBox="1"/>
            <p:nvPr/>
          </p:nvSpPr>
          <p:spPr>
            <a:xfrm>
              <a:off x="29" y="1433"/>
              <a:ext cx="1687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φ(</a:t>
              </a: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=(</a:t>
              </a: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baseline="3000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,x</a:t>
              </a:r>
              <a:r>
                <a:rPr b="0" baseline="-2500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baseline="3000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√2x</a:t>
              </a:r>
              <a:r>
                <a:rPr b="0" baseline="-2500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0" baseline="-2500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b="0" baseline="-25000" i="0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baseline="-25000" i="0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0"/>
          <p:cNvSpPr txBox="1"/>
          <p:nvPr>
            <p:ph type="title"/>
          </p:nvPr>
        </p:nvSpPr>
        <p:spPr>
          <a:xfrm>
            <a:off x="914400" y="28575"/>
            <a:ext cx="8029575" cy="8096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to Feature Space</a:t>
            </a:r>
            <a:endParaRPr/>
          </a:p>
        </p:txBody>
      </p:sp>
      <p:sp>
        <p:nvSpPr>
          <p:cNvPr id="1195" name="Google Shape;1195;p100"/>
          <p:cNvSpPr txBox="1"/>
          <p:nvPr>
            <p:ph idx="1" type="body"/>
          </p:nvPr>
        </p:nvSpPr>
        <p:spPr>
          <a:xfrm>
            <a:off x="685800" y="928687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problem of the transformation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computation burden due to high-dimensionality and hard to get a good estimate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solves these two issues simultaneously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“Kernel tricks” for efficient computation 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||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</a:t>
            </a:r>
            <a:r>
              <a:rPr b="0" baseline="3000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lead to a “good” classifier</a:t>
            </a:r>
            <a:endParaRPr/>
          </a:p>
        </p:txBody>
      </p:sp>
      <p:grpSp>
        <p:nvGrpSpPr>
          <p:cNvPr id="1196" name="Google Shape;1196;p100"/>
          <p:cNvGrpSpPr/>
          <p:nvPr/>
        </p:nvGrpSpPr>
        <p:grpSpPr>
          <a:xfrm>
            <a:off x="1411287" y="3505200"/>
            <a:ext cx="6324599" cy="2516187"/>
            <a:chOff x="1248" y="2639"/>
            <a:chExt cx="3984" cy="1585"/>
          </a:xfrm>
        </p:grpSpPr>
        <p:sp>
          <p:nvSpPr>
            <p:cNvPr id="1197" name="Google Shape;1197;p100"/>
            <p:cNvSpPr/>
            <p:nvPr/>
          </p:nvSpPr>
          <p:spPr>
            <a:xfrm>
              <a:off x="1392" y="2736"/>
              <a:ext cx="1008" cy="960"/>
            </a:xfrm>
            <a:custGeom>
              <a:rect b="b" l="l" r="r" t="t"/>
              <a:pathLst>
                <a:path extrusionOk="0" h="4235" w="4447">
                  <a:moveTo>
                    <a:pt x="0" y="0"/>
                  </a:moveTo>
                  <a:cubicBezTo>
                    <a:pt x="70" y="723"/>
                    <a:pt x="141" y="1446"/>
                    <a:pt x="423" y="1905"/>
                  </a:cubicBezTo>
                  <a:cubicBezTo>
                    <a:pt x="705" y="2363"/>
                    <a:pt x="1199" y="2575"/>
                    <a:pt x="1693" y="2752"/>
                  </a:cubicBezTo>
                  <a:cubicBezTo>
                    <a:pt x="2187" y="2928"/>
                    <a:pt x="2928" y="2716"/>
                    <a:pt x="3387" y="2963"/>
                  </a:cubicBezTo>
                  <a:cubicBezTo>
                    <a:pt x="3846" y="3210"/>
                    <a:pt x="4146" y="3722"/>
                    <a:pt x="4446" y="423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8" name="Google Shape;1198;p100"/>
            <p:cNvCxnSpPr/>
            <p:nvPr/>
          </p:nvCxnSpPr>
          <p:spPr>
            <a:xfrm flipH="1" rot="10800000">
              <a:off x="1248" y="2639"/>
              <a:ext cx="1" cy="12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199" name="Google Shape;1199;p100"/>
            <p:cNvCxnSpPr/>
            <p:nvPr/>
          </p:nvCxnSpPr>
          <p:spPr>
            <a:xfrm>
              <a:off x="1248" y="3936"/>
              <a:ext cx="129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200" name="Google Shape;1200;p100"/>
            <p:cNvSpPr/>
            <p:nvPr/>
          </p:nvSpPr>
          <p:spPr>
            <a:xfrm>
              <a:off x="1488" y="2736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00"/>
            <p:cNvSpPr/>
            <p:nvPr/>
          </p:nvSpPr>
          <p:spPr>
            <a:xfrm>
              <a:off x="1344" y="2976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00"/>
            <p:cNvSpPr/>
            <p:nvPr/>
          </p:nvSpPr>
          <p:spPr>
            <a:xfrm>
              <a:off x="1680" y="2880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00"/>
            <p:cNvSpPr/>
            <p:nvPr/>
          </p:nvSpPr>
          <p:spPr>
            <a:xfrm>
              <a:off x="1872" y="3072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00"/>
            <p:cNvSpPr/>
            <p:nvPr/>
          </p:nvSpPr>
          <p:spPr>
            <a:xfrm>
              <a:off x="2016" y="2832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00"/>
            <p:cNvSpPr/>
            <p:nvPr/>
          </p:nvSpPr>
          <p:spPr>
            <a:xfrm>
              <a:off x="2256" y="3072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0"/>
            <p:cNvSpPr/>
            <p:nvPr/>
          </p:nvSpPr>
          <p:spPr>
            <a:xfrm>
              <a:off x="1344" y="3168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0"/>
            <p:cNvSpPr/>
            <p:nvPr/>
          </p:nvSpPr>
          <p:spPr>
            <a:xfrm>
              <a:off x="1488" y="3312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0"/>
            <p:cNvSpPr/>
            <p:nvPr/>
          </p:nvSpPr>
          <p:spPr>
            <a:xfrm>
              <a:off x="1392" y="3456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0"/>
            <p:cNvSpPr/>
            <p:nvPr/>
          </p:nvSpPr>
          <p:spPr>
            <a:xfrm>
              <a:off x="1728" y="3456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0"/>
            <p:cNvSpPr/>
            <p:nvPr/>
          </p:nvSpPr>
          <p:spPr>
            <a:xfrm>
              <a:off x="1968" y="3504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00"/>
            <p:cNvSpPr/>
            <p:nvPr/>
          </p:nvSpPr>
          <p:spPr>
            <a:xfrm>
              <a:off x="2160" y="3648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00"/>
            <p:cNvSpPr/>
            <p:nvPr/>
          </p:nvSpPr>
          <p:spPr>
            <a:xfrm>
              <a:off x="1776" y="3744"/>
              <a:ext cx="48" cy="48"/>
            </a:xfrm>
            <a:prstGeom prst="roundRect">
              <a:avLst>
                <a:gd fmla="val 45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00"/>
            <p:cNvSpPr/>
            <p:nvPr/>
          </p:nvSpPr>
          <p:spPr>
            <a:xfrm>
              <a:off x="1536" y="3024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00"/>
            <p:cNvSpPr/>
            <p:nvPr/>
          </p:nvSpPr>
          <p:spPr>
            <a:xfrm>
              <a:off x="1728" y="3216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00"/>
            <p:cNvSpPr/>
            <p:nvPr/>
          </p:nvSpPr>
          <p:spPr>
            <a:xfrm>
              <a:off x="2112" y="3312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00"/>
            <p:cNvSpPr/>
            <p:nvPr/>
          </p:nvSpPr>
          <p:spPr>
            <a:xfrm>
              <a:off x="2304" y="3408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00"/>
            <p:cNvSpPr/>
            <p:nvPr/>
          </p:nvSpPr>
          <p:spPr>
            <a:xfrm>
              <a:off x="2400" y="3600"/>
              <a:ext cx="48" cy="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100"/>
            <p:cNvCxnSpPr/>
            <p:nvPr/>
          </p:nvCxnSpPr>
          <p:spPr>
            <a:xfrm flipH="1" rot="10800000">
              <a:off x="3744" y="2639"/>
              <a:ext cx="1" cy="12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219" name="Google Shape;1219;p100"/>
            <p:cNvCxnSpPr/>
            <p:nvPr/>
          </p:nvCxnSpPr>
          <p:spPr>
            <a:xfrm>
              <a:off x="3744" y="3936"/>
              <a:ext cx="129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220" name="Google Shape;1220;p100"/>
            <p:cNvCxnSpPr/>
            <p:nvPr/>
          </p:nvCxnSpPr>
          <p:spPr>
            <a:xfrm>
              <a:off x="3984" y="2736"/>
              <a:ext cx="912" cy="115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221" name="Google Shape;1221;p100"/>
            <p:cNvGrpSpPr/>
            <p:nvPr/>
          </p:nvGrpSpPr>
          <p:grpSpPr>
            <a:xfrm>
              <a:off x="3792" y="2784"/>
              <a:ext cx="333" cy="212"/>
              <a:chOff x="3792" y="2784"/>
              <a:chExt cx="333" cy="212"/>
            </a:xfrm>
          </p:grpSpPr>
          <p:sp>
            <p:nvSpPr>
              <p:cNvPr id="1222" name="Google Shape;1222;p100"/>
              <p:cNvSpPr/>
              <p:nvPr/>
            </p:nvSpPr>
            <p:spPr>
              <a:xfrm>
                <a:off x="3959" y="2880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100"/>
              <p:cNvSpPr/>
              <p:nvPr/>
            </p:nvSpPr>
            <p:spPr>
              <a:xfrm>
                <a:off x="3792" y="2784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24" name="Google Shape;1224;p100"/>
            <p:cNvGrpSpPr/>
            <p:nvPr/>
          </p:nvGrpSpPr>
          <p:grpSpPr>
            <a:xfrm>
              <a:off x="3939" y="3052"/>
              <a:ext cx="333" cy="212"/>
              <a:chOff x="3939" y="3052"/>
              <a:chExt cx="333" cy="212"/>
            </a:xfrm>
          </p:grpSpPr>
          <p:sp>
            <p:nvSpPr>
              <p:cNvPr id="1225" name="Google Shape;1225;p100"/>
              <p:cNvSpPr/>
              <p:nvPr/>
            </p:nvSpPr>
            <p:spPr>
              <a:xfrm>
                <a:off x="4106" y="3148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100"/>
              <p:cNvSpPr/>
              <p:nvPr/>
            </p:nvSpPr>
            <p:spPr>
              <a:xfrm>
                <a:off x="3939" y="3052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27" name="Google Shape;1227;p100"/>
            <p:cNvGrpSpPr/>
            <p:nvPr/>
          </p:nvGrpSpPr>
          <p:grpSpPr>
            <a:xfrm>
              <a:off x="4179" y="3340"/>
              <a:ext cx="333" cy="212"/>
              <a:chOff x="4179" y="3340"/>
              <a:chExt cx="333" cy="212"/>
            </a:xfrm>
          </p:grpSpPr>
          <p:sp>
            <p:nvSpPr>
              <p:cNvPr id="1228" name="Google Shape;1228;p100"/>
              <p:cNvSpPr/>
              <p:nvPr/>
            </p:nvSpPr>
            <p:spPr>
              <a:xfrm>
                <a:off x="4346" y="3436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100"/>
              <p:cNvSpPr/>
              <p:nvPr/>
            </p:nvSpPr>
            <p:spPr>
              <a:xfrm>
                <a:off x="4179" y="3340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30" name="Google Shape;1230;p100"/>
            <p:cNvGrpSpPr/>
            <p:nvPr/>
          </p:nvGrpSpPr>
          <p:grpSpPr>
            <a:xfrm>
              <a:off x="4275" y="3484"/>
              <a:ext cx="333" cy="212"/>
              <a:chOff x="4275" y="3484"/>
              <a:chExt cx="333" cy="212"/>
            </a:xfrm>
          </p:grpSpPr>
          <p:sp>
            <p:nvSpPr>
              <p:cNvPr id="1231" name="Google Shape;1231;p100"/>
              <p:cNvSpPr/>
              <p:nvPr/>
            </p:nvSpPr>
            <p:spPr>
              <a:xfrm>
                <a:off x="4442" y="3580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100"/>
              <p:cNvSpPr/>
              <p:nvPr/>
            </p:nvSpPr>
            <p:spPr>
              <a:xfrm>
                <a:off x="4275" y="3484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33" name="Google Shape;1233;p100"/>
            <p:cNvGrpSpPr/>
            <p:nvPr/>
          </p:nvGrpSpPr>
          <p:grpSpPr>
            <a:xfrm>
              <a:off x="3840" y="3456"/>
              <a:ext cx="333" cy="212"/>
              <a:chOff x="3840" y="3456"/>
              <a:chExt cx="333" cy="212"/>
            </a:xfrm>
          </p:grpSpPr>
          <p:sp>
            <p:nvSpPr>
              <p:cNvPr id="1234" name="Google Shape;1234;p100"/>
              <p:cNvSpPr/>
              <p:nvPr/>
            </p:nvSpPr>
            <p:spPr>
              <a:xfrm>
                <a:off x="4007" y="3552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100"/>
              <p:cNvSpPr/>
              <p:nvPr/>
            </p:nvSpPr>
            <p:spPr>
              <a:xfrm>
                <a:off x="3840" y="3456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36" name="Google Shape;1236;p100"/>
            <p:cNvGrpSpPr/>
            <p:nvPr/>
          </p:nvGrpSpPr>
          <p:grpSpPr>
            <a:xfrm>
              <a:off x="3696" y="3120"/>
              <a:ext cx="333" cy="212"/>
              <a:chOff x="3696" y="3120"/>
              <a:chExt cx="333" cy="212"/>
            </a:xfrm>
          </p:grpSpPr>
          <p:sp>
            <p:nvSpPr>
              <p:cNvPr id="1237" name="Google Shape;1237;p100"/>
              <p:cNvSpPr/>
              <p:nvPr/>
            </p:nvSpPr>
            <p:spPr>
              <a:xfrm>
                <a:off x="3863" y="3216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100"/>
              <p:cNvSpPr/>
              <p:nvPr/>
            </p:nvSpPr>
            <p:spPr>
              <a:xfrm>
                <a:off x="3696" y="3120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39" name="Google Shape;1239;p100"/>
            <p:cNvGrpSpPr/>
            <p:nvPr/>
          </p:nvGrpSpPr>
          <p:grpSpPr>
            <a:xfrm>
              <a:off x="4467" y="3724"/>
              <a:ext cx="333" cy="212"/>
              <a:chOff x="4467" y="3724"/>
              <a:chExt cx="333" cy="212"/>
            </a:xfrm>
          </p:grpSpPr>
          <p:sp>
            <p:nvSpPr>
              <p:cNvPr id="1240" name="Google Shape;1240;p100"/>
              <p:cNvSpPr/>
              <p:nvPr/>
            </p:nvSpPr>
            <p:spPr>
              <a:xfrm>
                <a:off x="4634" y="3820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100"/>
              <p:cNvSpPr/>
              <p:nvPr/>
            </p:nvSpPr>
            <p:spPr>
              <a:xfrm>
                <a:off x="4467" y="3724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42" name="Google Shape;1242;p100"/>
            <p:cNvGrpSpPr/>
            <p:nvPr/>
          </p:nvGrpSpPr>
          <p:grpSpPr>
            <a:xfrm>
              <a:off x="3936" y="3648"/>
              <a:ext cx="333" cy="212"/>
              <a:chOff x="3936" y="3648"/>
              <a:chExt cx="333" cy="212"/>
            </a:xfrm>
          </p:grpSpPr>
          <p:sp>
            <p:nvSpPr>
              <p:cNvPr id="1243" name="Google Shape;1243;p100"/>
              <p:cNvSpPr/>
              <p:nvPr/>
            </p:nvSpPr>
            <p:spPr>
              <a:xfrm>
                <a:off x="4103" y="3744"/>
                <a:ext cx="48" cy="48"/>
              </a:xfrm>
              <a:prstGeom prst="roundRect">
                <a:avLst>
                  <a:gd fmla="val 450" name="adj"/>
                </a:avLst>
              </a:prstGeom>
              <a:solidFill>
                <a:srgbClr val="0000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00"/>
              <p:cNvSpPr/>
              <p:nvPr/>
            </p:nvSpPr>
            <p:spPr>
              <a:xfrm>
                <a:off x="3936" y="3648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sp>
          <p:nvSpPr>
            <p:cNvPr id="1245" name="Google Shape;1245;p100"/>
            <p:cNvSpPr/>
            <p:nvPr/>
          </p:nvSpPr>
          <p:spPr>
            <a:xfrm>
              <a:off x="2736" y="3312"/>
              <a:ext cx="625" cy="240"/>
            </a:xfrm>
            <a:custGeom>
              <a:rect b="b" l="l" r="r" t="t"/>
              <a:pathLst>
                <a:path extrusionOk="0" h="1060" w="2754">
                  <a:moveTo>
                    <a:pt x="0" y="264"/>
                  </a:moveTo>
                  <a:lnTo>
                    <a:pt x="2064" y="264"/>
                  </a:lnTo>
                  <a:lnTo>
                    <a:pt x="2064" y="0"/>
                  </a:lnTo>
                  <a:lnTo>
                    <a:pt x="2753" y="529"/>
                  </a:lnTo>
                  <a:lnTo>
                    <a:pt x="2064" y="1059"/>
                  </a:lnTo>
                  <a:lnTo>
                    <a:pt x="2064" y="794"/>
                  </a:lnTo>
                  <a:lnTo>
                    <a:pt x="0" y="794"/>
                  </a:lnTo>
                  <a:lnTo>
                    <a:pt x="0" y="264"/>
                  </a:lnTo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00"/>
            <p:cNvSpPr/>
            <p:nvPr/>
          </p:nvSpPr>
          <p:spPr>
            <a:xfrm>
              <a:off x="2783" y="2943"/>
              <a:ext cx="483" cy="365"/>
            </a:xfrm>
            <a:prstGeom prst="roundRect">
              <a:avLst>
                <a:gd fmla="val 59" name="adj"/>
              </a:avLst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Noto Sans Symbols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r>
                <a:rPr b="0" i="0" lang="en-US" sz="3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(.)</a:t>
              </a:r>
              <a:endParaRPr/>
            </a:p>
          </p:txBody>
        </p:sp>
        <p:grpSp>
          <p:nvGrpSpPr>
            <p:cNvPr id="1247" name="Google Shape;1247;p100"/>
            <p:cNvGrpSpPr/>
            <p:nvPr/>
          </p:nvGrpSpPr>
          <p:grpSpPr>
            <a:xfrm>
              <a:off x="4512" y="2928"/>
              <a:ext cx="333" cy="212"/>
              <a:chOff x="4512" y="2928"/>
              <a:chExt cx="333" cy="212"/>
            </a:xfrm>
          </p:grpSpPr>
          <p:sp>
            <p:nvSpPr>
              <p:cNvPr id="1248" name="Google Shape;1248;p100"/>
              <p:cNvSpPr/>
              <p:nvPr/>
            </p:nvSpPr>
            <p:spPr>
              <a:xfrm>
                <a:off x="4669" y="302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100"/>
              <p:cNvSpPr/>
              <p:nvPr/>
            </p:nvSpPr>
            <p:spPr>
              <a:xfrm>
                <a:off x="4512" y="2928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50" name="Google Shape;1250;p100"/>
            <p:cNvGrpSpPr/>
            <p:nvPr/>
          </p:nvGrpSpPr>
          <p:grpSpPr>
            <a:xfrm>
              <a:off x="4128" y="2640"/>
              <a:ext cx="333" cy="212"/>
              <a:chOff x="4128" y="2640"/>
              <a:chExt cx="333" cy="212"/>
            </a:xfrm>
          </p:grpSpPr>
          <p:sp>
            <p:nvSpPr>
              <p:cNvPr id="1251" name="Google Shape;1251;p100"/>
              <p:cNvSpPr/>
              <p:nvPr/>
            </p:nvSpPr>
            <p:spPr>
              <a:xfrm>
                <a:off x="4285" y="2736"/>
                <a:ext cx="49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100"/>
              <p:cNvSpPr/>
              <p:nvPr/>
            </p:nvSpPr>
            <p:spPr>
              <a:xfrm>
                <a:off x="4128" y="2640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53" name="Google Shape;1253;p100"/>
            <p:cNvGrpSpPr/>
            <p:nvPr/>
          </p:nvGrpSpPr>
          <p:grpSpPr>
            <a:xfrm>
              <a:off x="4368" y="3072"/>
              <a:ext cx="333" cy="212"/>
              <a:chOff x="4368" y="3072"/>
              <a:chExt cx="333" cy="212"/>
            </a:xfrm>
          </p:grpSpPr>
          <p:sp>
            <p:nvSpPr>
              <p:cNvPr id="1254" name="Google Shape;1254;p100"/>
              <p:cNvSpPr/>
              <p:nvPr/>
            </p:nvSpPr>
            <p:spPr>
              <a:xfrm>
                <a:off x="4525" y="316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100"/>
              <p:cNvSpPr/>
              <p:nvPr/>
            </p:nvSpPr>
            <p:spPr>
              <a:xfrm>
                <a:off x="4368" y="3072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56" name="Google Shape;1256;p100"/>
            <p:cNvGrpSpPr/>
            <p:nvPr/>
          </p:nvGrpSpPr>
          <p:grpSpPr>
            <a:xfrm>
              <a:off x="4224" y="2880"/>
              <a:ext cx="333" cy="212"/>
              <a:chOff x="4224" y="2880"/>
              <a:chExt cx="333" cy="212"/>
            </a:xfrm>
          </p:grpSpPr>
          <p:sp>
            <p:nvSpPr>
              <p:cNvPr id="1257" name="Google Shape;1257;p100"/>
              <p:cNvSpPr/>
              <p:nvPr/>
            </p:nvSpPr>
            <p:spPr>
              <a:xfrm>
                <a:off x="4381" y="297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100"/>
              <p:cNvSpPr/>
              <p:nvPr/>
            </p:nvSpPr>
            <p:spPr>
              <a:xfrm>
                <a:off x="4224" y="2880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59" name="Google Shape;1259;p100"/>
            <p:cNvGrpSpPr/>
            <p:nvPr/>
          </p:nvGrpSpPr>
          <p:grpSpPr>
            <a:xfrm>
              <a:off x="4320" y="2736"/>
              <a:ext cx="333" cy="212"/>
              <a:chOff x="4320" y="2736"/>
              <a:chExt cx="333" cy="212"/>
            </a:xfrm>
          </p:grpSpPr>
          <p:sp>
            <p:nvSpPr>
              <p:cNvPr id="1260" name="Google Shape;1260;p100"/>
              <p:cNvSpPr/>
              <p:nvPr/>
            </p:nvSpPr>
            <p:spPr>
              <a:xfrm>
                <a:off x="4477" y="283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100"/>
              <p:cNvSpPr/>
              <p:nvPr/>
            </p:nvSpPr>
            <p:spPr>
              <a:xfrm>
                <a:off x="4320" y="2736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62" name="Google Shape;1262;p100"/>
            <p:cNvGrpSpPr/>
            <p:nvPr/>
          </p:nvGrpSpPr>
          <p:grpSpPr>
            <a:xfrm>
              <a:off x="4656" y="3436"/>
              <a:ext cx="333" cy="212"/>
              <a:chOff x="4656" y="3436"/>
              <a:chExt cx="333" cy="212"/>
            </a:xfrm>
          </p:grpSpPr>
          <p:sp>
            <p:nvSpPr>
              <p:cNvPr id="1263" name="Google Shape;1263;p100"/>
              <p:cNvSpPr/>
              <p:nvPr/>
            </p:nvSpPr>
            <p:spPr>
              <a:xfrm>
                <a:off x="4813" y="353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100"/>
              <p:cNvSpPr/>
              <p:nvPr/>
            </p:nvSpPr>
            <p:spPr>
              <a:xfrm>
                <a:off x="4656" y="3436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65" name="Google Shape;1265;p100"/>
            <p:cNvGrpSpPr/>
            <p:nvPr/>
          </p:nvGrpSpPr>
          <p:grpSpPr>
            <a:xfrm>
              <a:off x="4800" y="2832"/>
              <a:ext cx="333" cy="212"/>
              <a:chOff x="4800" y="2832"/>
              <a:chExt cx="333" cy="212"/>
            </a:xfrm>
          </p:grpSpPr>
          <p:sp>
            <p:nvSpPr>
              <p:cNvPr id="1266" name="Google Shape;1266;p100"/>
              <p:cNvSpPr/>
              <p:nvPr/>
            </p:nvSpPr>
            <p:spPr>
              <a:xfrm>
                <a:off x="4957" y="292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00"/>
              <p:cNvSpPr/>
              <p:nvPr/>
            </p:nvSpPr>
            <p:spPr>
              <a:xfrm>
                <a:off x="4800" y="2832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68" name="Google Shape;1268;p100"/>
            <p:cNvGrpSpPr/>
            <p:nvPr/>
          </p:nvGrpSpPr>
          <p:grpSpPr>
            <a:xfrm>
              <a:off x="4656" y="3168"/>
              <a:ext cx="333" cy="212"/>
              <a:chOff x="4656" y="3168"/>
              <a:chExt cx="333" cy="212"/>
            </a:xfrm>
          </p:grpSpPr>
          <p:sp>
            <p:nvSpPr>
              <p:cNvPr id="1269" name="Google Shape;1269;p100"/>
              <p:cNvSpPr/>
              <p:nvPr/>
            </p:nvSpPr>
            <p:spPr>
              <a:xfrm>
                <a:off x="4813" y="3264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00"/>
              <p:cNvSpPr/>
              <p:nvPr/>
            </p:nvSpPr>
            <p:spPr>
              <a:xfrm>
                <a:off x="4656" y="3168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71" name="Google Shape;1271;p100"/>
            <p:cNvGrpSpPr/>
            <p:nvPr/>
          </p:nvGrpSpPr>
          <p:grpSpPr>
            <a:xfrm>
              <a:off x="4560" y="3292"/>
              <a:ext cx="333" cy="212"/>
              <a:chOff x="4560" y="3292"/>
              <a:chExt cx="333" cy="212"/>
            </a:xfrm>
          </p:grpSpPr>
          <p:sp>
            <p:nvSpPr>
              <p:cNvPr id="1272" name="Google Shape;1272;p100"/>
              <p:cNvSpPr/>
              <p:nvPr/>
            </p:nvSpPr>
            <p:spPr>
              <a:xfrm>
                <a:off x="4717" y="3388"/>
                <a:ext cx="49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00"/>
              <p:cNvSpPr/>
              <p:nvPr/>
            </p:nvSpPr>
            <p:spPr>
              <a:xfrm>
                <a:off x="4560" y="3292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grpSp>
          <p:nvGrpSpPr>
            <p:cNvPr id="1274" name="Google Shape;1274;p100"/>
            <p:cNvGrpSpPr/>
            <p:nvPr/>
          </p:nvGrpSpPr>
          <p:grpSpPr>
            <a:xfrm>
              <a:off x="4899" y="3216"/>
              <a:ext cx="333" cy="212"/>
              <a:chOff x="4899" y="3216"/>
              <a:chExt cx="333" cy="212"/>
            </a:xfrm>
          </p:grpSpPr>
          <p:sp>
            <p:nvSpPr>
              <p:cNvPr id="1275" name="Google Shape;1275;p100"/>
              <p:cNvSpPr/>
              <p:nvPr/>
            </p:nvSpPr>
            <p:spPr>
              <a:xfrm>
                <a:off x="5056" y="3312"/>
                <a:ext cx="49" cy="48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00"/>
              <p:cNvSpPr/>
              <p:nvPr/>
            </p:nvSpPr>
            <p:spPr>
              <a:xfrm>
                <a:off x="4899" y="3216"/>
                <a:ext cx="333" cy="212"/>
              </a:xfrm>
              <a:prstGeom prst="roundRect">
                <a:avLst>
                  <a:gd fmla="val 101" name="adj"/>
                </a:avLst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φ</a:t>
                </a:r>
                <a:r>
                  <a:rPr b="0" i="0" lang="en-US" sz="16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  )</a:t>
                </a:r>
                <a:endParaRPr/>
              </a:p>
            </p:txBody>
          </p:sp>
        </p:grpSp>
        <p:sp>
          <p:nvSpPr>
            <p:cNvPr id="1277" name="Google Shape;1277;p100"/>
            <p:cNvSpPr/>
            <p:nvPr/>
          </p:nvSpPr>
          <p:spPr>
            <a:xfrm>
              <a:off x="3792" y="3888"/>
              <a:ext cx="1165" cy="288"/>
            </a:xfrm>
            <a:prstGeom prst="roundRect">
              <a:avLst>
                <a:gd fmla="val 75" name="adj"/>
              </a:avLst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 space</a:t>
              </a:r>
              <a:endParaRPr/>
            </a:p>
          </p:txBody>
        </p:sp>
        <p:sp>
          <p:nvSpPr>
            <p:cNvPr id="1278" name="Google Shape;1278;p100"/>
            <p:cNvSpPr/>
            <p:nvPr/>
          </p:nvSpPr>
          <p:spPr>
            <a:xfrm>
              <a:off x="1381" y="3936"/>
              <a:ext cx="995" cy="288"/>
            </a:xfrm>
            <a:prstGeom prst="roundRect">
              <a:avLst>
                <a:gd fmla="val 75" name="adj"/>
              </a:avLst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space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01"/>
          <p:cNvSpPr txBox="1"/>
          <p:nvPr>
            <p:ph idx="4294967295"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Trick ☺</a:t>
            </a:r>
            <a:endParaRPr/>
          </a:p>
        </p:txBody>
      </p:sp>
      <p:sp>
        <p:nvSpPr>
          <p:cNvPr id="1284" name="Google Shape;1284;p101"/>
          <p:cNvSpPr txBox="1"/>
          <p:nvPr>
            <p:ph idx="4294967295" type="body"/>
          </p:nvPr>
        </p:nvSpPr>
        <p:spPr>
          <a:xfrm>
            <a:off x="457200" y="18288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maximize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subject to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data is only represented as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 products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need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do the mapping explicitly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 Kernel Function (*) </a:t>
            </a:r>
            <a:r>
              <a:rPr b="0" i="1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that: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0" marL="342900" marR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5" name="Google Shape;1285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2193925"/>
            <a:ext cx="2286000" cy="6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2743200"/>
            <a:ext cx="2027237" cy="63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/>
          <p:nvPr/>
        </p:nvSpPr>
        <p:spPr>
          <a:xfrm>
            <a:off x="5029200" y="2286000"/>
            <a:ext cx="381000" cy="457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p101"/>
          <p:cNvCxnSpPr/>
          <p:nvPr/>
        </p:nvCxnSpPr>
        <p:spPr>
          <a:xfrm flipH="1">
            <a:off x="5410200" y="2133600"/>
            <a:ext cx="457200" cy="263525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89" name="Google Shape;1289;p101"/>
          <p:cNvSpPr txBox="1"/>
          <p:nvPr/>
        </p:nvSpPr>
        <p:spPr>
          <a:xfrm>
            <a:off x="4876800" y="17526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Note that data only appears as dot products</a:t>
            </a:r>
            <a:endParaRPr/>
          </a:p>
        </p:txBody>
      </p:sp>
      <p:pic>
        <p:nvPicPr>
          <p:cNvPr id="1290" name="Google Shape;1290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0" y="4670425"/>
            <a:ext cx="2590800" cy="4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1"/>
          <p:cNvSpPr txBox="1"/>
          <p:nvPr/>
        </p:nvSpPr>
        <p:spPr>
          <a:xfrm>
            <a:off x="381000" y="6096000"/>
            <a:ext cx="8056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(*)Kernel function – a function that can be applied </a:t>
            </a:r>
            <a:r>
              <a:rPr b="0" i="0" lang="en-US" sz="160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pairs of input data to evaluate dot products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some corresponding feature space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2"/>
          <p:cNvSpPr txBox="1"/>
          <p:nvPr>
            <p:ph type="title"/>
          </p:nvPr>
        </p:nvSpPr>
        <p:spPr>
          <a:xfrm>
            <a:off x="1066800" y="304800"/>
            <a:ext cx="7773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Transformation</a:t>
            </a:r>
            <a:endParaRPr/>
          </a:p>
        </p:txBody>
      </p:sp>
      <p:sp>
        <p:nvSpPr>
          <p:cNvPr id="1298" name="Google Shape;1298;p102"/>
          <p:cNvSpPr txBox="1"/>
          <p:nvPr>
            <p:ph idx="1" type="body"/>
          </p:nvPr>
        </p:nvSpPr>
        <p:spPr>
          <a:xfrm>
            <a:off x="990600" y="19812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transformation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the kernel function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as 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inner product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(.)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(.) can be computed by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going through the map </a:t>
            </a:r>
            <a:r>
              <a:rPr b="0" i="0" lang="en-US" sz="200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(.) explicitly!!!</a:t>
            </a:r>
            <a:endParaRPr/>
          </a:p>
        </p:txBody>
      </p:sp>
      <p:pic>
        <p:nvPicPr>
          <p:cNvPr id="1299" name="Google Shape;1299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590800"/>
            <a:ext cx="5943600" cy="468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124200"/>
            <a:ext cx="5486400" cy="43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2600" y="4343400"/>
            <a:ext cx="4114800" cy="6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1800" y="5172075"/>
            <a:ext cx="3897312" cy="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04800"/>
            <a:ext cx="8148637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04"/>
          <p:cNvSpPr txBox="1"/>
          <p:nvPr>
            <p:ph type="title"/>
          </p:nvPr>
        </p:nvSpPr>
        <p:spPr>
          <a:xfrm>
            <a:off x="1066800" y="304800"/>
            <a:ext cx="7773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Modification Due to Kernel Function</a:t>
            </a:r>
            <a:endParaRPr/>
          </a:p>
        </p:txBody>
      </p:sp>
      <p:sp>
        <p:nvSpPr>
          <p:cNvPr id="1314" name="Google Shape;1314;p104"/>
          <p:cNvSpPr txBox="1"/>
          <p:nvPr>
            <p:ph idx="1" type="body"/>
          </p:nvPr>
        </p:nvSpPr>
        <p:spPr>
          <a:xfrm>
            <a:off x="914400" y="18288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all inner products to kernel functions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training,</a:t>
            </a:r>
            <a:endParaRPr/>
          </a:p>
        </p:txBody>
      </p:sp>
      <p:pic>
        <p:nvPicPr>
          <p:cNvPr id="1315" name="Google Shape;131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2659062"/>
            <a:ext cx="601980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800" y="3544887"/>
            <a:ext cx="4527550" cy="72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4"/>
          <p:cNvSpPr/>
          <p:nvPr/>
        </p:nvSpPr>
        <p:spPr>
          <a:xfrm>
            <a:off x="76200" y="3119437"/>
            <a:ext cx="121761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Original</a:t>
            </a:r>
            <a:endParaRPr/>
          </a:p>
        </p:txBody>
      </p:sp>
      <p:grpSp>
        <p:nvGrpSpPr>
          <p:cNvPr id="1318" name="Google Shape;1318;p104"/>
          <p:cNvGrpSpPr/>
          <p:nvPr/>
        </p:nvGrpSpPr>
        <p:grpSpPr>
          <a:xfrm>
            <a:off x="381000" y="4694237"/>
            <a:ext cx="8537575" cy="1554162"/>
            <a:chOff x="240" y="2957"/>
            <a:chExt cx="5378" cy="979"/>
          </a:xfrm>
        </p:grpSpPr>
        <p:sp>
          <p:nvSpPr>
            <p:cNvPr id="1319" name="Google Shape;1319;p104"/>
            <p:cNvSpPr txBox="1"/>
            <p:nvPr/>
          </p:nvSpPr>
          <p:spPr>
            <a:xfrm>
              <a:off x="240" y="3216"/>
              <a:ext cx="1152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With kernel function</a:t>
              </a:r>
              <a:endParaRPr/>
            </a:p>
          </p:txBody>
        </p:sp>
        <p:pic>
          <p:nvPicPr>
            <p:cNvPr id="1320" name="Google Shape;1320;p10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72" y="3520"/>
              <a:ext cx="2612" cy="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1" name="Google Shape;1321;p10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72" y="2957"/>
              <a:ext cx="3746" cy="4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Google Shape;132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09600"/>
            <a:ext cx="8532812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05"/>
          <p:cNvSpPr/>
          <p:nvPr/>
        </p:nvSpPr>
        <p:spPr>
          <a:xfrm>
            <a:off x="838200" y="4343400"/>
            <a:ext cx="3124200" cy="83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3235" l="0" r="0" t="-237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6"/>
          <p:cNvSpPr txBox="1"/>
          <p:nvPr>
            <p:ph type="title"/>
          </p:nvPr>
        </p:nvSpPr>
        <p:spPr>
          <a:xfrm>
            <a:off x="1066800" y="304800"/>
            <a:ext cx="7773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Kernel Functions</a:t>
            </a:r>
            <a:endParaRPr/>
          </a:p>
        </p:txBody>
      </p:sp>
      <p:sp>
        <p:nvSpPr>
          <p:cNvPr id="1334" name="Google Shape;1334;p106"/>
          <p:cNvSpPr txBox="1"/>
          <p:nvPr>
            <p:ph idx="1" type="body"/>
          </p:nvPr>
        </p:nvSpPr>
        <p:spPr>
          <a:xfrm>
            <a:off x="914400" y="1936750"/>
            <a:ext cx="8229600" cy="492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kernel with degree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Radial basis function kernel with width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Closely related to radial basis function neural networks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Sigmoid with parameter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κ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 not satisfy the Mercer condition on all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κ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on different kernel functions in different applications is very active </a:t>
            </a:r>
            <a:endParaRPr/>
          </a:p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328862"/>
            <a:ext cx="28956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352800"/>
            <a:ext cx="40386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9400" y="4495800"/>
            <a:ext cx="3197225" cy="28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07"/>
          <p:cNvSpPr txBox="1"/>
          <p:nvPr>
            <p:ph type="title"/>
          </p:nvPr>
        </p:nvSpPr>
        <p:spPr>
          <a:xfrm>
            <a:off x="1066800" y="304800"/>
            <a:ext cx="77739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44" name="Google Shape;1344;p107"/>
          <p:cNvSpPr txBox="1"/>
          <p:nvPr>
            <p:ph idx="1" type="body"/>
          </p:nvPr>
        </p:nvSpPr>
        <p:spPr>
          <a:xfrm>
            <a:off x="658812" y="1074737"/>
            <a:ext cx="77755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have 5 1D data points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=2,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=4,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=6, with 1, 2, 6 as class 1 and 4, 5 as class 2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=1, y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=1, y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-1, y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-1, y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the polynomial kernel of degree 2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 y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r>
              <a:rPr b="0" baseline="30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set to 100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first find </a:t>
            </a:r>
            <a:r>
              <a:rPr b="0" i="1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=1, …, 5) by</a:t>
            </a:r>
            <a:endParaRPr/>
          </a:p>
        </p:txBody>
      </p:sp>
      <p:pic>
        <p:nvPicPr>
          <p:cNvPr id="1345" name="Google Shape;134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762" y="3962400"/>
            <a:ext cx="6288087" cy="8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362" y="5191125"/>
            <a:ext cx="5616575" cy="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08"/>
          <p:cNvSpPr txBox="1"/>
          <p:nvPr>
            <p:ph type="title"/>
          </p:nvPr>
        </p:nvSpPr>
        <p:spPr>
          <a:xfrm>
            <a:off x="1066800" y="304800"/>
            <a:ext cx="77739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53" name="Google Shape;1353;p108"/>
          <p:cNvSpPr txBox="1"/>
          <p:nvPr>
            <p:ph idx="1" type="body"/>
          </p:nvPr>
        </p:nvSpPr>
        <p:spPr>
          <a:xfrm>
            <a:off x="762000" y="1600200"/>
            <a:ext cx="7773987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20661" lvl="0" marL="22066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a QP solver, we get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=0,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=2.5,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=0,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=7.333,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=4.833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(at home) that the constraints are indeed satisfied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support vectors are {x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=2,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=5, x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=6}</a:t>
            </a:r>
            <a:endParaRPr/>
          </a:p>
          <a:p>
            <a:pPr indent="-220661" lvl="0" marL="2206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discriminant function is</a:t>
            </a:r>
            <a:endParaRPr/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1" marL="51752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661" lvl="0" marL="220661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recovered by solving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(2)=1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by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(5)=-1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by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(6)=1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lie on                           and all give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endParaRPr/>
          </a:p>
        </p:txBody>
      </p:sp>
      <p:pic>
        <p:nvPicPr>
          <p:cNvPr id="1354" name="Google Shape;135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0012" y="3581400"/>
            <a:ext cx="7165975" cy="5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6053137"/>
            <a:ext cx="4114800" cy="33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8"/>
          <p:cNvSpPr/>
          <p:nvPr/>
        </p:nvSpPr>
        <p:spPr>
          <a:xfrm>
            <a:off x="1295400" y="6108700"/>
            <a:ext cx="534987" cy="228600"/>
          </a:xfrm>
          <a:custGeom>
            <a:rect b="b" l="l" r="r" t="t"/>
            <a:pathLst>
              <a:path extrusionOk="0" h="637" w="1484">
                <a:moveTo>
                  <a:pt x="0" y="207"/>
                </a:moveTo>
                <a:lnTo>
                  <a:pt x="1140" y="207"/>
                </a:lnTo>
                <a:lnTo>
                  <a:pt x="1140" y="0"/>
                </a:lnTo>
                <a:lnTo>
                  <a:pt x="1483" y="318"/>
                </a:lnTo>
                <a:lnTo>
                  <a:pt x="1140" y="636"/>
                </a:lnTo>
                <a:lnTo>
                  <a:pt x="1140" y="428"/>
                </a:lnTo>
                <a:lnTo>
                  <a:pt x="0" y="428"/>
                </a:lnTo>
                <a:lnTo>
                  <a:pt x="0" y="207"/>
                </a:lnTo>
              </a:path>
            </a:pathLst>
          </a:cu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7" name="Google Shape;1357;p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5712" y="5275262"/>
            <a:ext cx="3109912" cy="3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08"/>
          <p:cNvSpPr/>
          <p:nvPr/>
        </p:nvSpPr>
        <p:spPr>
          <a:xfrm>
            <a:off x="2048669" y="5857081"/>
            <a:ext cx="1151731" cy="685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09"/>
          <p:cNvSpPr txBox="1"/>
          <p:nvPr>
            <p:ph type="title"/>
          </p:nvPr>
        </p:nvSpPr>
        <p:spPr>
          <a:xfrm>
            <a:off x="1066800" y="304800"/>
            <a:ext cx="7773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cxnSp>
        <p:nvCxnSpPr>
          <p:cNvPr id="1365" name="Google Shape;1365;p109"/>
          <p:cNvCxnSpPr/>
          <p:nvPr/>
        </p:nvCxnSpPr>
        <p:spPr>
          <a:xfrm>
            <a:off x="2882900" y="4579937"/>
            <a:ext cx="112712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6" name="Google Shape;1366;p109"/>
          <p:cNvCxnSpPr/>
          <p:nvPr/>
        </p:nvCxnSpPr>
        <p:spPr>
          <a:xfrm flipH="1">
            <a:off x="2881312" y="4579937"/>
            <a:ext cx="115887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7" name="Google Shape;1367;p109"/>
          <p:cNvCxnSpPr/>
          <p:nvPr/>
        </p:nvCxnSpPr>
        <p:spPr>
          <a:xfrm>
            <a:off x="3581400" y="4579937"/>
            <a:ext cx="112712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8" name="Google Shape;1368;p109"/>
          <p:cNvCxnSpPr/>
          <p:nvPr/>
        </p:nvCxnSpPr>
        <p:spPr>
          <a:xfrm flipH="1">
            <a:off x="3579812" y="4579937"/>
            <a:ext cx="115887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9" name="Google Shape;1369;p109"/>
          <p:cNvCxnSpPr/>
          <p:nvPr/>
        </p:nvCxnSpPr>
        <p:spPr>
          <a:xfrm>
            <a:off x="6372225" y="4579937"/>
            <a:ext cx="111125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0" name="Google Shape;1370;p109"/>
          <p:cNvCxnSpPr/>
          <p:nvPr/>
        </p:nvCxnSpPr>
        <p:spPr>
          <a:xfrm flipH="1">
            <a:off x="6370637" y="4579937"/>
            <a:ext cx="114300" cy="112712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1" name="Google Shape;1371;p109"/>
          <p:cNvSpPr/>
          <p:nvPr/>
        </p:nvSpPr>
        <p:spPr>
          <a:xfrm>
            <a:off x="4941887" y="4545012"/>
            <a:ext cx="192087" cy="192087"/>
          </a:xfrm>
          <a:prstGeom prst="ellipse">
            <a:avLst/>
          </a:prstGeom>
          <a:noFill/>
          <a:ln cap="flat" cmpd="sng" w="38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109"/>
          <p:cNvSpPr/>
          <p:nvPr/>
        </p:nvSpPr>
        <p:spPr>
          <a:xfrm>
            <a:off x="5640387" y="4545012"/>
            <a:ext cx="190500" cy="192087"/>
          </a:xfrm>
          <a:prstGeom prst="ellipse">
            <a:avLst/>
          </a:prstGeom>
          <a:noFill/>
          <a:ln cap="flat" cmpd="sng" w="38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09"/>
          <p:cNvSpPr/>
          <p:nvPr/>
        </p:nvSpPr>
        <p:spPr>
          <a:xfrm>
            <a:off x="2241550" y="1744662"/>
            <a:ext cx="4883150" cy="3421062"/>
          </a:xfrm>
          <a:custGeom>
            <a:rect b="b" l="l" r="r" t="t"/>
            <a:pathLst>
              <a:path extrusionOk="0" h="9501" w="13566">
                <a:moveTo>
                  <a:pt x="0" y="0"/>
                </a:moveTo>
                <a:lnTo>
                  <a:pt x="189" y="467"/>
                </a:lnTo>
                <a:lnTo>
                  <a:pt x="374" y="939"/>
                </a:lnTo>
                <a:lnTo>
                  <a:pt x="564" y="1376"/>
                </a:lnTo>
                <a:lnTo>
                  <a:pt x="749" y="1812"/>
                </a:lnTo>
                <a:lnTo>
                  <a:pt x="970" y="2218"/>
                </a:lnTo>
                <a:lnTo>
                  <a:pt x="1159" y="2624"/>
                </a:lnTo>
                <a:lnTo>
                  <a:pt x="1345" y="3029"/>
                </a:lnTo>
                <a:lnTo>
                  <a:pt x="1534" y="3404"/>
                </a:lnTo>
                <a:lnTo>
                  <a:pt x="1719" y="3784"/>
                </a:lnTo>
                <a:lnTo>
                  <a:pt x="1940" y="4159"/>
                </a:lnTo>
                <a:lnTo>
                  <a:pt x="2125" y="4498"/>
                </a:lnTo>
                <a:lnTo>
                  <a:pt x="2315" y="4842"/>
                </a:lnTo>
                <a:lnTo>
                  <a:pt x="2500" y="5155"/>
                </a:lnTo>
                <a:lnTo>
                  <a:pt x="2690" y="5499"/>
                </a:lnTo>
                <a:lnTo>
                  <a:pt x="2910" y="5782"/>
                </a:lnTo>
                <a:lnTo>
                  <a:pt x="3095" y="6095"/>
                </a:lnTo>
                <a:lnTo>
                  <a:pt x="3285" y="6346"/>
                </a:lnTo>
                <a:lnTo>
                  <a:pt x="3470" y="6624"/>
                </a:lnTo>
                <a:lnTo>
                  <a:pt x="3660" y="6875"/>
                </a:lnTo>
                <a:lnTo>
                  <a:pt x="3876" y="7127"/>
                </a:lnTo>
                <a:lnTo>
                  <a:pt x="4065" y="7343"/>
                </a:lnTo>
                <a:lnTo>
                  <a:pt x="4251" y="7563"/>
                </a:lnTo>
                <a:lnTo>
                  <a:pt x="4440" y="7779"/>
                </a:lnTo>
                <a:lnTo>
                  <a:pt x="4626" y="7969"/>
                </a:lnTo>
                <a:lnTo>
                  <a:pt x="4846" y="8159"/>
                </a:lnTo>
                <a:lnTo>
                  <a:pt x="5031" y="8344"/>
                </a:lnTo>
                <a:lnTo>
                  <a:pt x="5221" y="8498"/>
                </a:lnTo>
                <a:lnTo>
                  <a:pt x="5411" y="8657"/>
                </a:lnTo>
                <a:lnTo>
                  <a:pt x="5596" y="8781"/>
                </a:lnTo>
                <a:lnTo>
                  <a:pt x="5816" y="8909"/>
                </a:lnTo>
                <a:lnTo>
                  <a:pt x="6001" y="9032"/>
                </a:lnTo>
                <a:lnTo>
                  <a:pt x="6191" y="9125"/>
                </a:lnTo>
                <a:lnTo>
                  <a:pt x="6376" y="9217"/>
                </a:lnTo>
                <a:lnTo>
                  <a:pt x="6566" y="9283"/>
                </a:lnTo>
                <a:lnTo>
                  <a:pt x="6782" y="9345"/>
                </a:lnTo>
                <a:lnTo>
                  <a:pt x="6972" y="9407"/>
                </a:lnTo>
                <a:lnTo>
                  <a:pt x="7157" y="9438"/>
                </a:lnTo>
                <a:lnTo>
                  <a:pt x="7346" y="9469"/>
                </a:lnTo>
                <a:lnTo>
                  <a:pt x="7532" y="9500"/>
                </a:lnTo>
                <a:lnTo>
                  <a:pt x="7752" y="9500"/>
                </a:lnTo>
                <a:lnTo>
                  <a:pt x="7942" y="9500"/>
                </a:lnTo>
                <a:lnTo>
                  <a:pt x="8127" y="9469"/>
                </a:lnTo>
                <a:lnTo>
                  <a:pt x="8317" y="9438"/>
                </a:lnTo>
                <a:lnTo>
                  <a:pt x="8502" y="9407"/>
                </a:lnTo>
                <a:lnTo>
                  <a:pt x="8722" y="9345"/>
                </a:lnTo>
                <a:lnTo>
                  <a:pt x="8908" y="9283"/>
                </a:lnTo>
                <a:lnTo>
                  <a:pt x="9097" y="9217"/>
                </a:lnTo>
                <a:lnTo>
                  <a:pt x="9282" y="9125"/>
                </a:lnTo>
                <a:lnTo>
                  <a:pt x="9472" y="9032"/>
                </a:lnTo>
                <a:lnTo>
                  <a:pt x="9693" y="8909"/>
                </a:lnTo>
                <a:lnTo>
                  <a:pt x="9878" y="8781"/>
                </a:lnTo>
                <a:lnTo>
                  <a:pt x="10067" y="8657"/>
                </a:lnTo>
                <a:lnTo>
                  <a:pt x="10253" y="8498"/>
                </a:lnTo>
                <a:lnTo>
                  <a:pt x="10442" y="8344"/>
                </a:lnTo>
                <a:lnTo>
                  <a:pt x="10658" y="8159"/>
                </a:lnTo>
                <a:lnTo>
                  <a:pt x="10848" y="7969"/>
                </a:lnTo>
                <a:lnTo>
                  <a:pt x="11033" y="7779"/>
                </a:lnTo>
                <a:lnTo>
                  <a:pt x="11223" y="7563"/>
                </a:lnTo>
                <a:lnTo>
                  <a:pt x="11408" y="7343"/>
                </a:lnTo>
                <a:lnTo>
                  <a:pt x="11629" y="7127"/>
                </a:lnTo>
                <a:lnTo>
                  <a:pt x="11814" y="6875"/>
                </a:lnTo>
                <a:lnTo>
                  <a:pt x="12003" y="6624"/>
                </a:lnTo>
                <a:lnTo>
                  <a:pt x="12193" y="6346"/>
                </a:lnTo>
                <a:lnTo>
                  <a:pt x="12378" y="6095"/>
                </a:lnTo>
                <a:lnTo>
                  <a:pt x="12599" y="5782"/>
                </a:lnTo>
                <a:lnTo>
                  <a:pt x="12784" y="5499"/>
                </a:lnTo>
                <a:lnTo>
                  <a:pt x="12974" y="5155"/>
                </a:lnTo>
                <a:lnTo>
                  <a:pt x="13159" y="4842"/>
                </a:lnTo>
                <a:lnTo>
                  <a:pt x="13348" y="4498"/>
                </a:lnTo>
                <a:lnTo>
                  <a:pt x="13565" y="4159"/>
                </a:lnTo>
              </a:path>
            </a:pathLst>
          </a:custGeom>
          <a:noFill/>
          <a:ln cap="flat" cmpd="sng" w="381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4" name="Google Shape;1374;p109"/>
          <p:cNvCxnSpPr/>
          <p:nvPr/>
        </p:nvCxnSpPr>
        <p:spPr>
          <a:xfrm>
            <a:off x="2241550" y="4635500"/>
            <a:ext cx="488315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5" name="Google Shape;1375;p109"/>
          <p:cNvSpPr/>
          <p:nvPr/>
        </p:nvSpPr>
        <p:spPr>
          <a:xfrm>
            <a:off x="2895600" y="2133600"/>
            <a:ext cx="4178300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Value of discriminant function</a:t>
            </a:r>
            <a:endParaRPr/>
          </a:p>
        </p:txBody>
      </p:sp>
      <p:sp>
        <p:nvSpPr>
          <p:cNvPr id="1376" name="Google Shape;1376;p109"/>
          <p:cNvSpPr/>
          <p:nvPr/>
        </p:nvSpPr>
        <p:spPr>
          <a:xfrm>
            <a:off x="2743200" y="4648200"/>
            <a:ext cx="350837" cy="457200"/>
          </a:xfrm>
          <a:prstGeom prst="roundRect">
            <a:avLst>
              <a:gd fmla="val 9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1377" name="Google Shape;1377;p109"/>
          <p:cNvSpPr/>
          <p:nvPr/>
        </p:nvSpPr>
        <p:spPr>
          <a:xfrm>
            <a:off x="3505200" y="4648200"/>
            <a:ext cx="350837" cy="457200"/>
          </a:xfrm>
          <a:prstGeom prst="roundRect">
            <a:avLst>
              <a:gd fmla="val 9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1378" name="Google Shape;1378;p109"/>
          <p:cNvSpPr/>
          <p:nvPr/>
        </p:nvSpPr>
        <p:spPr>
          <a:xfrm>
            <a:off x="4876800" y="4648200"/>
            <a:ext cx="350837" cy="457200"/>
          </a:xfrm>
          <a:prstGeom prst="roundRect">
            <a:avLst>
              <a:gd fmla="val 9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379" name="Google Shape;1379;p109"/>
          <p:cNvSpPr/>
          <p:nvPr/>
        </p:nvSpPr>
        <p:spPr>
          <a:xfrm>
            <a:off x="5562600" y="4648200"/>
            <a:ext cx="350837" cy="457200"/>
          </a:xfrm>
          <a:prstGeom prst="roundRect">
            <a:avLst>
              <a:gd fmla="val 9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1380" name="Google Shape;1380;p109"/>
          <p:cNvSpPr/>
          <p:nvPr/>
        </p:nvSpPr>
        <p:spPr>
          <a:xfrm>
            <a:off x="6278562" y="4648200"/>
            <a:ext cx="350837" cy="457200"/>
          </a:xfrm>
          <a:prstGeom prst="roundRect">
            <a:avLst>
              <a:gd fmla="val 98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cxnSp>
        <p:nvCxnSpPr>
          <p:cNvPr id="1381" name="Google Shape;1381;p109"/>
          <p:cNvCxnSpPr/>
          <p:nvPr/>
        </p:nvCxnSpPr>
        <p:spPr>
          <a:xfrm>
            <a:off x="3962400" y="3467100"/>
            <a:ext cx="1587" cy="2324100"/>
          </a:xfrm>
          <a:prstGeom prst="straightConnector1">
            <a:avLst/>
          </a:prstGeom>
          <a:noFill/>
          <a:ln cap="flat" cmpd="sng" w="25550">
            <a:solidFill>
              <a:srgbClr val="FFCF0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2" name="Google Shape;1382;p109"/>
          <p:cNvCxnSpPr/>
          <p:nvPr/>
        </p:nvCxnSpPr>
        <p:spPr>
          <a:xfrm>
            <a:off x="6121400" y="3454400"/>
            <a:ext cx="1587" cy="2324100"/>
          </a:xfrm>
          <a:prstGeom prst="straightConnector1">
            <a:avLst/>
          </a:prstGeom>
          <a:noFill/>
          <a:ln cap="flat" cmpd="sng" w="25550">
            <a:solidFill>
              <a:srgbClr val="FFCF0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83" name="Google Shape;1383;p109"/>
          <p:cNvSpPr/>
          <p:nvPr/>
        </p:nvSpPr>
        <p:spPr>
          <a:xfrm>
            <a:off x="4479925" y="3538537"/>
            <a:ext cx="109061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2</a:t>
            </a:r>
            <a:endParaRPr/>
          </a:p>
        </p:txBody>
      </p:sp>
      <p:sp>
        <p:nvSpPr>
          <p:cNvPr id="1384" name="Google Shape;1384;p109"/>
          <p:cNvSpPr/>
          <p:nvPr/>
        </p:nvSpPr>
        <p:spPr>
          <a:xfrm>
            <a:off x="6834187" y="3505200"/>
            <a:ext cx="109061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1</a:t>
            </a:r>
            <a:endParaRPr/>
          </a:p>
        </p:txBody>
      </p:sp>
      <p:sp>
        <p:nvSpPr>
          <p:cNvPr id="1385" name="Google Shape;1385;p109"/>
          <p:cNvSpPr/>
          <p:nvPr/>
        </p:nvSpPr>
        <p:spPr>
          <a:xfrm>
            <a:off x="1828800" y="3505200"/>
            <a:ext cx="1090612" cy="457200"/>
          </a:xfrm>
          <a:prstGeom prst="roundRect">
            <a:avLst>
              <a:gd fmla="val 75" name="adj"/>
            </a:avLst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1</a:t>
            </a:r>
            <a:endParaRPr/>
          </a:p>
        </p:txBody>
      </p:sp>
      <p:cxnSp>
        <p:nvCxnSpPr>
          <p:cNvPr id="1386" name="Google Shape;1386;p109"/>
          <p:cNvCxnSpPr/>
          <p:nvPr/>
        </p:nvCxnSpPr>
        <p:spPr>
          <a:xfrm flipH="1">
            <a:off x="2894012" y="3810000"/>
            <a:ext cx="1069975" cy="1587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87" name="Google Shape;1387;p109"/>
          <p:cNvCxnSpPr/>
          <p:nvPr/>
        </p:nvCxnSpPr>
        <p:spPr>
          <a:xfrm>
            <a:off x="6096000" y="3810000"/>
            <a:ext cx="838200" cy="1587"/>
          </a:xfrm>
          <a:prstGeom prst="straightConnector1">
            <a:avLst/>
          </a:prstGeom>
          <a:noFill/>
          <a:ln cap="flat" cmpd="sng" w="25550">
            <a:solidFill>
              <a:srgbClr val="00E4A8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88" name="Google Shape;1388;p109"/>
          <p:cNvCxnSpPr/>
          <p:nvPr/>
        </p:nvCxnSpPr>
        <p:spPr>
          <a:xfrm>
            <a:off x="3962400" y="4038600"/>
            <a:ext cx="2133600" cy="1587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10"/>
          <p:cNvSpPr txBox="1"/>
          <p:nvPr>
            <p:ph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the Kernel Function</a:t>
            </a:r>
            <a:endParaRPr/>
          </a:p>
        </p:txBody>
      </p:sp>
      <p:sp>
        <p:nvSpPr>
          <p:cNvPr id="1394" name="Google Shape;1394;p110"/>
          <p:cNvSpPr txBox="1"/>
          <p:nvPr>
            <p:ph idx="1" type="body"/>
          </p:nvPr>
        </p:nvSpPr>
        <p:spPr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Probably the most tricky part of using SVM.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kernel function is important because it creates the kernel matrix, which summarizes all the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principles have been proposed (diffusion kernel, Fisher kernel, string kernel, …)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even research to estimate the kernel matrix from available information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practice, a low degree polynomial kernel or RBF kernel with a reasonable width is a good initial try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SVM with RBF kernel is closely related to RBF neural networks, with the centers of the radial basis functions automatically chosen for SVM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11"/>
          <p:cNvSpPr txBox="1"/>
          <p:nvPr>
            <p:ph idx="4294967295"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 </a:t>
            </a:r>
            <a:endParaRPr/>
          </a:p>
        </p:txBody>
      </p:sp>
      <p:sp>
        <p:nvSpPr>
          <p:cNvPr id="1400" name="Google Shape;1400;p111"/>
          <p:cNvSpPr txBox="1"/>
          <p:nvPr>
            <p:ph idx="4294967295" type="body"/>
          </p:nvPr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(and Testing) is quite slow compared to ANN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of Constrained Quadratic Programming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Essentially a binary classifier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there are some tricks to evade this.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sensitive to noise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off data points can completely throw off the algorithm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Biggest Drawback: The choice of Kernel function.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“set-in-stone” theory for choosing a kernel function for any given problem (still in research...)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a kernel function is chosen, there is only ONE modifiable parameter, the error penalty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12"/>
          <p:cNvSpPr txBox="1"/>
          <p:nvPr>
            <p:ph idx="4294967295" type="title"/>
          </p:nvPr>
        </p:nvSpPr>
        <p:spPr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sp>
        <p:nvSpPr>
          <p:cNvPr id="1406" name="Google Shape;1406;p112"/>
          <p:cNvSpPr txBox="1"/>
          <p:nvPr>
            <p:ph idx="4294967295" type="body"/>
          </p:nvPr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is relatively easy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don’t have to deal with local minimum like in ANN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solution is always global and unique (check “Burges” paper for proof and justification).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ANN, doesn’t suffer from “curse of dimensionality”.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How? Why? We have infinite dimensions?!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Margin Constraint: DOT-PRODUCTS!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prone to overfitting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easy to understand geometric interpretation.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large networks to mess around with.</a:t>
            </a:r>
            <a:endParaRPr/>
          </a:p>
          <a:p>
            <a:pPr indent="-24130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13"/>
          <p:cNvSpPr txBox="1"/>
          <p:nvPr>
            <p:ph type="title"/>
          </p:nvPr>
        </p:nvSpPr>
        <p:spPr>
          <a:xfrm>
            <a:off x="146050" y="179387"/>
            <a:ext cx="7886700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Multi-Class SVMs</a:t>
            </a:r>
            <a:endParaRPr/>
          </a:p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0912" y="731837"/>
            <a:ext cx="2044700" cy="18430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13"/>
          <p:cNvSpPr txBox="1"/>
          <p:nvPr/>
        </p:nvSpPr>
        <p:spPr>
          <a:xfrm>
            <a:off x="5375275" y="2598737"/>
            <a:ext cx="3606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four classes classification problem </a:t>
            </a:r>
            <a:endParaRPr/>
          </a:p>
        </p:txBody>
      </p:sp>
      <p:sp>
        <p:nvSpPr>
          <p:cNvPr id="1414" name="Google Shape;1414;p113"/>
          <p:cNvSpPr txBox="1"/>
          <p:nvPr/>
        </p:nvSpPr>
        <p:spPr>
          <a:xfrm>
            <a:off x="230187" y="1023937"/>
            <a:ext cx="491648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One-against-all. </a:t>
            </a:r>
            <a:r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order to classify K classes, we construct K different binary classifiers. For a given class, the positive examples are all the points in the class, and the negative examples are all the points not in the class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415" name="Google Shape;1415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187" y="3209925"/>
            <a:ext cx="1692275" cy="164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462" y="3228975"/>
            <a:ext cx="1720850" cy="163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3312" y="3216275"/>
            <a:ext cx="1666875" cy="164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6700" y="3216275"/>
            <a:ext cx="1639887" cy="16557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3"/>
          <p:cNvSpPr txBox="1"/>
          <p:nvPr/>
        </p:nvSpPr>
        <p:spPr>
          <a:xfrm>
            <a:off x="628650" y="5081587"/>
            <a:ext cx="56388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One-against-all approach creates one classifier per class </a:t>
            </a:r>
            <a:endParaRPr/>
          </a:p>
        </p:txBody>
      </p:sp>
      <p:sp>
        <p:nvSpPr>
          <p:cNvPr id="1420" name="Google Shape;1420;p113"/>
          <p:cNvSpPr txBox="1"/>
          <p:nvPr/>
        </p:nvSpPr>
        <p:spPr>
          <a:xfrm>
            <a:off x="457200" y="5895975"/>
            <a:ext cx="82867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Vladimir Vapnik suggested using the class of the classifier for which the value of the decision function is the maximum </a:t>
            </a:r>
            <a:endParaRPr/>
          </a:p>
        </p:txBody>
      </p:sp>
      <p:pic>
        <p:nvPicPr>
          <p:cNvPr id="1421" name="Google Shape;1421;p1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29475" y="3405187"/>
            <a:ext cx="17907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14"/>
          <p:cNvSpPr txBox="1"/>
          <p:nvPr>
            <p:ph type="title"/>
          </p:nvPr>
        </p:nvSpPr>
        <p:spPr>
          <a:xfrm>
            <a:off x="152400" y="152400"/>
            <a:ext cx="7886700" cy="65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Multi-Class SVMs</a:t>
            </a:r>
            <a:endParaRPr/>
          </a:p>
        </p:txBody>
      </p:sp>
      <p:sp>
        <p:nvSpPr>
          <p:cNvPr id="1427" name="Google Shape;1427;p114"/>
          <p:cNvSpPr txBox="1"/>
          <p:nvPr>
            <p:ph idx="1" type="body"/>
          </p:nvPr>
        </p:nvSpPr>
        <p:spPr>
          <a:xfrm>
            <a:off x="381000" y="1050925"/>
            <a:ext cx="788670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One-against-one: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train one classifier per pair of classes, which leads 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K(K-1)/2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classifiers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classes. Each classifier is trained on a subset of the data and produces its own decision boundary. 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Predictions are made using a simple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voting strategy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Each example we wish to predict is passed to each classifier, and the predicted class is recorded. Then, the class having the most votes is assigned to the example 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8" name="Google Shape;142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12" y="3573462"/>
            <a:ext cx="3063875" cy="995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712" y="3579812"/>
            <a:ext cx="3092450" cy="9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14"/>
          <p:cNvSpPr txBox="1"/>
          <p:nvPr/>
        </p:nvSpPr>
        <p:spPr>
          <a:xfrm>
            <a:off x="239712" y="4903787"/>
            <a:ext cx="61420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One-against-one construct with one classifier for each pair of classes </a:t>
            </a:r>
            <a:endParaRPr/>
          </a:p>
        </p:txBody>
      </p:sp>
      <p:pic>
        <p:nvPicPr>
          <p:cNvPr id="1431" name="Google Shape;1431;p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3100" y="3525837"/>
            <a:ext cx="1881187" cy="1763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4"/>
          <p:cNvSpPr txBox="1"/>
          <p:nvPr/>
        </p:nvSpPr>
        <p:spPr>
          <a:xfrm>
            <a:off x="6819900" y="5399087"/>
            <a:ext cx="23241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Predictions are made using a voting scheme </a:t>
            </a:r>
            <a:endParaRPr/>
          </a:p>
        </p:txBody>
      </p:sp>
      <p:sp>
        <p:nvSpPr>
          <p:cNvPr id="1433" name="Google Shape;1433;p114"/>
          <p:cNvSpPr txBox="1"/>
          <p:nvPr/>
        </p:nvSpPr>
        <p:spPr>
          <a:xfrm>
            <a:off x="247650" y="5705475"/>
            <a:ext cx="57023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one-against-one approach is the default approach for multi-class classification used in </a:t>
            </a:r>
            <a:r>
              <a:rPr b="1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sklearn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6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9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5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8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8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4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4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0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19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0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15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1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