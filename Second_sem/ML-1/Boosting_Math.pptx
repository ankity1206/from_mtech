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79" r:id="rId2"/>
    <p:sldId id="282" r:id="rId3"/>
    <p:sldId id="283" r:id="rId4"/>
    <p:sldId id="284" r:id="rId5"/>
    <p:sldId id="274" r:id="rId6"/>
    <p:sldId id="304" r:id="rId7"/>
    <p:sldId id="288" r:id="rId8"/>
    <p:sldId id="320" r:id="rId9"/>
    <p:sldId id="324" r:id="rId10"/>
    <p:sldId id="333" r:id="rId11"/>
    <p:sldId id="326" r:id="rId12"/>
    <p:sldId id="305" r:id="rId13"/>
    <p:sldId id="306" r:id="rId14"/>
    <p:sldId id="30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88" autoAdjust="0"/>
    <p:restoredTop sz="94270" autoAdjust="0"/>
  </p:normalViewPr>
  <p:slideViewPr>
    <p:cSldViewPr snapToGrid="0">
      <p:cViewPr varScale="1">
        <p:scale>
          <a:sx n="95" d="100"/>
          <a:sy n="95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F07EA-88EC-4767-BB4F-E1CC25BC4348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5B0D6-157A-40CD-94B8-01C032586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79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093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9113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You can</a:t>
            </a:r>
            <a:r>
              <a:rPr lang="en-US" altLang="zh-TW" baseline="0" dirty="0"/>
              <a:t> ask machine to output confidence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429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70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91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23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94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46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2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53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68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920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34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557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FFD87-4730-4E38-9CDA-89C007C09183}" type="datetimeFigureOut">
              <a:rPr lang="zh-TW" altLang="en-US" smtClean="0"/>
              <a:t>2024/3/11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4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3" Type="http://schemas.openxmlformats.org/officeDocument/2006/relationships/image" Target="../media/image111.png"/><Relationship Id="rId7" Type="http://schemas.openxmlformats.org/officeDocument/2006/relationships/image" Target="../media/image970.png"/><Relationship Id="rId12" Type="http://schemas.openxmlformats.org/officeDocument/2006/relationships/image" Target="../media/image11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11" Type="http://schemas.openxmlformats.org/officeDocument/2006/relationships/image" Target="../media/image116.png"/><Relationship Id="rId5" Type="http://schemas.openxmlformats.org/officeDocument/2006/relationships/image" Target="../media/image113.png"/><Relationship Id="rId15" Type="http://schemas.openxmlformats.org/officeDocument/2006/relationships/image" Target="../media/image109.png"/><Relationship Id="rId4" Type="http://schemas.openxmlformats.org/officeDocument/2006/relationships/image" Target="../media/image112.png"/><Relationship Id="rId9" Type="http://schemas.openxmlformats.org/officeDocument/2006/relationships/image" Target="../media/image1050.png"/><Relationship Id="rId14" Type="http://schemas.openxmlformats.org/officeDocument/2006/relationships/image" Target="../media/image1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2.emf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10" Type="http://schemas.openxmlformats.org/officeDocument/2006/relationships/image" Target="../media/image4.png"/><Relationship Id="rId4" Type="http://schemas.openxmlformats.org/officeDocument/2006/relationships/image" Target="../media/image126.png"/><Relationship Id="rId9" Type="http://schemas.openxmlformats.org/officeDocument/2006/relationships/image" Target="../media/image130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263137"/>
            <a:ext cx="7772400" cy="2387600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Mathematics of Boosting</a:t>
            </a:r>
            <a:endParaRPr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45159" y="3851296"/>
                <a:ext cx="4432047" cy="14795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59" y="3851296"/>
                <a:ext cx="4432047" cy="14795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251617" y="4330145"/>
                <a:ext cx="3206583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rad>
                        <m:radPr>
                          <m:deg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617" y="4330145"/>
                <a:ext cx="3206583" cy="521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85824" y="5594713"/>
                <a:ext cx="75723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srgbClr val="0000FF"/>
                    </a:solidFill>
                  </a:rPr>
                  <a:t>As we have more and more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0000FF"/>
                    </a:solidFill>
                  </a:rPr>
                  <a:t>(T increases),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solidFill>
                      <a:srgbClr val="0000FF"/>
                    </a:solidFill>
                  </a:rPr>
                  <a:t> achieves smaller and smaller error rate on training data. </a:t>
                </a:r>
                <a:endParaRPr lang="zh-TW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4" y="5594713"/>
                <a:ext cx="7572375" cy="830997"/>
              </a:xfrm>
              <a:prstGeom prst="rect">
                <a:avLst/>
              </a:prstGeom>
              <a:blipFill>
                <a:blip r:embed="rId4"/>
                <a:stretch>
                  <a:fillRect l="-1208" t="-5882" r="-161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474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Error Rate of Final Classifier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Final classifier: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𝑙𝑛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765011" y="3408874"/>
                <a:ext cx="3141245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1" y="3408874"/>
                <a:ext cx="3141245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628651" y="2952633"/>
            <a:ext cx="3413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Training Data Error Rate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765011" y="4384549"/>
                <a:ext cx="3078728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400" b="0" i="0" dirty="0" smtClean="0"/>
                                <m:t>&lt;0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1" y="4384549"/>
                <a:ext cx="3078728" cy="896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6995140" y="2265957"/>
                <a:ext cx="8072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40" y="2265957"/>
                <a:ext cx="80720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810256" y="5408650"/>
                <a:ext cx="3314112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56" y="5408650"/>
                <a:ext cx="3314112" cy="896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6664" y="2952633"/>
            <a:ext cx="4300292" cy="3338949"/>
          </a:xfrm>
          <a:prstGeom prst="rect">
            <a:avLst/>
          </a:prstGeom>
        </p:spPr>
      </p:pic>
      <p:cxnSp>
        <p:nvCxnSpPr>
          <p:cNvPr id="11" name="直線接點 10"/>
          <p:cNvCxnSpPr/>
          <p:nvPr/>
        </p:nvCxnSpPr>
        <p:spPr>
          <a:xfrm>
            <a:off x="5192988" y="2278657"/>
            <a:ext cx="19444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849984" y="6283118"/>
                <a:ext cx="13936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984" y="6283118"/>
                <a:ext cx="1393651" cy="461665"/>
              </a:xfrm>
              <a:prstGeom prst="rect">
                <a:avLst/>
              </a:prstGeom>
              <a:blipFill>
                <a:blip r:embed="rId8"/>
                <a:stretch>
                  <a:fillRect t="-4000"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接點 14"/>
          <p:cNvCxnSpPr/>
          <p:nvPr/>
        </p:nvCxnSpPr>
        <p:spPr>
          <a:xfrm>
            <a:off x="4396664" y="5016500"/>
            <a:ext cx="2150145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559509" y="6019800"/>
            <a:ext cx="2150145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1854372" y="4965700"/>
            <a:ext cx="1951267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1892472" y="6007100"/>
            <a:ext cx="2150145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86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49220" y="365706"/>
            <a:ext cx="336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Training Data Error Rate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64351" y="918304"/>
                <a:ext cx="3314112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1" y="918304"/>
                <a:ext cx="3314112" cy="896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099728" y="193343"/>
                <a:ext cx="2520241" cy="1038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28" y="193343"/>
                <a:ext cx="2520241" cy="1038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49220" y="1951017"/>
                <a:ext cx="87365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/>
                  <a:t>: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the summation of the weights of training data for training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20" y="1951017"/>
                <a:ext cx="8736576" cy="461665"/>
              </a:xfrm>
              <a:prstGeom prst="rect">
                <a:avLst/>
              </a:prstGeom>
              <a:blipFill>
                <a:blip r:embed="rId4"/>
                <a:stretch>
                  <a:fillRect l="-209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673326" y="2378124"/>
                <a:ext cx="226921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326" y="2378124"/>
                <a:ext cx="2269211" cy="8962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249220" y="2413772"/>
                <a:ext cx="29678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zh-TW" alt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20" y="2413772"/>
                <a:ext cx="2967806" cy="461665"/>
              </a:xfrm>
              <a:prstGeom prst="rect">
                <a:avLst/>
              </a:prstGeom>
              <a:blipFill>
                <a:blip r:embed="rId6"/>
                <a:stretch>
                  <a:fillRect l="-3285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07262" y="3880289"/>
                <a:ext cx="44102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2" y="3880289"/>
                <a:ext cx="4410246" cy="461665"/>
              </a:xfrm>
              <a:prstGeom prst="rect">
                <a:avLst/>
              </a:prstGeom>
              <a:blipFill>
                <a:blip r:embed="rId7"/>
                <a:stretch>
                  <a:fillRect t="-4000"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53189" y="4430924"/>
                <a:ext cx="5381281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∏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89" y="4430924"/>
                <a:ext cx="5381281" cy="12115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109090" y="5254852"/>
                <a:ext cx="4788490" cy="1387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nary>
                                <m:naryPr>
                                  <m:chr m:val="∑"/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090" y="5254852"/>
                <a:ext cx="4788490" cy="13871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3805243" y="937436"/>
                <a:ext cx="1303883" cy="6914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243" y="937436"/>
                <a:ext cx="1303883" cy="6914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49220" y="3289321"/>
                <a:ext cx="11703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20" y="3289321"/>
                <a:ext cx="1170320" cy="461665"/>
              </a:xfrm>
              <a:prstGeom prst="rect">
                <a:avLst/>
              </a:prstGeom>
              <a:blipFill>
                <a:blip r:embed="rId11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834634" y="3186894"/>
                <a:ext cx="4273028" cy="11307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634" y="3186894"/>
                <a:ext cx="4273028" cy="113075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7194622" y="5036699"/>
                <a:ext cx="8072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622" y="5036699"/>
                <a:ext cx="807209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接點 17"/>
          <p:cNvCxnSpPr/>
          <p:nvPr/>
        </p:nvCxnSpPr>
        <p:spPr>
          <a:xfrm>
            <a:off x="6626021" y="6612153"/>
            <a:ext cx="19444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右大括弧 1"/>
          <p:cNvSpPr/>
          <p:nvPr/>
        </p:nvSpPr>
        <p:spPr>
          <a:xfrm>
            <a:off x="4541308" y="3321642"/>
            <a:ext cx="205742" cy="1051847"/>
          </a:xfrm>
          <a:prstGeom prst="rightBrace">
            <a:avLst>
              <a:gd name="adj1" fmla="val 35885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6099728" y="1366407"/>
                <a:ext cx="274594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rad>
                        <m:radPr>
                          <m:deg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28" y="1366407"/>
                <a:ext cx="2745945" cy="447238"/>
              </a:xfrm>
              <a:prstGeom prst="rect">
                <a:avLst/>
              </a:prstGeom>
              <a:blipFill>
                <a:blip r:embed="rId14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14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14327" y="2096669"/>
                <a:ext cx="11822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27" y="2096669"/>
                <a:ext cx="118224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48190" y="2684029"/>
                <a:ext cx="692946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0" y="2684029"/>
                <a:ext cx="692946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417665" y="4378840"/>
                <a:ext cx="4202304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nary>
                        <m:naryPr>
                          <m:chr m:val="∏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665" y="4378840"/>
                <a:ext cx="4202304" cy="1211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547336" y="4499993"/>
                <a:ext cx="3545907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36" y="4499993"/>
                <a:ext cx="3545907" cy="521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/>
          <p:cNvSpPr txBox="1"/>
          <p:nvPr/>
        </p:nvSpPr>
        <p:spPr>
          <a:xfrm>
            <a:off x="563378" y="5760247"/>
            <a:ext cx="3371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Training Data Error Rate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3669578" y="5448092"/>
                <a:ext cx="2612510" cy="1038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∏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578" y="5448092"/>
                <a:ext cx="2612510" cy="10384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/>
          <p:cNvSpPr txBox="1"/>
          <p:nvPr/>
        </p:nvSpPr>
        <p:spPr>
          <a:xfrm>
            <a:off x="6658991" y="5656325"/>
            <a:ext cx="2067951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Smaller and smaller</a:t>
            </a:r>
            <a:endParaRPr lang="zh-TW" altLang="en-US" sz="28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49220" y="365706"/>
            <a:ext cx="336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Training Data Error Rate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48190" y="937436"/>
                <a:ext cx="3314112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0" y="937436"/>
                <a:ext cx="3314112" cy="8962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805243" y="937436"/>
                <a:ext cx="1303883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243" y="937436"/>
                <a:ext cx="1303883" cy="6914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1800347" y="2081279"/>
            <a:ext cx="240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(equal weights)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514327" y="3156829"/>
                <a:ext cx="37025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Misclassified portion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27" y="3156829"/>
                <a:ext cx="3702570" cy="461665"/>
              </a:xfrm>
              <a:prstGeom prst="rect">
                <a:avLst/>
              </a:prstGeom>
              <a:blipFill>
                <a:blip r:embed="rId11"/>
                <a:stretch>
                  <a:fillRect l="-2467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4476669" y="3137389"/>
                <a:ext cx="46673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Correctly classified portion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669" y="3137389"/>
                <a:ext cx="4667331" cy="461665"/>
              </a:xfrm>
              <a:prstGeom prst="rect">
                <a:avLst/>
              </a:prstGeom>
              <a:blipFill>
                <a:blip r:embed="rId12"/>
                <a:stretch>
                  <a:fillRect l="-1958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接點 22"/>
          <p:cNvCxnSpPr/>
          <p:nvPr/>
        </p:nvCxnSpPr>
        <p:spPr>
          <a:xfrm>
            <a:off x="1266951" y="3129906"/>
            <a:ext cx="1066792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3873589" y="3114916"/>
            <a:ext cx="1888323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514327" y="3734753"/>
                <a:ext cx="7732117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ad>
                        <m:radPr>
                          <m:degHide m:val="on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27" y="3734753"/>
                <a:ext cx="7732117" cy="5218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接點 26"/>
          <p:cNvCxnSpPr/>
          <p:nvPr/>
        </p:nvCxnSpPr>
        <p:spPr>
          <a:xfrm>
            <a:off x="4498604" y="6200564"/>
            <a:ext cx="17834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686948" y="6197977"/>
            <a:ext cx="86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&lt;1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6099728" y="193343"/>
                <a:ext cx="2520241" cy="1038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28" y="193343"/>
                <a:ext cx="2520241" cy="10384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6099728" y="1366407"/>
                <a:ext cx="274594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rad>
                        <m:radPr>
                          <m:deg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28" y="1366407"/>
                <a:ext cx="2745945" cy="447238"/>
              </a:xfrm>
              <a:prstGeom prst="rect">
                <a:avLst/>
              </a:prstGeom>
              <a:blipFill>
                <a:blip r:embed="rId15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240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  <p:bldP spid="12" grpId="0"/>
      <p:bldP spid="13" grpId="0"/>
      <p:bldP spid="14" grpId="0" animBg="1"/>
      <p:bldP spid="3" grpId="0"/>
      <p:bldP spid="20" grpId="0"/>
      <p:bldP spid="21" grpId="0"/>
      <p:bldP spid="26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15" y="117153"/>
            <a:ext cx="5573858" cy="36937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301" y="2573282"/>
            <a:ext cx="5811184" cy="40534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文字方塊 6"/>
          <p:cNvSpPr txBox="1"/>
          <p:nvPr/>
        </p:nvSpPr>
        <p:spPr>
          <a:xfrm>
            <a:off x="4138047" y="196910"/>
            <a:ext cx="4532286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Even though the training error is 0, the testing error still decreases?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4137" y="4162604"/>
                <a:ext cx="3128164" cy="1650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7" y="4162604"/>
                <a:ext cx="3128164" cy="16507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60515" y="4369154"/>
                <a:ext cx="9153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15" y="4369154"/>
                <a:ext cx="91531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608219" y="5703363"/>
                <a:ext cx="87466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219" y="5703363"/>
                <a:ext cx="874662" cy="461665"/>
              </a:xfrm>
              <a:prstGeom prst="rect">
                <a:avLst/>
              </a:prstGeom>
              <a:blipFill>
                <a:blip r:embed="rId7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接點 11"/>
          <p:cNvCxnSpPr/>
          <p:nvPr/>
        </p:nvCxnSpPr>
        <p:spPr>
          <a:xfrm>
            <a:off x="1229193" y="5703363"/>
            <a:ext cx="1718251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84398" y="6165028"/>
                <a:ext cx="26476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Margin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98" y="6165028"/>
                <a:ext cx="2647641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76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Large Margin?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665156" y="2494474"/>
                <a:ext cx="3141245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56" y="2494474"/>
                <a:ext cx="3141245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578722" y="1811571"/>
            <a:ext cx="3413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Training Data Error Rate = 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28650" y="3525617"/>
                <a:ext cx="3314112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525617"/>
                <a:ext cx="3314112" cy="896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799038" y="6119679"/>
                <a:ext cx="13936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9038" y="6119679"/>
                <a:ext cx="1393651" cy="461665"/>
              </a:xfrm>
              <a:prstGeom prst="rect">
                <a:avLst/>
              </a:prstGeom>
              <a:blipFill>
                <a:blip r:embed="rId5"/>
                <a:stretch>
                  <a:fillRect t="-3947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654690" y="-112420"/>
                <a:ext cx="3128164" cy="1650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690" y="-112420"/>
                <a:ext cx="3128164" cy="16507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884553" y="644674"/>
                <a:ext cx="9153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53" y="644674"/>
                <a:ext cx="91531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272020" y="1412072"/>
                <a:ext cx="87466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020" y="1412072"/>
                <a:ext cx="874662" cy="461665"/>
              </a:xfrm>
              <a:prstGeom prst="rect">
                <a:avLst/>
              </a:prstGeom>
              <a:blipFill>
                <a:blip r:embed="rId8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/>
          <p:cNvCxnSpPr/>
          <p:nvPr/>
        </p:nvCxnSpPr>
        <p:spPr>
          <a:xfrm>
            <a:off x="7064603" y="1442572"/>
            <a:ext cx="1260247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65156" y="4556760"/>
                <a:ext cx="2612510" cy="1038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56" y="4556760"/>
                <a:ext cx="2612510" cy="10384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931078" y="5796880"/>
            <a:ext cx="2875324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Getting smaller and smaller as T increase</a:t>
            </a:r>
            <a:endParaRPr lang="zh-TW" altLang="en-US" sz="2400" dirty="0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2689" y="2144787"/>
            <a:ext cx="5006351" cy="3974892"/>
          </a:xfrm>
          <a:prstGeom prst="rect">
            <a:avLst/>
          </a:prstGeom>
        </p:spPr>
      </p:pic>
      <p:cxnSp>
        <p:nvCxnSpPr>
          <p:cNvPr id="16" name="直線接點 15"/>
          <p:cNvCxnSpPr/>
          <p:nvPr/>
        </p:nvCxnSpPr>
        <p:spPr>
          <a:xfrm>
            <a:off x="3992689" y="4350840"/>
            <a:ext cx="2503175" cy="0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495864" y="5871200"/>
            <a:ext cx="2503175" cy="0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992688" y="1919234"/>
            <a:ext cx="4032007" cy="395196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手繪多邊形: 圖案 14"/>
          <p:cNvSpPr/>
          <p:nvPr/>
        </p:nvSpPr>
        <p:spPr>
          <a:xfrm>
            <a:off x="285724" y="4191000"/>
            <a:ext cx="590576" cy="2057400"/>
          </a:xfrm>
          <a:custGeom>
            <a:avLst/>
            <a:gdLst>
              <a:gd name="connsiteX0" fmla="*/ 590576 w 590576"/>
              <a:gd name="connsiteY0" fmla="*/ 0 h 2057400"/>
              <a:gd name="connsiteX1" fmla="*/ 26 w 590576"/>
              <a:gd name="connsiteY1" fmla="*/ 666750 h 2057400"/>
              <a:gd name="connsiteX2" fmla="*/ 571526 w 590576"/>
              <a:gd name="connsiteY2" fmla="*/ 205740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76" h="2057400">
                <a:moveTo>
                  <a:pt x="590576" y="0"/>
                </a:moveTo>
                <a:cubicBezTo>
                  <a:pt x="296888" y="161925"/>
                  <a:pt x="3201" y="323850"/>
                  <a:pt x="26" y="666750"/>
                </a:cubicBezTo>
                <a:cubicBezTo>
                  <a:pt x="-3149" y="1009650"/>
                  <a:pt x="284188" y="1533525"/>
                  <a:pt x="571526" y="2057400"/>
                </a:cubicBezTo>
              </a:path>
            </a:pathLst>
          </a:custGeom>
          <a:noFill/>
          <a:ln w="571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7433351" y="3898180"/>
            <a:ext cx="1648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Logistic regression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870484" y="2583910"/>
            <a:ext cx="140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solidFill>
                  <a:srgbClr val="FF0000"/>
                </a:solidFill>
              </a:rPr>
              <a:t>Adaboost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825964" y="5203620"/>
            <a:ext cx="140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C000"/>
                </a:solidFill>
              </a:rPr>
              <a:t>SVM</a:t>
            </a:r>
            <a:endParaRPr lang="zh-TW" altLang="en-US" sz="2400" dirty="0">
              <a:solidFill>
                <a:srgbClr val="FFC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H="1">
            <a:off x="6850743" y="5075973"/>
            <a:ext cx="376757" cy="3584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7746498" y="4677569"/>
            <a:ext cx="265547" cy="3734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endCxn id="20" idx="1"/>
          </p:cNvCxnSpPr>
          <p:nvPr/>
        </p:nvCxnSpPr>
        <p:spPr>
          <a:xfrm flipV="1">
            <a:off x="5533491" y="2814743"/>
            <a:ext cx="336993" cy="1594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13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 learn more 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Introduction of </a:t>
            </a:r>
            <a:r>
              <a:rPr lang="en-US" altLang="zh-TW" sz="2400" dirty="0" err="1"/>
              <a:t>Adaboost</a:t>
            </a:r>
            <a:r>
              <a:rPr lang="en-US" altLang="zh-TW" sz="2400" dirty="0"/>
              <a:t>:</a:t>
            </a:r>
          </a:p>
          <a:p>
            <a:pPr lvl="1"/>
            <a:r>
              <a:rPr lang="en-US" altLang="zh-TW" sz="1800" dirty="0"/>
              <a:t>Freund; </a:t>
            </a:r>
            <a:r>
              <a:rPr lang="en-US" altLang="zh-TW" sz="1800" dirty="0" err="1"/>
              <a:t>Schapire</a:t>
            </a:r>
            <a:r>
              <a:rPr lang="en-US" altLang="zh-TW" sz="1800" dirty="0"/>
              <a:t> (1999). "A Short Introduction to Boosting“</a:t>
            </a:r>
          </a:p>
          <a:p>
            <a:r>
              <a:rPr lang="en-US" altLang="zh-TW" sz="2400" dirty="0"/>
              <a:t>Multiclass/Regression</a:t>
            </a:r>
          </a:p>
          <a:p>
            <a:pPr lvl="1"/>
            <a:r>
              <a:rPr lang="en-US" altLang="zh-TW" sz="1800" dirty="0"/>
              <a:t>Y. Freund, R. </a:t>
            </a:r>
            <a:r>
              <a:rPr lang="en-US" altLang="zh-TW" sz="1800" dirty="0" err="1"/>
              <a:t>Schapire</a:t>
            </a:r>
            <a:r>
              <a:rPr lang="en-US" altLang="zh-TW" sz="1800" dirty="0"/>
              <a:t>, “A Decision-Theoretic Generalization of on-Line Learning and an Application to Boosting”, 1995.</a:t>
            </a:r>
          </a:p>
          <a:p>
            <a:pPr lvl="1"/>
            <a:r>
              <a:rPr lang="en-US" altLang="zh-TW" sz="1800" dirty="0"/>
              <a:t>Robert E. </a:t>
            </a:r>
            <a:r>
              <a:rPr lang="en-US" altLang="zh-TW" sz="1800" dirty="0" err="1"/>
              <a:t>Schapire</a:t>
            </a:r>
            <a:r>
              <a:rPr lang="en-US" altLang="zh-TW" sz="1800" dirty="0"/>
              <a:t> and </a:t>
            </a:r>
            <a:r>
              <a:rPr lang="en-US" altLang="zh-TW" sz="1800" dirty="0" err="1"/>
              <a:t>Yoram</a:t>
            </a:r>
            <a:r>
              <a:rPr lang="en-US" altLang="zh-TW" sz="1800" dirty="0"/>
              <a:t> Singer. Improved boosting algorithms using confidence-rated predictions. In Proceedings of the Eleventh Annual Conference on Computational Learning Theory, pages 80–91, 1998. </a:t>
            </a:r>
          </a:p>
          <a:p>
            <a:r>
              <a:rPr lang="en-US" altLang="zh-TW" sz="2400" dirty="0"/>
              <a:t>Gentle Boost</a:t>
            </a:r>
          </a:p>
          <a:p>
            <a:pPr lvl="1"/>
            <a:r>
              <a:rPr lang="en-US" altLang="zh-TW" sz="1800" dirty="0" err="1"/>
              <a:t>Schapire</a:t>
            </a:r>
            <a:r>
              <a:rPr lang="en-US" altLang="zh-TW" sz="1800" dirty="0"/>
              <a:t>, Robert; Singer, </a:t>
            </a:r>
            <a:r>
              <a:rPr lang="en-US" altLang="zh-TW" sz="1800" dirty="0" err="1"/>
              <a:t>Yoram</a:t>
            </a:r>
            <a:r>
              <a:rPr lang="en-US" altLang="zh-TW" sz="1800" dirty="0"/>
              <a:t> (1999). "Improved Boosting Algorithms Using Confidence-rated Predictions". 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95454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General Formulation of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/>
                  <a:t>Initial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400" dirty="0"/>
              </a:p>
              <a:p>
                <a:r>
                  <a:rPr lang="en-US" altLang="zh-TW" sz="2400" dirty="0"/>
                  <a:t>For t = 1 to T:</a:t>
                </a:r>
              </a:p>
              <a:p>
                <a:pPr lvl="1"/>
                <a:r>
                  <a:rPr lang="en-US" altLang="zh-TW" dirty="0"/>
                  <a:t>Find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to improve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altLang="zh-TW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sz="2400" dirty="0"/>
                  <a:t>Output: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zh-TW" altLang="en-US" sz="2400" dirty="0"/>
              </a:p>
              <a:p>
                <a:endParaRPr lang="en-US" altLang="zh-TW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786995" y="4722830"/>
                <a:ext cx="55947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What is the learning target of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?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95" y="4722830"/>
                <a:ext cx="5594729" cy="461665"/>
              </a:xfrm>
              <a:prstGeom prst="rect">
                <a:avLst/>
              </a:prstGeom>
              <a:blipFill>
                <a:blip r:embed="rId3"/>
                <a:stretch>
                  <a:fillRect l="-1634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/>
          <p:cNvSpPr txBox="1"/>
          <p:nvPr/>
        </p:nvSpPr>
        <p:spPr>
          <a:xfrm>
            <a:off x="911684" y="5565018"/>
            <a:ext cx="11504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2400" b="0" dirty="0"/>
              <a:t>Minimize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341996" y="5376398"/>
                <a:ext cx="3027688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996" y="5376398"/>
                <a:ext cx="3027688" cy="896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2157663" y="5376398"/>
                <a:ext cx="3184333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663" y="5376398"/>
                <a:ext cx="3184333" cy="8962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接點 11"/>
          <p:cNvCxnSpPr/>
          <p:nvPr/>
        </p:nvCxnSpPr>
        <p:spPr>
          <a:xfrm>
            <a:off x="1378424" y="2988860"/>
            <a:ext cx="5982987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235312" y="2688110"/>
            <a:ext cx="1110898" cy="3821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4775910" y="3930555"/>
            <a:ext cx="2989666" cy="464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004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8" grpId="0"/>
      <p:bldP spid="9" grpId="0"/>
      <p:bldP spid="10" grpId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Boosting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/>
                  <a:t>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, minimize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nor/>
                              </m:rPr>
                              <a:rPr lang="zh-TW" altLang="en-US" sz="2400" dirty="0"/>
                              <m:t> </m:t>
                            </m:r>
                          </m:e>
                        </m:d>
                      </m:e>
                    </m:nary>
                  </m:oMath>
                </a14:m>
                <a:endParaRPr lang="en-US" altLang="zh-TW" sz="2400" dirty="0"/>
              </a:p>
              <a:p>
                <a:pPr lvl="1"/>
                <a:r>
                  <a:rPr lang="en-US" altLang="zh-TW" dirty="0"/>
                  <a:t>If we already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, how to update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?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4706" r="-30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699970" y="2869340"/>
            <a:ext cx="2757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Gradient Descent: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361789" y="3329995"/>
                <a:ext cx="4191789" cy="911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789" y="3329995"/>
                <a:ext cx="4191789" cy="9117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609703" y="3972970"/>
                <a:ext cx="1552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703" y="3972970"/>
                <a:ext cx="1552669" cy="276999"/>
              </a:xfrm>
              <a:prstGeom prst="rect">
                <a:avLst/>
              </a:prstGeom>
              <a:blipFill>
                <a:blip r:embed="rId4"/>
                <a:stretch>
                  <a:fillRect l="-3137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接點 8"/>
          <p:cNvCxnSpPr/>
          <p:nvPr/>
        </p:nvCxnSpPr>
        <p:spPr>
          <a:xfrm>
            <a:off x="5567126" y="3262527"/>
            <a:ext cx="0" cy="10466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971499" y="3208024"/>
            <a:ext cx="3190873" cy="11389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006142" y="4346934"/>
                <a:ext cx="5116401" cy="11378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800" dirty="0"/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TW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142" y="4346934"/>
                <a:ext cx="5116401" cy="1137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339294" y="5653743"/>
                <a:ext cx="432297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94" y="5653743"/>
                <a:ext cx="432297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1235843" y="4729869"/>
            <a:ext cx="2735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Same direction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71499" y="4647856"/>
            <a:ext cx="436728" cy="464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8121960" y="4647856"/>
            <a:ext cx="273808" cy="464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971499" y="5681912"/>
            <a:ext cx="1582079" cy="507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/>
          <p:cNvCxnSpPr/>
          <p:nvPr/>
        </p:nvCxnSpPr>
        <p:spPr>
          <a:xfrm flipH="1">
            <a:off x="2947916" y="4080681"/>
            <a:ext cx="1023583" cy="688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2947917" y="5218485"/>
            <a:ext cx="1241946" cy="4812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39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Boosting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198683" y="1423419"/>
                <a:ext cx="4178131" cy="11378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800" dirty="0"/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TW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683" y="1423419"/>
                <a:ext cx="4178131" cy="11378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24256" y="1667029"/>
                <a:ext cx="10445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256" y="1667029"/>
                <a:ext cx="104451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號: 左-右雙向 5"/>
          <p:cNvSpPr/>
          <p:nvPr/>
        </p:nvSpPr>
        <p:spPr>
          <a:xfrm>
            <a:off x="2168773" y="1730747"/>
            <a:ext cx="2029910" cy="39578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094836" y="2099630"/>
            <a:ext cx="217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Same direction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11554" y="2650450"/>
                <a:ext cx="43976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/>
                  <a:t>We want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maximizing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54" y="2650450"/>
                <a:ext cx="4397679" cy="461665"/>
              </a:xfrm>
              <a:prstGeom prst="rect">
                <a:avLst/>
              </a:prstGeom>
              <a:blipFill>
                <a:blip r:embed="rId4"/>
                <a:stretch>
                  <a:fillRect l="-2078" t="-10526" r="-1247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183728" y="3055725"/>
                <a:ext cx="5497339" cy="11378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800" dirty="0"/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TW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728" y="3055725"/>
                <a:ext cx="5497339" cy="1137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/>
          <p:cNvCxnSpPr/>
          <p:nvPr/>
        </p:nvCxnSpPr>
        <p:spPr>
          <a:xfrm>
            <a:off x="7507624" y="3806777"/>
            <a:ext cx="9408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896290" y="3806777"/>
            <a:ext cx="4885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6896290" y="3863772"/>
            <a:ext cx="1461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Same sign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3907528" y="3854810"/>
                <a:ext cx="27883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example weight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528" y="3854810"/>
                <a:ext cx="2788331" cy="461665"/>
              </a:xfrm>
              <a:prstGeom prst="rect">
                <a:avLst/>
              </a:prstGeom>
              <a:blipFill>
                <a:blip r:embed="rId6"/>
                <a:stretch>
                  <a:fillRect l="-350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接點 17"/>
          <p:cNvCxnSpPr/>
          <p:nvPr/>
        </p:nvCxnSpPr>
        <p:spPr>
          <a:xfrm>
            <a:off x="3825349" y="3797816"/>
            <a:ext cx="287051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628650" y="4803043"/>
                <a:ext cx="3533018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803043"/>
                <a:ext cx="3533018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4025951" y="4374450"/>
                <a:ext cx="3772828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951" y="4374450"/>
                <a:ext cx="3772828" cy="12813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1039816" y="5526004"/>
                <a:ext cx="3532184" cy="11261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16" y="5526004"/>
                <a:ext cx="3532184" cy="11261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/>
          <p:cNvSpPr txBox="1"/>
          <p:nvPr/>
        </p:nvSpPr>
        <p:spPr>
          <a:xfrm>
            <a:off x="4643123" y="5699321"/>
            <a:ext cx="3917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Exactly the weights we obtain in </a:t>
            </a:r>
            <a:r>
              <a:rPr lang="en-US" altLang="zh-TW" sz="2400" dirty="0" err="1">
                <a:solidFill>
                  <a:srgbClr val="0000FF"/>
                </a:solidFill>
              </a:rPr>
              <a:t>Adaboost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770646" y="3284727"/>
            <a:ext cx="1775707" cy="6213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6639490" y="2835859"/>
            <a:ext cx="2029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Minimize Error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86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6" grpId="0"/>
      <p:bldP spid="17" grpId="0"/>
      <p:bldP spid="20" grpId="0"/>
      <p:bldP spid="21" grpId="0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Boosting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2400" dirty="0"/>
                  <a:t>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, minimize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nor/>
                              </m:rPr>
                              <a:rPr lang="zh-TW" altLang="en-US" sz="2400" dirty="0"/>
                              <m:t> 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47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858291" y="2470320"/>
                <a:ext cx="41383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91" y="2470320"/>
                <a:ext cx="413831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841829" y="3084237"/>
                <a:ext cx="37301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/>
                  <a:t>minimzing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/>
                  <a:t> 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29" y="3084237"/>
                <a:ext cx="3730171" cy="461665"/>
              </a:xfrm>
              <a:prstGeom prst="rect">
                <a:avLst/>
              </a:prstGeom>
              <a:blipFill>
                <a:blip r:embed="rId4"/>
                <a:stretch>
                  <a:fillRect l="-245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948856" y="3482928"/>
                <a:ext cx="5776005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sz="2400" dirty="0"/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56" y="3482928"/>
                <a:ext cx="5776005" cy="9885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948856" y="4214665"/>
                <a:ext cx="5706819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56" y="4214665"/>
                <a:ext cx="5706819" cy="988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4228" y="4951512"/>
                <a:ext cx="5171031" cy="10361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TW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8" y="4951512"/>
                <a:ext cx="5171031" cy="10361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191993" y="2275330"/>
                <a:ext cx="2645167" cy="830997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is something like learning rate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993" y="2275330"/>
                <a:ext cx="2645167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317097" y="5697510"/>
                <a:ext cx="5366084" cy="10361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TW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TW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097" y="5697510"/>
                <a:ext cx="5366084" cy="10361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6867254" y="3443410"/>
                <a:ext cx="152267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/>
                  <a:t> such that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254" y="3443410"/>
                <a:ext cx="1522671" cy="830997"/>
              </a:xfrm>
              <a:prstGeom prst="rect">
                <a:avLst/>
              </a:prstGeom>
              <a:blipFill>
                <a:blip r:embed="rId10"/>
                <a:stretch>
                  <a:fillRect l="-6426" t="-5882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7228395" y="4245326"/>
                <a:ext cx="1613262" cy="8714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395" y="4245326"/>
                <a:ext cx="1613262" cy="8714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947513" y="5129580"/>
                <a:ext cx="6861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513" y="5129580"/>
                <a:ext cx="686149" cy="369332"/>
              </a:xfrm>
              <a:prstGeom prst="rect">
                <a:avLst/>
              </a:prstGeom>
              <a:blipFill>
                <a:blip r:embed="rId12"/>
                <a:stretch>
                  <a:fillRect l="-6250" r="-4464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6841670" y="5451974"/>
                <a:ext cx="2227918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𝑙𝑛</m:t>
                      </m:r>
                      <m:rad>
                        <m:radPr>
                          <m:deg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670" y="5451974"/>
                <a:ext cx="2227918" cy="5395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接點 21"/>
          <p:cNvCxnSpPr/>
          <p:nvPr/>
        </p:nvCxnSpPr>
        <p:spPr>
          <a:xfrm>
            <a:off x="6748672" y="3464490"/>
            <a:ext cx="0" cy="34774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7206339" y="6123252"/>
            <a:ext cx="1424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solidFill>
                  <a:srgbClr val="0000FF"/>
                </a:solidFill>
              </a:rPr>
              <a:t>Adaboost</a:t>
            </a:r>
            <a:r>
              <a:rPr lang="en-US" altLang="zh-TW" sz="2400" dirty="0">
                <a:solidFill>
                  <a:srgbClr val="0000FF"/>
                </a:solidFill>
              </a:rPr>
              <a:t>!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52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5" grpId="0" animBg="1"/>
      <p:bldP spid="16" grpId="0"/>
      <p:bldP spid="17" grpId="0"/>
      <p:bldP spid="18" grpId="0"/>
      <p:bldP spid="19" grpId="0"/>
      <p:bldP spid="20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Ensemble: Stacking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65000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線單箭頭接點 24"/>
          <p:cNvCxnSpPr/>
          <p:nvPr/>
        </p:nvCxnSpPr>
        <p:spPr>
          <a:xfrm flipV="1">
            <a:off x="3937067" y="2655627"/>
            <a:ext cx="1354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3937066" y="3635830"/>
            <a:ext cx="1354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V="1">
            <a:off x="3913003" y="4643412"/>
            <a:ext cx="1354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3953108" y="5590333"/>
            <a:ext cx="1354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Voting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18540" y="2264101"/>
            <a:ext cx="2053653" cy="74950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TW" sz="2400" dirty="0"/>
              <a:t>Ram</a:t>
            </a:r>
            <a:r>
              <a:rPr lang="en-US" altLang="zh-TW" sz="2400" dirty="0"/>
              <a:t>’s system</a:t>
            </a:r>
            <a:endParaRPr lang="zh-TW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2318539" y="3261076"/>
            <a:ext cx="2053653" cy="7495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TW" sz="2400" dirty="0"/>
              <a:t>Shyam</a:t>
            </a:r>
            <a:r>
              <a:rPr lang="en-US" altLang="zh-TW" sz="2400" dirty="0"/>
              <a:t>’s system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2318539" y="4220532"/>
            <a:ext cx="2053653" cy="7495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TW" sz="2400" dirty="0" err="1"/>
              <a:t>Jodu</a:t>
            </a:r>
            <a:r>
              <a:rPr lang="en-US" altLang="zh-TW" sz="2400" dirty="0"/>
              <a:t>’s system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2318539" y="5198747"/>
            <a:ext cx="2053653" cy="749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TW" sz="2400" dirty="0" err="1"/>
              <a:t>Modhu</a:t>
            </a:r>
            <a:r>
              <a:rPr lang="en-US" altLang="zh-TW" sz="2400" dirty="0"/>
              <a:t>’s system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335625" y="3600618"/>
            <a:ext cx="19380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Majority</a:t>
            </a:r>
          </a:p>
          <a:p>
            <a:pPr algn="ctr"/>
            <a:r>
              <a:rPr lang="en-US" altLang="zh-TW" sz="2800" dirty="0"/>
              <a:t>Vote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31013" y="3811852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291984" y="2345854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y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291983" y="3278759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y</a:t>
            </a:r>
            <a:endParaRPr lang="zh-TW" altLang="en-US" sz="2800" dirty="0">
              <a:solidFill>
                <a:srgbClr val="00B05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91983" y="4293115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C000"/>
                </a:solidFill>
              </a:rPr>
              <a:t>y</a:t>
            </a:r>
            <a:endParaRPr lang="zh-TW" altLang="en-US" sz="2800" dirty="0">
              <a:solidFill>
                <a:srgbClr val="FFC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291982" y="5289748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F0"/>
                </a:solidFill>
              </a:rPr>
              <a:t>y</a:t>
            </a:r>
            <a:endParaRPr lang="zh-TW" altLang="en-US" sz="2800" dirty="0">
              <a:solidFill>
                <a:srgbClr val="00B0F0"/>
              </a:solidFill>
            </a:endParaRPr>
          </a:p>
        </p:txBody>
      </p:sp>
      <p:cxnSp>
        <p:nvCxnSpPr>
          <p:cNvPr id="15" name="直線單箭頭接點 14"/>
          <p:cNvCxnSpPr>
            <a:stCxn id="9" idx="3"/>
            <a:endCxn id="4" idx="1"/>
          </p:cNvCxnSpPr>
          <p:nvPr/>
        </p:nvCxnSpPr>
        <p:spPr>
          <a:xfrm flipV="1">
            <a:off x="1196234" y="2638856"/>
            <a:ext cx="1122306" cy="1434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3"/>
            <a:endCxn id="5" idx="1"/>
          </p:cNvCxnSpPr>
          <p:nvPr/>
        </p:nvCxnSpPr>
        <p:spPr>
          <a:xfrm flipV="1">
            <a:off x="1196234" y="3635831"/>
            <a:ext cx="1122305" cy="437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9" idx="3"/>
            <a:endCxn id="6" idx="1"/>
          </p:cNvCxnSpPr>
          <p:nvPr/>
        </p:nvCxnSpPr>
        <p:spPr>
          <a:xfrm>
            <a:off x="1196234" y="4073462"/>
            <a:ext cx="1122305" cy="521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9" idx="3"/>
            <a:endCxn id="7" idx="1"/>
          </p:cNvCxnSpPr>
          <p:nvPr/>
        </p:nvCxnSpPr>
        <p:spPr>
          <a:xfrm>
            <a:off x="1196234" y="4073462"/>
            <a:ext cx="1122305" cy="150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右大括弧 29"/>
          <p:cNvSpPr/>
          <p:nvPr/>
        </p:nvSpPr>
        <p:spPr>
          <a:xfrm>
            <a:off x="5966656" y="2284044"/>
            <a:ext cx="368969" cy="3664212"/>
          </a:xfrm>
          <a:prstGeom prst="rightBrace">
            <a:avLst>
              <a:gd name="adj1" fmla="val 47056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05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Stacking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 flipV="1">
            <a:off x="3937067" y="2655627"/>
            <a:ext cx="1354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3937066" y="3635830"/>
            <a:ext cx="1354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3913003" y="4643412"/>
            <a:ext cx="1354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3953108" y="5590333"/>
            <a:ext cx="13549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318540" y="2264101"/>
            <a:ext cx="2053653" cy="74950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TW" sz="2400" dirty="0"/>
              <a:t>Ram</a:t>
            </a:r>
            <a:r>
              <a:rPr lang="en-US" altLang="zh-TW" sz="2400" dirty="0"/>
              <a:t>’s system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2318539" y="3261076"/>
            <a:ext cx="2053653" cy="7495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TW" sz="2400" dirty="0"/>
              <a:t>Shyam</a:t>
            </a:r>
            <a:r>
              <a:rPr lang="en-US" altLang="zh-TW" sz="2400" dirty="0"/>
              <a:t>’s system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2318539" y="4220532"/>
            <a:ext cx="2053653" cy="7495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TW" sz="2400" dirty="0" err="1"/>
              <a:t>Jodu</a:t>
            </a:r>
            <a:r>
              <a:rPr lang="en-US" altLang="zh-TW" sz="2400" dirty="0"/>
              <a:t>’s system</a:t>
            </a:r>
            <a:endParaRPr lang="zh-TW" altLang="en-US" sz="2400" dirty="0"/>
          </a:p>
        </p:txBody>
      </p:sp>
      <p:sp>
        <p:nvSpPr>
          <p:cNvPr id="16" name="矩形 15"/>
          <p:cNvSpPr/>
          <p:nvPr/>
        </p:nvSpPr>
        <p:spPr>
          <a:xfrm>
            <a:off x="2318539" y="5198747"/>
            <a:ext cx="2053653" cy="749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zh-TW" sz="2400" dirty="0" err="1"/>
              <a:t>Modhu</a:t>
            </a:r>
            <a:r>
              <a:rPr lang="en-US" altLang="zh-TW" sz="2400" dirty="0"/>
              <a:t>’s system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731013" y="3811852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x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5291984" y="2345854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y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291983" y="3278759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y</a:t>
            </a:r>
            <a:endParaRPr lang="zh-TW" altLang="en-US" sz="2800" dirty="0">
              <a:solidFill>
                <a:srgbClr val="00B05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291983" y="4293115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C000"/>
                </a:solidFill>
              </a:rPr>
              <a:t>y</a:t>
            </a:r>
            <a:endParaRPr lang="zh-TW" altLang="en-US" sz="2800" dirty="0">
              <a:solidFill>
                <a:srgbClr val="FFC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291982" y="5289748"/>
            <a:ext cx="46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F0"/>
                </a:solidFill>
              </a:rPr>
              <a:t>y</a:t>
            </a:r>
            <a:endParaRPr lang="zh-TW" altLang="en-US" sz="2800" dirty="0">
              <a:solidFill>
                <a:srgbClr val="00B0F0"/>
              </a:solidFill>
            </a:endParaRPr>
          </a:p>
        </p:txBody>
      </p:sp>
      <p:cxnSp>
        <p:nvCxnSpPr>
          <p:cNvPr id="22" name="直線單箭頭接點 21"/>
          <p:cNvCxnSpPr>
            <a:stCxn id="17" idx="3"/>
            <a:endCxn id="13" idx="1"/>
          </p:cNvCxnSpPr>
          <p:nvPr/>
        </p:nvCxnSpPr>
        <p:spPr>
          <a:xfrm flipV="1">
            <a:off x="1196234" y="2638856"/>
            <a:ext cx="1122306" cy="1434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7" idx="3"/>
            <a:endCxn id="14" idx="1"/>
          </p:cNvCxnSpPr>
          <p:nvPr/>
        </p:nvCxnSpPr>
        <p:spPr>
          <a:xfrm flipV="1">
            <a:off x="1196234" y="3635831"/>
            <a:ext cx="1122305" cy="437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7" idx="3"/>
            <a:endCxn id="15" idx="1"/>
          </p:cNvCxnSpPr>
          <p:nvPr/>
        </p:nvCxnSpPr>
        <p:spPr>
          <a:xfrm>
            <a:off x="1196234" y="4073462"/>
            <a:ext cx="1122305" cy="521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3"/>
            <a:endCxn id="16" idx="1"/>
          </p:cNvCxnSpPr>
          <p:nvPr/>
        </p:nvCxnSpPr>
        <p:spPr>
          <a:xfrm>
            <a:off x="1196234" y="4073462"/>
            <a:ext cx="1122305" cy="150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/>
          <p:cNvGrpSpPr/>
          <p:nvPr/>
        </p:nvGrpSpPr>
        <p:grpSpPr>
          <a:xfrm>
            <a:off x="6476213" y="3675040"/>
            <a:ext cx="1905020" cy="968372"/>
            <a:chOff x="6476213" y="3675040"/>
            <a:chExt cx="1905020" cy="968372"/>
          </a:xfrm>
        </p:grpSpPr>
        <p:cxnSp>
          <p:nvCxnSpPr>
            <p:cNvPr id="27" name="直線單箭頭接點 26"/>
            <p:cNvCxnSpPr/>
            <p:nvPr/>
          </p:nvCxnSpPr>
          <p:spPr>
            <a:xfrm flipV="1">
              <a:off x="7026318" y="4179838"/>
              <a:ext cx="135491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6476213" y="3675040"/>
              <a:ext cx="1419559" cy="96837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Final</a:t>
              </a:r>
            </a:p>
            <a:p>
              <a:pPr algn="ctr"/>
              <a:r>
                <a:rPr lang="en-US" altLang="zh-TW" sz="2400" dirty="0"/>
                <a:t>Classifier</a:t>
              </a:r>
              <a:endParaRPr lang="zh-TW" altLang="en-US" sz="2400" dirty="0"/>
            </a:p>
          </p:txBody>
        </p:sp>
      </p:grpSp>
      <p:cxnSp>
        <p:nvCxnSpPr>
          <p:cNvPr id="29" name="直線單箭頭接點 28"/>
          <p:cNvCxnSpPr>
            <a:endCxn id="26" idx="1"/>
          </p:cNvCxnSpPr>
          <p:nvPr/>
        </p:nvCxnSpPr>
        <p:spPr>
          <a:xfrm>
            <a:off x="5671403" y="2677122"/>
            <a:ext cx="804810" cy="14821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26" idx="1"/>
          </p:cNvCxnSpPr>
          <p:nvPr/>
        </p:nvCxnSpPr>
        <p:spPr>
          <a:xfrm>
            <a:off x="5694027" y="3637452"/>
            <a:ext cx="782186" cy="5217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endCxn id="26" idx="1"/>
          </p:cNvCxnSpPr>
          <p:nvPr/>
        </p:nvCxnSpPr>
        <p:spPr>
          <a:xfrm flipV="1">
            <a:off x="5705621" y="4159226"/>
            <a:ext cx="770592" cy="5177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endCxn id="26" idx="1"/>
          </p:cNvCxnSpPr>
          <p:nvPr/>
        </p:nvCxnSpPr>
        <p:spPr>
          <a:xfrm flipV="1">
            <a:off x="5699824" y="4159226"/>
            <a:ext cx="776389" cy="14194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4109449" y="5991191"/>
            <a:ext cx="2830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as new feature</a:t>
            </a:r>
            <a:endParaRPr lang="zh-TW" altLang="en-US" sz="2800" dirty="0"/>
          </a:p>
        </p:txBody>
      </p:sp>
      <p:sp>
        <p:nvSpPr>
          <p:cNvPr id="38" name="矩形 37"/>
          <p:cNvSpPr/>
          <p:nvPr/>
        </p:nvSpPr>
        <p:spPr>
          <a:xfrm>
            <a:off x="5308023" y="2264101"/>
            <a:ext cx="449180" cy="36841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2949792" y="551032"/>
            <a:ext cx="1422400" cy="95410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Training </a:t>
            </a:r>
          </a:p>
          <a:p>
            <a:pPr algn="ctr"/>
            <a:r>
              <a:rPr lang="en-US" altLang="zh-TW" sz="2800" dirty="0"/>
              <a:t>Data</a:t>
            </a:r>
            <a:endParaRPr lang="zh-TW" altLang="en-US" sz="28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481611" y="532861"/>
            <a:ext cx="1422400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Training </a:t>
            </a:r>
          </a:p>
          <a:p>
            <a:pPr algn="ctr"/>
            <a:r>
              <a:rPr lang="en-US" altLang="zh-TW" sz="2800" dirty="0"/>
              <a:t>Data</a:t>
            </a:r>
            <a:endParaRPr lang="zh-TW" altLang="en-US" sz="28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5985805" y="532860"/>
            <a:ext cx="142240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Val </a:t>
            </a:r>
          </a:p>
          <a:p>
            <a:pPr algn="ctr"/>
            <a:r>
              <a:rPr lang="en-US" altLang="zh-TW" sz="2800" dirty="0"/>
              <a:t>Data</a:t>
            </a:r>
            <a:endParaRPr lang="zh-TW" altLang="en-US" sz="28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526744" y="528591"/>
            <a:ext cx="1422400" cy="95410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Testing</a:t>
            </a:r>
          </a:p>
          <a:p>
            <a:pPr algn="ctr"/>
            <a:r>
              <a:rPr lang="en-US" altLang="zh-TW" sz="2800" dirty="0"/>
              <a:t>Data</a:t>
            </a:r>
            <a:endParaRPr lang="zh-TW" altLang="en-US" sz="2800" dirty="0"/>
          </a:p>
        </p:txBody>
      </p:sp>
      <p:sp>
        <p:nvSpPr>
          <p:cNvPr id="43" name="矩形 42"/>
          <p:cNvSpPr/>
          <p:nvPr/>
        </p:nvSpPr>
        <p:spPr>
          <a:xfrm>
            <a:off x="2132064" y="2052156"/>
            <a:ext cx="2396665" cy="404261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單箭頭接點 44"/>
          <p:cNvCxnSpPr>
            <a:stCxn id="39" idx="2"/>
            <a:endCxn id="43" idx="0"/>
          </p:cNvCxnSpPr>
          <p:nvPr/>
        </p:nvCxnSpPr>
        <p:spPr>
          <a:xfrm flipH="1">
            <a:off x="3330397" y="1505139"/>
            <a:ext cx="330595" cy="547017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5192812" y="1500255"/>
            <a:ext cx="2037664" cy="2102293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40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5541</TotalTime>
  <Words>641</Words>
  <Application>Microsoft Office PowerPoint</Application>
  <PresentationFormat>On-screen Show (4:3)</PresentationFormat>
  <Paragraphs>157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佈景主題</vt:lpstr>
      <vt:lpstr>Mathematics of Boosting</vt:lpstr>
      <vt:lpstr>Error Rate of Final Classifier</vt:lpstr>
      <vt:lpstr>PowerPoint Presentation</vt:lpstr>
      <vt:lpstr>PowerPoint Presentation</vt:lpstr>
      <vt:lpstr>PowerPoint Presentation</vt:lpstr>
      <vt:lpstr>Large Margin?</vt:lpstr>
      <vt:lpstr>To learn more …</vt:lpstr>
      <vt:lpstr>General Formulation of Boosting</vt:lpstr>
      <vt:lpstr>Gradient Boosting</vt:lpstr>
      <vt:lpstr>Gradient Boosting</vt:lpstr>
      <vt:lpstr>Gradient Boosting</vt:lpstr>
      <vt:lpstr>Ensemble: Stacking</vt:lpstr>
      <vt:lpstr>Voting</vt:lpstr>
      <vt:lpstr>Stacking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Hung-yi Lee</dc:creator>
  <cp:lastModifiedBy>Swagatam Das</cp:lastModifiedBy>
  <cp:revision>234</cp:revision>
  <dcterms:created xsi:type="dcterms:W3CDTF">2016-12-25T05:53:12Z</dcterms:created>
  <dcterms:modified xsi:type="dcterms:W3CDTF">2024-03-12T03:08:15Z</dcterms:modified>
</cp:coreProperties>
</file>