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33" r:id="rId3"/>
    <p:sldMasterId id="2147483799" r:id="rId4"/>
    <p:sldMasterId id="2147483864" r:id="rId5"/>
  </p:sldMasterIdLst>
  <p:notesMasterIdLst>
    <p:notesMasterId r:id="rId33"/>
  </p:notesMasterIdLst>
  <p:sldIdLst>
    <p:sldId id="257" r:id="rId6"/>
    <p:sldId id="318" r:id="rId7"/>
    <p:sldId id="379" r:id="rId8"/>
    <p:sldId id="285" r:id="rId9"/>
    <p:sldId id="26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26" r:id="rId31"/>
    <p:sldId id="32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08DEA-6682-4F80-B493-797196436E0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5298F-CEC2-4250-A1DD-2B1CF54C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5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ideolectures.net/adam_coates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“Hello world” for deep learning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Data: </a:t>
            </a:r>
            <a:r>
              <a:rPr lang="zh-TW" altLang="en-US" sz="1200" dirty="0"/>
              <a:t>http://yann.lecun.com/exdb/mnist/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50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 same for even more complex tasks.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701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00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>
                <a:solidFill>
                  <a:prstClr val="black"/>
                </a:solidFill>
              </a:rPr>
              <a:pPr/>
              <a:t>9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95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i="1" u="sng" dirty="0"/>
              <a:t>Fully Connected Feedforward Network </a:t>
            </a:r>
            <a:endParaRPr lang="zh-TW" altLang="en-US" b="1" i="1" u="sng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solidFill>
                <a:srgbClr val="0000FF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solidFill>
                <a:srgbClr val="0000FF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00FF"/>
                </a:solidFill>
              </a:rPr>
              <a:t>You can always connect the neurons in your own way.</a:t>
            </a:r>
            <a:endParaRPr lang="zh-TW" altLang="en-US" sz="1200" dirty="0">
              <a:solidFill>
                <a:srgbClr val="0000FF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“+” is ignored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Each dimension corresponds to a digit (10 dimension is needed)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>
                <a:solidFill>
                  <a:prstClr val="black"/>
                </a:solidFill>
              </a:rPr>
              <a:pPr/>
              <a:t>10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12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Ignore</a:t>
            </a:r>
            <a:r>
              <a:rPr lang="en-US" altLang="zh-TW" baseline="0" dirty="0"/>
              <a:t> +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11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56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For example,</a:t>
            </a:r>
            <a:r>
              <a:rPr lang="en-US" altLang="zh-TW" baseline="0" dirty="0"/>
              <a:t> if we modify “1” to “2”, then we have another function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13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271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sure you know how to do it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author: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Adam Coates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Baidu, Inc. </a:t>
            </a:r>
            <a:endParaRPr lang="en-US" altLang="zh-TW" dirty="0"/>
          </a:p>
          <a:p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Learning (hopefully faster)</a:t>
            </a:r>
          </a:p>
          <a:p>
            <a:endParaRPr lang="en-US" altLang="zh-TW" dirty="0"/>
          </a:p>
          <a:p>
            <a:r>
              <a:rPr lang="en-US" altLang="zh-TW" dirty="0"/>
              <a:t>http://videolectures.net/deeplearning2015_coates_deep_learning/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14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522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Draw it?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>
                <a:solidFill>
                  <a:prstClr val="black"/>
                </a:solidFill>
              </a:rPr>
              <a:pPr/>
              <a:t>15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09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Draw it?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>
                <a:solidFill>
                  <a:prstClr val="black"/>
                </a:solidFill>
              </a:rPr>
              <a:pPr/>
              <a:t>16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516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Original output layer is local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1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>
                <a:solidFill>
                  <a:prstClr val="black"/>
                </a:solidFill>
              </a:rPr>
              <a:pPr/>
              <a:t>17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71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Why it is name soft max?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00000"/>
                </a:solidFill>
                <a:latin typeface="Georgia" panose="02040502050405020303" pitchFamily="18" charset="0"/>
              </a:rPr>
              <a:t>Monotonicity of </a:t>
            </a:r>
            <a:r>
              <a:rPr lang="en-US" altLang="zh-TW" b="1" dirty="0" err="1">
                <a:solidFill>
                  <a:srgbClr val="000000"/>
                </a:solidFill>
                <a:latin typeface="Georgia" panose="02040502050405020303" pitchFamily="18" charset="0"/>
              </a:rPr>
              <a:t>softmax</a:t>
            </a:r>
            <a:endParaRPr lang="zh-TW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00000"/>
                </a:solidFill>
                <a:latin typeface="Georgia" panose="02040502050405020303" pitchFamily="18" charset="0"/>
              </a:rPr>
              <a:t>Non-locality of </a:t>
            </a:r>
            <a:r>
              <a:rPr lang="en-US" altLang="zh-TW" b="1" dirty="0" err="1">
                <a:solidFill>
                  <a:srgbClr val="000000"/>
                </a:solidFill>
                <a:latin typeface="Georgia" panose="02040502050405020303" pitchFamily="18" charset="0"/>
              </a:rPr>
              <a:t>softmax</a:t>
            </a:r>
            <a:endParaRPr lang="zh-TW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1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>
                <a:solidFill>
                  <a:prstClr val="black"/>
                </a:solidFill>
              </a:rPr>
              <a:pPr/>
              <a:t>18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464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With </a:t>
            </a:r>
            <a:r>
              <a:rPr lang="en-US" altLang="zh-TW" sz="1200" dirty="0" err="1"/>
              <a:t>softmax</a:t>
            </a:r>
            <a:r>
              <a:rPr lang="en-US" altLang="zh-TW" sz="1200" dirty="0"/>
              <a:t>, the summation of all the </a:t>
            </a:r>
            <a:r>
              <a:rPr lang="en-US" altLang="zh-TW" sz="1200" dirty="0" err="1"/>
              <a:t>ouputs</a:t>
            </a:r>
            <a:r>
              <a:rPr lang="en-US" altLang="zh-TW" sz="1200" dirty="0"/>
              <a:t> would be one.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Can be considered as probability</a:t>
            </a:r>
            <a:r>
              <a:rPr lang="zh-TW" altLang="en-US" sz="1200" baseline="0" dirty="0"/>
              <a:t> </a:t>
            </a:r>
            <a:r>
              <a:rPr lang="en-US" altLang="zh-TW" sz="1200" baseline="0" dirty="0"/>
              <a:t>if you want ……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21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916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Randomly</a:t>
            </a:r>
            <a:r>
              <a:rPr lang="en-US" altLang="zh-TW" sz="1200" baseline="0" dirty="0"/>
              <a:t> picked one </a:t>
            </a: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Two approaches update the parameters towards the same direction, but stochastic is faster!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Better!</a:t>
            </a:r>
            <a:endParaRPr lang="zh-TW" altLang="en-US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>
                <a:solidFill>
                  <a:prstClr val="black"/>
                </a:solidFill>
              </a:rPr>
              <a:pPr/>
              <a:t>22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63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Eta</a:t>
            </a:r>
          </a:p>
          <a:p>
            <a:endParaRPr lang="en-US" altLang="zh-TW" dirty="0"/>
          </a:p>
          <a:p>
            <a:r>
              <a:rPr lang="zh-TW" altLang="en-US" dirty="0"/>
              <a:t>人站在　ｔｈｅｔａ０　環顧四周　看看哪裡最低，那個方向就是　ｇｒａｄｉｅｎｔ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>
                <a:solidFill>
                  <a:prstClr val="black"/>
                </a:solidFill>
              </a:rPr>
              <a:pPr/>
              <a:t>23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45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看人品的方法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sz="2400" dirty="0"/>
              <a:t>Who is Afraid of Non-Convex Loss Functions?</a:t>
            </a:r>
          </a:p>
          <a:p>
            <a:pPr lvl="1"/>
            <a:r>
              <a:rPr lang="en-US" altLang="zh-TW" sz="2400" u="sng" dirty="0"/>
              <a:t>http://videolectures.net/eml07_lecun_wia/</a:t>
            </a:r>
            <a:endParaRPr lang="zh-TW" altLang="en-US" sz="2400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>
                <a:solidFill>
                  <a:prstClr val="black"/>
                </a:solidFill>
              </a:rPr>
              <a:pPr/>
              <a:t>25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75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4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5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7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9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08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1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7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04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4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1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9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0C8C7B23-EFB3-4026-B462-059903FB2483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2674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84BC213E-BF65-4B60-BB35-A35492BC8A05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90111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8413B55E-C1EF-468E-8F6C-A8D63E934D28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25460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B258528B-294A-45E9-86EE-BDD36E99B980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19821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CF6B9B51-87DA-45FD-92C3-A9E578A1A1D8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91523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3EECB9FF-2DEA-4250-861D-161E01B22D0D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99137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8F961929-A862-40F3-A344-465CA3C2097A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00496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EA2227D9-AE12-4265-A99E-37E2FCED1E66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8595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44308FE8-5F3C-4EE0-A21F-E00DE3A6644F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1496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02F31453-214C-47BE-96B6-BA4953A4CD12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0054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Clr>
                <a:srgbClr val="BBE0E3"/>
              </a:buClr>
              <a:defRPr/>
            </a:pPr>
            <a:fld id="{FEE3592C-B0C1-494D-9F45-29A754A7EBDC}" type="slidenum">
              <a:rPr lang="en-US" altLang="en-US">
                <a:solidFill>
                  <a:srgbClr val="000000"/>
                </a:solidFill>
              </a:rPr>
              <a:pPr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2224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buFont typeface="Wingdings" pitchFamily="-110" charset="2"/>
              <a:buChar char="n"/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-110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914400" y="6243638"/>
            <a:ext cx="71120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0C229F-A206-44FE-818F-AC6C394AABE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1052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3AC3A4-A827-4FE8-9ABD-FFBE5D96B8F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40085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91AB84-5A70-4279-945C-FCCB612BE6B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469264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FEF37A-DED4-4A03-B936-6FF9BDB5F9C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2479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689A43-FB61-48BD-BF45-B1E2C804186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6557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C2265EB-9187-4253-BA67-40389D30363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859987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CBAB86-2559-4979-BC5C-6624838BCC6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40828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6E5244-5893-4231-818B-AEC1CE7CDB0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20669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F86C8D-9235-4AB4-92FE-64BECED8BA76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91218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DF0F3C-951C-4970-9587-52F4CF2E7A7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833031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E85C64-7142-4E8A-A23F-AA9A0778058F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79646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43EAE2-7D02-4D03-9FC4-395745BA1E0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974623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4ECF5-190B-4E6C-B633-072DB09CE96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744805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43C86C-71F0-47A6-92A2-8C8870A0D2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21790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0D928E-5DB7-4617-AC9D-224027C0779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158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9215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0163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1172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9705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7291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1247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7900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4260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3497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923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3719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43EAE2-7D02-4D03-9FC4-395745BA1E0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300289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1"/>
            <a:ext cx="12192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12192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tIns="0" bIns="0" anchor="t">
            <a:normAutofit/>
          </a:bodyPr>
          <a:lstStyle>
            <a:lvl1pPr algn="l">
              <a:defRPr sz="4700" b="1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6F159D-1BB5-407B-BAC3-51E8C57F2AF4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581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03200" y="0"/>
            <a:ext cx="11785600" cy="609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9A0C7D-6AC7-4D85-8E24-0F9456C5D2F2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C9827-7C55-42C3-B86C-1E7204BA93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67683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1"/>
            <a:ext cx="12192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4"/>
            <a:ext cx="12192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tIns="0" rIns="91440" bIns="0" anchor="b">
            <a:normAutofit/>
          </a:bodyPr>
          <a:lstStyle>
            <a:lvl1pPr algn="l">
              <a:defRPr sz="47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3E264F-AFDF-4268-96E7-09AF1B8CE92A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3766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D3833C-F2C7-430E-B22D-117577FEF579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C110E-748E-4BF6-A486-CEC2A71F4C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1532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FD323-4A4D-4D85-BCE2-B4D01D77E58C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48124-A765-4943-8590-31757BD82C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57806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3807885" y="0"/>
            <a:ext cx="61383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3807885" y="0"/>
            <a:ext cx="61383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lIns="73152" bIns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14DC55-3EB3-457D-9E6F-23088899BB46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3F9BE-1E00-4012-9F6C-9FBA3D5696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841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07885" y="0"/>
            <a:ext cx="61383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3807885" y="0"/>
            <a:ext cx="61383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220133" y="1169988"/>
            <a:ext cx="3363384" cy="201612"/>
          </a:xfrm>
        </p:spPr>
        <p:txBody>
          <a:bodyPr/>
          <a:lstStyle>
            <a:lvl1pPr>
              <a:defRPr/>
            </a:lvl1pPr>
          </a:lstStyle>
          <a:p>
            <a:fld id="{DEFC8EEB-04AB-4543-B47A-765E728838AB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067" y="1169988"/>
            <a:ext cx="6925733" cy="201612"/>
          </a:xfrm>
        </p:spPr>
        <p:txBody>
          <a:bodyPr/>
          <a:lstStyle>
            <a:lvl1pPr>
              <a:defRPr>
                <a:solidFill>
                  <a:srgbClr val="BCBCBC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8851" y="1169988"/>
            <a:ext cx="977900" cy="201612"/>
          </a:xfrm>
        </p:spPr>
        <p:txBody>
          <a:bodyPr/>
          <a:lstStyle>
            <a:lvl1pPr>
              <a:defRPr/>
            </a:lvl1pPr>
          </a:lstStyle>
          <a:p>
            <a:fld id="{F4124062-C07B-4A5F-8B46-E3C77AA1FC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0108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3A6310-69F8-4F58-8D66-F1E0B315EE3C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36B339-C93A-4846-920B-B78A407D44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2446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8798985" y="0"/>
            <a:ext cx="61383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ltGray">
          <a:xfrm>
            <a:off x="8864600" y="0"/>
            <a:ext cx="33528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BD193E-FC6E-4C95-8045-29A06EE2FE75}" type="datetime1">
              <a:rPr lang="en-US" altLang="en-US"/>
              <a:pPr/>
              <a:t>3/29/2026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018" y="6376989"/>
            <a:ext cx="5115983" cy="365125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C18DD-9896-4ED6-BA00-52A1A3414F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76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0A4E7-42C8-464B-BEC1-0EDEE9572D1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56754-E93F-4D86-8086-73D8FBBC1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1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400">
                <a:latin typeface="Arial" charset="0"/>
              </a:defRPr>
            </a:lvl1pPr>
          </a:lstStyle>
          <a:p>
            <a:pPr fontAlgn="base">
              <a:spcAft>
                <a:spcPct val="0"/>
              </a:spcAft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400">
                <a:latin typeface="Arial" charset="0"/>
              </a:defRPr>
            </a:lvl1pPr>
          </a:lstStyle>
          <a:p>
            <a:pPr fontAlgn="base">
              <a:spcAft>
                <a:spcPct val="0"/>
              </a:spcAft>
              <a:buClr>
                <a:srgbClr val="BBE0E3"/>
              </a:buCl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400" smtClean="0"/>
            </a:lvl1pPr>
          </a:lstStyle>
          <a:p>
            <a:pPr fontAlgn="base">
              <a:spcAft>
                <a:spcPct val="0"/>
              </a:spcAft>
              <a:buClr>
                <a:srgbClr val="BBE0E3"/>
              </a:buClr>
              <a:defRPr/>
            </a:pPr>
            <a:fld id="{7EEDF929-40DE-4829-8CAF-A45C4CDBE876}" type="slidenum">
              <a:rPr lang="en-US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buClr>
                  <a:srgbClr val="BBE0E3"/>
                </a:buCl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54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248400"/>
            <a:ext cx="741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 smtClean="0">
                <a:latin typeface="Garamond" pitchFamily="18" charset="0"/>
              </a:defRPr>
            </a:lvl1pPr>
          </a:lstStyle>
          <a:p>
            <a:pPr>
              <a:defRPr/>
            </a:pPr>
            <a:fld id="{D474AAF1-4BB3-49A9-A968-BAB6D17A1D8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3255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buFont typeface="Wingdings" pitchFamily="-110" charset="2"/>
              <a:buChar char="n"/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A1796-FE4F-4CE2-AA60-E861BA6E0949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2026/3/29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4186D-8EEA-426C-9630-B8182DA83AF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14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92000" cy="6096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" y="0"/>
            <a:ext cx="11785600" cy="609600"/>
          </a:xfrm>
          <a:prstGeom prst="rect">
            <a:avLst/>
          </a:prstGeom>
        </p:spPr>
        <p:txBody>
          <a:bodyPr vert="horz" lIns="91440" rIns="45720" rtlCol="0" anchor="ctr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3200" y="685800"/>
            <a:ext cx="11785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3200" y="6553200"/>
            <a:ext cx="2844800" cy="274638"/>
          </a:xfrm>
          <a:prstGeom prst="rect">
            <a:avLst/>
          </a:prstGeom>
        </p:spPr>
        <p:txBody>
          <a:bodyPr vert="horz" wrap="square" lIns="109728" tIns="45720" rIns="45720" bIns="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3F3F3F"/>
                </a:solidFill>
                <a:latin typeface="Corbel" panose="020B0503020204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FF70EC6-2EB6-4869-BF86-5B6F89633D27}" type="datetime1">
              <a:rPr lang="en-US" altLang="en-U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3/29/2026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49600" y="6553200"/>
            <a:ext cx="8026400" cy="274638"/>
          </a:xfrm>
          <a:prstGeom prst="rect">
            <a:avLst/>
          </a:prstGeom>
        </p:spPr>
        <p:txBody>
          <a:bodyPr vert="horz" wrap="square" lIns="45720" tIns="45720" rIns="45720" bIns="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3F3F3F"/>
                </a:solidFill>
                <a:latin typeface="Corbel" panose="020B0503020204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553200"/>
            <a:ext cx="914400" cy="274638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F3F3F"/>
                </a:solidFill>
                <a:latin typeface="Corbel" panose="020B0503020204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25E923A-4321-410A-8B62-594982172D97}" type="slidenum">
              <a:rPr lang="en-US" altLang="en-U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FFC800"/>
          </a:solidFill>
          <a:latin typeface="Corbel" panose="020B0503020204020204" pitchFamily="34" charset="0"/>
        </a:defRPr>
      </a:lvl9pPr>
      <a:extLst/>
    </p:titleStyle>
    <p:bodyStyle>
      <a:lvl1pPr marL="438150" indent="-319088" algn="l" rtl="0" fontAlgn="base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spcBef>
          <a:spcPct val="20000"/>
        </a:spcBef>
        <a:spcAft>
          <a:spcPct val="0"/>
        </a:spcAft>
        <a:buClr>
          <a:srgbClr val="E66C7D"/>
        </a:buClr>
        <a:buFont typeface="Arial" panose="020B060402020202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fontAlgn="base">
        <a:spcBef>
          <a:spcPct val="20000"/>
        </a:spcBef>
        <a:spcAft>
          <a:spcPct val="0"/>
        </a:spcAft>
        <a:buClr>
          <a:srgbClr val="6BB76D"/>
        </a:buClr>
        <a:buFont typeface="Arial" panose="020B060402020202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fontAlgn="base">
        <a:spcBef>
          <a:spcPct val="20000"/>
        </a:spcBef>
        <a:spcAft>
          <a:spcPct val="0"/>
        </a:spcAft>
        <a:buClr>
          <a:srgbClr val="E88651"/>
        </a:buClr>
        <a:buFont typeface="Wingdings 3" panose="05040102010807070707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7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7.png"/><Relationship Id="rId7" Type="http://schemas.openxmlformats.org/officeDocument/2006/relationships/image" Target="../media/image9.wmf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490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7.wmf"/><Relationship Id="rId26" Type="http://schemas.openxmlformats.org/officeDocument/2006/relationships/image" Target="../media/image21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20.wmf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22.wmf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4.png"/><Relationship Id="rId7" Type="http://schemas.openxmlformats.org/officeDocument/2006/relationships/image" Target="../media/image2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79.png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11" Type="http://schemas.openxmlformats.org/officeDocument/2006/relationships/image" Target="../media/image77.png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4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11" Type="http://schemas.openxmlformats.org/officeDocument/2006/relationships/image" Target="../media/image83.png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82.png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88.png"/><Relationship Id="rId7" Type="http://schemas.openxmlformats.org/officeDocument/2006/relationships/image" Target="../media/image8.wmf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3.wmf"/><Relationship Id="rId5" Type="http://schemas.openxmlformats.org/officeDocument/2006/relationships/image" Target="../media/image86.png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85.png"/><Relationship Id="rId9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40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5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6.wmf"/><Relationship Id="rId26" Type="http://schemas.openxmlformats.org/officeDocument/2006/relationships/image" Target="../media/image49.wmf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114.png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8" Type="http://schemas.openxmlformats.org/officeDocument/2006/relationships/image" Target="../media/image54.w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29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48.wmf"/><Relationship Id="rId32" Type="http://schemas.openxmlformats.org/officeDocument/2006/relationships/image" Target="../media/image52.wmf"/><Relationship Id="rId37" Type="http://schemas.openxmlformats.org/officeDocument/2006/relationships/oleObject" Target="../embeddings/oleObject58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50.wmf"/><Relationship Id="rId36" Type="http://schemas.openxmlformats.org/officeDocument/2006/relationships/image" Target="../media/image53.wmf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4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51.wmf"/><Relationship Id="rId35" Type="http://schemas.openxmlformats.org/officeDocument/2006/relationships/oleObject" Target="../embeddings/oleObject57.bin"/><Relationship Id="rId8" Type="http://schemas.openxmlformats.org/officeDocument/2006/relationships/image" Target="../media/image41.wmf"/><Relationship Id="rId3" Type="http://schemas.openxmlformats.org/officeDocument/2006/relationships/oleObject" Target="../embeddings/oleObject4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18.png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11" Type="http://schemas.openxmlformats.org/officeDocument/2006/relationships/image" Target="../media/image55.png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115.png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11" Type="http://schemas.openxmlformats.org/officeDocument/2006/relationships/image" Target="../media/image127.png"/><Relationship Id="rId5" Type="http://schemas.openxmlformats.org/officeDocument/2006/relationships/oleObject" Target="../embeddings/oleObject63.bin"/><Relationship Id="rId4" Type="http://schemas.openxmlformats.org/officeDocument/2006/relationships/image" Target="../media/image8.wmf"/><Relationship Id="rId9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135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60.png"/><Relationship Id="rId5" Type="http://schemas.openxmlformats.org/officeDocument/2006/relationships/image" Target="../media/image131.png"/><Relationship Id="rId15" Type="http://schemas.openxmlformats.org/officeDocument/2006/relationships/image" Target="../media/image137.png"/><Relationship Id="rId10" Type="http://schemas.openxmlformats.org/officeDocument/2006/relationships/image" Target="../media/image59.png"/><Relationship Id="rId4" Type="http://schemas.openxmlformats.org/officeDocument/2006/relationships/image" Target="../media/image130.png"/><Relationship Id="rId9" Type="http://schemas.openxmlformats.org/officeDocument/2006/relationships/image" Target="../media/image58.png"/><Relationship Id="rId14" Type="http://schemas.openxmlformats.org/officeDocument/2006/relationships/image" Target="../media/image1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66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7.png"/><Relationship Id="rId3" Type="http://schemas.openxmlformats.org/officeDocument/2006/relationships/image" Target="../media/image141.png"/><Relationship Id="rId7" Type="http://schemas.openxmlformats.org/officeDocument/2006/relationships/image" Target="../media/image146.png"/><Relationship Id="rId12" Type="http://schemas.openxmlformats.org/officeDocument/2006/relationships/image" Target="../media/image156.png"/><Relationship Id="rId2" Type="http://schemas.openxmlformats.org/officeDocument/2006/relationships/image" Target="../media/image66.png"/><Relationship Id="rId16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5.png"/><Relationship Id="rId5" Type="http://schemas.openxmlformats.org/officeDocument/2006/relationships/image" Target="../media/image144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2.png"/><Relationship Id="rId9" Type="http://schemas.openxmlformats.org/officeDocument/2006/relationships/image" Target="../media/image149.png"/><Relationship Id="rId14" Type="http://schemas.openxmlformats.org/officeDocument/2006/relationships/image" Target="../media/image1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3312" y="295906"/>
            <a:ext cx="11180064" cy="1591699"/>
          </a:xfrm>
        </p:spPr>
        <p:txBody>
          <a:bodyPr/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Deep Machine Learning (Part 1)</a:t>
            </a:r>
            <a:br>
              <a:rPr lang="en-US" altLang="en-US" sz="4000" b="1" dirty="0">
                <a:solidFill>
                  <a:srgbClr val="66FFCC"/>
                </a:solidFill>
                <a:latin typeface="Comic Sans MS" panose="030F0702030302020204" pitchFamily="66" charset="0"/>
              </a:rPr>
            </a:br>
            <a:endParaRPr lang="en-US" altLang="en-US" sz="2400" b="1" dirty="0">
              <a:solidFill>
                <a:srgbClr val="66FFCC"/>
              </a:solidFill>
              <a:latin typeface="Comic Sans MS" panose="030F0702030302020204" pitchFamily="66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133600" y="2974917"/>
            <a:ext cx="7924800" cy="2438400"/>
          </a:xfrm>
        </p:spPr>
        <p:txBody>
          <a:bodyPr/>
          <a:lstStyle/>
          <a:p>
            <a:pPr marL="0" indent="0" algn="ctr" eaLnBrk="1" hangingPunct="1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FF66"/>
                </a:solidFill>
              </a:rPr>
              <a:t>By</a:t>
            </a:r>
          </a:p>
          <a:p>
            <a:pPr marL="0" indent="0" algn="ctr" eaLnBrk="1" hangingPunct="1">
              <a:lnSpc>
                <a:spcPct val="80000"/>
              </a:lnSpc>
              <a:buNone/>
            </a:pPr>
            <a:endParaRPr lang="en-US" altLang="en-US" dirty="0">
              <a:solidFill>
                <a:srgbClr val="FFFF66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en-US" altLang="en-US" sz="2800" b="1" dirty="0" err="1">
                <a:solidFill>
                  <a:srgbClr val="00FFFF"/>
                </a:solidFill>
              </a:rPr>
              <a:t>Swagatam</a:t>
            </a:r>
            <a:r>
              <a:rPr lang="en-US" altLang="en-US" sz="2800" b="1" dirty="0">
                <a:solidFill>
                  <a:srgbClr val="00FFFF"/>
                </a:solidFill>
              </a:rPr>
              <a:t> Das</a:t>
            </a:r>
          </a:p>
          <a:p>
            <a:pPr marL="0" indent="0" algn="ctr" eaLnBrk="1" hangingPunct="1">
              <a:lnSpc>
                <a:spcPct val="80000"/>
              </a:lnSpc>
              <a:buNone/>
            </a:pPr>
            <a:endParaRPr lang="en-US" altLang="en-US" b="1" dirty="0">
              <a:solidFill>
                <a:srgbClr val="00FFFF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en-US" altLang="en-US" b="1" baseline="30000" dirty="0">
                <a:solidFill>
                  <a:srgbClr val="00FFFF"/>
                </a:solidFill>
                <a:latin typeface="+mj-lt"/>
                <a:cs typeface="Times New Roman" panose="02020603050405020304" pitchFamily="18" charset="0"/>
              </a:rPr>
              <a:t>E-mail: swagatam.das@isical.ac.in</a:t>
            </a:r>
          </a:p>
          <a:p>
            <a:pPr marL="0" indent="0" algn="ctr" eaLnBrk="1" hangingPunct="1">
              <a:lnSpc>
                <a:spcPct val="80000"/>
              </a:lnSpc>
              <a:buNone/>
            </a:pPr>
            <a:endParaRPr lang="en-US" altLang="en-US" b="1" baseline="30000" dirty="0">
              <a:solidFill>
                <a:srgbClr val="00FFFF"/>
              </a:solidFill>
              <a:latin typeface="+mj-lt"/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en-US" altLang="en-US" b="1" baseline="30000" dirty="0">
                <a:solidFill>
                  <a:srgbClr val="66FF33"/>
                </a:solidFill>
                <a:latin typeface="+mj-lt"/>
              </a:rPr>
              <a:t>Electronics and Communication Sciences Unit, </a:t>
            </a: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en-US" altLang="en-US" b="1" baseline="30000" dirty="0">
                <a:solidFill>
                  <a:srgbClr val="66FF33"/>
                </a:solidFill>
                <a:latin typeface="+mj-lt"/>
              </a:rPr>
              <a:t>Indian Statistical Institute, Kolkata – 700 108, India.</a:t>
            </a:r>
            <a:endParaRPr lang="en-US" altLang="en-US" b="1" dirty="0">
              <a:solidFill>
                <a:srgbClr val="66FF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5895804"/>
      </p:ext>
    </p:extLst>
  </p:cSld>
  <p:clrMapOvr>
    <a:masterClrMapping/>
  </p:clrMapOvr>
  <p:transition advClick="0"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223" y="182121"/>
            <a:ext cx="8548577" cy="742913"/>
          </a:xfrm>
        </p:spPr>
        <p:txBody>
          <a:bodyPr/>
          <a:lstStyle/>
          <a:p>
            <a:r>
              <a:rPr lang="en-US" sz="3600" b="1" dirty="0"/>
              <a:t>Developments in Neural Learning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3AC3A4-A827-4FE8-9ABD-FFBE5D96B8F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329730" name="Picture 2" descr="Timelin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7917" y="1057636"/>
            <a:ext cx="8623005" cy="54240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678138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3AC3A4-A827-4FE8-9ABD-FFBE5D96B8FE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026" name="Picture 2" descr="https://imagesvc.timeincapp.com/v3/mm/image?url=https%3A%2F%2Ffortunedotcom.files.wordpress.com%2F2019%2F03%2Fturing-2018-bengio-hinton-lecun1-copy.jpg&amp;w=800&amp;q=8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299" y="1170431"/>
            <a:ext cx="8010017" cy="450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" y="319609"/>
            <a:ext cx="9927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0000FF"/>
                </a:solidFill>
                <a:effectLst/>
                <a:latin typeface="Fira Sans Condensed"/>
              </a:rPr>
              <a:t>2018 A. M. Turing Award for the Godfathers of Deep Learning!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71472" y="6172200"/>
            <a:ext cx="9710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Neural Networks are no longer a </a:t>
            </a:r>
            <a:r>
              <a:rPr lang="en-US" b="1" i="1" dirty="0">
                <a:solidFill>
                  <a:srgbClr val="FF0000"/>
                </a:solidFill>
              </a:rPr>
              <a:t>Cargo-Cult Science </a:t>
            </a:r>
            <a:r>
              <a:rPr lang="en-US" dirty="0"/>
              <a:t>to the Core CS Researchers?</a:t>
            </a:r>
          </a:p>
        </p:txBody>
      </p:sp>
    </p:spTree>
    <p:extLst>
      <p:ext uri="{BB962C8B-B14F-4D97-AF65-F5344CB8AC3E}">
        <p14:creationId xmlns:p14="http://schemas.microsoft.com/office/powerpoint/2010/main" val="111964110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3AC3A4-A827-4FE8-9ABD-FFBE5D96B8F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9458" name="Picture 2" descr="https://www.pnas.org/content/pnas/116/4/1074/F2.large.jpg?width=800&amp;height=600&amp;carouse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780935"/>
            <a:ext cx="8558641" cy="465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2464" y="112725"/>
            <a:ext cx="6131807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50" dirty="0">
                <a:solidFill>
                  <a:srgbClr val="000000"/>
                </a:solidFill>
              </a:rPr>
              <a:t>So what are these Deep Nets in a nutshell?.....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2315580" y="6102906"/>
            <a:ext cx="84322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222222"/>
                </a:solidFill>
                <a:latin typeface="Helvetica" panose="020B0604020202020204" pitchFamily="34" charset="0"/>
              </a:rPr>
              <a:t>News Feature: What are the limits of deep learning? M. Mitchell Waldrop, Proceedings of the National Academy of Sciences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222222"/>
                </a:solidFill>
                <a:latin typeface="Helvetica" panose="020B0604020202020204" pitchFamily="34" charset="0"/>
              </a:rPr>
              <a:t>Jan 2019, 116 (4) 1074-1077; DOI: 10.1073/pnas.1821594116</a:t>
            </a:r>
          </a:p>
        </p:txBody>
      </p:sp>
    </p:spTree>
    <p:extLst>
      <p:ext uri="{BB962C8B-B14F-4D97-AF65-F5344CB8AC3E}">
        <p14:creationId xmlns:p14="http://schemas.microsoft.com/office/powerpoint/2010/main" val="3086138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ciousUnnaturalAmethystsunbird-mobil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4672" y="378333"/>
            <a:ext cx="10378440" cy="583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1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162" y="3503956"/>
            <a:ext cx="1602442" cy="1592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581247" y="3518469"/>
            <a:ext cx="2034073" cy="1516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Machine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sp>
        <p:nvSpPr>
          <p:cNvPr id="8" name="向右箭號 7"/>
          <p:cNvSpPr/>
          <p:nvPr/>
        </p:nvSpPr>
        <p:spPr>
          <a:xfrm>
            <a:off x="4852044" y="3864274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向右箭號 8"/>
          <p:cNvSpPr/>
          <p:nvPr/>
        </p:nvSpPr>
        <p:spPr>
          <a:xfrm>
            <a:off x="7707987" y="3874140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422676" y="4005525"/>
            <a:ext cx="721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“2”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17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Input</a:t>
            </a:r>
            <a:endParaRPr lang="zh-TW" altLang="en-US" sz="3200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Output</a:t>
            </a:r>
            <a:endParaRPr lang="zh-TW" altLang="en-US" sz="3200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33" y="3309807"/>
            <a:ext cx="2130022" cy="211645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860292" y="541328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16 x 16 = 256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72639" y="300672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41026" y="37244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6844" y="315409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059543" y="3058840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68" imgH="215713" progId="Equation.3">
                  <p:embed/>
                </p:oleObj>
              </mc:Choice>
              <mc:Fallback>
                <p:oleObj name="方程式" r:id="rId4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543" y="3058840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5064840" y="3641570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64885" imgH="215619" progId="Equation.3">
                  <p:embed/>
                </p:oleObj>
              </mc:Choice>
              <mc:Fallback>
                <p:oleObj name="方程式" r:id="rId6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840" y="3641570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5050551" y="512217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4978628" y="5025409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53890" imgH="228501" progId="Equation.3">
                  <p:embed/>
                </p:oleObj>
              </mc:Choice>
              <mc:Fallback>
                <p:oleObj name="方程式" r:id="rId8" imgW="25389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628" y="5025409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4926484" y="440711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7" name="手繪多邊形 16"/>
          <p:cNvSpPr/>
          <p:nvPr/>
        </p:nvSpPr>
        <p:spPr>
          <a:xfrm>
            <a:off x="2738665" y="3068122"/>
            <a:ext cx="2305050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8" name="手繪多邊形 17"/>
          <p:cNvSpPr/>
          <p:nvPr/>
        </p:nvSpPr>
        <p:spPr>
          <a:xfrm>
            <a:off x="2872015" y="3241063"/>
            <a:ext cx="2171700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9" name="手繪多邊形 18"/>
          <p:cNvSpPr/>
          <p:nvPr/>
        </p:nvSpPr>
        <p:spPr>
          <a:xfrm>
            <a:off x="4605565" y="5284171"/>
            <a:ext cx="463550" cy="243308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895218" y="5765881"/>
            <a:ext cx="1661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Ink → 1</a:t>
            </a:r>
          </a:p>
          <a:p>
            <a:r>
              <a:rPr lang="en-US" altLang="zh-TW" sz="2400" dirty="0">
                <a:solidFill>
                  <a:prstClr val="black"/>
                </a:solidFill>
              </a:rPr>
              <a:t>No ink → 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>
            <a:off x="6703092" y="2822200"/>
            <a:ext cx="642352" cy="2642877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prstClr val="black"/>
                  </a:solidFill>
                </a:rPr>
                <a:t>y</a:t>
              </a:r>
              <a:r>
                <a:rPr lang="en-US" altLang="zh-TW" sz="2800" baseline="-25000" dirty="0">
                  <a:solidFill>
                    <a:prstClr val="black"/>
                  </a:solidFill>
                </a:rPr>
                <a:t>1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prstClr val="black"/>
                  </a:solidFill>
                </a:rPr>
                <a:t>y</a:t>
              </a:r>
              <a:r>
                <a:rPr lang="en-US" altLang="zh-TW" sz="2800" baseline="-25000" dirty="0">
                  <a:solidFill>
                    <a:prstClr val="black"/>
                  </a:solidFill>
                </a:rPr>
                <a:t>2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prstClr val="black"/>
                  </a:solidFill>
                </a:rPr>
                <a:t>y</a:t>
              </a:r>
              <a:r>
                <a:rPr lang="en-US" altLang="zh-TW" sz="2800" baseline="-25000" dirty="0">
                  <a:solidFill>
                    <a:prstClr val="black"/>
                  </a:solidFill>
                </a:rPr>
                <a:t>10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</p:grpSp>
      <p:sp>
        <p:nvSpPr>
          <p:cNvPr id="27" name="文字方塊 26"/>
          <p:cNvSpPr txBox="1"/>
          <p:nvPr/>
        </p:nvSpPr>
        <p:spPr>
          <a:xfrm>
            <a:off x="6630944" y="5737346"/>
            <a:ext cx="3566686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white"/>
                </a:solidFill>
              </a:rPr>
              <a:t>Each dimension represents the confidence of a digit.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572213" y="2883755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is 1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579522" y="3665037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is 2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579521" y="4939006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is 0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7712217" y="432180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39796" y="2944663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0.1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39796" y="3669068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0.7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20948" y="4938330"/>
            <a:ext cx="656740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0.2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531951" y="3577013"/>
            <a:ext cx="1950970" cy="6409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530628" y="3813786"/>
            <a:ext cx="1940923" cy="90335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The image is  “2”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56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4" grpId="0" animBg="1"/>
      <p:bldP spid="16" grpId="0"/>
      <p:bldP spid="17" grpId="0" animBg="1"/>
      <p:bldP spid="18" grpId="0" animBg="1"/>
      <p:bldP spid="19" grpId="0" animBg="1"/>
      <p:bldP spid="20" grpId="0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788413"/>
            <a:ext cx="7886700" cy="4351338"/>
          </a:xfrm>
        </p:spPr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933" y="3170127"/>
            <a:ext cx="1602442" cy="1592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349018" y="3184640"/>
            <a:ext cx="2034073" cy="1516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Machine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sp>
        <p:nvSpPr>
          <p:cNvPr id="8" name="向右箭號 7"/>
          <p:cNvSpPr/>
          <p:nvPr/>
        </p:nvSpPr>
        <p:spPr>
          <a:xfrm>
            <a:off x="4619815" y="3530445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向右箭號 8"/>
          <p:cNvSpPr/>
          <p:nvPr/>
        </p:nvSpPr>
        <p:spPr>
          <a:xfrm>
            <a:off x="7475758" y="3540311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190447" y="3671696"/>
            <a:ext cx="721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“2”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3986115" y="2538616"/>
            <a:ext cx="600084" cy="2625052"/>
            <a:chOff x="2462115" y="2538616"/>
            <a:chExt cx="600084" cy="2625052"/>
          </a:xfrm>
        </p:grpSpPr>
        <p:sp>
          <p:nvSpPr>
            <p:cNvPr id="12" name="矩形 11"/>
            <p:cNvSpPr/>
            <p:nvPr/>
          </p:nvSpPr>
          <p:spPr>
            <a:xfrm>
              <a:off x="2462115" y="253861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530503" y="325630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536321" y="268598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2549020" y="259073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52268" imgH="215713" progId="Equation.3">
                    <p:embed/>
                  </p:oleObj>
                </mc:Choice>
                <mc:Fallback>
                  <p:oleObj name="方程式" r:id="rId4" imgW="152268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020" y="259073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2554316" y="317345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64885" imgH="215619" progId="Equation.3">
                    <p:embed/>
                  </p:oleObj>
                </mc:Choice>
                <mc:Fallback>
                  <p:oleObj name="方程式" r:id="rId6" imgW="164885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316" y="317345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2540028" y="465406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/>
          </p:nvGraphicFramePr>
          <p:xfrm>
            <a:off x="2468105" y="4557299"/>
            <a:ext cx="544512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253890" imgH="228501" progId="Equation.3">
                    <p:embed/>
                  </p:oleObj>
                </mc:Choice>
                <mc:Fallback>
                  <p:oleObj name="方程式" r:id="rId8" imgW="253890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105" y="4557299"/>
                          <a:ext cx="544512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字方塊 18"/>
            <p:cNvSpPr txBox="1"/>
            <p:nvPr/>
          </p:nvSpPr>
          <p:spPr>
            <a:xfrm rot="5400000">
              <a:off x="2415960" y="393900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8269418" y="2501359"/>
            <a:ext cx="642352" cy="2642877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prstClr val="black"/>
                  </a:solidFill>
                </a:rPr>
                <a:t>y</a:t>
              </a:r>
              <a:r>
                <a:rPr lang="en-US" altLang="zh-TW" sz="2800" baseline="-25000" dirty="0">
                  <a:solidFill>
                    <a:prstClr val="black"/>
                  </a:solidFill>
                </a:rPr>
                <a:t>1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prstClr val="black"/>
                  </a:solidFill>
                </a:rPr>
                <a:t>y</a:t>
              </a:r>
              <a:r>
                <a:rPr lang="en-US" altLang="zh-TW" sz="2800" baseline="-25000" dirty="0">
                  <a:solidFill>
                    <a:prstClr val="black"/>
                  </a:solidFill>
                </a:rPr>
                <a:t>2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prstClr val="black"/>
                  </a:solidFill>
                </a:rPr>
                <a:t>y</a:t>
              </a:r>
              <a:r>
                <a:rPr lang="en-US" altLang="zh-TW" sz="2800" baseline="-25000" dirty="0">
                  <a:solidFill>
                    <a:prstClr val="black"/>
                  </a:solidFill>
                </a:rPr>
                <a:t>10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273382" y="4801774"/>
                <a:ext cx="2207720" cy="435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256</m:t>
                          </m:r>
                        </m:sup>
                      </m:sSup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82" y="4801774"/>
                <a:ext cx="2207720" cy="43576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521253" y="5438669"/>
                <a:ext cx="5689600" cy="954107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>
                    <a:solidFill>
                      <a:prstClr val="white"/>
                    </a:solidFill>
                  </a:rPr>
                  <a:t>In deep learning, the function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TW" sz="2800" dirty="0">
                    <a:solidFill>
                      <a:prstClr val="white"/>
                    </a:solidFill>
                  </a:rPr>
                  <a:t>is represented by neural network</a:t>
                </a:r>
                <a:endParaRPr lang="zh-TW" altLang="en-US" sz="28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253" y="5438669"/>
                <a:ext cx="5689600" cy="95410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3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Object 12"/>
          <p:cNvGraphicFramePr>
            <a:graphicFrameLocks noChangeAspect="1"/>
          </p:cNvGraphicFramePr>
          <p:nvPr/>
        </p:nvGraphicFramePr>
        <p:xfrm>
          <a:off x="4961394" y="2894648"/>
          <a:ext cx="5324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916868" imgH="215806" progId="Equation.3">
                  <p:embed/>
                </p:oleObj>
              </mc:Choice>
              <mc:Fallback>
                <p:oleObj name="方程式" r:id="rId3" imgW="191686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1394" y="2894648"/>
                        <a:ext cx="53244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Element of Neural Network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5751506" y="1902038"/>
                <a:ext cx="16440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506" y="1902038"/>
                <a:ext cx="1644040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3606333" y="2938573"/>
            <a:ext cx="622890" cy="22193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7221289" y="4441559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5295943" y="5463176"/>
            <a:ext cx="596697" cy="58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21649" y="2850705"/>
            <a:ext cx="596697" cy="28070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6" name="直線單箭頭接點 5"/>
          <p:cNvCxnSpPr>
            <a:stCxn id="18" idx="3"/>
            <a:endCxn id="22" idx="1"/>
          </p:cNvCxnSpPr>
          <p:nvPr/>
        </p:nvCxnSpPr>
        <p:spPr>
          <a:xfrm flipV="1">
            <a:off x="3210726" y="4452003"/>
            <a:ext cx="2145559" cy="788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/>
          <p:cNvSpPr/>
          <p:nvPr/>
        </p:nvSpPr>
        <p:spPr>
          <a:xfrm>
            <a:off x="6510856" y="3943097"/>
            <a:ext cx="941612" cy="9416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6039923" y="4054525"/>
          <a:ext cx="3524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26725" imgH="126725" progId="Equation.3">
                  <p:embed/>
                </p:oleObj>
              </mc:Choice>
              <mc:Fallback>
                <p:oleObj name="方程式" r:id="rId7" imgW="126725" imgH="126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923" y="4054525"/>
                        <a:ext cx="352425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3664425" y="2959302"/>
          <a:ext cx="4937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77569" imgH="215619" progId="Equation.3">
                  <p:embed/>
                </p:oleObj>
              </mc:Choice>
              <mc:Fallback>
                <p:oleObj name="方程式" r:id="rId9" imgW="17756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25" y="2959302"/>
                        <a:ext cx="493713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3668274" y="3595556"/>
          <a:ext cx="52863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90335" imgH="215713" progId="Equation.3">
                  <p:embed/>
                </p:oleObj>
              </mc:Choice>
              <mc:Fallback>
                <p:oleObj name="方程式" r:id="rId11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274" y="3595556"/>
                        <a:ext cx="528638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3664425" y="4374405"/>
          <a:ext cx="59848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215619" imgH="215619" progId="Equation.3">
                  <p:embed/>
                </p:oleObj>
              </mc:Choice>
              <mc:Fallback>
                <p:oleObj name="方程式" r:id="rId13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25" y="4374405"/>
                        <a:ext cx="598487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線單箭頭接點 11"/>
          <p:cNvCxnSpPr/>
          <p:nvPr/>
        </p:nvCxnSpPr>
        <p:spPr>
          <a:xfrm flipV="1">
            <a:off x="5697799" y="4421402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17" idx="3"/>
            <a:endCxn id="22" idx="1"/>
          </p:cNvCxnSpPr>
          <p:nvPr/>
        </p:nvCxnSpPr>
        <p:spPr>
          <a:xfrm>
            <a:off x="3198694" y="4024747"/>
            <a:ext cx="2157590" cy="4272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22" idx="1"/>
          </p:cNvCxnSpPr>
          <p:nvPr/>
        </p:nvCxnSpPr>
        <p:spPr>
          <a:xfrm>
            <a:off x="3218346" y="3166471"/>
            <a:ext cx="2137939" cy="1285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 rot="5400000">
            <a:off x="2628499" y="451168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2703394" y="2807928"/>
          <a:ext cx="4953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77646" imgH="228402" progId="Equation.3">
                  <p:embed/>
                </p:oleObj>
              </mc:Choice>
              <mc:Fallback>
                <p:oleObj name="方程式" r:id="rId15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394" y="2807928"/>
                        <a:ext cx="4953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2703394" y="3709628"/>
          <a:ext cx="4953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177646" imgH="228402" progId="Equation.3">
                  <p:embed/>
                </p:oleObj>
              </mc:Choice>
              <mc:Fallback>
                <p:oleObj name="方程式" r:id="rId17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394" y="3709628"/>
                        <a:ext cx="4953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2677325" y="4925746"/>
          <a:ext cx="533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190500" imgH="228600" progId="Equation.3">
                  <p:embed/>
                </p:oleObj>
              </mc:Choice>
              <mc:Fallback>
                <p:oleObj name="方程式" r:id="rId19" imgW="19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325" y="4925746"/>
                        <a:ext cx="5334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群組 20"/>
          <p:cNvGrpSpPr/>
          <p:nvPr/>
        </p:nvGrpSpPr>
        <p:grpSpPr>
          <a:xfrm>
            <a:off x="5356285" y="4191844"/>
            <a:ext cx="520319" cy="520319"/>
            <a:chOff x="3342651" y="3507082"/>
            <a:chExt cx="520319" cy="520319"/>
          </a:xfrm>
        </p:grpSpPr>
        <p:sp>
          <p:nvSpPr>
            <p:cNvPr id="22" name="矩形 21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23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1" imgW="139700" imgH="139700" progId="Equation.3">
                    <p:embed/>
                  </p:oleObj>
                </mc:Choice>
                <mc:Fallback>
                  <p:oleObj name="方程式" r:id="rId2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5413980" y="5545694"/>
          <a:ext cx="3540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126725" imgH="177415" progId="Equation.3">
                  <p:embed/>
                </p:oleObj>
              </mc:Choice>
              <mc:Fallback>
                <p:oleObj name="方程式" r:id="rId23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980" y="5545694"/>
                        <a:ext cx="3540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線單箭頭接點 24"/>
          <p:cNvCxnSpPr/>
          <p:nvPr/>
        </p:nvCxnSpPr>
        <p:spPr>
          <a:xfrm flipV="1">
            <a:off x="5607491" y="4722606"/>
            <a:ext cx="0" cy="7547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12"/>
          <p:cNvGraphicFramePr>
            <a:graphicFrameLocks noChangeAspect="1"/>
          </p:cNvGraphicFramePr>
          <p:nvPr/>
        </p:nvGraphicFramePr>
        <p:xfrm>
          <a:off x="6578247" y="4138661"/>
          <a:ext cx="78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5" imgW="317087" imgH="215619" progId="Equation.3">
                  <p:embed/>
                </p:oleObj>
              </mc:Choice>
              <mc:Fallback>
                <p:oleObj name="方程式" r:id="rId25" imgW="317087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247" y="4138661"/>
                        <a:ext cx="7874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5191975" y="6056797"/>
            <a:ext cx="79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bias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8087806" y="4232276"/>
          <a:ext cx="3524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7" imgW="126835" imgH="139518" progId="Equation.3">
                  <p:embed/>
                </p:oleObj>
              </mc:Choice>
              <mc:Fallback>
                <p:oleObj name="方程式" r:id="rId2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7806" y="4232276"/>
                        <a:ext cx="35242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字方塊 39"/>
          <p:cNvSpPr txBox="1"/>
          <p:nvPr/>
        </p:nvSpPr>
        <p:spPr>
          <a:xfrm>
            <a:off x="6100141" y="4945348"/>
            <a:ext cx="1894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Activation function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357704" y="5240866"/>
            <a:ext cx="1186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weights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80611" y="1825095"/>
            <a:ext cx="1463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>
                <a:solidFill>
                  <a:prstClr val="black"/>
                </a:solidFill>
              </a:rPr>
              <a:t>Neuron</a:t>
            </a:r>
            <a:endParaRPr lang="zh-TW" altLang="en-US" sz="3200" b="1" i="1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66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  <p:bldP spid="7" grpId="0" animBg="1"/>
      <p:bldP spid="34" grpId="0"/>
      <p:bldP spid="40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7361171" y="4824500"/>
            <a:ext cx="1165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prstClr val="black"/>
                </a:solidFill>
              </a:rPr>
              <a:t>Output Layer</a:t>
            </a:r>
            <a:endParaRPr lang="zh-TW" altLang="en-US" sz="2400" b="1" dirty="0">
              <a:solidFill>
                <a:prstClr val="black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407916" y="5172080"/>
            <a:ext cx="206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prstClr val="black"/>
                </a:solidFill>
              </a:rPr>
              <a:t>Hidden Layers</a:t>
            </a:r>
            <a:endParaRPr lang="zh-TW" altLang="en-US" sz="2400" b="1" dirty="0">
              <a:solidFill>
                <a:prstClr val="black"/>
              </a:solidFill>
            </a:endParaRPr>
          </a:p>
        </p:txBody>
      </p:sp>
      <p:sp>
        <p:nvSpPr>
          <p:cNvPr id="66" name="右大括弧 65"/>
          <p:cNvSpPr/>
          <p:nvPr/>
        </p:nvSpPr>
        <p:spPr>
          <a:xfrm rot="5400000">
            <a:off x="5368836" y="3524807"/>
            <a:ext cx="181728" cy="2939290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845463" y="225251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644750" y="4829479"/>
            <a:ext cx="928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prstClr val="black"/>
                </a:solidFill>
              </a:rPr>
              <a:t>Input Layer</a:t>
            </a:r>
            <a:endParaRPr lang="zh-TW" altLang="en-US" sz="2400" b="1" dirty="0">
              <a:solidFill>
                <a:prstClr val="black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17976" y="1770730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Input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8662018" y="1770730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Output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7957737" y="3273292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8067052" y="4519182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7933852" y="2494489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913850" y="297020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19668" y="239987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2932367" y="2304627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68" imgH="215713" progId="Equation.3">
                  <p:embed/>
                </p:oleObj>
              </mc:Choice>
              <mc:Fallback>
                <p:oleObj name="方程式" r:id="rId3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367" y="2304627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2937664" y="2887357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5" imgH="215619" progId="Equation.3">
                  <p:embed/>
                </p:oleObj>
              </mc:Choice>
              <mc:Fallback>
                <p:oleObj name="方程式" r:id="rId5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664" y="2887357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群組 77"/>
          <p:cNvGrpSpPr/>
          <p:nvPr/>
        </p:nvGrpSpPr>
        <p:grpSpPr>
          <a:xfrm>
            <a:off x="3856137" y="1770730"/>
            <a:ext cx="1134648" cy="3130011"/>
            <a:chOff x="2332137" y="1770729"/>
            <a:chExt cx="1134648" cy="3130011"/>
          </a:xfrm>
        </p:grpSpPr>
        <p:sp>
          <p:nvSpPr>
            <p:cNvPr id="61" name="矩形 60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Layer 1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橢圓 19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923375" y="43679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2920259" y="4271709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90500" imgH="228600" progId="Equation.3">
                  <p:embed/>
                </p:oleObj>
              </mc:Choice>
              <mc:Fallback>
                <p:oleObj name="方程式" r:id="rId7" imgW="19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259" y="4271709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3"/>
          <p:cNvSpPr txBox="1"/>
          <p:nvPr/>
        </p:nvSpPr>
        <p:spPr>
          <a:xfrm rot="5400000">
            <a:off x="2799308" y="365290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grpSp>
        <p:nvGrpSpPr>
          <p:cNvPr id="79" name="群組 78"/>
          <p:cNvGrpSpPr/>
          <p:nvPr/>
        </p:nvGrpSpPr>
        <p:grpSpPr>
          <a:xfrm>
            <a:off x="5181035" y="1770729"/>
            <a:ext cx="1134648" cy="3113664"/>
            <a:chOff x="3657035" y="1770729"/>
            <a:chExt cx="1134648" cy="3113664"/>
          </a:xfrm>
        </p:grpSpPr>
        <p:sp>
          <p:nvSpPr>
            <p:cNvPr id="62" name="矩形 61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Layer 2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7392381" y="1770730"/>
            <a:ext cx="1134648" cy="3130011"/>
            <a:chOff x="5868381" y="1770729"/>
            <a:chExt cx="1134648" cy="3130011"/>
          </a:xfrm>
        </p:grpSpPr>
        <p:sp>
          <p:nvSpPr>
            <p:cNvPr id="63" name="矩形 62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868381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Layer L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 rot="5400000">
              <a:off x="6129396" y="364247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6124124" y="219186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131073" y="29528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160089" y="416818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grpSp>
        <p:nvGrpSpPr>
          <p:cNvPr id="81" name="群組 80"/>
          <p:cNvGrpSpPr/>
          <p:nvPr/>
        </p:nvGrpSpPr>
        <p:grpSpPr>
          <a:xfrm>
            <a:off x="4690543" y="2522954"/>
            <a:ext cx="753037" cy="2013721"/>
            <a:chOff x="3166542" y="2522953"/>
            <a:chExt cx="753037" cy="2013721"/>
          </a:xfrm>
        </p:grpSpPr>
        <p:cxnSp>
          <p:nvCxnSpPr>
            <p:cNvPr id="36" name="直線單箭頭接點 35"/>
            <p:cNvCxnSpPr>
              <a:stCxn id="18" idx="6"/>
              <a:endCxn id="25" idx="2"/>
            </p:cNvCxnSpPr>
            <p:nvPr/>
          </p:nvCxnSpPr>
          <p:spPr>
            <a:xfrm>
              <a:off x="3175833" y="252295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3175833" y="33147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3166542" y="453667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9" idx="6"/>
              <a:endCxn id="25" idx="2"/>
            </p:cNvCxnSpPr>
            <p:nvPr/>
          </p:nvCxnSpPr>
          <p:spPr>
            <a:xfrm flipV="1">
              <a:off x="3178175" y="252295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8" idx="6"/>
              <a:endCxn id="26" idx="2"/>
            </p:cNvCxnSpPr>
            <p:nvPr/>
          </p:nvCxnSpPr>
          <p:spPr>
            <a:xfrm>
              <a:off x="3175833" y="252295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8" idx="6"/>
              <a:endCxn id="27" idx="2"/>
            </p:cNvCxnSpPr>
            <p:nvPr/>
          </p:nvCxnSpPr>
          <p:spPr>
            <a:xfrm>
              <a:off x="3175833" y="252295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19" idx="6"/>
              <a:endCxn id="27" idx="2"/>
            </p:cNvCxnSpPr>
            <p:nvPr/>
          </p:nvCxnSpPr>
          <p:spPr>
            <a:xfrm>
              <a:off x="3178175" y="330152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0" idx="6"/>
              <a:endCxn id="25" idx="2"/>
            </p:cNvCxnSpPr>
            <p:nvPr/>
          </p:nvCxnSpPr>
          <p:spPr>
            <a:xfrm flipV="1">
              <a:off x="3166542" y="252295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20" idx="6"/>
              <a:endCxn id="26" idx="2"/>
            </p:cNvCxnSpPr>
            <p:nvPr/>
          </p:nvCxnSpPr>
          <p:spPr>
            <a:xfrm flipV="1">
              <a:off x="3166542" y="330152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單箭頭接點 44"/>
          <p:cNvCxnSpPr>
            <a:endCxn id="18" idx="2"/>
          </p:cNvCxnSpPr>
          <p:nvPr/>
        </p:nvCxnSpPr>
        <p:spPr>
          <a:xfrm flipV="1">
            <a:off x="3266275" y="2522954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5" idx="3"/>
            <a:endCxn id="19" idx="2"/>
          </p:cNvCxnSpPr>
          <p:nvPr/>
        </p:nvCxnSpPr>
        <p:spPr>
          <a:xfrm>
            <a:off x="3262569" y="2571327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5" idx="3"/>
            <a:endCxn id="20" idx="2"/>
          </p:cNvCxnSpPr>
          <p:nvPr/>
        </p:nvCxnSpPr>
        <p:spPr>
          <a:xfrm>
            <a:off x="3262568" y="2571327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7" idx="3"/>
            <a:endCxn id="18" idx="2"/>
          </p:cNvCxnSpPr>
          <p:nvPr/>
        </p:nvCxnSpPr>
        <p:spPr>
          <a:xfrm flipV="1">
            <a:off x="3290089" y="2522953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4" idx="3"/>
            <a:endCxn id="19" idx="2"/>
          </p:cNvCxnSpPr>
          <p:nvPr/>
        </p:nvCxnSpPr>
        <p:spPr>
          <a:xfrm>
            <a:off x="3256751" y="3141657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4" idx="3"/>
            <a:endCxn id="20" idx="2"/>
          </p:cNvCxnSpPr>
          <p:nvPr/>
        </p:nvCxnSpPr>
        <p:spPr>
          <a:xfrm>
            <a:off x="3256750" y="3141657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3" idx="3"/>
            <a:endCxn id="18" idx="2"/>
          </p:cNvCxnSpPr>
          <p:nvPr/>
        </p:nvCxnSpPr>
        <p:spPr>
          <a:xfrm flipV="1">
            <a:off x="3328247" y="2522954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3" idx="3"/>
            <a:endCxn id="19" idx="2"/>
          </p:cNvCxnSpPr>
          <p:nvPr/>
        </p:nvCxnSpPr>
        <p:spPr>
          <a:xfrm flipV="1">
            <a:off x="3301879" y="3301523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3" idx="3"/>
            <a:endCxn id="20" idx="2"/>
          </p:cNvCxnSpPr>
          <p:nvPr/>
        </p:nvCxnSpPr>
        <p:spPr>
          <a:xfrm>
            <a:off x="3301878" y="4516129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 rot="5400000">
            <a:off x="8926415" y="367345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8995508" y="215462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8984225" y="295284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2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8984225" y="421908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 err="1">
                <a:solidFill>
                  <a:prstClr val="black"/>
                </a:solidFill>
              </a:rPr>
              <a:t>M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3660851" y="5937293"/>
            <a:ext cx="5239013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Deep means many hidden layers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grpSp>
        <p:nvGrpSpPr>
          <p:cNvPr id="82" name="群組 81"/>
          <p:cNvGrpSpPr/>
          <p:nvPr/>
        </p:nvGrpSpPr>
        <p:grpSpPr>
          <a:xfrm>
            <a:off x="6881095" y="2515815"/>
            <a:ext cx="753037" cy="2013721"/>
            <a:chOff x="5357094" y="2515814"/>
            <a:chExt cx="753037" cy="2013721"/>
          </a:xfrm>
        </p:grpSpPr>
        <p:cxnSp>
          <p:nvCxnSpPr>
            <p:cNvPr id="67" name="直線單箭頭接點 6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/>
          <p:cNvSpPr txBox="1"/>
          <p:nvPr/>
        </p:nvSpPr>
        <p:spPr>
          <a:xfrm>
            <a:off x="6508752" y="1165845"/>
            <a:ext cx="1181585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neuron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cxnSp>
        <p:nvCxnSpPr>
          <p:cNvPr id="10" name="直線單箭頭接點 9"/>
          <p:cNvCxnSpPr>
            <a:endCxn id="3" idx="2"/>
          </p:cNvCxnSpPr>
          <p:nvPr/>
        </p:nvCxnSpPr>
        <p:spPr>
          <a:xfrm flipV="1">
            <a:off x="5683624" y="1627509"/>
            <a:ext cx="1415920" cy="94381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1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 animBg="1"/>
      <p:bldP spid="59" grpId="0" animBg="1"/>
      <p:bldP spid="60" grpId="0"/>
      <p:bldP spid="7" grpId="0"/>
      <p:bldP spid="8" grpId="0"/>
      <p:bldP spid="14" grpId="0" animBg="1"/>
      <p:bldP spid="15" grpId="0" animBg="1"/>
      <p:bldP spid="22" grpId="0" animBg="1"/>
      <p:bldP spid="24" grpId="0"/>
      <p:bldP spid="33" grpId="0"/>
      <p:bldP spid="34" grpId="0"/>
      <p:bldP spid="35" grpId="0"/>
      <p:bldP spid="54" grpId="0"/>
      <p:bldP spid="55" grpId="0"/>
      <p:bldP spid="56" grpId="0"/>
      <p:bldP spid="57" grpId="0"/>
      <p:bldP spid="68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群組 128"/>
          <p:cNvGrpSpPr/>
          <p:nvPr/>
        </p:nvGrpSpPr>
        <p:grpSpPr>
          <a:xfrm>
            <a:off x="8430116" y="3813979"/>
            <a:ext cx="458287" cy="831947"/>
            <a:chOff x="10102194" y="1939763"/>
            <a:chExt cx="458287" cy="831947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6200174" y="3786658"/>
            <a:ext cx="458287" cy="831947"/>
            <a:chOff x="10102194" y="1939763"/>
            <a:chExt cx="458287" cy="831947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Neural Network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145462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9145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272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41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249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4237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6452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6471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8606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8647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pSp>
        <p:nvGrpSpPr>
          <p:cNvPr id="84" name="群組 83"/>
          <p:cNvGrpSpPr/>
          <p:nvPr/>
        </p:nvGrpSpPr>
        <p:grpSpPr>
          <a:xfrm>
            <a:off x="2632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4851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7051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群組 2"/>
          <p:cNvGrpSpPr/>
          <p:nvPr/>
        </p:nvGrpSpPr>
        <p:grpSpPr>
          <a:xfrm>
            <a:off x="5139463" y="4585976"/>
            <a:ext cx="5297714" cy="2078894"/>
            <a:chOff x="3615463" y="4585976"/>
            <a:chExt cx="5297714" cy="2078894"/>
          </a:xfrm>
        </p:grpSpPr>
        <p:sp>
          <p:nvSpPr>
            <p:cNvPr id="137" name="圓角矩形圖說文字 136"/>
            <p:cNvSpPr/>
            <p:nvPr/>
          </p:nvSpPr>
          <p:spPr>
            <a:xfrm>
              <a:off x="3615463" y="4585976"/>
              <a:ext cx="5297714" cy="2078894"/>
            </a:xfrm>
            <a:prstGeom prst="wedgeRoundRectCallout">
              <a:avLst>
                <a:gd name="adj1" fmla="val -59656"/>
                <a:gd name="adj2" fmla="val -163051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white"/>
                </a:solidFill>
              </a:endParaRPr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943645" y="4731685"/>
              <a:ext cx="2743688" cy="1838325"/>
              <a:chOff x="4096343" y="4657321"/>
              <a:chExt cx="2743688" cy="1838325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6343" y="4657321"/>
                <a:ext cx="2571750" cy="1838325"/>
              </a:xfrm>
              <a:prstGeom prst="rect">
                <a:avLst/>
              </a:prstGeom>
            </p:spPr>
          </p:pic>
          <p:graphicFrame>
            <p:nvGraphicFramePr>
              <p:cNvPr id="6" name="Object 12"/>
              <p:cNvGraphicFramePr>
                <a:graphicFrameLocks noChangeAspect="1"/>
              </p:cNvGraphicFramePr>
              <p:nvPr/>
            </p:nvGraphicFramePr>
            <p:xfrm>
              <a:off x="4474734" y="4768231"/>
              <a:ext cx="717072" cy="4897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4" imgW="317087" imgH="215619" progId="Equation.3">
                      <p:embed/>
                    </p:oleObj>
                  </mc:Choice>
                  <mc:Fallback>
                    <p:oleObj name="方程式" r:id="rId4" imgW="317087" imgH="21561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4734" y="4768231"/>
                            <a:ext cx="717072" cy="4897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2"/>
              <p:cNvGraphicFramePr>
                <a:graphicFrameLocks noChangeAspect="1"/>
              </p:cNvGraphicFramePr>
              <p:nvPr/>
            </p:nvGraphicFramePr>
            <p:xfrm>
              <a:off x="6512897" y="6101982"/>
              <a:ext cx="327134" cy="325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6" imgW="126725" imgH="126725" progId="Equation.3">
                      <p:embed/>
                    </p:oleObj>
                  </mc:Choice>
                  <mc:Fallback>
                    <p:oleObj name="方程式" r:id="rId6" imgW="126725" imgH="1267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2897" y="6101982"/>
                            <a:ext cx="327134" cy="32566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9" name="Object 12"/>
            <p:cNvGraphicFramePr>
              <a:graphicFrameLocks noChangeAspect="1"/>
            </p:cNvGraphicFramePr>
            <p:nvPr/>
          </p:nvGraphicFramePr>
          <p:xfrm>
            <a:off x="3800520" y="5368768"/>
            <a:ext cx="2143125" cy="97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863225" imgH="393529" progId="Equation.3">
                    <p:embed/>
                  </p:oleObj>
                </mc:Choice>
                <mc:Fallback>
                  <p:oleObj name="方程式" r:id="rId8" imgW="863225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520" y="5368768"/>
                          <a:ext cx="2143125" cy="973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字方塊 102"/>
            <p:cNvSpPr txBox="1"/>
            <p:nvPr/>
          </p:nvSpPr>
          <p:spPr>
            <a:xfrm>
              <a:off x="3800520" y="4795570"/>
              <a:ext cx="246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prstClr val="black"/>
                  </a:solidFill>
                </a:rPr>
                <a:t>Sigmoid Function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104" name="手繪多邊形 103"/>
          <p:cNvSpPr/>
          <p:nvPr/>
        </p:nvSpPr>
        <p:spPr>
          <a:xfrm>
            <a:off x="4304137" y="356992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6" name="手繪多邊形 105"/>
          <p:cNvSpPr/>
          <p:nvPr/>
        </p:nvSpPr>
        <p:spPr>
          <a:xfrm>
            <a:off x="4285527" y="198048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7" name="手繪多邊形 106"/>
          <p:cNvSpPr/>
          <p:nvPr/>
        </p:nvSpPr>
        <p:spPr>
          <a:xfrm>
            <a:off x="6514449" y="199166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8" name="手繪多邊形 107"/>
          <p:cNvSpPr/>
          <p:nvPr/>
        </p:nvSpPr>
        <p:spPr>
          <a:xfrm>
            <a:off x="6530793" y="351499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9" name="手繪多邊形 108"/>
          <p:cNvSpPr/>
          <p:nvPr/>
        </p:nvSpPr>
        <p:spPr>
          <a:xfrm>
            <a:off x="8663390" y="193024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0" name="手繪多邊形 109"/>
          <p:cNvSpPr/>
          <p:nvPr/>
        </p:nvSpPr>
        <p:spPr>
          <a:xfrm>
            <a:off x="8710477" y="354842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2284961" y="197820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179178" y="3577640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3231829" y="169328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3398921" y="228159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3096625" y="379872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3248904" y="322841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3995152" y="2657650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4222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4017999" y="2644732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4004677" y="420698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4231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4021285" y="4200529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3934434" y="1640960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3820396" y="3244827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4633050" y="160202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4655369" y="320755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6197796" y="2262335"/>
            <a:ext cx="458287" cy="831947"/>
            <a:chOff x="10102194" y="1939763"/>
            <a:chExt cx="458287" cy="831947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8376036" y="2257143"/>
            <a:ext cx="458287" cy="831947"/>
            <a:chOff x="10102194" y="1939763"/>
            <a:chExt cx="458287" cy="831947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708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 animBg="1"/>
      <p:bldP spid="1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Neural Network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145462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9145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4249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4237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6452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6471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8606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8647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pSp>
        <p:nvGrpSpPr>
          <p:cNvPr id="84" name="群組 83"/>
          <p:cNvGrpSpPr/>
          <p:nvPr/>
        </p:nvGrpSpPr>
        <p:grpSpPr>
          <a:xfrm>
            <a:off x="2632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4851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7051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4304137" y="356992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6" name="手繪多邊形 105"/>
          <p:cNvSpPr/>
          <p:nvPr/>
        </p:nvSpPr>
        <p:spPr>
          <a:xfrm>
            <a:off x="4285527" y="198048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7" name="手繪多邊形 106"/>
          <p:cNvSpPr/>
          <p:nvPr/>
        </p:nvSpPr>
        <p:spPr>
          <a:xfrm>
            <a:off x="6514449" y="199166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8" name="手繪多邊形 107"/>
          <p:cNvSpPr/>
          <p:nvPr/>
        </p:nvSpPr>
        <p:spPr>
          <a:xfrm>
            <a:off x="6530793" y="351499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9" name="手繪多邊形 108"/>
          <p:cNvSpPr/>
          <p:nvPr/>
        </p:nvSpPr>
        <p:spPr>
          <a:xfrm>
            <a:off x="8663390" y="193024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0" name="手繪多邊形 109"/>
          <p:cNvSpPr/>
          <p:nvPr/>
        </p:nvSpPr>
        <p:spPr>
          <a:xfrm>
            <a:off x="8710477" y="354842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3231829" y="169328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3398921" y="228159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3096625" y="379872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3248904" y="322841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grpSp>
        <p:nvGrpSpPr>
          <p:cNvPr id="123" name="群組 122"/>
          <p:cNvGrpSpPr/>
          <p:nvPr/>
        </p:nvGrpSpPr>
        <p:grpSpPr>
          <a:xfrm>
            <a:off x="3995152" y="2274450"/>
            <a:ext cx="458287" cy="838405"/>
            <a:chOff x="10102194" y="1939763"/>
            <a:chExt cx="458287" cy="838405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1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4004677" y="3823789"/>
            <a:ext cx="458287" cy="838405"/>
            <a:chOff x="10102194" y="1939763"/>
            <a:chExt cx="458287" cy="838405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0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135" name="文字方塊 134"/>
          <p:cNvSpPr txBox="1"/>
          <p:nvPr/>
        </p:nvSpPr>
        <p:spPr>
          <a:xfrm>
            <a:off x="3934434" y="1640960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3820396" y="3244827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4633050" y="160202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4655369" y="320755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5477237" y="1672424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5644329" y="2260741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5342033" y="3777871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5494312" y="3207559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650016" y="1673341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7817108" y="226165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514812" y="3778788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4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7667091" y="320847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50" name="文字方塊 149"/>
          <p:cNvSpPr txBox="1"/>
          <p:nvPr/>
        </p:nvSpPr>
        <p:spPr>
          <a:xfrm>
            <a:off x="6776837" y="166543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0.86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6799156" y="3270970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9029772" y="1626200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0.62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9052091" y="3231731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0.83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6197796" y="2262335"/>
            <a:ext cx="458287" cy="838405"/>
            <a:chOff x="10102194" y="1939763"/>
            <a:chExt cx="458287" cy="838405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0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6200174" y="3786658"/>
            <a:ext cx="458287" cy="838405"/>
            <a:chOff x="10102194" y="1939763"/>
            <a:chExt cx="458287" cy="838405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0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8376036" y="2257143"/>
            <a:ext cx="458287" cy="838405"/>
            <a:chOff x="10102194" y="1939763"/>
            <a:chExt cx="458287" cy="838405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-2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8430116" y="3813979"/>
            <a:ext cx="458287" cy="838405"/>
            <a:chOff x="10102194" y="1939763"/>
            <a:chExt cx="458287" cy="838405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字方塊 148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2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2272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241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2284961" y="197820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2179178" y="3577640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70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  <p:bldP spid="154" grpId="0" animBg="1"/>
      <p:bldP spid="15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Neural Network 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145462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9145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4249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4237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6452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6471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8606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8647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pSp>
        <p:nvGrpSpPr>
          <p:cNvPr id="84" name="群組 83"/>
          <p:cNvGrpSpPr/>
          <p:nvPr/>
        </p:nvGrpSpPr>
        <p:grpSpPr>
          <a:xfrm>
            <a:off x="2632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4851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7051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4304137" y="356992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6" name="手繪多邊形 105"/>
          <p:cNvSpPr/>
          <p:nvPr/>
        </p:nvSpPr>
        <p:spPr>
          <a:xfrm>
            <a:off x="4285527" y="198048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7" name="手繪多邊形 106"/>
          <p:cNvSpPr/>
          <p:nvPr/>
        </p:nvSpPr>
        <p:spPr>
          <a:xfrm>
            <a:off x="6514449" y="199166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8" name="手繪多邊形 107"/>
          <p:cNvSpPr/>
          <p:nvPr/>
        </p:nvSpPr>
        <p:spPr>
          <a:xfrm>
            <a:off x="6530793" y="351499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9" name="手繪多邊形 108"/>
          <p:cNvSpPr/>
          <p:nvPr/>
        </p:nvSpPr>
        <p:spPr>
          <a:xfrm>
            <a:off x="8663390" y="193024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0" name="手繪多邊形 109"/>
          <p:cNvSpPr/>
          <p:nvPr/>
        </p:nvSpPr>
        <p:spPr>
          <a:xfrm>
            <a:off x="8710477" y="354842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3231829" y="169328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3398921" y="228159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3096625" y="379872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3248904" y="322841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grpSp>
        <p:nvGrpSpPr>
          <p:cNvPr id="123" name="群組 122"/>
          <p:cNvGrpSpPr/>
          <p:nvPr/>
        </p:nvGrpSpPr>
        <p:grpSpPr>
          <a:xfrm>
            <a:off x="3995152" y="2274450"/>
            <a:ext cx="458287" cy="838405"/>
            <a:chOff x="10102194" y="1939763"/>
            <a:chExt cx="458287" cy="838405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1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4004677" y="3823789"/>
            <a:ext cx="458287" cy="838405"/>
            <a:chOff x="10102194" y="1939763"/>
            <a:chExt cx="458287" cy="838405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0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138" name="文字方塊 137"/>
          <p:cNvSpPr txBox="1"/>
          <p:nvPr/>
        </p:nvSpPr>
        <p:spPr>
          <a:xfrm>
            <a:off x="4633050" y="160202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0.73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4599361" y="320755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5477237" y="1672424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5644329" y="2260741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5342033" y="3777871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5494312" y="3207559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-2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650016" y="1673341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3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7817108" y="226165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514812" y="3778788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4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7667091" y="320847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-1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50" name="文字方塊 149"/>
          <p:cNvSpPr txBox="1"/>
          <p:nvPr/>
        </p:nvSpPr>
        <p:spPr>
          <a:xfrm>
            <a:off x="6739605" y="155651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0.72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6799156" y="3270970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9064144" y="1574624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0.51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9145461" y="3228415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6197796" y="2262335"/>
            <a:ext cx="458287" cy="838405"/>
            <a:chOff x="10102194" y="1939763"/>
            <a:chExt cx="458287" cy="838405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0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6200174" y="3786658"/>
            <a:ext cx="458287" cy="838405"/>
            <a:chOff x="10102194" y="1939763"/>
            <a:chExt cx="458287" cy="838405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0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8376036" y="2257143"/>
            <a:ext cx="458287" cy="838405"/>
            <a:chOff x="10102194" y="1939763"/>
            <a:chExt cx="458287" cy="838405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-2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8430116" y="3813979"/>
            <a:ext cx="458287" cy="838405"/>
            <a:chOff x="10102194" y="1939763"/>
            <a:chExt cx="458287" cy="838405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字方塊 148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2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/>
              <p:cNvSpPr txBox="1"/>
              <p:nvPr/>
            </p:nvSpPr>
            <p:spPr>
              <a:xfrm>
                <a:off x="7345154" y="4944894"/>
                <a:ext cx="2561855" cy="72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.51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3" name="文字方塊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154" y="4944894"/>
                <a:ext cx="2561855" cy="727250"/>
              </a:xfrm>
              <a:prstGeom prst="rect">
                <a:avLst/>
              </a:prstGeom>
              <a:blipFill rotWithShape="0">
                <a:blip r:embed="rId3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2499596" y="5969249"/>
            <a:ext cx="7376191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Different parameters define different function 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/>
              <p:cNvSpPr txBox="1"/>
              <p:nvPr/>
            </p:nvSpPr>
            <p:spPr>
              <a:xfrm>
                <a:off x="4251525" y="4962387"/>
                <a:ext cx="2829557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.62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0.83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1" name="文字方塊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525" y="4962387"/>
                <a:ext cx="2829557" cy="718466"/>
              </a:xfrm>
              <a:prstGeom prst="rect">
                <a:avLst/>
              </a:prstGeom>
              <a:blipFill rotWithShape="0">
                <a:blip r:embed="rId4"/>
                <a:stretch>
                  <a:fillRect b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/>
              <p:cNvSpPr txBox="1"/>
              <p:nvPr/>
            </p:nvSpPr>
            <p:spPr>
              <a:xfrm>
                <a:off x="1970183" y="4859313"/>
                <a:ext cx="17585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7" name="文字方塊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183" y="4859313"/>
                <a:ext cx="1758558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 134"/>
          <p:cNvSpPr/>
          <p:nvPr/>
        </p:nvSpPr>
        <p:spPr>
          <a:xfrm>
            <a:off x="2272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2241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2284961" y="197820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2179178" y="3577640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43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50" grpId="0" animBg="1"/>
      <p:bldP spid="151" grpId="0" animBg="1"/>
      <p:bldP spid="154" grpId="0" animBg="1"/>
      <p:bldP spid="155" grpId="0" animBg="1"/>
      <p:bldP spid="103" grpId="0" animBg="1"/>
      <p:bldP spid="4" grpId="0" animBg="1"/>
      <p:bldP spid="121" grpId="0" animBg="1"/>
      <p:bldP spid="137" grpId="0" animBg="1"/>
      <p:bldP spid="152" grpId="0"/>
      <p:bldP spid="1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742012" y="5073420"/>
                <a:ext cx="49186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012" y="5073420"/>
                <a:ext cx="4918654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Matrix Operation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145462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9145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4249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4237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6452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6471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8606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8647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pSp>
        <p:nvGrpSpPr>
          <p:cNvPr id="84" name="群組 83"/>
          <p:cNvGrpSpPr/>
          <p:nvPr/>
        </p:nvGrpSpPr>
        <p:grpSpPr>
          <a:xfrm>
            <a:off x="2632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4851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7051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0" name="Object 12"/>
          <p:cNvGraphicFramePr>
            <a:graphicFrameLocks noChangeAspect="1"/>
          </p:cNvGraphicFramePr>
          <p:nvPr/>
        </p:nvGraphicFramePr>
        <p:xfrm>
          <a:off x="9831921" y="3494489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77569" imgH="215619" progId="Equation.3">
                  <p:embed/>
                </p:oleObj>
              </mc:Choice>
              <mc:Fallback>
                <p:oleObj name="方程式" r:id="rId5" imgW="17756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1921" y="3494489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"/>
          <p:cNvGraphicFramePr>
            <a:graphicFrameLocks noChangeAspect="1"/>
          </p:cNvGraphicFramePr>
          <p:nvPr/>
        </p:nvGraphicFramePr>
        <p:xfrm>
          <a:off x="9844089" y="1838347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64885" imgH="215619" progId="Equation.3">
                  <p:embed/>
                </p:oleObj>
              </mc:Choice>
              <mc:Fallback>
                <p:oleObj name="方程式" r:id="rId7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4089" y="1838347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手繪多邊形 103"/>
          <p:cNvSpPr/>
          <p:nvPr/>
        </p:nvSpPr>
        <p:spPr>
          <a:xfrm>
            <a:off x="4304137" y="356992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6" name="手繪多邊形 105"/>
          <p:cNvSpPr/>
          <p:nvPr/>
        </p:nvSpPr>
        <p:spPr>
          <a:xfrm>
            <a:off x="4285527" y="198048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7" name="手繪多邊形 106"/>
          <p:cNvSpPr/>
          <p:nvPr/>
        </p:nvSpPr>
        <p:spPr>
          <a:xfrm>
            <a:off x="6514449" y="199166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8" name="手繪多邊形 107"/>
          <p:cNvSpPr/>
          <p:nvPr/>
        </p:nvSpPr>
        <p:spPr>
          <a:xfrm>
            <a:off x="6530793" y="351499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9" name="手繪多邊形 108"/>
          <p:cNvSpPr/>
          <p:nvPr/>
        </p:nvSpPr>
        <p:spPr>
          <a:xfrm>
            <a:off x="8663390" y="1930244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0" name="手繪多邊形 109"/>
          <p:cNvSpPr/>
          <p:nvPr/>
        </p:nvSpPr>
        <p:spPr>
          <a:xfrm>
            <a:off x="8710477" y="3548428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3231829" y="169328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3398921" y="228159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-2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3096625" y="379872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3248904" y="322841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3995152" y="2657650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4222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4011760" y="2651190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1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4004677" y="420698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4231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4021285" y="4200529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0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3934434" y="1640960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3820396" y="3244827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4633050" y="1602028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4655369" y="3207559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159333" y="4932536"/>
                <a:ext cx="810478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33" y="4932536"/>
                <a:ext cx="810478" cy="71564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3395122" y="4931042"/>
                <a:ext cx="1636025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122" y="4931042"/>
                <a:ext cx="1636025" cy="71564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6164995" y="5085250"/>
                <a:ext cx="34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995" y="5085250"/>
                <a:ext cx="349455" cy="4308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6665874" y="4921977"/>
                <a:ext cx="54277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874" y="4921977"/>
                <a:ext cx="542776" cy="718466"/>
              </a:xfrm>
              <a:prstGeom prst="rect">
                <a:avLst/>
              </a:prstGeom>
              <a:blipFill rotWithShape="0">
                <a:blip r:embed="rId12"/>
                <a:stretch>
                  <a:fillRect b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8282906" y="4919562"/>
                <a:ext cx="1014059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906" y="4919562"/>
                <a:ext cx="1014059" cy="718466"/>
              </a:xfrm>
              <a:prstGeom prst="rect">
                <a:avLst/>
              </a:prstGeom>
              <a:blipFill rotWithShape="0">
                <a:blip r:embed="rId13"/>
                <a:stretch>
                  <a:fillRect b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714637" y="5017185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637" y="5017185"/>
                <a:ext cx="534121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2272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2241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2284961" y="197820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2188367" y="3567894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5002118" y="5992672"/>
                <a:ext cx="810478" cy="714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118" y="5992672"/>
                <a:ext cx="810478" cy="714106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大括弧 8"/>
          <p:cNvSpPr/>
          <p:nvPr/>
        </p:nvSpPr>
        <p:spPr>
          <a:xfrm rot="5400000">
            <a:off x="5323149" y="3670895"/>
            <a:ext cx="151251" cy="4152171"/>
          </a:xfrm>
          <a:prstGeom prst="rightBrace">
            <a:avLst>
              <a:gd name="adj1" fmla="val 1153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06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/>
      <p:bldP spid="139" grpId="0"/>
      <p:bldP spid="3" grpId="0" animBg="1"/>
      <p:bldP spid="70" grpId="0" animBg="1"/>
      <p:bldP spid="71" grpId="0" animBg="1"/>
      <p:bldP spid="67" grpId="0" animBg="1"/>
      <p:bldP spid="68" grpId="0" animBg="1"/>
      <p:bldP spid="5" grpId="0" animBg="1"/>
      <p:bldP spid="81" grpId="0"/>
      <p:bldP spid="82" grpId="0"/>
      <p:bldP spid="9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8704167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553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879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290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370624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93" name="直線單箭頭接點 92"/>
          <p:cNvCxnSpPr/>
          <p:nvPr/>
        </p:nvCxnSpPr>
        <p:spPr>
          <a:xfrm>
            <a:off x="7677679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7786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7653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3439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444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3457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68" imgH="215713" progId="Equation.3">
                  <p:embed/>
                </p:oleObj>
              </mc:Choice>
              <mc:Fallback>
                <p:oleObj name="方程式" r:id="rId3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3462825" y="2268999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5" imgH="215619" progId="Equation.3">
                  <p:embed/>
                </p:oleObj>
              </mc:Choice>
              <mc:Fallback>
                <p:oleObj name="方程式" r:id="rId5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825" y="2268999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4650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4653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2" name="橢圓 101"/>
          <p:cNvSpPr/>
          <p:nvPr/>
        </p:nvSpPr>
        <p:spPr>
          <a:xfrm>
            <a:off x="4641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4638799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3448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3445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90500" imgH="228600" progId="Equation.3">
                  <p:embed/>
                </p:oleObj>
              </mc:Choice>
              <mc:Fallback>
                <p:oleObj name="方程式" r:id="rId7" imgW="19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3324469" y="303454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5966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5968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5957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5954361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1" name="橢圓 110"/>
          <p:cNvSpPr/>
          <p:nvPr/>
        </p:nvSpPr>
        <p:spPr>
          <a:xfrm>
            <a:off x="7366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2" name="橢圓 111"/>
          <p:cNvSpPr/>
          <p:nvPr/>
        </p:nvSpPr>
        <p:spPr>
          <a:xfrm>
            <a:off x="7369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3" name="橢圓 112"/>
          <p:cNvSpPr/>
          <p:nvPr/>
        </p:nvSpPr>
        <p:spPr>
          <a:xfrm>
            <a:off x="7376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7373339" y="30241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6538444" y="1558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6556067" y="23444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6568247" y="36007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5224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5224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5215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5227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5224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5224995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5227337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5215704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5215704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3791436" y="1904596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3787730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3787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3815250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3781912" y="2523299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3781911" y="2523299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3853408" y="1904596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3827040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3827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8646357" y="305509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8715450" y="153627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8704167" y="233449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2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8704167" y="360072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 err="1">
                <a:solidFill>
                  <a:prstClr val="black"/>
                </a:solidFill>
              </a:rPr>
              <a:t>M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842545" y="2185784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230748" y="21939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696753" y="2187089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L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846227" y="2527383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7336126" y="2503876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 err="1">
                <a:solidFill>
                  <a:prstClr val="black"/>
                </a:solidFill>
              </a:rPr>
              <a:t>L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754674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x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064088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a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399212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a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988826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y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1686374" y="4820851"/>
            <a:ext cx="3002489" cy="877076"/>
            <a:chOff x="522337" y="4911258"/>
            <a:chExt cx="3002489" cy="877076"/>
          </a:xfrm>
        </p:grpSpPr>
        <p:sp>
          <p:nvSpPr>
            <p:cNvPr id="71" name="矩形 70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b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1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W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1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x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+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9" name="群組 158"/>
          <p:cNvGrpSpPr/>
          <p:nvPr/>
        </p:nvGrpSpPr>
        <p:grpSpPr>
          <a:xfrm>
            <a:off x="4688863" y="5192193"/>
            <a:ext cx="3002489" cy="877076"/>
            <a:chOff x="522337" y="4911258"/>
            <a:chExt cx="3002489" cy="877076"/>
          </a:xfrm>
        </p:grpSpPr>
        <p:sp>
          <p:nvSpPr>
            <p:cNvPr id="160" name="矩形 159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b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2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W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2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a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1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+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字方塊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群組 164"/>
          <p:cNvGrpSpPr/>
          <p:nvPr/>
        </p:nvGrpSpPr>
        <p:grpSpPr>
          <a:xfrm>
            <a:off x="7527379" y="5784539"/>
            <a:ext cx="2867836" cy="877076"/>
            <a:chOff x="522337" y="4911258"/>
            <a:chExt cx="2867836" cy="877076"/>
          </a:xfrm>
        </p:grpSpPr>
        <p:sp>
          <p:nvSpPr>
            <p:cNvPr id="166" name="矩形 165"/>
            <p:cNvSpPr/>
            <p:nvPr/>
          </p:nvSpPr>
          <p:spPr>
            <a:xfrm>
              <a:off x="274351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err="1">
                  <a:solidFill>
                    <a:prstClr val="black"/>
                  </a:solidFill>
                </a:rPr>
                <a:t>b</a:t>
              </a:r>
              <a:r>
                <a:rPr lang="en-US" altLang="zh-TW" sz="2400" baseline="30000" dirty="0" err="1">
                  <a:solidFill>
                    <a:prstClr val="black"/>
                  </a:solidFill>
                </a:rPr>
                <a:t>L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W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L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+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/>
                <p:cNvSpPr txBox="1"/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字方塊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0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單箭頭接點 6"/>
          <p:cNvCxnSpPr>
            <a:stCxn id="145" idx="3"/>
            <a:endCxn id="89" idx="2"/>
          </p:cNvCxnSpPr>
          <p:nvPr/>
        </p:nvCxnSpPr>
        <p:spPr>
          <a:xfrm flipV="1">
            <a:off x="4688863" y="4458105"/>
            <a:ext cx="595905" cy="801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830247" y="5985201"/>
            <a:ext cx="5854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a</a:t>
            </a:r>
            <a:r>
              <a:rPr lang="en-US" altLang="zh-TW" sz="2400" baseline="30000" dirty="0">
                <a:solidFill>
                  <a:prstClr val="black"/>
                </a:solidFill>
              </a:rPr>
              <a:t>L-1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4405004" y="2531688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24" name="手繪多邊形 23"/>
          <p:cNvSpPr/>
          <p:nvPr/>
        </p:nvSpPr>
        <p:spPr>
          <a:xfrm>
            <a:off x="6875490" y="4437089"/>
            <a:ext cx="882753" cy="1169232"/>
          </a:xfrm>
          <a:custGeom>
            <a:avLst/>
            <a:gdLst>
              <a:gd name="connsiteX0" fmla="*/ 749508 w 882753"/>
              <a:gd name="connsiteY0" fmla="*/ 1169232 h 1169232"/>
              <a:gd name="connsiteX1" fmla="*/ 824459 w 882753"/>
              <a:gd name="connsiteY1" fmla="*/ 779488 h 1169232"/>
              <a:gd name="connsiteX2" fmla="*/ 0 w 882753"/>
              <a:gd name="connsiteY2" fmla="*/ 0 h 116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753" h="1169232">
                <a:moveTo>
                  <a:pt x="749508" y="1169232"/>
                </a:moveTo>
                <a:cubicBezTo>
                  <a:pt x="849442" y="1071796"/>
                  <a:pt x="949377" y="974360"/>
                  <a:pt x="824459" y="779488"/>
                </a:cubicBezTo>
                <a:cubicBezTo>
                  <a:pt x="699541" y="584616"/>
                  <a:pt x="349770" y="292308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5" name="手繪多邊形 24"/>
          <p:cNvSpPr/>
          <p:nvPr/>
        </p:nvSpPr>
        <p:spPr>
          <a:xfrm>
            <a:off x="8449457" y="4407108"/>
            <a:ext cx="2027943" cy="1783830"/>
          </a:xfrm>
          <a:custGeom>
            <a:avLst/>
            <a:gdLst>
              <a:gd name="connsiteX0" fmla="*/ 1933731 w 2027943"/>
              <a:gd name="connsiteY0" fmla="*/ 1783830 h 1783830"/>
              <a:gd name="connsiteX1" fmla="*/ 1993692 w 2027943"/>
              <a:gd name="connsiteY1" fmla="*/ 1319135 h 1783830"/>
              <a:gd name="connsiteX2" fmla="*/ 1469036 w 2027943"/>
              <a:gd name="connsiteY2" fmla="*/ 449705 h 1783830"/>
              <a:gd name="connsiteX3" fmla="*/ 0 w 2027943"/>
              <a:gd name="connsiteY3" fmla="*/ 0 h 178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943" h="1783830">
                <a:moveTo>
                  <a:pt x="1933731" y="1783830"/>
                </a:moveTo>
                <a:cubicBezTo>
                  <a:pt x="2002436" y="1662659"/>
                  <a:pt x="2071141" y="1541489"/>
                  <a:pt x="1993692" y="1319135"/>
                </a:cubicBezTo>
                <a:cubicBezTo>
                  <a:pt x="1916243" y="1096781"/>
                  <a:pt x="1801318" y="669561"/>
                  <a:pt x="1469036" y="449705"/>
                </a:cubicBezTo>
                <a:cubicBezTo>
                  <a:pt x="1136754" y="229849"/>
                  <a:pt x="568377" y="11492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6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9" grpId="0" animBg="1"/>
      <p:bldP spid="80" grpId="0" animBg="1"/>
      <p:bldP spid="82" grpId="0" animBg="1"/>
      <p:bldP spid="83" grpId="0" animBg="1"/>
      <p:bldP spid="88" grpId="0" animBg="1"/>
      <p:bldP spid="89" grpId="0" animBg="1"/>
      <p:bldP spid="90" grpId="0" animBg="1"/>
      <p:bldP spid="92" grpId="0" animBg="1"/>
      <p:bldP spid="14" grpId="0"/>
      <p:bldP spid="17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1845349" y="5960609"/>
                <a:ext cx="85013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49" y="5960609"/>
                <a:ext cx="850130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3923138" y="5965343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138" y="5965343"/>
                <a:ext cx="515692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8704167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553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879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290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370624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93" name="直線單箭頭接點 92"/>
          <p:cNvCxnSpPr/>
          <p:nvPr/>
        </p:nvCxnSpPr>
        <p:spPr>
          <a:xfrm>
            <a:off x="7677679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7786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7653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3439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444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3457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52268" imgH="215713" progId="Equation.3">
                  <p:embed/>
                </p:oleObj>
              </mc:Choice>
              <mc:Fallback>
                <p:oleObj name="方程式" r:id="rId6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3462825" y="2268999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64885" imgH="215619" progId="Equation.3">
                  <p:embed/>
                </p:oleObj>
              </mc:Choice>
              <mc:Fallback>
                <p:oleObj name="方程式" r:id="rId8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825" y="2268999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4650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4653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2" name="橢圓 101"/>
          <p:cNvSpPr/>
          <p:nvPr/>
        </p:nvSpPr>
        <p:spPr>
          <a:xfrm>
            <a:off x="4641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4638799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3448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3445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90500" imgH="228600" progId="Equation.3">
                  <p:embed/>
                </p:oleObj>
              </mc:Choice>
              <mc:Fallback>
                <p:oleObj name="方程式" r:id="rId10" imgW="19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3324469" y="303454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07" name="橢圓 106"/>
          <p:cNvSpPr/>
          <p:nvPr/>
        </p:nvSpPr>
        <p:spPr>
          <a:xfrm>
            <a:off x="5966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5968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5957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5954361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1" name="橢圓 110"/>
          <p:cNvSpPr/>
          <p:nvPr/>
        </p:nvSpPr>
        <p:spPr>
          <a:xfrm>
            <a:off x="7366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2" name="橢圓 111"/>
          <p:cNvSpPr/>
          <p:nvPr/>
        </p:nvSpPr>
        <p:spPr>
          <a:xfrm>
            <a:off x="7369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3" name="橢圓 112"/>
          <p:cNvSpPr/>
          <p:nvPr/>
        </p:nvSpPr>
        <p:spPr>
          <a:xfrm>
            <a:off x="7376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7373339" y="30241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6538444" y="1558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6556067" y="23444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6568247" y="36007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5224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5224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5215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5227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5224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5224995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5227337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5215704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5215704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3791436" y="1904596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3787730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3787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3815250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3781912" y="2523299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3781911" y="2523299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3853408" y="1904596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3827040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3827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8646357" y="305509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8715450" y="153627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8704167" y="233449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2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8704167" y="360072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 err="1">
                <a:solidFill>
                  <a:prstClr val="black"/>
                </a:solidFill>
              </a:rPr>
              <a:t>M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842545" y="2185784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230748" y="21939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696753" y="2187089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L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846227" y="2527383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7336126" y="2503876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 err="1">
                <a:solidFill>
                  <a:prstClr val="black"/>
                </a:solidFill>
              </a:rPr>
              <a:t>L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754674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x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064088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a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399212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a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988826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y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045226" y="45930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y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2546727" y="4582414"/>
            <a:ext cx="1423980" cy="877076"/>
            <a:chOff x="3047770" y="5664328"/>
            <a:chExt cx="1423980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/>
                <p:cNvSpPr txBox="1"/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字方塊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717" b="-344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 86"/>
            <p:cNvSpPr/>
            <p:nvPr/>
          </p:nvSpPr>
          <p:spPr>
            <a:xfrm>
              <a:off x="3778163" y="566432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x</a:t>
              </a:r>
              <a:endParaRPr lang="zh-TW" alt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140" name="矩形 139"/>
          <p:cNvSpPr/>
          <p:nvPr/>
        </p:nvSpPr>
        <p:spPr>
          <a:xfrm>
            <a:off x="7458446" y="5686812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5636962" y="5708964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6537904" y="5685008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x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038544" y="5880612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+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/>
              <p:cNvSpPr txBox="1"/>
              <p:nvPr/>
            </p:nvSpPr>
            <p:spPr>
              <a:xfrm>
                <a:off x="5176492" y="5938880"/>
                <a:ext cx="30024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7" name="文字方塊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492" y="5938880"/>
                <a:ext cx="3002489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 148"/>
          <p:cNvSpPr/>
          <p:nvPr/>
        </p:nvSpPr>
        <p:spPr>
          <a:xfrm>
            <a:off x="8400409" y="5703456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4349707" y="572560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2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8045220" y="5892200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+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9615450" y="5685009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 err="1">
                <a:solidFill>
                  <a:prstClr val="black"/>
                </a:solidFill>
              </a:rPr>
              <a:t>L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2653408" y="5718374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W</a:t>
            </a:r>
            <a:r>
              <a:rPr lang="en-US" altLang="zh-TW" sz="2400" baseline="30000" dirty="0">
                <a:solidFill>
                  <a:prstClr val="black"/>
                </a:solidFill>
              </a:rPr>
              <a:t>L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14381819" y="6349207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x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58" name="文字方塊 157"/>
          <p:cNvSpPr txBox="1"/>
          <p:nvPr/>
        </p:nvSpPr>
        <p:spPr>
          <a:xfrm>
            <a:off x="9304896" y="5884467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+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384078" y="5819056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4405004" y="2531688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b</a:t>
            </a:r>
            <a:r>
              <a:rPr lang="en-US" altLang="zh-TW" sz="2400" baseline="30000" dirty="0">
                <a:solidFill>
                  <a:prstClr val="black"/>
                </a:solidFill>
              </a:rPr>
              <a:t>1</a:t>
            </a:r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8896935" y="5774436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4301296" y="4572909"/>
            <a:ext cx="55395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Using parallel computing techniques to speed up matrix operation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6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53" grpId="0" animBg="1"/>
      <p:bldP spid="85" grpId="0" animBg="1"/>
      <p:bldP spid="140" grpId="0" animBg="1"/>
      <p:bldP spid="141" grpId="0" animBg="1"/>
      <p:bldP spid="142" grpId="0" animBg="1"/>
      <p:bldP spid="146" grpId="0"/>
      <p:bldP spid="147" grpId="0" animBg="1"/>
      <p:bldP spid="149" grpId="0" animBg="1"/>
      <p:bldP spid="150" grpId="0" animBg="1"/>
      <p:bldP spid="152" grpId="0"/>
      <p:bldP spid="155" grpId="0" animBg="1"/>
      <p:bldP spid="156" grpId="0" animBg="1"/>
      <p:bldP spid="158" grpId="0"/>
      <p:bldP spid="8" grpId="0"/>
      <p:bldP spid="175" grpId="0"/>
      <p:bldP spid="1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r>
              <a:rPr lang="en-US" altLang="zh-TW" dirty="0"/>
              <a:t> layer as the output layer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011848" y="2591478"/>
            <a:ext cx="285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 dirty="0">
                <a:solidFill>
                  <a:prstClr val="black"/>
                </a:solidFill>
              </a:rPr>
              <a:t>Ordinary Layer</a:t>
            </a:r>
            <a:endParaRPr lang="zh-TW" altLang="en-US" sz="2400" b="1" i="1" u="sng" dirty="0">
              <a:solidFill>
                <a:prstClr val="black"/>
              </a:solidFill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 flipV="1">
            <a:off x="3437278" y="4407408"/>
            <a:ext cx="1219201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3437278" y="5293333"/>
            <a:ext cx="12192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3437278" y="3519428"/>
            <a:ext cx="12192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4756151" y="3219451"/>
          <a:ext cx="13827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647700" imgH="228600" progId="Equation.3">
                  <p:embed/>
                </p:oleObj>
              </mc:Choice>
              <mc:Fallback>
                <p:oleObj name="方程式" r:id="rId3" imgW="647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1" y="3219451"/>
                        <a:ext cx="13827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2"/>
          <p:cNvGraphicFramePr>
            <a:graphicFrameLocks noChangeAspect="1"/>
          </p:cNvGraphicFramePr>
          <p:nvPr/>
        </p:nvGraphicFramePr>
        <p:xfrm>
          <a:off x="4740275" y="4156076"/>
          <a:ext cx="14366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672808" imgH="228501" progId="Equation.3">
                  <p:embed/>
                </p:oleObj>
              </mc:Choice>
              <mc:Fallback>
                <p:oleObj name="方程式" r:id="rId5" imgW="67280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4156076"/>
                        <a:ext cx="1436688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2"/>
          <p:cNvGraphicFramePr>
            <a:graphicFrameLocks noChangeAspect="1"/>
          </p:cNvGraphicFramePr>
          <p:nvPr/>
        </p:nvGraphicFramePr>
        <p:xfrm>
          <a:off x="4754563" y="5022850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660113" imgH="241195" progId="Equation.3">
                  <p:embed/>
                </p:oleObj>
              </mc:Choice>
              <mc:Fallback>
                <p:oleObj name="方程式" r:id="rId7" imgW="66011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563" y="5022850"/>
                        <a:ext cx="14097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線單箭頭接點 49"/>
          <p:cNvCxnSpPr/>
          <p:nvPr/>
        </p:nvCxnSpPr>
        <p:spPr>
          <a:xfrm>
            <a:off x="2212760" y="4414080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2212760" y="5300006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2212760" y="3526101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2846853" y="3228558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2846853" y="4116537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2846853" y="5002463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/>
        </p:nvGraphicFramePr>
        <p:xfrm>
          <a:off x="1887539" y="3267076"/>
          <a:ext cx="352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5028" imgH="228501" progId="Equation.3">
                  <p:embed/>
                </p:oleObj>
              </mc:Choice>
              <mc:Fallback>
                <p:oleObj name="方程式" r:id="rId9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9" y="3267076"/>
                        <a:ext cx="35242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2"/>
          <p:cNvGraphicFramePr>
            <a:graphicFrameLocks noChangeAspect="1"/>
          </p:cNvGraphicFramePr>
          <p:nvPr/>
        </p:nvGraphicFramePr>
        <p:xfrm>
          <a:off x="1852614" y="4154488"/>
          <a:ext cx="3524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65028" imgH="228501" progId="Equation.3">
                  <p:embed/>
                </p:oleObj>
              </mc:Choice>
              <mc:Fallback>
                <p:oleObj name="方程式" r:id="rId11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4" y="4154488"/>
                        <a:ext cx="35242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2"/>
          <p:cNvGraphicFramePr>
            <a:graphicFrameLocks noChangeAspect="1"/>
          </p:cNvGraphicFramePr>
          <p:nvPr/>
        </p:nvGraphicFramePr>
        <p:xfrm>
          <a:off x="1885951" y="5002213"/>
          <a:ext cx="352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64957" imgH="241091" progId="Equation.3">
                  <p:embed/>
                </p:oleObj>
              </mc:Choice>
              <mc:Fallback>
                <p:oleObj name="方程式" r:id="rId13" imgW="164957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1" y="5002213"/>
                        <a:ext cx="352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2"/>
          <p:cNvGraphicFramePr>
            <a:graphicFrameLocks noChangeAspect="1"/>
          </p:cNvGraphicFramePr>
          <p:nvPr/>
        </p:nvGraphicFramePr>
        <p:xfrm>
          <a:off x="2992438" y="3395663"/>
          <a:ext cx="3238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52334" imgH="139639" progId="Equation.3">
                  <p:embed/>
                </p:oleObj>
              </mc:Choice>
              <mc:Fallback>
                <p:oleObj name="方程式" r:id="rId15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8" y="3395663"/>
                        <a:ext cx="32385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2"/>
          <p:cNvGraphicFramePr>
            <a:graphicFrameLocks noChangeAspect="1"/>
          </p:cNvGraphicFramePr>
          <p:nvPr/>
        </p:nvGraphicFramePr>
        <p:xfrm>
          <a:off x="2981325" y="4286250"/>
          <a:ext cx="32543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152334" imgH="139639" progId="Equation.3">
                  <p:embed/>
                </p:oleObj>
              </mc:Choice>
              <mc:Fallback>
                <p:oleObj name="方程式" r:id="rId17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4286250"/>
                        <a:ext cx="32543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2"/>
          <p:cNvGraphicFramePr>
            <a:graphicFrameLocks noChangeAspect="1"/>
          </p:cNvGraphicFramePr>
          <p:nvPr/>
        </p:nvGraphicFramePr>
        <p:xfrm>
          <a:off x="3013076" y="5159375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152334" imgH="139639" progId="Equation.3">
                  <p:embed/>
                </p:oleObj>
              </mc:Choice>
              <mc:Fallback>
                <p:oleObj name="方程式" r:id="rId19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6" y="5159375"/>
                        <a:ext cx="3270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6657420" y="3601400"/>
            <a:ext cx="3381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In general, the output of network can be any value.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657420" y="4711624"/>
            <a:ext cx="372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May not be easy to interpret 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91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520848" y="3041686"/>
            <a:ext cx="5556352" cy="35242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2212760" y="4414080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2212760" y="5300006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212760" y="3526101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Softmax</a:t>
            </a:r>
            <a:r>
              <a:rPr lang="en-US" altLang="zh-TW" dirty="0"/>
              <a:t> layer as the output layer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2846853" y="3228558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846853" y="4116537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2846853" y="5002463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1887539" y="3267076"/>
          <a:ext cx="352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65028" imgH="228501" progId="Equation.3">
                  <p:embed/>
                </p:oleObj>
              </mc:Choice>
              <mc:Fallback>
                <p:oleObj name="方程式" r:id="rId3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9" y="3267076"/>
                        <a:ext cx="35242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1852614" y="4154488"/>
          <a:ext cx="3524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5028" imgH="228501" progId="Equation.3">
                  <p:embed/>
                </p:oleObj>
              </mc:Choice>
              <mc:Fallback>
                <p:oleObj name="方程式" r:id="rId5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4" y="4154488"/>
                        <a:ext cx="35242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1885951" y="5002213"/>
          <a:ext cx="352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64957" imgH="241091" progId="Equation.3">
                  <p:embed/>
                </p:oleObj>
              </mc:Choice>
              <mc:Fallback>
                <p:oleObj name="方程式" r:id="rId7" imgW="164957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1" y="5002213"/>
                        <a:ext cx="352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608352" y="2455420"/>
            <a:ext cx="3614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 dirty="0" err="1">
                <a:solidFill>
                  <a:prstClr val="black"/>
                </a:solidFill>
              </a:rPr>
              <a:t>Softmax</a:t>
            </a:r>
            <a:r>
              <a:rPr lang="en-US" altLang="zh-TW" sz="2400" b="1" i="1" u="sng" dirty="0">
                <a:solidFill>
                  <a:prstClr val="black"/>
                </a:solidFill>
              </a:rPr>
              <a:t> Layer</a:t>
            </a:r>
            <a:endParaRPr lang="zh-TW" altLang="en-US" sz="2400" b="1" i="1" u="sng" dirty="0">
              <a:solidFill>
                <a:prstClr val="black"/>
              </a:solidFill>
            </a:endParaRPr>
          </a:p>
        </p:txBody>
      </p:sp>
      <p:graphicFrame>
        <p:nvGraphicFramePr>
          <p:cNvPr id="41" name="Object 12"/>
          <p:cNvGraphicFramePr>
            <a:graphicFrameLocks noChangeAspect="1"/>
          </p:cNvGraphicFramePr>
          <p:nvPr/>
        </p:nvGraphicFramePr>
        <p:xfrm>
          <a:off x="3031910" y="3395699"/>
          <a:ext cx="2428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14201" imgH="139579" progId="Equation.3">
                  <p:embed/>
                </p:oleObj>
              </mc:Choice>
              <mc:Fallback>
                <p:oleObj name="方程式" r:id="rId9" imgW="114201" imgH="139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1910" y="3395699"/>
                        <a:ext cx="24288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2"/>
          <p:cNvGraphicFramePr>
            <a:graphicFrameLocks noChangeAspect="1"/>
          </p:cNvGraphicFramePr>
          <p:nvPr/>
        </p:nvGraphicFramePr>
        <p:xfrm>
          <a:off x="3022386" y="4286286"/>
          <a:ext cx="244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14201" imgH="139579" progId="Equation.3">
                  <p:embed/>
                </p:oleObj>
              </mc:Choice>
              <mc:Fallback>
                <p:oleObj name="方程式" r:id="rId11" imgW="114201" imgH="139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386" y="4286286"/>
                        <a:ext cx="2444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2"/>
          <p:cNvGraphicFramePr>
            <a:graphicFrameLocks noChangeAspect="1"/>
          </p:cNvGraphicFramePr>
          <p:nvPr/>
        </p:nvGraphicFramePr>
        <p:xfrm>
          <a:off x="3054136" y="5159411"/>
          <a:ext cx="244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14201" imgH="139579" progId="Equation.3">
                  <p:embed/>
                </p:oleObj>
              </mc:Choice>
              <mc:Fallback>
                <p:oleObj name="方程式" r:id="rId13" imgW="114201" imgH="139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136" y="5159411"/>
                        <a:ext cx="2444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線單箭頭接點 43"/>
          <p:cNvCxnSpPr/>
          <p:nvPr/>
        </p:nvCxnSpPr>
        <p:spPr>
          <a:xfrm flipV="1">
            <a:off x="3441940" y="4414083"/>
            <a:ext cx="1182913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3441940" y="5300006"/>
            <a:ext cx="173536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3441940" y="3526101"/>
            <a:ext cx="50437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4011614" y="3186113"/>
          <a:ext cx="4333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203112" imgH="228501" progId="Equation.3">
                  <p:embed/>
                </p:oleObj>
              </mc:Choice>
              <mc:Fallback>
                <p:oleObj name="方程式" r:id="rId15" imgW="20311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4" y="3186113"/>
                        <a:ext cx="433387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4729164" y="4127501"/>
          <a:ext cx="4333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203112" imgH="228501" progId="Equation.3">
                  <p:embed/>
                </p:oleObj>
              </mc:Choice>
              <mc:Fallback>
                <p:oleObj name="方程式" r:id="rId17" imgW="20311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164" y="4127501"/>
                        <a:ext cx="43338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5272089" y="5011738"/>
          <a:ext cx="4333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203112" imgH="228501" progId="Equation.3">
                  <p:embed/>
                </p:oleObj>
              </mc:Choice>
              <mc:Fallback>
                <p:oleObj name="方程式" r:id="rId19" imgW="20311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089" y="5011738"/>
                        <a:ext cx="433387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群組 26"/>
          <p:cNvGrpSpPr/>
          <p:nvPr/>
        </p:nvGrpSpPr>
        <p:grpSpPr>
          <a:xfrm>
            <a:off x="4579804" y="5833132"/>
            <a:ext cx="520319" cy="520319"/>
            <a:chOff x="3342651" y="3507082"/>
            <a:chExt cx="520319" cy="520319"/>
          </a:xfrm>
        </p:grpSpPr>
        <p:sp>
          <p:nvSpPr>
            <p:cNvPr id="28" name="矩形 27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29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1" imgW="139700" imgH="139700" progId="Equation.3">
                    <p:embed/>
                  </p:oleObj>
                </mc:Choice>
                <mc:Fallback>
                  <p:oleObj name="方程式" r:id="rId2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12"/>
          <p:cNvGraphicFramePr>
            <a:graphicFrameLocks noChangeAspect="1"/>
          </p:cNvGraphicFramePr>
          <p:nvPr/>
        </p:nvGraphicFramePr>
        <p:xfrm>
          <a:off x="8510588" y="3065464"/>
          <a:ext cx="20320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952087" imgH="444307" progId="Equation.3">
                  <p:embed/>
                </p:oleObj>
              </mc:Choice>
              <mc:Fallback>
                <p:oleObj name="方程式" r:id="rId23" imgW="95208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0588" y="3065464"/>
                        <a:ext cx="2032000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2"/>
          <p:cNvGraphicFramePr>
            <a:graphicFrameLocks noChangeAspect="1"/>
          </p:cNvGraphicFramePr>
          <p:nvPr/>
        </p:nvGraphicFramePr>
        <p:xfrm>
          <a:off x="5160963" y="5624514"/>
          <a:ext cx="86836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5" imgW="406048" imgH="444114" progId="Equation.3">
                  <p:embed/>
                </p:oleObj>
              </mc:Choice>
              <mc:Fallback>
                <p:oleObj name="方程式" r:id="rId25" imgW="406048" imgH="4441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5624514"/>
                        <a:ext cx="868362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6128782" y="3290495"/>
            <a:ext cx="520319" cy="520319"/>
            <a:chOff x="3342651" y="3507082"/>
            <a:chExt cx="520319" cy="520319"/>
          </a:xfrm>
        </p:grpSpPr>
        <p:sp>
          <p:nvSpPr>
            <p:cNvPr id="50" name="矩形 49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3452214" y="3562455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7" imgW="126725" imgH="126725" progId="Equation.3">
                    <p:embed/>
                  </p:oleObj>
                </mc:Choice>
                <mc:Fallback>
                  <p:oleObj name="方程式" r:id="rId27" imgW="126725" imgH="1267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214" y="3562455"/>
                          <a:ext cx="350837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群組 51"/>
          <p:cNvGrpSpPr/>
          <p:nvPr/>
        </p:nvGrpSpPr>
        <p:grpSpPr>
          <a:xfrm>
            <a:off x="6777395" y="4193275"/>
            <a:ext cx="520319" cy="520319"/>
            <a:chOff x="3342651" y="3507082"/>
            <a:chExt cx="520319" cy="520319"/>
          </a:xfrm>
        </p:grpSpPr>
        <p:sp>
          <p:nvSpPr>
            <p:cNvPr id="53" name="矩形 52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4" name="Object 12"/>
            <p:cNvGraphicFramePr>
              <a:graphicFrameLocks noChangeAspect="1"/>
            </p:cNvGraphicFramePr>
            <p:nvPr/>
          </p:nvGraphicFramePr>
          <p:xfrm>
            <a:off x="3452978" y="3563248"/>
            <a:ext cx="3492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9" imgW="126725" imgH="126725" progId="Equation.3">
                    <p:embed/>
                  </p:oleObj>
                </mc:Choice>
                <mc:Fallback>
                  <p:oleObj name="方程式" r:id="rId29" imgW="126725" imgH="1267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978" y="3563248"/>
                          <a:ext cx="34925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群組 54"/>
          <p:cNvGrpSpPr/>
          <p:nvPr/>
        </p:nvGrpSpPr>
        <p:grpSpPr>
          <a:xfrm>
            <a:off x="7433506" y="5095716"/>
            <a:ext cx="520319" cy="520319"/>
            <a:chOff x="3342651" y="3507082"/>
            <a:chExt cx="520319" cy="520319"/>
          </a:xfrm>
        </p:grpSpPr>
        <p:sp>
          <p:nvSpPr>
            <p:cNvPr id="56" name="矩形 55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3452002" y="3562263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1" imgW="126725" imgH="126725" progId="Equation.3">
                    <p:embed/>
                  </p:oleObj>
                </mc:Choice>
                <mc:Fallback>
                  <p:oleObj name="方程式" r:id="rId31" imgW="126725" imgH="1267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002" y="3562263"/>
                          <a:ext cx="350837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8" name="直線單箭頭接點 57"/>
          <p:cNvCxnSpPr/>
          <p:nvPr/>
        </p:nvCxnSpPr>
        <p:spPr>
          <a:xfrm>
            <a:off x="3627903" y="3545151"/>
            <a:ext cx="0" cy="254814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627903" y="6074241"/>
            <a:ext cx="91167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3946310" y="4435512"/>
            <a:ext cx="0" cy="1666105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4229558" y="5300007"/>
            <a:ext cx="0" cy="777875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4523139" y="3519094"/>
            <a:ext cx="16056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5177302" y="4435511"/>
            <a:ext cx="16000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6659521" y="3525874"/>
            <a:ext cx="175588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7339741" y="4435511"/>
            <a:ext cx="10756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7934691" y="5288177"/>
            <a:ext cx="48071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6413762" y="3825245"/>
            <a:ext cx="0" cy="2239489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7037553" y="4687346"/>
            <a:ext cx="0" cy="1414271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7680090" y="5575576"/>
            <a:ext cx="0" cy="526041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5988198" y="6074241"/>
            <a:ext cx="1710943" cy="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endCxn id="56" idx="1"/>
          </p:cNvCxnSpPr>
          <p:nvPr/>
        </p:nvCxnSpPr>
        <p:spPr>
          <a:xfrm>
            <a:off x="5682585" y="5336675"/>
            <a:ext cx="1750921" cy="192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207976" y="3083153"/>
            <a:ext cx="493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3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207704" y="4873350"/>
            <a:ext cx="461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-3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191417" y="3999479"/>
            <a:ext cx="528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1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5085227" y="4030728"/>
            <a:ext cx="665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 Light"/>
              </a:rPr>
              <a:t>2.7</a:t>
            </a:r>
            <a:endParaRPr lang="zh-TW" altLang="en-US" sz="2400" b="1" dirty="0">
              <a:solidFill>
                <a:srgbClr val="FF0000"/>
              </a:solidFill>
              <a:latin typeface="Calibri Light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488738" y="3091373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 Light"/>
              </a:rPr>
              <a:t>20</a:t>
            </a:r>
            <a:endParaRPr lang="zh-TW" altLang="en-US" sz="2400" b="1" dirty="0">
              <a:solidFill>
                <a:srgbClr val="FF0000"/>
              </a:solidFill>
              <a:latin typeface="Calibri Light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5628192" y="4844656"/>
            <a:ext cx="1036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 Light"/>
              </a:rPr>
              <a:t>0.05</a:t>
            </a:r>
            <a:endParaRPr lang="zh-TW" altLang="en-US" sz="2400" b="1" dirty="0">
              <a:solidFill>
                <a:srgbClr val="FF0000"/>
              </a:solidFill>
              <a:latin typeface="Calibri Light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074147" y="3036239"/>
            <a:ext cx="723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0.88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8097942" y="3922106"/>
            <a:ext cx="723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0.12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8162582" y="475904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≈</a:t>
            </a:r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8329802" y="1431015"/>
                <a:ext cx="2221716" cy="12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i="1" u="sng" dirty="0">
                    <a:solidFill>
                      <a:prstClr val="black"/>
                    </a:solidFill>
                  </a:rPr>
                  <a:t>Probability</a:t>
                </a:r>
                <a:r>
                  <a:rPr lang="en-US" altLang="zh-TW" sz="2400" dirty="0">
                    <a:solidFill>
                      <a:prstClr val="black"/>
                    </a:solidFill>
                  </a:rPr>
                  <a:t>:</a:t>
                </a:r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1&gt;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TW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02" y="1431015"/>
                <a:ext cx="2221716" cy="1200650"/>
              </a:xfrm>
              <a:prstGeom prst="rect">
                <a:avLst/>
              </a:prstGeom>
              <a:blipFill rotWithShape="0">
                <a:blip r:embed="rId34"/>
                <a:stretch>
                  <a:fillRect l="-5753" t="-4061" b="-74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Object 12"/>
          <p:cNvGraphicFramePr>
            <a:graphicFrameLocks noChangeAspect="1"/>
          </p:cNvGraphicFramePr>
          <p:nvPr/>
        </p:nvGraphicFramePr>
        <p:xfrm>
          <a:off x="8477251" y="3997325"/>
          <a:ext cx="20859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5" imgW="977476" imgH="444307" progId="Equation.3">
                  <p:embed/>
                </p:oleObj>
              </mc:Choice>
              <mc:Fallback>
                <p:oleObj name="方程式" r:id="rId35" imgW="97747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1" y="3997325"/>
                        <a:ext cx="2085975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2"/>
          <p:cNvGraphicFramePr>
            <a:graphicFrameLocks noChangeAspect="1"/>
          </p:cNvGraphicFramePr>
          <p:nvPr/>
        </p:nvGraphicFramePr>
        <p:xfrm>
          <a:off x="8467726" y="4926014"/>
          <a:ext cx="20605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7" imgW="965200" imgH="444500" progId="Equation.3">
                  <p:embed/>
                </p:oleObj>
              </mc:Choice>
              <mc:Fallback>
                <p:oleObj name="方程式" r:id="rId37" imgW="965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7726" y="4926014"/>
                        <a:ext cx="2060575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870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set network parameters</a:t>
            </a:r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18" y="2227844"/>
            <a:ext cx="2130022" cy="211645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931377" y="433132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16 x 16 = 256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26826" y="1897122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043724" y="192476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112111" y="264245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117929" y="207212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/>
        </p:nvGraphicFramePr>
        <p:xfrm>
          <a:off x="4130628" y="1976877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68" imgH="215713" progId="Equation.3">
                  <p:embed/>
                </p:oleObj>
              </mc:Choice>
              <mc:Fallback>
                <p:oleObj name="方程式" r:id="rId3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28" y="1976877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/>
        </p:nvGraphicFramePr>
        <p:xfrm>
          <a:off x="4135925" y="2559607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5" imgH="215619" progId="Equation.3">
                  <p:embed/>
                </p:oleObj>
              </mc:Choice>
              <mc:Fallback>
                <p:oleObj name="方程式" r:id="rId5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925" y="2559607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橢圓 52"/>
          <p:cNvSpPr/>
          <p:nvPr/>
        </p:nvSpPr>
        <p:spPr>
          <a:xfrm>
            <a:off x="5323936" y="190812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5326278" y="268669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5314645" y="391470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 rot="5400000">
            <a:off x="5311899" y="333699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121636" y="404021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/>
        </p:nvGraphicFramePr>
        <p:xfrm>
          <a:off x="4049713" y="3943446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253890" imgH="228501" progId="Equation.3">
                  <p:embed/>
                </p:oleObj>
              </mc:Choice>
              <mc:Fallback>
                <p:oleObj name="方程式" r:id="rId7" imgW="25389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3943446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字方塊 62"/>
          <p:cNvSpPr txBox="1"/>
          <p:nvPr/>
        </p:nvSpPr>
        <p:spPr>
          <a:xfrm rot="5400000">
            <a:off x="3997569" y="332515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551144" y="184954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568767" y="263503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580947" y="38913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cxnSp>
        <p:nvCxnSpPr>
          <p:cNvPr id="75" name="直線單箭頭接點 74"/>
          <p:cNvCxnSpPr>
            <a:stCxn id="53" idx="6"/>
          </p:cNvCxnSpPr>
          <p:nvPr/>
        </p:nvCxnSpPr>
        <p:spPr>
          <a:xfrm>
            <a:off x="5898094" y="2195203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5898094" y="298695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5888803" y="4208924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54" idx="6"/>
          </p:cNvCxnSpPr>
          <p:nvPr/>
        </p:nvCxnSpPr>
        <p:spPr>
          <a:xfrm flipV="1">
            <a:off x="5900436" y="2195203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53" idx="6"/>
          </p:cNvCxnSpPr>
          <p:nvPr/>
        </p:nvCxnSpPr>
        <p:spPr>
          <a:xfrm>
            <a:off x="5898094" y="2195203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53" idx="6"/>
          </p:cNvCxnSpPr>
          <p:nvPr/>
        </p:nvCxnSpPr>
        <p:spPr>
          <a:xfrm>
            <a:off x="5898095" y="2195203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54" idx="6"/>
          </p:cNvCxnSpPr>
          <p:nvPr/>
        </p:nvCxnSpPr>
        <p:spPr>
          <a:xfrm>
            <a:off x="5900437" y="2973773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55" idx="6"/>
          </p:cNvCxnSpPr>
          <p:nvPr/>
        </p:nvCxnSpPr>
        <p:spPr>
          <a:xfrm flipV="1">
            <a:off x="5888804" y="2195203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55" idx="6"/>
          </p:cNvCxnSpPr>
          <p:nvPr/>
        </p:nvCxnSpPr>
        <p:spPr>
          <a:xfrm flipV="1">
            <a:off x="5888804" y="2973773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53" idx="2"/>
          </p:cNvCxnSpPr>
          <p:nvPr/>
        </p:nvCxnSpPr>
        <p:spPr>
          <a:xfrm flipV="1">
            <a:off x="4464536" y="2195204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47" idx="3"/>
            <a:endCxn id="54" idx="2"/>
          </p:cNvCxnSpPr>
          <p:nvPr/>
        </p:nvCxnSpPr>
        <p:spPr>
          <a:xfrm>
            <a:off x="4460830" y="2243577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47" idx="3"/>
            <a:endCxn id="55" idx="2"/>
          </p:cNvCxnSpPr>
          <p:nvPr/>
        </p:nvCxnSpPr>
        <p:spPr>
          <a:xfrm>
            <a:off x="4460829" y="2243577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52" idx="3"/>
            <a:endCxn id="53" idx="2"/>
          </p:cNvCxnSpPr>
          <p:nvPr/>
        </p:nvCxnSpPr>
        <p:spPr>
          <a:xfrm flipV="1">
            <a:off x="4488350" y="2195203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46" idx="3"/>
            <a:endCxn id="54" idx="2"/>
          </p:cNvCxnSpPr>
          <p:nvPr/>
        </p:nvCxnSpPr>
        <p:spPr>
          <a:xfrm>
            <a:off x="4455012" y="2813907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46" idx="3"/>
            <a:endCxn id="55" idx="2"/>
          </p:cNvCxnSpPr>
          <p:nvPr/>
        </p:nvCxnSpPr>
        <p:spPr>
          <a:xfrm>
            <a:off x="4455011" y="2813907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2" idx="3"/>
            <a:endCxn id="53" idx="2"/>
          </p:cNvCxnSpPr>
          <p:nvPr/>
        </p:nvCxnSpPr>
        <p:spPr>
          <a:xfrm flipV="1">
            <a:off x="4526508" y="2195204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62" idx="3"/>
            <a:endCxn id="54" idx="2"/>
          </p:cNvCxnSpPr>
          <p:nvPr/>
        </p:nvCxnSpPr>
        <p:spPr>
          <a:xfrm flipV="1">
            <a:off x="4500140" y="2973773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62" idx="3"/>
            <a:endCxn id="55" idx="2"/>
          </p:cNvCxnSpPr>
          <p:nvPr/>
        </p:nvCxnSpPr>
        <p:spPr>
          <a:xfrm>
            <a:off x="4500139" y="4188379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手繪多邊形 11"/>
          <p:cNvSpPr/>
          <p:nvPr/>
        </p:nvSpPr>
        <p:spPr>
          <a:xfrm>
            <a:off x="1809750" y="1986159"/>
            <a:ext cx="2305050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4" name="手繪多邊形 13"/>
          <p:cNvSpPr/>
          <p:nvPr/>
        </p:nvSpPr>
        <p:spPr>
          <a:xfrm>
            <a:off x="1943100" y="2159100"/>
            <a:ext cx="2171700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2" name="手繪多邊形 21"/>
          <p:cNvSpPr/>
          <p:nvPr/>
        </p:nvSpPr>
        <p:spPr>
          <a:xfrm>
            <a:off x="3676650" y="4202208"/>
            <a:ext cx="463550" cy="243308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966303" y="4683918"/>
            <a:ext cx="1661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Ink → 1</a:t>
            </a:r>
          </a:p>
          <a:p>
            <a:r>
              <a:rPr lang="en-US" altLang="zh-TW" sz="2400" dirty="0">
                <a:solidFill>
                  <a:prstClr val="black"/>
                </a:solidFill>
              </a:rPr>
              <a:t>No ink → 0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8384099" y="190938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123" name="直線單箭頭接點 122"/>
          <p:cNvCxnSpPr/>
          <p:nvPr/>
        </p:nvCxnSpPr>
        <p:spPr>
          <a:xfrm>
            <a:off x="7690378" y="2945542"/>
            <a:ext cx="6344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>
            <a:off x="7799694" y="4191432"/>
            <a:ext cx="5251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7666494" y="2166739"/>
            <a:ext cx="6583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字方塊 129"/>
          <p:cNvSpPr txBox="1"/>
          <p:nvPr/>
        </p:nvSpPr>
        <p:spPr>
          <a:xfrm rot="5400000">
            <a:off x="8326289" y="341037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8395382" y="1891558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8416480" y="269986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2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8384099" y="3956010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10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8343699" y="1999228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0.1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8343699" y="2723633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0.7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8324851" y="3992895"/>
            <a:ext cx="656740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0.2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6630208" y="5263648"/>
            <a:ext cx="3466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y</a:t>
            </a:r>
            <a:r>
              <a:rPr lang="en-US" altLang="zh-TW" sz="2400" baseline="-25000" dirty="0">
                <a:solidFill>
                  <a:prstClr val="black"/>
                </a:solidFill>
              </a:rPr>
              <a:t>1</a:t>
            </a:r>
            <a:r>
              <a:rPr lang="en-US" altLang="zh-TW" sz="2400" dirty="0">
                <a:solidFill>
                  <a:prstClr val="black"/>
                </a:solidFill>
              </a:rPr>
              <a:t> has the maximum value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3775228" y="4640619"/>
                <a:ext cx="56487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Set the network parameters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400" dirty="0">
                    <a:solidFill>
                      <a:prstClr val="black"/>
                    </a:solidFill>
                  </a:rPr>
                  <a:t> such that ……</a:t>
                </a:r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228" y="4640619"/>
                <a:ext cx="5648726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618" t="-10526" r="-8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2" name="圖片 141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375677" y="5215632"/>
            <a:ext cx="574872" cy="58114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3" name="文字方塊 142"/>
          <p:cNvSpPr txBox="1"/>
          <p:nvPr/>
        </p:nvSpPr>
        <p:spPr>
          <a:xfrm>
            <a:off x="4391622" y="5240016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Input: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4" name="向右箭號 143"/>
          <p:cNvSpPr/>
          <p:nvPr/>
        </p:nvSpPr>
        <p:spPr>
          <a:xfrm>
            <a:off x="6094510" y="5360426"/>
            <a:ext cx="491685" cy="34125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6630208" y="5996124"/>
            <a:ext cx="3466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y</a:t>
            </a:r>
            <a:r>
              <a:rPr lang="en-US" altLang="zh-TW" sz="2400" baseline="-25000" dirty="0">
                <a:solidFill>
                  <a:prstClr val="black"/>
                </a:solidFill>
              </a:rPr>
              <a:t>2</a:t>
            </a:r>
            <a:r>
              <a:rPr lang="en-US" altLang="zh-TW" sz="2400" dirty="0">
                <a:solidFill>
                  <a:prstClr val="black"/>
                </a:solidFill>
              </a:rPr>
              <a:t> has the maximum value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4391622" y="5972492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Input: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147" name="向右箭號 146"/>
          <p:cNvSpPr/>
          <p:nvPr/>
        </p:nvSpPr>
        <p:spPr>
          <a:xfrm>
            <a:off x="6094510" y="6092902"/>
            <a:ext cx="491685" cy="34125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148" name="圖片 14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352206" y="5948719"/>
            <a:ext cx="605932" cy="6015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9" name="文字方塊 148"/>
          <p:cNvSpPr txBox="1"/>
          <p:nvPr/>
        </p:nvSpPr>
        <p:spPr>
          <a:xfrm>
            <a:off x="9177718" y="1919555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is 1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50" name="文字方塊 149"/>
          <p:cNvSpPr txBox="1"/>
          <p:nvPr/>
        </p:nvSpPr>
        <p:spPr>
          <a:xfrm>
            <a:off x="9192338" y="2739278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is 2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9204584" y="3966148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is 0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5085371" y="5104193"/>
            <a:ext cx="3962706" cy="10707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How to let the neural network achieve this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3775228" y="4635910"/>
            <a:ext cx="6424752" cy="204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54" name="矩形 153"/>
          <p:cNvSpPr/>
          <p:nvPr/>
        </p:nvSpPr>
        <p:spPr>
          <a:xfrm rot="5400000">
            <a:off x="6255531" y="2959620"/>
            <a:ext cx="2582833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>
                <a:solidFill>
                  <a:prstClr val="white"/>
                </a:solidFill>
              </a:rPr>
              <a:t>Softmax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4605029" y="1425675"/>
                <a:ext cx="47651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029" y="1425675"/>
                <a:ext cx="4765151" cy="43088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48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1" grpId="0" animBg="1"/>
      <p:bldP spid="143" grpId="0"/>
      <p:bldP spid="144" grpId="0" animBg="1"/>
      <p:bldP spid="145" grpId="0"/>
      <p:bldP spid="146" grpId="0"/>
      <p:bldP spid="147" grpId="0" animBg="1"/>
      <p:bldP spid="152" grpId="0" animBg="1"/>
      <p:bldP spid="153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Preparing training data: images and their labels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71089" y="5414706"/>
            <a:ext cx="5049822" cy="9054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Using the training data to find the network parameters.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pic>
        <p:nvPicPr>
          <p:cNvPr id="5" name="圖片 4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040094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圖片 5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87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圖片 6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89880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圖片 7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914772" y="281520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圖片 8"/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039051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圖片 9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664987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圖片 10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290923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圖片 1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916858" y="416906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文字方塊 12"/>
          <p:cNvSpPr txBox="1"/>
          <p:nvPr/>
        </p:nvSpPr>
        <p:spPr>
          <a:xfrm>
            <a:off x="3756966" y="2974693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“5”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382902" y="2963143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“0”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033360" y="2963143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“4”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650537" y="2960615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“1”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652623" y="4324036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“3”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035446" y="4350478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“1”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84988" y="4329092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“2”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759052" y="4350478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“9”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18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Cost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7484213" y="2617861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26940" y="2605600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143838" y="2633241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>
            <a:off x="6790492" y="3654020"/>
            <a:ext cx="6344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6899808" y="4899910"/>
            <a:ext cx="5251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6766608" y="2875217"/>
            <a:ext cx="6583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212225" y="335093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218043" y="2780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/>
        </p:nvGraphicFramePr>
        <p:xfrm>
          <a:off x="3230742" y="2685355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68" imgH="215713" progId="Equation.3">
                  <p:embed/>
                </p:oleObj>
              </mc:Choice>
              <mc:Fallback>
                <p:oleObj name="方程式" r:id="rId3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742" y="2685355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/>
        </p:nvGraphicFramePr>
        <p:xfrm>
          <a:off x="3236039" y="3268085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5" imgH="215619" progId="Equation.3">
                  <p:embed/>
                </p:oleObj>
              </mc:Choice>
              <mc:Fallback>
                <p:oleObj name="方程式" r:id="rId5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039" y="3268085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橢圓 52"/>
          <p:cNvSpPr/>
          <p:nvPr/>
        </p:nvSpPr>
        <p:spPr>
          <a:xfrm>
            <a:off x="4424050" y="2616602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4426392" y="3395172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4414759" y="4623184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 rot="5400000">
            <a:off x="4412013" y="404547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221750" y="4748691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/>
        </p:nvGraphicFramePr>
        <p:xfrm>
          <a:off x="3149827" y="4651924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253890" imgH="228501" progId="Equation.3">
                  <p:embed/>
                </p:oleObj>
              </mc:Choice>
              <mc:Fallback>
                <p:oleObj name="方程式" r:id="rId7" imgW="25389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827" y="4651924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字方塊 62"/>
          <p:cNvSpPr txBox="1"/>
          <p:nvPr/>
        </p:nvSpPr>
        <p:spPr>
          <a:xfrm rot="5400000">
            <a:off x="3097683" y="403363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5651258" y="255801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5668881" y="334351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5681061" y="459980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cxnSp>
        <p:nvCxnSpPr>
          <p:cNvPr id="75" name="直線單箭頭接點 74"/>
          <p:cNvCxnSpPr>
            <a:stCxn id="53" idx="6"/>
          </p:cNvCxnSpPr>
          <p:nvPr/>
        </p:nvCxnSpPr>
        <p:spPr>
          <a:xfrm>
            <a:off x="4998208" y="2903681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4998208" y="3695433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988917" y="4917402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54" idx="6"/>
          </p:cNvCxnSpPr>
          <p:nvPr/>
        </p:nvCxnSpPr>
        <p:spPr>
          <a:xfrm flipV="1">
            <a:off x="5000550" y="2903681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53" idx="6"/>
          </p:cNvCxnSpPr>
          <p:nvPr/>
        </p:nvCxnSpPr>
        <p:spPr>
          <a:xfrm>
            <a:off x="4998208" y="2903681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53" idx="6"/>
          </p:cNvCxnSpPr>
          <p:nvPr/>
        </p:nvCxnSpPr>
        <p:spPr>
          <a:xfrm>
            <a:off x="4998209" y="2903681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54" idx="6"/>
          </p:cNvCxnSpPr>
          <p:nvPr/>
        </p:nvCxnSpPr>
        <p:spPr>
          <a:xfrm>
            <a:off x="5000551" y="3682251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55" idx="6"/>
          </p:cNvCxnSpPr>
          <p:nvPr/>
        </p:nvCxnSpPr>
        <p:spPr>
          <a:xfrm flipV="1">
            <a:off x="4988918" y="2903681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55" idx="6"/>
          </p:cNvCxnSpPr>
          <p:nvPr/>
        </p:nvCxnSpPr>
        <p:spPr>
          <a:xfrm flipV="1">
            <a:off x="4988918" y="3682251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53" idx="2"/>
          </p:cNvCxnSpPr>
          <p:nvPr/>
        </p:nvCxnSpPr>
        <p:spPr>
          <a:xfrm flipV="1">
            <a:off x="3564650" y="2903682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47" idx="3"/>
            <a:endCxn id="54" idx="2"/>
          </p:cNvCxnSpPr>
          <p:nvPr/>
        </p:nvCxnSpPr>
        <p:spPr>
          <a:xfrm>
            <a:off x="3560944" y="2952055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47" idx="3"/>
            <a:endCxn id="55" idx="2"/>
          </p:cNvCxnSpPr>
          <p:nvPr/>
        </p:nvCxnSpPr>
        <p:spPr>
          <a:xfrm>
            <a:off x="3560943" y="2952055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52" idx="3"/>
            <a:endCxn id="53" idx="2"/>
          </p:cNvCxnSpPr>
          <p:nvPr/>
        </p:nvCxnSpPr>
        <p:spPr>
          <a:xfrm flipV="1">
            <a:off x="3588464" y="2903681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46" idx="3"/>
            <a:endCxn id="54" idx="2"/>
          </p:cNvCxnSpPr>
          <p:nvPr/>
        </p:nvCxnSpPr>
        <p:spPr>
          <a:xfrm>
            <a:off x="3555126" y="3522385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46" idx="3"/>
            <a:endCxn id="55" idx="2"/>
          </p:cNvCxnSpPr>
          <p:nvPr/>
        </p:nvCxnSpPr>
        <p:spPr>
          <a:xfrm>
            <a:off x="3555125" y="3522385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2" idx="3"/>
            <a:endCxn id="53" idx="2"/>
          </p:cNvCxnSpPr>
          <p:nvPr/>
        </p:nvCxnSpPr>
        <p:spPr>
          <a:xfrm flipV="1">
            <a:off x="3626622" y="2903682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62" idx="3"/>
            <a:endCxn id="54" idx="2"/>
          </p:cNvCxnSpPr>
          <p:nvPr/>
        </p:nvCxnSpPr>
        <p:spPr>
          <a:xfrm flipV="1">
            <a:off x="3600254" y="3682251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62" idx="3"/>
            <a:endCxn id="55" idx="2"/>
          </p:cNvCxnSpPr>
          <p:nvPr/>
        </p:nvCxnSpPr>
        <p:spPr>
          <a:xfrm>
            <a:off x="3600253" y="4896857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 rot="5400000">
            <a:off x="7426403" y="411885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7495496" y="2600036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7516594" y="3408345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2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484213" y="4664488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y</a:t>
            </a:r>
            <a:r>
              <a:rPr lang="en-US" altLang="zh-TW" sz="2800" baseline="-25000" dirty="0">
                <a:solidFill>
                  <a:prstClr val="black"/>
                </a:solidFill>
              </a:rPr>
              <a:t>10</a:t>
            </a:r>
            <a:endParaRPr lang="zh-TW" altLang="en-US" sz="2800" baseline="-25000" dirty="0">
              <a:solidFill>
                <a:prstClr val="black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46535" y="368027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8365545" y="3934728"/>
            <a:ext cx="1014273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Cost </a:t>
            </a:r>
          </a:p>
        </p:txBody>
      </p:sp>
      <p:sp>
        <p:nvSpPr>
          <p:cNvPr id="97" name="矩形 96"/>
          <p:cNvSpPr/>
          <p:nvPr/>
        </p:nvSpPr>
        <p:spPr>
          <a:xfrm>
            <a:off x="7488641" y="2675422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0.2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488642" y="3461006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0.3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484213" y="4701373"/>
            <a:ext cx="69031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white"/>
                </a:solidFill>
              </a:rPr>
              <a:t>0.5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pic>
        <p:nvPicPr>
          <p:cNvPr id="102" name="圖片 10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399875" y="165833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3" name="文字方塊 102"/>
          <p:cNvSpPr txBox="1"/>
          <p:nvPr/>
        </p:nvSpPr>
        <p:spPr>
          <a:xfrm>
            <a:off x="6202602" y="1747396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“1”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pic>
        <p:nvPicPr>
          <p:cNvPr id="108" name="圖片 107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2126038" y="360933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1" name="群組 10"/>
          <p:cNvGrpSpPr/>
          <p:nvPr/>
        </p:nvGrpSpPr>
        <p:grpSpPr>
          <a:xfrm>
            <a:off x="9520359" y="2633241"/>
            <a:ext cx="654489" cy="2625052"/>
            <a:chOff x="7996358" y="2461791"/>
            <a:chExt cx="654489" cy="2625052"/>
          </a:xfrm>
        </p:grpSpPr>
        <p:sp>
          <p:nvSpPr>
            <p:cNvPr id="110" name="矩形 109"/>
            <p:cNvSpPr/>
            <p:nvPr/>
          </p:nvSpPr>
          <p:spPr>
            <a:xfrm>
              <a:off x="8062418" y="2461791"/>
              <a:ext cx="498951" cy="262505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 rot="5400000">
              <a:off x="8004608" y="394803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……</a:t>
              </a:r>
              <a:endParaRPr lang="zh-TW" altLang="en-US" sz="2800" dirty="0">
                <a:solidFill>
                  <a:prstClr val="black"/>
                </a:solidFill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7996358" y="250893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1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8005216" y="3269035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0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7996358" y="448933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prstClr val="black"/>
                  </a:solidFill>
                </a:rPr>
                <a:t>0</a:t>
              </a:r>
              <a:endParaRPr lang="zh-TW" altLang="en-US" sz="2800" baseline="-25000" dirty="0">
                <a:solidFill>
                  <a:prstClr val="black"/>
                </a:solidFill>
              </a:endParaRPr>
            </a:p>
          </p:txBody>
        </p:sp>
      </p:grpSp>
      <p:sp>
        <p:nvSpPr>
          <p:cNvPr id="115" name="左-右雙向箭號 114"/>
          <p:cNvSpPr/>
          <p:nvPr/>
        </p:nvSpPr>
        <p:spPr>
          <a:xfrm>
            <a:off x="8261204" y="3516865"/>
            <a:ext cx="1187596" cy="33487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2496457" y="1985736"/>
            <a:ext cx="272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 flipH="1">
            <a:off x="6857454" y="2009006"/>
            <a:ext cx="29872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2486038" y="2018335"/>
            <a:ext cx="0" cy="1480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9844750" y="2018336"/>
            <a:ext cx="0" cy="5817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6325564" y="2616028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6401408" y="260792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4" name="橢圓 103"/>
          <p:cNvSpPr/>
          <p:nvPr/>
        </p:nvSpPr>
        <p:spPr>
          <a:xfrm>
            <a:off x="6403750" y="336783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5" name="橢圓 104"/>
          <p:cNvSpPr/>
          <p:nvPr/>
        </p:nvSpPr>
        <p:spPr>
          <a:xfrm>
            <a:off x="6410778" y="461450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6" name="文字方塊 105"/>
          <p:cNvSpPr txBox="1"/>
          <p:nvPr/>
        </p:nvSpPr>
        <p:spPr>
          <a:xfrm rot="5400000">
            <a:off x="6408032" y="403363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2138215" y="5626041"/>
            <a:ext cx="67540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Cost can be Euclidean distance or cross entropy of the network output and target 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/>
              <p:cNvSpPr txBox="1"/>
              <p:nvPr/>
            </p:nvSpPr>
            <p:spPr>
              <a:xfrm>
                <a:off x="4113854" y="521898"/>
                <a:ext cx="60970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prstClr val="black"/>
                    </a:solidFill>
                  </a:rPr>
                  <a:t>Given a set of network parameters 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800" dirty="0">
                    <a:solidFill>
                      <a:prstClr val="black"/>
                    </a:solidFill>
                  </a:rPr>
                  <a:t>, each example has a cost value. </a:t>
                </a:r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9" name="文字方塊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854" y="521898"/>
                <a:ext cx="6097064" cy="954107"/>
              </a:xfrm>
              <a:prstGeom prst="rect">
                <a:avLst/>
              </a:prstGeom>
              <a:blipFill rotWithShape="0">
                <a:blip r:embed="rId11"/>
                <a:stretch>
                  <a:fillRect l="-2100"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9341450" y="5341283"/>
            <a:ext cx="9306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prstClr val="white"/>
                </a:solidFill>
              </a:rPr>
              <a:t>target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8461190" y="4559416"/>
                <a:ext cx="790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190" y="4559416"/>
                <a:ext cx="790537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53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97" grpId="0" animBg="1"/>
      <p:bldP spid="100" grpId="0" animBg="1"/>
      <p:bldP spid="101" grpId="0" animBg="1"/>
      <p:bldP spid="103" grpId="0"/>
      <p:bldP spid="115" grpId="0" animBg="1"/>
      <p:bldP spid="117" grpId="0"/>
      <p:bldP spid="119" grpId="0" animBg="1"/>
      <p:bldP spid="3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Total Cost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3251769" y="2298175"/>
            <a:ext cx="421911" cy="671513"/>
            <a:chOff x="510563" y="3417283"/>
            <a:chExt cx="421911" cy="671513"/>
          </a:xfrm>
        </p:grpSpPr>
        <p:sp>
          <p:nvSpPr>
            <p:cNvPr id="19" name="矩形 1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10563" y="3522206"/>
              <a:ext cx="4219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x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1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3251768" y="3245280"/>
            <a:ext cx="421910" cy="671513"/>
            <a:chOff x="510564" y="3417283"/>
            <a:chExt cx="421910" cy="671513"/>
          </a:xfrm>
        </p:grpSpPr>
        <p:sp>
          <p:nvSpPr>
            <p:cNvPr id="22" name="矩形 2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x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2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3247759" y="5606624"/>
            <a:ext cx="429926" cy="671513"/>
            <a:chOff x="506555" y="3417283"/>
            <a:chExt cx="429926" cy="671513"/>
          </a:xfrm>
        </p:grpSpPr>
        <p:sp>
          <p:nvSpPr>
            <p:cNvPr id="25" name="矩形 2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06555" y="3522206"/>
              <a:ext cx="4299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prstClr val="black"/>
                  </a:solidFill>
                </a:rPr>
                <a:t>x</a:t>
              </a:r>
              <a:r>
                <a:rPr lang="en-US" altLang="zh-TW" sz="2400" baseline="30000" dirty="0" err="1">
                  <a:solidFill>
                    <a:prstClr val="black"/>
                  </a:solidFill>
                </a:rPr>
                <a:t>R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4051694" y="2300745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NN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051694" y="3239455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NN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51694" y="5594978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NN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3109320" y="4930674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4182585" y="4919031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3620311" y="2633929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3617350" y="3581034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3617349" y="5936557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5020560" y="2628722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5017599" y="3575827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5017598" y="5931350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5419075" y="2298175"/>
            <a:ext cx="428323" cy="671513"/>
            <a:chOff x="507357" y="3417283"/>
            <a:chExt cx="428323" cy="671513"/>
          </a:xfrm>
        </p:grpSpPr>
        <p:sp>
          <p:nvSpPr>
            <p:cNvPr id="39" name="矩形 3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07357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y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1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419075" y="3245280"/>
            <a:ext cx="428323" cy="671513"/>
            <a:chOff x="507358" y="3417283"/>
            <a:chExt cx="428323" cy="671513"/>
          </a:xfrm>
        </p:grpSpPr>
        <p:sp>
          <p:nvSpPr>
            <p:cNvPr id="42" name="矩形 4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07358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y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2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415065" y="5606624"/>
            <a:ext cx="436338" cy="671513"/>
            <a:chOff x="503349" y="3417283"/>
            <a:chExt cx="436338" cy="671513"/>
          </a:xfrm>
        </p:grpSpPr>
        <p:sp>
          <p:nvSpPr>
            <p:cNvPr id="45" name="矩形 4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03349" y="3522206"/>
              <a:ext cx="43633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 err="1">
                  <a:solidFill>
                    <a:prstClr val="black"/>
                  </a:solidFill>
                </a:rPr>
                <a:t>y</a:t>
              </a:r>
              <a:r>
                <a:rPr lang="en-US" altLang="zh-TW" sz="2400" baseline="30000" dirty="0" err="1">
                  <a:solidFill>
                    <a:prstClr val="black"/>
                  </a:solidFill>
                </a:rPr>
                <a:t>R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6437119" y="2298175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437118" y="3245280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>
              <a:solidFill>
                <a:prstClr val="black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37118" y="5606624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6426677" y="2471777"/>
                <a:ext cx="3914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677" y="2471777"/>
                <a:ext cx="39145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750" t="-16393" r="-50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6437117" y="3407287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117" y="3407287"/>
                <a:ext cx="39805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8462" t="-18033" r="-4769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6412687" y="5803879"/>
                <a:ext cx="4224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687" y="5803879"/>
                <a:ext cx="4224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7391" t="-16393" r="-449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左-右雙向箭號 52"/>
          <p:cNvSpPr/>
          <p:nvPr/>
        </p:nvSpPr>
        <p:spPr>
          <a:xfrm>
            <a:off x="5778704" y="2590149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4" name="左-右雙向箭號 53"/>
          <p:cNvSpPr/>
          <p:nvPr/>
        </p:nvSpPr>
        <p:spPr>
          <a:xfrm>
            <a:off x="5773342" y="3510849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5" name="左-右雙向箭號 54"/>
          <p:cNvSpPr/>
          <p:nvPr/>
        </p:nvSpPr>
        <p:spPr>
          <a:xfrm>
            <a:off x="5773276" y="5851856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5685191" y="2830046"/>
                <a:ext cx="7882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91" y="2830046"/>
                <a:ext cx="78829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930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/>
          <p:cNvSpPr txBox="1"/>
          <p:nvPr/>
        </p:nvSpPr>
        <p:spPr>
          <a:xfrm rot="5400000">
            <a:off x="5270854" y="4967195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60" name="文字方塊 59"/>
          <p:cNvSpPr txBox="1"/>
          <p:nvPr/>
        </p:nvSpPr>
        <p:spPr>
          <a:xfrm rot="5400000">
            <a:off x="6273950" y="4954287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……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grpSp>
        <p:nvGrpSpPr>
          <p:cNvPr id="64" name="群組 63"/>
          <p:cNvGrpSpPr/>
          <p:nvPr/>
        </p:nvGrpSpPr>
        <p:grpSpPr>
          <a:xfrm>
            <a:off x="3248616" y="4152254"/>
            <a:ext cx="421910" cy="671513"/>
            <a:chOff x="510564" y="3417283"/>
            <a:chExt cx="421910" cy="671513"/>
          </a:xfrm>
        </p:grpSpPr>
        <p:sp>
          <p:nvSpPr>
            <p:cNvPr id="65" name="矩形 6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x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3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4048542" y="4146429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prstClr val="black"/>
                </a:solidFill>
              </a:rPr>
              <a:t>NN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14198" y="4488008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V="1">
            <a:off x="5014447" y="4482801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5415923" y="4152254"/>
            <a:ext cx="428322" cy="671513"/>
            <a:chOff x="507359" y="3417283"/>
            <a:chExt cx="428322" cy="671513"/>
          </a:xfrm>
        </p:grpSpPr>
        <p:sp>
          <p:nvSpPr>
            <p:cNvPr id="71" name="矩形 70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07359" y="3522206"/>
              <a:ext cx="4283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prstClr val="black"/>
                  </a:solidFill>
                </a:rPr>
                <a:t>y</a:t>
              </a:r>
              <a:r>
                <a:rPr lang="en-US" altLang="zh-TW" sz="2400" baseline="30000" dirty="0">
                  <a:solidFill>
                    <a:prstClr val="black"/>
                  </a:solidFill>
                </a:rPr>
                <a:t>3</a:t>
              </a:r>
              <a:endParaRPr lang="zh-TW" altLang="en-US" sz="2400" baseline="30000" dirty="0">
                <a:solidFill>
                  <a:prstClr val="black"/>
                </a:solidFill>
              </a:endParaRPr>
            </a:p>
          </p:txBody>
        </p:sp>
      </p:grpSp>
      <p:sp>
        <p:nvSpPr>
          <p:cNvPr id="73" name="矩形 72"/>
          <p:cNvSpPr/>
          <p:nvPr/>
        </p:nvSpPr>
        <p:spPr>
          <a:xfrm>
            <a:off x="6433966" y="4152254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6433965" y="4314261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65" y="4314261"/>
                <a:ext cx="398058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8182" t="-18333" r="-469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左-右雙向箭號 74"/>
          <p:cNvSpPr/>
          <p:nvPr/>
        </p:nvSpPr>
        <p:spPr>
          <a:xfrm>
            <a:off x="5770190" y="4417823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032787" y="1640875"/>
            <a:ext cx="3580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For all training data …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pic>
        <p:nvPicPr>
          <p:cNvPr id="90" name="圖片 89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439322" y="2314599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2" name="圖片 9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2418572" y="3258994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3" name="圖片 92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2418572" y="4139587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4" name="圖片 93"/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2418572" y="5594978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639440" y="2164095"/>
                <a:ext cx="2683940" cy="1209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440" y="2164095"/>
                <a:ext cx="2683940" cy="120924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7182933" y="4938976"/>
                <a:ext cx="3122536" cy="1408334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prstClr val="white"/>
                    </a:solidFill>
                  </a:rPr>
                  <a:t>Find the network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800" dirty="0">
                    <a:solidFill>
                      <a:prstClr val="white"/>
                    </a:solidFill>
                  </a:rPr>
                  <a:t> that minimize this value</a:t>
                </a:r>
                <a:endParaRPr lang="zh-TW" altLang="en-US" sz="28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933" y="4938976"/>
                <a:ext cx="3122536" cy="1408334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/>
          <p:cNvSpPr txBox="1"/>
          <p:nvPr/>
        </p:nvSpPr>
        <p:spPr>
          <a:xfrm>
            <a:off x="7070325" y="1650744"/>
            <a:ext cx="1805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black"/>
                </a:solidFill>
              </a:rPr>
              <a:t>Total Cost: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7103001" y="3498632"/>
                <a:ext cx="34259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prstClr val="black"/>
                    </a:solidFill>
                  </a:rPr>
                  <a:t>How bad the network parameters 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800" dirty="0">
                    <a:solidFill>
                      <a:prstClr val="black"/>
                    </a:solidFill>
                  </a:rPr>
                  <a:t> is on this task</a:t>
                </a:r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001" y="3498632"/>
                <a:ext cx="3425940" cy="1384995"/>
              </a:xfrm>
              <a:prstGeom prst="rect">
                <a:avLst/>
              </a:prstGeom>
              <a:blipFill rotWithShape="0">
                <a:blip r:embed="rId14"/>
                <a:stretch>
                  <a:fillRect l="-3559" t="-4405" r="-302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5687084" y="3717652"/>
                <a:ext cx="7948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084" y="3717652"/>
                <a:ext cx="794898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923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/>
              <p:cNvSpPr txBox="1"/>
              <p:nvPr/>
            </p:nvSpPr>
            <p:spPr>
              <a:xfrm>
                <a:off x="5674147" y="4724821"/>
                <a:ext cx="7948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2" name="文字方塊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47" y="4724821"/>
                <a:ext cx="794898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923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/>
              <p:cNvSpPr txBox="1"/>
              <p:nvPr/>
            </p:nvSpPr>
            <p:spPr>
              <a:xfrm>
                <a:off x="5674870" y="6228426"/>
                <a:ext cx="8193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3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870" y="6228426"/>
                <a:ext cx="819327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8955" t="-1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89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5" grpId="0" animBg="1"/>
      <p:bldP spid="77" grpId="0"/>
      <p:bldP spid="8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03835" y="1345273"/>
            <a:ext cx="7092867" cy="5319650"/>
            <a:chOff x="706835" y="2011916"/>
            <a:chExt cx="6113826" cy="458536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3675390" y="6267363"/>
                  <a:ext cx="363619" cy="318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363619" cy="31835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0145" r="-5797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43326" y="4119935"/>
                  <a:ext cx="369753" cy="318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369753" cy="31835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0000" r="-5714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橢圓 8"/>
          <p:cNvSpPr/>
          <p:nvPr/>
        </p:nvSpPr>
        <p:spPr>
          <a:xfrm>
            <a:off x="2955900" y="5270074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3077146" y="4580623"/>
            <a:ext cx="224999" cy="726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6805272" y="150972"/>
            <a:ext cx="358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black"/>
                </a:solidFill>
              </a:rPr>
              <a:t>Assume there are only two parameters w</a:t>
            </a:r>
            <a:r>
              <a:rPr lang="en-US" altLang="zh-TW" sz="2400" baseline="-25000" dirty="0">
                <a:solidFill>
                  <a:prstClr val="black"/>
                </a:solidFill>
              </a:rPr>
              <a:t>1</a:t>
            </a:r>
            <a:r>
              <a:rPr lang="en-US" altLang="zh-TW" sz="2400" dirty="0">
                <a:solidFill>
                  <a:prstClr val="black"/>
                </a:solidFill>
              </a:rPr>
              <a:t> and w</a:t>
            </a:r>
            <a:r>
              <a:rPr lang="en-US" altLang="zh-TW" sz="2400" baseline="-25000" dirty="0">
                <a:solidFill>
                  <a:prstClr val="black"/>
                </a:solidFill>
              </a:rPr>
              <a:t>2</a:t>
            </a:r>
            <a:r>
              <a:rPr lang="en-US" altLang="zh-TW" sz="2400" dirty="0">
                <a:solidFill>
                  <a:prstClr val="black"/>
                </a:solidFill>
              </a:rPr>
              <a:t> in a network.</a:t>
            </a:r>
            <a:endParaRPr lang="zh-TW" altLang="en-US" sz="2400" dirty="0">
              <a:solidFill>
                <a:prstClr val="black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853120" y="2064817"/>
            <a:ext cx="467868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prstClr val="white"/>
                </a:solidFill>
              </a:rPr>
              <a:t>The colors represent the value of C.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086231" y="1948460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Randomly pick a starting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231" y="1948460"/>
                <a:ext cx="2463590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3704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8071173" y="2880132"/>
                <a:ext cx="24635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Compute the negative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173" y="2880132"/>
                <a:ext cx="2463590" cy="1200329"/>
              </a:xfrm>
              <a:prstGeom prst="rect">
                <a:avLst/>
              </a:prstGeom>
              <a:blipFill rotWithShape="0">
                <a:blip r:embed="rId7"/>
                <a:stretch>
                  <a:fillRect l="-3713" t="-4061" r="-148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8860990" y="4142217"/>
                <a:ext cx="14779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990" y="4142217"/>
                <a:ext cx="1477905" cy="430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3216406" y="5269498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406" y="5269498"/>
                <a:ext cx="458899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3492061" y="4503750"/>
                <a:ext cx="1265026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61" y="4503750"/>
                <a:ext cx="1265026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8052918" y="4636604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Times the learning rate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18" y="4636604"/>
                <a:ext cx="2463590" cy="830997"/>
              </a:xfrm>
              <a:prstGeom prst="rect">
                <a:avLst/>
              </a:prstGeom>
              <a:blipFill rotWithShape="0">
                <a:blip r:embed="rId11"/>
                <a:stretch>
                  <a:fillRect l="-371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8843958" y="5619543"/>
                <a:ext cx="1675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58" y="5619543"/>
                <a:ext cx="1675972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向右箭號 31"/>
          <p:cNvSpPr/>
          <p:nvPr/>
        </p:nvSpPr>
        <p:spPr>
          <a:xfrm>
            <a:off x="8211064" y="4181135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3" name="向右箭號 32"/>
          <p:cNvSpPr/>
          <p:nvPr/>
        </p:nvSpPr>
        <p:spPr>
          <a:xfrm>
            <a:off x="8205379" y="5654219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3960386" y="5052101"/>
                <a:ext cx="3980705" cy="95885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8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zh-TW" sz="28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zh-TW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8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zh-TW" sz="28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zh-TW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386" y="5052101"/>
                <a:ext cx="3980705" cy="95885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770277" y="4127807"/>
                <a:ext cx="1435971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277" y="4127807"/>
                <a:ext cx="1435971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 flipV="1">
            <a:off x="3098978" y="4358886"/>
            <a:ext cx="284326" cy="9184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8205379" y="1259803"/>
                <a:ext cx="20042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379" y="1259803"/>
                <a:ext cx="2004267" cy="43088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3383305" y="1372739"/>
            <a:ext cx="3313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</a:rPr>
              <a:t>Error Surface</a:t>
            </a:r>
            <a:endParaRPr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51816" y="3764992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5300909" y="3666143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909" y="3666143"/>
                <a:ext cx="458899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08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7" grpId="1" animBg="1"/>
      <p:bldP spid="30" grpId="0" animBg="1"/>
      <p:bldP spid="31" grpId="0" animBg="1"/>
      <p:bldP spid="32" grpId="0" animBg="1"/>
      <p:bldP spid="33" grpId="0" animBg="1"/>
      <p:bldP spid="24" grpId="0" animBg="1"/>
      <p:bldP spid="29" grpId="0" animBg="1"/>
      <p:bldP spid="35" grpId="0" animBg="1"/>
      <p:bldP spid="37" grpId="0" animBg="1"/>
      <p:bldP spid="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03835" y="1345273"/>
            <a:ext cx="7092867" cy="5319650"/>
            <a:chOff x="706835" y="2011916"/>
            <a:chExt cx="6113826" cy="458536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3675390" y="6267363"/>
                  <a:ext cx="363619" cy="318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363619" cy="31835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0145" r="-5797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43326" y="4119935"/>
                  <a:ext cx="369753" cy="318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369753" cy="31835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0000" r="-5714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橢圓 8"/>
          <p:cNvSpPr/>
          <p:nvPr/>
        </p:nvSpPr>
        <p:spPr>
          <a:xfrm>
            <a:off x="2955900" y="5270074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8071173" y="2880132"/>
                <a:ext cx="24635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Compute the negative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173" y="2880132"/>
                <a:ext cx="2463590" cy="1200329"/>
              </a:xfrm>
              <a:prstGeom prst="rect">
                <a:avLst/>
              </a:prstGeom>
              <a:blipFill rotWithShape="0">
                <a:blip r:embed="rId5"/>
                <a:stretch>
                  <a:fillRect l="-3713" t="-4061" r="-148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8860990" y="4142217"/>
                <a:ext cx="14779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990" y="4142217"/>
                <a:ext cx="1477905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3216406" y="5269498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406" y="5269498"/>
                <a:ext cx="458899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8052918" y="4636604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Times the learning rate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18" y="4636604"/>
                <a:ext cx="2463590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371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8843958" y="5619543"/>
                <a:ext cx="1675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58" y="5619543"/>
                <a:ext cx="1675972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向右箭號 31"/>
          <p:cNvSpPr/>
          <p:nvPr/>
        </p:nvSpPr>
        <p:spPr>
          <a:xfrm>
            <a:off x="8211064" y="4181135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3" name="向右箭號 32"/>
          <p:cNvSpPr/>
          <p:nvPr/>
        </p:nvSpPr>
        <p:spPr>
          <a:xfrm>
            <a:off x="8205379" y="5654219"/>
            <a:ext cx="618875" cy="361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24" name="直線單箭頭接點 23"/>
          <p:cNvCxnSpPr/>
          <p:nvPr/>
        </p:nvCxnSpPr>
        <p:spPr>
          <a:xfrm flipV="1">
            <a:off x="3098978" y="4358886"/>
            <a:ext cx="284326" cy="9184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3333149" y="4154271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593655" y="4153695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55" y="4153695"/>
                <a:ext cx="458899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單箭頭接點 34"/>
          <p:cNvCxnSpPr/>
          <p:nvPr/>
        </p:nvCxnSpPr>
        <p:spPr>
          <a:xfrm flipV="1">
            <a:off x="3492061" y="3942137"/>
            <a:ext cx="267554" cy="2389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3873554" y="3895971"/>
                <a:ext cx="1258421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54" y="3895971"/>
                <a:ext cx="1258421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2189867" y="3478955"/>
                <a:ext cx="1429366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67" y="3478955"/>
                <a:ext cx="1429366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單箭頭接點 37"/>
          <p:cNvCxnSpPr/>
          <p:nvPr/>
        </p:nvCxnSpPr>
        <p:spPr>
          <a:xfrm flipV="1">
            <a:off x="3452822" y="3893347"/>
            <a:ext cx="389681" cy="3233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3828109" y="3710296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4245746" y="3818353"/>
                <a:ext cx="1265026" cy="36933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46" y="3818353"/>
                <a:ext cx="1265026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3675304" y="3243206"/>
                <a:ext cx="1435970" cy="369332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a:rPr lang="en-US" altLang="zh-TW" sz="2400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304" y="3243206"/>
                <a:ext cx="143597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3326412" y="3377290"/>
                <a:ext cx="458899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412" y="3377290"/>
                <a:ext cx="458899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單箭頭接點 42"/>
          <p:cNvCxnSpPr/>
          <p:nvPr/>
        </p:nvCxnSpPr>
        <p:spPr>
          <a:xfrm flipV="1">
            <a:off x="4032484" y="3710295"/>
            <a:ext cx="526048" cy="61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4028478" y="3735102"/>
            <a:ext cx="305685" cy="356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383304" y="1644463"/>
            <a:ext cx="3876724" cy="94533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white"/>
                </a:solidFill>
              </a:rPr>
              <a:t>Eventually, we would reach a minima …..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8086231" y="1948460"/>
                <a:ext cx="2463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prstClr val="black"/>
                    </a:solidFill>
                  </a:rPr>
                  <a:t>Randomly pick a starting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231" y="1948460"/>
                <a:ext cx="2463590" cy="830997"/>
              </a:xfrm>
              <a:prstGeom prst="rect">
                <a:avLst/>
              </a:prstGeom>
              <a:blipFill rotWithShape="0">
                <a:blip r:embed="rId16"/>
                <a:stretch>
                  <a:fillRect l="-3704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70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4" grpId="0" animBg="1"/>
      <p:bldP spid="36" grpId="0" animBg="1"/>
      <p:bldP spid="36" grpId="1" animBg="1"/>
      <p:bldP spid="37" grpId="0" animBg="1"/>
      <p:bldP spid="37" grpId="1" animBg="1"/>
      <p:bldP spid="39" grpId="0" animBg="1"/>
      <p:bldP spid="40" grpId="0" animBg="1"/>
      <p:bldP spid="40" grpId="1" animBg="1"/>
      <p:bldP spid="41" grpId="0" animBg="1"/>
      <p:bldP spid="4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93" y="2251402"/>
            <a:ext cx="5514975" cy="450532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Local Minima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Gradient descent never guarantee global minima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38405" y="4073177"/>
                <a:ext cx="2798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405" y="4073177"/>
                <a:ext cx="279885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590836" y="6062808"/>
                <a:ext cx="4932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36" y="6062808"/>
                <a:ext cx="493212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975535" y="6176964"/>
                <a:ext cx="5014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535" y="6176964"/>
                <a:ext cx="501484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6871966" y="2541585"/>
            <a:ext cx="3562350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white"/>
                </a:solidFill>
              </a:rPr>
              <a:t>Different initial point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59884" y="5108701"/>
            <a:ext cx="3562350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prstClr val="white"/>
                </a:solidFill>
              </a:rPr>
              <a:t>Reach different minima, so different results</a:t>
            </a:r>
            <a:endParaRPr lang="zh-TW" altLang="en-US" sz="2800" dirty="0">
              <a:solidFill>
                <a:prstClr val="white"/>
              </a:solidFill>
            </a:endParaRPr>
          </a:p>
        </p:txBody>
      </p:sp>
      <p:sp>
        <p:nvSpPr>
          <p:cNvPr id="11" name="向下箭號 10"/>
          <p:cNvSpPr/>
          <p:nvPr/>
        </p:nvSpPr>
        <p:spPr>
          <a:xfrm>
            <a:off x="8332511" y="3296177"/>
            <a:ext cx="641261" cy="169755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889886" y="3390296"/>
            <a:ext cx="171366" cy="1713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5594548" y="4332707"/>
            <a:ext cx="123496" cy="3108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981119" y="4001295"/>
            <a:ext cx="40066" cy="2873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4002010" y="4293790"/>
            <a:ext cx="37251" cy="2543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4039260" y="4548150"/>
            <a:ext cx="68788" cy="2717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632671" y="4202936"/>
            <a:ext cx="171366" cy="1713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>
            <a:off x="3960981" y="3514068"/>
            <a:ext cx="0" cy="4872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H="1">
            <a:off x="5491720" y="4657575"/>
            <a:ext cx="102828" cy="1746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H="1">
            <a:off x="5405445" y="4815940"/>
            <a:ext cx="102828" cy="1746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53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9827-7C55-42C3-B86C-1E7204BA9330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601480" y="334645"/>
            <a:ext cx="90665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3333CC"/>
                </a:solidFill>
                <a:latin typeface="Arial" panose="020B0604020202020204" pitchFamily="34" charset="0"/>
              </a:rPr>
              <a:t>However, with back-propagation and other methods,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3333CC"/>
                </a:solidFill>
                <a:latin typeface="Arial" panose="020B0604020202020204" pitchFamily="34" charset="0"/>
              </a:rPr>
              <a:t>are we really any closer to how the brain functions?</a:t>
            </a:r>
          </a:p>
        </p:txBody>
      </p:sp>
      <p:pic>
        <p:nvPicPr>
          <p:cNvPr id="160770" name="Picture 2" descr="data science, geoff hinton, deep learn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2024844"/>
            <a:ext cx="2536267" cy="336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410200" y="1923959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000000"/>
                </a:solidFill>
                <a:latin typeface="Open Sans"/>
              </a:rPr>
              <a:t>“</a:t>
            </a:r>
            <a:r>
              <a:rPr lang="en-US" sz="3000" dirty="0">
                <a:solidFill>
                  <a:srgbClr val="C00000"/>
                </a:solidFill>
                <a:latin typeface="Open Sans"/>
              </a:rPr>
              <a:t>The future depends on some graduate student who is deeply suspicious of everything I have said</a:t>
            </a:r>
            <a:r>
              <a:rPr lang="en-US" sz="3000" dirty="0">
                <a:solidFill>
                  <a:srgbClr val="000000"/>
                </a:solidFill>
                <a:latin typeface="Open Sans"/>
              </a:rPr>
              <a:t>.”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57072" y="4725145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7030A0"/>
                </a:solidFill>
                <a:latin typeface="Open Sans"/>
              </a:rPr>
              <a:t>Geoffrey E. Hinton</a:t>
            </a:r>
            <a:r>
              <a:rPr lang="en-US" sz="1600" dirty="0">
                <a:solidFill>
                  <a:srgbClr val="000000"/>
                </a:solidFill>
                <a:latin typeface="Open Sans"/>
              </a:rPr>
              <a:t>, widely revered as the “godfather of deep learning”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71565" y="6025919"/>
            <a:ext cx="42306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solidFill>
                  <a:srgbClr val="3333CC"/>
                </a:solidFill>
                <a:latin typeface="Arial" panose="020B0604020202020204" pitchFamily="34" charset="0"/>
              </a:rPr>
              <a:t>So, keep on doubting!</a:t>
            </a:r>
          </a:p>
        </p:txBody>
      </p:sp>
    </p:spTree>
    <p:extLst>
      <p:ext uri="{BB962C8B-B14F-4D97-AF65-F5344CB8AC3E}">
        <p14:creationId xmlns:p14="http://schemas.microsoft.com/office/powerpoint/2010/main" val="120995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5" descr="PCMahalanobis"/>
          <p:cNvSpPr>
            <a:spLocks noChangeArrowheads="1" noChangeShapeType="1" noTextEdit="1"/>
          </p:cNvSpPr>
          <p:nvPr/>
        </p:nvSpPr>
        <p:spPr bwMode="auto">
          <a:xfrm>
            <a:off x="2309814" y="571500"/>
            <a:ext cx="7000875" cy="521493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blipFill dpi="0" rotWithShape="0">
                  <a:blip r:embed="rId2"/>
                  <a:srcRect/>
                  <a:stretch>
                    <a:fillRect/>
                  </a:stretch>
                </a:blipFill>
                <a:latin typeface="Impact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0667"/>
            <a:ext cx="2340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 Rounded MT Bold" pitchFamily="34" charset="0"/>
              </a:rPr>
              <a:t>…and that’s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960" y="6275832"/>
            <a:ext cx="5624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Prof. P. C. </a:t>
            </a:r>
            <a:r>
              <a:rPr lang="en-US" dirty="0" err="1">
                <a:solidFill>
                  <a:prstClr val="black"/>
                </a:solidFill>
              </a:rPr>
              <a:t>Mahalanobis</a:t>
            </a:r>
            <a:r>
              <a:rPr lang="en-US" dirty="0">
                <a:solidFill>
                  <a:prstClr val="black"/>
                </a:solidFill>
              </a:rPr>
              <a:t>, remember </a:t>
            </a:r>
            <a:r>
              <a:rPr lang="en-US" b="1" dirty="0" err="1">
                <a:solidFill>
                  <a:srgbClr val="0000FF"/>
                </a:solidFill>
              </a:rPr>
              <a:t>Mahalanobis</a:t>
            </a:r>
            <a:r>
              <a:rPr lang="en-US" b="1" dirty="0">
                <a:solidFill>
                  <a:srgbClr val="0000FF"/>
                </a:solidFill>
              </a:rPr>
              <a:t> distance</a:t>
            </a:r>
            <a:r>
              <a:rPr lang="en-US" dirty="0">
                <a:solidFill>
                  <a:prstClr val="black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4916658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-110" charset="2"/>
          <a:buChar char="n"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-110" charset="2"/>
          <a:buChar char="n"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1302</Words>
  <Application>Microsoft Office PowerPoint</Application>
  <PresentationFormat>Widescreen</PresentationFormat>
  <Paragraphs>477</Paragraphs>
  <Slides>27</Slides>
  <Notes>16</Notes>
  <HiddenSlides>0</HiddenSlides>
  <MMClips>1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50" baseType="lpstr">
      <vt:lpstr>Arial</vt:lpstr>
      <vt:lpstr>Arial Rounded MT Bold</vt:lpstr>
      <vt:lpstr>Calibri</vt:lpstr>
      <vt:lpstr>Calibri Light</vt:lpstr>
      <vt:lpstr>Cambria Math</vt:lpstr>
      <vt:lpstr>Comic Sans MS</vt:lpstr>
      <vt:lpstr>Corbel</vt:lpstr>
      <vt:lpstr>Fira Sans Condensed</vt:lpstr>
      <vt:lpstr>Garamond</vt:lpstr>
      <vt:lpstr>Georgia</vt:lpstr>
      <vt:lpstr>Helvetica</vt:lpstr>
      <vt:lpstr>Impact</vt:lpstr>
      <vt:lpstr>Open Sans</vt:lpstr>
      <vt:lpstr>times</vt:lpstr>
      <vt:lpstr>Wingdings</vt:lpstr>
      <vt:lpstr>Wingdings 2</vt:lpstr>
      <vt:lpstr>Wingdings 3</vt:lpstr>
      <vt:lpstr>Office Theme</vt:lpstr>
      <vt:lpstr>1_Default Design</vt:lpstr>
      <vt:lpstr>3_Edge</vt:lpstr>
      <vt:lpstr>3_Office Theme</vt:lpstr>
      <vt:lpstr>3_Module</vt:lpstr>
      <vt:lpstr>方程式</vt:lpstr>
      <vt:lpstr>Deep Machine Learning (Part 1) </vt:lpstr>
      <vt:lpstr>Developments in Neural Learning Systems</vt:lpstr>
      <vt:lpstr>PowerPoint Presentation</vt:lpstr>
      <vt:lpstr>PowerPoint Presentation</vt:lpstr>
      <vt:lpstr>PowerPoint Presentation</vt:lpstr>
      <vt:lpstr>Example Application</vt:lpstr>
      <vt:lpstr>Handwriting Digit Recognition</vt:lpstr>
      <vt:lpstr>Example Application</vt:lpstr>
      <vt:lpstr>Element of Neural Network </vt:lpstr>
      <vt:lpstr>Neural Network</vt:lpstr>
      <vt:lpstr>Example of Neural Network </vt:lpstr>
      <vt:lpstr>Example of Neural Network </vt:lpstr>
      <vt:lpstr>Example of Neural Network </vt:lpstr>
      <vt:lpstr>Matrix Operation</vt:lpstr>
      <vt:lpstr>Neural Network </vt:lpstr>
      <vt:lpstr>Neural Network </vt:lpstr>
      <vt:lpstr>Softmax</vt:lpstr>
      <vt:lpstr>Softmax</vt:lpstr>
      <vt:lpstr>How to set network parameters</vt:lpstr>
      <vt:lpstr>Training Data</vt:lpstr>
      <vt:lpstr>Cost</vt:lpstr>
      <vt:lpstr>Total Cost</vt:lpstr>
      <vt:lpstr>Gradient Descent</vt:lpstr>
      <vt:lpstr>Gradient Descent</vt:lpstr>
      <vt:lpstr>Local Minima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Machine Learning: Some Perspectives on What needs to be done and what lies ahead</dc:title>
  <dc:creator>cssc</dc:creator>
  <cp:lastModifiedBy>Swagatam Das</cp:lastModifiedBy>
  <cp:revision>31</cp:revision>
  <dcterms:created xsi:type="dcterms:W3CDTF">2022-03-13T05:22:47Z</dcterms:created>
  <dcterms:modified xsi:type="dcterms:W3CDTF">2026-03-29T13:37:28Z</dcterms:modified>
</cp:coreProperties>
</file>