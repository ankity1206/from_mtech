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6858000" cy="9144000"/>
  <p:embeddedFontLst>
    <p:embeddedFont>
      <p:font typeface="Noto Sans Symbols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136760-D83E-4E72-95F1-F1C7CFD54FC8}">
  <a:tblStyle styleId="{EB136760-D83E-4E72-95F1-F1C7CFD54F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NotoSansSymbol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NotoSansSymbol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8" name="Google Shape;138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9" name="Google Shape;13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3.png"/><Relationship Id="rId4" Type="http://schemas.openxmlformats.org/officeDocument/2006/relationships/image" Target="../media/image38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1.png"/><Relationship Id="rId4" Type="http://schemas.openxmlformats.org/officeDocument/2006/relationships/image" Target="../media/image31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Relationship Id="rId4" Type="http://schemas.openxmlformats.org/officeDocument/2006/relationships/image" Target="../media/image59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2.png"/><Relationship Id="rId4" Type="http://schemas.openxmlformats.org/officeDocument/2006/relationships/image" Target="../media/image4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7.png"/><Relationship Id="rId4" Type="http://schemas.openxmlformats.org/officeDocument/2006/relationships/image" Target="../media/image5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4.png"/><Relationship Id="rId4" Type="http://schemas.openxmlformats.org/officeDocument/2006/relationships/image" Target="../media/image45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7.png"/><Relationship Id="rId4" Type="http://schemas.openxmlformats.org/officeDocument/2006/relationships/image" Target="../media/image55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70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6.png"/><Relationship Id="rId4" Type="http://schemas.openxmlformats.org/officeDocument/2006/relationships/image" Target="../media/image61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19.png"/><Relationship Id="rId8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4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8.png"/><Relationship Id="rId6" Type="http://schemas.openxmlformats.org/officeDocument/2006/relationships/image" Target="../media/image49.png"/><Relationship Id="rId7" Type="http://schemas.openxmlformats.org/officeDocument/2006/relationships/image" Target="../media/image60.png"/><Relationship Id="rId8" Type="http://schemas.openxmlformats.org/officeDocument/2006/relationships/image" Target="../media/image75.png"/></Relationships>
</file>

<file path=ppt/slides/_rels/slide2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69.png"/><Relationship Id="rId13" Type="http://schemas.openxmlformats.org/officeDocument/2006/relationships/image" Target="../media/image68.png"/><Relationship Id="rId12" Type="http://schemas.openxmlformats.org/officeDocument/2006/relationships/image" Target="../media/image76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Relationship Id="rId4" Type="http://schemas.openxmlformats.org/officeDocument/2006/relationships/image" Target="../media/image71.png"/><Relationship Id="rId9" Type="http://schemas.openxmlformats.org/officeDocument/2006/relationships/image" Target="../media/image81.png"/><Relationship Id="rId15" Type="http://schemas.openxmlformats.org/officeDocument/2006/relationships/image" Target="../media/image96.png"/><Relationship Id="rId14" Type="http://schemas.openxmlformats.org/officeDocument/2006/relationships/image" Target="../media/image79.png"/><Relationship Id="rId16" Type="http://schemas.openxmlformats.org/officeDocument/2006/relationships/image" Target="../media/image84.png"/><Relationship Id="rId5" Type="http://schemas.openxmlformats.org/officeDocument/2006/relationships/image" Target="../media/image60.png"/><Relationship Id="rId6" Type="http://schemas.openxmlformats.org/officeDocument/2006/relationships/image" Target="../media/image75.png"/><Relationship Id="rId7" Type="http://schemas.openxmlformats.org/officeDocument/2006/relationships/image" Target="../media/image85.png"/><Relationship Id="rId8" Type="http://schemas.openxmlformats.org/officeDocument/2006/relationships/image" Target="../media/image72.png"/></Relationships>
</file>

<file path=ppt/slides/_rels/slide2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8.png"/><Relationship Id="rId10" Type="http://schemas.openxmlformats.org/officeDocument/2006/relationships/image" Target="../media/image77.png"/><Relationship Id="rId13" Type="http://schemas.openxmlformats.org/officeDocument/2006/relationships/image" Target="../media/image69.png"/><Relationship Id="rId12" Type="http://schemas.openxmlformats.org/officeDocument/2006/relationships/image" Target="../media/image10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2.png"/><Relationship Id="rId4" Type="http://schemas.openxmlformats.org/officeDocument/2006/relationships/image" Target="../media/image74.png"/><Relationship Id="rId9" Type="http://schemas.openxmlformats.org/officeDocument/2006/relationships/image" Target="../media/image87.png"/><Relationship Id="rId5" Type="http://schemas.openxmlformats.org/officeDocument/2006/relationships/image" Target="../media/image80.png"/><Relationship Id="rId6" Type="http://schemas.openxmlformats.org/officeDocument/2006/relationships/image" Target="../media/image88.png"/><Relationship Id="rId7" Type="http://schemas.openxmlformats.org/officeDocument/2006/relationships/image" Target="../media/image83.png"/><Relationship Id="rId8" Type="http://schemas.openxmlformats.org/officeDocument/2006/relationships/image" Target="../media/image7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CN"/>
              <a:t>Regression Analysis: Part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012" y="264624"/>
            <a:ext cx="8432045" cy="64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602" y="0"/>
            <a:ext cx="8517427" cy="6714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460" y="207068"/>
            <a:ext cx="8325025" cy="6460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707" y="233597"/>
            <a:ext cx="8486607" cy="6481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6796" y="206057"/>
            <a:ext cx="7375951" cy="20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1233" y="2698371"/>
            <a:ext cx="8259710" cy="366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4022" y="2698371"/>
            <a:ext cx="7934131" cy="389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1232" y="2808514"/>
            <a:ext cx="8093611" cy="3784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1389"/>
            <a:ext cx="6222111" cy="3794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2111" y="2266740"/>
            <a:ext cx="5709835" cy="4373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8575" y="4797426"/>
            <a:ext cx="2916238" cy="3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79651" y="1341438"/>
            <a:ext cx="3889375" cy="29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2"/>
          <p:cNvSpPr/>
          <p:nvPr/>
        </p:nvSpPr>
        <p:spPr>
          <a:xfrm>
            <a:off x="1560513" y="1989139"/>
            <a:ext cx="792162" cy="1189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Price ($)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1000</a:t>
            </a:r>
            <a:r>
              <a:rPr b="0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" name="Google Shape;201;p32"/>
          <p:cNvSpPr/>
          <p:nvPr/>
        </p:nvSpPr>
        <p:spPr>
          <a:xfrm>
            <a:off x="3143250" y="4292600"/>
            <a:ext cx="160813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Size in feet</a:t>
            </a:r>
            <a:r>
              <a:rPr b="0" baseline="3000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(x)</a:t>
            </a:r>
            <a:endParaRPr/>
          </a:p>
        </p:txBody>
      </p:sp>
      <p:cxnSp>
        <p:nvCxnSpPr>
          <p:cNvPr id="202" name="Google Shape;202;p32"/>
          <p:cNvCxnSpPr/>
          <p:nvPr/>
        </p:nvCxnSpPr>
        <p:spPr>
          <a:xfrm flipH="1" rot="10800000">
            <a:off x="2640014" y="2565400"/>
            <a:ext cx="3311525" cy="1117600"/>
          </a:xfrm>
          <a:prstGeom prst="straightConnector1">
            <a:avLst/>
          </a:prstGeom>
          <a:noFill/>
          <a:ln cap="flat" cmpd="sng" w="25400">
            <a:solidFill>
              <a:srgbClr val="1D1B1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C:\Users\Public\Documents\ml-class\lectures-slides\assets\2.bowl.png" id="203" name="Google Shape;20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1901" y="1125539"/>
            <a:ext cx="4219575" cy="331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32"/>
          <p:cNvCxnSpPr/>
          <p:nvPr/>
        </p:nvCxnSpPr>
        <p:spPr>
          <a:xfrm flipH="1" rot="10800000">
            <a:off x="4151314" y="1125526"/>
            <a:ext cx="4270500" cy="217500"/>
          </a:xfrm>
          <a:prstGeom prst="bentConnector4">
            <a:avLst>
              <a:gd fmla="val 565" name="adj1"/>
              <a:gd fmla="val 37681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205" name="Google Shape;20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24563" y="4797425"/>
            <a:ext cx="4614862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2"/>
          <p:cNvSpPr/>
          <p:nvPr/>
        </p:nvSpPr>
        <p:spPr>
          <a:xfrm>
            <a:off x="3143251" y="4870451"/>
            <a:ext cx="14906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48525" y="5805489"/>
            <a:ext cx="2382838" cy="471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32"/>
          <p:cNvCxnSpPr>
            <a:endCxn id="206" idx="2"/>
          </p:cNvCxnSpPr>
          <p:nvPr/>
        </p:nvCxnSpPr>
        <p:spPr>
          <a:xfrm rot="10800000">
            <a:off x="3888583" y="5455226"/>
            <a:ext cx="2782200" cy="6375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9" name="Google Shape;209;p32"/>
          <p:cNvCxnSpPr/>
          <p:nvPr/>
        </p:nvCxnSpPr>
        <p:spPr>
          <a:xfrm flipH="1" rot="10800000">
            <a:off x="2640013" y="1844676"/>
            <a:ext cx="3168650" cy="1800225"/>
          </a:xfrm>
          <a:prstGeom prst="straightConnector1">
            <a:avLst/>
          </a:prstGeom>
          <a:noFill/>
          <a:ln cap="flat" cmpd="sng" w="127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32"/>
          <p:cNvSpPr txBox="1"/>
          <p:nvPr/>
        </p:nvSpPr>
        <p:spPr>
          <a:xfrm>
            <a:off x="3071813" y="6310313"/>
            <a:ext cx="54292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1774825" y="6310313"/>
            <a:ext cx="387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Question:How to minimize </a:t>
            </a:r>
            <a:r>
              <a:rPr b="1" i="1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zh-CN">
                <a:solidFill>
                  <a:srgbClr val="3F3F3F"/>
                </a:solidFill>
              </a:rPr>
              <a:t>Gradient Descent</a:t>
            </a:r>
            <a:endParaRPr/>
          </a:p>
        </p:txBody>
      </p:sp>
      <p:sp>
        <p:nvSpPr>
          <p:cNvPr id="217" name="Google Shape;217;p33"/>
          <p:cNvSpPr/>
          <p:nvPr/>
        </p:nvSpPr>
        <p:spPr>
          <a:xfrm>
            <a:off x="2135189" y="1917700"/>
            <a:ext cx="3089275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some function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3201" y="2005014"/>
            <a:ext cx="1304925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/>
          <p:nvPr/>
        </p:nvSpPr>
        <p:spPr>
          <a:xfrm>
            <a:off x="2136776" y="2536826"/>
            <a:ext cx="1050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Want </a:t>
            </a:r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2326" y="2625726"/>
            <a:ext cx="2074863" cy="5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/>
          <p:nvPr/>
        </p:nvSpPr>
        <p:spPr>
          <a:xfrm>
            <a:off x="1982788" y="3267076"/>
            <a:ext cx="7620000" cy="2962275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Outline: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some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 changing              to reduce                     until we hopefully end up at a minimum</a:t>
            </a:r>
            <a:endParaRPr/>
          </a:p>
        </p:txBody>
      </p:sp>
      <p:pic>
        <p:nvPicPr>
          <p:cNvPr id="222" name="Google Shape;22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5126" y="4298950"/>
            <a:ext cx="796925" cy="33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6213" y="4929188"/>
            <a:ext cx="1331912" cy="37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9389" y="4933951"/>
            <a:ext cx="796925" cy="3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/>
          <p:nvPr/>
        </p:nvSpPr>
        <p:spPr>
          <a:xfrm>
            <a:off x="2136776" y="549276"/>
            <a:ext cx="4505325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230" name="Google Shape;2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9013" y="1412876"/>
            <a:ext cx="3721100" cy="146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1900" y="1989139"/>
            <a:ext cx="3144838" cy="352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2" name="Google Shape;232;p34"/>
          <p:cNvCxnSpPr/>
          <p:nvPr/>
        </p:nvCxnSpPr>
        <p:spPr>
          <a:xfrm>
            <a:off x="2135188" y="3063875"/>
            <a:ext cx="8134350" cy="1588"/>
          </a:xfrm>
          <a:prstGeom prst="straightConnector1">
            <a:avLst/>
          </a:prstGeom>
          <a:noFill/>
          <a:ln cap="flat" cmpd="sng" w="12700">
            <a:solidFill>
              <a:srgbClr val="1D1B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34"/>
          <p:cNvSpPr/>
          <p:nvPr/>
        </p:nvSpPr>
        <p:spPr>
          <a:xfrm>
            <a:off x="2039939" y="3140075"/>
            <a:ext cx="41290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Correct: Simultaneous update</a:t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8851" y="3700464"/>
            <a:ext cx="3414713" cy="137318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4"/>
          <p:cNvSpPr/>
          <p:nvPr/>
        </p:nvSpPr>
        <p:spPr>
          <a:xfrm>
            <a:off x="6311901" y="3141663"/>
            <a:ext cx="1470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Incorrect:</a:t>
            </a:r>
            <a:endParaRPr/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4925" y="3717926"/>
            <a:ext cx="3416300" cy="131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/>
          <p:nvPr/>
        </p:nvSpPr>
        <p:spPr>
          <a:xfrm>
            <a:off x="2495550" y="1196975"/>
            <a:ext cx="4840288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6389" y="2101850"/>
            <a:ext cx="3513137" cy="13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7526" y="2601914"/>
            <a:ext cx="2790825" cy="61118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5"/>
          <p:cNvSpPr txBox="1"/>
          <p:nvPr/>
        </p:nvSpPr>
        <p:spPr>
          <a:xfrm>
            <a:off x="2495551" y="4365626"/>
            <a:ext cx="66706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Notice :  α is the learning rate.</a:t>
            </a:r>
            <a:endParaRPr/>
          </a:p>
        </p:txBody>
      </p:sp>
      <p:pic>
        <p:nvPicPr>
          <p:cNvPr id="245" name="Google Shape;245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800" y="3321050"/>
            <a:ext cx="914400" cy="2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36"/>
          <p:cNvCxnSpPr/>
          <p:nvPr/>
        </p:nvCxnSpPr>
        <p:spPr>
          <a:xfrm rot="10800000">
            <a:off x="7389813" y="808038"/>
            <a:ext cx="0" cy="21701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1" name="Google Shape;251;p36"/>
          <p:cNvCxnSpPr/>
          <p:nvPr/>
        </p:nvCxnSpPr>
        <p:spPr>
          <a:xfrm>
            <a:off x="7161213" y="2749550"/>
            <a:ext cx="297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2" name="Google Shape;252;p36"/>
          <p:cNvCxnSpPr/>
          <p:nvPr/>
        </p:nvCxnSpPr>
        <p:spPr>
          <a:xfrm rot="10800000">
            <a:off x="7389813" y="3209926"/>
            <a:ext cx="0" cy="21701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53" name="Google Shape;253;p36"/>
          <p:cNvCxnSpPr/>
          <p:nvPr/>
        </p:nvCxnSpPr>
        <p:spPr>
          <a:xfrm>
            <a:off x="7161213" y="5151438"/>
            <a:ext cx="2971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54" name="Google Shape;25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7425" y="2865439"/>
            <a:ext cx="247650" cy="2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7425" y="5275264"/>
            <a:ext cx="247650" cy="28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4" y="1341439"/>
            <a:ext cx="2816225" cy="67468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6"/>
          <p:cNvSpPr/>
          <p:nvPr/>
        </p:nvSpPr>
        <p:spPr>
          <a:xfrm>
            <a:off x="2055813" y="2024064"/>
            <a:ext cx="3886200" cy="72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α is too small, gradient descent can be slow.</a:t>
            </a:r>
            <a:endParaRPr/>
          </a:p>
        </p:txBody>
      </p:sp>
      <p:sp>
        <p:nvSpPr>
          <p:cNvPr id="258" name="Google Shape;258;p36"/>
          <p:cNvSpPr/>
          <p:nvPr/>
        </p:nvSpPr>
        <p:spPr>
          <a:xfrm>
            <a:off x="2055813" y="3779838"/>
            <a:ext cx="3886200" cy="1014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α is too large, gradient descent can overshoot the minimum. It may fail to converge, or even diverge.</a:t>
            </a:r>
            <a:endParaRPr/>
          </a:p>
        </p:txBody>
      </p:sp>
      <p:sp>
        <p:nvSpPr>
          <p:cNvPr id="259" name="Google Shape;259;p36"/>
          <p:cNvSpPr/>
          <p:nvPr/>
        </p:nvSpPr>
        <p:spPr>
          <a:xfrm>
            <a:off x="7788275" y="1171575"/>
            <a:ext cx="1822450" cy="1430338"/>
          </a:xfrm>
          <a:custGeom>
            <a:rect b="b" l="l" r="r" t="t"/>
            <a:pathLst>
              <a:path extrusionOk="0" h="21600" w="21600">
                <a:moveTo>
                  <a:pt x="0" y="873"/>
                </a:moveTo>
                <a:cubicBezTo>
                  <a:pt x="1941" y="5411"/>
                  <a:pt x="6480" y="21600"/>
                  <a:pt x="10800" y="21427"/>
                </a:cubicBezTo>
                <a:cubicBezTo>
                  <a:pt x="15120" y="21254"/>
                  <a:pt x="19658" y="4692"/>
                  <a:pt x="2160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6"/>
          <p:cNvSpPr/>
          <p:nvPr/>
        </p:nvSpPr>
        <p:spPr>
          <a:xfrm>
            <a:off x="7824788" y="3573463"/>
            <a:ext cx="1822450" cy="1428750"/>
          </a:xfrm>
          <a:custGeom>
            <a:rect b="b" l="l" r="r" t="t"/>
            <a:pathLst>
              <a:path extrusionOk="0" h="21600" w="21600">
                <a:moveTo>
                  <a:pt x="0" y="873"/>
                </a:moveTo>
                <a:cubicBezTo>
                  <a:pt x="1941" y="5411"/>
                  <a:pt x="6480" y="21600"/>
                  <a:pt x="10800" y="21427"/>
                </a:cubicBezTo>
                <a:cubicBezTo>
                  <a:pt x="15120" y="21254"/>
                  <a:pt x="19658" y="4692"/>
                  <a:pt x="2160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36"/>
          <p:cNvCxnSpPr/>
          <p:nvPr/>
        </p:nvCxnSpPr>
        <p:spPr>
          <a:xfrm>
            <a:off x="7896226" y="1412876"/>
            <a:ext cx="144463" cy="36036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36"/>
          <p:cNvCxnSpPr/>
          <p:nvPr/>
        </p:nvCxnSpPr>
        <p:spPr>
          <a:xfrm>
            <a:off x="7967663" y="1628775"/>
            <a:ext cx="144462" cy="287338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36"/>
          <p:cNvCxnSpPr/>
          <p:nvPr/>
        </p:nvCxnSpPr>
        <p:spPr>
          <a:xfrm flipH="1" rot="10800000">
            <a:off x="8543925" y="4797426"/>
            <a:ext cx="431800" cy="144463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6"/>
          <p:cNvCxnSpPr/>
          <p:nvPr/>
        </p:nvCxnSpPr>
        <p:spPr>
          <a:xfrm rot="10800000">
            <a:off x="8185151" y="4292601"/>
            <a:ext cx="790575" cy="50482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36"/>
          <p:cNvCxnSpPr/>
          <p:nvPr/>
        </p:nvCxnSpPr>
        <p:spPr>
          <a:xfrm flipH="1" rot="10800000">
            <a:off x="8185150" y="3860800"/>
            <a:ext cx="1295400" cy="431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0" name="Google Shape;270;p37"/>
          <p:cNvCxnSpPr/>
          <p:nvPr/>
        </p:nvCxnSpPr>
        <p:spPr>
          <a:xfrm flipH="1" rot="10800000">
            <a:off x="2147889" y="268288"/>
            <a:ext cx="1587" cy="2474912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1" name="Google Shape;271;p37"/>
          <p:cNvCxnSpPr/>
          <p:nvPr/>
        </p:nvCxnSpPr>
        <p:spPr>
          <a:xfrm>
            <a:off x="1919288" y="2514600"/>
            <a:ext cx="38862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72" name="Google Shape;27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014" y="2673350"/>
            <a:ext cx="18573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7"/>
          <p:cNvSpPr/>
          <p:nvPr/>
        </p:nvSpPr>
        <p:spPr>
          <a:xfrm>
            <a:off x="1919288" y="476250"/>
            <a:ext cx="3681412" cy="1779588"/>
          </a:xfrm>
          <a:custGeom>
            <a:rect b="b" l="l" r="r" t="t"/>
            <a:pathLst>
              <a:path extrusionOk="0" h="1778433" w="3681350">
                <a:moveTo>
                  <a:pt x="0" y="745726"/>
                </a:moveTo>
                <a:cubicBezTo>
                  <a:pt x="120732" y="572544"/>
                  <a:pt x="213533" y="345824"/>
                  <a:pt x="356259" y="389466"/>
                </a:cubicBezTo>
                <a:cubicBezTo>
                  <a:pt x="498985" y="433108"/>
                  <a:pt x="702574" y="661782"/>
                  <a:pt x="856359" y="1007576"/>
                </a:cubicBezTo>
                <a:cubicBezTo>
                  <a:pt x="1010144" y="1353370"/>
                  <a:pt x="1048145" y="1762352"/>
                  <a:pt x="1278972" y="1778433"/>
                </a:cubicBezTo>
                <a:cubicBezTo>
                  <a:pt x="1522367" y="1753594"/>
                  <a:pt x="1551115" y="1610571"/>
                  <a:pt x="1733797" y="1315741"/>
                </a:cubicBezTo>
                <a:cubicBezTo>
                  <a:pt x="1916479" y="1020911"/>
                  <a:pt x="2212695" y="96813"/>
                  <a:pt x="2375065" y="9455"/>
                </a:cubicBezTo>
                <a:cubicBezTo>
                  <a:pt x="2537435" y="-77903"/>
                  <a:pt x="2603714" y="460297"/>
                  <a:pt x="2708019" y="791594"/>
                </a:cubicBezTo>
                <a:cubicBezTo>
                  <a:pt x="2812324" y="1122891"/>
                  <a:pt x="2888153" y="1431797"/>
                  <a:pt x="3000894" y="1517176"/>
                </a:cubicBezTo>
                <a:cubicBezTo>
                  <a:pt x="3113635" y="1602555"/>
                  <a:pt x="3255818" y="1472100"/>
                  <a:pt x="3384467" y="1303866"/>
                </a:cubicBezTo>
                <a:cubicBezTo>
                  <a:pt x="3513116" y="1135632"/>
                  <a:pt x="3597233" y="815988"/>
                  <a:pt x="3681350" y="496344"/>
                </a:cubicBezTo>
              </a:path>
            </a:pathLst>
          </a:custGeom>
          <a:noFill/>
          <a:ln cap="flat" cmpd="sng" w="38100">
            <a:solidFill>
              <a:srgbClr val="538CD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7"/>
          <p:cNvSpPr/>
          <p:nvPr/>
        </p:nvSpPr>
        <p:spPr>
          <a:xfrm>
            <a:off x="6138864" y="2216150"/>
            <a:ext cx="17351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 local optima</a:t>
            </a:r>
            <a:endParaRPr/>
          </a:p>
        </p:txBody>
      </p:sp>
      <p:pic>
        <p:nvPicPr>
          <p:cNvPr id="275" name="Google Shape;27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000" y="2308226"/>
            <a:ext cx="198438" cy="22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7"/>
          <p:cNvCxnSpPr/>
          <p:nvPr/>
        </p:nvCxnSpPr>
        <p:spPr>
          <a:xfrm rot="10800000">
            <a:off x="4967288" y="2076451"/>
            <a:ext cx="838200" cy="231775"/>
          </a:xfrm>
          <a:prstGeom prst="straightConnector1">
            <a:avLst/>
          </a:prstGeom>
          <a:noFill/>
          <a:ln cap="flat" cmpd="sng" w="12700">
            <a:solidFill>
              <a:srgbClr val="63242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77" name="Google Shape;277;p37"/>
          <p:cNvCxnSpPr/>
          <p:nvPr/>
        </p:nvCxnSpPr>
        <p:spPr>
          <a:xfrm>
            <a:off x="4886325" y="2432050"/>
            <a:ext cx="1588" cy="1857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37"/>
          <p:cNvSpPr/>
          <p:nvPr/>
        </p:nvSpPr>
        <p:spPr>
          <a:xfrm>
            <a:off x="1838326" y="3054350"/>
            <a:ext cx="1920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Current value of </a:t>
            </a:r>
            <a:endParaRPr/>
          </a:p>
        </p:txBody>
      </p:sp>
      <p:pic>
        <p:nvPicPr>
          <p:cNvPr id="279" name="Google Shape;27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2525" y="3138489"/>
            <a:ext cx="198438" cy="2238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37"/>
          <p:cNvCxnSpPr/>
          <p:nvPr/>
        </p:nvCxnSpPr>
        <p:spPr>
          <a:xfrm flipH="1" rot="10800000">
            <a:off x="3214688" y="2617788"/>
            <a:ext cx="1524000" cy="436562"/>
          </a:xfrm>
          <a:prstGeom prst="straightConnector1">
            <a:avLst/>
          </a:prstGeom>
          <a:noFill/>
          <a:ln cap="flat" cmpd="sng" w="12700">
            <a:solidFill>
              <a:srgbClr val="632423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281" name="Google Shape;28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43525" y="2928938"/>
            <a:ext cx="3276600" cy="78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" name="Google Shape;282;p37"/>
          <p:cNvCxnSpPr/>
          <p:nvPr/>
        </p:nvCxnSpPr>
        <p:spPr>
          <a:xfrm rot="10800000">
            <a:off x="5303876" y="3286151"/>
            <a:ext cx="1328700" cy="898500"/>
          </a:xfrm>
          <a:prstGeom prst="bentConnector3">
            <a:avLst>
              <a:gd fmla="val 117920" name="adj1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83" name="Google Shape;283;p37"/>
          <p:cNvSpPr txBox="1"/>
          <p:nvPr/>
        </p:nvSpPr>
        <p:spPr>
          <a:xfrm>
            <a:off x="6630989" y="3963989"/>
            <a:ext cx="16970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Unchange</a:t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>
            <a:off x="1992313" y="4510088"/>
            <a:ext cx="7162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can converge to a local minimum, even with the learning rate α fixed.</a:t>
            </a:r>
            <a:endParaRPr/>
          </a:p>
        </p:txBody>
      </p:sp>
      <p:sp>
        <p:nvSpPr>
          <p:cNvPr id="285" name="Google Shape;285;p37"/>
          <p:cNvSpPr/>
          <p:nvPr/>
        </p:nvSpPr>
        <p:spPr>
          <a:xfrm>
            <a:off x="1992314" y="5230814"/>
            <a:ext cx="705643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we approach a local minimum, gradient descent will automatically take smaller steps. So, no need to decrease α over time.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zh-CN">
                <a:solidFill>
                  <a:srgbClr val="3F3F3F"/>
                </a:solidFill>
              </a:rPr>
              <a:t>Gradient Descent for </a:t>
            </a:r>
            <a:br>
              <a:rPr lang="zh-CN">
                <a:solidFill>
                  <a:srgbClr val="3F3F3F"/>
                </a:solidFill>
              </a:rPr>
            </a:br>
            <a:r>
              <a:rPr lang="zh-CN">
                <a:solidFill>
                  <a:srgbClr val="3F3F3F"/>
                </a:solidFill>
              </a:rPr>
              <a:t>Linear Regression</a:t>
            </a:r>
            <a:endParaRPr/>
          </a:p>
        </p:txBody>
      </p:sp>
      <p:sp>
        <p:nvSpPr>
          <p:cNvPr id="291" name="Google Shape;291;p38"/>
          <p:cNvSpPr/>
          <p:nvPr/>
        </p:nvSpPr>
        <p:spPr>
          <a:xfrm>
            <a:off x="1847851" y="2060576"/>
            <a:ext cx="36036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050" y="2898776"/>
            <a:ext cx="3513138" cy="191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4288" y="2974975"/>
            <a:ext cx="2201862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8"/>
          <p:cNvSpPr/>
          <p:nvPr/>
        </p:nvSpPr>
        <p:spPr>
          <a:xfrm>
            <a:off x="6191251" y="2057401"/>
            <a:ext cx="325596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 Regression Model</a:t>
            </a:r>
            <a:endParaRPr/>
          </a:p>
        </p:txBody>
      </p:sp>
      <p:pic>
        <p:nvPicPr>
          <p:cNvPr id="295" name="Google Shape;29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35688" y="3736975"/>
            <a:ext cx="4246562" cy="59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38"/>
          <p:cNvCxnSpPr/>
          <p:nvPr/>
        </p:nvCxnSpPr>
        <p:spPr>
          <a:xfrm>
            <a:off x="5962650" y="196215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000000">
                <a:alpha val="50588"/>
              </a:srgbClr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/>
          <p:nvPr/>
        </p:nvSpPr>
        <p:spPr>
          <a:xfrm>
            <a:off x="1992314" y="1270000"/>
            <a:ext cx="4264025" cy="522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 algorithm</a:t>
            </a:r>
            <a:endParaRPr/>
          </a:p>
        </p:txBody>
      </p:sp>
      <p:pic>
        <p:nvPicPr>
          <p:cNvPr id="302" name="Google Shape;30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13" y="2176464"/>
            <a:ext cx="5454650" cy="21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9"/>
          <p:cNvSpPr/>
          <p:nvPr/>
        </p:nvSpPr>
        <p:spPr>
          <a:xfrm>
            <a:off x="8197850" y="2519364"/>
            <a:ext cx="20701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simultaneously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2501" y="2940050"/>
            <a:ext cx="284163" cy="3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8500" y="2941638"/>
            <a:ext cx="273050" cy="30956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9"/>
          <p:cNvSpPr/>
          <p:nvPr/>
        </p:nvSpPr>
        <p:spPr>
          <a:xfrm>
            <a:off x="7783513" y="2584450"/>
            <a:ext cx="152400" cy="1219200"/>
          </a:xfrm>
          <a:prstGeom prst="rightBrace">
            <a:avLst>
              <a:gd fmla="val 8000" name="adj1"/>
              <a:gd fmla="val 50000" name="adj2"/>
            </a:avLst>
          </a:prstGeom>
          <a:noFill/>
          <a:ln cap="flat" cmpd="sng" w="9525">
            <a:solidFill>
              <a:srgbClr val="1D1B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0" y="620713"/>
            <a:ext cx="7677150" cy="53768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0"/>
          <p:cNvSpPr/>
          <p:nvPr/>
        </p:nvSpPr>
        <p:spPr>
          <a:xfrm>
            <a:off x="5314950" y="2698750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5353050" y="2989263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0"/>
          <p:cNvSpPr/>
          <p:nvPr/>
        </p:nvSpPr>
        <p:spPr>
          <a:xfrm>
            <a:off x="5334000" y="32845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5105400" y="35893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0"/>
          <p:cNvSpPr/>
          <p:nvPr/>
        </p:nvSpPr>
        <p:spPr>
          <a:xfrm>
            <a:off x="5181600" y="38941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5486400" y="39703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5638800" y="41989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562600" y="4503738"/>
            <a:ext cx="228600" cy="228600"/>
          </a:xfrm>
          <a:prstGeom prst="star4">
            <a:avLst>
              <a:gd fmla="val 12500" name="adj"/>
            </a:avLst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40"/>
          <p:cNvCxnSpPr/>
          <p:nvPr/>
        </p:nvCxnSpPr>
        <p:spPr>
          <a:xfrm>
            <a:off x="5216525" y="3703638"/>
            <a:ext cx="762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40"/>
          <p:cNvCxnSpPr/>
          <p:nvPr/>
        </p:nvCxnSpPr>
        <p:spPr>
          <a:xfrm flipH="1">
            <a:off x="5216525" y="3398838"/>
            <a:ext cx="2286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5299075" y="4008438"/>
            <a:ext cx="304800" cy="7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40"/>
          <p:cNvCxnSpPr/>
          <p:nvPr/>
        </p:nvCxnSpPr>
        <p:spPr>
          <a:xfrm>
            <a:off x="5592763" y="4084638"/>
            <a:ext cx="152400" cy="2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40"/>
          <p:cNvCxnSpPr/>
          <p:nvPr/>
        </p:nvCxnSpPr>
        <p:spPr>
          <a:xfrm flipH="1">
            <a:off x="5668963" y="4313238"/>
            <a:ext cx="762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40"/>
          <p:cNvCxnSpPr/>
          <p:nvPr/>
        </p:nvCxnSpPr>
        <p:spPr>
          <a:xfrm>
            <a:off x="5429251" y="2813050"/>
            <a:ext cx="42863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40"/>
          <p:cNvCxnSpPr/>
          <p:nvPr/>
        </p:nvCxnSpPr>
        <p:spPr>
          <a:xfrm flipH="1">
            <a:off x="5448301" y="3113089"/>
            <a:ext cx="23813" cy="280987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40"/>
          <p:cNvSpPr/>
          <p:nvPr/>
        </p:nvSpPr>
        <p:spPr>
          <a:xfrm>
            <a:off x="8296275" y="4953000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endParaRPr/>
          </a:p>
        </p:txBody>
      </p:sp>
      <p:sp>
        <p:nvSpPr>
          <p:cNvPr id="328" name="Google Shape;328;p40"/>
          <p:cNvSpPr/>
          <p:nvPr/>
        </p:nvSpPr>
        <p:spPr>
          <a:xfrm>
            <a:off x="4275138" y="5332413"/>
            <a:ext cx="3818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endParaRPr/>
          </a:p>
        </p:txBody>
      </p:sp>
      <p:sp>
        <p:nvSpPr>
          <p:cNvPr id="329" name="Google Shape;329;p40"/>
          <p:cNvSpPr/>
          <p:nvPr/>
        </p:nvSpPr>
        <p:spPr>
          <a:xfrm>
            <a:off x="2120901" y="3173413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J(</a:t>
            </a: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0</a:t>
            </a:r>
            <a:r>
              <a:rPr b="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,θ</a:t>
            </a:r>
            <a:r>
              <a:rPr b="0" baseline="-25000" i="0" lang="zh-CN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1</a:t>
            </a: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baseline="-2500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38" name="Google Shape;338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1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41" name="Google Shape;341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2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50" name="Google Shape;35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2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53" name="Google Shape;353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3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62" name="Google Shape;36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3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65" name="Google Shape;365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4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74" name="Google Shape;374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4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77" name="Google Shape;377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5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86" name="Google Shape;38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5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389" name="Google Shape;389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6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398" name="Google Shape;398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6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01" name="Google Shape;401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7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410" name="Google Shape;410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7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13" name="Google Shape;413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8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422" name="Google Shape;422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8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25" name="Google Shape;425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155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1173164"/>
            <a:ext cx="4387850" cy="438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7138" y="279400"/>
            <a:ext cx="677862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9"/>
          <p:cNvSpPr/>
          <p:nvPr/>
        </p:nvSpPr>
        <p:spPr>
          <a:xfrm>
            <a:off x="2362200" y="771525"/>
            <a:ext cx="37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(for fixed           , this is a function of x)</a:t>
            </a:r>
            <a:endParaRPr/>
          </a:p>
        </p:txBody>
      </p:sp>
      <p:pic>
        <p:nvPicPr>
          <p:cNvPr id="434" name="Google Shape;434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3276" y="889001"/>
            <a:ext cx="519113" cy="296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4026" y="279400"/>
            <a:ext cx="1077913" cy="407988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9"/>
          <p:cNvSpPr/>
          <p:nvPr/>
        </p:nvSpPr>
        <p:spPr>
          <a:xfrm>
            <a:off x="6851651" y="771525"/>
            <a:ext cx="3484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(function of the parameters            )</a:t>
            </a:r>
            <a:endParaRPr/>
          </a:p>
        </p:txBody>
      </p:sp>
      <p:pic>
        <p:nvPicPr>
          <p:cNvPr id="437" name="Google Shape;437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375" y="889000"/>
            <a:ext cx="515938" cy="29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zh-CN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Linear Regression with multiple variables</a:t>
            </a:r>
            <a:endParaRPr/>
          </a:p>
        </p:txBody>
      </p:sp>
      <p:pic>
        <p:nvPicPr>
          <p:cNvPr id="443" name="Google Shape;44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138" y="1766888"/>
            <a:ext cx="6261100" cy="32861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50"/>
          <p:cNvSpPr/>
          <p:nvPr/>
        </p:nvSpPr>
        <p:spPr>
          <a:xfrm>
            <a:off x="1919288" y="1701801"/>
            <a:ext cx="186690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Hypothesis:</a:t>
            </a:r>
            <a:endParaRPr/>
          </a:p>
        </p:txBody>
      </p:sp>
      <p:sp>
        <p:nvSpPr>
          <p:cNvPr id="445" name="Google Shape;445;p50"/>
          <p:cNvSpPr/>
          <p:nvPr/>
        </p:nvSpPr>
        <p:spPr>
          <a:xfrm>
            <a:off x="1919288" y="2763838"/>
            <a:ext cx="26670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 function:</a:t>
            </a:r>
            <a:endParaRPr/>
          </a:p>
        </p:txBody>
      </p:sp>
      <p:sp>
        <p:nvSpPr>
          <p:cNvPr id="446" name="Google Shape;446;p50"/>
          <p:cNvSpPr/>
          <p:nvPr/>
        </p:nvSpPr>
        <p:spPr>
          <a:xfrm>
            <a:off x="1919288" y="2244726"/>
            <a:ext cx="18669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Parameters:</a:t>
            </a:r>
            <a:endParaRPr/>
          </a:p>
        </p:txBody>
      </p:sp>
      <p:pic>
        <p:nvPicPr>
          <p:cNvPr id="447" name="Google Shape;44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0950" y="2349501"/>
            <a:ext cx="1639888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5914" y="3213100"/>
            <a:ext cx="5654675" cy="831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9" name="Google Shape;449;p50"/>
          <p:cNvGrpSpPr/>
          <p:nvPr/>
        </p:nvGrpSpPr>
        <p:grpSpPr>
          <a:xfrm>
            <a:off x="1919288" y="4292601"/>
            <a:ext cx="8458200" cy="1781175"/>
            <a:chOff x="0" y="0"/>
            <a:chExt cx="8458200" cy="1781235"/>
          </a:xfrm>
        </p:grpSpPr>
        <p:pic>
          <p:nvPicPr>
            <p:cNvPr id="450" name="Google Shape;450;p5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7500" y="1470690"/>
              <a:ext cx="1293495" cy="220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5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608963" y="494257"/>
              <a:ext cx="109728" cy="3040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2" name="Google Shape;452;p50"/>
            <p:cNvGrpSpPr/>
            <p:nvPr/>
          </p:nvGrpSpPr>
          <p:grpSpPr>
            <a:xfrm>
              <a:off x="0" y="0"/>
              <a:ext cx="8458200" cy="1781235"/>
              <a:chOff x="0" y="0"/>
              <a:chExt cx="8458200" cy="1781235"/>
            </a:xfrm>
          </p:grpSpPr>
          <p:sp>
            <p:nvSpPr>
              <p:cNvPr id="453" name="Google Shape;453;p50"/>
              <p:cNvSpPr/>
              <p:nvPr/>
            </p:nvSpPr>
            <p:spPr>
              <a:xfrm>
                <a:off x="3124200" y="1381125"/>
                <a:ext cx="533400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(simultaneously update for every                        )</a:t>
                </a:r>
                <a:endParaRPr/>
              </a:p>
            </p:txBody>
          </p:sp>
          <p:sp>
            <p:nvSpPr>
              <p:cNvPr id="454" name="Google Shape;454;p50"/>
              <p:cNvSpPr/>
              <p:nvPr/>
            </p:nvSpPr>
            <p:spPr>
              <a:xfrm>
                <a:off x="647700" y="438090"/>
                <a:ext cx="96126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Repeat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50"/>
              <p:cNvSpPr/>
              <p:nvPr/>
            </p:nvSpPr>
            <p:spPr>
              <a:xfrm>
                <a:off x="0" y="0"/>
                <a:ext cx="26670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zh-CN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Gradient descent:</a:t>
                </a:r>
                <a:endParaRPr/>
              </a:p>
            </p:txBody>
          </p:sp>
          <p:pic>
            <p:nvPicPr>
              <p:cNvPr id="456" name="Google Shape;456;p50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066800" y="1426945"/>
                <a:ext cx="109728" cy="3040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7" name="Google Shape;457;p50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1138047" y="901713"/>
                <a:ext cx="3698748" cy="4366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1"/>
          <p:cNvSpPr/>
          <p:nvPr/>
        </p:nvSpPr>
        <p:spPr>
          <a:xfrm>
            <a:off x="3200401" y="4210051"/>
            <a:ext cx="3649663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(simultaneously update             )</a:t>
            </a:r>
            <a:endParaRPr/>
          </a:p>
        </p:txBody>
      </p:sp>
      <p:sp>
        <p:nvSpPr>
          <p:cNvPr id="463" name="Google Shape;463;p51"/>
          <p:cNvSpPr/>
          <p:nvPr/>
        </p:nvSpPr>
        <p:spPr>
          <a:xfrm>
            <a:off x="1631950" y="836613"/>
            <a:ext cx="3589338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Gradient Descent</a:t>
            </a:r>
            <a:endParaRPr/>
          </a:p>
        </p:txBody>
      </p:sp>
      <p:sp>
        <p:nvSpPr>
          <p:cNvPr id="464" name="Google Shape;464;p51"/>
          <p:cNvSpPr/>
          <p:nvPr/>
        </p:nvSpPr>
        <p:spPr>
          <a:xfrm>
            <a:off x="1774825" y="1741488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1"/>
          <p:cNvSpPr/>
          <p:nvPr/>
        </p:nvSpPr>
        <p:spPr>
          <a:xfrm>
            <a:off x="1774825" y="1341438"/>
            <a:ext cx="3581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Previously (n=1):</a:t>
            </a:r>
            <a:endParaRPr/>
          </a:p>
        </p:txBody>
      </p:sp>
      <p:pic>
        <p:nvPicPr>
          <p:cNvPr id="466" name="Google Shape;46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1551" y="2163764"/>
            <a:ext cx="3355975" cy="623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3200" y="4311651"/>
            <a:ext cx="484188" cy="20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6375" y="1838326"/>
            <a:ext cx="109538" cy="30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8501" y="4725988"/>
            <a:ext cx="111125" cy="3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49489" y="3492500"/>
            <a:ext cx="3697287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79876" y="3070225"/>
            <a:ext cx="727075" cy="3063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1"/>
          <p:cNvSpPr/>
          <p:nvPr/>
        </p:nvSpPr>
        <p:spPr>
          <a:xfrm rot="5400000">
            <a:off x="4461669" y="1913732"/>
            <a:ext cx="134938" cy="2060575"/>
          </a:xfrm>
          <a:prstGeom prst="rightBrace">
            <a:avLst>
              <a:gd fmla="val 47791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51"/>
          <p:cNvCxnSpPr/>
          <p:nvPr/>
        </p:nvCxnSpPr>
        <p:spPr>
          <a:xfrm>
            <a:off x="6013450" y="763588"/>
            <a:ext cx="0" cy="487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51"/>
          <p:cNvSpPr/>
          <p:nvPr/>
        </p:nvSpPr>
        <p:spPr>
          <a:xfrm>
            <a:off x="6165850" y="687388"/>
            <a:ext cx="35814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algorithm               :</a:t>
            </a:r>
            <a:endParaRPr/>
          </a:p>
        </p:txBody>
      </p:sp>
      <p:pic>
        <p:nvPicPr>
          <p:cNvPr id="475" name="Google Shape;475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6550" y="771525"/>
            <a:ext cx="687388" cy="23018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51"/>
          <p:cNvSpPr/>
          <p:nvPr/>
        </p:nvSpPr>
        <p:spPr>
          <a:xfrm>
            <a:off x="6156325" y="1068388"/>
            <a:ext cx="266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5014" y="1146175"/>
            <a:ext cx="109537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4450" y="2843213"/>
            <a:ext cx="109538" cy="30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5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46851" y="1638301"/>
            <a:ext cx="3686175" cy="625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1"/>
          <p:cNvSpPr/>
          <p:nvPr/>
        </p:nvSpPr>
        <p:spPr>
          <a:xfrm>
            <a:off x="7585075" y="2311400"/>
            <a:ext cx="2749550" cy="585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(simultaneously update        for     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)</a:t>
            </a:r>
            <a:endParaRPr/>
          </a:p>
        </p:txBody>
      </p:sp>
      <p:pic>
        <p:nvPicPr>
          <p:cNvPr id="481" name="Google Shape;481;p5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7401" y="2409825"/>
            <a:ext cx="1682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96200" y="2708275"/>
            <a:ext cx="1035050" cy="17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51"/>
          <p:cNvCxnSpPr/>
          <p:nvPr/>
        </p:nvCxnSpPr>
        <p:spPr>
          <a:xfrm rot="10800000">
            <a:off x="6203950" y="3270250"/>
            <a:ext cx="3962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84" name="Google Shape;484;p5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426201" y="3354389"/>
            <a:ext cx="3660775" cy="623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424614" y="4102100"/>
            <a:ext cx="3660775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424614" y="4787900"/>
            <a:ext cx="3660775" cy="623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392863" y="5530851"/>
            <a:ext cx="188912" cy="2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p52"/>
          <p:cNvGraphicFramePr/>
          <p:nvPr/>
        </p:nvGraphicFramePr>
        <p:xfrm>
          <a:off x="2366963" y="130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{EB136760-D83E-4E72-95F1-F1C7CFD54FC8}</a:tableStyleId>
              </a:tblPr>
              <a:tblGrid>
                <a:gridCol w="1143000"/>
                <a:gridCol w="1143000"/>
                <a:gridCol w="1143000"/>
                <a:gridCol w="1143000"/>
                <a:gridCol w="1447800"/>
                <a:gridCol w="1524000"/>
              </a:tblGrid>
              <a:tr h="80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(feet</a:t>
                      </a:r>
                      <a:r>
                        <a:rPr b="1" baseline="30000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bedrooms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floors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of home (years)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($1000)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2104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1416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178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3" name="Google Shape;493;p52"/>
          <p:cNvGraphicFramePr/>
          <p:nvPr/>
        </p:nvGraphicFramePr>
        <p:xfrm>
          <a:off x="3519488" y="130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{EB136760-D83E-4E72-95F1-F1C7CFD54FC8}</a:tableStyleId>
              </a:tblPr>
              <a:tblGrid>
                <a:gridCol w="1143000"/>
                <a:gridCol w="1143000"/>
                <a:gridCol w="1143000"/>
                <a:gridCol w="1447800"/>
                <a:gridCol w="1524000"/>
              </a:tblGrid>
              <a:tr h="80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(feet</a:t>
                      </a:r>
                      <a:r>
                        <a:rPr b="1" baseline="30000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bedrooms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floors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of home (years)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($1000)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2104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1416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852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178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94" name="Google Shape;494;p52"/>
          <p:cNvSpPr/>
          <p:nvPr/>
        </p:nvSpPr>
        <p:spPr>
          <a:xfrm>
            <a:off x="1992313" y="692151"/>
            <a:ext cx="77724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Examples: </a:t>
            </a:r>
            <a:endParaRPr/>
          </a:p>
        </p:txBody>
      </p:sp>
      <p:pic>
        <p:nvPicPr>
          <p:cNvPr id="495" name="Google Shape;49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3051" y="1911351"/>
            <a:ext cx="231775" cy="1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3039" y="1911351"/>
            <a:ext cx="223837" cy="15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1911351"/>
            <a:ext cx="228600" cy="15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401" y="1911351"/>
            <a:ext cx="231775" cy="15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83675" y="1908176"/>
            <a:ext cx="120650" cy="16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56500" y="1908176"/>
            <a:ext cx="234950" cy="15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73450" y="838201"/>
            <a:ext cx="730250" cy="17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473451" y="3462339"/>
            <a:ext cx="2970213" cy="121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707314" y="3492500"/>
            <a:ext cx="1101725" cy="1214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5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73451" y="4981575"/>
            <a:ext cx="2055813" cy="274638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2"/>
          <p:cNvSpPr txBox="1"/>
          <p:nvPr/>
        </p:nvSpPr>
        <p:spPr>
          <a:xfrm>
            <a:off x="5953125" y="4941888"/>
            <a:ext cx="23156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simultaneously update</a:t>
            </a:r>
            <a:endParaRPr/>
          </a:p>
        </p:txBody>
      </p:sp>
      <p:pic>
        <p:nvPicPr>
          <p:cNvPr id="506" name="Google Shape;506;p5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432176" y="5589589"/>
            <a:ext cx="3686175" cy="625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7" name="Google Shape;507;p52"/>
          <p:cNvGraphicFramePr/>
          <p:nvPr/>
        </p:nvGraphicFramePr>
        <p:xfrm>
          <a:off x="3519488" y="1317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{EB136760-D83E-4E72-95F1-F1C7CFD54FC8}</a:tableStyleId>
              </a:tblPr>
              <a:tblGrid>
                <a:gridCol w="1143000"/>
                <a:gridCol w="1143000"/>
                <a:gridCol w="1143000"/>
                <a:gridCol w="1447800"/>
                <a:gridCol w="1524000"/>
              </a:tblGrid>
              <a:tr h="800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(feet</a:t>
                      </a:r>
                      <a:r>
                        <a:rPr b="1" baseline="30000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bedrooms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floors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of home (years)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1" i="0" lang="zh-CN" sz="16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($1000)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t/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2104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460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1416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315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852</a:t>
                      </a:r>
                      <a:endParaRPr/>
                    </a:p>
                  </a:txBody>
                  <a:tcPr marT="7625" marB="0" marR="7625" marL="76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zh-CN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178</a:t>
                      </a:r>
                      <a:endParaRPr/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508" name="Google Shape;50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3051" y="1927225"/>
            <a:ext cx="231775" cy="153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069" y="205919"/>
            <a:ext cx="8530017" cy="6306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344" y="192033"/>
            <a:ext cx="8560970" cy="6161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585" y="391527"/>
            <a:ext cx="11397547" cy="524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908" y="480874"/>
            <a:ext cx="9018799" cy="584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0474" y="264753"/>
            <a:ext cx="8655269" cy="6342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321" y="363076"/>
            <a:ext cx="8927279" cy="6224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3962" y="363685"/>
            <a:ext cx="9375695" cy="5979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715" y="390789"/>
            <a:ext cx="9986999" cy="604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4769" y="303093"/>
            <a:ext cx="8644516" cy="627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170" y="126367"/>
            <a:ext cx="8557430" cy="6413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5727" y="273436"/>
            <a:ext cx="8617102" cy="6294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721" y="191553"/>
            <a:ext cx="8676908" cy="649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" name="Google Shape;57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627" y="263605"/>
            <a:ext cx="9288344" cy="6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oogle Shape;57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614" y="279693"/>
            <a:ext cx="8751271" cy="6158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