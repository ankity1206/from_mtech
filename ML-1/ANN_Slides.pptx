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4" r:id="rId3"/>
    <p:sldMasterId id="2147483680" r:id="rId4"/>
    <p:sldMasterId id="2147483714" r:id="rId5"/>
  </p:sldMasterIdLst>
  <p:notesMasterIdLst>
    <p:notesMasterId r:id="rId131"/>
  </p:notesMasterIdLst>
  <p:sldIdLst>
    <p:sldId id="476" r:id="rId6"/>
    <p:sldId id="662" r:id="rId7"/>
    <p:sldId id="663" r:id="rId8"/>
    <p:sldId id="664" r:id="rId9"/>
    <p:sldId id="666" r:id="rId10"/>
    <p:sldId id="667" r:id="rId11"/>
    <p:sldId id="665" r:id="rId12"/>
    <p:sldId id="596" r:id="rId13"/>
    <p:sldId id="478" r:id="rId14"/>
    <p:sldId id="479" r:id="rId15"/>
    <p:sldId id="480" r:id="rId16"/>
    <p:sldId id="614" r:id="rId17"/>
    <p:sldId id="481" r:id="rId18"/>
    <p:sldId id="482" r:id="rId19"/>
    <p:sldId id="483" r:id="rId20"/>
    <p:sldId id="484" r:id="rId21"/>
    <p:sldId id="485" r:id="rId22"/>
    <p:sldId id="486" r:id="rId23"/>
    <p:sldId id="487" r:id="rId24"/>
    <p:sldId id="488" r:id="rId25"/>
    <p:sldId id="489" r:id="rId26"/>
    <p:sldId id="490" r:id="rId27"/>
    <p:sldId id="491" r:id="rId28"/>
    <p:sldId id="492" r:id="rId29"/>
    <p:sldId id="493" r:id="rId30"/>
    <p:sldId id="494" r:id="rId31"/>
    <p:sldId id="495" r:id="rId32"/>
    <p:sldId id="496" r:id="rId33"/>
    <p:sldId id="497" r:id="rId34"/>
    <p:sldId id="498" r:id="rId35"/>
    <p:sldId id="499" r:id="rId36"/>
    <p:sldId id="500" r:id="rId37"/>
    <p:sldId id="597" r:id="rId38"/>
    <p:sldId id="502" r:id="rId39"/>
    <p:sldId id="503" r:id="rId40"/>
    <p:sldId id="504" r:id="rId41"/>
    <p:sldId id="505" r:id="rId42"/>
    <p:sldId id="506" r:id="rId43"/>
    <p:sldId id="507" r:id="rId44"/>
    <p:sldId id="508" r:id="rId45"/>
    <p:sldId id="509" r:id="rId46"/>
    <p:sldId id="510" r:id="rId47"/>
    <p:sldId id="511" r:id="rId48"/>
    <p:sldId id="512" r:id="rId49"/>
    <p:sldId id="513" r:id="rId50"/>
    <p:sldId id="514" r:id="rId51"/>
    <p:sldId id="515" r:id="rId52"/>
    <p:sldId id="516" r:id="rId53"/>
    <p:sldId id="517" r:id="rId54"/>
    <p:sldId id="518" r:id="rId55"/>
    <p:sldId id="519" r:id="rId56"/>
    <p:sldId id="520" r:id="rId57"/>
    <p:sldId id="598" r:id="rId58"/>
    <p:sldId id="522" r:id="rId59"/>
    <p:sldId id="599" r:id="rId60"/>
    <p:sldId id="523" r:id="rId61"/>
    <p:sldId id="524" r:id="rId62"/>
    <p:sldId id="525" r:id="rId63"/>
    <p:sldId id="526" r:id="rId64"/>
    <p:sldId id="527" r:id="rId65"/>
    <p:sldId id="528" r:id="rId66"/>
    <p:sldId id="529" r:id="rId67"/>
    <p:sldId id="530" r:id="rId68"/>
    <p:sldId id="531" r:id="rId69"/>
    <p:sldId id="532" r:id="rId70"/>
    <p:sldId id="533" r:id="rId71"/>
    <p:sldId id="534" r:id="rId72"/>
    <p:sldId id="535" r:id="rId73"/>
    <p:sldId id="536" r:id="rId74"/>
    <p:sldId id="537" r:id="rId75"/>
    <p:sldId id="538" r:id="rId76"/>
    <p:sldId id="540" r:id="rId77"/>
    <p:sldId id="600" r:id="rId78"/>
    <p:sldId id="542" r:id="rId79"/>
    <p:sldId id="543" r:id="rId80"/>
    <p:sldId id="544" r:id="rId81"/>
    <p:sldId id="545" r:id="rId82"/>
    <p:sldId id="546" r:id="rId83"/>
    <p:sldId id="547" r:id="rId84"/>
    <p:sldId id="601" r:id="rId85"/>
    <p:sldId id="549" r:id="rId86"/>
    <p:sldId id="550" r:id="rId87"/>
    <p:sldId id="551" r:id="rId88"/>
    <p:sldId id="552" r:id="rId89"/>
    <p:sldId id="553" r:id="rId90"/>
    <p:sldId id="554" r:id="rId91"/>
    <p:sldId id="555" r:id="rId92"/>
    <p:sldId id="556" r:id="rId93"/>
    <p:sldId id="557" r:id="rId94"/>
    <p:sldId id="558" r:id="rId95"/>
    <p:sldId id="559" r:id="rId96"/>
    <p:sldId id="560" r:id="rId97"/>
    <p:sldId id="561" r:id="rId98"/>
    <p:sldId id="562" r:id="rId99"/>
    <p:sldId id="563" r:id="rId100"/>
    <p:sldId id="564" r:id="rId101"/>
    <p:sldId id="565" r:id="rId102"/>
    <p:sldId id="566" r:id="rId103"/>
    <p:sldId id="567" r:id="rId104"/>
    <p:sldId id="568" r:id="rId105"/>
    <p:sldId id="569" r:id="rId106"/>
    <p:sldId id="570" r:id="rId107"/>
    <p:sldId id="571" r:id="rId108"/>
    <p:sldId id="572" r:id="rId109"/>
    <p:sldId id="573" r:id="rId110"/>
    <p:sldId id="574" r:id="rId111"/>
    <p:sldId id="575" r:id="rId112"/>
    <p:sldId id="576" r:id="rId113"/>
    <p:sldId id="577" r:id="rId114"/>
    <p:sldId id="578" r:id="rId115"/>
    <p:sldId id="579" r:id="rId116"/>
    <p:sldId id="580" r:id="rId117"/>
    <p:sldId id="581" r:id="rId118"/>
    <p:sldId id="582" r:id="rId119"/>
    <p:sldId id="583" r:id="rId120"/>
    <p:sldId id="584" r:id="rId121"/>
    <p:sldId id="585" r:id="rId122"/>
    <p:sldId id="586" r:id="rId123"/>
    <p:sldId id="603" r:id="rId124"/>
    <p:sldId id="587" r:id="rId125"/>
    <p:sldId id="588" r:id="rId126"/>
    <p:sldId id="589" r:id="rId127"/>
    <p:sldId id="590" r:id="rId128"/>
    <p:sldId id="591" r:id="rId129"/>
    <p:sldId id="459" r:id="rId130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234" y="67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28" Type="http://schemas.openxmlformats.org/officeDocument/2006/relationships/slide" Target="slides/slide123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slide" Target="slides/slide113.xml"/><Relationship Id="rId134" Type="http://schemas.openxmlformats.org/officeDocument/2006/relationships/theme" Target="theme/theme1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124" Type="http://schemas.openxmlformats.org/officeDocument/2006/relationships/slide" Target="slides/slide119.xml"/><Relationship Id="rId129" Type="http://schemas.openxmlformats.org/officeDocument/2006/relationships/slide" Target="slides/slide124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130" Type="http://schemas.openxmlformats.org/officeDocument/2006/relationships/slide" Target="slides/slide125.xml"/><Relationship Id="rId135" Type="http://schemas.openxmlformats.org/officeDocument/2006/relationships/tableStyles" Target="tableStyles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131" Type="http://schemas.openxmlformats.org/officeDocument/2006/relationships/notesMaster" Target="notesMasters/notesMaster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presProps" Target="presProps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202546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867" tIns="44934" rIns="89867" bIns="44934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852" y="8685862"/>
            <a:ext cx="2971593" cy="456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867" tIns="44934" rIns="89867" bIns="44934"/>
          <a:lstStyle>
            <a:lvl1pPr defTabSz="914274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0171" indent="-280835" defTabSz="914274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23340" indent="-224668" defTabSz="914274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72677" indent="-224668" defTabSz="914274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22013" indent="-224668" defTabSz="914274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71349" indent="-224668" defTabSz="914274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20685" indent="-224668" defTabSz="914274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70021" indent="-224668" defTabSz="914274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9357" indent="-224668" defTabSz="914274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E82ACF3-DB52-404F-84EA-BFC6333A4B2E}" type="slidenum">
              <a:rPr lang="en-US" altLang="en-US" sz="1300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en-US" sz="1300" dirty="0">
              <a:solidFill>
                <a:srgbClr val="00000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499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867" tIns="44934" rIns="89867" bIns="44934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852" y="8685862"/>
            <a:ext cx="2971593" cy="456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867" tIns="44934" rIns="89867" bIns="44934"/>
          <a:lstStyle>
            <a:lvl1pPr defTabSz="914274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0171" indent="-280835" defTabSz="914274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23340" indent="-224668" defTabSz="914274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72677" indent="-224668" defTabSz="914274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22013" indent="-224668" defTabSz="914274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71349" indent="-224668" defTabSz="914274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20685" indent="-224668" defTabSz="914274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70021" indent="-224668" defTabSz="914274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9357" indent="-224668" defTabSz="914274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ACE4347-619D-4D39-877E-626A45E15305}" type="slidenum">
              <a:rPr lang="en-US" altLang="en-US" sz="1300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 sz="1300" dirty="0">
              <a:solidFill>
                <a:srgbClr val="00000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6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6" name="Shape 14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\{ x_i, y_i \}</a:t>
            </a:r>
          </a:p>
          <a:p>
            <a:r>
              <a:t>y = f(x; \theta)</a:t>
            </a:r>
          </a:p>
          <a:p>
            <a:r>
              <a:t>\theta = \{ f,w,b \}</a:t>
            </a:r>
          </a:p>
          <a:p>
            <a:r>
              <a:t>y = f_{\textrm{PER}}(x; w)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3577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7" name="Shape 18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t>\{ (x_1,y_1), (x_2,y_2), \ldots, (x_N,y_N) \} </a:t>
            </a:r>
          </a:p>
        </p:txBody>
      </p:sp>
    </p:spTree>
    <p:extLst>
      <p:ext uri="{BB962C8B-B14F-4D97-AF65-F5344CB8AC3E}">
        <p14:creationId xmlns:p14="http://schemas.microsoft.com/office/powerpoint/2010/main" val="3271091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0" name="Shape 20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t>\{ (x_1,y_1), (x_2,y_2), \ldots, (x_N,y_N) \} </a:t>
            </a:r>
          </a:p>
        </p:txBody>
      </p:sp>
    </p:spTree>
    <p:extLst>
      <p:ext uri="{BB962C8B-B14F-4D97-AF65-F5344CB8AC3E}">
        <p14:creationId xmlns:p14="http://schemas.microsoft.com/office/powerpoint/2010/main" val="3460259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3" name="Shape 22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t>\{ (x_1,y_1), (x_2,y_2), \ldots, (x_N,y_N) \} </a:t>
            </a:r>
          </a:p>
        </p:txBody>
      </p:sp>
    </p:spTree>
    <p:extLst>
      <p:ext uri="{BB962C8B-B14F-4D97-AF65-F5344CB8AC3E}">
        <p14:creationId xmlns:p14="http://schemas.microsoft.com/office/powerpoint/2010/main" val="945162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9" name="Shape 24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t>\{ (x_1,y_1), (x_2,y_2), \ldots, (x_N,y_N) \} </a:t>
            </a:r>
          </a:p>
        </p:txBody>
      </p:sp>
    </p:spTree>
    <p:extLst>
      <p:ext uri="{BB962C8B-B14F-4D97-AF65-F5344CB8AC3E}">
        <p14:creationId xmlns:p14="http://schemas.microsoft.com/office/powerpoint/2010/main" val="3724104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5" name="Shape 25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\ell = (\hat{y}-y)^2</a:t>
            </a:r>
          </a:p>
          <a:p>
            <a:r>
              <a:t>\ell(\hat{y},y) = (\hat{y}-y)^2</a:t>
            </a:r>
          </a:p>
        </p:txBody>
      </p:sp>
    </p:spTree>
    <p:extLst>
      <p:ext uri="{BB962C8B-B14F-4D97-AF65-F5344CB8AC3E}">
        <p14:creationId xmlns:p14="http://schemas.microsoft.com/office/powerpoint/2010/main" val="204775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6" name="Shape 27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\ell(\hat{y},y) = | \hat{y}-y |</a:t>
            </a:r>
          </a:p>
          <a:p>
            <a:r>
              <a:t>\ell(\hat{y},y) = \vec{1}[\hat{y}=y]</a:t>
            </a:r>
          </a:p>
          <a:p>
            <a:r>
              <a:t>\ell(\hat{y},y) = \max(0, 1-y\cdot\hat{y})</a:t>
            </a:r>
          </a:p>
        </p:txBody>
      </p:sp>
    </p:spTree>
    <p:extLst>
      <p:ext uri="{BB962C8B-B14F-4D97-AF65-F5344CB8AC3E}">
        <p14:creationId xmlns:p14="http://schemas.microsoft.com/office/powerpoint/2010/main" val="1458567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3" name="Shape 30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\{ x_i, y_i \}</a:t>
            </a:r>
          </a:p>
          <a:p>
            <a:r>
              <a:t>y = f(x; \theta)</a:t>
            </a:r>
          </a:p>
          <a:p>
            <a:r>
              <a:t>\theta = \{ f,w,b \}</a:t>
            </a:r>
          </a:p>
          <a:p>
            <a:r>
              <a:t>y = f_{\textrm{PER}}(x; w)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2149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31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8" name="Shape 31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\{ x_i, y_i \}</a:t>
            </a:r>
          </a:p>
          <a:p>
            <a:r>
              <a:t>y = f(x; \theta)</a:t>
            </a:r>
          </a:p>
          <a:p>
            <a:r>
              <a:t>\theta = \{ f,w,b \}</a:t>
            </a:r>
          </a:p>
          <a:p>
            <a:r>
              <a:t>y = f_{\textrm{PER}}(x; w)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7012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1" name="Shape 34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t>\{ (x_1,y_1), (x_2,y_2), \ldots, (x_N,y_N) \} </a:t>
            </a:r>
          </a:p>
        </p:txBody>
      </p:sp>
    </p:spTree>
    <p:extLst>
      <p:ext uri="{BB962C8B-B14F-4D97-AF65-F5344CB8AC3E}">
        <p14:creationId xmlns:p14="http://schemas.microsoft.com/office/powerpoint/2010/main" val="1630642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34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6" name="Shape 34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sz="1200"/>
            </a:pPr>
            <a:r>
              <a:t>&amp;\textrm{for} ~~ n = 1 \ldots N \\</a:t>
            </a:r>
          </a:p>
          <a:p>
            <a:pPr>
              <a:lnSpc>
                <a:spcPct val="100000"/>
              </a:lnSpc>
              <a:defRPr sz="1200"/>
            </a:pPr>
            <a:r>
              <a:t>&amp;~~~~~ w = w - (y_n - \hat{y}) x_i;</a:t>
            </a:r>
          </a:p>
        </p:txBody>
      </p:sp>
    </p:spTree>
    <p:extLst>
      <p:ext uri="{BB962C8B-B14F-4D97-AF65-F5344CB8AC3E}">
        <p14:creationId xmlns:p14="http://schemas.microsoft.com/office/powerpoint/2010/main" val="2305655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36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1" name="Shape 3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sz="1200"/>
            </a:pPr>
            <a:r>
              <a:t>&amp;\textrm{for} ~~ n = 1 \ldots N \\</a:t>
            </a:r>
          </a:p>
          <a:p>
            <a:pPr>
              <a:lnSpc>
                <a:spcPct val="100000"/>
              </a:lnSpc>
              <a:defRPr sz="1200"/>
            </a:pPr>
            <a:r>
              <a:t>&amp;~~~~~ w = w - (y_n - \hat{y}) x_i;</a:t>
            </a:r>
          </a:p>
        </p:txBody>
      </p:sp>
    </p:spTree>
    <p:extLst>
      <p:ext uri="{BB962C8B-B14F-4D97-AF65-F5344CB8AC3E}">
        <p14:creationId xmlns:p14="http://schemas.microsoft.com/office/powerpoint/2010/main" val="4214653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\frac{\partial f(\vec{x})}{\partial \vec{x}} = </a:t>
            </a:r>
          </a:p>
          <a:p>
            <a:pPr>
              <a:defRPr sz="1200"/>
            </a:pPr>
            <a:r>
              <a:t>\bigg [</a:t>
            </a:r>
          </a:p>
          <a:p>
            <a:pPr>
              <a:defRPr sz="1200"/>
            </a:pPr>
            <a:r>
              <a:t>\frac{\partial f(\vec{x})}{\partial x}, \frac{\partial f(\vec{x})}{\partial y}</a:t>
            </a:r>
          </a:p>
          <a:p>
            <a:pPr>
              <a:defRPr sz="1200"/>
            </a:pPr>
            <a:r>
              <a:t>\bigg]</a:t>
            </a:r>
          </a:p>
        </p:txBody>
      </p:sp>
    </p:spTree>
    <p:extLst>
      <p:ext uri="{BB962C8B-B14F-4D97-AF65-F5344CB8AC3E}">
        <p14:creationId xmlns:p14="http://schemas.microsoft.com/office/powerpoint/2010/main" val="10926387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sz="1200"/>
            </a:pPr>
            <a:r>
              <a:t>&amp;\textrm{for} ~~ n = 1 \ldots N \\</a:t>
            </a:r>
          </a:p>
          <a:p>
            <a:pPr>
              <a:lnSpc>
                <a:spcPct val="100000"/>
              </a:lnSpc>
              <a:defRPr sz="1200"/>
            </a:pPr>
            <a:r>
              <a:t>&amp;~~~~~ w = w + (y_n - \hat{y}) x_i;</a:t>
            </a:r>
          </a:p>
        </p:txBody>
      </p:sp>
    </p:spTree>
    <p:extLst>
      <p:ext uri="{BB962C8B-B14F-4D97-AF65-F5344CB8AC3E}">
        <p14:creationId xmlns:p14="http://schemas.microsoft.com/office/powerpoint/2010/main" val="18470092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4" name="Shape 1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    \frac{d \mathcal{L}}{d w} </a:t>
            </a:r>
          </a:p>
          <a:p>
            <a:pPr>
              <a:defRPr sz="1200"/>
            </a:pPr>
            <a:r>
              <a:t>    &amp;=</a:t>
            </a:r>
          </a:p>
          <a:p>
            <a:pPr>
              <a:defRPr sz="1200"/>
            </a:pPr>
            <a:r>
              <a:t>    \frac{d}{d w} </a:t>
            </a:r>
          </a:p>
          <a:p>
            <a:pPr>
              <a:defRPr sz="1200"/>
            </a:pPr>
            <a:r>
              <a:t>    \bigg\{ </a:t>
            </a:r>
          </a:p>
          <a:p>
            <a:pPr>
              <a:defRPr sz="1200"/>
            </a:pPr>
            <a:r>
              <a:t>    \frac{1}{2} (y - \hat{y})^2</a:t>
            </a:r>
          </a:p>
          <a:p>
            <a:pPr>
              <a:defRPr sz="1200"/>
            </a:pPr>
            <a:r>
              <a:t>    \bigg\}</a:t>
            </a:r>
          </a:p>
          <a:p>
            <a:pPr>
              <a:defRPr sz="1200"/>
            </a:pPr>
            <a:r>
              <a:t>    \\</a:t>
            </a:r>
          </a:p>
          <a:p>
            <a:pPr>
              <a:defRPr sz="1200"/>
            </a:pPr>
            <a:r>
              <a:t>    &amp;= - (y - \hat{y}) \frac{d w x}{d w}\\</a:t>
            </a:r>
          </a:p>
          <a:p>
            <a:pPr>
              <a:defRPr sz="1200"/>
            </a:pPr>
            <a:r>
              <a:t>    &amp;= - (y - \hat{y}) x = \nabla w</a:t>
            </a:r>
          </a:p>
          <a:p>
            <a:pPr>
              <a:defRPr sz="1200"/>
            </a:pPr>
            <a:endParaRPr/>
          </a:p>
          <a:p>
            <a:pPr>
              <a:defRPr sz="1200"/>
            </a:pPr>
            <a:endParaRPr/>
          </a:p>
          <a:p>
            <a:pPr>
              <a:defRPr sz="1200"/>
            </a:pPr>
            <a:r>
              <a:t>w &amp;= w - \nabla w \\</a:t>
            </a:r>
          </a:p>
          <a:p>
            <a:pPr>
              <a:defRPr sz="1200"/>
            </a:pPr>
            <a:r>
              <a:t>&amp;= w + (y - \hat{y}) x</a:t>
            </a:r>
          </a:p>
          <a:p>
            <a:pPr>
              <a:defRPr sz="1200"/>
            </a:pPr>
            <a:endParaRPr/>
          </a:p>
          <a:p>
            <a:pPr>
              <a:defRPr sz="12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32422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3" name="Shape 1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\hat{y} = f_{\textrm{MLP}}(x_i; \theta)</a:t>
            </a:r>
          </a:p>
          <a:p>
            <a:pPr>
              <a:defRPr sz="1200"/>
            </a:pPr>
            <a:r>
              <a:t>\mathcal{L}_i = \frac{1}{2}( y_i - \hat{y})^2</a:t>
            </a:r>
          </a:p>
          <a:p>
            <a:pPr>
              <a:defRPr sz="1200"/>
            </a:pPr>
            <a:r>
              <a:t>\theta \leftarrow \theta +\eta \frac{\partial \mathcal{L}}{\partial \theta}</a:t>
            </a:r>
          </a:p>
          <a:p>
            <a:pPr>
              <a:defRPr sz="1200"/>
            </a:pPr>
            <a:endParaRPr/>
          </a:p>
          <a:p>
            <a:pPr>
              <a:defRPr sz="1200"/>
            </a:pPr>
            <a:r>
              <a:t>\frac{d \mathcal{L}_i}{d w} = - (y_i - \hat{y}) x_i = \nabla w </a:t>
            </a:r>
          </a:p>
        </p:txBody>
      </p:sp>
    </p:spTree>
    <p:extLst>
      <p:ext uri="{BB962C8B-B14F-4D97-AF65-F5344CB8AC3E}">
        <p14:creationId xmlns:p14="http://schemas.microsoft.com/office/powerpoint/2010/main" val="35982350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9" name="Shape 20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\hat{y} = f_{\textrm{MLP}}(x_i; \theta)</a:t>
            </a:r>
          </a:p>
          <a:p>
            <a:pPr>
              <a:defRPr sz="1200"/>
            </a:pPr>
            <a:r>
              <a:t>\mathcal{L}_i = \frac{1}{2}( y_i - \hat{y})^2</a:t>
            </a:r>
          </a:p>
          <a:p>
            <a:pPr>
              <a:defRPr sz="1200"/>
            </a:pPr>
            <a:r>
              <a:t>\theta \leftarrow \theta +\eta \frac{\partial \mathcal{L}}{\partial \theta}</a:t>
            </a:r>
          </a:p>
          <a:p>
            <a:pPr>
              <a:defRPr sz="1200"/>
            </a:pPr>
            <a:endParaRPr/>
          </a:p>
          <a:p>
            <a:pPr>
              <a:defRPr sz="1200"/>
            </a:pPr>
            <a:r>
              <a:t>\frac{d \mathcal{L}_i}{d w} = - (y_i - \hat{y}) x_i = \nabla w </a:t>
            </a:r>
          </a:p>
        </p:txBody>
      </p:sp>
    </p:spTree>
    <p:extLst>
      <p:ext uri="{BB962C8B-B14F-4D97-AF65-F5344CB8AC3E}">
        <p14:creationId xmlns:p14="http://schemas.microsoft.com/office/powerpoint/2010/main" val="39022215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8" name="Shape 21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sz="1200"/>
            </a:pPr>
            <a:r>
              <a:t>   \frac{\partial \mathcal{L}}{\partial w_{1}} </a:t>
            </a:r>
          </a:p>
          <a:p>
            <a:pPr>
              <a:lnSpc>
                <a:spcPct val="100000"/>
              </a:lnSpc>
              <a:defRPr sz="1200"/>
            </a:pPr>
            <a:r>
              <a:t>    &amp;=</a:t>
            </a:r>
          </a:p>
          <a:p>
            <a:pPr>
              <a:lnSpc>
                <a:spcPct val="100000"/>
              </a:lnSpc>
              <a:defRPr sz="1200"/>
            </a:pPr>
            <a:r>
              <a:t>    \frac{\partial}{\partial w_{1}} </a:t>
            </a:r>
          </a:p>
          <a:p>
            <a:pPr>
              <a:lnSpc>
                <a:spcPct val="100000"/>
              </a:lnSpc>
              <a:defRPr sz="1200"/>
            </a:pPr>
            <a:r>
              <a:t>    \bigg\{ </a:t>
            </a:r>
          </a:p>
          <a:p>
            <a:pPr>
              <a:lnSpc>
                <a:spcPct val="100000"/>
              </a:lnSpc>
              <a:defRPr sz="1200"/>
            </a:pPr>
            <a:r>
              <a:t>    \frac{1}{2} (y - \hat{y})^2</a:t>
            </a:r>
          </a:p>
          <a:p>
            <a:pPr>
              <a:lnSpc>
                <a:spcPct val="100000"/>
              </a:lnSpc>
              <a:defRPr sz="1200"/>
            </a:pPr>
            <a:r>
              <a:t>    \bigg\}</a:t>
            </a:r>
          </a:p>
          <a:p>
            <a:pPr>
              <a:lnSpc>
                <a:spcPct val="100000"/>
              </a:lnSpc>
              <a:defRPr sz="1200"/>
            </a:pPr>
            <a:r>
              <a:t>    \\</a:t>
            </a:r>
          </a:p>
          <a:p>
            <a:pPr>
              <a:lnSpc>
                <a:spcPct val="100000"/>
              </a:lnSpc>
              <a:defRPr sz="1200"/>
            </a:pPr>
            <a:r>
              <a:t>    &amp;= - (y - \hat{y}) \frac{\partial \hat{y}}{\partial w_{1}}\\</a:t>
            </a:r>
          </a:p>
          <a:p>
            <a:pPr>
              <a:lnSpc>
                <a:spcPct val="100000"/>
              </a:lnSpc>
              <a:defRPr sz="1200"/>
            </a:pPr>
            <a:r>
              <a:t>    &amp;= - (y - \hat{y}) \frac{\partial \sum_{i} w_i x_i}{\partial w_{1}}\\</a:t>
            </a:r>
          </a:p>
          <a:p>
            <a:pPr>
              <a:lnSpc>
                <a:spcPct val="100000"/>
              </a:lnSpc>
              <a:defRPr sz="1200"/>
            </a:pPr>
            <a:r>
              <a:t>    &amp;= - (y - \hat{y}) \frac{\partial w_1 x_1}{\partial w_{1}}\\</a:t>
            </a:r>
          </a:p>
          <a:p>
            <a:pPr>
              <a:lnSpc>
                <a:spcPct val="100000"/>
              </a:lnSpc>
              <a:defRPr sz="1200"/>
            </a:pPr>
            <a:r>
              <a:t>    &amp;= - (y - \hat{y}) x_1 = \nabla w_1</a:t>
            </a:r>
          </a:p>
          <a:p>
            <a:pPr>
              <a:lnSpc>
                <a:spcPct val="100000"/>
              </a:lnSpc>
              <a:defRPr sz="1200"/>
            </a:pPr>
            <a:endParaRPr/>
          </a:p>
          <a:p>
            <a:pPr>
              <a:lnSpc>
                <a:spcPct val="100000"/>
              </a:lnSpc>
              <a:defRPr sz="1200"/>
            </a:pPr>
            <a:r>
              <a:t>w_1 </a:t>
            </a:r>
          </a:p>
          <a:p>
            <a:pPr>
              <a:lnSpc>
                <a:spcPct val="100000"/>
              </a:lnSpc>
              <a:defRPr sz="1200"/>
            </a:pPr>
            <a:r>
              <a:t>&amp;= w_1 - \eta \nabla w_1 \\</a:t>
            </a:r>
          </a:p>
          <a:p>
            <a:pPr>
              <a:lnSpc>
                <a:spcPct val="100000"/>
              </a:lnSpc>
              <a:defRPr sz="1200"/>
            </a:pPr>
            <a:r>
              <a:t>&amp;= w_1 + \eta (y-\hat{y})x_1</a:t>
            </a:r>
          </a:p>
        </p:txBody>
      </p:sp>
    </p:spTree>
    <p:extLst>
      <p:ext uri="{BB962C8B-B14F-4D97-AF65-F5344CB8AC3E}">
        <p14:creationId xmlns:p14="http://schemas.microsoft.com/office/powerpoint/2010/main" val="34559166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1" name="Shape 23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sz="1200"/>
            </a:pPr>
            <a:r>
              <a:t>   \frac{\partial \mathcal{L}}{\partial w_{1}} </a:t>
            </a:r>
          </a:p>
          <a:p>
            <a:pPr>
              <a:lnSpc>
                <a:spcPct val="100000"/>
              </a:lnSpc>
              <a:defRPr sz="1200"/>
            </a:pPr>
            <a:r>
              <a:t>    &amp;=</a:t>
            </a:r>
          </a:p>
          <a:p>
            <a:pPr>
              <a:lnSpc>
                <a:spcPct val="100000"/>
              </a:lnSpc>
              <a:defRPr sz="1200"/>
            </a:pPr>
            <a:r>
              <a:t>    \frac{\partial}{\partial w_{1}} </a:t>
            </a:r>
          </a:p>
          <a:p>
            <a:pPr>
              <a:lnSpc>
                <a:spcPct val="100000"/>
              </a:lnSpc>
              <a:defRPr sz="1200"/>
            </a:pPr>
            <a:r>
              <a:t>    \bigg\{ </a:t>
            </a:r>
          </a:p>
          <a:p>
            <a:pPr>
              <a:lnSpc>
                <a:spcPct val="100000"/>
              </a:lnSpc>
              <a:defRPr sz="1200"/>
            </a:pPr>
            <a:r>
              <a:t>    \frac{1}{2} (y - \hat{y})^2</a:t>
            </a:r>
          </a:p>
          <a:p>
            <a:pPr>
              <a:lnSpc>
                <a:spcPct val="100000"/>
              </a:lnSpc>
              <a:defRPr sz="1200"/>
            </a:pPr>
            <a:r>
              <a:t>    \bigg\}</a:t>
            </a:r>
          </a:p>
          <a:p>
            <a:pPr>
              <a:lnSpc>
                <a:spcPct val="100000"/>
              </a:lnSpc>
              <a:defRPr sz="1200"/>
            </a:pPr>
            <a:r>
              <a:t>    \\</a:t>
            </a:r>
          </a:p>
          <a:p>
            <a:pPr>
              <a:lnSpc>
                <a:spcPct val="100000"/>
              </a:lnSpc>
              <a:defRPr sz="1200"/>
            </a:pPr>
            <a:r>
              <a:t>    &amp;= - (y - \hat{y}) \frac{\partial \hat{y}}{\partial w_{1}}\\</a:t>
            </a:r>
          </a:p>
          <a:p>
            <a:pPr>
              <a:lnSpc>
                <a:spcPct val="100000"/>
              </a:lnSpc>
              <a:defRPr sz="1200"/>
            </a:pPr>
            <a:r>
              <a:t>    &amp;= - (y - \hat{y}) \frac{\partial \sum_{i} w_i x_i}{\partial w_{1}}\\</a:t>
            </a:r>
          </a:p>
          <a:p>
            <a:pPr>
              <a:lnSpc>
                <a:spcPct val="100000"/>
              </a:lnSpc>
              <a:defRPr sz="1200"/>
            </a:pPr>
            <a:r>
              <a:t>    &amp;= - (y - \hat{y}) \frac{\partial w_1 x_1}{\partial w_{1}}\\</a:t>
            </a:r>
          </a:p>
          <a:p>
            <a:pPr>
              <a:lnSpc>
                <a:spcPct val="100000"/>
              </a:lnSpc>
              <a:defRPr sz="1200"/>
            </a:pPr>
            <a:r>
              <a:t>    &amp;= - (y - \hat{y}) x_1 = \nabla w_1</a:t>
            </a:r>
          </a:p>
          <a:p>
            <a:pPr>
              <a:lnSpc>
                <a:spcPct val="100000"/>
              </a:lnSpc>
              <a:defRPr sz="1200"/>
            </a:pPr>
            <a:endParaRPr/>
          </a:p>
          <a:p>
            <a:pPr>
              <a:lnSpc>
                <a:spcPct val="100000"/>
              </a:lnSpc>
              <a:defRPr sz="1200"/>
            </a:pPr>
            <a:r>
              <a:t>w_1 </a:t>
            </a:r>
          </a:p>
          <a:p>
            <a:pPr>
              <a:lnSpc>
                <a:spcPct val="100000"/>
              </a:lnSpc>
              <a:defRPr sz="1200"/>
            </a:pPr>
            <a:r>
              <a:t>&amp;= w_1 - \eta \nabla w_1 \\</a:t>
            </a:r>
          </a:p>
          <a:p>
            <a:pPr>
              <a:lnSpc>
                <a:spcPct val="100000"/>
              </a:lnSpc>
              <a:defRPr sz="1200"/>
            </a:pPr>
            <a:r>
              <a:t>&amp;= w_1 + \eta (y-\hat{y})x_1</a:t>
            </a:r>
          </a:p>
        </p:txBody>
      </p:sp>
    </p:spTree>
    <p:extLst>
      <p:ext uri="{BB962C8B-B14F-4D97-AF65-F5344CB8AC3E}">
        <p14:creationId xmlns:p14="http://schemas.microsoft.com/office/powerpoint/2010/main" val="4196199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9" name="Shape 24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\hat{y} = f_{\textrm{MLP}}(x_i; \theta)</a:t>
            </a:r>
          </a:p>
          <a:p>
            <a:pPr>
              <a:defRPr sz="1200"/>
            </a:pPr>
            <a:r>
              <a:t>\mathcal{L}_i = \frac{1}{2}( y_i - \hat{y})</a:t>
            </a:r>
          </a:p>
          <a:p>
            <a:pPr>
              <a:defRPr sz="1200"/>
            </a:pPr>
            <a:r>
              <a:t>\theta \leftarrow \theta +\eta \frac{\partial \mathcal{L}}{\partial \theta}</a:t>
            </a:r>
          </a:p>
          <a:p>
            <a:pPr>
              <a:defRPr sz="1200"/>
            </a:pPr>
            <a:endParaRPr/>
          </a:p>
          <a:p>
            <a:pPr>
              <a:defRPr sz="1200"/>
            </a:pPr>
            <a:r>
              <a:t>w_{1i} = w_{1i} + \eta (y-\hat{y})x_{1i}\\</a:t>
            </a:r>
          </a:p>
          <a:p>
            <a:pPr>
              <a:defRPr sz="1200"/>
            </a:pPr>
            <a:r>
              <a:t>w_{2i} = w_{2i} + \eta (y-\hat{y})x_{2i}</a:t>
            </a:r>
          </a:p>
          <a:p>
            <a:pPr>
              <a:defRPr sz="1200"/>
            </a:pPr>
            <a:endParaRPr/>
          </a:p>
          <a:p>
            <a:pPr>
              <a:defRPr sz="1200"/>
            </a:pPr>
            <a:r>
              <a:t>\nabla w_{1i} = - (y_i-\hat{y})x_{1i}\\</a:t>
            </a:r>
          </a:p>
          <a:p>
            <a:pPr>
              <a:defRPr sz="1200"/>
            </a:pPr>
            <a:r>
              <a:t>\nabla w_{2i} = - (y_i-\hat{y})x_{2i}</a:t>
            </a:r>
          </a:p>
        </p:txBody>
      </p:sp>
    </p:spTree>
    <p:extLst>
      <p:ext uri="{BB962C8B-B14F-4D97-AF65-F5344CB8AC3E}">
        <p14:creationId xmlns:p14="http://schemas.microsoft.com/office/powerpoint/2010/main" val="22589233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5" name="Shape 3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a_1 &amp;=  w_1 \cdot x + b_1\\</a:t>
            </a:r>
          </a:p>
          <a:p>
            <a:pPr>
              <a:defRPr sz="1200"/>
            </a:pPr>
            <a:r>
              <a:t>a_2 &amp;=  w_2 \cdot f_1 (w_1 \cdot x + b_1)\\</a:t>
            </a:r>
          </a:p>
          <a:p>
            <a:pPr>
              <a:defRPr sz="1200"/>
            </a:pPr>
            <a:r>
              <a:t>a_3 &amp;=  w_3 \cdot f_2 ( w_2 \cdot f_1 (w_1 \cdot x + b_1))\\</a:t>
            </a:r>
          </a:p>
          <a:p>
            <a:pPr>
              <a:defRPr sz="1200"/>
            </a:pPr>
            <a:r>
              <a:t>y   &amp;=  f_3( w_3 \cdot f_2 ( w_2 \cdot f_1 (w_1 \cdot x + b_1)))</a:t>
            </a:r>
          </a:p>
          <a:p>
            <a:pPr>
              <a:defRPr sz="1200"/>
            </a:pPr>
            <a:r>
              <a:t>————————————————</a:t>
            </a:r>
          </a:p>
          <a:p>
            <a:pPr>
              <a:defRPr sz="1200"/>
            </a:pPr>
            <a:r>
              <a:t>\frac{\partial L}{\partial b_1}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b_1}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\frac{\partial L}{\partial w_1}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w_1}</a:t>
            </a:r>
          </a:p>
        </p:txBody>
      </p:sp>
    </p:spTree>
    <p:extLst>
      <p:ext uri="{BB962C8B-B14F-4D97-AF65-F5344CB8AC3E}">
        <p14:creationId xmlns:p14="http://schemas.microsoft.com/office/powerpoint/2010/main" val="10101054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9" name="Shape 35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a_1 &amp;=  w_1 \cdot x + b_1\\</a:t>
            </a:r>
          </a:p>
          <a:p>
            <a:pPr>
              <a:defRPr sz="1200"/>
            </a:pPr>
            <a:r>
              <a:t>a_2 &amp;=  w_2 \cdot f_1 (w_1 \cdot x + b_1)\\</a:t>
            </a:r>
          </a:p>
          <a:p>
            <a:pPr>
              <a:defRPr sz="1200"/>
            </a:pPr>
            <a:r>
              <a:t>a_3 &amp;=  w_3 \cdot f_2 ( w_2 \cdot f_1 (w_1 \cdot x + b_1))\\</a:t>
            </a:r>
          </a:p>
          <a:p>
            <a:pPr>
              <a:defRPr sz="1200"/>
            </a:pPr>
            <a:r>
              <a:t>y   &amp;=  f_3( w_3 \cdot f_2 ( w_2 \cdot f_1 (w_1 \cdot x + b_1)))</a:t>
            </a:r>
          </a:p>
          <a:p>
            <a:pPr>
              <a:defRPr sz="1200"/>
            </a:pPr>
            <a:r>
              <a:t>————————————————</a:t>
            </a:r>
          </a:p>
          <a:p>
            <a:pPr>
              <a:defRPr sz="1200"/>
            </a:pPr>
            <a:r>
              <a:t>\frac{\partial L}{\partial b_1}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b_1}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\frac{\partial L}{\partial w_1}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w_1}</a:t>
            </a:r>
          </a:p>
        </p:txBody>
      </p:sp>
    </p:spTree>
    <p:extLst>
      <p:ext uri="{BB962C8B-B14F-4D97-AF65-F5344CB8AC3E}">
        <p14:creationId xmlns:p14="http://schemas.microsoft.com/office/powerpoint/2010/main" val="37262746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40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4" name="Shape 40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a_1 &amp;=  w_1 \cdot x + b_1\\</a:t>
            </a:r>
          </a:p>
          <a:p>
            <a:pPr>
              <a:defRPr sz="1200"/>
            </a:pPr>
            <a:r>
              <a:t>a_2 &amp;=  w_2 \cdot f_1 (w_1 \cdot x + b_1)\\</a:t>
            </a:r>
          </a:p>
          <a:p>
            <a:pPr>
              <a:defRPr sz="1200"/>
            </a:pPr>
            <a:r>
              <a:t>a_3 &amp;=  w_3 \cdot f_2 ( w_2 \cdot f_1 (w_1 \cdot x + b_1))\\</a:t>
            </a:r>
          </a:p>
          <a:p>
            <a:pPr>
              <a:defRPr sz="1200"/>
            </a:pPr>
            <a:r>
              <a:t>y   &amp;=  f_3( w_3 \cdot f_2 ( w_2 \cdot f_1 (w_1 \cdot x + b_1)))</a:t>
            </a:r>
          </a:p>
          <a:p>
            <a:pPr>
              <a:defRPr sz="1200"/>
            </a:pPr>
            <a:r>
              <a:t>————————————————</a:t>
            </a:r>
          </a:p>
          <a:p>
            <a:pPr>
              <a:defRPr sz="1200"/>
            </a:pPr>
            <a:r>
              <a:t>\frac{\partial L}{\partial b_1}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b_1}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\frac{\partial L}{\partial w_1}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w_1}</a:t>
            </a:r>
          </a:p>
        </p:txBody>
      </p:sp>
    </p:spTree>
    <p:extLst>
      <p:ext uri="{BB962C8B-B14F-4D97-AF65-F5344CB8AC3E}">
        <p14:creationId xmlns:p14="http://schemas.microsoft.com/office/powerpoint/2010/main" val="1612489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44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49" name="Shape 44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a_1 &amp;=  w_1 \cdot x + b_1\\</a:t>
            </a:r>
          </a:p>
          <a:p>
            <a:pPr>
              <a:defRPr sz="1200"/>
            </a:pPr>
            <a:r>
              <a:t>a_2 &amp;=  w_2 \cdot f_1 (w_1 \cdot x + b_1)\\</a:t>
            </a:r>
          </a:p>
          <a:p>
            <a:pPr>
              <a:defRPr sz="1200"/>
            </a:pPr>
            <a:r>
              <a:t>a_3 &amp;=  w_3 \cdot f_2 ( w_2 \cdot f_1 (w_1 \cdot x + b_1))\\</a:t>
            </a:r>
          </a:p>
          <a:p>
            <a:pPr>
              <a:defRPr sz="1200"/>
            </a:pPr>
            <a:r>
              <a:t>y   &amp;=  f_3( w_3 \cdot f_2 ( w_2 \cdot f_1 (w_1 \cdot x + b_1)))</a:t>
            </a:r>
          </a:p>
          <a:p>
            <a:pPr>
              <a:defRPr sz="1200"/>
            </a:pPr>
            <a:r>
              <a:t>————————————————</a:t>
            </a:r>
          </a:p>
          <a:p>
            <a:pPr>
              <a:defRPr sz="1200"/>
            </a:pPr>
            <a:r>
              <a:t>\frac{\partial L}{\partial b_1}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b_1}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\frac{\partial L}{\partial w_1}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w_1}</a:t>
            </a:r>
          </a:p>
        </p:txBody>
      </p:sp>
    </p:spTree>
    <p:extLst>
      <p:ext uri="{BB962C8B-B14F-4D97-AF65-F5344CB8AC3E}">
        <p14:creationId xmlns:p14="http://schemas.microsoft.com/office/powerpoint/2010/main" val="26766320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Shape 49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94" name="Shape 49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a_1 &amp;=  w_1 \cdot x + b_1\\</a:t>
            </a:r>
          </a:p>
          <a:p>
            <a:pPr>
              <a:defRPr sz="1200"/>
            </a:pPr>
            <a:r>
              <a:t>a_2 &amp;=  w_2 \cdot f_1 (w_1 \cdot x + b_1)\\</a:t>
            </a:r>
          </a:p>
          <a:p>
            <a:pPr>
              <a:defRPr sz="1200"/>
            </a:pPr>
            <a:r>
              <a:t>a_3 &amp;=  w_3 \cdot f_2 ( w_2 \cdot f_1 (w_1 \cdot x + b_1))\\</a:t>
            </a:r>
          </a:p>
          <a:p>
            <a:pPr>
              <a:defRPr sz="1200"/>
            </a:pPr>
            <a:r>
              <a:t>y   &amp;=  f_3( w_3 \cdot f_2 ( w_2 \cdot f_1 (w_1 \cdot x + b_1)))</a:t>
            </a:r>
          </a:p>
          <a:p>
            <a:pPr>
              <a:defRPr sz="1200"/>
            </a:pPr>
            <a:r>
              <a:t>————————————————</a:t>
            </a:r>
          </a:p>
          <a:p>
            <a:pPr>
              <a:defRPr sz="1200"/>
            </a:pPr>
            <a:r>
              <a:t>\frac{\partial L}{\partial b_1}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b_1}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\frac{\partial L}{\partial w_1}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w_1}</a:t>
            </a:r>
          </a:p>
        </p:txBody>
      </p:sp>
    </p:spTree>
    <p:extLst>
      <p:ext uri="{BB962C8B-B14F-4D97-AF65-F5344CB8AC3E}">
        <p14:creationId xmlns:p14="http://schemas.microsoft.com/office/powerpoint/2010/main" val="1608840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Shape 53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9" name="Shape 53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a_1 &amp;=  w_1 \cdot x + b_1\\</a:t>
            </a:r>
          </a:p>
          <a:p>
            <a:pPr>
              <a:defRPr sz="1200"/>
            </a:pPr>
            <a:r>
              <a:t>a_2 &amp;=  w_2 \cdot f_1 (w_1 \cdot x + b_1)\\</a:t>
            </a:r>
          </a:p>
          <a:p>
            <a:pPr>
              <a:defRPr sz="1200"/>
            </a:pPr>
            <a:r>
              <a:t>a_3 &amp;=  w_3 \cdot f_2 ( w_2 \cdot f_1 (w_1 \cdot x + b_1))\\</a:t>
            </a:r>
          </a:p>
          <a:p>
            <a:pPr>
              <a:defRPr sz="1200"/>
            </a:pPr>
            <a:r>
              <a:t>y   &amp;=  f_3( w_3 \cdot f_2 ( w_2 \cdot f_1 (w_1 \cdot x + b_1)))</a:t>
            </a:r>
          </a:p>
          <a:p>
            <a:pPr>
              <a:defRPr sz="1200"/>
            </a:pPr>
            <a:r>
              <a:t>————————————————</a:t>
            </a:r>
          </a:p>
          <a:p>
            <a:pPr>
              <a:defRPr sz="1200"/>
            </a:pPr>
            <a:r>
              <a:t>\frac{\partial L}{\partial b_1}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b_1}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\frac{\partial L}{\partial w_1}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w_1}</a:t>
            </a:r>
          </a:p>
        </p:txBody>
      </p:sp>
    </p:spTree>
    <p:extLst>
      <p:ext uri="{BB962C8B-B14F-4D97-AF65-F5344CB8AC3E}">
        <p14:creationId xmlns:p14="http://schemas.microsoft.com/office/powerpoint/2010/main" val="13613511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Shape 58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84" name="Shape 58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a_1 &amp;=  w_1 \cdot x + b_1\\</a:t>
            </a:r>
          </a:p>
          <a:p>
            <a:pPr>
              <a:defRPr sz="1200"/>
            </a:pPr>
            <a:r>
              <a:t>a_2 &amp;=  w_2 \cdot f_1 (w_1 \cdot x + b_1)\\</a:t>
            </a:r>
          </a:p>
          <a:p>
            <a:pPr>
              <a:defRPr sz="1200"/>
            </a:pPr>
            <a:r>
              <a:t>a_3 &amp;=  w_3 \cdot f_2 ( w_2 \cdot f_1 (w_1 \cdot x + b_1))\\</a:t>
            </a:r>
          </a:p>
          <a:p>
            <a:pPr>
              <a:defRPr sz="1200"/>
            </a:pPr>
            <a:r>
              <a:t>y   &amp;=  f_3( w_3 \cdot f_2 ( w_2 \cdot f_1 (w_1 \cdot x + b_1)))</a:t>
            </a:r>
          </a:p>
          <a:p>
            <a:pPr>
              <a:defRPr sz="1200"/>
            </a:pPr>
            <a:r>
              <a:t>————————————————</a:t>
            </a:r>
          </a:p>
          <a:p>
            <a:pPr>
              <a:defRPr sz="1200"/>
            </a:pPr>
            <a:r>
              <a:t>\frac{\partial L}{\partial b_1}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b_1}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\frac{\partial L}{\partial w_1}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w_1}</a:t>
            </a:r>
          </a:p>
        </p:txBody>
      </p:sp>
    </p:spTree>
    <p:extLst>
      <p:ext uri="{BB962C8B-B14F-4D97-AF65-F5344CB8AC3E}">
        <p14:creationId xmlns:p14="http://schemas.microsoft.com/office/powerpoint/2010/main" val="2945662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Shape 62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9" name="Shape 62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a_1 &amp;=  w_1 \cdot x + b_1\\</a:t>
            </a:r>
          </a:p>
          <a:p>
            <a:pPr>
              <a:defRPr sz="1200"/>
            </a:pPr>
            <a:r>
              <a:t>a_2 &amp;=  w_2 \cdot f_1 (w_1 \cdot x + b_1)\\</a:t>
            </a:r>
          </a:p>
          <a:p>
            <a:pPr>
              <a:defRPr sz="1200"/>
            </a:pPr>
            <a:r>
              <a:t>a_3 &amp;=  w_3 \cdot f_2 ( w_2 \cdot f_1 (w_1 \cdot x + b_1))\\</a:t>
            </a:r>
          </a:p>
          <a:p>
            <a:pPr>
              <a:defRPr sz="1200"/>
            </a:pPr>
            <a:r>
              <a:t>y   &amp;=  f_3( w_3 \cdot f_2 ( w_2 \cdot f_1 (w_1 \cdot x + b_1)))</a:t>
            </a:r>
          </a:p>
          <a:p>
            <a:pPr>
              <a:defRPr sz="1200"/>
            </a:pPr>
            <a:r>
              <a:t>————————————————</a:t>
            </a:r>
          </a:p>
          <a:p>
            <a:pPr>
              <a:defRPr sz="1200"/>
            </a:pPr>
            <a:r>
              <a:t>\frac{\partial L}{\partial b_1}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b_1}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\frac{\partial L}{\partial w_1}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w_1}</a:t>
            </a:r>
          </a:p>
        </p:txBody>
      </p:sp>
    </p:spTree>
    <p:extLst>
      <p:ext uri="{BB962C8B-B14F-4D97-AF65-F5344CB8AC3E}">
        <p14:creationId xmlns:p14="http://schemas.microsoft.com/office/powerpoint/2010/main" val="41976199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Shape 67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74" name="Shape 6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a_1 &amp;=  w_1 \cdot x + b_1\\</a:t>
            </a:r>
          </a:p>
          <a:p>
            <a:pPr>
              <a:defRPr sz="1200"/>
            </a:pPr>
            <a:r>
              <a:t>a_2 &amp;=  w_2 \cdot f_1 (w_1 \cdot x + b_1)\\</a:t>
            </a:r>
          </a:p>
          <a:p>
            <a:pPr>
              <a:defRPr sz="1200"/>
            </a:pPr>
            <a:r>
              <a:t>a_3 &amp;=  w_3 \cdot f_2 ( w_2 \cdot f_1 (w_1 \cdot x + b_1))\\</a:t>
            </a:r>
          </a:p>
          <a:p>
            <a:pPr>
              <a:defRPr sz="1200"/>
            </a:pPr>
            <a:r>
              <a:t>y   &amp;=  f_3( w_3 \cdot f_2 ( w_2 \cdot f_1 (w_1 \cdot x + b_1)))</a:t>
            </a:r>
          </a:p>
          <a:p>
            <a:pPr>
              <a:defRPr sz="1200"/>
            </a:pPr>
            <a:r>
              <a:t>————————————————</a:t>
            </a:r>
          </a:p>
          <a:p>
            <a:pPr>
              <a:defRPr sz="1200"/>
            </a:pPr>
            <a:r>
              <a:t>\frac{\partial L}{\partial b_1}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b_1}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\frac{\partial L}{\partial w_1}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f_2} </a:t>
            </a:r>
          </a:p>
          <a:p>
            <a:pPr>
              <a:defRPr sz="1200"/>
            </a:pPr>
            <a:r>
              <a:t>\frac{\partial f_2}{\partial a_2} </a:t>
            </a:r>
          </a:p>
          <a:p>
            <a:pPr>
              <a:defRPr sz="1200"/>
            </a:pPr>
            <a:r>
              <a:t>\frac{\partial a_2}{\partial f_1} </a:t>
            </a:r>
          </a:p>
          <a:p>
            <a:pPr>
              <a:defRPr sz="1200"/>
            </a:pPr>
            <a:r>
              <a:t>\frac{\partial f_1}{\partial a_1} </a:t>
            </a:r>
          </a:p>
          <a:p>
            <a:pPr>
              <a:defRPr sz="1200"/>
            </a:pPr>
            <a:r>
              <a:t>\frac{\partial a_1}{\partial w_1}</a:t>
            </a:r>
          </a:p>
        </p:txBody>
      </p:sp>
    </p:spTree>
    <p:extLst>
      <p:ext uri="{BB962C8B-B14F-4D97-AF65-F5344CB8AC3E}">
        <p14:creationId xmlns:p14="http://schemas.microsoft.com/office/powerpoint/2010/main" val="12402317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Shape 72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29" name="Shape 72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\{ x_i, y_i \}</a:t>
            </a:r>
          </a:p>
          <a:p>
            <a:r>
              <a:t>y = f(x; \theta)</a:t>
            </a:r>
          </a:p>
          <a:p>
            <a:r>
              <a:t>\theta = \{ f,w,b \}</a:t>
            </a:r>
          </a:p>
          <a:p>
            <a:r>
              <a:t>y = f_{\textrm{MLP}}(x; \theta)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07211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Shape 74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41" name="Shape 74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800"/>
            </a:pPr>
            <a:r>
              <a:t>\hat{y} = f_{\textrm{MLP}}(x_i; \theta)</a:t>
            </a:r>
          </a:p>
          <a:p>
            <a:pPr>
              <a:defRPr sz="1800"/>
            </a:pPr>
            <a:r>
              <a:t>\mathcal{L}_i = \frac{1}{2}( y_i - \hat{y})</a:t>
            </a:r>
          </a:p>
          <a:p>
            <a:pPr>
              <a:defRPr sz="1800"/>
            </a:pPr>
            <a:r>
              <a:t>\theta \leftarrow \theta +\eta \frac{\partial \mathcal{L}}{\partial \theta}</a:t>
            </a:r>
          </a:p>
          <a:p>
            <a:pPr>
              <a:defRPr sz="1800"/>
            </a:pPr>
            <a:r>
              <a:t>\theta \leftarrow \theta -\eta \nabla \theta</a:t>
            </a:r>
          </a:p>
        </p:txBody>
      </p:sp>
    </p:spTree>
    <p:extLst>
      <p:ext uri="{BB962C8B-B14F-4D97-AF65-F5344CB8AC3E}">
        <p14:creationId xmlns:p14="http://schemas.microsoft.com/office/powerpoint/2010/main" val="38666386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Shape 74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46" name="Shape 74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sz="1200"/>
            </a:pPr>
            <a:r>
              <a:t>\frac{\partial \mathcal{L}}{\partial \vec{\theta}}</a:t>
            </a:r>
          </a:p>
          <a:p>
            <a:pPr>
              <a:lnSpc>
                <a:spcPct val="100000"/>
              </a:lnSpc>
              <a:defRPr sz="1200"/>
            </a:pPr>
            <a:r>
              <a:t>=</a:t>
            </a:r>
          </a:p>
          <a:p>
            <a:pPr>
              <a:lnSpc>
                <a:spcPct val="100000"/>
              </a:lnSpc>
              <a:defRPr sz="1200"/>
            </a:pPr>
            <a:r>
              <a:t>\bigg[</a:t>
            </a:r>
          </a:p>
          <a:p>
            <a:pPr>
              <a:lnSpc>
                <a:spcPct val="100000"/>
              </a:lnSpc>
              <a:defRPr sz="1200"/>
            </a:pPr>
            <a:r>
              <a:t>\frac{\partial \mathcal{L}}{\partial w_3}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\mathcal{L}}{\partial w_2}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\mathcal{L}}{\partial w_1}</a:t>
            </a:r>
          </a:p>
          <a:p>
            <a:pPr>
              <a:lnSpc>
                <a:spcPct val="100000"/>
              </a:lnSpc>
              <a:defRPr sz="1200"/>
            </a:pPr>
            <a:r>
              <a:t>\frac{\partial \mathcal{L}}{\partial b}</a:t>
            </a:r>
          </a:p>
          <a:p>
            <a:pPr>
              <a:lnSpc>
                <a:spcPct val="100000"/>
              </a:lnSpc>
              <a:defRPr sz="1200"/>
            </a:pPr>
            <a:r>
              <a:t>\bigg]</a:t>
            </a:r>
          </a:p>
        </p:txBody>
      </p:sp>
    </p:spTree>
    <p:extLst>
      <p:ext uri="{BB962C8B-B14F-4D97-AF65-F5344CB8AC3E}">
        <p14:creationId xmlns:p14="http://schemas.microsoft.com/office/powerpoint/2010/main" val="40375122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Shape 78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0" name="Shape 79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\frac{\partial L}{\partial w_2} </a:t>
            </a:r>
          </a:p>
          <a:p>
            <a:pPr>
              <a:defRPr sz="1200"/>
            </a:pPr>
            <a:r>
              <a:t>&amp;= </a:t>
            </a:r>
          </a:p>
          <a:p>
            <a:pPr>
              <a:defRPr sz="1200"/>
            </a:pPr>
            <a:r>
              <a:t>\frac{\partial L}{\partial f_3}</a:t>
            </a:r>
          </a:p>
          <a:p>
            <a:pPr>
              <a:defRPr sz="1200"/>
            </a:pPr>
            <a:r>
              <a:t>\frac{\partial f_3}{\partial a_3}</a:t>
            </a:r>
          </a:p>
          <a:p>
            <a:pPr>
              <a:defRPr sz="1200"/>
            </a:pPr>
            <a:r>
              <a:t>\frac{\partial a_3}{\partial f_2}</a:t>
            </a:r>
          </a:p>
          <a:p>
            <a:pPr>
              <a:defRPr sz="1200"/>
            </a:pPr>
            <a:r>
              <a:t>\frac{\partial f_2}{\partial a_2}</a:t>
            </a:r>
          </a:p>
          <a:p>
            <a:pPr>
              <a:defRPr sz="1200"/>
            </a:pPr>
            <a:r>
              <a:t>\frac{\partial a_2}{\partial w_2}</a:t>
            </a:r>
          </a:p>
        </p:txBody>
      </p:sp>
    </p:spTree>
    <p:extLst>
      <p:ext uri="{BB962C8B-B14F-4D97-AF65-F5344CB8AC3E}">
        <p14:creationId xmlns:p14="http://schemas.microsoft.com/office/powerpoint/2010/main" val="26327392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Shape 83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32" name="Shape 83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\frac{\partial L}{\partial w_3} </a:t>
            </a:r>
          </a:p>
          <a:p>
            <a:pPr>
              <a:defRPr sz="1200"/>
            </a:pPr>
            <a:r>
              <a:t>= </a:t>
            </a:r>
          </a:p>
          <a:p>
            <a:pPr>
              <a:defRPr sz="1200"/>
            </a:pPr>
            <a:r>
              <a:t>\frac{\partial L}{\partial f_3} </a:t>
            </a:r>
          </a:p>
          <a:p>
            <a:pPr>
              <a:defRPr sz="1200"/>
            </a:pPr>
            <a:r>
              <a:t>\frac{\partial f_3}{\partial a_3} </a:t>
            </a:r>
          </a:p>
          <a:p>
            <a:pPr>
              <a:defRPr sz="1200"/>
            </a:pPr>
            <a:r>
              <a:t>\frac{\partial a_3}{\partial w_3}</a:t>
            </a:r>
          </a:p>
        </p:txBody>
      </p:sp>
    </p:spTree>
    <p:extLst>
      <p:ext uri="{BB962C8B-B14F-4D97-AF65-F5344CB8AC3E}">
        <p14:creationId xmlns:p14="http://schemas.microsoft.com/office/powerpoint/2010/main" val="3743453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Shape 84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49" name="Shape 84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\frac{\partial L}{\partial w_3} </a:t>
            </a:r>
          </a:p>
          <a:p>
            <a:pPr>
              <a:defRPr sz="1200"/>
            </a:pPr>
            <a:r>
              <a:t>&amp;= </a:t>
            </a:r>
          </a:p>
          <a:p>
            <a:pPr>
              <a:defRPr sz="1200"/>
            </a:pPr>
            <a:r>
              <a:t>\frac{\partial L}{\partial f_3}</a:t>
            </a:r>
          </a:p>
          <a:p>
            <a:pPr>
              <a:defRPr sz="1200"/>
            </a:pPr>
            <a:r>
              <a:t>\frac{\partial f_3}{\partial a_3}</a:t>
            </a:r>
          </a:p>
          <a:p>
            <a:pPr>
              <a:defRPr sz="1200"/>
            </a:pPr>
            <a:r>
              <a:t>\frac{\partial a_3}{\partial w_3}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&amp;= - \eta (y-\hat{y})</a:t>
            </a:r>
          </a:p>
          <a:p>
            <a:pPr>
              <a:defRPr sz="1200"/>
            </a:pPr>
            <a:r>
              <a:t>\frac{\partial f_3}{\partial a_3}</a:t>
            </a:r>
          </a:p>
          <a:p>
            <a:pPr>
              <a:defRPr sz="1200"/>
            </a:pPr>
            <a:r>
              <a:t>\frac{\partial a_3}{\partial w_3}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&amp;= - \eta (y-\hat{y})</a:t>
            </a:r>
          </a:p>
          <a:p>
            <a:pPr>
              <a:defRPr sz="1200"/>
            </a:pPr>
            <a:r>
              <a:t>f_3 (1-f_3)</a:t>
            </a:r>
          </a:p>
          <a:p>
            <a:pPr>
              <a:defRPr sz="1200"/>
            </a:pPr>
            <a:r>
              <a:t>\frac{\partial a_3}{\partial w_3}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&amp;= - \eta (y-\hat{y})</a:t>
            </a:r>
          </a:p>
          <a:p>
            <a:pPr>
              <a:defRPr sz="1200"/>
            </a:pPr>
            <a:r>
              <a:t>f_3 (1-f_3)</a:t>
            </a:r>
          </a:p>
          <a:p>
            <a:pPr>
              <a:defRPr sz="1200"/>
            </a:pPr>
            <a:r>
              <a:t>f_2</a:t>
            </a:r>
          </a:p>
        </p:txBody>
      </p:sp>
    </p:spTree>
    <p:extLst>
      <p:ext uri="{BB962C8B-B14F-4D97-AF65-F5344CB8AC3E}">
        <p14:creationId xmlns:p14="http://schemas.microsoft.com/office/powerpoint/2010/main" val="30889145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Shape 8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69" name="Shape 8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\frac{\partial L}{\partial w_3} </a:t>
            </a:r>
          </a:p>
          <a:p>
            <a:pPr>
              <a:defRPr sz="1200"/>
            </a:pPr>
            <a:r>
              <a:t>&amp;= </a:t>
            </a:r>
          </a:p>
          <a:p>
            <a:pPr>
              <a:defRPr sz="1200"/>
            </a:pPr>
            <a:r>
              <a:t>\frac{\partial L}{\partial f_3}</a:t>
            </a:r>
          </a:p>
          <a:p>
            <a:pPr>
              <a:defRPr sz="1200"/>
            </a:pPr>
            <a:r>
              <a:t>\frac{\partial f_3}{\partial a_3}</a:t>
            </a:r>
          </a:p>
          <a:p>
            <a:pPr>
              <a:defRPr sz="1200"/>
            </a:pPr>
            <a:r>
              <a:t>\frac{\partial a_3}{\partial w_3}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&amp;= - \eta (y-\hat{y})</a:t>
            </a:r>
          </a:p>
          <a:p>
            <a:pPr>
              <a:defRPr sz="1200"/>
            </a:pPr>
            <a:r>
              <a:t>\frac{\partial f_3}{\partial a_3}</a:t>
            </a:r>
          </a:p>
          <a:p>
            <a:pPr>
              <a:defRPr sz="1200"/>
            </a:pPr>
            <a:r>
              <a:t>\frac{\partial a_3}{\partial w_3}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&amp;= - \eta (y-\hat{y})</a:t>
            </a:r>
          </a:p>
          <a:p>
            <a:pPr>
              <a:defRPr sz="1200"/>
            </a:pPr>
            <a:r>
              <a:t>f_3 (1-f_3)</a:t>
            </a:r>
          </a:p>
          <a:p>
            <a:pPr>
              <a:defRPr sz="1200"/>
            </a:pPr>
            <a:r>
              <a:t>\frac{\partial a_3}{\partial w_3}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&amp;= - \eta (y-\hat{y})</a:t>
            </a:r>
          </a:p>
          <a:p>
            <a:pPr>
              <a:defRPr sz="1200"/>
            </a:pPr>
            <a:r>
              <a:t>f_3 (1-f_3)</a:t>
            </a:r>
          </a:p>
          <a:p>
            <a:pPr>
              <a:defRPr sz="1200"/>
            </a:pPr>
            <a:r>
              <a:t>f_2</a:t>
            </a:r>
          </a:p>
        </p:txBody>
      </p:sp>
    </p:spTree>
    <p:extLst>
      <p:ext uri="{BB962C8B-B14F-4D97-AF65-F5344CB8AC3E}">
        <p14:creationId xmlns:p14="http://schemas.microsoft.com/office/powerpoint/2010/main" val="34041348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Shape 88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90" name="Shape 89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\frac{\partial L}{\partial w_3} </a:t>
            </a:r>
          </a:p>
          <a:p>
            <a:pPr>
              <a:defRPr sz="1200"/>
            </a:pPr>
            <a:r>
              <a:t>&amp;= </a:t>
            </a:r>
          </a:p>
          <a:p>
            <a:pPr>
              <a:defRPr sz="1200"/>
            </a:pPr>
            <a:r>
              <a:t>\frac{\partial L}{\partial f_3}</a:t>
            </a:r>
          </a:p>
          <a:p>
            <a:pPr>
              <a:defRPr sz="1200"/>
            </a:pPr>
            <a:r>
              <a:t>\frac{\partial f_3}{\partial a_3}</a:t>
            </a:r>
          </a:p>
          <a:p>
            <a:pPr>
              <a:defRPr sz="1200"/>
            </a:pPr>
            <a:r>
              <a:t>\frac{\partial a_3}{\partial w_3}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&amp;= - \eta (y-\hat{y})</a:t>
            </a:r>
          </a:p>
          <a:p>
            <a:pPr>
              <a:defRPr sz="1200"/>
            </a:pPr>
            <a:r>
              <a:t>\frac{\partial f_3}{\partial a_3}</a:t>
            </a:r>
          </a:p>
          <a:p>
            <a:pPr>
              <a:defRPr sz="1200"/>
            </a:pPr>
            <a:r>
              <a:t>\frac{\partial a_3}{\partial w_3}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&amp;= - \eta (y-\hat{y})</a:t>
            </a:r>
          </a:p>
          <a:p>
            <a:pPr>
              <a:defRPr sz="1200"/>
            </a:pPr>
            <a:r>
              <a:t>f_3 (1-f_3)</a:t>
            </a:r>
          </a:p>
          <a:p>
            <a:pPr>
              <a:defRPr sz="1200"/>
            </a:pPr>
            <a:r>
              <a:t>\frac{\partial a_3}{\partial w_3}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&amp;= - \eta (y-\hat{y})</a:t>
            </a:r>
          </a:p>
          <a:p>
            <a:pPr>
              <a:defRPr sz="1200"/>
            </a:pPr>
            <a:r>
              <a:t>f_3 (1-f_3)</a:t>
            </a:r>
          </a:p>
          <a:p>
            <a:pPr>
              <a:defRPr sz="1200"/>
            </a:pPr>
            <a:r>
              <a:t>f_2</a:t>
            </a:r>
          </a:p>
        </p:txBody>
      </p:sp>
    </p:spTree>
    <p:extLst>
      <p:ext uri="{BB962C8B-B14F-4D97-AF65-F5344CB8AC3E}">
        <p14:creationId xmlns:p14="http://schemas.microsoft.com/office/powerpoint/2010/main" val="30831531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Shape 91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11" name="Shape 91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\frac{\partial L}{\partial w_3} </a:t>
            </a:r>
          </a:p>
          <a:p>
            <a:pPr>
              <a:defRPr sz="1200"/>
            </a:pPr>
            <a:r>
              <a:t>&amp;= </a:t>
            </a:r>
          </a:p>
          <a:p>
            <a:pPr>
              <a:defRPr sz="1200"/>
            </a:pPr>
            <a:r>
              <a:t>\frac{\partial L}{\partial f_3}</a:t>
            </a:r>
          </a:p>
          <a:p>
            <a:pPr>
              <a:defRPr sz="1200"/>
            </a:pPr>
            <a:r>
              <a:t>\frac{\partial f_3}{\partial a_3}</a:t>
            </a:r>
          </a:p>
          <a:p>
            <a:pPr>
              <a:defRPr sz="1200"/>
            </a:pPr>
            <a:r>
              <a:t>\frac{\partial a_3}{\partial w_3}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&amp;= - \eta (y-\hat{y})</a:t>
            </a:r>
          </a:p>
          <a:p>
            <a:pPr>
              <a:defRPr sz="1200"/>
            </a:pPr>
            <a:r>
              <a:t>\frac{\partial f_3}{\partial a_3}</a:t>
            </a:r>
          </a:p>
          <a:p>
            <a:pPr>
              <a:defRPr sz="1200"/>
            </a:pPr>
            <a:r>
              <a:t>\frac{\partial a_3}{\partial w_3}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&amp;= - \eta (y-\hat{y})</a:t>
            </a:r>
          </a:p>
          <a:p>
            <a:pPr>
              <a:defRPr sz="1200"/>
            </a:pPr>
            <a:r>
              <a:t>f_3 (1-f_3)</a:t>
            </a:r>
          </a:p>
          <a:p>
            <a:pPr>
              <a:defRPr sz="1200"/>
            </a:pPr>
            <a:r>
              <a:t>\frac{\partial a_3}{\partial w_3}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&amp;= - \eta (y-\hat{y})</a:t>
            </a:r>
          </a:p>
          <a:p>
            <a:pPr>
              <a:defRPr sz="1200"/>
            </a:pPr>
            <a:r>
              <a:t>f_3 (1-f_3)</a:t>
            </a:r>
          </a:p>
          <a:p>
            <a:pPr>
              <a:defRPr sz="1200"/>
            </a:pPr>
            <a:r>
              <a:t>f_2</a:t>
            </a:r>
          </a:p>
          <a:p>
            <a:pPr>
              <a:defRPr sz="1200"/>
            </a:pPr>
            <a:endParaRPr/>
          </a:p>
          <a:p>
            <a:pPr>
              <a:defRPr sz="1200"/>
            </a:pPr>
            <a:r>
              <a:t>\frac{d s(x)}{dx} = s(x) (1-s(x))</a:t>
            </a:r>
          </a:p>
        </p:txBody>
      </p:sp>
    </p:spTree>
    <p:extLst>
      <p:ext uri="{BB962C8B-B14F-4D97-AF65-F5344CB8AC3E}">
        <p14:creationId xmlns:p14="http://schemas.microsoft.com/office/powerpoint/2010/main" val="10220818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Shape 92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7" name="Shape 9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r>
              <a:t>\frac{\partial L}{\partial w_3} </a:t>
            </a:r>
          </a:p>
          <a:p>
            <a:pPr>
              <a:defRPr sz="1200"/>
            </a:pPr>
            <a:r>
              <a:t>&amp;= </a:t>
            </a:r>
          </a:p>
          <a:p>
            <a:pPr>
              <a:defRPr sz="1200"/>
            </a:pPr>
            <a:r>
              <a:t>\frac{\partial L}{\partial f_3}</a:t>
            </a:r>
          </a:p>
          <a:p>
            <a:pPr>
              <a:defRPr sz="1200"/>
            </a:pPr>
            <a:r>
              <a:t>\frac{\partial f_3}{\partial a_3}</a:t>
            </a:r>
          </a:p>
          <a:p>
            <a:pPr>
              <a:defRPr sz="1200"/>
            </a:pPr>
            <a:r>
              <a:t>\frac{\partial a_3}{\partial w_3}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&amp;= - \eta (y-\hat{y})</a:t>
            </a:r>
          </a:p>
          <a:p>
            <a:pPr>
              <a:defRPr sz="1200"/>
            </a:pPr>
            <a:r>
              <a:t>\frac{\partial f_3}{\partial a_3}</a:t>
            </a:r>
          </a:p>
          <a:p>
            <a:pPr>
              <a:defRPr sz="1200"/>
            </a:pPr>
            <a:r>
              <a:t>\frac{\partial a_3}{\partial w_3}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&amp;= - \eta (y-\hat{y})</a:t>
            </a:r>
          </a:p>
          <a:p>
            <a:pPr>
              <a:defRPr sz="1200"/>
            </a:pPr>
            <a:r>
              <a:t>f_3 (1-f_3)</a:t>
            </a:r>
          </a:p>
          <a:p>
            <a:pPr>
              <a:defRPr sz="1200"/>
            </a:pPr>
            <a:r>
              <a:t>\frac{\partial a_3}{\partial w_3}</a:t>
            </a:r>
          </a:p>
          <a:p>
            <a:pPr>
              <a:defRPr sz="1200"/>
            </a:pPr>
            <a:r>
              <a:t>\\</a:t>
            </a:r>
          </a:p>
          <a:p>
            <a:pPr>
              <a:defRPr sz="1200"/>
            </a:pPr>
            <a:r>
              <a:t>&amp;= - \eta (y-\hat{y})</a:t>
            </a:r>
          </a:p>
          <a:p>
            <a:pPr>
              <a:defRPr sz="1200"/>
            </a:pPr>
            <a:r>
              <a:t>f_3 (1-f_3)</a:t>
            </a:r>
          </a:p>
          <a:p>
            <a:pPr>
              <a:defRPr sz="1200"/>
            </a:pPr>
            <a:r>
              <a:t>f_2</a:t>
            </a:r>
          </a:p>
        </p:txBody>
      </p:sp>
    </p:spTree>
    <p:extLst>
      <p:ext uri="{BB962C8B-B14F-4D97-AF65-F5344CB8AC3E}">
        <p14:creationId xmlns:p14="http://schemas.microsoft.com/office/powerpoint/2010/main" val="17307393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Shape 95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59" name="Shape 95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sz="1200"/>
            </a:pPr>
            <a:r>
              <a:t>\frac{\partial L}{\partial w_3} </a:t>
            </a:r>
          </a:p>
          <a:p>
            <a:pPr>
              <a:lnSpc>
                <a:spcPct val="100000"/>
              </a:lnSpc>
              <a:defRPr sz="1200"/>
            </a:pPr>
            <a:r>
              <a:t>&amp;= </a:t>
            </a:r>
          </a:p>
          <a:p>
            <a:pPr>
              <a:lnSpc>
                <a:spcPct val="100000"/>
              </a:lnSpc>
              <a:defRPr sz="1200"/>
            </a:pPr>
            <a:r>
              <a:t>\frac{\partial L}{\partial f_3}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f_3}{\partial a_3}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a_3}{\partial f_2}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f_2}{\partial a_2}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a_2}{\partial w_2}</a:t>
            </a:r>
          </a:p>
        </p:txBody>
      </p:sp>
    </p:spTree>
    <p:extLst>
      <p:ext uri="{BB962C8B-B14F-4D97-AF65-F5344CB8AC3E}">
        <p14:creationId xmlns:p14="http://schemas.microsoft.com/office/powerpoint/2010/main" val="2767553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Shape 99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93" name="Shape 99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sz="1200"/>
            </a:pPr>
            <a:r>
              <a:t>\frac{\partial L}{\partial w_3} </a:t>
            </a:r>
          </a:p>
          <a:p>
            <a:pPr>
              <a:lnSpc>
                <a:spcPct val="100000"/>
              </a:lnSpc>
              <a:defRPr sz="1200"/>
            </a:pPr>
            <a:r>
              <a:t>&amp;= </a:t>
            </a:r>
          </a:p>
          <a:p>
            <a:pPr>
              <a:lnSpc>
                <a:spcPct val="100000"/>
              </a:lnSpc>
              <a:defRPr sz="1200"/>
            </a:pPr>
            <a:r>
              <a:t>\frac{\partial L}{\partial f_3}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f_3}{\partial a_3}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a_3}{\partial f_2}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f_2}{\partial a_2}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a_2}{\partial w_2}</a:t>
            </a:r>
          </a:p>
        </p:txBody>
      </p:sp>
    </p:spTree>
    <p:extLst>
      <p:ext uri="{BB962C8B-B14F-4D97-AF65-F5344CB8AC3E}">
        <p14:creationId xmlns:p14="http://schemas.microsoft.com/office/powerpoint/2010/main" val="30095066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Shape 99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93" name="Shape 99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sz="1200"/>
            </a:pPr>
            <a:r>
              <a:t>\frac{\partial L}{\partial w_3} </a:t>
            </a:r>
          </a:p>
          <a:p>
            <a:pPr>
              <a:lnSpc>
                <a:spcPct val="100000"/>
              </a:lnSpc>
              <a:defRPr sz="1200"/>
            </a:pPr>
            <a:r>
              <a:t>&amp;= </a:t>
            </a:r>
          </a:p>
          <a:p>
            <a:pPr>
              <a:lnSpc>
                <a:spcPct val="100000"/>
              </a:lnSpc>
              <a:defRPr sz="1200"/>
            </a:pPr>
            <a:r>
              <a:t>\frac{\partial L}{\partial f_3}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f_3}{\partial a_3}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a_3}{\partial f_2}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f_2}{\partial a_2}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a_2}{\partial w_2}</a:t>
            </a:r>
          </a:p>
        </p:txBody>
      </p:sp>
    </p:spTree>
    <p:extLst>
      <p:ext uri="{BB962C8B-B14F-4D97-AF65-F5344CB8AC3E}">
        <p14:creationId xmlns:p14="http://schemas.microsoft.com/office/powerpoint/2010/main" val="8137985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Shape 105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3" name="Shape 10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sz="1200"/>
            </a:pPr>
            <a:r>
              <a:t>\frac{\partial L}{\partial w_1} </a:t>
            </a:r>
          </a:p>
          <a:p>
            <a:pPr>
              <a:lnSpc>
                <a:spcPct val="100000"/>
              </a:lnSpc>
              <a:defRPr sz="1200"/>
            </a:pPr>
            <a:r>
              <a:t>&amp;= </a:t>
            </a:r>
          </a:p>
          <a:p>
            <a:pPr>
              <a:lnSpc>
                <a:spcPct val="100000"/>
              </a:lnSpc>
              <a:defRPr sz="1200"/>
            </a:pPr>
            <a:r>
              <a:t>\frac{\partial L}{\partial f_3}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f_3}{\partial a_3}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a_3}{\partial f_2}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f_2}{\partial a_2}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a_2}{\partial f_1}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f_1}{\partial a_1}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a_1}{\partial w_1}</a:t>
            </a:r>
          </a:p>
        </p:txBody>
      </p:sp>
    </p:spTree>
    <p:extLst>
      <p:ext uri="{BB962C8B-B14F-4D97-AF65-F5344CB8AC3E}">
        <p14:creationId xmlns:p14="http://schemas.microsoft.com/office/powerpoint/2010/main" val="21586794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Shape 111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15" name="Shape 11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sz="1200"/>
            </a:pPr>
            <a:r>
              <a:t>\frac{\partial L}{\partial w_1} </a:t>
            </a:r>
          </a:p>
          <a:p>
            <a:pPr>
              <a:lnSpc>
                <a:spcPct val="100000"/>
              </a:lnSpc>
              <a:defRPr sz="1200"/>
            </a:pPr>
            <a:r>
              <a:t>&amp;= </a:t>
            </a:r>
          </a:p>
          <a:p>
            <a:pPr>
              <a:lnSpc>
                <a:spcPct val="100000"/>
              </a:lnSpc>
              <a:defRPr sz="1200"/>
            </a:pPr>
            <a:r>
              <a:t>\frac{\partial L}{\partial f_3}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f_3}{\partial a_3}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a_3}{\partial f_2}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f_2}{\partial a_2}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a_2}{\partial w_2}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f_1}{\partial a_1}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a_1}{\partial w_1}</a:t>
            </a:r>
          </a:p>
        </p:txBody>
      </p:sp>
    </p:spTree>
    <p:extLst>
      <p:ext uri="{BB962C8B-B14F-4D97-AF65-F5344CB8AC3E}">
        <p14:creationId xmlns:p14="http://schemas.microsoft.com/office/powerpoint/2010/main" val="18616436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Shape 11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9" name="Shape 11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sz="1200"/>
            </a:pPr>
            <a:r>
              <a:t>\frac{\partial \mathcal{L}}{\partial w_3} </a:t>
            </a:r>
          </a:p>
          <a:p>
            <a:pPr>
              <a:lnSpc>
                <a:spcPct val="100000"/>
              </a:lnSpc>
              <a:defRPr sz="1200"/>
            </a:pPr>
            <a:r>
              <a:t>&amp;= </a:t>
            </a:r>
          </a:p>
          <a:p>
            <a:pPr>
              <a:lnSpc>
                <a:spcPct val="100000"/>
              </a:lnSpc>
              <a:defRPr sz="1200"/>
            </a:pPr>
            <a:r>
              <a:t>\frac{\partial \mathcal{L}}{\partial f_3}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f_3}{\partial a_3}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a_3}{\partial w_3}</a:t>
            </a:r>
          </a:p>
          <a:p>
            <a:pPr>
              <a:lnSpc>
                <a:spcPct val="100000"/>
              </a:lnSpc>
              <a:defRPr sz="1200"/>
            </a:pPr>
            <a:r>
              <a:t>\\</a:t>
            </a:r>
          </a:p>
          <a:p>
            <a:pPr>
              <a:lnSpc>
                <a:spcPct val="100000"/>
              </a:lnSpc>
              <a:defRPr sz="1200"/>
            </a:pPr>
            <a:r>
              <a:t>\frac{\partial \mathcal{L}}{\partial w_2} </a:t>
            </a:r>
          </a:p>
          <a:p>
            <a:pPr>
              <a:lnSpc>
                <a:spcPct val="100000"/>
              </a:lnSpc>
              <a:defRPr sz="1200"/>
            </a:pPr>
            <a:r>
              <a:t>&amp;= </a:t>
            </a:r>
          </a:p>
          <a:p>
            <a:pPr>
              <a:lnSpc>
                <a:spcPct val="100000"/>
              </a:lnSpc>
              <a:defRPr sz="1200"/>
            </a:pPr>
            <a:r>
              <a:t>\frac{\partial \mathcal{L}}{\partial f_3}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f_3}{\partial a_3}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a_3}{\partial f_2}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f_2}{\partial a_2}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a_2}{\partial w_2}</a:t>
            </a:r>
          </a:p>
          <a:p>
            <a:pPr>
              <a:lnSpc>
                <a:spcPct val="100000"/>
              </a:lnSpc>
              <a:defRPr sz="1200"/>
            </a:pPr>
            <a:r>
              <a:t>\\</a:t>
            </a:r>
          </a:p>
          <a:p>
            <a:pPr>
              <a:lnSpc>
                <a:spcPct val="100000"/>
              </a:lnSpc>
              <a:defRPr sz="1200"/>
            </a:pPr>
            <a:r>
              <a:t>\frac{\partial \mathcal{L}}{\partial w_1} </a:t>
            </a:r>
          </a:p>
          <a:p>
            <a:pPr>
              <a:lnSpc>
                <a:spcPct val="100000"/>
              </a:lnSpc>
              <a:defRPr sz="1200"/>
            </a:pPr>
            <a:r>
              <a:t>&amp;= </a:t>
            </a:r>
          </a:p>
          <a:p>
            <a:pPr>
              <a:lnSpc>
                <a:spcPct val="100000"/>
              </a:lnSpc>
              <a:defRPr sz="1200"/>
            </a:pPr>
            <a:r>
              <a:t>\frac{\partial \mathcal{L}}{\partial f_3}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f_3}{\partial a_3}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a_3}{\partial f_2}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f_2}{\partial a_2}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a_2}{\partial f_1}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f_1}{\partial a_1}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a_1}{\partial w_1}</a:t>
            </a:r>
          </a:p>
          <a:p>
            <a:pPr>
              <a:lnSpc>
                <a:spcPct val="100000"/>
              </a:lnSpc>
              <a:defRPr sz="1200"/>
            </a:pPr>
            <a:r>
              <a:t>\\</a:t>
            </a:r>
          </a:p>
          <a:p>
            <a:pPr>
              <a:lnSpc>
                <a:spcPct val="100000"/>
              </a:lnSpc>
              <a:defRPr sz="1200"/>
            </a:pPr>
            <a:r>
              <a:t>\frac{\partial \mathcal{L}}{\partial b} </a:t>
            </a:r>
          </a:p>
          <a:p>
            <a:pPr>
              <a:lnSpc>
                <a:spcPct val="100000"/>
              </a:lnSpc>
              <a:defRPr sz="1200"/>
            </a:pPr>
            <a:r>
              <a:t>&amp;= </a:t>
            </a:r>
          </a:p>
          <a:p>
            <a:pPr>
              <a:lnSpc>
                <a:spcPct val="100000"/>
              </a:lnSpc>
              <a:defRPr sz="1200"/>
            </a:pPr>
            <a:r>
              <a:t>\frac{\partial \mathcal{L}}{\partial f_3}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f_3}{\partial a_3}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a_3}{\partial f_2}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f_2}{\partial a_2}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a_2}{\partial f_1}</a:t>
            </a:r>
          </a:p>
          <a:p>
            <a:pPr>
              <a:lnSpc>
                <a:spcPct val="100000"/>
              </a:lnSpc>
              <a:defRPr sz="1200"/>
            </a:pPr>
            <a:r>
              <a:t>\frac{\partial f_1}{\partial a_1}</a:t>
            </a:r>
          </a:p>
          <a:p>
            <a:pPr>
              <a:lnSpc>
                <a:spcPct val="100000"/>
              </a:lnSpc>
              <a:defRPr sz="1200"/>
            </a:pPr>
            <a:r>
              <a:t>\frac{\partial a_1}{\partial b}</a:t>
            </a:r>
          </a:p>
        </p:txBody>
      </p:sp>
    </p:spTree>
    <p:extLst>
      <p:ext uri="{BB962C8B-B14F-4D97-AF65-F5344CB8AC3E}">
        <p14:creationId xmlns:p14="http://schemas.microsoft.com/office/powerpoint/2010/main" val="344245857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</a:t>
            </a:r>
          </a:p>
        </p:txBody>
      </p:sp>
    </p:spTree>
    <p:extLst>
      <p:ext uri="{BB962C8B-B14F-4D97-AF65-F5344CB8AC3E}">
        <p14:creationId xmlns:p14="http://schemas.microsoft.com/office/powerpoint/2010/main" val="963880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5.xml"/><Relationship Id="rId1" Type="http://schemas.openxmlformats.org/officeDocument/2006/relationships/themeOverride" Target="../theme/themeOverride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hemeOverride" Target="../theme/themeOverride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952500" y="393700"/>
            <a:ext cx="11099800" cy="2159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2999418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228894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395113"/>
            <a:ext cx="11704320" cy="16210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50240" y="2275841"/>
            <a:ext cx="5743787" cy="64436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0773" y="2275841"/>
            <a:ext cx="5743787" cy="64436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650240" y="8886613"/>
            <a:ext cx="7911253" cy="650240"/>
          </a:xfrm>
          <a:prstGeom prst="rect">
            <a:avLst/>
          </a:prstGeom>
        </p:spPr>
        <p:txBody>
          <a:bodyPr lIns="130046" tIns="65023" rIns="130046" bIns="65023"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143EAE2-7D02-4D03-9FC4-395745BA1E04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20031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" y="9446542"/>
            <a:ext cx="8602133" cy="307058"/>
          </a:xfrm>
          <a:prstGeom prst="rect">
            <a:avLst/>
          </a:prstGeom>
        </p:spPr>
        <p:txBody>
          <a:bodyPr lIns="130046" tIns="65023" rIns="130046" bIns="65023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797459C-4CF1-4524-B57F-F6EB61A0E66A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46457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50240" y="8879841"/>
            <a:ext cx="3034453" cy="650240"/>
          </a:xfrm>
          <a:prstGeom prst="rect">
            <a:avLst/>
          </a:prstGeom>
        </p:spPr>
        <p:txBody>
          <a:bodyPr lIns="130046" tIns="65023" rIns="130046" bIns="65023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443307" y="8886613"/>
            <a:ext cx="4118187" cy="650240"/>
          </a:xfrm>
          <a:prstGeom prst="rect">
            <a:avLst/>
          </a:prstGeom>
        </p:spPr>
        <p:txBody>
          <a:bodyPr lIns="130046" tIns="65023" rIns="130046" bIns="65023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68C91A-2FE3-4BB2-9894-161F8CEB3A6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972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73517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526135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864112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202423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5652665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38125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588570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9044025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266003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2999418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872837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7378568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10360" y="-38100"/>
            <a:ext cx="9784080" cy="1031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23160" y="7081519"/>
            <a:ext cx="8158480" cy="5539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0775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8378" y="381001"/>
            <a:ext cx="10988041" cy="1092585"/>
          </a:xfrm>
        </p:spPr>
        <p:txBody>
          <a:bodyPr lIns="0" tIns="0" rIns="0" bIns="0"/>
          <a:lstStyle>
            <a:lvl1pPr>
              <a:defRPr sz="7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95931" y="2123502"/>
            <a:ext cx="7012939" cy="553907"/>
          </a:xfrm>
        </p:spPr>
        <p:txBody>
          <a:bodyPr lIns="0" tIns="0" rIns="0" bIns="0"/>
          <a:lstStyle>
            <a:lvl1pPr>
              <a:defRPr sz="36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48523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8378" y="381001"/>
            <a:ext cx="10988041" cy="1092585"/>
          </a:xfrm>
        </p:spPr>
        <p:txBody>
          <a:bodyPr lIns="0" tIns="0" rIns="0" bIns="0"/>
          <a:lstStyle>
            <a:lvl1pPr>
              <a:defRPr sz="7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1258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8378" y="381001"/>
            <a:ext cx="10988041" cy="1092585"/>
          </a:xfrm>
        </p:spPr>
        <p:txBody>
          <a:bodyPr lIns="0" tIns="0" rIns="0" bIns="0"/>
          <a:lstStyle>
            <a:lvl1pPr>
              <a:defRPr sz="7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59259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406400"/>
            <a:ext cx="13004800" cy="8940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81584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turtletrack.org/Issues00/Co01152000/Art/gator6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573" y="5418667"/>
            <a:ext cx="3224107" cy="2709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5"/>
          <p:cNvGrpSpPr>
            <a:grpSpLocks/>
          </p:cNvGrpSpPr>
          <p:nvPr userDrawn="1"/>
        </p:nvGrpSpPr>
        <p:grpSpPr bwMode="auto">
          <a:xfrm>
            <a:off x="8913707" y="6935893"/>
            <a:ext cx="1083733" cy="939236"/>
            <a:chOff x="3794" y="2614"/>
            <a:chExt cx="1966" cy="1706"/>
          </a:xfrm>
        </p:grpSpPr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2F2F18"/>
                </a:gs>
                <a:gs pos="50000">
                  <a:srgbClr val="666633"/>
                </a:gs>
                <a:gs pos="100000">
                  <a:srgbClr val="2F2F18"/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487695" hangingPunct="1"/>
              <a:endParaRPr lang="en-US" sz="1920" kern="1200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3794" y="2879"/>
              <a:ext cx="1966" cy="1200"/>
            </a:xfrm>
            <a:prstGeom prst="rect">
              <a:avLst/>
            </a:prstGeom>
            <a:gradFill rotWithShape="0">
              <a:gsLst>
                <a:gs pos="0">
                  <a:srgbClr val="2F2F18"/>
                </a:gs>
                <a:gs pos="50000">
                  <a:srgbClr val="666633"/>
                </a:gs>
                <a:gs pos="100000">
                  <a:srgbClr val="2F2F1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487695" hangingPunct="1"/>
              <a:endParaRPr lang="en-US" sz="1920" kern="1200"/>
            </a:p>
          </p:txBody>
        </p:sp>
        <p:pic>
          <p:nvPicPr>
            <p:cNvPr id="8" name="Picture 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4" y="2614"/>
              <a:ext cx="1966" cy="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11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75360" y="3251200"/>
            <a:ext cx="7477760" cy="1625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50720" y="5527040"/>
            <a:ext cx="6502400" cy="2492587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75360" y="8886613"/>
            <a:ext cx="2709333" cy="6502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93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 algn="l" defTabSz="487695">
              <a:defRPr/>
            </a:pPr>
            <a:endParaRPr lang="en-US" kern="1200">
              <a:solidFill>
                <a:srgbClr val="000000"/>
              </a:solidFill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443307" y="8886613"/>
            <a:ext cx="4118187" cy="6502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93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 defTabSz="487695">
              <a:defRPr/>
            </a:pPr>
            <a:endParaRPr lang="en-US" kern="1200">
              <a:solidFill>
                <a:srgbClr val="000000"/>
              </a:solidFill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20107" y="8886613"/>
            <a:ext cx="2709333" cy="6502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F4670-803E-43BB-88DF-5661A618950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736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0AAFB8-5791-4396-BD6E-1E3E331645F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9699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290" y="6267593"/>
            <a:ext cx="11054080" cy="1937173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290" y="4133993"/>
            <a:ext cx="11054080" cy="2133599"/>
          </a:xfrm>
        </p:spPr>
        <p:txBody>
          <a:bodyPr anchor="b"/>
          <a:lstStyle>
            <a:lvl1pPr marL="0" indent="0">
              <a:buNone/>
              <a:defRPr sz="2133"/>
            </a:lvl1pPr>
            <a:lvl2pPr marL="487695" indent="0">
              <a:buNone/>
              <a:defRPr sz="1920"/>
            </a:lvl2pPr>
            <a:lvl3pPr marL="975390" indent="0">
              <a:buNone/>
              <a:defRPr sz="1707"/>
            </a:lvl3pPr>
            <a:lvl4pPr marL="1463086" indent="0">
              <a:buNone/>
              <a:defRPr sz="1493"/>
            </a:lvl4pPr>
            <a:lvl5pPr marL="1950781" indent="0">
              <a:buNone/>
              <a:defRPr sz="1493"/>
            </a:lvl5pPr>
            <a:lvl6pPr marL="2438476" indent="0">
              <a:buNone/>
              <a:defRPr sz="1493"/>
            </a:lvl6pPr>
            <a:lvl7pPr marL="2926171" indent="0">
              <a:buNone/>
              <a:defRPr sz="1493"/>
            </a:lvl7pPr>
            <a:lvl8pPr marL="3413867" indent="0">
              <a:buNone/>
              <a:defRPr sz="1493"/>
            </a:lvl8pPr>
            <a:lvl9pPr marL="3901562" indent="0">
              <a:buNone/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E91D76-BC05-471C-A6FA-9058E99E07B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6625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5360" y="2059094"/>
            <a:ext cx="5418667" cy="7261013"/>
          </a:xfrm>
        </p:spPr>
        <p:txBody>
          <a:bodyPr/>
          <a:lstStyle>
            <a:lvl1pPr>
              <a:defRPr sz="2987"/>
            </a:lvl1pPr>
            <a:lvl2pPr>
              <a:defRPr sz="2560"/>
            </a:lvl2pPr>
            <a:lvl3pPr>
              <a:defRPr sz="2133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0773" y="2059094"/>
            <a:ext cx="5418667" cy="7261013"/>
          </a:xfrm>
        </p:spPr>
        <p:txBody>
          <a:bodyPr/>
          <a:lstStyle>
            <a:lvl1pPr>
              <a:defRPr sz="2987"/>
            </a:lvl1pPr>
            <a:lvl2pPr>
              <a:defRPr sz="2560"/>
            </a:lvl2pPr>
            <a:lvl3pPr>
              <a:defRPr sz="2133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8B2AC-C7C6-4B70-A55D-DFDA5B35AE0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7715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390596"/>
            <a:ext cx="1170432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2183272"/>
            <a:ext cx="5746045" cy="909884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" y="3093155"/>
            <a:ext cx="5746045" cy="5619610"/>
          </a:xfrm>
        </p:spPr>
        <p:txBody>
          <a:bodyPr/>
          <a:lstStyle>
            <a:lvl1pPr>
              <a:defRPr sz="2560"/>
            </a:lvl1pPr>
            <a:lvl2pPr>
              <a:defRPr sz="2133"/>
            </a:lvl2pPr>
            <a:lvl3pPr>
              <a:defRPr sz="192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6260" y="2183272"/>
            <a:ext cx="5748302" cy="909884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6260" y="3093155"/>
            <a:ext cx="5748302" cy="5619610"/>
          </a:xfrm>
        </p:spPr>
        <p:txBody>
          <a:bodyPr/>
          <a:lstStyle>
            <a:lvl1pPr>
              <a:defRPr sz="2560"/>
            </a:lvl1pPr>
            <a:lvl2pPr>
              <a:defRPr sz="2133"/>
            </a:lvl2pPr>
            <a:lvl3pPr>
              <a:defRPr sz="192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0E9862-54E7-49CE-AFEB-9ABAC086D0D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1831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CCAB0C-7EDF-4EBA-A786-58EA8E2E0C4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0901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A1F1C-C0FC-40D7-AF63-3D50C102F6B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2386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1" y="388338"/>
            <a:ext cx="4278490" cy="1652693"/>
          </a:xfrm>
        </p:spPr>
        <p:txBody>
          <a:bodyPr anchor="b"/>
          <a:lstStyle>
            <a:lvl1pPr algn="l">
              <a:defRPr sz="21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516" y="388340"/>
            <a:ext cx="7270045" cy="8324427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241" y="2041033"/>
            <a:ext cx="4278490" cy="6671734"/>
          </a:xfrm>
        </p:spPr>
        <p:txBody>
          <a:bodyPr/>
          <a:lstStyle>
            <a:lvl1pPr marL="0" indent="0">
              <a:buNone/>
              <a:defRPr sz="1493"/>
            </a:lvl1pPr>
            <a:lvl2pPr marL="487695" indent="0">
              <a:buNone/>
              <a:defRPr sz="1280"/>
            </a:lvl2pPr>
            <a:lvl3pPr marL="975390" indent="0">
              <a:buNone/>
              <a:defRPr sz="1067"/>
            </a:lvl3pPr>
            <a:lvl4pPr marL="1463086" indent="0">
              <a:buNone/>
              <a:defRPr sz="960"/>
            </a:lvl4pPr>
            <a:lvl5pPr marL="1950781" indent="0">
              <a:buNone/>
              <a:defRPr sz="960"/>
            </a:lvl5pPr>
            <a:lvl6pPr marL="2438476" indent="0">
              <a:buNone/>
              <a:defRPr sz="960"/>
            </a:lvl6pPr>
            <a:lvl7pPr marL="2926171" indent="0">
              <a:buNone/>
              <a:defRPr sz="960"/>
            </a:lvl7pPr>
            <a:lvl8pPr marL="3413867" indent="0">
              <a:buNone/>
              <a:defRPr sz="960"/>
            </a:lvl8pPr>
            <a:lvl9pPr marL="3901562" indent="0">
              <a:buNone/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E3E5D-B3A2-4FF7-8B33-BB9F4B76D22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0421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031" y="6827520"/>
            <a:ext cx="7802880" cy="806027"/>
          </a:xfrm>
        </p:spPr>
        <p:txBody>
          <a:bodyPr anchor="b"/>
          <a:lstStyle>
            <a:lvl1pPr algn="l">
              <a:defRPr sz="21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031" y="871502"/>
            <a:ext cx="7802880" cy="5852160"/>
          </a:xfrm>
        </p:spPr>
        <p:txBody>
          <a:bodyPr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031" y="7633547"/>
            <a:ext cx="7802880" cy="1144693"/>
          </a:xfrm>
        </p:spPr>
        <p:txBody>
          <a:bodyPr/>
          <a:lstStyle>
            <a:lvl1pPr marL="0" indent="0">
              <a:buNone/>
              <a:defRPr sz="1493"/>
            </a:lvl1pPr>
            <a:lvl2pPr marL="487695" indent="0">
              <a:buNone/>
              <a:defRPr sz="1280"/>
            </a:lvl2pPr>
            <a:lvl3pPr marL="975390" indent="0">
              <a:buNone/>
              <a:defRPr sz="1067"/>
            </a:lvl3pPr>
            <a:lvl4pPr marL="1463086" indent="0">
              <a:buNone/>
              <a:defRPr sz="960"/>
            </a:lvl4pPr>
            <a:lvl5pPr marL="1950781" indent="0">
              <a:buNone/>
              <a:defRPr sz="960"/>
            </a:lvl5pPr>
            <a:lvl6pPr marL="2438476" indent="0">
              <a:buNone/>
              <a:defRPr sz="960"/>
            </a:lvl6pPr>
            <a:lvl7pPr marL="2926171" indent="0">
              <a:buNone/>
              <a:defRPr sz="960"/>
            </a:lvl7pPr>
            <a:lvl8pPr marL="3413867" indent="0">
              <a:buNone/>
              <a:defRPr sz="960"/>
            </a:lvl8pPr>
            <a:lvl9pPr marL="3901562" indent="0">
              <a:buNone/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98D8C-A39E-42C8-B7BD-D78029951C8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1509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1F3F8-9CA6-4527-BA94-2AD9EBB2EDC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7716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65920" y="0"/>
            <a:ext cx="2763520" cy="93201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5360" y="0"/>
            <a:ext cx="8073813" cy="9320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73B5F2-26B1-48C1-8DE9-14E11CD897A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7737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07" y="596054"/>
            <a:ext cx="11054080" cy="1571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92107" y="2817707"/>
            <a:ext cx="5418667" cy="5797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827520" y="2817707"/>
            <a:ext cx="5418667" cy="579797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897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lvl1pPr>
              <a:defRPr sz="2987"/>
            </a:lvl1pPr>
            <a:lvl2pPr>
              <a:defRPr sz="2987"/>
            </a:lvl2pPr>
            <a:lvl3pPr>
              <a:defRPr sz="2987"/>
            </a:lvl3pPr>
            <a:lvl4pPr>
              <a:defRPr sz="2987"/>
            </a:lvl4pPr>
            <a:lvl5pPr>
              <a:defRPr sz="298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  <p:sp>
        <p:nvSpPr>
          <p:cNvPr id="4" name="Date Placeholder 1028"/>
          <p:cNvSpPr>
            <a:spLocks noGrp="1" noChangeArrowheads="1"/>
          </p:cNvSpPr>
          <p:nvPr>
            <p:ph type="dt" sz="half" idx="10"/>
          </p:nvPr>
        </p:nvSpPr>
        <p:spPr>
          <a:xfrm>
            <a:off x="975360" y="8913707"/>
            <a:ext cx="2709333" cy="65024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defTabSz="487695" hangingPunct="1"/>
            <a:endParaRPr lang="en-US" altLang="en-US" sz="1920" kern="1200"/>
          </a:p>
        </p:txBody>
      </p:sp>
      <p:sp>
        <p:nvSpPr>
          <p:cNvPr id="5" name="Footer Placeholder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4443307" y="8913707"/>
            <a:ext cx="4118187" cy="65024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defTabSz="487695" hangingPunct="1"/>
            <a:endParaRPr lang="en-US" altLang="en-US" sz="1920" kern="1200"/>
          </a:p>
        </p:txBody>
      </p:sp>
      <p:sp>
        <p:nvSpPr>
          <p:cNvPr id="6" name="Slide Number Placeholder 70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BE7C5D-5725-491F-8EBE-EF1BCC7986F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492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205C0818-8B76-44F5-B513-5EC719230484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945355"/>
      </p:ext>
    </p:extLst>
  </p:cSld>
  <p:clrMapOvr>
    <a:masterClrMapping/>
  </p:clrMapOvr>
  <p:transition spd="slow" advClick="0" advTm="7000">
    <p:fade thruBlk="1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2"/>
            <a:ext cx="13004800" cy="7303912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defTabSz="975390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1920" kern="120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 bwMode="invGray">
          <a:xfrm>
            <a:off x="0" y="7292622"/>
            <a:ext cx="13004800" cy="6547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defTabSz="975390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1920" kern="120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4772762"/>
            <a:ext cx="11487573" cy="2379878"/>
          </a:xfrm>
        </p:spPr>
        <p:txBody>
          <a:bodyPr tIns="0" bIns="0" anchor="t">
            <a:normAutofit/>
          </a:bodyPr>
          <a:lstStyle>
            <a:lvl1pPr algn="l">
              <a:defRPr sz="5013" b="1"/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2600960"/>
            <a:ext cx="11487573" cy="2132787"/>
          </a:xfrm>
        </p:spPr>
        <p:txBody>
          <a:bodyPr lIns="118872" tIns="0" rIns="45720" bIns="0" anchor="b"/>
          <a:lstStyle>
            <a:lvl1pPr marL="0" indent="0" algn="l">
              <a:buNone/>
              <a:defRPr sz="2133">
                <a:solidFill>
                  <a:srgbClr val="FFFFFF"/>
                </a:solidFill>
              </a:defRPr>
            </a:lvl1pPr>
            <a:lvl2pPr marL="487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75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63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507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38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26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138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01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6F159D-1BB5-407B-BAC3-51E8C57F2AF4}" type="datetime1">
              <a:rPr lang="en-US" altLang="en-US"/>
              <a:pPr/>
              <a:t>3/21/2025</a:t>
            </a:fld>
            <a:endParaRPr lang="en-US" alt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7250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80"/>
              </a:spcBef>
              <a:defRPr sz="2987"/>
            </a:lvl1pPr>
            <a:lvl2pPr>
              <a:defRPr sz="2560"/>
            </a:lvl2pPr>
            <a:lvl3pPr>
              <a:defRPr sz="2133"/>
            </a:lvl3pPr>
            <a:lvl4pPr>
              <a:defRPr sz="1920"/>
            </a:lvl4pPr>
            <a:lvl5pPr>
              <a:defRPr sz="1707"/>
            </a:lvl5pPr>
            <a:extLst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16747" y="0"/>
            <a:ext cx="12571307" cy="866987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9A0C7D-6AC7-4D85-8E24-0F9456C5D2F2}" type="datetime1">
              <a:rPr lang="en-US" altLang="en-US"/>
              <a:pPr/>
              <a:t>3/21/2025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9C9827-7C55-42C3-B86C-1E7204BA93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48744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2"/>
            <a:ext cx="13004800" cy="3700498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defTabSz="975390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1920" kern="120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 bwMode="invGray">
          <a:xfrm>
            <a:off x="0" y="3700501"/>
            <a:ext cx="13004800" cy="65475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defTabSz="975390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1920" kern="120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393" y="169063"/>
            <a:ext cx="11396540" cy="2327859"/>
          </a:xfrm>
        </p:spPr>
        <p:txBody>
          <a:bodyPr tIns="0" rIns="91440" bIns="0" anchor="b">
            <a:normAutofit/>
          </a:bodyPr>
          <a:lstStyle>
            <a:lvl1pPr algn="l">
              <a:defRPr sz="5013" b="1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3389" y="2600960"/>
            <a:ext cx="11409545" cy="975360"/>
          </a:xfrm>
        </p:spPr>
        <p:txBody>
          <a:bodyPr lIns="146304" tIns="0" rIns="45720" bIns="0"/>
          <a:lstStyle>
            <a:lvl1pPr marL="0" indent="0">
              <a:buNone/>
              <a:defRPr sz="2133">
                <a:solidFill>
                  <a:srgbClr val="FFFFFF"/>
                </a:solidFill>
              </a:defRPr>
            </a:lvl1pPr>
            <a:lvl2pPr marL="487695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2pPr>
            <a:lvl3pPr marL="975390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63086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4pPr>
            <a:lvl5pPr marL="1950781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5pPr>
            <a:lvl6pPr marL="2438476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6pPr>
            <a:lvl7pPr marL="2926171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7pPr>
            <a:lvl8pPr marL="3413867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8pPr>
            <a:lvl9pPr marL="3901562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D3E264F-AFDF-4268-96E7-09AF1B8CE92A}" type="datetime1">
              <a:rPr lang="en-US" altLang="en-US"/>
              <a:pPr/>
              <a:t>3/21/2025</a:t>
            </a:fld>
            <a:endParaRPr lang="en-US" alt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69378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D3833C-F2C7-430E-B22D-117577FEF579}" type="datetime1">
              <a:rPr lang="en-US" altLang="en-US"/>
              <a:pPr/>
              <a:t>3/21/2025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6C110E-748E-4BF6-A486-CEC2A71F4CA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66992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BFD323-4A4D-4D85-BCE2-B4D01D77E58C}" type="datetime1">
              <a:rPr lang="en-US" altLang="en-US"/>
              <a:pPr/>
              <a:t>3/21/2025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48124-A765-4943-8590-31757BD82C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04719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invGray">
          <a:xfrm>
            <a:off x="4061745" y="0"/>
            <a:ext cx="65475" cy="2068124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defTabSz="975390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1920" kern="120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4061745" y="0"/>
            <a:ext cx="65475" cy="2068124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defTabSz="975390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1920" kern="120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703" y="216746"/>
            <a:ext cx="3589325" cy="1391514"/>
          </a:xfrm>
        </p:spPr>
        <p:txBody>
          <a:bodyPr lIns="73152" bIns="0" anchor="b">
            <a:normAutofit/>
            <a:sp3d prstMaterial="matte"/>
          </a:bodyPr>
          <a:lstStyle>
            <a:lvl1pPr algn="l">
              <a:defRPr sz="2133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4226" y="2479124"/>
            <a:ext cx="8420467" cy="6483748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703" y="2460470"/>
            <a:ext cx="3511296" cy="6502400"/>
          </a:xfrm>
        </p:spPr>
        <p:txBody>
          <a:bodyPr/>
          <a:lstStyle>
            <a:lvl1pPr marL="0" indent="0">
              <a:buNone/>
              <a:defRPr sz="1493"/>
            </a:lvl1pPr>
            <a:lvl2pPr marL="487695" indent="0">
              <a:buNone/>
              <a:defRPr sz="1280"/>
            </a:lvl2pPr>
            <a:lvl3pPr marL="975390" indent="0">
              <a:buNone/>
              <a:defRPr sz="1067"/>
            </a:lvl3pPr>
            <a:lvl4pPr marL="1463086" indent="0">
              <a:buNone/>
              <a:defRPr sz="960"/>
            </a:lvl4pPr>
            <a:lvl5pPr marL="1950781" indent="0">
              <a:buNone/>
              <a:defRPr sz="960"/>
            </a:lvl5pPr>
            <a:lvl6pPr marL="2438476" indent="0">
              <a:buNone/>
              <a:defRPr sz="960"/>
            </a:lvl6pPr>
            <a:lvl7pPr marL="2926171" indent="0">
              <a:buNone/>
              <a:defRPr sz="960"/>
            </a:lvl7pPr>
            <a:lvl8pPr marL="3413867" indent="0">
              <a:buNone/>
              <a:defRPr sz="960"/>
            </a:lvl8pPr>
            <a:lvl9pPr marL="3901562" indent="0">
              <a:buNone/>
              <a:defRPr sz="960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14DC55-3EB3-457D-9E6F-23088899BB46}" type="datetime1">
              <a:rPr lang="en-US" altLang="en-US"/>
              <a:pPr/>
              <a:t>3/21/2025</a:t>
            </a:fld>
            <a:endParaRPr lang="en-US" alt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13F9BE-1E00-4012-9F6C-9FBA3D5696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15507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061745" y="0"/>
            <a:ext cx="65475" cy="97536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defTabSz="975390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1920" kern="120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4061745" y="0"/>
            <a:ext cx="65475" cy="97536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defTabSz="975390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1920" kern="120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87" y="221081"/>
            <a:ext cx="3591325" cy="1391514"/>
          </a:xfrm>
        </p:spPr>
        <p:txBody>
          <a:bodyPr lIns="73152" bIns="0" anchor="b">
            <a:sp3d prstMaterial="matte"/>
          </a:bodyPr>
          <a:lstStyle>
            <a:lvl1pPr algn="l">
              <a:defRPr sz="2133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29858" y="2111727"/>
            <a:ext cx="8885187" cy="7641873"/>
          </a:xfrm>
          <a:solidFill>
            <a:schemeClr val="bg2">
              <a:shade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4086" y="2457907"/>
            <a:ext cx="3511296" cy="6502400"/>
          </a:xfrm>
        </p:spPr>
        <p:txBody>
          <a:bodyPr/>
          <a:lstStyle>
            <a:lvl1pPr marL="0" indent="0">
              <a:buNone/>
              <a:defRPr sz="1493"/>
            </a:lvl1pPr>
            <a:lvl2pPr marL="487695" indent="0">
              <a:buNone/>
              <a:defRPr sz="1280"/>
            </a:lvl2pPr>
            <a:lvl3pPr marL="975390" indent="0">
              <a:buNone/>
              <a:defRPr sz="1067"/>
            </a:lvl3pPr>
            <a:lvl4pPr marL="1463086" indent="0">
              <a:buNone/>
              <a:defRPr sz="960"/>
            </a:lvl4pPr>
            <a:lvl5pPr marL="1950781" indent="0">
              <a:buNone/>
              <a:defRPr sz="960"/>
            </a:lvl5pPr>
            <a:lvl6pPr marL="2438476" indent="0">
              <a:buNone/>
              <a:defRPr sz="960"/>
            </a:lvl6pPr>
            <a:lvl7pPr marL="2926171" indent="0">
              <a:buNone/>
              <a:defRPr sz="960"/>
            </a:lvl7pPr>
            <a:lvl8pPr marL="3413867" indent="0">
              <a:buNone/>
              <a:defRPr sz="960"/>
            </a:lvl8pPr>
            <a:lvl9pPr marL="3901562" indent="0">
              <a:buNone/>
              <a:defRPr sz="960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234808" y="1663983"/>
            <a:ext cx="3587610" cy="286737"/>
          </a:xfrm>
        </p:spPr>
        <p:txBody>
          <a:bodyPr/>
          <a:lstStyle>
            <a:lvl1pPr>
              <a:defRPr/>
            </a:lvl1pPr>
          </a:lstStyle>
          <a:p>
            <a:fld id="{DEFC8EEB-04AB-4543-B47A-765E728838AB}" type="datetime1">
              <a:rPr lang="en-US" altLang="en-US"/>
              <a:pPr/>
              <a:t>3/21/2025</a:t>
            </a:fld>
            <a:endParaRPr lang="en-US" alt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16872" y="1663983"/>
            <a:ext cx="7387449" cy="286737"/>
          </a:xfrm>
        </p:spPr>
        <p:txBody>
          <a:bodyPr/>
          <a:lstStyle>
            <a:lvl1pPr>
              <a:defRPr>
                <a:solidFill>
                  <a:srgbClr val="BCBCBC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860108" y="1663983"/>
            <a:ext cx="1043093" cy="286737"/>
          </a:xfrm>
        </p:spPr>
        <p:txBody>
          <a:bodyPr/>
          <a:lstStyle>
            <a:lvl1pPr>
              <a:defRPr/>
            </a:lvl1pPr>
          </a:lstStyle>
          <a:p>
            <a:fld id="{F4124062-C07B-4A5F-8B46-E3C77AA1FC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9182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3A6310-69F8-4F58-8D66-F1E0B315EE3C}" type="datetime1">
              <a:rPr lang="en-US" altLang="en-US"/>
              <a:pPr/>
              <a:t>3/21/2025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36B339-C93A-4846-920B-B78A407D44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988592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invGray">
          <a:xfrm>
            <a:off x="9385585" y="0"/>
            <a:ext cx="65475" cy="97536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defTabSz="975390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1920" kern="120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 bwMode="ltGray">
          <a:xfrm>
            <a:off x="9455573" y="0"/>
            <a:ext cx="3576320" cy="97536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defTabSz="975390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1920" kern="1200">
              <a:solidFill>
                <a:srgbClr val="FFFFFF"/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45227" y="390601"/>
            <a:ext cx="2709333" cy="8322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240" y="433495"/>
            <a:ext cx="8561493" cy="8322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BD193E-FC6E-4C95-8045-29A06EE2FE75}" type="datetime1">
              <a:rPr lang="en-US" altLang="en-US"/>
              <a:pPr/>
              <a:t>3/21/2025</a:t>
            </a:fld>
            <a:endParaRPr lang="en-US" alt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54686" y="9069496"/>
            <a:ext cx="5457049" cy="519289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C18DD-9896-4ED6-BA00-52A1A3414F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91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4.wmf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/>
          </a:bodyPr>
          <a:lstStyle>
            <a:lvl1pPr>
              <a:defRPr sz="1800"/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  <p:sldLayoutId id="2147483657" r:id="rId4"/>
    <p:sldLayoutId id="2147483658" r:id="rId5"/>
    <p:sldLayoutId id="2147483659" r:id="rId6"/>
    <p:sldLayoutId id="2147483673" r:id="rId7"/>
    <p:sldLayoutId id="2147483784" r:id="rId8"/>
    <p:sldLayoutId id="2147483785" r:id="rId9"/>
    <p:sldLayoutId id="2147483786" r:id="rId10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534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8378" y="381001"/>
            <a:ext cx="10988041" cy="10926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95931" y="2123502"/>
            <a:ext cx="701293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9"/>
            <a:ext cx="4161536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9"/>
            <a:ext cx="29911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9"/>
            <a:ext cx="29911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0465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76">
        <a:defRPr>
          <a:latin typeface="+mn-lt"/>
          <a:ea typeface="+mn-ea"/>
          <a:cs typeface="+mn-cs"/>
        </a:defRPr>
      </a:lvl2pPr>
      <a:lvl3pPr marL="914354">
        <a:defRPr>
          <a:latin typeface="+mn-lt"/>
          <a:ea typeface="+mn-ea"/>
          <a:cs typeface="+mn-cs"/>
        </a:defRPr>
      </a:lvl3pPr>
      <a:lvl4pPr marL="1371530">
        <a:defRPr>
          <a:latin typeface="+mn-lt"/>
          <a:ea typeface="+mn-ea"/>
          <a:cs typeface="+mn-cs"/>
        </a:defRPr>
      </a:lvl4pPr>
      <a:lvl5pPr marL="1828706">
        <a:defRPr>
          <a:latin typeface="+mn-lt"/>
          <a:ea typeface="+mn-ea"/>
          <a:cs typeface="+mn-cs"/>
        </a:defRPr>
      </a:lvl5pPr>
      <a:lvl6pPr marL="2285884">
        <a:defRPr>
          <a:latin typeface="+mn-lt"/>
          <a:ea typeface="+mn-ea"/>
          <a:cs typeface="+mn-cs"/>
        </a:defRPr>
      </a:lvl6pPr>
      <a:lvl7pPr marL="2743060">
        <a:defRPr>
          <a:latin typeface="+mn-lt"/>
          <a:ea typeface="+mn-ea"/>
          <a:cs typeface="+mn-cs"/>
        </a:defRPr>
      </a:lvl7pPr>
      <a:lvl8pPr marL="3200236">
        <a:defRPr>
          <a:latin typeface="+mn-lt"/>
          <a:ea typeface="+mn-ea"/>
          <a:cs typeface="+mn-cs"/>
        </a:defRPr>
      </a:lvl8pPr>
      <a:lvl9pPr marL="365741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76">
        <a:defRPr>
          <a:latin typeface="+mn-lt"/>
          <a:ea typeface="+mn-ea"/>
          <a:cs typeface="+mn-cs"/>
        </a:defRPr>
      </a:lvl2pPr>
      <a:lvl3pPr marL="914354">
        <a:defRPr>
          <a:latin typeface="+mn-lt"/>
          <a:ea typeface="+mn-ea"/>
          <a:cs typeface="+mn-cs"/>
        </a:defRPr>
      </a:lvl3pPr>
      <a:lvl4pPr marL="1371530">
        <a:defRPr>
          <a:latin typeface="+mn-lt"/>
          <a:ea typeface="+mn-ea"/>
          <a:cs typeface="+mn-cs"/>
        </a:defRPr>
      </a:lvl4pPr>
      <a:lvl5pPr marL="1828706">
        <a:defRPr>
          <a:latin typeface="+mn-lt"/>
          <a:ea typeface="+mn-ea"/>
          <a:cs typeface="+mn-cs"/>
        </a:defRPr>
      </a:lvl5pPr>
      <a:lvl6pPr marL="2285884">
        <a:defRPr>
          <a:latin typeface="+mn-lt"/>
          <a:ea typeface="+mn-ea"/>
          <a:cs typeface="+mn-cs"/>
        </a:defRPr>
      </a:lvl6pPr>
      <a:lvl7pPr marL="2743060">
        <a:defRPr>
          <a:latin typeface="+mn-lt"/>
          <a:ea typeface="+mn-ea"/>
          <a:cs typeface="+mn-cs"/>
        </a:defRPr>
      </a:lvl7pPr>
      <a:lvl8pPr marL="3200236">
        <a:defRPr>
          <a:latin typeface="+mn-lt"/>
          <a:ea typeface="+mn-ea"/>
          <a:cs typeface="+mn-cs"/>
        </a:defRPr>
      </a:lvl8pPr>
      <a:lvl9pPr marL="3657413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42347" y="0"/>
            <a:ext cx="10187093" cy="16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5360" y="2059094"/>
            <a:ext cx="11054080" cy="726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059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295467" y="9103360"/>
            <a:ext cx="2709333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93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 defTabSz="487695">
              <a:defRPr/>
            </a:pPr>
            <a:fld id="{6B8BC2F6-4B5A-4324-8EF1-0D6833C7E1A9}" type="slidenum">
              <a:rPr lang="en-US" kern="1200" smtClean="0">
                <a:solidFill>
                  <a:srgbClr val="000000"/>
                </a:solidFill>
              </a:rPr>
              <a:pPr defTabSz="487695">
                <a:defRPr/>
              </a:pPr>
              <a:t>‹#›</a:t>
            </a:fld>
            <a:endParaRPr lang="en-US" kern="1200">
              <a:solidFill>
                <a:srgbClr val="000000"/>
              </a:solidFill>
            </a:endParaRP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216747" y="216747"/>
            <a:ext cx="1490133" cy="1192107"/>
            <a:chOff x="6267450" y="3810000"/>
            <a:chExt cx="2647950" cy="1905000"/>
          </a:xfrm>
        </p:grpSpPr>
        <p:pic>
          <p:nvPicPr>
            <p:cNvPr id="1030" name="Picture 2" descr="http://www.turtletrack.org/Issues00/Co01152000/Art/gator6.jpg"/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8450" y="3810000"/>
              <a:ext cx="226695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" name="Group 5"/>
            <p:cNvGrpSpPr>
              <a:grpSpLocks/>
            </p:cNvGrpSpPr>
            <p:nvPr userDrawn="1"/>
          </p:nvGrpSpPr>
          <p:grpSpPr bwMode="auto">
            <a:xfrm>
              <a:off x="6267450" y="4876800"/>
              <a:ext cx="762000" cy="660400"/>
              <a:chOff x="3794" y="2614"/>
              <a:chExt cx="1966" cy="1706"/>
            </a:xfrm>
          </p:grpSpPr>
          <p:sp>
            <p:nvSpPr>
              <p:cNvPr id="1032" name="Oval 6"/>
              <p:cNvSpPr>
                <a:spLocks noChangeArrowheads="1"/>
              </p:cNvSpPr>
              <p:nvPr/>
            </p:nvSpPr>
            <p:spPr bwMode="auto">
              <a:xfrm>
                <a:off x="3794" y="3840"/>
                <a:ext cx="1966" cy="480"/>
              </a:xfrm>
              <a:prstGeom prst="ellipse">
                <a:avLst/>
              </a:prstGeom>
              <a:gradFill rotWithShape="0">
                <a:gsLst>
                  <a:gs pos="0">
                    <a:srgbClr val="2F2F18"/>
                  </a:gs>
                  <a:gs pos="50000">
                    <a:srgbClr val="666633"/>
                  </a:gs>
                  <a:gs pos="100000">
                    <a:srgbClr val="2F2F18"/>
                  </a:gs>
                </a:gsLst>
                <a:lin ang="0" scaled="1"/>
              </a:gradFill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 defTabSz="487695" hangingPunct="1"/>
                <a:endParaRPr lang="en-US" sz="1920" kern="1200"/>
              </a:p>
            </p:txBody>
          </p:sp>
          <p:sp>
            <p:nvSpPr>
              <p:cNvPr id="1033" name="Rectangle 7"/>
              <p:cNvSpPr>
                <a:spLocks noChangeArrowheads="1"/>
              </p:cNvSpPr>
              <p:nvPr/>
            </p:nvSpPr>
            <p:spPr bwMode="auto">
              <a:xfrm>
                <a:off x="3794" y="2879"/>
                <a:ext cx="1966" cy="1200"/>
              </a:xfrm>
              <a:prstGeom prst="rect">
                <a:avLst/>
              </a:prstGeom>
              <a:gradFill rotWithShape="0">
                <a:gsLst>
                  <a:gs pos="0">
                    <a:srgbClr val="2F2F18"/>
                  </a:gs>
                  <a:gs pos="50000">
                    <a:srgbClr val="666633"/>
                  </a:gs>
                  <a:gs pos="100000">
                    <a:srgbClr val="2F2F1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 defTabSz="487695" hangingPunct="1"/>
                <a:endParaRPr lang="en-US" sz="1920" kern="1200"/>
              </a:p>
            </p:txBody>
          </p:sp>
          <p:pic>
            <p:nvPicPr>
              <p:cNvPr id="1034" name="Picture 8"/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94" y="2614"/>
                <a:ext cx="1966" cy="4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955226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40">
          <a:solidFill>
            <a:srgbClr val="0000FF"/>
          </a:solidFill>
          <a:latin typeface="+mj-lt"/>
          <a:ea typeface="+mj-ea"/>
          <a:cs typeface="Osaka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40">
          <a:solidFill>
            <a:srgbClr val="0000FF"/>
          </a:solidFill>
          <a:latin typeface="Tahoma" charset="0"/>
          <a:ea typeface="Osaka" charset="-128"/>
          <a:cs typeface="Osaka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40">
          <a:solidFill>
            <a:srgbClr val="0000FF"/>
          </a:solidFill>
          <a:latin typeface="Tahoma" charset="0"/>
          <a:ea typeface="Osaka" charset="-128"/>
          <a:cs typeface="Osaka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40">
          <a:solidFill>
            <a:srgbClr val="0000FF"/>
          </a:solidFill>
          <a:latin typeface="Tahoma" charset="0"/>
          <a:ea typeface="Osaka" charset="-128"/>
          <a:cs typeface="Osaka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40">
          <a:solidFill>
            <a:srgbClr val="0000FF"/>
          </a:solidFill>
          <a:latin typeface="Tahoma" charset="0"/>
          <a:ea typeface="Osaka" charset="-128"/>
          <a:cs typeface="Osaka"/>
        </a:defRPr>
      </a:lvl5pPr>
      <a:lvl6pPr marL="487695" algn="l" rtl="0" fontAlgn="base">
        <a:spcBef>
          <a:spcPct val="0"/>
        </a:spcBef>
        <a:spcAft>
          <a:spcPct val="0"/>
        </a:spcAft>
        <a:defRPr sz="3840">
          <a:solidFill>
            <a:srgbClr val="0000FF"/>
          </a:solidFill>
          <a:latin typeface="Tahoma" charset="0"/>
          <a:ea typeface="Osaka" charset="-128"/>
        </a:defRPr>
      </a:lvl6pPr>
      <a:lvl7pPr marL="975390" algn="l" rtl="0" fontAlgn="base">
        <a:spcBef>
          <a:spcPct val="0"/>
        </a:spcBef>
        <a:spcAft>
          <a:spcPct val="0"/>
        </a:spcAft>
        <a:defRPr sz="3840">
          <a:solidFill>
            <a:srgbClr val="0000FF"/>
          </a:solidFill>
          <a:latin typeface="Tahoma" charset="0"/>
          <a:ea typeface="Osaka" charset="-128"/>
        </a:defRPr>
      </a:lvl7pPr>
      <a:lvl8pPr marL="1463086" algn="l" rtl="0" fontAlgn="base">
        <a:spcBef>
          <a:spcPct val="0"/>
        </a:spcBef>
        <a:spcAft>
          <a:spcPct val="0"/>
        </a:spcAft>
        <a:defRPr sz="3840">
          <a:solidFill>
            <a:srgbClr val="0000FF"/>
          </a:solidFill>
          <a:latin typeface="Tahoma" charset="0"/>
          <a:ea typeface="Osaka" charset="-128"/>
        </a:defRPr>
      </a:lvl8pPr>
      <a:lvl9pPr marL="1950781" algn="l" rtl="0" fontAlgn="base">
        <a:spcBef>
          <a:spcPct val="0"/>
        </a:spcBef>
        <a:spcAft>
          <a:spcPct val="0"/>
        </a:spcAft>
        <a:defRPr sz="3840">
          <a:solidFill>
            <a:srgbClr val="0000FF"/>
          </a:solidFill>
          <a:latin typeface="Tahoma" charset="0"/>
          <a:ea typeface="Osaka" charset="-128"/>
        </a:defRPr>
      </a:lvl9pPr>
    </p:titleStyle>
    <p:bodyStyle>
      <a:lvl1pPr marL="365771" indent="-365771" algn="l" rtl="0" eaLnBrk="0" fontAlgn="base" hangingPunct="0">
        <a:spcBef>
          <a:spcPct val="20000"/>
        </a:spcBef>
        <a:spcAft>
          <a:spcPct val="0"/>
        </a:spcAft>
        <a:buChar char="•"/>
        <a:defRPr sz="3413">
          <a:solidFill>
            <a:schemeClr val="tx1"/>
          </a:solidFill>
          <a:latin typeface="+mn-lt"/>
          <a:ea typeface="+mn-ea"/>
          <a:cs typeface="Osaka"/>
        </a:defRPr>
      </a:lvl1pPr>
      <a:lvl2pPr marL="792505" indent="-304810" algn="l" rtl="0" eaLnBrk="0" fontAlgn="base" hangingPunct="0">
        <a:spcBef>
          <a:spcPct val="20000"/>
        </a:spcBef>
        <a:spcAft>
          <a:spcPct val="0"/>
        </a:spcAft>
        <a:buChar char="–"/>
        <a:defRPr sz="2987">
          <a:solidFill>
            <a:schemeClr val="tx1"/>
          </a:solidFill>
          <a:latin typeface="+mn-lt"/>
          <a:ea typeface="+mn-ea"/>
          <a:cs typeface="Osaka"/>
        </a:defRPr>
      </a:lvl2pPr>
      <a:lvl3pPr marL="1219238" indent="-243848" algn="l" rtl="0" eaLnBrk="0" fontAlgn="base" hangingPunct="0">
        <a:spcBef>
          <a:spcPct val="20000"/>
        </a:spcBef>
        <a:spcAft>
          <a:spcPct val="0"/>
        </a:spcAft>
        <a:buChar char="•"/>
        <a:defRPr sz="2560">
          <a:solidFill>
            <a:schemeClr val="tx1"/>
          </a:solidFill>
          <a:latin typeface="+mn-lt"/>
          <a:ea typeface="+mn-ea"/>
          <a:cs typeface="Osaka"/>
        </a:defRPr>
      </a:lvl3pPr>
      <a:lvl4pPr marL="1706933" indent="-243848" algn="l" rtl="0" eaLnBrk="0" fontAlgn="base" hangingPunct="0">
        <a:spcBef>
          <a:spcPct val="20000"/>
        </a:spcBef>
        <a:spcAft>
          <a:spcPct val="0"/>
        </a:spcAft>
        <a:buChar char="–"/>
        <a:defRPr sz="2133">
          <a:solidFill>
            <a:schemeClr val="tx1"/>
          </a:solidFill>
          <a:latin typeface="+mn-lt"/>
          <a:ea typeface="+mn-ea"/>
          <a:cs typeface="Osaka"/>
        </a:defRPr>
      </a:lvl4pPr>
      <a:lvl5pPr marL="2194629" indent="-243848" algn="l" rtl="0" eaLnBrk="0" fontAlgn="base" hangingPunct="0">
        <a:spcBef>
          <a:spcPct val="20000"/>
        </a:spcBef>
        <a:spcAft>
          <a:spcPct val="0"/>
        </a:spcAft>
        <a:buChar char="»"/>
        <a:defRPr sz="2133">
          <a:solidFill>
            <a:schemeClr val="tx1"/>
          </a:solidFill>
          <a:latin typeface="+mn-lt"/>
          <a:ea typeface="+mn-ea"/>
          <a:cs typeface="Osaka"/>
        </a:defRPr>
      </a:lvl5pPr>
      <a:lvl6pPr marL="2682324" indent="-243848" algn="l" rtl="0" fontAlgn="base">
        <a:spcBef>
          <a:spcPct val="20000"/>
        </a:spcBef>
        <a:spcAft>
          <a:spcPct val="0"/>
        </a:spcAft>
        <a:buChar char="»"/>
        <a:defRPr sz="2133">
          <a:solidFill>
            <a:schemeClr val="tx1"/>
          </a:solidFill>
          <a:latin typeface="+mn-lt"/>
          <a:ea typeface="+mn-ea"/>
        </a:defRPr>
      </a:lvl6pPr>
      <a:lvl7pPr marL="3170019" indent="-243848" algn="l" rtl="0" fontAlgn="base">
        <a:spcBef>
          <a:spcPct val="20000"/>
        </a:spcBef>
        <a:spcAft>
          <a:spcPct val="0"/>
        </a:spcAft>
        <a:buChar char="»"/>
        <a:defRPr sz="2133">
          <a:solidFill>
            <a:schemeClr val="tx1"/>
          </a:solidFill>
          <a:latin typeface="+mn-lt"/>
          <a:ea typeface="+mn-ea"/>
        </a:defRPr>
      </a:lvl7pPr>
      <a:lvl8pPr marL="3657714" indent="-243848" algn="l" rtl="0" fontAlgn="base">
        <a:spcBef>
          <a:spcPct val="20000"/>
        </a:spcBef>
        <a:spcAft>
          <a:spcPct val="0"/>
        </a:spcAft>
        <a:buChar char="»"/>
        <a:defRPr sz="2133">
          <a:solidFill>
            <a:schemeClr val="tx1"/>
          </a:solidFill>
          <a:latin typeface="+mn-lt"/>
          <a:ea typeface="+mn-ea"/>
        </a:defRPr>
      </a:lvl8pPr>
      <a:lvl9pPr marL="4145410" indent="-243848" algn="l" rtl="0" fontAlgn="base">
        <a:spcBef>
          <a:spcPct val="20000"/>
        </a:spcBef>
        <a:spcAft>
          <a:spcPct val="0"/>
        </a:spcAft>
        <a:buChar char="»"/>
        <a:defRPr sz="2133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3004800" cy="866987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defTabSz="975390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1920" kern="1200">
              <a:solidFill>
                <a:srgbClr val="FFFFFF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6747" y="0"/>
            <a:ext cx="12571307" cy="866987"/>
          </a:xfrm>
          <a:prstGeom prst="rect">
            <a:avLst/>
          </a:prstGeom>
        </p:spPr>
        <p:txBody>
          <a:bodyPr vert="horz" lIns="91440" rIns="45720" rtlCol="0" anchor="ctr">
            <a:no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16747" y="975360"/>
            <a:ext cx="12571307" cy="866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6747" y="9320107"/>
            <a:ext cx="3034453" cy="390596"/>
          </a:xfrm>
          <a:prstGeom prst="rect">
            <a:avLst/>
          </a:prstGeom>
        </p:spPr>
        <p:txBody>
          <a:bodyPr vert="horz" wrap="square" lIns="109728" tIns="45720" rIns="45720" bIns="0" numCol="1" anchor="b" anchorCtr="0" compatLnSpc="1">
            <a:prstTxWarp prst="textNoShape">
              <a:avLst/>
            </a:prstTxWarp>
          </a:bodyPr>
          <a:lstStyle>
            <a:lvl1pPr>
              <a:defRPr sz="1280">
                <a:solidFill>
                  <a:srgbClr val="3F3F3F"/>
                </a:solidFill>
                <a:latin typeface="Corbel" panose="020B0503020204020204" pitchFamily="34" charset="0"/>
              </a:defRPr>
            </a:lvl1pPr>
          </a:lstStyle>
          <a:p>
            <a:pPr algn="l" defTabSz="975390" fontAlgn="base" hangingPunct="1">
              <a:spcBef>
                <a:spcPct val="0"/>
              </a:spcBef>
              <a:spcAft>
                <a:spcPct val="0"/>
              </a:spcAft>
            </a:pPr>
            <a:fld id="{BFF70EC6-2EB6-4869-BF86-5B6F89633D27}" type="datetime1">
              <a:rPr lang="en-US" altLang="en-US" kern="1200" smtClean="0">
                <a:cs typeface="Arial" panose="020B0604020202020204" pitchFamily="34" charset="0"/>
              </a:rPr>
              <a:pPr algn="l" defTabSz="975390" fontAlgn="base" hangingPunct="1">
                <a:spcBef>
                  <a:spcPct val="0"/>
                </a:spcBef>
                <a:spcAft>
                  <a:spcPct val="0"/>
                </a:spcAft>
              </a:pPr>
              <a:t>3/21/2025</a:t>
            </a:fld>
            <a:endParaRPr lang="en-US" altLang="en-US" kern="1200"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9574" y="9320107"/>
            <a:ext cx="8561493" cy="390596"/>
          </a:xfrm>
          <a:prstGeom prst="rect">
            <a:avLst/>
          </a:prstGeom>
        </p:spPr>
        <p:txBody>
          <a:bodyPr vert="horz" wrap="square" lIns="45720" tIns="45720" rIns="45720" bIns="0" numCol="1" anchor="b" anchorCtr="0" compatLnSpc="1">
            <a:prstTxWarp prst="textNoShape">
              <a:avLst/>
            </a:prstTxWarp>
          </a:bodyPr>
          <a:lstStyle>
            <a:lvl1pPr>
              <a:defRPr sz="1280">
                <a:solidFill>
                  <a:srgbClr val="3F3F3F"/>
                </a:solidFill>
                <a:latin typeface="Corbel" panose="020B0503020204020204" pitchFamily="34" charset="0"/>
              </a:defRPr>
            </a:lvl1pPr>
          </a:lstStyle>
          <a:p>
            <a:pPr algn="l" defTabSz="975390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029440" y="9320107"/>
            <a:ext cx="975360" cy="390596"/>
          </a:xfrm>
          <a:prstGeom prst="rect">
            <a:avLst/>
          </a:prstGeom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>
            <a:lvl1pPr algn="r">
              <a:defRPr sz="1280">
                <a:solidFill>
                  <a:srgbClr val="3F3F3F"/>
                </a:solidFill>
                <a:latin typeface="Corbel" panose="020B0503020204020204" pitchFamily="34" charset="0"/>
              </a:defRPr>
            </a:lvl1pPr>
          </a:lstStyle>
          <a:p>
            <a:pPr defTabSz="975390" fontAlgn="base" hangingPunct="1">
              <a:spcBef>
                <a:spcPct val="0"/>
              </a:spcBef>
              <a:spcAft>
                <a:spcPct val="0"/>
              </a:spcAft>
            </a:pPr>
            <a:fld id="{925E923A-4321-410A-8B62-594982172D97}" type="slidenum">
              <a:rPr lang="en-US" altLang="en-US" kern="1200" smtClean="0">
                <a:cs typeface="Arial" panose="020B0604020202020204" pitchFamily="34" charset="0"/>
              </a:rPr>
              <a:pPr defTabSz="975390" fontAlgn="base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211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693" b="1" kern="1200">
          <a:solidFill>
            <a:srgbClr val="FFC8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693" b="1">
          <a:solidFill>
            <a:srgbClr val="FFC800"/>
          </a:solidFill>
          <a:latin typeface="Corbel" panose="020B0503020204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693" b="1">
          <a:solidFill>
            <a:srgbClr val="FFC800"/>
          </a:solidFill>
          <a:latin typeface="Corbel" panose="020B0503020204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693" b="1">
          <a:solidFill>
            <a:srgbClr val="FFC800"/>
          </a:solidFill>
          <a:latin typeface="Corbel" panose="020B0503020204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693" b="1">
          <a:solidFill>
            <a:srgbClr val="FFC800"/>
          </a:solidFill>
          <a:latin typeface="Corbel" panose="020B0503020204020204" pitchFamily="34" charset="0"/>
        </a:defRPr>
      </a:lvl5pPr>
      <a:lvl6pPr marL="487695" algn="l" rtl="0" fontAlgn="base">
        <a:spcBef>
          <a:spcPct val="0"/>
        </a:spcBef>
        <a:spcAft>
          <a:spcPct val="0"/>
        </a:spcAft>
        <a:defRPr sz="4693" b="1">
          <a:solidFill>
            <a:srgbClr val="FFC800"/>
          </a:solidFill>
          <a:latin typeface="Corbel" panose="020B0503020204020204" pitchFamily="34" charset="0"/>
        </a:defRPr>
      </a:lvl6pPr>
      <a:lvl7pPr marL="975390" algn="l" rtl="0" fontAlgn="base">
        <a:spcBef>
          <a:spcPct val="0"/>
        </a:spcBef>
        <a:spcAft>
          <a:spcPct val="0"/>
        </a:spcAft>
        <a:defRPr sz="4693" b="1">
          <a:solidFill>
            <a:srgbClr val="FFC800"/>
          </a:solidFill>
          <a:latin typeface="Corbel" panose="020B0503020204020204" pitchFamily="34" charset="0"/>
        </a:defRPr>
      </a:lvl7pPr>
      <a:lvl8pPr marL="1463086" algn="l" rtl="0" fontAlgn="base">
        <a:spcBef>
          <a:spcPct val="0"/>
        </a:spcBef>
        <a:spcAft>
          <a:spcPct val="0"/>
        </a:spcAft>
        <a:defRPr sz="4693" b="1">
          <a:solidFill>
            <a:srgbClr val="FFC800"/>
          </a:solidFill>
          <a:latin typeface="Corbel" panose="020B0503020204020204" pitchFamily="34" charset="0"/>
        </a:defRPr>
      </a:lvl8pPr>
      <a:lvl9pPr marL="1950781" algn="l" rtl="0" fontAlgn="base">
        <a:spcBef>
          <a:spcPct val="0"/>
        </a:spcBef>
        <a:spcAft>
          <a:spcPct val="0"/>
        </a:spcAft>
        <a:defRPr sz="4693" b="1">
          <a:solidFill>
            <a:srgbClr val="FFC800"/>
          </a:solidFill>
          <a:latin typeface="Corbel" panose="020B0503020204020204" pitchFamily="34" charset="0"/>
        </a:defRPr>
      </a:lvl9pPr>
      <a:extLst/>
    </p:titleStyle>
    <p:bodyStyle>
      <a:lvl1pPr marL="467375" indent="-340371" algn="l" rtl="0" fontAlgn="base">
        <a:spcBef>
          <a:spcPct val="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"/>
        <a:defRPr sz="3413" kern="1200">
          <a:solidFill>
            <a:schemeClr val="tx1"/>
          </a:solidFill>
          <a:latin typeface="+mn-lt"/>
          <a:ea typeface="+mn-ea"/>
          <a:cs typeface="+mn-cs"/>
        </a:defRPr>
      </a:lvl1pPr>
      <a:lvl2pPr marL="778958" indent="-291262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"/>
        <a:defRPr sz="2987" kern="1200">
          <a:solidFill>
            <a:schemeClr val="tx1"/>
          </a:solidFill>
          <a:latin typeface="+mn-lt"/>
          <a:ea typeface="+mn-ea"/>
          <a:cs typeface="+mn-cs"/>
        </a:defRPr>
      </a:lvl2pPr>
      <a:lvl3pPr marL="1061754" indent="-243848" algn="l" rtl="0" fontAlgn="base">
        <a:spcBef>
          <a:spcPct val="20000"/>
        </a:spcBef>
        <a:spcAft>
          <a:spcPct val="0"/>
        </a:spcAft>
        <a:buClr>
          <a:srgbClr val="E66C7D"/>
        </a:buClr>
        <a:buFont typeface="Arial" panose="020B0604020202020204" pitchFamily="34" charset="0"/>
        <a:buChar char="▪"/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297134" indent="-194740" algn="l" rtl="0" fontAlgn="base">
        <a:spcBef>
          <a:spcPct val="20000"/>
        </a:spcBef>
        <a:spcAft>
          <a:spcPct val="0"/>
        </a:spcAft>
        <a:buClr>
          <a:srgbClr val="6BB76D"/>
        </a:buClr>
        <a:buFont typeface="Arial" panose="020B0604020202020204" pitchFamily="34" charset="0"/>
        <a:buChar char="▪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1520661" indent="-194740" algn="l" rtl="0" fontAlgn="base">
        <a:spcBef>
          <a:spcPct val="20000"/>
        </a:spcBef>
        <a:spcAft>
          <a:spcPct val="0"/>
        </a:spcAft>
        <a:buClr>
          <a:srgbClr val="E88651"/>
        </a:buClr>
        <a:buFont typeface="Wingdings 3" panose="05040102010807070707" pitchFamily="18" charset="2"/>
        <a:buChar char=""/>
        <a:defRPr lang="en-US"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1736195" indent="-195078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1950781" indent="-195078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2165367" indent="-195078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2379953" indent="-195078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92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46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7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51.png"/><Relationship Id="rId2" Type="http://schemas.openxmlformats.org/officeDocument/2006/relationships/image" Target="../media/image17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1.png"/><Relationship Id="rId11" Type="http://schemas.openxmlformats.org/officeDocument/2006/relationships/image" Target="../media/image28.png"/><Relationship Id="rId5" Type="http://schemas.openxmlformats.org/officeDocument/2006/relationships/image" Target="../media/image20.png"/><Relationship Id="rId15" Type="http://schemas.openxmlformats.org/officeDocument/2006/relationships/image" Target="../media/image49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7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1.png"/><Relationship Id="rId11" Type="http://schemas.openxmlformats.org/officeDocument/2006/relationships/image" Target="../media/image28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7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7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62.png"/><Relationship Id="rId4" Type="http://schemas.openxmlformats.org/officeDocument/2006/relationships/image" Target="../media/image6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8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6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68.png"/><Relationship Id="rId11" Type="http://schemas.openxmlformats.org/officeDocument/2006/relationships/image" Target="../media/image72.png"/><Relationship Id="rId5" Type="http://schemas.openxmlformats.org/officeDocument/2006/relationships/image" Target="../media/image67.png"/><Relationship Id="rId10" Type="http://schemas.openxmlformats.org/officeDocument/2006/relationships/image" Target="../media/image71.png"/><Relationship Id="rId4" Type="http://schemas.openxmlformats.org/officeDocument/2006/relationships/image" Target="../media/image66.png"/><Relationship Id="rId9" Type="http://schemas.openxmlformats.org/officeDocument/2006/relationships/image" Target="../media/image7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69.png"/><Relationship Id="rId7" Type="http://schemas.openxmlformats.org/officeDocument/2006/relationships/image" Target="../media/image2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68.png"/><Relationship Id="rId11" Type="http://schemas.openxmlformats.org/officeDocument/2006/relationships/image" Target="../media/image72.png"/><Relationship Id="rId5" Type="http://schemas.openxmlformats.org/officeDocument/2006/relationships/image" Target="../media/image67.png"/><Relationship Id="rId10" Type="http://schemas.openxmlformats.org/officeDocument/2006/relationships/image" Target="../media/image71.png"/><Relationship Id="rId4" Type="http://schemas.openxmlformats.org/officeDocument/2006/relationships/image" Target="../media/image66.png"/><Relationship Id="rId9" Type="http://schemas.openxmlformats.org/officeDocument/2006/relationships/image" Target="../media/image7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10" Type="http://schemas.openxmlformats.org/officeDocument/2006/relationships/image" Target="../media/image84.png"/><Relationship Id="rId4" Type="http://schemas.openxmlformats.org/officeDocument/2006/relationships/image" Target="../media/image79.png"/><Relationship Id="rId9" Type="http://schemas.openxmlformats.org/officeDocument/2006/relationships/image" Target="../media/image8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7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85.png"/><Relationship Id="rId5" Type="http://schemas.openxmlformats.org/officeDocument/2006/relationships/image" Target="../media/image62.png"/><Relationship Id="rId4" Type="http://schemas.openxmlformats.org/officeDocument/2006/relationships/image" Target="../media/image6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85.png"/><Relationship Id="rId5" Type="http://schemas.openxmlformats.org/officeDocument/2006/relationships/image" Target="../media/image62.png"/><Relationship Id="rId4" Type="http://schemas.openxmlformats.org/officeDocument/2006/relationships/image" Target="../media/image65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6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68.png"/><Relationship Id="rId11" Type="http://schemas.openxmlformats.org/officeDocument/2006/relationships/image" Target="../media/image72.png"/><Relationship Id="rId5" Type="http://schemas.openxmlformats.org/officeDocument/2006/relationships/image" Target="../media/image67.png"/><Relationship Id="rId10" Type="http://schemas.openxmlformats.org/officeDocument/2006/relationships/image" Target="../media/image71.png"/><Relationship Id="rId4" Type="http://schemas.openxmlformats.org/officeDocument/2006/relationships/image" Target="../media/image66.png"/><Relationship Id="rId9" Type="http://schemas.openxmlformats.org/officeDocument/2006/relationships/image" Target="../media/image7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tiff"/><Relationship Id="rId1" Type="http://schemas.openxmlformats.org/officeDocument/2006/relationships/slideLayout" Target="../slideLayouts/slideLayout2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91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tiff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tiff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tiff"/><Relationship Id="rId1" Type="http://schemas.openxmlformats.org/officeDocument/2006/relationships/slideLayout" Target="../slideLayouts/slideLayout2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tiff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7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7" Type="http://schemas.openxmlformats.org/officeDocument/2006/relationships/image" Target="../media/image111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6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2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64.png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22.png"/><Relationship Id="rId7" Type="http://schemas.openxmlformats.org/officeDocument/2006/relationships/image" Target="../media/image128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5.png"/><Relationship Id="rId11" Type="http://schemas.openxmlformats.org/officeDocument/2006/relationships/image" Target="../media/image130.png"/><Relationship Id="rId5" Type="http://schemas.openxmlformats.org/officeDocument/2006/relationships/image" Target="../media/image46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36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2.png"/><Relationship Id="rId11" Type="http://schemas.openxmlformats.org/officeDocument/2006/relationships/image" Target="../media/image135.png"/><Relationship Id="rId5" Type="http://schemas.openxmlformats.org/officeDocument/2006/relationships/image" Target="../media/image131.png"/><Relationship Id="rId10" Type="http://schemas.openxmlformats.org/officeDocument/2006/relationships/image" Target="../media/image134.png"/><Relationship Id="rId4" Type="http://schemas.openxmlformats.org/officeDocument/2006/relationships/image" Target="../media/image22.png"/><Relationship Id="rId9" Type="http://schemas.openxmlformats.org/officeDocument/2006/relationships/image" Target="../media/image133.png"/><Relationship Id="rId14" Type="http://schemas.openxmlformats.org/officeDocument/2006/relationships/image" Target="../media/image137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36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2.png"/><Relationship Id="rId11" Type="http://schemas.openxmlformats.org/officeDocument/2006/relationships/image" Target="../media/image135.png"/><Relationship Id="rId5" Type="http://schemas.openxmlformats.org/officeDocument/2006/relationships/image" Target="../media/image131.png"/><Relationship Id="rId15" Type="http://schemas.openxmlformats.org/officeDocument/2006/relationships/image" Target="../media/image138.png"/><Relationship Id="rId10" Type="http://schemas.openxmlformats.org/officeDocument/2006/relationships/image" Target="../media/image134.png"/><Relationship Id="rId4" Type="http://schemas.openxmlformats.org/officeDocument/2006/relationships/image" Target="../media/image22.png"/><Relationship Id="rId9" Type="http://schemas.openxmlformats.org/officeDocument/2006/relationships/image" Target="../media/image133.png"/><Relationship Id="rId14" Type="http://schemas.openxmlformats.org/officeDocument/2006/relationships/image" Target="../media/image137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36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39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2.png"/><Relationship Id="rId11" Type="http://schemas.openxmlformats.org/officeDocument/2006/relationships/image" Target="../media/image135.png"/><Relationship Id="rId5" Type="http://schemas.openxmlformats.org/officeDocument/2006/relationships/image" Target="../media/image131.png"/><Relationship Id="rId15" Type="http://schemas.openxmlformats.org/officeDocument/2006/relationships/image" Target="../media/image138.png"/><Relationship Id="rId10" Type="http://schemas.openxmlformats.org/officeDocument/2006/relationships/image" Target="../media/image134.png"/><Relationship Id="rId4" Type="http://schemas.openxmlformats.org/officeDocument/2006/relationships/image" Target="../media/image22.png"/><Relationship Id="rId9" Type="http://schemas.openxmlformats.org/officeDocument/2006/relationships/image" Target="../media/image133.png"/><Relationship Id="rId14" Type="http://schemas.openxmlformats.org/officeDocument/2006/relationships/image" Target="../media/image137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36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39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2.png"/><Relationship Id="rId11" Type="http://schemas.openxmlformats.org/officeDocument/2006/relationships/image" Target="../media/image135.png"/><Relationship Id="rId5" Type="http://schemas.openxmlformats.org/officeDocument/2006/relationships/image" Target="../media/image131.png"/><Relationship Id="rId15" Type="http://schemas.openxmlformats.org/officeDocument/2006/relationships/image" Target="../media/image140.png"/><Relationship Id="rId10" Type="http://schemas.openxmlformats.org/officeDocument/2006/relationships/image" Target="../media/image134.png"/><Relationship Id="rId4" Type="http://schemas.openxmlformats.org/officeDocument/2006/relationships/image" Target="../media/image22.png"/><Relationship Id="rId9" Type="http://schemas.openxmlformats.org/officeDocument/2006/relationships/image" Target="../media/image133.png"/><Relationship Id="rId14" Type="http://schemas.openxmlformats.org/officeDocument/2006/relationships/image" Target="../media/image137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36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39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2.png"/><Relationship Id="rId11" Type="http://schemas.openxmlformats.org/officeDocument/2006/relationships/image" Target="../media/image135.png"/><Relationship Id="rId5" Type="http://schemas.openxmlformats.org/officeDocument/2006/relationships/image" Target="../media/image131.png"/><Relationship Id="rId15" Type="http://schemas.openxmlformats.org/officeDocument/2006/relationships/image" Target="../media/image140.png"/><Relationship Id="rId10" Type="http://schemas.openxmlformats.org/officeDocument/2006/relationships/image" Target="../media/image134.png"/><Relationship Id="rId4" Type="http://schemas.openxmlformats.org/officeDocument/2006/relationships/image" Target="../media/image22.png"/><Relationship Id="rId9" Type="http://schemas.openxmlformats.org/officeDocument/2006/relationships/image" Target="../media/image133.png"/><Relationship Id="rId14" Type="http://schemas.openxmlformats.org/officeDocument/2006/relationships/image" Target="../media/image137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36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39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2.png"/><Relationship Id="rId11" Type="http://schemas.openxmlformats.org/officeDocument/2006/relationships/image" Target="../media/image135.png"/><Relationship Id="rId5" Type="http://schemas.openxmlformats.org/officeDocument/2006/relationships/image" Target="../media/image131.png"/><Relationship Id="rId15" Type="http://schemas.openxmlformats.org/officeDocument/2006/relationships/image" Target="../media/image141.png"/><Relationship Id="rId10" Type="http://schemas.openxmlformats.org/officeDocument/2006/relationships/image" Target="../media/image134.png"/><Relationship Id="rId4" Type="http://schemas.openxmlformats.org/officeDocument/2006/relationships/image" Target="../media/image22.png"/><Relationship Id="rId9" Type="http://schemas.openxmlformats.org/officeDocument/2006/relationships/image" Target="../media/image133.png"/><Relationship Id="rId14" Type="http://schemas.openxmlformats.org/officeDocument/2006/relationships/image" Target="../media/image137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36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39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2.png"/><Relationship Id="rId11" Type="http://schemas.openxmlformats.org/officeDocument/2006/relationships/image" Target="../media/image135.png"/><Relationship Id="rId5" Type="http://schemas.openxmlformats.org/officeDocument/2006/relationships/image" Target="../media/image131.png"/><Relationship Id="rId15" Type="http://schemas.openxmlformats.org/officeDocument/2006/relationships/image" Target="../media/image141.png"/><Relationship Id="rId10" Type="http://schemas.openxmlformats.org/officeDocument/2006/relationships/image" Target="../media/image134.png"/><Relationship Id="rId4" Type="http://schemas.openxmlformats.org/officeDocument/2006/relationships/image" Target="../media/image22.png"/><Relationship Id="rId9" Type="http://schemas.openxmlformats.org/officeDocument/2006/relationships/image" Target="../media/image133.png"/><Relationship Id="rId14" Type="http://schemas.openxmlformats.org/officeDocument/2006/relationships/image" Target="../media/image137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36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39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2.png"/><Relationship Id="rId11" Type="http://schemas.openxmlformats.org/officeDocument/2006/relationships/image" Target="../media/image135.png"/><Relationship Id="rId5" Type="http://schemas.openxmlformats.org/officeDocument/2006/relationships/image" Target="../media/image131.png"/><Relationship Id="rId15" Type="http://schemas.openxmlformats.org/officeDocument/2006/relationships/image" Target="../media/image142.png"/><Relationship Id="rId10" Type="http://schemas.openxmlformats.org/officeDocument/2006/relationships/image" Target="../media/image134.png"/><Relationship Id="rId4" Type="http://schemas.openxmlformats.org/officeDocument/2006/relationships/image" Target="../media/image22.png"/><Relationship Id="rId9" Type="http://schemas.openxmlformats.org/officeDocument/2006/relationships/image" Target="../media/image133.png"/><Relationship Id="rId14" Type="http://schemas.openxmlformats.org/officeDocument/2006/relationships/image" Target="../media/image137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36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2.png"/><Relationship Id="rId11" Type="http://schemas.openxmlformats.org/officeDocument/2006/relationships/image" Target="../media/image135.png"/><Relationship Id="rId5" Type="http://schemas.openxmlformats.org/officeDocument/2006/relationships/image" Target="../media/image131.png"/><Relationship Id="rId15" Type="http://schemas.openxmlformats.org/officeDocument/2006/relationships/image" Target="../media/image137.png"/><Relationship Id="rId10" Type="http://schemas.openxmlformats.org/officeDocument/2006/relationships/image" Target="../media/image134.png"/><Relationship Id="rId4" Type="http://schemas.openxmlformats.org/officeDocument/2006/relationships/image" Target="../media/image22.png"/><Relationship Id="rId9" Type="http://schemas.openxmlformats.org/officeDocument/2006/relationships/image" Target="../media/image133.png"/><Relationship Id="rId14" Type="http://schemas.openxmlformats.org/officeDocument/2006/relationships/image" Target="../media/image139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44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Relationship Id="rId9" Type="http://schemas.openxmlformats.org/officeDocument/2006/relationships/image" Target="../media/image15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24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1.xml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36.png"/><Relationship Id="rId3" Type="http://schemas.openxmlformats.org/officeDocument/2006/relationships/image" Target="../media/image157.png"/><Relationship Id="rId7" Type="http://schemas.openxmlformats.org/officeDocument/2006/relationships/image" Target="../media/image132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5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1.png"/><Relationship Id="rId11" Type="http://schemas.openxmlformats.org/officeDocument/2006/relationships/image" Target="../media/image135.png"/><Relationship Id="rId5" Type="http://schemas.openxmlformats.org/officeDocument/2006/relationships/image" Target="../media/image22.png"/><Relationship Id="rId15" Type="http://schemas.openxmlformats.org/officeDocument/2006/relationships/image" Target="../media/image28.png"/><Relationship Id="rId10" Type="http://schemas.openxmlformats.org/officeDocument/2006/relationships/image" Target="../media/image134.png"/><Relationship Id="rId4" Type="http://schemas.openxmlformats.org/officeDocument/2006/relationships/image" Target="../media/image61.png"/><Relationship Id="rId9" Type="http://schemas.openxmlformats.org/officeDocument/2006/relationships/image" Target="../media/image133.png"/><Relationship Id="rId14" Type="http://schemas.openxmlformats.org/officeDocument/2006/relationships/image" Target="../media/image137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tiff"/><Relationship Id="rId1" Type="http://schemas.openxmlformats.org/officeDocument/2006/relationships/slideLayout" Target="../slideLayouts/slideLayout21.xml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66.png"/><Relationship Id="rId18" Type="http://schemas.openxmlformats.org/officeDocument/2006/relationships/image" Target="../media/image68.png"/><Relationship Id="rId3" Type="http://schemas.openxmlformats.org/officeDocument/2006/relationships/image" Target="../media/image160.png"/><Relationship Id="rId7" Type="http://schemas.openxmlformats.org/officeDocument/2006/relationships/image" Target="../media/image136.png"/><Relationship Id="rId12" Type="http://schemas.openxmlformats.org/officeDocument/2006/relationships/image" Target="../media/image165.png"/><Relationship Id="rId17" Type="http://schemas.openxmlformats.org/officeDocument/2006/relationships/image" Target="../media/image170.pn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169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4.png"/><Relationship Id="rId11" Type="http://schemas.openxmlformats.org/officeDocument/2006/relationships/image" Target="../media/image164.png"/><Relationship Id="rId5" Type="http://schemas.openxmlformats.org/officeDocument/2006/relationships/image" Target="../media/image135.png"/><Relationship Id="rId15" Type="http://schemas.openxmlformats.org/officeDocument/2006/relationships/image" Target="../media/image168.png"/><Relationship Id="rId10" Type="http://schemas.openxmlformats.org/officeDocument/2006/relationships/image" Target="../media/image163.png"/><Relationship Id="rId4" Type="http://schemas.openxmlformats.org/officeDocument/2006/relationships/image" Target="../media/image133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33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6.png"/><Relationship Id="rId5" Type="http://schemas.openxmlformats.org/officeDocument/2006/relationships/image" Target="../media/image24.png"/><Relationship Id="rId4" Type="http://schemas.openxmlformats.org/officeDocument/2006/relationships/image" Target="../media/image135.png"/><Relationship Id="rId9" Type="http://schemas.openxmlformats.org/officeDocument/2006/relationships/image" Target="../media/image171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33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6.png"/><Relationship Id="rId5" Type="http://schemas.openxmlformats.org/officeDocument/2006/relationships/image" Target="../media/image24.png"/><Relationship Id="rId10" Type="http://schemas.openxmlformats.org/officeDocument/2006/relationships/image" Target="../media/image172.png"/><Relationship Id="rId4" Type="http://schemas.openxmlformats.org/officeDocument/2006/relationships/image" Target="../media/image135.png"/><Relationship Id="rId9" Type="http://schemas.openxmlformats.org/officeDocument/2006/relationships/image" Target="../media/image171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33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6.png"/><Relationship Id="rId11" Type="http://schemas.openxmlformats.org/officeDocument/2006/relationships/image" Target="../media/image174.png"/><Relationship Id="rId5" Type="http://schemas.openxmlformats.org/officeDocument/2006/relationships/image" Target="../media/image24.png"/><Relationship Id="rId10" Type="http://schemas.openxmlformats.org/officeDocument/2006/relationships/image" Target="../media/image173.png"/><Relationship Id="rId4" Type="http://schemas.openxmlformats.org/officeDocument/2006/relationships/image" Target="../media/image135.png"/><Relationship Id="rId9" Type="http://schemas.openxmlformats.org/officeDocument/2006/relationships/image" Target="../media/image171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33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6.png"/><Relationship Id="rId11" Type="http://schemas.openxmlformats.org/officeDocument/2006/relationships/image" Target="../media/image174.png"/><Relationship Id="rId5" Type="http://schemas.openxmlformats.org/officeDocument/2006/relationships/image" Target="../media/image24.png"/><Relationship Id="rId10" Type="http://schemas.openxmlformats.org/officeDocument/2006/relationships/image" Target="../media/image173.png"/><Relationship Id="rId4" Type="http://schemas.openxmlformats.org/officeDocument/2006/relationships/image" Target="../media/image135.png"/><Relationship Id="rId9" Type="http://schemas.openxmlformats.org/officeDocument/2006/relationships/image" Target="../media/image171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33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6.png"/><Relationship Id="rId5" Type="http://schemas.openxmlformats.org/officeDocument/2006/relationships/image" Target="../media/image24.png"/><Relationship Id="rId4" Type="http://schemas.openxmlformats.org/officeDocument/2006/relationships/image" Target="../media/image135.png"/><Relationship Id="rId9" Type="http://schemas.openxmlformats.org/officeDocument/2006/relationships/image" Target="../media/image171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36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176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2.png"/><Relationship Id="rId11" Type="http://schemas.openxmlformats.org/officeDocument/2006/relationships/image" Target="../media/image135.png"/><Relationship Id="rId5" Type="http://schemas.openxmlformats.org/officeDocument/2006/relationships/image" Target="../media/image131.png"/><Relationship Id="rId15" Type="http://schemas.openxmlformats.org/officeDocument/2006/relationships/image" Target="../media/image175.png"/><Relationship Id="rId10" Type="http://schemas.openxmlformats.org/officeDocument/2006/relationships/image" Target="../media/image134.png"/><Relationship Id="rId4" Type="http://schemas.openxmlformats.org/officeDocument/2006/relationships/image" Target="../media/image22.png"/><Relationship Id="rId9" Type="http://schemas.openxmlformats.org/officeDocument/2006/relationships/image" Target="../media/image133.png"/><Relationship Id="rId14" Type="http://schemas.openxmlformats.org/officeDocument/2006/relationships/image" Target="../media/image137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36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12" Type="http://schemas.openxmlformats.org/officeDocument/2006/relationships/image" Target="../media/image24.png"/><Relationship Id="rId17" Type="http://schemas.openxmlformats.org/officeDocument/2006/relationships/image" Target="../media/image176.pn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177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2.png"/><Relationship Id="rId11" Type="http://schemas.openxmlformats.org/officeDocument/2006/relationships/image" Target="../media/image135.png"/><Relationship Id="rId5" Type="http://schemas.openxmlformats.org/officeDocument/2006/relationships/image" Target="../media/image131.png"/><Relationship Id="rId15" Type="http://schemas.openxmlformats.org/officeDocument/2006/relationships/image" Target="../media/image175.png"/><Relationship Id="rId10" Type="http://schemas.openxmlformats.org/officeDocument/2006/relationships/image" Target="../media/image134.png"/><Relationship Id="rId4" Type="http://schemas.openxmlformats.org/officeDocument/2006/relationships/image" Target="../media/image22.png"/><Relationship Id="rId9" Type="http://schemas.openxmlformats.org/officeDocument/2006/relationships/image" Target="../media/image133.png"/><Relationship Id="rId14" Type="http://schemas.openxmlformats.org/officeDocument/2006/relationships/image" Target="../media/image137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tif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1.xml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7.png"/><Relationship Id="rId18" Type="http://schemas.openxmlformats.org/officeDocument/2006/relationships/image" Target="../media/image180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12" Type="http://schemas.openxmlformats.org/officeDocument/2006/relationships/image" Target="../media/image136.png"/><Relationship Id="rId17" Type="http://schemas.openxmlformats.org/officeDocument/2006/relationships/image" Target="../media/image170.png"/><Relationship Id="rId2" Type="http://schemas.openxmlformats.org/officeDocument/2006/relationships/notesSlide" Target="../notesSlides/notesSlide45.xml"/><Relationship Id="rId16" Type="http://schemas.openxmlformats.org/officeDocument/2006/relationships/image" Target="../media/image179.png"/><Relationship Id="rId20" Type="http://schemas.openxmlformats.org/officeDocument/2006/relationships/image" Target="../media/image182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2.png"/><Relationship Id="rId11" Type="http://schemas.openxmlformats.org/officeDocument/2006/relationships/image" Target="../media/image24.png"/><Relationship Id="rId5" Type="http://schemas.openxmlformats.org/officeDocument/2006/relationships/image" Target="../media/image131.png"/><Relationship Id="rId15" Type="http://schemas.openxmlformats.org/officeDocument/2006/relationships/image" Target="../media/image178.png"/><Relationship Id="rId10" Type="http://schemas.openxmlformats.org/officeDocument/2006/relationships/image" Target="../media/image135.png"/><Relationship Id="rId19" Type="http://schemas.openxmlformats.org/officeDocument/2006/relationships/image" Target="../media/image181.png"/><Relationship Id="rId4" Type="http://schemas.openxmlformats.org/officeDocument/2006/relationships/image" Target="../media/image22.png"/><Relationship Id="rId9" Type="http://schemas.openxmlformats.org/officeDocument/2006/relationships/image" Target="../media/image134.png"/><Relationship Id="rId14" Type="http://schemas.openxmlformats.org/officeDocument/2006/relationships/image" Target="../media/image28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7.png"/><Relationship Id="rId18" Type="http://schemas.openxmlformats.org/officeDocument/2006/relationships/image" Target="../media/image180.png"/><Relationship Id="rId3" Type="http://schemas.openxmlformats.org/officeDocument/2006/relationships/image" Target="../media/image61.png"/><Relationship Id="rId21" Type="http://schemas.openxmlformats.org/officeDocument/2006/relationships/image" Target="../media/image182.png"/><Relationship Id="rId7" Type="http://schemas.openxmlformats.org/officeDocument/2006/relationships/image" Target="../media/image23.png"/><Relationship Id="rId12" Type="http://schemas.openxmlformats.org/officeDocument/2006/relationships/image" Target="../media/image136.png"/><Relationship Id="rId17" Type="http://schemas.openxmlformats.org/officeDocument/2006/relationships/image" Target="../media/image170.png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179.png"/><Relationship Id="rId20" Type="http://schemas.openxmlformats.org/officeDocument/2006/relationships/image" Target="../media/image183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2.png"/><Relationship Id="rId11" Type="http://schemas.openxmlformats.org/officeDocument/2006/relationships/image" Target="../media/image24.png"/><Relationship Id="rId5" Type="http://schemas.openxmlformats.org/officeDocument/2006/relationships/image" Target="../media/image131.png"/><Relationship Id="rId15" Type="http://schemas.openxmlformats.org/officeDocument/2006/relationships/image" Target="../media/image178.png"/><Relationship Id="rId10" Type="http://schemas.openxmlformats.org/officeDocument/2006/relationships/image" Target="../media/image135.png"/><Relationship Id="rId19" Type="http://schemas.openxmlformats.org/officeDocument/2006/relationships/image" Target="../media/image181.png"/><Relationship Id="rId4" Type="http://schemas.openxmlformats.org/officeDocument/2006/relationships/image" Target="../media/image22.png"/><Relationship Id="rId9" Type="http://schemas.openxmlformats.org/officeDocument/2006/relationships/image" Target="../media/image134.png"/><Relationship Id="rId14" Type="http://schemas.openxmlformats.org/officeDocument/2006/relationships/image" Target="../media/image28.pn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7.png"/><Relationship Id="rId18" Type="http://schemas.openxmlformats.org/officeDocument/2006/relationships/image" Target="../media/image180.png"/><Relationship Id="rId3" Type="http://schemas.openxmlformats.org/officeDocument/2006/relationships/image" Target="../media/image61.png"/><Relationship Id="rId21" Type="http://schemas.openxmlformats.org/officeDocument/2006/relationships/image" Target="../media/image185.png"/><Relationship Id="rId7" Type="http://schemas.openxmlformats.org/officeDocument/2006/relationships/image" Target="../media/image23.png"/><Relationship Id="rId12" Type="http://schemas.openxmlformats.org/officeDocument/2006/relationships/image" Target="../media/image136.png"/><Relationship Id="rId17" Type="http://schemas.openxmlformats.org/officeDocument/2006/relationships/image" Target="../media/image170.png"/><Relationship Id="rId2" Type="http://schemas.openxmlformats.org/officeDocument/2006/relationships/notesSlide" Target="../notesSlides/notesSlide47.xml"/><Relationship Id="rId16" Type="http://schemas.openxmlformats.org/officeDocument/2006/relationships/image" Target="../media/image179.png"/><Relationship Id="rId20" Type="http://schemas.openxmlformats.org/officeDocument/2006/relationships/image" Target="../media/image184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2.png"/><Relationship Id="rId11" Type="http://schemas.openxmlformats.org/officeDocument/2006/relationships/image" Target="../media/image24.png"/><Relationship Id="rId5" Type="http://schemas.openxmlformats.org/officeDocument/2006/relationships/image" Target="../media/image131.png"/><Relationship Id="rId15" Type="http://schemas.openxmlformats.org/officeDocument/2006/relationships/image" Target="../media/image178.png"/><Relationship Id="rId10" Type="http://schemas.openxmlformats.org/officeDocument/2006/relationships/image" Target="../media/image135.png"/><Relationship Id="rId19" Type="http://schemas.openxmlformats.org/officeDocument/2006/relationships/image" Target="../media/image181.png"/><Relationship Id="rId4" Type="http://schemas.openxmlformats.org/officeDocument/2006/relationships/image" Target="../media/image22.png"/><Relationship Id="rId9" Type="http://schemas.openxmlformats.org/officeDocument/2006/relationships/image" Target="../media/image134.png"/><Relationship Id="rId14" Type="http://schemas.openxmlformats.org/officeDocument/2006/relationships/image" Target="../media/image28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28.png"/><Relationship Id="rId18" Type="http://schemas.openxmlformats.org/officeDocument/2006/relationships/image" Target="../media/image181.png"/><Relationship Id="rId3" Type="http://schemas.openxmlformats.org/officeDocument/2006/relationships/image" Target="../media/image22.png"/><Relationship Id="rId7" Type="http://schemas.openxmlformats.org/officeDocument/2006/relationships/image" Target="../media/image133.png"/><Relationship Id="rId12" Type="http://schemas.openxmlformats.org/officeDocument/2006/relationships/image" Target="../media/image137.png"/><Relationship Id="rId17" Type="http://schemas.openxmlformats.org/officeDocument/2006/relationships/image" Target="../media/image180.png"/><Relationship Id="rId2" Type="http://schemas.openxmlformats.org/officeDocument/2006/relationships/image" Target="../media/image61.png"/><Relationship Id="rId16" Type="http://schemas.openxmlformats.org/officeDocument/2006/relationships/image" Target="../media/image170.png"/><Relationship Id="rId20" Type="http://schemas.openxmlformats.org/officeDocument/2006/relationships/image" Target="../media/image18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3.png"/><Relationship Id="rId11" Type="http://schemas.openxmlformats.org/officeDocument/2006/relationships/image" Target="../media/image136.png"/><Relationship Id="rId5" Type="http://schemas.openxmlformats.org/officeDocument/2006/relationships/image" Target="../media/image132.png"/><Relationship Id="rId15" Type="http://schemas.openxmlformats.org/officeDocument/2006/relationships/image" Target="../media/image179.png"/><Relationship Id="rId10" Type="http://schemas.openxmlformats.org/officeDocument/2006/relationships/image" Target="../media/image24.png"/><Relationship Id="rId19" Type="http://schemas.openxmlformats.org/officeDocument/2006/relationships/image" Target="../media/image184.png"/><Relationship Id="rId4" Type="http://schemas.openxmlformats.org/officeDocument/2006/relationships/image" Target="../media/image131.png"/><Relationship Id="rId9" Type="http://schemas.openxmlformats.org/officeDocument/2006/relationships/image" Target="../media/image135.png"/><Relationship Id="rId14" Type="http://schemas.openxmlformats.org/officeDocument/2006/relationships/image" Target="../media/image178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28.png"/><Relationship Id="rId18" Type="http://schemas.openxmlformats.org/officeDocument/2006/relationships/image" Target="../media/image181.png"/><Relationship Id="rId3" Type="http://schemas.openxmlformats.org/officeDocument/2006/relationships/image" Target="../media/image22.png"/><Relationship Id="rId7" Type="http://schemas.openxmlformats.org/officeDocument/2006/relationships/image" Target="../media/image133.png"/><Relationship Id="rId12" Type="http://schemas.openxmlformats.org/officeDocument/2006/relationships/image" Target="../media/image137.png"/><Relationship Id="rId17" Type="http://schemas.openxmlformats.org/officeDocument/2006/relationships/image" Target="../media/image180.png"/><Relationship Id="rId2" Type="http://schemas.openxmlformats.org/officeDocument/2006/relationships/image" Target="../media/image61.png"/><Relationship Id="rId16" Type="http://schemas.openxmlformats.org/officeDocument/2006/relationships/image" Target="../media/image170.png"/><Relationship Id="rId20" Type="http://schemas.openxmlformats.org/officeDocument/2006/relationships/image" Target="../media/image18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3.png"/><Relationship Id="rId11" Type="http://schemas.openxmlformats.org/officeDocument/2006/relationships/image" Target="../media/image136.png"/><Relationship Id="rId5" Type="http://schemas.openxmlformats.org/officeDocument/2006/relationships/image" Target="../media/image132.png"/><Relationship Id="rId15" Type="http://schemas.openxmlformats.org/officeDocument/2006/relationships/image" Target="../media/image179.png"/><Relationship Id="rId10" Type="http://schemas.openxmlformats.org/officeDocument/2006/relationships/image" Target="../media/image24.png"/><Relationship Id="rId19" Type="http://schemas.openxmlformats.org/officeDocument/2006/relationships/image" Target="../media/image184.png"/><Relationship Id="rId4" Type="http://schemas.openxmlformats.org/officeDocument/2006/relationships/image" Target="../media/image131.png"/><Relationship Id="rId9" Type="http://schemas.openxmlformats.org/officeDocument/2006/relationships/image" Target="../media/image135.png"/><Relationship Id="rId14" Type="http://schemas.openxmlformats.org/officeDocument/2006/relationships/image" Target="../media/image178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deeplearningsummerschool/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://www.cs.toronto.edu/~hinton/absps/NatureDeepReview.pdf" TargetMode="External"/><Relationship Id="rId4" Type="http://schemas.openxmlformats.org/officeDocument/2006/relationships/hyperlink" Target="http://www.deeplearningbook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667"/>
          <p:cNvSpPr>
            <a:spLocks noGrp="1"/>
          </p:cNvSpPr>
          <p:nvPr>
            <p:ph type="title"/>
          </p:nvPr>
        </p:nvSpPr>
        <p:spPr>
          <a:xfrm>
            <a:off x="0" y="3079"/>
            <a:ext cx="13004800" cy="253824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Introduction to neural networks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C1640C-34FF-4CBC-B900-1A86C187B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052" y="3310375"/>
            <a:ext cx="6932695" cy="542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61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43EAE2-7D02-4D03-9FC4-395745BA1E04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171010" name="Picture 2" descr="https://www.guru99.com/images/tensorflow/083018_0454_MachineLear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24" y="2623750"/>
            <a:ext cx="12287509" cy="6042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0" y="742018"/>
            <a:ext cx="12782086" cy="623758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sz="3200" b="1" dirty="0"/>
              <a:t>The Supervised Learning Business: </a:t>
            </a:r>
            <a:r>
              <a:rPr lang="en-US" sz="3200" b="1" dirty="0">
                <a:solidFill>
                  <a:srgbClr val="3333CC"/>
                </a:solidFill>
              </a:rPr>
              <a:t>Core of Pattern Recognition</a:t>
            </a:r>
          </a:p>
        </p:txBody>
      </p:sp>
    </p:spTree>
    <p:extLst>
      <p:ext uri="{BB962C8B-B14F-4D97-AF65-F5344CB8AC3E}">
        <p14:creationId xmlns:p14="http://schemas.microsoft.com/office/powerpoint/2010/main" val="280584303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307463" y="53056"/>
            <a:ext cx="12367206" cy="195072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The machine learning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493" y="2275841"/>
            <a:ext cx="12246187" cy="6436925"/>
          </a:xfrm>
        </p:spPr>
        <p:txBody>
          <a:bodyPr>
            <a:normAutofit fontScale="70000" lnSpcReduction="20000"/>
          </a:bodyPr>
          <a:lstStyle/>
          <a:p>
            <a:pPr algn="ctr">
              <a:buFontTx/>
              <a:buNone/>
            </a:pPr>
            <a:r>
              <a:rPr lang="en-US" altLang="en-US" sz="8500" dirty="0">
                <a:solidFill>
                  <a:srgbClr val="0000FF"/>
                </a:solidFill>
              </a:rPr>
              <a:t>y = </a:t>
            </a:r>
            <a:r>
              <a:rPr lang="en-US" altLang="en-US" sz="8500" i="1" dirty="0">
                <a:solidFill>
                  <a:srgbClr val="0000FF"/>
                </a:solidFill>
              </a:rPr>
              <a:t>f</a:t>
            </a:r>
            <a:r>
              <a:rPr lang="en-US" altLang="en-US" sz="8500" dirty="0">
                <a:solidFill>
                  <a:srgbClr val="0000FF"/>
                </a:solidFill>
              </a:rPr>
              <a:t>(</a:t>
            </a:r>
            <a:r>
              <a:rPr lang="en-US" altLang="en-US" sz="8500" b="1" dirty="0">
                <a:solidFill>
                  <a:srgbClr val="0000FF"/>
                </a:solidFill>
              </a:rPr>
              <a:t>x</a:t>
            </a:r>
            <a:r>
              <a:rPr lang="en-US" altLang="en-US" sz="8500" dirty="0">
                <a:solidFill>
                  <a:srgbClr val="0000FF"/>
                </a:solidFill>
              </a:rPr>
              <a:t>)</a:t>
            </a:r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Training: </a:t>
            </a:r>
            <a:r>
              <a:rPr lang="en-US" altLang="en-US" dirty="0"/>
              <a:t>given a </a:t>
            </a:r>
            <a:r>
              <a:rPr lang="en-US" altLang="en-US" i="1" dirty="0"/>
              <a:t>training set </a:t>
            </a:r>
            <a:r>
              <a:rPr lang="en-US" altLang="en-US" dirty="0"/>
              <a:t>of labeled examples</a:t>
            </a:r>
            <a:r>
              <a:rPr lang="en-US" altLang="en-US" i="1" dirty="0"/>
              <a:t> </a:t>
            </a:r>
            <a:r>
              <a:rPr lang="en-US" altLang="en-US" dirty="0">
                <a:solidFill>
                  <a:srgbClr val="0000FF"/>
                </a:solidFill>
              </a:rPr>
              <a:t>{(</a:t>
            </a:r>
            <a:r>
              <a:rPr lang="en-US" altLang="en-US" b="1" dirty="0">
                <a:solidFill>
                  <a:srgbClr val="0000FF"/>
                </a:solidFill>
              </a:rPr>
              <a:t>x</a:t>
            </a:r>
            <a:r>
              <a:rPr lang="en-US" altLang="en-US" baseline="-25000" dirty="0">
                <a:solidFill>
                  <a:srgbClr val="0000FF"/>
                </a:solidFill>
              </a:rPr>
              <a:t>1</a:t>
            </a:r>
            <a:r>
              <a:rPr lang="en-US" altLang="en-US" dirty="0">
                <a:solidFill>
                  <a:srgbClr val="0000FF"/>
                </a:solidFill>
              </a:rPr>
              <a:t>,y</a:t>
            </a:r>
            <a:r>
              <a:rPr lang="en-US" altLang="en-US" baseline="-25000" dirty="0">
                <a:solidFill>
                  <a:srgbClr val="0000FF"/>
                </a:solidFill>
              </a:rPr>
              <a:t>1</a:t>
            </a:r>
            <a:r>
              <a:rPr lang="en-US" altLang="en-US" dirty="0">
                <a:solidFill>
                  <a:srgbClr val="0000FF"/>
                </a:solidFill>
              </a:rPr>
              <a:t>), …, (</a:t>
            </a:r>
            <a:r>
              <a:rPr lang="en-US" altLang="en-US" b="1" dirty="0" err="1">
                <a:solidFill>
                  <a:srgbClr val="0000FF"/>
                </a:solidFill>
              </a:rPr>
              <a:t>x</a:t>
            </a:r>
            <a:r>
              <a:rPr lang="en-US" altLang="en-US" baseline="-25000" dirty="0" err="1">
                <a:solidFill>
                  <a:srgbClr val="0000FF"/>
                </a:solidFill>
              </a:rPr>
              <a:t>N</a:t>
            </a:r>
            <a:r>
              <a:rPr lang="en-US" altLang="en-US" dirty="0" err="1">
                <a:solidFill>
                  <a:srgbClr val="0000FF"/>
                </a:solidFill>
              </a:rPr>
              <a:t>,y</a:t>
            </a:r>
            <a:r>
              <a:rPr lang="en-US" altLang="en-US" baseline="-25000" dirty="0" err="1">
                <a:solidFill>
                  <a:srgbClr val="0000FF"/>
                </a:solidFill>
              </a:rPr>
              <a:t>N</a:t>
            </a:r>
            <a:r>
              <a:rPr lang="en-US" altLang="en-US" dirty="0">
                <a:solidFill>
                  <a:srgbClr val="0000FF"/>
                </a:solidFill>
              </a:rPr>
              <a:t>)}</a:t>
            </a:r>
            <a:r>
              <a:rPr lang="en-US" altLang="en-US" dirty="0"/>
              <a:t>, estimate the prediction function </a:t>
            </a:r>
            <a:r>
              <a:rPr lang="en-US" altLang="en-US" i="1" dirty="0">
                <a:solidFill>
                  <a:srgbClr val="0000FF"/>
                </a:solidFill>
              </a:rPr>
              <a:t>f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by minimizing the prediction error on the training set</a:t>
            </a:r>
          </a:p>
          <a:p>
            <a:r>
              <a:rPr lang="en-US" altLang="en-US" b="1" dirty="0"/>
              <a:t>Testing:</a:t>
            </a:r>
            <a:r>
              <a:rPr lang="en-US" altLang="en-US" dirty="0"/>
              <a:t> apply </a:t>
            </a:r>
            <a:r>
              <a:rPr lang="en-US" altLang="en-US" dirty="0">
                <a:solidFill>
                  <a:srgbClr val="0000FF"/>
                </a:solidFill>
              </a:rPr>
              <a:t>f</a:t>
            </a:r>
            <a:r>
              <a:rPr lang="en-US" altLang="en-US" dirty="0"/>
              <a:t> to a never before seen </a:t>
            </a:r>
            <a:r>
              <a:rPr lang="en-US" altLang="en-US" i="1" dirty="0"/>
              <a:t>test example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x</a:t>
            </a:r>
            <a:r>
              <a:rPr lang="en-US" altLang="en-US" dirty="0"/>
              <a:t> and output the predicted value </a:t>
            </a:r>
            <a:r>
              <a:rPr lang="en-US" altLang="en-US" dirty="0">
                <a:solidFill>
                  <a:srgbClr val="0000FF"/>
                </a:solidFill>
              </a:rPr>
              <a:t>y = </a:t>
            </a:r>
            <a:r>
              <a:rPr lang="en-US" altLang="en-US" i="1" dirty="0">
                <a:solidFill>
                  <a:srgbClr val="0000FF"/>
                </a:solidFill>
              </a:rPr>
              <a:t>f</a:t>
            </a:r>
            <a:r>
              <a:rPr lang="en-US" altLang="en-US" dirty="0">
                <a:solidFill>
                  <a:srgbClr val="0000FF"/>
                </a:solidFill>
              </a:rPr>
              <a:t>(</a:t>
            </a:r>
            <a:r>
              <a:rPr lang="en-US" altLang="en-US" b="1" dirty="0">
                <a:solidFill>
                  <a:srgbClr val="0000FF"/>
                </a:solidFill>
              </a:rPr>
              <a:t>x</a:t>
            </a:r>
            <a:r>
              <a:rPr lang="en-US" altLang="en-US" dirty="0">
                <a:solidFill>
                  <a:srgbClr val="0000FF"/>
                </a:solidFill>
              </a:rPr>
              <a:t>)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 flipH="1" flipV="1">
            <a:off x="4942976" y="3927675"/>
            <a:ext cx="973102" cy="225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 flipH="1" flipV="1">
            <a:off x="6231468" y="4172374"/>
            <a:ext cx="975360" cy="451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10800000">
            <a:off x="7586133" y="3684693"/>
            <a:ext cx="1300480" cy="9753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9" name="TextBox 8"/>
          <p:cNvSpPr txBox="1">
            <a:spLocks noChangeArrowheads="1"/>
          </p:cNvSpPr>
          <p:nvPr/>
        </p:nvSpPr>
        <p:spPr bwMode="auto">
          <a:xfrm>
            <a:off x="4659895" y="4479749"/>
            <a:ext cx="1192374" cy="5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46" tIns="65023" rIns="130046" bIns="65023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SzPct val="65000"/>
              <a:buFontTx/>
              <a:buNone/>
            </a:pPr>
            <a:r>
              <a:rPr lang="en-US" altLang="en-US" sz="2600" dirty="0">
                <a:solidFill>
                  <a:srgbClr val="000000"/>
                </a:solidFill>
                <a:latin typeface="Arial" panose="020B0604020202020204" pitchFamily="34" charset="0"/>
              </a:rPr>
              <a:t>output</a:t>
            </a:r>
          </a:p>
        </p:txBody>
      </p:sp>
      <p:sp>
        <p:nvSpPr>
          <p:cNvPr id="28680" name="TextBox 9"/>
          <p:cNvSpPr txBox="1">
            <a:spLocks noChangeArrowheads="1"/>
          </p:cNvSpPr>
          <p:nvPr/>
        </p:nvSpPr>
        <p:spPr bwMode="auto">
          <a:xfrm>
            <a:off x="5436729" y="4660054"/>
            <a:ext cx="2691271" cy="931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046" tIns="65023" rIns="130046" bIns="65023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65000"/>
              <a:buFontTx/>
              <a:buNone/>
            </a:pPr>
            <a:r>
              <a:rPr lang="en-US" altLang="en-US" sz="2600" dirty="0">
                <a:solidFill>
                  <a:srgbClr val="000000"/>
                </a:solidFill>
                <a:latin typeface="Arial" panose="020B0604020202020204" pitchFamily="34" charset="0"/>
              </a:rPr>
              <a:t>prediction function</a:t>
            </a:r>
          </a:p>
        </p:txBody>
      </p:sp>
      <p:sp>
        <p:nvSpPr>
          <p:cNvPr id="28681" name="TextBox 10"/>
          <p:cNvSpPr txBox="1">
            <a:spLocks noChangeArrowheads="1"/>
          </p:cNvSpPr>
          <p:nvPr/>
        </p:nvSpPr>
        <p:spPr bwMode="auto">
          <a:xfrm>
            <a:off x="8104277" y="4711570"/>
            <a:ext cx="2149404" cy="5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046" tIns="65023" rIns="130046" bIns="65023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65000"/>
              <a:buFontTx/>
              <a:buNone/>
            </a:pPr>
            <a:r>
              <a:rPr lang="en-US" altLang="en-US" sz="2600" dirty="0">
                <a:solidFill>
                  <a:srgbClr val="000000"/>
                </a:solidFill>
                <a:latin typeface="Arial" panose="020B0604020202020204" pitchFamily="34" charset="0"/>
              </a:rPr>
              <a:t>Data feature</a:t>
            </a:r>
          </a:p>
        </p:txBody>
      </p:sp>
      <p:sp>
        <p:nvSpPr>
          <p:cNvPr id="28682" name="TextBox 11"/>
          <p:cNvSpPr txBox="1">
            <a:spLocks noChangeArrowheads="1"/>
          </p:cNvSpPr>
          <p:nvPr/>
        </p:nvSpPr>
        <p:spPr bwMode="auto">
          <a:xfrm>
            <a:off x="10403841" y="9360748"/>
            <a:ext cx="2689579" cy="39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46" tIns="65023" rIns="130046" bIns="65023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700" dirty="0">
                <a:solidFill>
                  <a:srgbClr val="A6A6A6"/>
                </a:solidFill>
              </a:rPr>
              <a:t>Slide credit: L. </a:t>
            </a:r>
            <a:r>
              <a:rPr lang="en-US" altLang="en-US" sz="1700" dirty="0" err="1">
                <a:solidFill>
                  <a:srgbClr val="A6A6A6"/>
                </a:solidFill>
              </a:rPr>
              <a:t>Lazebnik</a:t>
            </a:r>
            <a:endParaRPr lang="en-US" altLang="en-US" sz="1700" dirty="0">
              <a:solidFill>
                <a:srgbClr val="A6A6A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/>
          <p:cNvSpPr>
            <a:spLocks noChangeArrowheads="1"/>
          </p:cNvSpPr>
          <p:nvPr/>
        </p:nvSpPr>
        <p:spPr bwMode="auto">
          <a:xfrm>
            <a:off x="43181" y="116174"/>
            <a:ext cx="12641702" cy="97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046" tIns="65023" rIns="130046" bIns="65023"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6000" dirty="0">
                <a:solidFill>
                  <a:srgbClr val="006633"/>
                </a:solidFill>
                <a:latin typeface="Garamond" panose="02020404030301010803" pitchFamily="18" charset="0"/>
              </a:rPr>
              <a:t> Linear Classifiers: The Simple Models!</a:t>
            </a:r>
          </a:p>
        </p:txBody>
      </p:sp>
      <p:pic>
        <p:nvPicPr>
          <p:cNvPr id="3074" name="Picture 2" descr="linearclassifier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9366" y="1941803"/>
            <a:ext cx="11734319" cy="61590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26397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634" name="Picture 2" descr="linearclassifier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0110" y="1442210"/>
            <a:ext cx="12016355" cy="6671480"/>
          </a:xfrm>
          <a:prstGeom prst="rect">
            <a:avLst/>
          </a:prstGeom>
          <a:noFill/>
        </p:spPr>
      </p:pic>
      <p:pic>
        <p:nvPicPr>
          <p:cNvPr id="325636" name="Picture 4" descr="linearclassifier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7546" y="1417860"/>
            <a:ext cx="12235583" cy="673446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658" name="Picture 2" descr="Algorithm GIF - Find on GIFER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2251" y="353946"/>
            <a:ext cx="8846757" cy="871035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/>
          <p:cNvSpPr/>
          <p:nvPr/>
        </p:nvSpPr>
        <p:spPr>
          <a:xfrm>
            <a:off x="10541565" y="7938347"/>
            <a:ext cx="2492587" cy="13004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sz="2800" dirty="0">
                <a:solidFill>
                  <a:srgbClr val="000000"/>
                </a:solidFill>
              </a:rPr>
              <a:t>Prediction</a:t>
            </a:r>
          </a:p>
        </p:txBody>
      </p:sp>
      <p:sp>
        <p:nvSpPr>
          <p:cNvPr id="30723" name="Title 1"/>
          <p:cNvSpPr>
            <a:spLocks noGrp="1"/>
          </p:cNvSpPr>
          <p:nvPr>
            <p:ph type="title"/>
          </p:nvPr>
        </p:nvSpPr>
        <p:spPr>
          <a:xfrm>
            <a:off x="650240" y="1"/>
            <a:ext cx="11704320" cy="112663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7760" y="1408853"/>
            <a:ext cx="2275840" cy="11921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sz="2800" dirty="0">
                <a:solidFill>
                  <a:srgbClr val="000000"/>
                </a:solidFill>
              </a:rPr>
              <a:t>Training Labels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08373" y="2232943"/>
            <a:ext cx="3467947" cy="4377830"/>
            <a:chOff x="228600" y="1417320"/>
            <a:chExt cx="2438400" cy="2849880"/>
          </a:xfrm>
        </p:grpSpPr>
        <p:sp>
          <p:nvSpPr>
            <p:cNvPr id="30744" name="TextBox 7"/>
            <p:cNvSpPr txBox="1">
              <a:spLocks noChangeArrowheads="1"/>
            </p:cNvSpPr>
            <p:nvPr/>
          </p:nvSpPr>
          <p:spPr bwMode="auto">
            <a:xfrm>
              <a:off x="533400" y="1417320"/>
              <a:ext cx="1828800" cy="300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Lucida Bright" panose="02040602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Lucida Bright" panose="02040602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Lucida Bright" panose="02040602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Lucida Bright" panose="02040602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Lucida Bright" panose="02040602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Lucida Bright" panose="02040602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Lucida Bright" panose="02040602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Lucida Bright" panose="02040602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Lucida Bright" panose="020406020505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65000"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Training Images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28600" y="1448185"/>
              <a:ext cx="2438400" cy="281901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/>
              </a:pPr>
              <a:endParaRPr lang="en-US" sz="34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7694507" y="3467947"/>
            <a:ext cx="1950720" cy="13004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sz="2800" dirty="0">
                <a:solidFill>
                  <a:srgbClr val="000000"/>
                </a:solidFill>
              </a:rPr>
              <a:t>Training</a:t>
            </a:r>
          </a:p>
        </p:txBody>
      </p:sp>
      <p:sp>
        <p:nvSpPr>
          <p:cNvPr id="30727" name="TextBox 13"/>
          <p:cNvSpPr txBox="1">
            <a:spLocks noChangeArrowheads="1"/>
          </p:cNvSpPr>
          <p:nvPr/>
        </p:nvSpPr>
        <p:spPr bwMode="auto">
          <a:xfrm>
            <a:off x="785707" y="1192107"/>
            <a:ext cx="2284019" cy="746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46" tIns="65023" rIns="130046" bIns="65023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SzPct val="65000"/>
              <a:buFontTx/>
              <a:buNone/>
            </a:pPr>
            <a:r>
              <a:rPr lang="en-US" altLang="en-US" sz="4000" b="1" dirty="0">
                <a:solidFill>
                  <a:srgbClr val="000000"/>
                </a:solidFill>
                <a:latin typeface="Arial" panose="020B0604020202020204" pitchFamily="34" charset="0"/>
              </a:rPr>
              <a:t>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51680" y="3467947"/>
            <a:ext cx="2167467" cy="13004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sz="2800" dirty="0">
                <a:solidFill>
                  <a:srgbClr val="000000"/>
                </a:solidFill>
              </a:rPr>
              <a:t>Image Features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84694" y="3901440"/>
            <a:ext cx="758613" cy="433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6827520" y="3901440"/>
            <a:ext cx="758613" cy="433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 rot="5400000">
            <a:off x="8279272" y="2817707"/>
            <a:ext cx="650240" cy="433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901440" y="7911253"/>
            <a:ext cx="2492587" cy="13004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sz="2800" dirty="0">
                <a:solidFill>
                  <a:srgbClr val="000000"/>
                </a:solidFill>
              </a:rPr>
              <a:t>Image Features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034454" y="8344747"/>
            <a:ext cx="758613" cy="433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254" name="TextBox 20"/>
          <p:cNvSpPr txBox="1">
            <a:spLocks noChangeArrowheads="1"/>
          </p:cNvSpPr>
          <p:nvPr/>
        </p:nvSpPr>
        <p:spPr bwMode="auto">
          <a:xfrm>
            <a:off x="882793" y="6827521"/>
            <a:ext cx="2085247" cy="746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46" tIns="65023" rIns="130046" bIns="65023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SzPct val="65000"/>
              <a:buFontTx/>
              <a:buNone/>
            </a:pPr>
            <a:r>
              <a:rPr lang="en-US" altLang="en-US" sz="4000" b="1" dirty="0">
                <a:solidFill>
                  <a:srgbClr val="000000"/>
                </a:solidFill>
                <a:latin typeface="Arial" panose="020B0604020202020204" pitchFamily="34" charset="0"/>
              </a:rPr>
              <a:t>Testing</a:t>
            </a:r>
          </a:p>
        </p:txBody>
      </p:sp>
      <p:sp>
        <p:nvSpPr>
          <p:cNvPr id="10255" name="TextBox 21"/>
          <p:cNvSpPr txBox="1">
            <a:spLocks noChangeArrowheads="1"/>
          </p:cNvSpPr>
          <p:nvPr/>
        </p:nvSpPr>
        <p:spPr bwMode="auto">
          <a:xfrm>
            <a:off x="650240" y="9096587"/>
            <a:ext cx="1801515" cy="500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46" tIns="65023" rIns="130046" bIns="65023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Lucida Bright" panose="02040602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Lucida Bright" panose="02040602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SzPct val="65000"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Test Image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753600" y="3901440"/>
            <a:ext cx="758613" cy="433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728960" y="3467947"/>
            <a:ext cx="2167467" cy="13004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sz="2800" dirty="0">
                <a:solidFill>
                  <a:srgbClr val="000000"/>
                </a:solidFill>
              </a:rPr>
              <a:t>Learned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9387" y="7911253"/>
            <a:ext cx="2492587" cy="13004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sz="2800" dirty="0">
                <a:solidFill>
                  <a:srgbClr val="000000"/>
                </a:solidFill>
              </a:rPr>
              <a:t>Learned model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502400" y="8344747"/>
            <a:ext cx="758613" cy="433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40" name="TextBox 30"/>
          <p:cNvSpPr txBox="1">
            <a:spLocks noChangeArrowheads="1"/>
          </p:cNvSpPr>
          <p:nvPr/>
        </p:nvSpPr>
        <p:spPr bwMode="auto">
          <a:xfrm>
            <a:off x="8615681" y="198358"/>
            <a:ext cx="4473223" cy="39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046" tIns="65023" rIns="130046" bIns="65023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700" dirty="0">
                <a:solidFill>
                  <a:schemeClr val="bg1">
                    <a:lumMod val="50000"/>
                  </a:schemeClr>
                </a:solidFill>
              </a:rPr>
              <a:t>Slide credit: D. </a:t>
            </a:r>
            <a:r>
              <a:rPr lang="en-US" altLang="en-US" sz="1700" dirty="0" err="1">
                <a:solidFill>
                  <a:schemeClr val="bg1">
                    <a:lumMod val="50000"/>
                  </a:schemeClr>
                </a:solidFill>
              </a:rPr>
              <a:t>Hoiem</a:t>
            </a:r>
            <a:r>
              <a:rPr lang="en-US" altLang="en-US" sz="1700" dirty="0">
                <a:solidFill>
                  <a:schemeClr val="bg1">
                    <a:lumMod val="50000"/>
                  </a:schemeClr>
                </a:solidFill>
              </a:rPr>
              <a:t> and L. </a:t>
            </a:r>
            <a:r>
              <a:rPr lang="en-US" altLang="en-US" sz="1700" dirty="0" err="1">
                <a:solidFill>
                  <a:schemeClr val="bg1">
                    <a:lumMod val="50000"/>
                  </a:schemeClr>
                </a:solidFill>
              </a:rPr>
              <a:t>Lazebnik</a:t>
            </a:r>
            <a:endParaRPr lang="en-US" altLang="en-US" sz="1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9861973" y="8344747"/>
            <a:ext cx="650240" cy="433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307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47" y="3467947"/>
            <a:ext cx="3183467" cy="2709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480" y="8019627"/>
            <a:ext cx="1137920" cy="1137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0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10254" grpId="0"/>
      <p:bldP spid="10255" grpId="0"/>
      <p:bldP spid="23" grpId="0" animBg="1"/>
      <p:bldP spid="24" grpId="0" animBg="1"/>
      <p:bldP spid="25" grpId="0" animBg="1"/>
      <p:bldP spid="26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K-nearest neighb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Perceptron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4424245" y="8551337"/>
            <a:ext cx="8212065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Some Slides: UC Berkeley Machine Learning</a:t>
            </a:r>
            <a:r>
              <a:rPr kumimoji="0" lang="en-US" sz="24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Course, CMU ML Course, Andrew Ng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10808651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1950s Age of the Perceptron"/>
          <p:cNvSpPr txBox="1"/>
          <p:nvPr/>
        </p:nvSpPr>
        <p:spPr>
          <a:xfrm>
            <a:off x="4312869" y="1797050"/>
            <a:ext cx="59682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1950s Age of the Perceptron</a:t>
            </a:r>
          </a:p>
        </p:txBody>
      </p:sp>
      <p:sp>
        <p:nvSpPr>
          <p:cNvPr id="124" name="1980s Age of the Neural Network"/>
          <p:cNvSpPr txBox="1"/>
          <p:nvPr/>
        </p:nvSpPr>
        <p:spPr>
          <a:xfrm>
            <a:off x="3407613" y="4216400"/>
            <a:ext cx="687354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1980s Age of the Neural Network</a:t>
            </a:r>
          </a:p>
        </p:txBody>
      </p:sp>
      <p:sp>
        <p:nvSpPr>
          <p:cNvPr id="125" name="2010s Age of the Deep Network"/>
          <p:cNvSpPr txBox="1"/>
          <p:nvPr/>
        </p:nvSpPr>
        <p:spPr>
          <a:xfrm>
            <a:off x="3636213" y="7251700"/>
            <a:ext cx="664494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2010s Age of the Deep Network</a:t>
            </a:r>
          </a:p>
        </p:txBody>
      </p:sp>
      <p:sp>
        <p:nvSpPr>
          <p:cNvPr id="126" name="1969 Perceptrons (Minsky, Papert)"/>
          <p:cNvSpPr txBox="1"/>
          <p:nvPr/>
        </p:nvSpPr>
        <p:spPr>
          <a:xfrm>
            <a:off x="6653962" y="2781299"/>
            <a:ext cx="3633369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1969 Perceptrons (Minsky, Papert)</a:t>
            </a:r>
          </a:p>
        </p:txBody>
      </p:sp>
      <p:sp>
        <p:nvSpPr>
          <p:cNvPr id="127" name="2000s Age of the Support Vector Machine"/>
          <p:cNvSpPr txBox="1"/>
          <p:nvPr/>
        </p:nvSpPr>
        <p:spPr>
          <a:xfrm>
            <a:off x="5893410" y="5918199"/>
            <a:ext cx="4387749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2000s Age of the Support Vector Machine</a:t>
            </a:r>
          </a:p>
        </p:txBody>
      </p:sp>
      <p:sp>
        <p:nvSpPr>
          <p:cNvPr id="128" name="1957 The Perceptron (Rosenblatt)"/>
          <p:cNvSpPr txBox="1"/>
          <p:nvPr/>
        </p:nvSpPr>
        <p:spPr>
          <a:xfrm>
            <a:off x="6719113" y="2425699"/>
            <a:ext cx="356204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1957 The Perceptron (Rosenblatt)</a:t>
            </a:r>
          </a:p>
        </p:txBody>
      </p:sp>
      <p:sp>
        <p:nvSpPr>
          <p:cNvPr id="129" name="1990s Age of the Graphical Model"/>
          <p:cNvSpPr txBox="1"/>
          <p:nvPr/>
        </p:nvSpPr>
        <p:spPr>
          <a:xfrm>
            <a:off x="6660134" y="5471318"/>
            <a:ext cx="362102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1990s Age of the Graphical Model</a:t>
            </a:r>
          </a:p>
        </p:txBody>
      </p:sp>
      <p:sp>
        <p:nvSpPr>
          <p:cNvPr id="130" name="1986 Back propagation (Hinton)"/>
          <p:cNvSpPr txBox="1"/>
          <p:nvPr/>
        </p:nvSpPr>
        <p:spPr>
          <a:xfrm>
            <a:off x="6869595" y="4756149"/>
            <a:ext cx="338808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1986 Back propagation (Hinton)</a:t>
            </a:r>
          </a:p>
        </p:txBody>
      </p:sp>
      <p:sp>
        <p:nvSpPr>
          <p:cNvPr id="131" name="deep learning = known algorithms + computing power + big data"/>
          <p:cNvSpPr txBox="1"/>
          <p:nvPr/>
        </p:nvSpPr>
        <p:spPr>
          <a:xfrm>
            <a:off x="1796113" y="8516937"/>
            <a:ext cx="8675974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deep learning = known algorithms + computing power + big data</a:t>
            </a:r>
          </a:p>
        </p:txBody>
      </p:sp>
    </p:spTree>
    <p:extLst>
      <p:ext uri="{BB962C8B-B14F-4D97-AF65-F5344CB8AC3E}">
        <p14:creationId xmlns:p14="http://schemas.microsoft.com/office/powerpoint/2010/main" val="269581285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Image"/>
          <p:cNvGrpSpPr/>
          <p:nvPr/>
        </p:nvGrpSpPr>
        <p:grpSpPr>
          <a:xfrm>
            <a:off x="803202" y="602555"/>
            <a:ext cx="11398396" cy="8909745"/>
            <a:chOff x="0" y="0"/>
            <a:chExt cx="11398394" cy="8909744"/>
          </a:xfrm>
        </p:grpSpPr>
        <p:pic>
          <p:nvPicPr>
            <p:cNvPr id="134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000" y="88900"/>
              <a:ext cx="11144395" cy="8579545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33" name="Image" descr="Imag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1398395" cy="8909745"/>
            </a:xfrm>
            <a:prstGeom prst="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196841359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Line"/>
          <p:cNvSpPr/>
          <p:nvPr/>
        </p:nvSpPr>
        <p:spPr>
          <a:xfrm>
            <a:off x="6505575" y="5081394"/>
            <a:ext cx="389697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8" name="Circle"/>
          <p:cNvSpPr/>
          <p:nvPr/>
        </p:nvSpPr>
        <p:spPr>
          <a:xfrm>
            <a:off x="8873616" y="47080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9" name="Line"/>
          <p:cNvSpPr/>
          <p:nvPr/>
        </p:nvSpPr>
        <p:spPr>
          <a:xfrm>
            <a:off x="3419474" y="2634059"/>
            <a:ext cx="3102671" cy="241538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0" name="Line"/>
          <p:cNvSpPr/>
          <p:nvPr/>
        </p:nvSpPr>
        <p:spPr>
          <a:xfrm>
            <a:off x="3076574" y="3874442"/>
            <a:ext cx="3454302" cy="117179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1" name="Line"/>
          <p:cNvSpPr/>
          <p:nvPr/>
        </p:nvSpPr>
        <p:spPr>
          <a:xfrm>
            <a:off x="3076575" y="5116026"/>
            <a:ext cx="345430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2" name="Line"/>
          <p:cNvSpPr/>
          <p:nvPr/>
        </p:nvSpPr>
        <p:spPr>
          <a:xfrm flipV="1">
            <a:off x="3076575" y="4996073"/>
            <a:ext cx="3454301" cy="217574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3" name="Circle"/>
          <p:cNvSpPr/>
          <p:nvPr/>
        </p:nvSpPr>
        <p:spPr>
          <a:xfrm>
            <a:off x="6136766" y="47080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4" name="Circle"/>
          <p:cNvSpPr/>
          <p:nvPr/>
        </p:nvSpPr>
        <p:spPr>
          <a:xfrm>
            <a:off x="2714116" y="2244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5" name="Circle"/>
          <p:cNvSpPr/>
          <p:nvPr/>
        </p:nvSpPr>
        <p:spPr>
          <a:xfrm>
            <a:off x="2714116" y="34761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6" name="Circle"/>
          <p:cNvSpPr/>
          <p:nvPr/>
        </p:nvSpPr>
        <p:spPr>
          <a:xfrm>
            <a:off x="2714116" y="47080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7" name="Circle"/>
          <p:cNvSpPr/>
          <p:nvPr/>
        </p:nvSpPr>
        <p:spPr>
          <a:xfrm>
            <a:off x="2714116" y="67781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14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396" y="2502644"/>
            <a:ext cx="4191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169" y="3723332"/>
            <a:ext cx="4318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7874" y="4939010"/>
            <a:ext cx="4318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0455" y="6998741"/>
            <a:ext cx="5715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6801" y="5868044"/>
            <a:ext cx="63501" cy="431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6402" y="3174355"/>
            <a:ext cx="4699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3742" y="3974256"/>
            <a:ext cx="4826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1757" y="4775200"/>
            <a:ext cx="482601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9738" y="5769719"/>
            <a:ext cx="635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5520" y="4909889"/>
            <a:ext cx="279401" cy="317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18600" y="4854922"/>
            <a:ext cx="241300" cy="431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44782" y="4966047"/>
            <a:ext cx="2286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The Perceptron"/>
          <p:cNvSpPr txBox="1"/>
          <p:nvPr/>
        </p:nvSpPr>
        <p:spPr>
          <a:xfrm>
            <a:off x="4877968" y="603250"/>
            <a:ext cx="324886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The Perceptron</a:t>
            </a:r>
          </a:p>
        </p:txBody>
      </p:sp>
      <p:sp>
        <p:nvSpPr>
          <p:cNvPr id="161" name="inputs"/>
          <p:cNvSpPr txBox="1"/>
          <p:nvPr/>
        </p:nvSpPr>
        <p:spPr>
          <a:xfrm>
            <a:off x="833158" y="4867622"/>
            <a:ext cx="87617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inputs</a:t>
            </a:r>
          </a:p>
        </p:txBody>
      </p:sp>
      <p:sp>
        <p:nvSpPr>
          <p:cNvPr id="162" name="weights"/>
          <p:cNvSpPr txBox="1"/>
          <p:nvPr/>
        </p:nvSpPr>
        <p:spPr>
          <a:xfrm>
            <a:off x="4983119" y="2646232"/>
            <a:ext cx="105985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weights</a:t>
            </a:r>
          </a:p>
        </p:txBody>
      </p:sp>
      <p:sp>
        <p:nvSpPr>
          <p:cNvPr id="163" name="output"/>
          <p:cNvSpPr txBox="1"/>
          <p:nvPr/>
        </p:nvSpPr>
        <p:spPr>
          <a:xfrm>
            <a:off x="11271305" y="4867622"/>
            <a:ext cx="90408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output</a:t>
            </a:r>
          </a:p>
        </p:txBody>
      </p:sp>
      <p:sp>
        <p:nvSpPr>
          <p:cNvPr id="164" name="sum"/>
          <p:cNvSpPr txBox="1"/>
          <p:nvPr/>
        </p:nvSpPr>
        <p:spPr>
          <a:xfrm>
            <a:off x="6183631" y="4051300"/>
            <a:ext cx="63656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sum</a:t>
            </a:r>
          </a:p>
        </p:txBody>
      </p:sp>
      <p:sp>
        <p:nvSpPr>
          <p:cNvPr id="165" name="sign function…"/>
          <p:cNvSpPr txBox="1"/>
          <p:nvPr/>
        </p:nvSpPr>
        <p:spPr>
          <a:xfrm>
            <a:off x="8232285" y="3942506"/>
            <a:ext cx="210032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sign function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+mn-ea"/>
              <a:cs typeface="+mn-cs"/>
              <a:sym typeface="Helvetica Light"/>
            </a:endParaRPr>
          </a:p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ea typeface="+mn-ea"/>
                <a:cs typeface="+mn-cs"/>
                <a:sym typeface="Helvetica Light"/>
              </a:rPr>
              <a:t>(Heaviside step function)</a:t>
            </a:r>
          </a:p>
        </p:txBody>
      </p:sp>
    </p:spTree>
    <p:extLst>
      <p:ext uri="{BB962C8B-B14F-4D97-AF65-F5344CB8AC3E}">
        <p14:creationId xmlns:p14="http://schemas.microsoft.com/office/powerpoint/2010/main" val="426724052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968501"/>
            <a:ext cx="13004800" cy="439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l" defTabSz="1300460" hangingPunct="1"/>
            <a:endParaRPr sz="1801" kern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5380" y="6756400"/>
            <a:ext cx="10728960" cy="2557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300460" hangingPunct="1"/>
            <a:r>
              <a:rPr kern="1200" spc="-6" dirty="0">
                <a:solidFill>
                  <a:prstClr val="black"/>
                </a:solidFill>
                <a:latin typeface="Arial"/>
                <a:cs typeface="Arial"/>
              </a:rPr>
              <a:t>Neural </a:t>
            </a:r>
            <a:r>
              <a:rPr kern="1200" dirty="0">
                <a:solidFill>
                  <a:prstClr val="black"/>
                </a:solidFill>
                <a:latin typeface="Arial"/>
                <a:cs typeface="Arial"/>
              </a:rPr>
              <a:t>nets</a:t>
            </a:r>
            <a:r>
              <a:rPr lang="en-US" kern="120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lang="en-US" kern="1200" dirty="0" err="1">
                <a:solidFill>
                  <a:prstClr val="black"/>
                </a:solidFill>
                <a:latin typeface="Arial"/>
                <a:cs typeface="Arial"/>
              </a:rPr>
              <a:t>perceptrons</a:t>
            </a:r>
            <a:r>
              <a:rPr kern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kern="1200" spc="-26" dirty="0">
                <a:solidFill>
                  <a:prstClr val="black"/>
                </a:solidFill>
                <a:latin typeface="Arial"/>
                <a:cs typeface="Arial"/>
              </a:rPr>
              <a:t>are </a:t>
            </a:r>
            <a:r>
              <a:rPr b="1" kern="1200" spc="-6" dirty="0">
                <a:solidFill>
                  <a:prstClr val="black"/>
                </a:solidFill>
                <a:latin typeface="Arial"/>
                <a:cs typeface="Arial"/>
              </a:rPr>
              <a:t>loosely </a:t>
            </a:r>
            <a:r>
              <a:rPr kern="1200" spc="-6" dirty="0">
                <a:solidFill>
                  <a:prstClr val="black"/>
                </a:solidFill>
                <a:latin typeface="Arial"/>
                <a:cs typeface="Arial"/>
              </a:rPr>
              <a:t>inspired</a:t>
            </a:r>
            <a:r>
              <a:rPr b="1" kern="1200" spc="-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kern="1200" spc="95" dirty="0">
                <a:solidFill>
                  <a:prstClr val="black"/>
                </a:solidFill>
                <a:latin typeface="Arial"/>
                <a:cs typeface="Arial"/>
              </a:rPr>
              <a:t>by</a:t>
            </a:r>
            <a:r>
              <a:rPr kern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kern="1200" spc="55" dirty="0">
                <a:solidFill>
                  <a:prstClr val="black"/>
                </a:solidFill>
                <a:latin typeface="Arial"/>
                <a:cs typeface="Arial"/>
              </a:rPr>
              <a:t>biology</a:t>
            </a:r>
            <a:r>
              <a:rPr lang="en-US" kern="1200" spc="5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kern="12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39693" marR="131438" indent="7620" defTabSz="1300460" hangingPunct="1">
              <a:lnSpc>
                <a:spcPts val="4299"/>
              </a:lnSpc>
              <a:spcBef>
                <a:spcPts val="2739"/>
              </a:spcBef>
            </a:pPr>
            <a:r>
              <a:rPr kern="1200" dirty="0">
                <a:solidFill>
                  <a:prstClr val="black"/>
                </a:solidFill>
                <a:latin typeface="Arial"/>
                <a:cs typeface="Arial"/>
              </a:rPr>
              <a:t>But they </a:t>
            </a:r>
            <a:r>
              <a:rPr kern="1200" spc="26" dirty="0">
                <a:solidFill>
                  <a:prstClr val="black"/>
                </a:solidFill>
                <a:latin typeface="Arial"/>
                <a:cs typeface="Arial"/>
              </a:rPr>
              <a:t>certainly </a:t>
            </a:r>
            <a:r>
              <a:rPr kern="1200" spc="-26" dirty="0">
                <a:solidFill>
                  <a:prstClr val="black"/>
                </a:solidFill>
                <a:latin typeface="Arial"/>
                <a:cs typeface="Arial"/>
              </a:rPr>
              <a:t>are </a:t>
            </a:r>
            <a:r>
              <a:rPr b="1" kern="1200" spc="-6" dirty="0">
                <a:solidFill>
                  <a:prstClr val="black"/>
                </a:solidFill>
                <a:latin typeface="Arial"/>
                <a:cs typeface="Arial"/>
              </a:rPr>
              <a:t>not </a:t>
            </a:r>
            <a:r>
              <a:rPr kern="1200" spc="-6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kern="1200" spc="36" dirty="0">
                <a:solidFill>
                  <a:prstClr val="black"/>
                </a:solidFill>
                <a:latin typeface="Arial"/>
                <a:cs typeface="Arial"/>
              </a:rPr>
              <a:t>model </a:t>
            </a:r>
            <a:r>
              <a:rPr kern="1200" dirty="0">
                <a:solidFill>
                  <a:prstClr val="black"/>
                </a:solidFill>
                <a:latin typeface="Arial"/>
                <a:cs typeface="Arial"/>
              </a:rPr>
              <a:t>of </a:t>
            </a:r>
            <a:r>
              <a:rPr kern="1200" spc="-6" dirty="0">
                <a:solidFill>
                  <a:prstClr val="black"/>
                </a:solidFill>
                <a:latin typeface="Arial"/>
                <a:cs typeface="Arial"/>
              </a:rPr>
              <a:t>how  the </a:t>
            </a:r>
            <a:r>
              <a:rPr kern="1200" spc="36" dirty="0">
                <a:solidFill>
                  <a:prstClr val="black"/>
                </a:solidFill>
                <a:latin typeface="Arial"/>
                <a:cs typeface="Arial"/>
              </a:rPr>
              <a:t>brain </a:t>
            </a:r>
            <a:r>
              <a:rPr kern="1200" dirty="0">
                <a:solidFill>
                  <a:prstClr val="black"/>
                </a:solidFill>
                <a:latin typeface="Arial"/>
                <a:cs typeface="Arial"/>
              </a:rPr>
              <a:t>works, </a:t>
            </a:r>
            <a:r>
              <a:rPr kern="1200" spc="-6" dirty="0">
                <a:solidFill>
                  <a:prstClr val="black"/>
                </a:solidFill>
                <a:latin typeface="Arial"/>
                <a:cs typeface="Arial"/>
              </a:rPr>
              <a:t>or even how </a:t>
            </a:r>
            <a:r>
              <a:rPr kern="1200" spc="-10" dirty="0">
                <a:solidFill>
                  <a:prstClr val="black"/>
                </a:solidFill>
                <a:latin typeface="Arial"/>
                <a:cs typeface="Arial"/>
              </a:rPr>
              <a:t>neurons</a:t>
            </a:r>
            <a:r>
              <a:rPr kern="1200" spc="-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kern="1200" spc="-6" dirty="0">
                <a:solidFill>
                  <a:prstClr val="black"/>
                </a:solidFill>
                <a:latin typeface="Arial"/>
                <a:cs typeface="Arial"/>
              </a:rPr>
              <a:t>work</a:t>
            </a:r>
            <a:r>
              <a:rPr lang="en-US" kern="1200" spc="-6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kern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1130300" y="254000"/>
            <a:ext cx="10734040" cy="87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/>
            <a:r>
              <a:rPr lang="en-US" sz="5689" spc="36" dirty="0"/>
              <a:t>Aside: </a:t>
            </a:r>
            <a:r>
              <a:rPr sz="5689" spc="36" dirty="0"/>
              <a:t>Inspiration </a:t>
            </a:r>
            <a:r>
              <a:rPr sz="5689" spc="-40" dirty="0"/>
              <a:t>from</a:t>
            </a:r>
            <a:r>
              <a:rPr sz="5689" spc="-60" dirty="0"/>
              <a:t> </a:t>
            </a:r>
            <a:r>
              <a:rPr sz="5689" spc="60" dirty="0"/>
              <a:t>Biology</a:t>
            </a:r>
            <a:endParaRPr sz="5689" dirty="0"/>
          </a:p>
        </p:txBody>
      </p:sp>
    </p:spTree>
    <p:extLst>
      <p:ext uri="{BB962C8B-B14F-4D97-AF65-F5344CB8AC3E}">
        <p14:creationId xmlns:p14="http://schemas.microsoft.com/office/powerpoint/2010/main" val="3890278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057" y="4528184"/>
            <a:ext cx="1220892" cy="2864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latex-image-3.pdf" descr="latex-image-3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930" y="1158875"/>
            <a:ext cx="9258301" cy="7162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430" y="6948168"/>
            <a:ext cx="1148145" cy="241372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N-d binary vector"/>
          <p:cNvSpPr txBox="1"/>
          <p:nvPr/>
        </p:nvSpPr>
        <p:spPr>
          <a:xfrm>
            <a:off x="9206496" y="4512667"/>
            <a:ext cx="1500608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N-d binary vector</a:t>
            </a:r>
          </a:p>
        </p:txBody>
      </p:sp>
      <p:sp>
        <p:nvSpPr>
          <p:cNvPr id="171" name="perceptron is just one line of code!"/>
          <p:cNvSpPr txBox="1"/>
          <p:nvPr/>
        </p:nvSpPr>
        <p:spPr>
          <a:xfrm>
            <a:off x="9738588" y="5731867"/>
            <a:ext cx="287482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perceptron is just one line of code!</a:t>
            </a:r>
          </a:p>
        </p:txBody>
      </p:sp>
      <p:sp>
        <p:nvSpPr>
          <p:cNvPr id="172" name="sign of zero is +1"/>
          <p:cNvSpPr txBox="1"/>
          <p:nvPr/>
        </p:nvSpPr>
        <p:spPr>
          <a:xfrm>
            <a:off x="4592320" y="6125567"/>
            <a:ext cx="148336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sign of zero is +1</a:t>
            </a:r>
          </a:p>
        </p:txBody>
      </p:sp>
    </p:spTree>
    <p:extLst>
      <p:ext uri="{BB962C8B-B14F-4D97-AF65-F5344CB8AC3E}">
        <p14:creationId xmlns:p14="http://schemas.microsoft.com/office/powerpoint/2010/main" val="289260368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5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6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7" name="initialized to 0"/>
          <p:cNvSpPr txBox="1"/>
          <p:nvPr/>
        </p:nvSpPr>
        <p:spPr>
          <a:xfrm>
            <a:off x="6913498" y="4089400"/>
            <a:ext cx="166700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initialized to 0</a:t>
            </a:r>
          </a:p>
        </p:txBody>
      </p:sp>
      <p:pic>
        <p:nvPicPr>
          <p:cNvPr id="178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1767687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1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2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3" name="Circle"/>
          <p:cNvSpPr/>
          <p:nvPr/>
        </p:nvSpPr>
        <p:spPr>
          <a:xfrm>
            <a:off x="7315200" y="5618480"/>
            <a:ext cx="121920" cy="121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184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50800"/>
            <a:ext cx="1916411" cy="700336"/>
          </a:xfrm>
          <a:prstGeom prst="rect">
            <a:avLst/>
          </a:prstGeom>
        </p:spPr>
      </p:pic>
      <p:sp>
        <p:nvSpPr>
          <p:cNvPr id="187" name="observation (1,-1)…"/>
          <p:cNvSpPr txBox="1"/>
          <p:nvPr/>
        </p:nvSpPr>
        <p:spPr>
          <a:xfrm>
            <a:off x="7583678" y="5450840"/>
            <a:ext cx="230195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observation (1,-1)</a:t>
            </a:r>
          </a:p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label -1</a:t>
            </a:r>
          </a:p>
        </p:txBody>
      </p:sp>
    </p:spTree>
    <p:extLst>
      <p:ext uri="{BB962C8B-B14F-4D97-AF65-F5344CB8AC3E}">
        <p14:creationId xmlns:p14="http://schemas.microsoft.com/office/powerpoint/2010/main" val="116282142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90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91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92" name="Circle"/>
          <p:cNvSpPr/>
          <p:nvPr/>
        </p:nvSpPr>
        <p:spPr>
          <a:xfrm>
            <a:off x="7315200" y="5618480"/>
            <a:ext cx="121920" cy="121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193" name="latex-image-3.pdf" descr="latex-image-3.pdf"/>
          <p:cNvPicPr>
            <a:picLocks noChangeAspect="1"/>
          </p:cNvPicPr>
          <p:nvPr/>
        </p:nvPicPr>
        <p:blipFill>
          <a:blip r:embed="rId2"/>
          <a:srcRect l="18736" t="55927" r="20222" b="24107"/>
          <a:stretch>
            <a:fillRect/>
          </a:stretch>
        </p:blipFill>
        <p:spPr>
          <a:xfrm>
            <a:off x="7768828" y="5988432"/>
            <a:ext cx="4143872" cy="104857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" y="660400"/>
            <a:ext cx="3075980" cy="761455"/>
          </a:xfrm>
          <a:prstGeom prst="rect">
            <a:avLst/>
          </a:prstGeom>
        </p:spPr>
      </p:pic>
      <p:sp>
        <p:nvSpPr>
          <p:cNvPr id="197" name="= 1"/>
          <p:cNvSpPr txBox="1"/>
          <p:nvPr/>
        </p:nvSpPr>
        <p:spPr>
          <a:xfrm>
            <a:off x="8528812" y="6847840"/>
            <a:ext cx="49377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= 1</a:t>
            </a:r>
          </a:p>
        </p:txBody>
      </p:sp>
      <p:sp>
        <p:nvSpPr>
          <p:cNvPr id="198" name="observation (1,-1)…"/>
          <p:cNvSpPr txBox="1"/>
          <p:nvPr/>
        </p:nvSpPr>
        <p:spPr>
          <a:xfrm>
            <a:off x="7583678" y="5450840"/>
            <a:ext cx="218922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observation (1,-1)</a:t>
            </a:r>
          </a:p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label -1</a:t>
            </a:r>
          </a:p>
        </p:txBody>
      </p:sp>
    </p:spTree>
    <p:extLst>
      <p:ext uri="{BB962C8B-B14F-4D97-AF65-F5344CB8AC3E}">
        <p14:creationId xmlns:p14="http://schemas.microsoft.com/office/powerpoint/2010/main" val="265067552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01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02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03" name="Circle"/>
          <p:cNvSpPr/>
          <p:nvPr/>
        </p:nvSpPr>
        <p:spPr>
          <a:xfrm>
            <a:off x="7315200" y="5618480"/>
            <a:ext cx="121920" cy="121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204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310729"/>
            <a:ext cx="1628825" cy="603796"/>
          </a:xfrm>
          <a:prstGeom prst="rect">
            <a:avLst/>
          </a:prstGeom>
        </p:spPr>
      </p:pic>
      <p:sp>
        <p:nvSpPr>
          <p:cNvPr id="207" name="observation (1,-1)…"/>
          <p:cNvSpPr txBox="1"/>
          <p:nvPr/>
        </p:nvSpPr>
        <p:spPr>
          <a:xfrm>
            <a:off x="7583678" y="5450840"/>
            <a:ext cx="218922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observation (1,-1)</a:t>
            </a:r>
          </a:p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label -1</a:t>
            </a:r>
          </a:p>
        </p:txBody>
      </p:sp>
    </p:spTree>
    <p:extLst>
      <p:ext uri="{BB962C8B-B14F-4D97-AF65-F5344CB8AC3E}">
        <p14:creationId xmlns:p14="http://schemas.microsoft.com/office/powerpoint/2010/main" val="102110593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10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11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12" name="Circle"/>
          <p:cNvSpPr/>
          <p:nvPr/>
        </p:nvSpPr>
        <p:spPr>
          <a:xfrm>
            <a:off x="7315200" y="5618480"/>
            <a:ext cx="121920" cy="121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grpSp>
        <p:nvGrpSpPr>
          <p:cNvPr id="215" name="Group"/>
          <p:cNvGrpSpPr/>
          <p:nvPr/>
        </p:nvGrpSpPr>
        <p:grpSpPr>
          <a:xfrm rot="270471">
            <a:off x="4347602" y="2976002"/>
            <a:ext cx="4309596" cy="3801596"/>
            <a:chOff x="0" y="0"/>
            <a:chExt cx="4309595" cy="3801595"/>
          </a:xfrm>
        </p:grpSpPr>
        <p:sp>
          <p:nvSpPr>
            <p:cNvPr id="213" name="Line"/>
            <p:cNvSpPr/>
            <p:nvPr/>
          </p:nvSpPr>
          <p:spPr>
            <a:xfrm flipV="1">
              <a:off x="0" y="0"/>
              <a:ext cx="4309596" cy="380159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214" name="Line"/>
            <p:cNvSpPr/>
            <p:nvPr/>
          </p:nvSpPr>
          <p:spPr>
            <a:xfrm>
              <a:off x="1385409" y="1135705"/>
              <a:ext cx="780026" cy="78002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</p:grpSp>
      <p:sp>
        <p:nvSpPr>
          <p:cNvPr id="216" name="update w"/>
          <p:cNvSpPr txBox="1"/>
          <p:nvPr/>
        </p:nvSpPr>
        <p:spPr>
          <a:xfrm>
            <a:off x="764096" y="3063240"/>
            <a:ext cx="1215009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update w</a:t>
            </a:r>
          </a:p>
        </p:txBody>
      </p:sp>
      <p:pic>
        <p:nvPicPr>
          <p:cNvPr id="217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18729"/>
            <a:ext cx="4146253" cy="603796"/>
          </a:xfrm>
          <a:prstGeom prst="rect">
            <a:avLst/>
          </a:prstGeom>
        </p:spPr>
      </p:pic>
      <p:sp>
        <p:nvSpPr>
          <p:cNvPr id="220" name="observation (1,-1)…"/>
          <p:cNvSpPr txBox="1"/>
          <p:nvPr/>
        </p:nvSpPr>
        <p:spPr>
          <a:xfrm>
            <a:off x="7583678" y="5450840"/>
            <a:ext cx="218922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observation (1,-1)</a:t>
            </a:r>
          </a:p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label -1</a:t>
            </a:r>
          </a:p>
        </p:txBody>
      </p:sp>
      <p:pic>
        <p:nvPicPr>
          <p:cNvPr id="221" name="latex-image-3.pdf" descr="latex-image-3.pdf"/>
          <p:cNvPicPr>
            <a:picLocks noChangeAspect="1"/>
          </p:cNvPicPr>
          <p:nvPr/>
        </p:nvPicPr>
        <p:blipFill>
          <a:blip r:embed="rId2"/>
          <a:srcRect l="19672" t="90327"/>
          <a:stretch>
            <a:fillRect/>
          </a:stretch>
        </p:blipFill>
        <p:spPr>
          <a:xfrm>
            <a:off x="851480" y="3616477"/>
            <a:ext cx="4468121" cy="4162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2038202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24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25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26" name="Circle"/>
          <p:cNvSpPr/>
          <p:nvPr/>
        </p:nvSpPr>
        <p:spPr>
          <a:xfrm>
            <a:off x="7315200" y="5618480"/>
            <a:ext cx="121920" cy="121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grpSp>
        <p:nvGrpSpPr>
          <p:cNvPr id="229" name="Group"/>
          <p:cNvGrpSpPr/>
          <p:nvPr/>
        </p:nvGrpSpPr>
        <p:grpSpPr>
          <a:xfrm rot="270471">
            <a:off x="4347602" y="2976002"/>
            <a:ext cx="4309596" cy="3801596"/>
            <a:chOff x="0" y="0"/>
            <a:chExt cx="4309595" cy="3801595"/>
          </a:xfrm>
        </p:grpSpPr>
        <p:sp>
          <p:nvSpPr>
            <p:cNvPr id="227" name="Line"/>
            <p:cNvSpPr/>
            <p:nvPr/>
          </p:nvSpPr>
          <p:spPr>
            <a:xfrm flipV="1">
              <a:off x="0" y="0"/>
              <a:ext cx="4309596" cy="380159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228" name="Line"/>
            <p:cNvSpPr/>
            <p:nvPr/>
          </p:nvSpPr>
          <p:spPr>
            <a:xfrm>
              <a:off x="1385409" y="1135705"/>
              <a:ext cx="780026" cy="78002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</p:grpSp>
      <p:sp>
        <p:nvSpPr>
          <p:cNvPr id="230" name="update w"/>
          <p:cNvSpPr txBox="1"/>
          <p:nvPr/>
        </p:nvSpPr>
        <p:spPr>
          <a:xfrm>
            <a:off x="764096" y="3063240"/>
            <a:ext cx="1215009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update w</a:t>
            </a:r>
          </a:p>
        </p:txBody>
      </p:sp>
      <p:pic>
        <p:nvPicPr>
          <p:cNvPr id="231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18729"/>
            <a:ext cx="4146253" cy="603796"/>
          </a:xfrm>
          <a:prstGeom prst="rect">
            <a:avLst/>
          </a:prstGeom>
        </p:spPr>
      </p:pic>
      <p:sp>
        <p:nvSpPr>
          <p:cNvPr id="234" name="observation (1,-1)…"/>
          <p:cNvSpPr txBox="1"/>
          <p:nvPr/>
        </p:nvSpPr>
        <p:spPr>
          <a:xfrm>
            <a:off x="7583678" y="5450840"/>
            <a:ext cx="218922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observation (1,-1)</a:t>
            </a:r>
          </a:p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label -1</a:t>
            </a:r>
          </a:p>
        </p:txBody>
      </p:sp>
      <p:pic>
        <p:nvPicPr>
          <p:cNvPr id="235" name="latex-image-3.pdf" descr="latex-image-3.pdf"/>
          <p:cNvPicPr>
            <a:picLocks noChangeAspect="1"/>
          </p:cNvPicPr>
          <p:nvPr/>
        </p:nvPicPr>
        <p:blipFill>
          <a:blip r:embed="rId2"/>
          <a:srcRect l="19672" t="90327"/>
          <a:stretch>
            <a:fillRect/>
          </a:stretch>
        </p:blipFill>
        <p:spPr>
          <a:xfrm>
            <a:off x="851480" y="3616477"/>
            <a:ext cx="4468121" cy="416266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-1"/>
          <p:cNvSpPr txBox="1"/>
          <p:nvPr/>
        </p:nvSpPr>
        <p:spPr>
          <a:xfrm>
            <a:off x="2657817" y="4224087"/>
            <a:ext cx="27236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-1</a:t>
            </a:r>
          </a:p>
        </p:txBody>
      </p:sp>
      <p:sp>
        <p:nvSpPr>
          <p:cNvPr id="237" name="1"/>
          <p:cNvSpPr txBox="1"/>
          <p:nvPr/>
        </p:nvSpPr>
        <p:spPr>
          <a:xfrm>
            <a:off x="4516221" y="4224087"/>
            <a:ext cx="213158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1</a:t>
            </a:r>
          </a:p>
        </p:txBody>
      </p:sp>
      <p:sp>
        <p:nvSpPr>
          <p:cNvPr id="238" name="(1,-1)"/>
          <p:cNvSpPr txBox="1"/>
          <p:nvPr/>
        </p:nvSpPr>
        <p:spPr>
          <a:xfrm>
            <a:off x="3314931" y="4224087"/>
            <a:ext cx="53906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(1,-1)</a:t>
            </a:r>
          </a:p>
        </p:txBody>
      </p:sp>
      <p:sp>
        <p:nvSpPr>
          <p:cNvPr id="239" name="(0,0)"/>
          <p:cNvSpPr txBox="1"/>
          <p:nvPr/>
        </p:nvSpPr>
        <p:spPr>
          <a:xfrm>
            <a:off x="1715871" y="4224087"/>
            <a:ext cx="479858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(0,0)</a:t>
            </a:r>
          </a:p>
        </p:txBody>
      </p:sp>
      <p:sp>
        <p:nvSpPr>
          <p:cNvPr id="240" name="(-1,1)"/>
          <p:cNvSpPr txBox="1"/>
          <p:nvPr/>
        </p:nvSpPr>
        <p:spPr>
          <a:xfrm>
            <a:off x="657567" y="4224087"/>
            <a:ext cx="53906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(-1,1)</a:t>
            </a:r>
          </a:p>
        </p:txBody>
      </p:sp>
      <p:sp>
        <p:nvSpPr>
          <p:cNvPr id="241" name="no match!"/>
          <p:cNvSpPr txBox="1"/>
          <p:nvPr/>
        </p:nvSpPr>
        <p:spPr>
          <a:xfrm>
            <a:off x="4292422" y="3335087"/>
            <a:ext cx="91475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no match!</a:t>
            </a:r>
          </a:p>
        </p:txBody>
      </p:sp>
    </p:spTree>
    <p:extLst>
      <p:ext uri="{BB962C8B-B14F-4D97-AF65-F5344CB8AC3E}">
        <p14:creationId xmlns:p14="http://schemas.microsoft.com/office/powerpoint/2010/main" val="145542929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44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45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46" name="Circle"/>
          <p:cNvSpPr/>
          <p:nvPr/>
        </p:nvSpPr>
        <p:spPr>
          <a:xfrm>
            <a:off x="7315200" y="5618480"/>
            <a:ext cx="121920" cy="121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grpSp>
        <p:nvGrpSpPr>
          <p:cNvPr id="249" name="Group"/>
          <p:cNvGrpSpPr/>
          <p:nvPr/>
        </p:nvGrpSpPr>
        <p:grpSpPr>
          <a:xfrm rot="270471">
            <a:off x="4347602" y="2976002"/>
            <a:ext cx="4309596" cy="3801596"/>
            <a:chOff x="0" y="0"/>
            <a:chExt cx="4309595" cy="3801595"/>
          </a:xfrm>
        </p:grpSpPr>
        <p:sp>
          <p:nvSpPr>
            <p:cNvPr id="247" name="Line"/>
            <p:cNvSpPr/>
            <p:nvPr/>
          </p:nvSpPr>
          <p:spPr>
            <a:xfrm flipV="1">
              <a:off x="0" y="0"/>
              <a:ext cx="4309596" cy="380159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248" name="Line"/>
            <p:cNvSpPr/>
            <p:nvPr/>
          </p:nvSpPr>
          <p:spPr>
            <a:xfrm>
              <a:off x="1385409" y="1135705"/>
              <a:ext cx="780026" cy="78002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</p:grpSp>
      <p:sp>
        <p:nvSpPr>
          <p:cNvPr id="250" name="Circle"/>
          <p:cNvSpPr/>
          <p:nvPr/>
        </p:nvSpPr>
        <p:spPr>
          <a:xfrm>
            <a:off x="5656580" y="3886200"/>
            <a:ext cx="121921" cy="12192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51" name="observation (-1,1)…"/>
          <p:cNvSpPr txBox="1"/>
          <p:nvPr/>
        </p:nvSpPr>
        <p:spPr>
          <a:xfrm>
            <a:off x="2725896" y="3423920"/>
            <a:ext cx="2462313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rPr>
              <a:t>observation (-1,1)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/>
              <a:ea typeface="Helvetica"/>
              <a:cs typeface="Helvetica"/>
              <a:sym typeface="Helvetica"/>
            </a:endParaRPr>
          </a:p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Light"/>
                <a:sym typeface="Helvetica Light"/>
              </a:rPr>
              <a:t>label +1</a:t>
            </a:r>
          </a:p>
        </p:txBody>
      </p:sp>
      <p:pic>
        <p:nvPicPr>
          <p:cNvPr id="252" name="latex-image-3.pdf" descr="latex-image-3.pdf"/>
          <p:cNvPicPr>
            <a:picLocks noChangeAspect="1"/>
          </p:cNvPicPr>
          <p:nvPr/>
        </p:nvPicPr>
        <p:blipFill>
          <a:blip r:embed="rId2"/>
          <a:srcRect l="18736" t="43478" r="47860" b="46863"/>
          <a:stretch>
            <a:fillRect/>
          </a:stretch>
        </p:blipFill>
        <p:spPr>
          <a:xfrm>
            <a:off x="2676128" y="3010480"/>
            <a:ext cx="2267646" cy="507237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1" y="116929"/>
            <a:ext cx="1950691" cy="603796"/>
          </a:xfrm>
          <a:prstGeom prst="rect">
            <a:avLst/>
          </a:prstGeom>
        </p:spPr>
      </p:pic>
      <p:sp>
        <p:nvSpPr>
          <p:cNvPr id="256" name="(-1,1)"/>
          <p:cNvSpPr txBox="1"/>
          <p:nvPr/>
        </p:nvSpPr>
        <p:spPr>
          <a:xfrm>
            <a:off x="949667" y="2319087"/>
            <a:ext cx="53906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(-1,1)</a:t>
            </a:r>
          </a:p>
        </p:txBody>
      </p:sp>
    </p:spTree>
    <p:extLst>
      <p:ext uri="{BB962C8B-B14F-4D97-AF65-F5344CB8AC3E}">
        <p14:creationId xmlns:p14="http://schemas.microsoft.com/office/powerpoint/2010/main" val="347444958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59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60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61" name="Circle"/>
          <p:cNvSpPr/>
          <p:nvPr/>
        </p:nvSpPr>
        <p:spPr>
          <a:xfrm>
            <a:off x="7315200" y="5618480"/>
            <a:ext cx="121920" cy="121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grpSp>
        <p:nvGrpSpPr>
          <p:cNvPr id="264" name="Group"/>
          <p:cNvGrpSpPr/>
          <p:nvPr/>
        </p:nvGrpSpPr>
        <p:grpSpPr>
          <a:xfrm rot="270471">
            <a:off x="4347602" y="2976002"/>
            <a:ext cx="4309596" cy="3801596"/>
            <a:chOff x="0" y="0"/>
            <a:chExt cx="4309595" cy="3801595"/>
          </a:xfrm>
        </p:grpSpPr>
        <p:sp>
          <p:nvSpPr>
            <p:cNvPr id="262" name="Line"/>
            <p:cNvSpPr/>
            <p:nvPr/>
          </p:nvSpPr>
          <p:spPr>
            <a:xfrm flipV="1">
              <a:off x="0" y="0"/>
              <a:ext cx="4309596" cy="380159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263" name="Line"/>
            <p:cNvSpPr/>
            <p:nvPr/>
          </p:nvSpPr>
          <p:spPr>
            <a:xfrm>
              <a:off x="1385409" y="1135705"/>
              <a:ext cx="780026" cy="78002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</p:grpSp>
      <p:sp>
        <p:nvSpPr>
          <p:cNvPr id="265" name="Circle"/>
          <p:cNvSpPr/>
          <p:nvPr/>
        </p:nvSpPr>
        <p:spPr>
          <a:xfrm>
            <a:off x="5656580" y="3886200"/>
            <a:ext cx="121921" cy="12192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66" name="observation (-1,1)…"/>
          <p:cNvSpPr txBox="1"/>
          <p:nvPr/>
        </p:nvSpPr>
        <p:spPr>
          <a:xfrm>
            <a:off x="2725896" y="3423920"/>
            <a:ext cx="2462313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observation (-1,1)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/>
              <a:ea typeface="Helvetica"/>
              <a:cs typeface="Helvetica"/>
              <a:sym typeface="Helvetica"/>
            </a:endParaRPr>
          </a:p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Light"/>
                <a:sym typeface="Helvetica Light"/>
              </a:rPr>
              <a:t>label +1</a:t>
            </a:r>
          </a:p>
        </p:txBody>
      </p:sp>
      <p:pic>
        <p:nvPicPr>
          <p:cNvPr id="267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8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43631" y="644525"/>
            <a:ext cx="3047604" cy="807343"/>
          </a:xfrm>
          <a:prstGeom prst="rect">
            <a:avLst/>
          </a:prstGeom>
        </p:spPr>
      </p:pic>
      <p:pic>
        <p:nvPicPr>
          <p:cNvPr id="270" name="latex-image-3.pdf" descr="latex-image-3.pdf"/>
          <p:cNvPicPr>
            <a:picLocks noChangeAspect="1"/>
          </p:cNvPicPr>
          <p:nvPr/>
        </p:nvPicPr>
        <p:blipFill>
          <a:blip r:embed="rId2"/>
          <a:srcRect l="18736" t="55927" r="20222" b="24107"/>
          <a:stretch>
            <a:fillRect/>
          </a:stretch>
        </p:blipFill>
        <p:spPr>
          <a:xfrm>
            <a:off x="7616428" y="1162432"/>
            <a:ext cx="4143872" cy="1048574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= 1"/>
          <p:cNvSpPr txBox="1"/>
          <p:nvPr/>
        </p:nvSpPr>
        <p:spPr>
          <a:xfrm>
            <a:off x="8376412" y="2021840"/>
            <a:ext cx="49377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= 1</a:t>
            </a:r>
          </a:p>
        </p:txBody>
      </p:sp>
      <p:sp>
        <p:nvSpPr>
          <p:cNvPr id="272" name="(-1,1)"/>
          <p:cNvSpPr txBox="1"/>
          <p:nvPr/>
        </p:nvSpPr>
        <p:spPr>
          <a:xfrm>
            <a:off x="949667" y="2319087"/>
            <a:ext cx="53906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(-1,1)</a:t>
            </a:r>
          </a:p>
        </p:txBody>
      </p:sp>
      <p:sp>
        <p:nvSpPr>
          <p:cNvPr id="273" name="(-1,1)"/>
          <p:cNvSpPr txBox="1"/>
          <p:nvPr/>
        </p:nvSpPr>
        <p:spPr>
          <a:xfrm>
            <a:off x="9713565" y="1837690"/>
            <a:ext cx="53906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(-1,1)</a:t>
            </a:r>
          </a:p>
        </p:txBody>
      </p:sp>
      <p:sp>
        <p:nvSpPr>
          <p:cNvPr id="274" name="(-1,1)"/>
          <p:cNvSpPr txBox="1"/>
          <p:nvPr/>
        </p:nvSpPr>
        <p:spPr>
          <a:xfrm>
            <a:off x="10683239" y="1837690"/>
            <a:ext cx="53906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(-1,1)</a:t>
            </a:r>
          </a:p>
        </p:txBody>
      </p:sp>
    </p:spTree>
    <p:extLst>
      <p:ext uri="{BB962C8B-B14F-4D97-AF65-F5344CB8AC3E}">
        <p14:creationId xmlns:p14="http://schemas.microsoft.com/office/powerpoint/2010/main" val="392167026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77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78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79" name="Circle"/>
          <p:cNvSpPr/>
          <p:nvPr/>
        </p:nvSpPr>
        <p:spPr>
          <a:xfrm>
            <a:off x="7315200" y="5618480"/>
            <a:ext cx="121920" cy="121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grpSp>
        <p:nvGrpSpPr>
          <p:cNvPr id="282" name="Group"/>
          <p:cNvGrpSpPr/>
          <p:nvPr/>
        </p:nvGrpSpPr>
        <p:grpSpPr>
          <a:xfrm rot="270471">
            <a:off x="4347602" y="2976002"/>
            <a:ext cx="4309596" cy="3801596"/>
            <a:chOff x="0" y="0"/>
            <a:chExt cx="4309595" cy="3801595"/>
          </a:xfrm>
        </p:grpSpPr>
        <p:sp>
          <p:nvSpPr>
            <p:cNvPr id="280" name="Line"/>
            <p:cNvSpPr/>
            <p:nvPr/>
          </p:nvSpPr>
          <p:spPr>
            <a:xfrm flipV="1">
              <a:off x="0" y="0"/>
              <a:ext cx="4309596" cy="380159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281" name="Line"/>
            <p:cNvSpPr/>
            <p:nvPr/>
          </p:nvSpPr>
          <p:spPr>
            <a:xfrm>
              <a:off x="1385409" y="1135705"/>
              <a:ext cx="780026" cy="78002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</p:grpSp>
      <p:sp>
        <p:nvSpPr>
          <p:cNvPr id="283" name="Circle"/>
          <p:cNvSpPr/>
          <p:nvPr/>
        </p:nvSpPr>
        <p:spPr>
          <a:xfrm>
            <a:off x="5656580" y="3886200"/>
            <a:ext cx="121921" cy="12192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84" name="observation (-1,1)…"/>
          <p:cNvSpPr txBox="1"/>
          <p:nvPr/>
        </p:nvSpPr>
        <p:spPr>
          <a:xfrm>
            <a:off x="2725896" y="3423920"/>
            <a:ext cx="2462313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observation (-1,1)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/>
              <a:ea typeface="Helvetica"/>
              <a:cs typeface="Helvetica"/>
              <a:sym typeface="Helvetica"/>
            </a:endParaRPr>
          </a:p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label +1</a:t>
            </a:r>
          </a:p>
        </p:txBody>
      </p:sp>
      <p:pic>
        <p:nvPicPr>
          <p:cNvPr id="285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43631" y="1283032"/>
            <a:ext cx="1710781" cy="575420"/>
          </a:xfrm>
          <a:prstGeom prst="rect">
            <a:avLst/>
          </a:prstGeom>
        </p:spPr>
      </p:pic>
      <p:pic>
        <p:nvPicPr>
          <p:cNvPr id="288" name="latex-image-3.pdf" descr="latex-image-3.pdf"/>
          <p:cNvPicPr>
            <a:picLocks noChangeAspect="1"/>
          </p:cNvPicPr>
          <p:nvPr/>
        </p:nvPicPr>
        <p:blipFill>
          <a:blip r:embed="rId2"/>
          <a:srcRect l="18736" t="55927" r="20222" b="24107"/>
          <a:stretch>
            <a:fillRect/>
          </a:stretch>
        </p:blipFill>
        <p:spPr>
          <a:xfrm>
            <a:off x="7616428" y="1162432"/>
            <a:ext cx="4143872" cy="1048574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= 1"/>
          <p:cNvSpPr txBox="1"/>
          <p:nvPr/>
        </p:nvSpPr>
        <p:spPr>
          <a:xfrm>
            <a:off x="8376412" y="2021840"/>
            <a:ext cx="49377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= 1</a:t>
            </a:r>
          </a:p>
        </p:txBody>
      </p:sp>
      <p:sp>
        <p:nvSpPr>
          <p:cNvPr id="290" name="(-1,1)"/>
          <p:cNvSpPr txBox="1"/>
          <p:nvPr/>
        </p:nvSpPr>
        <p:spPr>
          <a:xfrm>
            <a:off x="949667" y="2319087"/>
            <a:ext cx="53906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(-1,1)</a:t>
            </a:r>
          </a:p>
        </p:txBody>
      </p:sp>
      <p:sp>
        <p:nvSpPr>
          <p:cNvPr id="291" name="(-1,1)"/>
          <p:cNvSpPr txBox="1"/>
          <p:nvPr/>
        </p:nvSpPr>
        <p:spPr>
          <a:xfrm>
            <a:off x="9713565" y="1837690"/>
            <a:ext cx="53906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(-1,1)</a:t>
            </a:r>
          </a:p>
        </p:txBody>
      </p:sp>
      <p:sp>
        <p:nvSpPr>
          <p:cNvPr id="292" name="(-1,1)"/>
          <p:cNvSpPr txBox="1"/>
          <p:nvPr/>
        </p:nvSpPr>
        <p:spPr>
          <a:xfrm>
            <a:off x="10683239" y="1837690"/>
            <a:ext cx="53906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(-1,1)</a:t>
            </a:r>
          </a:p>
        </p:txBody>
      </p:sp>
    </p:spTree>
    <p:extLst>
      <p:ext uri="{BB962C8B-B14F-4D97-AF65-F5344CB8AC3E}">
        <p14:creationId xmlns:p14="http://schemas.microsoft.com/office/powerpoint/2010/main" val="262305037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95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96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97" name="Circle"/>
          <p:cNvSpPr/>
          <p:nvPr/>
        </p:nvSpPr>
        <p:spPr>
          <a:xfrm>
            <a:off x="7315200" y="5618480"/>
            <a:ext cx="121920" cy="121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grpSp>
        <p:nvGrpSpPr>
          <p:cNvPr id="300" name="Group"/>
          <p:cNvGrpSpPr/>
          <p:nvPr/>
        </p:nvGrpSpPr>
        <p:grpSpPr>
          <a:xfrm rot="270471">
            <a:off x="4347602" y="2976002"/>
            <a:ext cx="4309596" cy="3801596"/>
            <a:chOff x="0" y="0"/>
            <a:chExt cx="4309595" cy="3801595"/>
          </a:xfrm>
        </p:grpSpPr>
        <p:sp>
          <p:nvSpPr>
            <p:cNvPr id="298" name="Line"/>
            <p:cNvSpPr/>
            <p:nvPr/>
          </p:nvSpPr>
          <p:spPr>
            <a:xfrm flipV="1">
              <a:off x="0" y="0"/>
              <a:ext cx="4309596" cy="380159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299" name="Line"/>
            <p:cNvSpPr/>
            <p:nvPr/>
          </p:nvSpPr>
          <p:spPr>
            <a:xfrm>
              <a:off x="1385409" y="1135705"/>
              <a:ext cx="780026" cy="78002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</p:grpSp>
      <p:sp>
        <p:nvSpPr>
          <p:cNvPr id="301" name="Circle"/>
          <p:cNvSpPr/>
          <p:nvPr/>
        </p:nvSpPr>
        <p:spPr>
          <a:xfrm>
            <a:off x="5656580" y="3886200"/>
            <a:ext cx="121921" cy="12192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02" name="update w"/>
          <p:cNvSpPr txBox="1"/>
          <p:nvPr/>
        </p:nvSpPr>
        <p:spPr>
          <a:xfrm>
            <a:off x="4671313" y="4307840"/>
            <a:ext cx="117297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update w</a:t>
            </a:r>
          </a:p>
        </p:txBody>
      </p:sp>
      <p:sp>
        <p:nvSpPr>
          <p:cNvPr id="303" name="observation (-1,1)…"/>
          <p:cNvSpPr txBox="1"/>
          <p:nvPr/>
        </p:nvSpPr>
        <p:spPr>
          <a:xfrm>
            <a:off x="2725896" y="3423920"/>
            <a:ext cx="2462313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observation (-1,1)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/>
              <a:ea typeface="Helvetica"/>
              <a:cs typeface="Helvetica"/>
              <a:sym typeface="Helvetica"/>
            </a:endParaRPr>
          </a:p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label +1</a:t>
            </a:r>
          </a:p>
        </p:txBody>
      </p:sp>
      <p:pic>
        <p:nvPicPr>
          <p:cNvPr id="304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5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92831" y="1841832"/>
            <a:ext cx="4195516" cy="575420"/>
          </a:xfrm>
          <a:prstGeom prst="rect">
            <a:avLst/>
          </a:prstGeom>
        </p:spPr>
      </p:pic>
      <p:sp>
        <p:nvSpPr>
          <p:cNvPr id="307" name="update w"/>
          <p:cNvSpPr txBox="1"/>
          <p:nvPr/>
        </p:nvSpPr>
        <p:spPr>
          <a:xfrm>
            <a:off x="7685596" y="942340"/>
            <a:ext cx="1215009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update w</a:t>
            </a:r>
          </a:p>
        </p:txBody>
      </p:sp>
      <p:pic>
        <p:nvPicPr>
          <p:cNvPr id="308" name="latex-image-3.pdf" descr="latex-image-3.pdf"/>
          <p:cNvPicPr>
            <a:picLocks noChangeAspect="1"/>
          </p:cNvPicPr>
          <p:nvPr/>
        </p:nvPicPr>
        <p:blipFill>
          <a:blip r:embed="rId2"/>
          <a:srcRect l="19672" t="90327"/>
          <a:stretch>
            <a:fillRect/>
          </a:stretch>
        </p:blipFill>
        <p:spPr>
          <a:xfrm>
            <a:off x="7772980" y="1495577"/>
            <a:ext cx="4468122" cy="416266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+1"/>
          <p:cNvSpPr txBox="1"/>
          <p:nvPr/>
        </p:nvSpPr>
        <p:spPr>
          <a:xfrm>
            <a:off x="9550247" y="2058737"/>
            <a:ext cx="33050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+1</a:t>
            </a:r>
          </a:p>
        </p:txBody>
      </p:sp>
      <p:sp>
        <p:nvSpPr>
          <p:cNvPr id="310" name="0"/>
          <p:cNvSpPr txBox="1"/>
          <p:nvPr/>
        </p:nvSpPr>
        <p:spPr>
          <a:xfrm>
            <a:off x="11437721" y="2058737"/>
            <a:ext cx="213158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0</a:t>
            </a:r>
          </a:p>
        </p:txBody>
      </p:sp>
      <p:sp>
        <p:nvSpPr>
          <p:cNvPr id="311" name="(-1,1)"/>
          <p:cNvSpPr txBox="1"/>
          <p:nvPr/>
        </p:nvSpPr>
        <p:spPr>
          <a:xfrm>
            <a:off x="10096842" y="2058737"/>
            <a:ext cx="53906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(-1,1)</a:t>
            </a:r>
          </a:p>
        </p:txBody>
      </p:sp>
      <p:sp>
        <p:nvSpPr>
          <p:cNvPr id="312" name="(-1,1)"/>
          <p:cNvSpPr txBox="1"/>
          <p:nvPr/>
        </p:nvSpPr>
        <p:spPr>
          <a:xfrm>
            <a:off x="8731008" y="2058737"/>
            <a:ext cx="53906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(-1,1)</a:t>
            </a:r>
          </a:p>
        </p:txBody>
      </p:sp>
      <p:sp>
        <p:nvSpPr>
          <p:cNvPr id="313" name="(-1,1)"/>
          <p:cNvSpPr txBox="1"/>
          <p:nvPr/>
        </p:nvSpPr>
        <p:spPr>
          <a:xfrm>
            <a:off x="7643501" y="2058737"/>
            <a:ext cx="53906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(-1,1)</a:t>
            </a:r>
          </a:p>
        </p:txBody>
      </p:sp>
      <p:sp>
        <p:nvSpPr>
          <p:cNvPr id="314" name="match!"/>
          <p:cNvSpPr txBox="1"/>
          <p:nvPr/>
        </p:nvSpPr>
        <p:spPr>
          <a:xfrm>
            <a:off x="11210493" y="1204069"/>
            <a:ext cx="66761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match!</a:t>
            </a:r>
          </a:p>
        </p:txBody>
      </p:sp>
    </p:spTree>
    <p:extLst>
      <p:ext uri="{BB962C8B-B14F-4D97-AF65-F5344CB8AC3E}">
        <p14:creationId xmlns:p14="http://schemas.microsoft.com/office/powerpoint/2010/main" val="50305392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17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18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19" name="Circle"/>
          <p:cNvSpPr/>
          <p:nvPr/>
        </p:nvSpPr>
        <p:spPr>
          <a:xfrm>
            <a:off x="7315200" y="5618480"/>
            <a:ext cx="121920" cy="121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grpSp>
        <p:nvGrpSpPr>
          <p:cNvPr id="322" name="Group"/>
          <p:cNvGrpSpPr/>
          <p:nvPr/>
        </p:nvGrpSpPr>
        <p:grpSpPr>
          <a:xfrm rot="270471">
            <a:off x="4347602" y="2976002"/>
            <a:ext cx="4309596" cy="3801596"/>
            <a:chOff x="0" y="0"/>
            <a:chExt cx="4309595" cy="3801595"/>
          </a:xfrm>
        </p:grpSpPr>
        <p:sp>
          <p:nvSpPr>
            <p:cNvPr id="320" name="Line"/>
            <p:cNvSpPr/>
            <p:nvPr/>
          </p:nvSpPr>
          <p:spPr>
            <a:xfrm flipV="1">
              <a:off x="0" y="0"/>
              <a:ext cx="4309596" cy="380159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321" name="Line"/>
            <p:cNvSpPr/>
            <p:nvPr/>
          </p:nvSpPr>
          <p:spPr>
            <a:xfrm>
              <a:off x="1385409" y="1135705"/>
              <a:ext cx="780026" cy="78002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</p:grpSp>
      <p:sp>
        <p:nvSpPr>
          <p:cNvPr id="323" name="Circle"/>
          <p:cNvSpPr/>
          <p:nvPr/>
        </p:nvSpPr>
        <p:spPr>
          <a:xfrm>
            <a:off x="5656580" y="3886200"/>
            <a:ext cx="121921" cy="12192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24" name="Circle"/>
          <p:cNvSpPr/>
          <p:nvPr/>
        </p:nvSpPr>
        <p:spPr>
          <a:xfrm>
            <a:off x="4653279" y="5930900"/>
            <a:ext cx="121921" cy="121920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325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0" y="101932"/>
            <a:ext cx="1999259" cy="575420"/>
          </a:xfrm>
          <a:prstGeom prst="rect">
            <a:avLst/>
          </a:prstGeom>
        </p:spPr>
      </p:pic>
      <p:pic>
        <p:nvPicPr>
          <p:cNvPr id="329" name="Connection Line" descr="Connection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260778" y="349577"/>
            <a:ext cx="2843087" cy="548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4837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33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34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35" name="Circle"/>
          <p:cNvSpPr/>
          <p:nvPr/>
        </p:nvSpPr>
        <p:spPr>
          <a:xfrm>
            <a:off x="7315200" y="5618480"/>
            <a:ext cx="121920" cy="121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grpSp>
        <p:nvGrpSpPr>
          <p:cNvPr id="338" name="Group"/>
          <p:cNvGrpSpPr/>
          <p:nvPr/>
        </p:nvGrpSpPr>
        <p:grpSpPr>
          <a:xfrm rot="4596714">
            <a:off x="4347602" y="2976002"/>
            <a:ext cx="4309596" cy="3801596"/>
            <a:chOff x="0" y="0"/>
            <a:chExt cx="4309595" cy="3801595"/>
          </a:xfrm>
        </p:grpSpPr>
        <p:sp>
          <p:nvSpPr>
            <p:cNvPr id="336" name="Line"/>
            <p:cNvSpPr/>
            <p:nvPr/>
          </p:nvSpPr>
          <p:spPr>
            <a:xfrm flipV="1">
              <a:off x="0" y="0"/>
              <a:ext cx="4309596" cy="380159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337" name="Line"/>
            <p:cNvSpPr/>
            <p:nvPr/>
          </p:nvSpPr>
          <p:spPr>
            <a:xfrm>
              <a:off x="1385409" y="1135705"/>
              <a:ext cx="780026" cy="78002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</p:grpSp>
      <p:sp>
        <p:nvSpPr>
          <p:cNvPr id="339" name="Circle"/>
          <p:cNvSpPr/>
          <p:nvPr/>
        </p:nvSpPr>
        <p:spPr>
          <a:xfrm>
            <a:off x="5656580" y="3886200"/>
            <a:ext cx="121921" cy="12192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40" name="Circle"/>
          <p:cNvSpPr/>
          <p:nvPr/>
        </p:nvSpPr>
        <p:spPr>
          <a:xfrm>
            <a:off x="4653279" y="5930900"/>
            <a:ext cx="121921" cy="121920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41" name="update w"/>
          <p:cNvSpPr txBox="1"/>
          <p:nvPr/>
        </p:nvSpPr>
        <p:spPr>
          <a:xfrm>
            <a:off x="4671313" y="4307840"/>
            <a:ext cx="117297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update w</a:t>
            </a:r>
          </a:p>
        </p:txBody>
      </p:sp>
      <p:sp>
        <p:nvSpPr>
          <p:cNvPr id="342" name="Line"/>
          <p:cNvSpPr/>
          <p:nvPr/>
        </p:nvSpPr>
        <p:spPr>
          <a:xfrm flipV="1">
            <a:off x="4204873" y="3151239"/>
            <a:ext cx="4595054" cy="3451122"/>
          </a:xfrm>
          <a:prstGeom prst="line">
            <a:avLst/>
          </a:prstGeom>
          <a:ln w="25400">
            <a:solidFill>
              <a:srgbClr val="A6AAA9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43" name="Line"/>
          <p:cNvSpPr/>
          <p:nvPr/>
        </p:nvSpPr>
        <p:spPr>
          <a:xfrm>
            <a:off x="5795524" y="4053603"/>
            <a:ext cx="716307" cy="838920"/>
          </a:xfrm>
          <a:prstGeom prst="line">
            <a:avLst/>
          </a:prstGeom>
          <a:ln w="25400">
            <a:solidFill>
              <a:srgbClr val="A6AAA9"/>
            </a:solidFill>
            <a:custDash>
              <a:ds d="200000" sp="200000"/>
            </a:custDash>
            <a:miter lim="400000"/>
            <a:headEnd type="arrow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48" name="Connection Line"/>
          <p:cNvSpPr/>
          <p:nvPr/>
        </p:nvSpPr>
        <p:spPr>
          <a:xfrm>
            <a:off x="6013591" y="3910180"/>
            <a:ext cx="858095" cy="1672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6" extrusionOk="0">
                <a:moveTo>
                  <a:pt x="0" y="16206"/>
                </a:moveTo>
                <a:cubicBezTo>
                  <a:pt x="6837" y="-4982"/>
                  <a:pt x="14037" y="-5394"/>
                  <a:pt x="21600" y="14971"/>
                </a:cubicBezTo>
              </a:path>
            </a:pathLst>
          </a:custGeom>
          <a:ln w="50800">
            <a:solidFill>
              <a:schemeClr val="accent5"/>
            </a:solidFill>
            <a:miter lim="400000"/>
            <a:tailEnd type="triangle"/>
          </a:ln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345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6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6300" y="1871671"/>
            <a:ext cx="4137274" cy="57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14366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51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52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53" name="Circle"/>
          <p:cNvSpPr/>
          <p:nvPr/>
        </p:nvSpPr>
        <p:spPr>
          <a:xfrm>
            <a:off x="7315200" y="5618480"/>
            <a:ext cx="121920" cy="121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grpSp>
        <p:nvGrpSpPr>
          <p:cNvPr id="356" name="Group"/>
          <p:cNvGrpSpPr/>
          <p:nvPr/>
        </p:nvGrpSpPr>
        <p:grpSpPr>
          <a:xfrm rot="4596714">
            <a:off x="4347602" y="2976002"/>
            <a:ext cx="4309596" cy="3801596"/>
            <a:chOff x="0" y="0"/>
            <a:chExt cx="4309595" cy="3801595"/>
          </a:xfrm>
        </p:grpSpPr>
        <p:sp>
          <p:nvSpPr>
            <p:cNvPr id="354" name="Line"/>
            <p:cNvSpPr/>
            <p:nvPr/>
          </p:nvSpPr>
          <p:spPr>
            <a:xfrm flipV="1">
              <a:off x="0" y="0"/>
              <a:ext cx="4309596" cy="380159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355" name="Line"/>
            <p:cNvSpPr/>
            <p:nvPr/>
          </p:nvSpPr>
          <p:spPr>
            <a:xfrm>
              <a:off x="1385409" y="1135705"/>
              <a:ext cx="780026" cy="78002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</p:grpSp>
      <p:sp>
        <p:nvSpPr>
          <p:cNvPr id="357" name="Circle"/>
          <p:cNvSpPr/>
          <p:nvPr/>
        </p:nvSpPr>
        <p:spPr>
          <a:xfrm>
            <a:off x="5656580" y="3886200"/>
            <a:ext cx="121921" cy="12192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58" name="Circle"/>
          <p:cNvSpPr/>
          <p:nvPr/>
        </p:nvSpPr>
        <p:spPr>
          <a:xfrm>
            <a:off x="4653279" y="5930900"/>
            <a:ext cx="121921" cy="121920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59" name="update w"/>
          <p:cNvSpPr txBox="1"/>
          <p:nvPr/>
        </p:nvSpPr>
        <p:spPr>
          <a:xfrm>
            <a:off x="4671313" y="4307840"/>
            <a:ext cx="117297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update w</a:t>
            </a:r>
          </a:p>
        </p:txBody>
      </p:sp>
      <p:pic>
        <p:nvPicPr>
          <p:cNvPr id="360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6300" y="1871671"/>
            <a:ext cx="4137274" cy="57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94525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65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66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67" name="Circle"/>
          <p:cNvSpPr/>
          <p:nvPr/>
        </p:nvSpPr>
        <p:spPr>
          <a:xfrm>
            <a:off x="7315200" y="5618480"/>
            <a:ext cx="121920" cy="121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grpSp>
        <p:nvGrpSpPr>
          <p:cNvPr id="370" name="Group"/>
          <p:cNvGrpSpPr/>
          <p:nvPr/>
        </p:nvGrpSpPr>
        <p:grpSpPr>
          <a:xfrm rot="4596714">
            <a:off x="4347602" y="2976002"/>
            <a:ext cx="4309596" cy="3801596"/>
            <a:chOff x="0" y="0"/>
            <a:chExt cx="4309595" cy="3801595"/>
          </a:xfrm>
        </p:grpSpPr>
        <p:sp>
          <p:nvSpPr>
            <p:cNvPr id="368" name="Line"/>
            <p:cNvSpPr/>
            <p:nvPr/>
          </p:nvSpPr>
          <p:spPr>
            <a:xfrm flipV="1">
              <a:off x="0" y="0"/>
              <a:ext cx="4309596" cy="380159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369" name="Line"/>
            <p:cNvSpPr/>
            <p:nvPr/>
          </p:nvSpPr>
          <p:spPr>
            <a:xfrm>
              <a:off x="1385409" y="1135705"/>
              <a:ext cx="780026" cy="78002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</p:grpSp>
      <p:sp>
        <p:nvSpPr>
          <p:cNvPr id="371" name="Circle"/>
          <p:cNvSpPr/>
          <p:nvPr/>
        </p:nvSpPr>
        <p:spPr>
          <a:xfrm>
            <a:off x="5656580" y="3886200"/>
            <a:ext cx="121921" cy="12192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72" name="Circle"/>
          <p:cNvSpPr/>
          <p:nvPr/>
        </p:nvSpPr>
        <p:spPr>
          <a:xfrm>
            <a:off x="4653279" y="5930900"/>
            <a:ext cx="121921" cy="121920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73" name="Circle"/>
          <p:cNvSpPr/>
          <p:nvPr/>
        </p:nvSpPr>
        <p:spPr>
          <a:xfrm>
            <a:off x="4653279" y="3886200"/>
            <a:ext cx="121921" cy="12192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374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0" y="101932"/>
            <a:ext cx="1999259" cy="575420"/>
          </a:xfrm>
          <a:prstGeom prst="rect">
            <a:avLst/>
          </a:prstGeom>
        </p:spPr>
      </p:pic>
      <p:pic>
        <p:nvPicPr>
          <p:cNvPr id="378" name="Connection Line" descr="Connection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260775" y="349574"/>
            <a:ext cx="3214782" cy="348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78056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82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83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84" name="Circle"/>
          <p:cNvSpPr/>
          <p:nvPr/>
        </p:nvSpPr>
        <p:spPr>
          <a:xfrm>
            <a:off x="7315200" y="5618480"/>
            <a:ext cx="121920" cy="121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grpSp>
        <p:nvGrpSpPr>
          <p:cNvPr id="387" name="Group"/>
          <p:cNvGrpSpPr/>
          <p:nvPr/>
        </p:nvGrpSpPr>
        <p:grpSpPr>
          <a:xfrm rot="1838754">
            <a:off x="4347601" y="2976002"/>
            <a:ext cx="4309597" cy="3801596"/>
            <a:chOff x="0" y="0"/>
            <a:chExt cx="4309595" cy="3801595"/>
          </a:xfrm>
        </p:grpSpPr>
        <p:sp>
          <p:nvSpPr>
            <p:cNvPr id="385" name="Line"/>
            <p:cNvSpPr/>
            <p:nvPr/>
          </p:nvSpPr>
          <p:spPr>
            <a:xfrm flipV="1">
              <a:off x="0" y="0"/>
              <a:ext cx="4309596" cy="380159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386" name="Line"/>
            <p:cNvSpPr/>
            <p:nvPr/>
          </p:nvSpPr>
          <p:spPr>
            <a:xfrm>
              <a:off x="1385409" y="1135705"/>
              <a:ext cx="780026" cy="78002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</p:grpSp>
      <p:sp>
        <p:nvSpPr>
          <p:cNvPr id="388" name="Circle"/>
          <p:cNvSpPr/>
          <p:nvPr/>
        </p:nvSpPr>
        <p:spPr>
          <a:xfrm>
            <a:off x="5656580" y="3886200"/>
            <a:ext cx="121921" cy="12192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89" name="Circle"/>
          <p:cNvSpPr/>
          <p:nvPr/>
        </p:nvSpPr>
        <p:spPr>
          <a:xfrm>
            <a:off x="4653279" y="5930900"/>
            <a:ext cx="121921" cy="121920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90" name="Circle"/>
          <p:cNvSpPr/>
          <p:nvPr/>
        </p:nvSpPr>
        <p:spPr>
          <a:xfrm>
            <a:off x="4653279" y="3886200"/>
            <a:ext cx="121921" cy="12192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91" name="Line"/>
          <p:cNvSpPr/>
          <p:nvPr/>
        </p:nvSpPr>
        <p:spPr>
          <a:xfrm>
            <a:off x="4154323" y="3220683"/>
            <a:ext cx="4696154" cy="3312234"/>
          </a:xfrm>
          <a:prstGeom prst="line">
            <a:avLst/>
          </a:prstGeom>
          <a:ln w="25400">
            <a:solidFill>
              <a:srgbClr val="A6AAA9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92" name="Line"/>
          <p:cNvSpPr/>
          <p:nvPr/>
        </p:nvSpPr>
        <p:spPr>
          <a:xfrm flipH="1">
            <a:off x="6490335" y="3951166"/>
            <a:ext cx="578217" cy="939440"/>
          </a:xfrm>
          <a:prstGeom prst="line">
            <a:avLst/>
          </a:prstGeom>
          <a:ln w="25400">
            <a:solidFill>
              <a:srgbClr val="A6AAA9"/>
            </a:solidFill>
            <a:custDash>
              <a:ds d="200000" sp="200000"/>
            </a:custDash>
            <a:miter lim="400000"/>
            <a:headEnd type="arrow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98" name="Connection Line"/>
          <p:cNvSpPr/>
          <p:nvPr/>
        </p:nvSpPr>
        <p:spPr>
          <a:xfrm>
            <a:off x="6282921" y="3645061"/>
            <a:ext cx="735658" cy="2045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6" extrusionOk="0">
                <a:moveTo>
                  <a:pt x="0" y="15015"/>
                </a:moveTo>
                <a:cubicBezTo>
                  <a:pt x="6164" y="-5394"/>
                  <a:pt x="13364" y="-4997"/>
                  <a:pt x="21600" y="16206"/>
                </a:cubicBezTo>
              </a:path>
            </a:pathLst>
          </a:custGeom>
          <a:ln w="50800">
            <a:solidFill>
              <a:schemeClr val="accent5"/>
            </a:solidFill>
            <a:miter lim="400000"/>
            <a:headEnd type="triangle"/>
          </a:ln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94" name="update w"/>
          <p:cNvSpPr txBox="1"/>
          <p:nvPr/>
        </p:nvSpPr>
        <p:spPr>
          <a:xfrm>
            <a:off x="4671313" y="4307840"/>
            <a:ext cx="117297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update w</a:t>
            </a:r>
          </a:p>
        </p:txBody>
      </p:sp>
      <p:pic>
        <p:nvPicPr>
          <p:cNvPr id="395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6300" y="1871671"/>
            <a:ext cx="4137274" cy="57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1444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Line"/>
          <p:cNvSpPr/>
          <p:nvPr/>
        </p:nvSpPr>
        <p:spPr>
          <a:xfrm>
            <a:off x="1739459" y="4876800"/>
            <a:ext cx="9525882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01" name="Line"/>
          <p:cNvSpPr/>
          <p:nvPr/>
        </p:nvSpPr>
        <p:spPr>
          <a:xfrm flipV="1">
            <a:off x="6502400" y="683449"/>
            <a:ext cx="1" cy="8386702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02" name="Circle"/>
          <p:cNvSpPr/>
          <p:nvPr/>
        </p:nvSpPr>
        <p:spPr>
          <a:xfrm>
            <a:off x="6441440" y="4815840"/>
            <a:ext cx="121921" cy="12192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03" name="Circle"/>
          <p:cNvSpPr/>
          <p:nvPr/>
        </p:nvSpPr>
        <p:spPr>
          <a:xfrm>
            <a:off x="7315200" y="5618480"/>
            <a:ext cx="121920" cy="121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grpSp>
        <p:nvGrpSpPr>
          <p:cNvPr id="406" name="Group"/>
          <p:cNvGrpSpPr/>
          <p:nvPr/>
        </p:nvGrpSpPr>
        <p:grpSpPr>
          <a:xfrm rot="1838754">
            <a:off x="4347601" y="2976002"/>
            <a:ext cx="4309597" cy="3801596"/>
            <a:chOff x="0" y="0"/>
            <a:chExt cx="4309595" cy="3801595"/>
          </a:xfrm>
        </p:grpSpPr>
        <p:sp>
          <p:nvSpPr>
            <p:cNvPr id="404" name="Line"/>
            <p:cNvSpPr/>
            <p:nvPr/>
          </p:nvSpPr>
          <p:spPr>
            <a:xfrm flipV="1">
              <a:off x="0" y="0"/>
              <a:ext cx="4309596" cy="380159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405" name="Line"/>
            <p:cNvSpPr/>
            <p:nvPr/>
          </p:nvSpPr>
          <p:spPr>
            <a:xfrm>
              <a:off x="1385409" y="1135705"/>
              <a:ext cx="780026" cy="78002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</p:grpSp>
      <p:sp>
        <p:nvSpPr>
          <p:cNvPr id="407" name="Circle"/>
          <p:cNvSpPr/>
          <p:nvPr/>
        </p:nvSpPr>
        <p:spPr>
          <a:xfrm>
            <a:off x="5656580" y="3886200"/>
            <a:ext cx="121921" cy="12192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08" name="Circle"/>
          <p:cNvSpPr/>
          <p:nvPr/>
        </p:nvSpPr>
        <p:spPr>
          <a:xfrm>
            <a:off x="4653279" y="5930900"/>
            <a:ext cx="121921" cy="121920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09" name="Circle"/>
          <p:cNvSpPr/>
          <p:nvPr/>
        </p:nvSpPr>
        <p:spPr>
          <a:xfrm>
            <a:off x="4653279" y="3886200"/>
            <a:ext cx="121921" cy="12192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10" name="repeat …"/>
          <p:cNvSpPr txBox="1"/>
          <p:nvPr/>
        </p:nvSpPr>
        <p:spPr>
          <a:xfrm>
            <a:off x="11658599" y="9222740"/>
            <a:ext cx="11684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repeat …</a:t>
            </a:r>
          </a:p>
        </p:txBody>
      </p:sp>
      <p:pic>
        <p:nvPicPr>
          <p:cNvPr id="411" name="latex-image-3.pdf" descr="latex-image-3.pdf"/>
          <p:cNvPicPr>
            <a:picLocks noChangeAspect="1"/>
          </p:cNvPicPr>
          <p:nvPr/>
        </p:nvPicPr>
        <p:blipFill>
          <a:blip r:embed="rId2"/>
          <a:srcRect l="17832" t="43145"/>
          <a:stretch>
            <a:fillRect/>
          </a:stretch>
        </p:blipFill>
        <p:spPr>
          <a:xfrm>
            <a:off x="300235" y="223391"/>
            <a:ext cx="3829929" cy="205026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2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6300" y="1871671"/>
            <a:ext cx="4137274" cy="57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998953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Line"/>
          <p:cNvSpPr/>
          <p:nvPr/>
        </p:nvSpPr>
        <p:spPr>
          <a:xfrm flipV="1">
            <a:off x="4473574" y="5374394"/>
            <a:ext cx="1880693" cy="268014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16" name="Line"/>
          <p:cNvSpPr/>
          <p:nvPr/>
        </p:nvSpPr>
        <p:spPr>
          <a:xfrm>
            <a:off x="6505575" y="5081394"/>
            <a:ext cx="389697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17" name="Circle"/>
          <p:cNvSpPr/>
          <p:nvPr/>
        </p:nvSpPr>
        <p:spPr>
          <a:xfrm>
            <a:off x="8873616" y="47080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18" name="Line"/>
          <p:cNvSpPr/>
          <p:nvPr/>
        </p:nvSpPr>
        <p:spPr>
          <a:xfrm>
            <a:off x="3419474" y="2634059"/>
            <a:ext cx="3102671" cy="241538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19" name="Line"/>
          <p:cNvSpPr/>
          <p:nvPr/>
        </p:nvSpPr>
        <p:spPr>
          <a:xfrm>
            <a:off x="3076574" y="3874442"/>
            <a:ext cx="3454302" cy="117179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0" name="Line"/>
          <p:cNvSpPr/>
          <p:nvPr/>
        </p:nvSpPr>
        <p:spPr>
          <a:xfrm>
            <a:off x="3076575" y="5116026"/>
            <a:ext cx="345430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1" name="Line"/>
          <p:cNvSpPr/>
          <p:nvPr/>
        </p:nvSpPr>
        <p:spPr>
          <a:xfrm flipV="1">
            <a:off x="3076575" y="4996073"/>
            <a:ext cx="3454301" cy="217574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2" name="Circle"/>
          <p:cNvSpPr/>
          <p:nvPr/>
        </p:nvSpPr>
        <p:spPr>
          <a:xfrm>
            <a:off x="6136766" y="47080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3" name="Circle"/>
          <p:cNvSpPr/>
          <p:nvPr/>
        </p:nvSpPr>
        <p:spPr>
          <a:xfrm>
            <a:off x="2714116" y="2244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4" name="Circle"/>
          <p:cNvSpPr/>
          <p:nvPr/>
        </p:nvSpPr>
        <p:spPr>
          <a:xfrm>
            <a:off x="2714116" y="34761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5" name="Circle"/>
          <p:cNvSpPr/>
          <p:nvPr/>
        </p:nvSpPr>
        <p:spPr>
          <a:xfrm>
            <a:off x="2714116" y="47080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6" name="Circle"/>
          <p:cNvSpPr/>
          <p:nvPr/>
        </p:nvSpPr>
        <p:spPr>
          <a:xfrm>
            <a:off x="2714116" y="67781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42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396" y="2502644"/>
            <a:ext cx="4191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169" y="3723332"/>
            <a:ext cx="4318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7874" y="4939010"/>
            <a:ext cx="4318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0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0455" y="6998741"/>
            <a:ext cx="5715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1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6801" y="5868044"/>
            <a:ext cx="63501" cy="431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6402" y="3174355"/>
            <a:ext cx="4699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3742" y="3974256"/>
            <a:ext cx="4826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1757" y="4775200"/>
            <a:ext cx="482601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5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9738" y="5769719"/>
            <a:ext cx="635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6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5520" y="4909889"/>
            <a:ext cx="279401" cy="317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7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18600" y="4854922"/>
            <a:ext cx="241300" cy="431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8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44782" y="4966047"/>
            <a:ext cx="2286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439" name="The Perceptron"/>
          <p:cNvSpPr txBox="1"/>
          <p:nvPr/>
        </p:nvSpPr>
        <p:spPr>
          <a:xfrm>
            <a:off x="4877968" y="603250"/>
            <a:ext cx="324886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The Perceptron</a:t>
            </a:r>
          </a:p>
        </p:txBody>
      </p:sp>
      <p:sp>
        <p:nvSpPr>
          <p:cNvPr id="440" name="inputs"/>
          <p:cNvSpPr txBox="1"/>
          <p:nvPr/>
        </p:nvSpPr>
        <p:spPr>
          <a:xfrm>
            <a:off x="833158" y="4867622"/>
            <a:ext cx="87617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inputs</a:t>
            </a:r>
          </a:p>
        </p:txBody>
      </p:sp>
      <p:sp>
        <p:nvSpPr>
          <p:cNvPr id="441" name="weights"/>
          <p:cNvSpPr txBox="1"/>
          <p:nvPr/>
        </p:nvSpPr>
        <p:spPr>
          <a:xfrm>
            <a:off x="4983119" y="2646232"/>
            <a:ext cx="105985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weights</a:t>
            </a:r>
          </a:p>
        </p:txBody>
      </p:sp>
      <p:sp>
        <p:nvSpPr>
          <p:cNvPr id="442" name="output"/>
          <p:cNvSpPr txBox="1"/>
          <p:nvPr/>
        </p:nvSpPr>
        <p:spPr>
          <a:xfrm>
            <a:off x="11271305" y="4867622"/>
            <a:ext cx="90408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output</a:t>
            </a:r>
          </a:p>
        </p:txBody>
      </p:sp>
      <p:sp>
        <p:nvSpPr>
          <p:cNvPr id="443" name="sum"/>
          <p:cNvSpPr txBox="1"/>
          <p:nvPr/>
        </p:nvSpPr>
        <p:spPr>
          <a:xfrm>
            <a:off x="6183631" y="4051300"/>
            <a:ext cx="63656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sum</a:t>
            </a:r>
          </a:p>
        </p:txBody>
      </p:sp>
      <p:sp>
        <p:nvSpPr>
          <p:cNvPr id="444" name="sign function…"/>
          <p:cNvSpPr txBox="1"/>
          <p:nvPr/>
        </p:nvSpPr>
        <p:spPr>
          <a:xfrm>
            <a:off x="7940782" y="3942506"/>
            <a:ext cx="268333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sign function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ea typeface="+mn-ea"/>
              <a:cs typeface="+mn-cs"/>
              <a:sym typeface="Helvetica Light"/>
            </a:endParaRPr>
          </a:p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ea typeface="+mn-ea"/>
                <a:cs typeface="+mn-cs"/>
                <a:sym typeface="Helvetica Light"/>
              </a:rPr>
              <a:t>(e.g., step,sigmoid, Tanh, ReLU)</a:t>
            </a:r>
          </a:p>
        </p:txBody>
      </p:sp>
      <p:sp>
        <p:nvSpPr>
          <p:cNvPr id="445" name="Circle"/>
          <p:cNvSpPr/>
          <p:nvPr/>
        </p:nvSpPr>
        <p:spPr>
          <a:xfrm>
            <a:off x="4111116" y="7660833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446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21038" y="7867717"/>
            <a:ext cx="152401" cy="317501"/>
          </a:xfrm>
          <a:prstGeom prst="rect">
            <a:avLst/>
          </a:prstGeom>
          <a:ln w="12700">
            <a:miter lim="400000"/>
          </a:ln>
        </p:spPr>
      </p:pic>
      <p:sp>
        <p:nvSpPr>
          <p:cNvPr id="447" name="bias"/>
          <p:cNvSpPr txBox="1"/>
          <p:nvPr/>
        </p:nvSpPr>
        <p:spPr>
          <a:xfrm>
            <a:off x="4917166" y="7867717"/>
            <a:ext cx="45016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ea typeface="+mn-ea"/>
                <a:cs typeface="+mn-cs"/>
                <a:sym typeface="Helvetica Light"/>
              </a:rPr>
              <a:t>bias</a:t>
            </a:r>
          </a:p>
        </p:txBody>
      </p:sp>
      <p:pic>
        <p:nvPicPr>
          <p:cNvPr id="448" name="Image" descr="Imag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20257" y="6601916"/>
            <a:ext cx="177801" cy="3302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89295699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Line"/>
          <p:cNvSpPr/>
          <p:nvPr/>
        </p:nvSpPr>
        <p:spPr>
          <a:xfrm>
            <a:off x="6505575" y="5081394"/>
            <a:ext cx="389697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1" name="Line"/>
          <p:cNvSpPr/>
          <p:nvPr/>
        </p:nvSpPr>
        <p:spPr>
          <a:xfrm>
            <a:off x="3419474" y="2634059"/>
            <a:ext cx="2974183" cy="2035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2" name="Line"/>
          <p:cNvSpPr/>
          <p:nvPr/>
        </p:nvSpPr>
        <p:spPr>
          <a:xfrm>
            <a:off x="3076574" y="3874443"/>
            <a:ext cx="3238055" cy="98023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3" name="Line"/>
          <p:cNvSpPr/>
          <p:nvPr/>
        </p:nvSpPr>
        <p:spPr>
          <a:xfrm flipV="1">
            <a:off x="3076574" y="5094794"/>
            <a:ext cx="3200550" cy="2123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4" name="Line"/>
          <p:cNvSpPr/>
          <p:nvPr/>
        </p:nvSpPr>
        <p:spPr>
          <a:xfrm flipV="1">
            <a:off x="3076575" y="5424351"/>
            <a:ext cx="3281561" cy="174746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5" name="Circle"/>
          <p:cNvSpPr/>
          <p:nvPr/>
        </p:nvSpPr>
        <p:spPr>
          <a:xfrm>
            <a:off x="6329492" y="4351709"/>
            <a:ext cx="1443882" cy="144388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6" name="Circle"/>
          <p:cNvSpPr/>
          <p:nvPr/>
        </p:nvSpPr>
        <p:spPr>
          <a:xfrm>
            <a:off x="2714116" y="2244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7" name="Circle"/>
          <p:cNvSpPr/>
          <p:nvPr/>
        </p:nvSpPr>
        <p:spPr>
          <a:xfrm>
            <a:off x="2714116" y="34761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8" name="Circle"/>
          <p:cNvSpPr/>
          <p:nvPr/>
        </p:nvSpPr>
        <p:spPr>
          <a:xfrm>
            <a:off x="2714116" y="47080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9" name="Circle"/>
          <p:cNvSpPr/>
          <p:nvPr/>
        </p:nvSpPr>
        <p:spPr>
          <a:xfrm>
            <a:off x="2714116" y="67781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46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396" y="2502644"/>
            <a:ext cx="4191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169" y="3723332"/>
            <a:ext cx="4318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7874" y="4939010"/>
            <a:ext cx="4318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0455" y="6998741"/>
            <a:ext cx="5715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6801" y="5868044"/>
            <a:ext cx="63501" cy="431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6402" y="3174355"/>
            <a:ext cx="4699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3742" y="3974256"/>
            <a:ext cx="4826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7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1757" y="4775200"/>
            <a:ext cx="482601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8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9738" y="5769719"/>
            <a:ext cx="635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9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44782" y="4966047"/>
            <a:ext cx="2286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470" name="Another way to draw it…"/>
          <p:cNvSpPr txBox="1"/>
          <p:nvPr/>
        </p:nvSpPr>
        <p:spPr>
          <a:xfrm>
            <a:off x="335737" y="312948"/>
            <a:ext cx="511972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Another way to draw it…</a:t>
            </a:r>
          </a:p>
        </p:txBody>
      </p:sp>
      <p:sp>
        <p:nvSpPr>
          <p:cNvPr id="471" name="inputs"/>
          <p:cNvSpPr txBox="1"/>
          <p:nvPr/>
        </p:nvSpPr>
        <p:spPr>
          <a:xfrm>
            <a:off x="833158" y="4867622"/>
            <a:ext cx="87617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inputs</a:t>
            </a:r>
          </a:p>
        </p:txBody>
      </p:sp>
      <p:sp>
        <p:nvSpPr>
          <p:cNvPr id="472" name="weights"/>
          <p:cNvSpPr txBox="1"/>
          <p:nvPr/>
        </p:nvSpPr>
        <p:spPr>
          <a:xfrm>
            <a:off x="4983119" y="2646232"/>
            <a:ext cx="105985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weights</a:t>
            </a:r>
          </a:p>
        </p:txBody>
      </p:sp>
      <p:sp>
        <p:nvSpPr>
          <p:cNvPr id="473" name="output"/>
          <p:cNvSpPr txBox="1"/>
          <p:nvPr/>
        </p:nvSpPr>
        <p:spPr>
          <a:xfrm>
            <a:off x="11271305" y="4867622"/>
            <a:ext cx="90408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output</a:t>
            </a:r>
          </a:p>
        </p:txBody>
      </p:sp>
      <p:pic>
        <p:nvPicPr>
          <p:cNvPr id="474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4044" y="4879702"/>
            <a:ext cx="241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Activation Function…"/>
          <p:cNvSpPr txBox="1"/>
          <p:nvPr/>
        </p:nvSpPr>
        <p:spPr>
          <a:xfrm>
            <a:off x="5383770" y="5814169"/>
            <a:ext cx="3335326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Activation Function</a:t>
            </a:r>
          </a:p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(e.g., Sigmoid function of weighted sum)</a:t>
            </a:r>
          </a:p>
        </p:txBody>
      </p:sp>
      <p:sp>
        <p:nvSpPr>
          <p:cNvPr id="476" name="(1) Combine the sum and activation function"/>
          <p:cNvSpPr txBox="1"/>
          <p:nvPr/>
        </p:nvSpPr>
        <p:spPr>
          <a:xfrm>
            <a:off x="6852433" y="2958455"/>
            <a:ext cx="289845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(1) Combine the sum and activation function </a:t>
            </a:r>
          </a:p>
        </p:txBody>
      </p:sp>
      <p:sp>
        <p:nvSpPr>
          <p:cNvPr id="477" name="(2) suppress the bias term (less clutter)"/>
          <p:cNvSpPr txBox="1"/>
          <p:nvPr/>
        </p:nvSpPr>
        <p:spPr>
          <a:xfrm>
            <a:off x="3265144" y="7779333"/>
            <a:ext cx="289845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(2) suppress the bias term (less clutter)</a:t>
            </a:r>
          </a:p>
        </p:txBody>
      </p:sp>
      <p:pic>
        <p:nvPicPr>
          <p:cNvPr id="478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8089" y="4973444"/>
            <a:ext cx="2159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479" name="Line"/>
          <p:cNvSpPr/>
          <p:nvPr/>
        </p:nvSpPr>
        <p:spPr>
          <a:xfrm flipV="1">
            <a:off x="7051433" y="4598605"/>
            <a:ext cx="1" cy="95009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480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92208" y="2770192"/>
            <a:ext cx="1469282" cy="60002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" name="Image" descr="Imag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5702" y="3592710"/>
            <a:ext cx="1079157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2" name="Image" descr="Imag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24339" y="8079730"/>
            <a:ext cx="104590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3" name="Image" descr="Imag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98741" y="8538128"/>
            <a:ext cx="1079157" cy="29769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18301254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Line"/>
          <p:cNvSpPr/>
          <p:nvPr/>
        </p:nvSpPr>
        <p:spPr>
          <a:xfrm>
            <a:off x="6505575" y="5081394"/>
            <a:ext cx="389697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86" name="Line"/>
          <p:cNvSpPr/>
          <p:nvPr/>
        </p:nvSpPr>
        <p:spPr>
          <a:xfrm>
            <a:off x="3419474" y="2634059"/>
            <a:ext cx="2974183" cy="2035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87" name="Line"/>
          <p:cNvSpPr/>
          <p:nvPr/>
        </p:nvSpPr>
        <p:spPr>
          <a:xfrm>
            <a:off x="3076574" y="3874443"/>
            <a:ext cx="3238055" cy="98023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88" name="Line"/>
          <p:cNvSpPr/>
          <p:nvPr/>
        </p:nvSpPr>
        <p:spPr>
          <a:xfrm flipV="1">
            <a:off x="3076574" y="5094794"/>
            <a:ext cx="3200550" cy="2123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89" name="Line"/>
          <p:cNvSpPr/>
          <p:nvPr/>
        </p:nvSpPr>
        <p:spPr>
          <a:xfrm flipV="1">
            <a:off x="3076575" y="5424351"/>
            <a:ext cx="3281561" cy="174746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90" name="Circle"/>
          <p:cNvSpPr/>
          <p:nvPr/>
        </p:nvSpPr>
        <p:spPr>
          <a:xfrm>
            <a:off x="6329492" y="4351709"/>
            <a:ext cx="1443882" cy="144388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91" name="Circle"/>
          <p:cNvSpPr/>
          <p:nvPr/>
        </p:nvSpPr>
        <p:spPr>
          <a:xfrm>
            <a:off x="2714116" y="2244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92" name="Circle"/>
          <p:cNvSpPr/>
          <p:nvPr/>
        </p:nvSpPr>
        <p:spPr>
          <a:xfrm>
            <a:off x="2714116" y="34761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93" name="Circle"/>
          <p:cNvSpPr/>
          <p:nvPr/>
        </p:nvSpPr>
        <p:spPr>
          <a:xfrm>
            <a:off x="2714116" y="47080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94" name="Circle"/>
          <p:cNvSpPr/>
          <p:nvPr/>
        </p:nvSpPr>
        <p:spPr>
          <a:xfrm>
            <a:off x="2714116" y="67781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49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396" y="2502644"/>
            <a:ext cx="4191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169" y="3723332"/>
            <a:ext cx="4318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7874" y="4939010"/>
            <a:ext cx="4318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8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0455" y="6998741"/>
            <a:ext cx="5715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9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6801" y="5868044"/>
            <a:ext cx="63501" cy="431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0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6402" y="3174355"/>
            <a:ext cx="4699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1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3742" y="3974256"/>
            <a:ext cx="4826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2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1757" y="4775200"/>
            <a:ext cx="482601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9738" y="5769719"/>
            <a:ext cx="635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4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44782" y="4966047"/>
            <a:ext cx="2286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505" name="output"/>
          <p:cNvSpPr txBox="1"/>
          <p:nvPr/>
        </p:nvSpPr>
        <p:spPr>
          <a:xfrm>
            <a:off x="11271305" y="4867622"/>
            <a:ext cx="90408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output</a:t>
            </a:r>
          </a:p>
        </p:txBody>
      </p:sp>
      <p:sp>
        <p:nvSpPr>
          <p:cNvPr id="506" name="float perceptron(vector&lt;float&gt; x, vector&lt;float&gt; w)…"/>
          <p:cNvSpPr txBox="1"/>
          <p:nvPr/>
        </p:nvSpPr>
        <p:spPr>
          <a:xfrm>
            <a:off x="3648794" y="7729683"/>
            <a:ext cx="9254932" cy="181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float perceptron(vector&lt;float&gt; x, vector&lt;float&gt; w)</a:t>
            </a:r>
          </a:p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{</a:t>
            </a:r>
          </a:p>
          <a:p>
            <a:pPr marL="0" marR="0" lvl="2" indent="45720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float a  = dot(x,w); </a:t>
            </a:r>
          </a:p>
          <a:p>
            <a:pPr marL="0" marR="0" lvl="2" indent="45720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return f(a);</a:t>
            </a:r>
          </a:p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}</a:t>
            </a:r>
          </a:p>
        </p:txBody>
      </p:sp>
      <p:sp>
        <p:nvSpPr>
          <p:cNvPr id="507" name="float f(float a)…"/>
          <p:cNvSpPr txBox="1"/>
          <p:nvPr/>
        </p:nvSpPr>
        <p:spPr>
          <a:xfrm>
            <a:off x="5871718" y="1720069"/>
            <a:ext cx="5875884" cy="147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float f(float a) </a:t>
            </a:r>
          </a:p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{</a:t>
            </a:r>
          </a:p>
          <a:p>
            <a:pPr marL="0" marR="0" lvl="2" indent="45720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return 1.0 / (1.0+ exp(-a));</a:t>
            </a:r>
          </a:p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}</a:t>
            </a:r>
          </a:p>
        </p:txBody>
      </p:sp>
      <p:sp>
        <p:nvSpPr>
          <p:cNvPr id="508" name="Activation function (sigmoid, logistic function)"/>
          <p:cNvSpPr txBox="1"/>
          <p:nvPr/>
        </p:nvSpPr>
        <p:spPr>
          <a:xfrm>
            <a:off x="5865133" y="1090675"/>
            <a:ext cx="6397054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00882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kumimoji="0" sz="2800" b="1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Activation function</a:t>
            </a: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ea typeface="+mn-ea"/>
                <a:cs typeface="+mn-cs"/>
                <a:sym typeface="Helvetica Light"/>
              </a:rPr>
              <a:t> (sigmoid, logistic function)</a:t>
            </a:r>
          </a:p>
        </p:txBody>
      </p:sp>
      <p:sp>
        <p:nvSpPr>
          <p:cNvPr id="509" name="Perceptron function (logistic regression)"/>
          <p:cNvSpPr txBox="1"/>
          <p:nvPr/>
        </p:nvSpPr>
        <p:spPr>
          <a:xfrm>
            <a:off x="3589318" y="7149703"/>
            <a:ext cx="5826164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00882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kumimoji="0" sz="2800" b="1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Perceptron function </a:t>
            </a: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ea typeface="+mn-ea"/>
                <a:cs typeface="+mn-cs"/>
                <a:sym typeface="Helvetica Light"/>
              </a:rPr>
              <a:t>(logistic regression)</a:t>
            </a:r>
          </a:p>
        </p:txBody>
      </p:sp>
      <p:pic>
        <p:nvPicPr>
          <p:cNvPr id="510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4044" y="4879702"/>
            <a:ext cx="241301" cy="431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8089" y="4973444"/>
            <a:ext cx="2159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512" name="Line"/>
          <p:cNvSpPr/>
          <p:nvPr/>
        </p:nvSpPr>
        <p:spPr>
          <a:xfrm flipV="1">
            <a:off x="7051433" y="4598605"/>
            <a:ext cx="1" cy="95009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13" name="Programming the 'forward pass'"/>
          <p:cNvSpPr txBox="1"/>
          <p:nvPr/>
        </p:nvSpPr>
        <p:spPr>
          <a:xfrm>
            <a:off x="141300" y="210691"/>
            <a:ext cx="66262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Programming the 'forward pass'</a:t>
            </a:r>
          </a:p>
        </p:txBody>
      </p:sp>
    </p:spTree>
    <p:extLst>
      <p:ext uri="{BB962C8B-B14F-4D97-AF65-F5344CB8AC3E}">
        <p14:creationId xmlns:p14="http://schemas.microsoft.com/office/powerpoint/2010/main" val="2215927410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K-nearest neighb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Neural networks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6833460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onnect a bunch of perceptrons together …"/>
          <p:cNvSpPr txBox="1"/>
          <p:nvPr/>
        </p:nvSpPr>
        <p:spPr>
          <a:xfrm>
            <a:off x="190169" y="173323"/>
            <a:ext cx="917006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Connect a bunch of perceptrons together …</a:t>
            </a:r>
          </a:p>
        </p:txBody>
      </p:sp>
    </p:spTree>
    <p:extLst>
      <p:ext uri="{BB962C8B-B14F-4D97-AF65-F5344CB8AC3E}">
        <p14:creationId xmlns:p14="http://schemas.microsoft.com/office/powerpoint/2010/main" val="119949766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Neural Network"/>
          <p:cNvSpPr txBox="1">
            <a:spLocks noGrp="1"/>
          </p:cNvSpPr>
          <p:nvPr>
            <p:ph type="title"/>
          </p:nvPr>
        </p:nvSpPr>
        <p:spPr>
          <a:xfrm>
            <a:off x="952500" y="442155"/>
            <a:ext cx="11099800" cy="2159001"/>
          </a:xfrm>
          <a:prstGeom prst="rect">
            <a:avLst/>
          </a:prstGeom>
        </p:spPr>
        <p:txBody>
          <a:bodyPr/>
          <a:lstStyle/>
          <a:p>
            <a:r>
              <a:t>Neural Network</a:t>
            </a:r>
          </a:p>
        </p:txBody>
      </p:sp>
      <p:sp>
        <p:nvSpPr>
          <p:cNvPr id="127" name="a collection of connected perceptrons"/>
          <p:cNvSpPr txBox="1"/>
          <p:nvPr/>
        </p:nvSpPr>
        <p:spPr>
          <a:xfrm>
            <a:off x="3427450" y="2146300"/>
            <a:ext cx="61499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 collection of connected perceptrons</a:t>
            </a:r>
          </a:p>
        </p:txBody>
      </p:sp>
      <p:sp>
        <p:nvSpPr>
          <p:cNvPr id="128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29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0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1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2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3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4" name="Circle"/>
          <p:cNvSpPr/>
          <p:nvPr/>
        </p:nvSpPr>
        <p:spPr>
          <a:xfrm>
            <a:off x="6136766" y="70257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5" name="Circle"/>
          <p:cNvSpPr/>
          <p:nvPr/>
        </p:nvSpPr>
        <p:spPr>
          <a:xfrm>
            <a:off x="9148188" y="401767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6" name="Circle"/>
          <p:cNvSpPr/>
          <p:nvPr/>
        </p:nvSpPr>
        <p:spPr>
          <a:xfrm>
            <a:off x="9165716" y="57748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7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8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9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0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1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2" name="Line"/>
          <p:cNvSpPr/>
          <p:nvPr/>
        </p:nvSpPr>
        <p:spPr>
          <a:xfrm>
            <a:off x="3886949" y="4195496"/>
            <a:ext cx="2271743" cy="291010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3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4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5" name="Line"/>
          <p:cNvSpPr/>
          <p:nvPr/>
        </p:nvSpPr>
        <p:spPr>
          <a:xfrm>
            <a:off x="3886863" y="5451508"/>
            <a:ext cx="2219676" cy="182790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6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7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8" name="Line"/>
          <p:cNvSpPr/>
          <p:nvPr/>
        </p:nvSpPr>
        <p:spPr>
          <a:xfrm>
            <a:off x="3883080" y="6644310"/>
            <a:ext cx="2210839" cy="8180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9" name="Line"/>
          <p:cNvSpPr/>
          <p:nvPr/>
        </p:nvSpPr>
        <p:spPr>
          <a:xfrm>
            <a:off x="6896843" y="4917588"/>
            <a:ext cx="2224535" cy="108924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50" name="Line"/>
          <p:cNvSpPr/>
          <p:nvPr/>
        </p:nvSpPr>
        <p:spPr>
          <a:xfrm>
            <a:off x="6871804" y="6158346"/>
            <a:ext cx="2245358" cy="1320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51" name="Line"/>
          <p:cNvSpPr/>
          <p:nvPr/>
        </p:nvSpPr>
        <p:spPr>
          <a:xfrm flipV="1">
            <a:off x="6896410" y="6375576"/>
            <a:ext cx="2259940" cy="100385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52" name="Line"/>
          <p:cNvSpPr/>
          <p:nvPr/>
        </p:nvSpPr>
        <p:spPr>
          <a:xfrm flipV="1">
            <a:off x="6916895" y="4388088"/>
            <a:ext cx="2174587" cy="54239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53" name="Line"/>
          <p:cNvSpPr/>
          <p:nvPr/>
        </p:nvSpPr>
        <p:spPr>
          <a:xfrm flipV="1">
            <a:off x="6871804" y="4530216"/>
            <a:ext cx="2267203" cy="16451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54" name="Line"/>
          <p:cNvSpPr/>
          <p:nvPr/>
        </p:nvSpPr>
        <p:spPr>
          <a:xfrm flipV="1">
            <a:off x="6920523" y="4700757"/>
            <a:ext cx="2289707" cy="26674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55" name="Line"/>
          <p:cNvSpPr/>
          <p:nvPr/>
        </p:nvSpPr>
        <p:spPr>
          <a:xfrm>
            <a:off x="6902542" y="3625100"/>
            <a:ext cx="2274045" cy="221577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56" name="Line"/>
          <p:cNvSpPr/>
          <p:nvPr/>
        </p:nvSpPr>
        <p:spPr>
          <a:xfrm>
            <a:off x="6908689" y="3596985"/>
            <a:ext cx="2175018" cy="59607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57" name="Connect a bunch of perceptrons together …"/>
          <p:cNvSpPr txBox="1"/>
          <p:nvPr/>
        </p:nvSpPr>
        <p:spPr>
          <a:xfrm>
            <a:off x="190169" y="173323"/>
            <a:ext cx="917006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Connect a bunch of perceptrons together …</a:t>
            </a:r>
          </a:p>
        </p:txBody>
      </p:sp>
    </p:spTree>
    <p:extLst>
      <p:ext uri="{BB962C8B-B14F-4D97-AF65-F5344CB8AC3E}">
        <p14:creationId xmlns:p14="http://schemas.microsoft.com/office/powerpoint/2010/main" val="4000420030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Neural Network"/>
          <p:cNvSpPr txBox="1">
            <a:spLocks noGrp="1"/>
          </p:cNvSpPr>
          <p:nvPr>
            <p:ph type="title"/>
          </p:nvPr>
        </p:nvSpPr>
        <p:spPr>
          <a:xfrm>
            <a:off x="952500" y="442155"/>
            <a:ext cx="11099800" cy="2159001"/>
          </a:xfrm>
          <a:prstGeom prst="rect">
            <a:avLst/>
          </a:prstGeom>
        </p:spPr>
        <p:txBody>
          <a:bodyPr/>
          <a:lstStyle/>
          <a:p>
            <a:r>
              <a:t>Neural Network</a:t>
            </a:r>
          </a:p>
        </p:txBody>
      </p:sp>
      <p:sp>
        <p:nvSpPr>
          <p:cNvPr id="160" name="a collection of connected perceptrons"/>
          <p:cNvSpPr txBox="1"/>
          <p:nvPr/>
        </p:nvSpPr>
        <p:spPr>
          <a:xfrm>
            <a:off x="3427450" y="2146300"/>
            <a:ext cx="61499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 collection of connected perceptrons</a:t>
            </a:r>
          </a:p>
        </p:txBody>
      </p:sp>
      <p:sp>
        <p:nvSpPr>
          <p:cNvPr id="161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62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63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64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65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66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67" name="Circle"/>
          <p:cNvSpPr/>
          <p:nvPr/>
        </p:nvSpPr>
        <p:spPr>
          <a:xfrm>
            <a:off x="6136766" y="70257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68" name="Circle"/>
          <p:cNvSpPr/>
          <p:nvPr/>
        </p:nvSpPr>
        <p:spPr>
          <a:xfrm>
            <a:off x="9148188" y="401767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69" name="Circle"/>
          <p:cNvSpPr/>
          <p:nvPr/>
        </p:nvSpPr>
        <p:spPr>
          <a:xfrm>
            <a:off x="9165716" y="57748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0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1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2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3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4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5" name="Line"/>
          <p:cNvSpPr/>
          <p:nvPr/>
        </p:nvSpPr>
        <p:spPr>
          <a:xfrm>
            <a:off x="3886949" y="4195496"/>
            <a:ext cx="2271743" cy="291010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6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7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8" name="Line"/>
          <p:cNvSpPr/>
          <p:nvPr/>
        </p:nvSpPr>
        <p:spPr>
          <a:xfrm>
            <a:off x="3886863" y="5451508"/>
            <a:ext cx="2219676" cy="182790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9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0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1" name="Line"/>
          <p:cNvSpPr/>
          <p:nvPr/>
        </p:nvSpPr>
        <p:spPr>
          <a:xfrm>
            <a:off x="3883080" y="6644310"/>
            <a:ext cx="2210839" cy="8180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2" name="Line"/>
          <p:cNvSpPr/>
          <p:nvPr/>
        </p:nvSpPr>
        <p:spPr>
          <a:xfrm>
            <a:off x="6896843" y="4917588"/>
            <a:ext cx="2224535" cy="108924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3" name="Line"/>
          <p:cNvSpPr/>
          <p:nvPr/>
        </p:nvSpPr>
        <p:spPr>
          <a:xfrm>
            <a:off x="6871804" y="6158346"/>
            <a:ext cx="2245358" cy="1320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4" name="Line"/>
          <p:cNvSpPr/>
          <p:nvPr/>
        </p:nvSpPr>
        <p:spPr>
          <a:xfrm flipV="1">
            <a:off x="6896410" y="6375576"/>
            <a:ext cx="2259940" cy="100385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5" name="Line"/>
          <p:cNvSpPr/>
          <p:nvPr/>
        </p:nvSpPr>
        <p:spPr>
          <a:xfrm flipV="1">
            <a:off x="6916895" y="4388088"/>
            <a:ext cx="2174587" cy="54239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6" name="Line"/>
          <p:cNvSpPr/>
          <p:nvPr/>
        </p:nvSpPr>
        <p:spPr>
          <a:xfrm flipV="1">
            <a:off x="6871804" y="4530216"/>
            <a:ext cx="2267203" cy="16451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7" name="Line"/>
          <p:cNvSpPr/>
          <p:nvPr/>
        </p:nvSpPr>
        <p:spPr>
          <a:xfrm flipV="1">
            <a:off x="6920523" y="4700757"/>
            <a:ext cx="2289707" cy="26674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8" name="Line"/>
          <p:cNvSpPr/>
          <p:nvPr/>
        </p:nvSpPr>
        <p:spPr>
          <a:xfrm>
            <a:off x="6902542" y="3625100"/>
            <a:ext cx="2274045" cy="221577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9" name="Line"/>
          <p:cNvSpPr/>
          <p:nvPr/>
        </p:nvSpPr>
        <p:spPr>
          <a:xfrm>
            <a:off x="6908689" y="3596985"/>
            <a:ext cx="2175018" cy="59607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90" name="Connect a bunch of perceptrons together …"/>
          <p:cNvSpPr txBox="1"/>
          <p:nvPr/>
        </p:nvSpPr>
        <p:spPr>
          <a:xfrm>
            <a:off x="190169" y="173323"/>
            <a:ext cx="917006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Connect a bunch of perceptrons together …</a:t>
            </a:r>
          </a:p>
        </p:txBody>
      </p:sp>
      <p:sp>
        <p:nvSpPr>
          <p:cNvPr id="191" name="How many perceptrons in this neural network?"/>
          <p:cNvSpPr txBox="1"/>
          <p:nvPr/>
        </p:nvSpPr>
        <p:spPr>
          <a:xfrm>
            <a:off x="1727631" y="8036204"/>
            <a:ext cx="954953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How many perceptrons in this neural network?</a:t>
            </a:r>
          </a:p>
        </p:txBody>
      </p:sp>
    </p:spTree>
    <p:extLst>
      <p:ext uri="{BB962C8B-B14F-4D97-AF65-F5344CB8AC3E}">
        <p14:creationId xmlns:p14="http://schemas.microsoft.com/office/powerpoint/2010/main" val="107248475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Neural Net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Neural Network</a:t>
            </a:r>
          </a:p>
        </p:txBody>
      </p:sp>
      <p:sp>
        <p:nvSpPr>
          <p:cNvPr id="194" name="a collection of connected perceptrons"/>
          <p:cNvSpPr txBox="1"/>
          <p:nvPr/>
        </p:nvSpPr>
        <p:spPr>
          <a:xfrm>
            <a:off x="3427450" y="2146300"/>
            <a:ext cx="61499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 collection of connected perceptrons</a:t>
            </a:r>
          </a:p>
        </p:txBody>
      </p:sp>
      <p:sp>
        <p:nvSpPr>
          <p:cNvPr id="195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96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97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98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99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00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01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02" name="‘one perceptron’"/>
          <p:cNvSpPr txBox="1"/>
          <p:nvPr/>
        </p:nvSpPr>
        <p:spPr>
          <a:xfrm>
            <a:off x="7275829" y="3384549"/>
            <a:ext cx="233934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‘one perceptron’</a:t>
            </a:r>
          </a:p>
        </p:txBody>
      </p:sp>
      <p:sp>
        <p:nvSpPr>
          <p:cNvPr id="204" name="Connect a bunch of perceptrons together …"/>
          <p:cNvSpPr txBox="1"/>
          <p:nvPr/>
        </p:nvSpPr>
        <p:spPr>
          <a:xfrm>
            <a:off x="190169" y="173323"/>
            <a:ext cx="917006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Connect a bunch of perceptrons together …</a:t>
            </a:r>
          </a:p>
        </p:txBody>
      </p:sp>
    </p:spTree>
    <p:extLst>
      <p:ext uri="{BB962C8B-B14F-4D97-AF65-F5344CB8AC3E}">
        <p14:creationId xmlns:p14="http://schemas.microsoft.com/office/powerpoint/2010/main" val="2552564952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Neural Net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Neural Network</a:t>
            </a:r>
          </a:p>
        </p:txBody>
      </p:sp>
      <p:sp>
        <p:nvSpPr>
          <p:cNvPr id="207" name="a collection of connected perceptrons"/>
          <p:cNvSpPr txBox="1"/>
          <p:nvPr/>
        </p:nvSpPr>
        <p:spPr>
          <a:xfrm>
            <a:off x="3427450" y="2146300"/>
            <a:ext cx="61499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 collection of connected perceptrons</a:t>
            </a:r>
          </a:p>
        </p:txBody>
      </p:sp>
      <p:sp>
        <p:nvSpPr>
          <p:cNvPr id="208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09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10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11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12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13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14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15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16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17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18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19" name="‘two perceptrons’"/>
          <p:cNvSpPr txBox="1"/>
          <p:nvPr/>
        </p:nvSpPr>
        <p:spPr>
          <a:xfrm>
            <a:off x="7267498" y="4641849"/>
            <a:ext cx="2457604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‘two perceptrons’</a:t>
            </a:r>
          </a:p>
        </p:txBody>
      </p:sp>
      <p:sp>
        <p:nvSpPr>
          <p:cNvPr id="221" name="Connect a bunch of perceptrons together …"/>
          <p:cNvSpPr txBox="1"/>
          <p:nvPr/>
        </p:nvSpPr>
        <p:spPr>
          <a:xfrm>
            <a:off x="190169" y="173323"/>
            <a:ext cx="917006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Connect a bunch of perceptrons together …</a:t>
            </a:r>
          </a:p>
        </p:txBody>
      </p:sp>
    </p:spTree>
    <p:extLst>
      <p:ext uri="{BB962C8B-B14F-4D97-AF65-F5344CB8AC3E}">
        <p14:creationId xmlns:p14="http://schemas.microsoft.com/office/powerpoint/2010/main" val="428920752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Neural Net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Neural Network</a:t>
            </a:r>
          </a:p>
        </p:txBody>
      </p:sp>
      <p:sp>
        <p:nvSpPr>
          <p:cNvPr id="224" name="a collection of connected perceptrons"/>
          <p:cNvSpPr txBox="1"/>
          <p:nvPr/>
        </p:nvSpPr>
        <p:spPr>
          <a:xfrm>
            <a:off x="3427450" y="2146300"/>
            <a:ext cx="61499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 collection of connected perceptrons</a:t>
            </a:r>
          </a:p>
        </p:txBody>
      </p:sp>
      <p:sp>
        <p:nvSpPr>
          <p:cNvPr id="225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26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27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28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29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30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31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32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33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34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35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36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37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38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39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40" name="‘three perceptrons’"/>
          <p:cNvSpPr txBox="1"/>
          <p:nvPr/>
        </p:nvSpPr>
        <p:spPr>
          <a:xfrm>
            <a:off x="7172756" y="5899149"/>
            <a:ext cx="267248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‘three perceptrons’</a:t>
            </a:r>
          </a:p>
        </p:txBody>
      </p:sp>
      <p:sp>
        <p:nvSpPr>
          <p:cNvPr id="242" name="Connect a bunch of perceptrons together …"/>
          <p:cNvSpPr txBox="1"/>
          <p:nvPr/>
        </p:nvSpPr>
        <p:spPr>
          <a:xfrm>
            <a:off x="190169" y="173323"/>
            <a:ext cx="917006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Connect a bunch of perceptrons together …</a:t>
            </a:r>
          </a:p>
        </p:txBody>
      </p:sp>
    </p:spTree>
    <p:extLst>
      <p:ext uri="{BB962C8B-B14F-4D97-AF65-F5344CB8AC3E}">
        <p14:creationId xmlns:p14="http://schemas.microsoft.com/office/powerpoint/2010/main" val="388111906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Neural Net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Neural Network</a:t>
            </a:r>
          </a:p>
        </p:txBody>
      </p:sp>
      <p:sp>
        <p:nvSpPr>
          <p:cNvPr id="245" name="a collection of connected perceptrons"/>
          <p:cNvSpPr txBox="1"/>
          <p:nvPr/>
        </p:nvSpPr>
        <p:spPr>
          <a:xfrm>
            <a:off x="3427450" y="2146300"/>
            <a:ext cx="61499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 collection of connected perceptrons</a:t>
            </a:r>
          </a:p>
        </p:txBody>
      </p:sp>
      <p:sp>
        <p:nvSpPr>
          <p:cNvPr id="246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47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48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49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50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51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52" name="Circle"/>
          <p:cNvSpPr/>
          <p:nvPr/>
        </p:nvSpPr>
        <p:spPr>
          <a:xfrm>
            <a:off x="6136766" y="70257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53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54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55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56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57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58" name="Line"/>
          <p:cNvSpPr/>
          <p:nvPr/>
        </p:nvSpPr>
        <p:spPr>
          <a:xfrm>
            <a:off x="3886949" y="4195496"/>
            <a:ext cx="2271743" cy="291010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59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60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61" name="Line"/>
          <p:cNvSpPr/>
          <p:nvPr/>
        </p:nvSpPr>
        <p:spPr>
          <a:xfrm>
            <a:off x="3886863" y="5451508"/>
            <a:ext cx="2219676" cy="182790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62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63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64" name="Line"/>
          <p:cNvSpPr/>
          <p:nvPr/>
        </p:nvSpPr>
        <p:spPr>
          <a:xfrm>
            <a:off x="3883080" y="6644310"/>
            <a:ext cx="2210839" cy="8180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65" name="‘four perceptrons’"/>
          <p:cNvSpPr txBox="1"/>
          <p:nvPr/>
        </p:nvSpPr>
        <p:spPr>
          <a:xfrm>
            <a:off x="7348466" y="7156449"/>
            <a:ext cx="2508505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‘four perceptrons’</a:t>
            </a:r>
          </a:p>
        </p:txBody>
      </p:sp>
      <p:sp>
        <p:nvSpPr>
          <p:cNvPr id="267" name="Connect a bunch of perceptrons together …"/>
          <p:cNvSpPr txBox="1"/>
          <p:nvPr/>
        </p:nvSpPr>
        <p:spPr>
          <a:xfrm>
            <a:off x="190169" y="173323"/>
            <a:ext cx="917006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Connect a bunch of perceptrons together …</a:t>
            </a:r>
          </a:p>
        </p:txBody>
      </p:sp>
    </p:spTree>
    <p:extLst>
      <p:ext uri="{BB962C8B-B14F-4D97-AF65-F5344CB8AC3E}">
        <p14:creationId xmlns:p14="http://schemas.microsoft.com/office/powerpoint/2010/main" val="536945067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Neural Net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Neural Network</a:t>
            </a:r>
          </a:p>
        </p:txBody>
      </p:sp>
      <p:sp>
        <p:nvSpPr>
          <p:cNvPr id="270" name="a collection of connected perceptrons"/>
          <p:cNvSpPr txBox="1"/>
          <p:nvPr/>
        </p:nvSpPr>
        <p:spPr>
          <a:xfrm>
            <a:off x="3427450" y="2146300"/>
            <a:ext cx="61499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 collection of connected perceptrons</a:t>
            </a:r>
          </a:p>
        </p:txBody>
      </p:sp>
      <p:sp>
        <p:nvSpPr>
          <p:cNvPr id="271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72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73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74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75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76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77" name="Circle"/>
          <p:cNvSpPr/>
          <p:nvPr/>
        </p:nvSpPr>
        <p:spPr>
          <a:xfrm>
            <a:off x="6136766" y="70257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78" name="Circle"/>
          <p:cNvSpPr/>
          <p:nvPr/>
        </p:nvSpPr>
        <p:spPr>
          <a:xfrm>
            <a:off x="9148188" y="401767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79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80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81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82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83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84" name="Line"/>
          <p:cNvSpPr/>
          <p:nvPr/>
        </p:nvSpPr>
        <p:spPr>
          <a:xfrm>
            <a:off x="3886949" y="4195496"/>
            <a:ext cx="2271743" cy="291010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85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86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87" name="Line"/>
          <p:cNvSpPr/>
          <p:nvPr/>
        </p:nvSpPr>
        <p:spPr>
          <a:xfrm>
            <a:off x="3886863" y="5451508"/>
            <a:ext cx="2219676" cy="182790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88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89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90" name="Line"/>
          <p:cNvSpPr/>
          <p:nvPr/>
        </p:nvSpPr>
        <p:spPr>
          <a:xfrm>
            <a:off x="3883080" y="6644310"/>
            <a:ext cx="2210839" cy="8180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91" name="Line"/>
          <p:cNvSpPr/>
          <p:nvPr/>
        </p:nvSpPr>
        <p:spPr>
          <a:xfrm flipV="1">
            <a:off x="6916895" y="4388088"/>
            <a:ext cx="2174587" cy="54239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92" name="Line"/>
          <p:cNvSpPr/>
          <p:nvPr/>
        </p:nvSpPr>
        <p:spPr>
          <a:xfrm flipV="1">
            <a:off x="6871804" y="4530216"/>
            <a:ext cx="2267203" cy="16451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93" name="Line"/>
          <p:cNvSpPr/>
          <p:nvPr/>
        </p:nvSpPr>
        <p:spPr>
          <a:xfrm flipV="1">
            <a:off x="6920523" y="4700757"/>
            <a:ext cx="2289707" cy="26674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94" name="Line"/>
          <p:cNvSpPr/>
          <p:nvPr/>
        </p:nvSpPr>
        <p:spPr>
          <a:xfrm>
            <a:off x="6908689" y="3596985"/>
            <a:ext cx="2175018" cy="59607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95" name="‘five perceptrons’"/>
          <p:cNvSpPr txBox="1"/>
          <p:nvPr/>
        </p:nvSpPr>
        <p:spPr>
          <a:xfrm>
            <a:off x="9949173" y="3384549"/>
            <a:ext cx="2457603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‘five perceptrons’</a:t>
            </a:r>
          </a:p>
        </p:txBody>
      </p:sp>
      <p:sp>
        <p:nvSpPr>
          <p:cNvPr id="297" name="Connect a bunch of perceptrons together …"/>
          <p:cNvSpPr txBox="1"/>
          <p:nvPr/>
        </p:nvSpPr>
        <p:spPr>
          <a:xfrm>
            <a:off x="190169" y="173323"/>
            <a:ext cx="917006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Connect a bunch of perceptrons together …</a:t>
            </a:r>
          </a:p>
        </p:txBody>
      </p:sp>
    </p:spTree>
    <p:extLst>
      <p:ext uri="{BB962C8B-B14F-4D97-AF65-F5344CB8AC3E}">
        <p14:creationId xmlns:p14="http://schemas.microsoft.com/office/powerpoint/2010/main" val="425337877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Neural Net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Neural Network</a:t>
            </a:r>
          </a:p>
        </p:txBody>
      </p:sp>
      <p:sp>
        <p:nvSpPr>
          <p:cNvPr id="300" name="a collection of connected perceptrons"/>
          <p:cNvSpPr txBox="1"/>
          <p:nvPr/>
        </p:nvSpPr>
        <p:spPr>
          <a:xfrm>
            <a:off x="3427450" y="2146300"/>
            <a:ext cx="61499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 collection of connected perceptrons</a:t>
            </a:r>
          </a:p>
        </p:txBody>
      </p:sp>
      <p:sp>
        <p:nvSpPr>
          <p:cNvPr id="301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02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03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04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05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06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07" name="Circle"/>
          <p:cNvSpPr/>
          <p:nvPr/>
        </p:nvSpPr>
        <p:spPr>
          <a:xfrm>
            <a:off x="6136766" y="70257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08" name="Circle"/>
          <p:cNvSpPr/>
          <p:nvPr/>
        </p:nvSpPr>
        <p:spPr>
          <a:xfrm>
            <a:off x="9148188" y="401767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09" name="Circle"/>
          <p:cNvSpPr/>
          <p:nvPr/>
        </p:nvSpPr>
        <p:spPr>
          <a:xfrm>
            <a:off x="9165716" y="57748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10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11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12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13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14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15" name="Line"/>
          <p:cNvSpPr/>
          <p:nvPr/>
        </p:nvSpPr>
        <p:spPr>
          <a:xfrm>
            <a:off x="3886949" y="4195496"/>
            <a:ext cx="2271743" cy="291010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16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17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18" name="Line"/>
          <p:cNvSpPr/>
          <p:nvPr/>
        </p:nvSpPr>
        <p:spPr>
          <a:xfrm>
            <a:off x="3886863" y="5451508"/>
            <a:ext cx="2219676" cy="182790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19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20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21" name="Line"/>
          <p:cNvSpPr/>
          <p:nvPr/>
        </p:nvSpPr>
        <p:spPr>
          <a:xfrm>
            <a:off x="3883080" y="6644310"/>
            <a:ext cx="2210839" cy="8180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22" name="Line"/>
          <p:cNvSpPr/>
          <p:nvPr/>
        </p:nvSpPr>
        <p:spPr>
          <a:xfrm>
            <a:off x="6896843" y="4917588"/>
            <a:ext cx="2224535" cy="108924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23" name="Line"/>
          <p:cNvSpPr/>
          <p:nvPr/>
        </p:nvSpPr>
        <p:spPr>
          <a:xfrm>
            <a:off x="6871804" y="6158346"/>
            <a:ext cx="2245358" cy="1320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24" name="Line"/>
          <p:cNvSpPr/>
          <p:nvPr/>
        </p:nvSpPr>
        <p:spPr>
          <a:xfrm flipV="1">
            <a:off x="6896410" y="6375576"/>
            <a:ext cx="2259940" cy="100385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25" name="Line"/>
          <p:cNvSpPr/>
          <p:nvPr/>
        </p:nvSpPr>
        <p:spPr>
          <a:xfrm flipV="1">
            <a:off x="6916895" y="4388088"/>
            <a:ext cx="2174587" cy="54239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26" name="Line"/>
          <p:cNvSpPr/>
          <p:nvPr/>
        </p:nvSpPr>
        <p:spPr>
          <a:xfrm flipV="1">
            <a:off x="6871804" y="4530216"/>
            <a:ext cx="2267203" cy="16451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27" name="Line"/>
          <p:cNvSpPr/>
          <p:nvPr/>
        </p:nvSpPr>
        <p:spPr>
          <a:xfrm flipV="1">
            <a:off x="6920523" y="4700757"/>
            <a:ext cx="2289707" cy="26674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28" name="Line"/>
          <p:cNvSpPr/>
          <p:nvPr/>
        </p:nvSpPr>
        <p:spPr>
          <a:xfrm>
            <a:off x="6902542" y="3625100"/>
            <a:ext cx="2274045" cy="221577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29" name="Line"/>
          <p:cNvSpPr/>
          <p:nvPr/>
        </p:nvSpPr>
        <p:spPr>
          <a:xfrm>
            <a:off x="6908689" y="3596985"/>
            <a:ext cx="2175018" cy="59607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30" name="‘six perceptrons’"/>
          <p:cNvSpPr txBox="1"/>
          <p:nvPr/>
        </p:nvSpPr>
        <p:spPr>
          <a:xfrm>
            <a:off x="10220058" y="5899149"/>
            <a:ext cx="2355800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‘six perceptrons’</a:t>
            </a:r>
          </a:p>
        </p:txBody>
      </p:sp>
      <p:sp>
        <p:nvSpPr>
          <p:cNvPr id="332" name="Connect a bunch of perceptrons together …"/>
          <p:cNvSpPr txBox="1"/>
          <p:nvPr/>
        </p:nvSpPr>
        <p:spPr>
          <a:xfrm>
            <a:off x="190169" y="173323"/>
            <a:ext cx="917006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Connect a bunch of perceptrons together …</a:t>
            </a:r>
          </a:p>
        </p:txBody>
      </p:sp>
    </p:spTree>
    <p:extLst>
      <p:ext uri="{BB962C8B-B14F-4D97-AF65-F5344CB8AC3E}">
        <p14:creationId xmlns:p14="http://schemas.microsoft.com/office/powerpoint/2010/main" val="632517579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Rounded Rectangle" descr="Rounded Rectangl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812189" y="3253432"/>
            <a:ext cx="1322522" cy="4300836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335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36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37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38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39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40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41" name="Circle"/>
          <p:cNvSpPr/>
          <p:nvPr/>
        </p:nvSpPr>
        <p:spPr>
          <a:xfrm>
            <a:off x="6136766" y="70257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42" name="Circle"/>
          <p:cNvSpPr/>
          <p:nvPr/>
        </p:nvSpPr>
        <p:spPr>
          <a:xfrm>
            <a:off x="9148188" y="401767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43" name="Circle"/>
          <p:cNvSpPr/>
          <p:nvPr/>
        </p:nvSpPr>
        <p:spPr>
          <a:xfrm>
            <a:off x="9165716" y="57748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44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45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46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47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48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49" name="Line"/>
          <p:cNvSpPr/>
          <p:nvPr/>
        </p:nvSpPr>
        <p:spPr>
          <a:xfrm>
            <a:off x="3886949" y="4195496"/>
            <a:ext cx="2271743" cy="291010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50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51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52" name="Line"/>
          <p:cNvSpPr/>
          <p:nvPr/>
        </p:nvSpPr>
        <p:spPr>
          <a:xfrm>
            <a:off x="3886863" y="5451508"/>
            <a:ext cx="2219676" cy="182790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53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54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55" name="Line"/>
          <p:cNvSpPr/>
          <p:nvPr/>
        </p:nvSpPr>
        <p:spPr>
          <a:xfrm>
            <a:off x="3883080" y="6644310"/>
            <a:ext cx="2210839" cy="8180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56" name="Line"/>
          <p:cNvSpPr/>
          <p:nvPr/>
        </p:nvSpPr>
        <p:spPr>
          <a:xfrm>
            <a:off x="6896843" y="4917588"/>
            <a:ext cx="2224535" cy="108924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57" name="Line"/>
          <p:cNvSpPr/>
          <p:nvPr/>
        </p:nvSpPr>
        <p:spPr>
          <a:xfrm>
            <a:off x="6871804" y="6158346"/>
            <a:ext cx="2245358" cy="1320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58" name="Line"/>
          <p:cNvSpPr/>
          <p:nvPr/>
        </p:nvSpPr>
        <p:spPr>
          <a:xfrm flipV="1">
            <a:off x="6896410" y="6375576"/>
            <a:ext cx="2259940" cy="100385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59" name="Line"/>
          <p:cNvSpPr/>
          <p:nvPr/>
        </p:nvSpPr>
        <p:spPr>
          <a:xfrm flipV="1">
            <a:off x="6916895" y="4388088"/>
            <a:ext cx="2174587" cy="54239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60" name="Line"/>
          <p:cNvSpPr/>
          <p:nvPr/>
        </p:nvSpPr>
        <p:spPr>
          <a:xfrm flipV="1">
            <a:off x="6871804" y="4530216"/>
            <a:ext cx="2267203" cy="16451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61" name="Line"/>
          <p:cNvSpPr/>
          <p:nvPr/>
        </p:nvSpPr>
        <p:spPr>
          <a:xfrm flipV="1">
            <a:off x="6920523" y="4700757"/>
            <a:ext cx="2289707" cy="26674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62" name="Line"/>
          <p:cNvSpPr/>
          <p:nvPr/>
        </p:nvSpPr>
        <p:spPr>
          <a:xfrm>
            <a:off x="6902542" y="3625100"/>
            <a:ext cx="2274045" cy="221577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63" name="Line"/>
          <p:cNvSpPr/>
          <p:nvPr/>
        </p:nvSpPr>
        <p:spPr>
          <a:xfrm>
            <a:off x="6908689" y="3596985"/>
            <a:ext cx="2175018" cy="59607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64" name="‘input’ layer"/>
          <p:cNvSpPr txBox="1"/>
          <p:nvPr/>
        </p:nvSpPr>
        <p:spPr>
          <a:xfrm>
            <a:off x="2637231" y="2470478"/>
            <a:ext cx="167243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‘input’ layer</a:t>
            </a:r>
          </a:p>
        </p:txBody>
      </p:sp>
      <p:sp>
        <p:nvSpPr>
          <p:cNvPr id="365" name="Some terminology…"/>
          <p:cNvSpPr txBox="1"/>
          <p:nvPr/>
        </p:nvSpPr>
        <p:spPr>
          <a:xfrm>
            <a:off x="484504" y="400050"/>
            <a:ext cx="426339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Some terminology…</a:t>
            </a:r>
          </a:p>
        </p:txBody>
      </p:sp>
      <p:sp>
        <p:nvSpPr>
          <p:cNvPr id="366" name="…also called a Multi-layer Perceptron (MLP)"/>
          <p:cNvSpPr txBox="1"/>
          <p:nvPr/>
        </p:nvSpPr>
        <p:spPr>
          <a:xfrm>
            <a:off x="5374798" y="8860055"/>
            <a:ext cx="7386003" cy="53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…also called a </a:t>
            </a:r>
            <a:r>
              <a:rPr kumimoji="0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rPr>
              <a:t>Multi-layer Perceptron</a:t>
            </a: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 (MLP)</a:t>
            </a:r>
          </a:p>
        </p:txBody>
      </p:sp>
    </p:spTree>
    <p:extLst>
      <p:ext uri="{BB962C8B-B14F-4D97-AF65-F5344CB8AC3E}">
        <p14:creationId xmlns:p14="http://schemas.microsoft.com/office/powerpoint/2010/main" val="698977654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Rounded Rectangle" descr="Rounded Rectangl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832375" y="2902746"/>
            <a:ext cx="1322521" cy="5306766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369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70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71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72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73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74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75" name="Circle"/>
          <p:cNvSpPr/>
          <p:nvPr/>
        </p:nvSpPr>
        <p:spPr>
          <a:xfrm>
            <a:off x="6136766" y="70257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76" name="Circle"/>
          <p:cNvSpPr/>
          <p:nvPr/>
        </p:nvSpPr>
        <p:spPr>
          <a:xfrm>
            <a:off x="9148188" y="401767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77" name="Circle"/>
          <p:cNvSpPr/>
          <p:nvPr/>
        </p:nvSpPr>
        <p:spPr>
          <a:xfrm>
            <a:off x="9165716" y="57748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78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79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80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81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82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83" name="Line"/>
          <p:cNvSpPr/>
          <p:nvPr/>
        </p:nvSpPr>
        <p:spPr>
          <a:xfrm>
            <a:off x="3886949" y="4195496"/>
            <a:ext cx="2271743" cy="291010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84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85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86" name="Line"/>
          <p:cNvSpPr/>
          <p:nvPr/>
        </p:nvSpPr>
        <p:spPr>
          <a:xfrm>
            <a:off x="3886863" y="5451508"/>
            <a:ext cx="2219676" cy="182790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87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88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89" name="Line"/>
          <p:cNvSpPr/>
          <p:nvPr/>
        </p:nvSpPr>
        <p:spPr>
          <a:xfrm>
            <a:off x="3883080" y="6644310"/>
            <a:ext cx="2210839" cy="8180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90" name="Line"/>
          <p:cNvSpPr/>
          <p:nvPr/>
        </p:nvSpPr>
        <p:spPr>
          <a:xfrm>
            <a:off x="6896843" y="4917588"/>
            <a:ext cx="2224535" cy="108924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91" name="Line"/>
          <p:cNvSpPr/>
          <p:nvPr/>
        </p:nvSpPr>
        <p:spPr>
          <a:xfrm>
            <a:off x="6871804" y="6158346"/>
            <a:ext cx="2245358" cy="1320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92" name="Line"/>
          <p:cNvSpPr/>
          <p:nvPr/>
        </p:nvSpPr>
        <p:spPr>
          <a:xfrm flipV="1">
            <a:off x="6896410" y="6375576"/>
            <a:ext cx="2259940" cy="100385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93" name="Line"/>
          <p:cNvSpPr/>
          <p:nvPr/>
        </p:nvSpPr>
        <p:spPr>
          <a:xfrm flipV="1">
            <a:off x="6916895" y="4388088"/>
            <a:ext cx="2174587" cy="54239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94" name="Line"/>
          <p:cNvSpPr/>
          <p:nvPr/>
        </p:nvSpPr>
        <p:spPr>
          <a:xfrm flipV="1">
            <a:off x="6871804" y="4530216"/>
            <a:ext cx="2267203" cy="16451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95" name="Line"/>
          <p:cNvSpPr/>
          <p:nvPr/>
        </p:nvSpPr>
        <p:spPr>
          <a:xfrm flipV="1">
            <a:off x="6920523" y="4700757"/>
            <a:ext cx="2289707" cy="26674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96" name="Line"/>
          <p:cNvSpPr/>
          <p:nvPr/>
        </p:nvSpPr>
        <p:spPr>
          <a:xfrm>
            <a:off x="6902542" y="3625100"/>
            <a:ext cx="2274045" cy="221577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97" name="Line"/>
          <p:cNvSpPr/>
          <p:nvPr/>
        </p:nvSpPr>
        <p:spPr>
          <a:xfrm>
            <a:off x="6908689" y="3596985"/>
            <a:ext cx="2175018" cy="59607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98" name="‘input’ layer"/>
          <p:cNvSpPr txBox="1"/>
          <p:nvPr/>
        </p:nvSpPr>
        <p:spPr>
          <a:xfrm>
            <a:off x="2637231" y="2470478"/>
            <a:ext cx="167243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‘input’ layer</a:t>
            </a:r>
          </a:p>
        </p:txBody>
      </p:sp>
      <p:sp>
        <p:nvSpPr>
          <p:cNvPr id="399" name="‘hidden’ layer"/>
          <p:cNvSpPr txBox="1"/>
          <p:nvPr/>
        </p:nvSpPr>
        <p:spPr>
          <a:xfrm>
            <a:off x="5530697" y="2131255"/>
            <a:ext cx="1943406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‘hidden’ layer</a:t>
            </a:r>
          </a:p>
        </p:txBody>
      </p:sp>
      <p:sp>
        <p:nvSpPr>
          <p:cNvPr id="400" name="Some terminology…"/>
          <p:cNvSpPr txBox="1"/>
          <p:nvPr/>
        </p:nvSpPr>
        <p:spPr>
          <a:xfrm>
            <a:off x="484504" y="400050"/>
            <a:ext cx="426339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Some terminology…</a:t>
            </a:r>
          </a:p>
        </p:txBody>
      </p:sp>
      <p:sp>
        <p:nvSpPr>
          <p:cNvPr id="401" name="…also called a Multi-layer Perceptron (MLP)"/>
          <p:cNvSpPr txBox="1"/>
          <p:nvPr/>
        </p:nvSpPr>
        <p:spPr>
          <a:xfrm>
            <a:off x="5374798" y="8860055"/>
            <a:ext cx="7386003" cy="53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…also called a </a:t>
            </a:r>
            <a:r>
              <a:rPr kumimoji="0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rPr>
              <a:t>Multi-layer Perceptron</a:t>
            </a: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 (MLP)</a:t>
            </a:r>
          </a:p>
        </p:txBody>
      </p:sp>
    </p:spTree>
    <p:extLst>
      <p:ext uri="{BB962C8B-B14F-4D97-AF65-F5344CB8AC3E}">
        <p14:creationId xmlns:p14="http://schemas.microsoft.com/office/powerpoint/2010/main" val="1419944710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Rounded Rectangle" descr="Rounded Rectangl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852561" y="3583253"/>
            <a:ext cx="1322521" cy="3366444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404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05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06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07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08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09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10" name="Circle"/>
          <p:cNvSpPr/>
          <p:nvPr/>
        </p:nvSpPr>
        <p:spPr>
          <a:xfrm>
            <a:off x="6136766" y="70257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11" name="Circle"/>
          <p:cNvSpPr/>
          <p:nvPr/>
        </p:nvSpPr>
        <p:spPr>
          <a:xfrm>
            <a:off x="9148188" y="401767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12" name="Circle"/>
          <p:cNvSpPr/>
          <p:nvPr/>
        </p:nvSpPr>
        <p:spPr>
          <a:xfrm>
            <a:off x="9165716" y="57748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13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14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15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16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17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18" name="Line"/>
          <p:cNvSpPr/>
          <p:nvPr/>
        </p:nvSpPr>
        <p:spPr>
          <a:xfrm>
            <a:off x="3886949" y="4195496"/>
            <a:ext cx="2271743" cy="291010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19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0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1" name="Line"/>
          <p:cNvSpPr/>
          <p:nvPr/>
        </p:nvSpPr>
        <p:spPr>
          <a:xfrm>
            <a:off x="3886863" y="5451508"/>
            <a:ext cx="2219676" cy="182790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2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3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4" name="Line"/>
          <p:cNvSpPr/>
          <p:nvPr/>
        </p:nvSpPr>
        <p:spPr>
          <a:xfrm>
            <a:off x="3883080" y="6644310"/>
            <a:ext cx="2210839" cy="8180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5" name="Line"/>
          <p:cNvSpPr/>
          <p:nvPr/>
        </p:nvSpPr>
        <p:spPr>
          <a:xfrm>
            <a:off x="6896843" y="4917588"/>
            <a:ext cx="2224535" cy="108924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6" name="Line"/>
          <p:cNvSpPr/>
          <p:nvPr/>
        </p:nvSpPr>
        <p:spPr>
          <a:xfrm>
            <a:off x="6871804" y="6158346"/>
            <a:ext cx="2245358" cy="1320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7" name="Line"/>
          <p:cNvSpPr/>
          <p:nvPr/>
        </p:nvSpPr>
        <p:spPr>
          <a:xfrm flipV="1">
            <a:off x="6896410" y="6375576"/>
            <a:ext cx="2259940" cy="100385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8" name="Line"/>
          <p:cNvSpPr/>
          <p:nvPr/>
        </p:nvSpPr>
        <p:spPr>
          <a:xfrm flipV="1">
            <a:off x="6916895" y="4388088"/>
            <a:ext cx="2174587" cy="54239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29" name="Line"/>
          <p:cNvSpPr/>
          <p:nvPr/>
        </p:nvSpPr>
        <p:spPr>
          <a:xfrm flipV="1">
            <a:off x="6871804" y="4530216"/>
            <a:ext cx="2267203" cy="16451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30" name="Line"/>
          <p:cNvSpPr/>
          <p:nvPr/>
        </p:nvSpPr>
        <p:spPr>
          <a:xfrm flipV="1">
            <a:off x="6920523" y="4700757"/>
            <a:ext cx="2289707" cy="26674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31" name="Line"/>
          <p:cNvSpPr/>
          <p:nvPr/>
        </p:nvSpPr>
        <p:spPr>
          <a:xfrm>
            <a:off x="6902542" y="3625100"/>
            <a:ext cx="2274045" cy="221577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32" name="Line"/>
          <p:cNvSpPr/>
          <p:nvPr/>
        </p:nvSpPr>
        <p:spPr>
          <a:xfrm>
            <a:off x="6908689" y="3596985"/>
            <a:ext cx="2175018" cy="59607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33" name="‘input’ layer"/>
          <p:cNvSpPr txBox="1"/>
          <p:nvPr/>
        </p:nvSpPr>
        <p:spPr>
          <a:xfrm>
            <a:off x="2637231" y="2470478"/>
            <a:ext cx="167243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‘input’ layer</a:t>
            </a:r>
          </a:p>
        </p:txBody>
      </p:sp>
      <p:sp>
        <p:nvSpPr>
          <p:cNvPr id="434" name="‘hidden’ layer"/>
          <p:cNvSpPr txBox="1"/>
          <p:nvPr/>
        </p:nvSpPr>
        <p:spPr>
          <a:xfrm>
            <a:off x="5530697" y="2131255"/>
            <a:ext cx="1943406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‘hidden’ layer</a:t>
            </a:r>
          </a:p>
        </p:txBody>
      </p:sp>
      <p:sp>
        <p:nvSpPr>
          <p:cNvPr id="435" name="‘output’ layer"/>
          <p:cNvSpPr txBox="1"/>
          <p:nvPr/>
        </p:nvSpPr>
        <p:spPr>
          <a:xfrm>
            <a:off x="8601862" y="2884397"/>
            <a:ext cx="1858976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‘output’ layer</a:t>
            </a:r>
          </a:p>
        </p:txBody>
      </p:sp>
      <p:sp>
        <p:nvSpPr>
          <p:cNvPr id="436" name="Some terminology…"/>
          <p:cNvSpPr txBox="1"/>
          <p:nvPr/>
        </p:nvSpPr>
        <p:spPr>
          <a:xfrm>
            <a:off x="484504" y="400050"/>
            <a:ext cx="426339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Some terminology…</a:t>
            </a:r>
          </a:p>
        </p:txBody>
      </p:sp>
      <p:sp>
        <p:nvSpPr>
          <p:cNvPr id="437" name="…also called a Multi-layer Perceptron (MLP)"/>
          <p:cNvSpPr txBox="1"/>
          <p:nvPr/>
        </p:nvSpPr>
        <p:spPr>
          <a:xfrm>
            <a:off x="5374798" y="8860055"/>
            <a:ext cx="7386003" cy="533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…also called a </a:t>
            </a:r>
            <a:r>
              <a:rPr kumimoji="0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rPr>
              <a:t>Multi-layer Perceptron</a:t>
            </a: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 (MLP)</a:t>
            </a:r>
          </a:p>
        </p:txBody>
      </p:sp>
    </p:spTree>
    <p:extLst>
      <p:ext uri="{BB962C8B-B14F-4D97-AF65-F5344CB8AC3E}">
        <p14:creationId xmlns:p14="http://schemas.microsoft.com/office/powerpoint/2010/main" val="3986368511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Rounded Rectangle" descr="Rounded Rectangl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814103" y="2797992"/>
            <a:ext cx="1359066" cy="5514282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440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41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42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43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44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45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46" name="Circle"/>
          <p:cNvSpPr/>
          <p:nvPr/>
        </p:nvSpPr>
        <p:spPr>
          <a:xfrm>
            <a:off x="6136766" y="70257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47" name="Circle"/>
          <p:cNvSpPr/>
          <p:nvPr/>
        </p:nvSpPr>
        <p:spPr>
          <a:xfrm>
            <a:off x="9148188" y="401767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48" name="Circle"/>
          <p:cNvSpPr/>
          <p:nvPr/>
        </p:nvSpPr>
        <p:spPr>
          <a:xfrm>
            <a:off x="9165716" y="57748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49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0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1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2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3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4" name="Line"/>
          <p:cNvSpPr/>
          <p:nvPr/>
        </p:nvSpPr>
        <p:spPr>
          <a:xfrm>
            <a:off x="3886949" y="4195496"/>
            <a:ext cx="2271743" cy="291010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5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6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7" name="Line"/>
          <p:cNvSpPr/>
          <p:nvPr/>
        </p:nvSpPr>
        <p:spPr>
          <a:xfrm>
            <a:off x="3886863" y="5451508"/>
            <a:ext cx="2219676" cy="182790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8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59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60" name="Line"/>
          <p:cNvSpPr/>
          <p:nvPr/>
        </p:nvSpPr>
        <p:spPr>
          <a:xfrm>
            <a:off x="3883080" y="6644310"/>
            <a:ext cx="2210839" cy="8180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61" name="Line"/>
          <p:cNvSpPr/>
          <p:nvPr/>
        </p:nvSpPr>
        <p:spPr>
          <a:xfrm>
            <a:off x="6896843" y="4917588"/>
            <a:ext cx="2224535" cy="108924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62" name="Line"/>
          <p:cNvSpPr/>
          <p:nvPr/>
        </p:nvSpPr>
        <p:spPr>
          <a:xfrm>
            <a:off x="6871804" y="6158346"/>
            <a:ext cx="2245358" cy="1320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63" name="Line"/>
          <p:cNvSpPr/>
          <p:nvPr/>
        </p:nvSpPr>
        <p:spPr>
          <a:xfrm flipV="1">
            <a:off x="6896410" y="6375576"/>
            <a:ext cx="2259940" cy="100385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64" name="Line"/>
          <p:cNvSpPr/>
          <p:nvPr/>
        </p:nvSpPr>
        <p:spPr>
          <a:xfrm flipV="1">
            <a:off x="6916895" y="4388088"/>
            <a:ext cx="2174587" cy="54239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65" name="Line"/>
          <p:cNvSpPr/>
          <p:nvPr/>
        </p:nvSpPr>
        <p:spPr>
          <a:xfrm flipV="1">
            <a:off x="6871804" y="4530216"/>
            <a:ext cx="2267203" cy="16451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66" name="Line"/>
          <p:cNvSpPr/>
          <p:nvPr/>
        </p:nvSpPr>
        <p:spPr>
          <a:xfrm flipV="1">
            <a:off x="6920523" y="4700757"/>
            <a:ext cx="2289707" cy="26674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67" name="Line"/>
          <p:cNvSpPr/>
          <p:nvPr/>
        </p:nvSpPr>
        <p:spPr>
          <a:xfrm>
            <a:off x="6902542" y="3625100"/>
            <a:ext cx="2274045" cy="221577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68" name="Line"/>
          <p:cNvSpPr/>
          <p:nvPr/>
        </p:nvSpPr>
        <p:spPr>
          <a:xfrm>
            <a:off x="6908689" y="3596985"/>
            <a:ext cx="2175018" cy="59607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69" name="this layer is a…"/>
          <p:cNvSpPr txBox="1"/>
          <p:nvPr/>
        </p:nvSpPr>
        <p:spPr>
          <a:xfrm>
            <a:off x="1793962" y="816483"/>
            <a:ext cx="6487825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00882B"/>
                </a:solidFill>
              </a:defRPr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this layer is a</a:t>
            </a:r>
          </a:p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00882B"/>
                </a:solidFill>
              </a:defRPr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‘fully connected layer’</a:t>
            </a:r>
          </a:p>
        </p:txBody>
      </p:sp>
      <p:sp>
        <p:nvSpPr>
          <p:cNvPr id="470" name="all pairwise neurons between layers are connected"/>
          <p:cNvSpPr txBox="1"/>
          <p:nvPr/>
        </p:nvSpPr>
        <p:spPr>
          <a:xfrm>
            <a:off x="1792732" y="8644256"/>
            <a:ext cx="70317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00882B"/>
                </a:solidFill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all pairwise neurons </a:t>
            </a:r>
            <a:r>
              <a:rPr kumimoji="0" sz="2400" b="0" i="0" u="sng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between</a:t>
            </a: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 layers are connected</a:t>
            </a:r>
          </a:p>
        </p:txBody>
      </p:sp>
      <p:pic>
        <p:nvPicPr>
          <p:cNvPr id="474" name="Connection Line" descr="Connection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179000" y="1651169"/>
            <a:ext cx="801216" cy="1375984"/>
          </a:xfrm>
          <a:prstGeom prst="rect">
            <a:avLst/>
          </a:prstGeom>
        </p:spPr>
      </p:pic>
      <p:pic>
        <p:nvPicPr>
          <p:cNvPr id="476" name="Connection Line" descr="Connection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251838" y="6259438"/>
            <a:ext cx="609174" cy="242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53114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Rounded Rectangle" descr="Rounded Rectangl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851817" y="3722678"/>
            <a:ext cx="1359066" cy="3114704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480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81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82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83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84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85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86" name="Circle"/>
          <p:cNvSpPr/>
          <p:nvPr/>
        </p:nvSpPr>
        <p:spPr>
          <a:xfrm>
            <a:off x="6136766" y="70257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87" name="Circle"/>
          <p:cNvSpPr/>
          <p:nvPr/>
        </p:nvSpPr>
        <p:spPr>
          <a:xfrm>
            <a:off x="9148188" y="401767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88" name="Circle"/>
          <p:cNvSpPr/>
          <p:nvPr/>
        </p:nvSpPr>
        <p:spPr>
          <a:xfrm>
            <a:off x="9165716" y="57748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89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90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91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92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93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94" name="Line"/>
          <p:cNvSpPr/>
          <p:nvPr/>
        </p:nvSpPr>
        <p:spPr>
          <a:xfrm>
            <a:off x="3886949" y="4195496"/>
            <a:ext cx="2271743" cy="291010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95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96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97" name="Line"/>
          <p:cNvSpPr/>
          <p:nvPr/>
        </p:nvSpPr>
        <p:spPr>
          <a:xfrm>
            <a:off x="3886863" y="5451508"/>
            <a:ext cx="2219676" cy="182790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98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499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00" name="Line"/>
          <p:cNvSpPr/>
          <p:nvPr/>
        </p:nvSpPr>
        <p:spPr>
          <a:xfrm>
            <a:off x="3883080" y="6644310"/>
            <a:ext cx="2210839" cy="8180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01" name="Line"/>
          <p:cNvSpPr/>
          <p:nvPr/>
        </p:nvSpPr>
        <p:spPr>
          <a:xfrm>
            <a:off x="6896843" y="4917588"/>
            <a:ext cx="2224535" cy="108924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02" name="Line"/>
          <p:cNvSpPr/>
          <p:nvPr/>
        </p:nvSpPr>
        <p:spPr>
          <a:xfrm>
            <a:off x="6871804" y="6158346"/>
            <a:ext cx="2245358" cy="1320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03" name="Line"/>
          <p:cNvSpPr/>
          <p:nvPr/>
        </p:nvSpPr>
        <p:spPr>
          <a:xfrm flipV="1">
            <a:off x="6896410" y="6375576"/>
            <a:ext cx="2259940" cy="100385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04" name="Line"/>
          <p:cNvSpPr/>
          <p:nvPr/>
        </p:nvSpPr>
        <p:spPr>
          <a:xfrm flipV="1">
            <a:off x="6916895" y="4388088"/>
            <a:ext cx="2174587" cy="54239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05" name="Line"/>
          <p:cNvSpPr/>
          <p:nvPr/>
        </p:nvSpPr>
        <p:spPr>
          <a:xfrm flipV="1">
            <a:off x="6871804" y="4530216"/>
            <a:ext cx="2267203" cy="16451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06" name="Line"/>
          <p:cNvSpPr/>
          <p:nvPr/>
        </p:nvSpPr>
        <p:spPr>
          <a:xfrm flipV="1">
            <a:off x="6920523" y="4700757"/>
            <a:ext cx="2289707" cy="26674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07" name="Line"/>
          <p:cNvSpPr/>
          <p:nvPr/>
        </p:nvSpPr>
        <p:spPr>
          <a:xfrm>
            <a:off x="6902542" y="3625100"/>
            <a:ext cx="2274045" cy="221577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08" name="Line"/>
          <p:cNvSpPr/>
          <p:nvPr/>
        </p:nvSpPr>
        <p:spPr>
          <a:xfrm>
            <a:off x="6908689" y="3596985"/>
            <a:ext cx="2175018" cy="59607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09" name="so is this"/>
          <p:cNvSpPr txBox="1"/>
          <p:nvPr/>
        </p:nvSpPr>
        <p:spPr>
          <a:xfrm>
            <a:off x="5781762" y="1715862"/>
            <a:ext cx="259894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so is this</a:t>
            </a:r>
          </a:p>
        </p:txBody>
      </p:sp>
      <p:sp>
        <p:nvSpPr>
          <p:cNvPr id="510" name="all pairwise neurons between layers are connected"/>
          <p:cNvSpPr txBox="1"/>
          <p:nvPr/>
        </p:nvSpPr>
        <p:spPr>
          <a:xfrm>
            <a:off x="1792732" y="8644256"/>
            <a:ext cx="70317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00882B"/>
                </a:solidFill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all pairwise neurons </a:t>
            </a:r>
            <a:r>
              <a:rPr kumimoji="0" sz="2400" b="0" i="0" u="sng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between</a:t>
            </a: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 layers are connected</a:t>
            </a:r>
          </a:p>
        </p:txBody>
      </p:sp>
      <p:pic>
        <p:nvPicPr>
          <p:cNvPr id="513" name="Connection Line" descr="Connection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374460" y="1550242"/>
            <a:ext cx="2275740" cy="2045095"/>
          </a:xfrm>
          <a:prstGeom prst="rect">
            <a:avLst/>
          </a:prstGeom>
        </p:spPr>
      </p:pic>
      <p:pic>
        <p:nvPicPr>
          <p:cNvPr id="515" name="Connection Line" descr="Connection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234542" y="7082514"/>
            <a:ext cx="377946" cy="152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95754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19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20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21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22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23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24" name="Circle"/>
          <p:cNvSpPr/>
          <p:nvPr/>
        </p:nvSpPr>
        <p:spPr>
          <a:xfrm>
            <a:off x="6136766" y="70257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25" name="Circle"/>
          <p:cNvSpPr/>
          <p:nvPr/>
        </p:nvSpPr>
        <p:spPr>
          <a:xfrm>
            <a:off x="9148188" y="401767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26" name="Circle"/>
          <p:cNvSpPr/>
          <p:nvPr/>
        </p:nvSpPr>
        <p:spPr>
          <a:xfrm>
            <a:off x="9165716" y="57748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27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28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29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30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31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32" name="Line"/>
          <p:cNvSpPr/>
          <p:nvPr/>
        </p:nvSpPr>
        <p:spPr>
          <a:xfrm>
            <a:off x="3886949" y="4195496"/>
            <a:ext cx="2271743" cy="291010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33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34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35" name="Line"/>
          <p:cNvSpPr/>
          <p:nvPr/>
        </p:nvSpPr>
        <p:spPr>
          <a:xfrm>
            <a:off x="3886863" y="5451508"/>
            <a:ext cx="2219676" cy="182790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36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37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38" name="Line"/>
          <p:cNvSpPr/>
          <p:nvPr/>
        </p:nvSpPr>
        <p:spPr>
          <a:xfrm>
            <a:off x="3883080" y="6644310"/>
            <a:ext cx="2210839" cy="8180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39" name="Line"/>
          <p:cNvSpPr/>
          <p:nvPr/>
        </p:nvSpPr>
        <p:spPr>
          <a:xfrm>
            <a:off x="6896843" y="4917588"/>
            <a:ext cx="2224535" cy="108924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40" name="Line"/>
          <p:cNvSpPr/>
          <p:nvPr/>
        </p:nvSpPr>
        <p:spPr>
          <a:xfrm>
            <a:off x="6871804" y="6158346"/>
            <a:ext cx="2245358" cy="1320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41" name="Line"/>
          <p:cNvSpPr/>
          <p:nvPr/>
        </p:nvSpPr>
        <p:spPr>
          <a:xfrm flipV="1">
            <a:off x="6896410" y="6375576"/>
            <a:ext cx="2259940" cy="100385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42" name="Line"/>
          <p:cNvSpPr/>
          <p:nvPr/>
        </p:nvSpPr>
        <p:spPr>
          <a:xfrm flipV="1">
            <a:off x="6916895" y="4388088"/>
            <a:ext cx="2174587" cy="54239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43" name="Line"/>
          <p:cNvSpPr/>
          <p:nvPr/>
        </p:nvSpPr>
        <p:spPr>
          <a:xfrm flipV="1">
            <a:off x="6871804" y="4530216"/>
            <a:ext cx="2267203" cy="16451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44" name="Line"/>
          <p:cNvSpPr/>
          <p:nvPr/>
        </p:nvSpPr>
        <p:spPr>
          <a:xfrm flipV="1">
            <a:off x="6920523" y="4700757"/>
            <a:ext cx="2289707" cy="26674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45" name="Line"/>
          <p:cNvSpPr/>
          <p:nvPr/>
        </p:nvSpPr>
        <p:spPr>
          <a:xfrm>
            <a:off x="6902542" y="3625100"/>
            <a:ext cx="2274045" cy="221577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46" name="Line"/>
          <p:cNvSpPr/>
          <p:nvPr/>
        </p:nvSpPr>
        <p:spPr>
          <a:xfrm>
            <a:off x="6908689" y="3596985"/>
            <a:ext cx="2175018" cy="59607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47" name="How many neurons (perceptrons)?"/>
          <p:cNvSpPr txBox="1"/>
          <p:nvPr/>
        </p:nvSpPr>
        <p:spPr>
          <a:xfrm>
            <a:off x="1234440" y="1010180"/>
            <a:ext cx="560832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How many neurons (perceptrons)?</a:t>
            </a:r>
          </a:p>
        </p:txBody>
      </p:sp>
      <p:sp>
        <p:nvSpPr>
          <p:cNvPr id="548" name="How many weights (edges)?"/>
          <p:cNvSpPr txBox="1"/>
          <p:nvPr/>
        </p:nvSpPr>
        <p:spPr>
          <a:xfrm>
            <a:off x="1204772" y="1980233"/>
            <a:ext cx="4638956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How many weights (edges)?</a:t>
            </a:r>
          </a:p>
        </p:txBody>
      </p:sp>
      <p:sp>
        <p:nvSpPr>
          <p:cNvPr id="549" name="How many learnable parameters total?"/>
          <p:cNvSpPr txBox="1"/>
          <p:nvPr/>
        </p:nvSpPr>
        <p:spPr>
          <a:xfrm>
            <a:off x="1239138" y="8400508"/>
            <a:ext cx="624662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How many learnable parameters total?</a:t>
            </a:r>
          </a:p>
        </p:txBody>
      </p:sp>
    </p:spTree>
    <p:extLst>
      <p:ext uri="{BB962C8B-B14F-4D97-AF65-F5344CB8AC3E}">
        <p14:creationId xmlns:p14="http://schemas.microsoft.com/office/powerpoint/2010/main" val="2423048390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52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53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54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1397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55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1397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56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1397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57" name="Circle"/>
          <p:cNvSpPr/>
          <p:nvPr/>
        </p:nvSpPr>
        <p:spPr>
          <a:xfrm>
            <a:off x="6136766" y="7025766"/>
            <a:ext cx="731268" cy="731268"/>
          </a:xfrm>
          <a:prstGeom prst="ellipse">
            <a:avLst/>
          </a:prstGeom>
          <a:solidFill>
            <a:srgbClr val="FFFFFF"/>
          </a:solidFill>
          <a:ln w="1397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58" name="Circle"/>
          <p:cNvSpPr/>
          <p:nvPr/>
        </p:nvSpPr>
        <p:spPr>
          <a:xfrm>
            <a:off x="9148188" y="4017676"/>
            <a:ext cx="731268" cy="731268"/>
          </a:xfrm>
          <a:prstGeom prst="ellipse">
            <a:avLst/>
          </a:prstGeom>
          <a:solidFill>
            <a:srgbClr val="FFFFFF"/>
          </a:solidFill>
          <a:ln w="1397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59" name="Circle"/>
          <p:cNvSpPr/>
          <p:nvPr/>
        </p:nvSpPr>
        <p:spPr>
          <a:xfrm>
            <a:off x="9165716" y="5774816"/>
            <a:ext cx="731268" cy="731268"/>
          </a:xfrm>
          <a:prstGeom prst="ellipse">
            <a:avLst/>
          </a:prstGeom>
          <a:solidFill>
            <a:srgbClr val="FFFFFF"/>
          </a:solidFill>
          <a:ln w="1397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60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61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62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63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64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65" name="Line"/>
          <p:cNvSpPr/>
          <p:nvPr/>
        </p:nvSpPr>
        <p:spPr>
          <a:xfrm>
            <a:off x="3886949" y="4195496"/>
            <a:ext cx="2271743" cy="291010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66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67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68" name="Line"/>
          <p:cNvSpPr/>
          <p:nvPr/>
        </p:nvSpPr>
        <p:spPr>
          <a:xfrm>
            <a:off x="3886863" y="5451508"/>
            <a:ext cx="2219676" cy="182790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69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70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71" name="Line"/>
          <p:cNvSpPr/>
          <p:nvPr/>
        </p:nvSpPr>
        <p:spPr>
          <a:xfrm>
            <a:off x="3883080" y="6644310"/>
            <a:ext cx="2210839" cy="8180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72" name="Line"/>
          <p:cNvSpPr/>
          <p:nvPr/>
        </p:nvSpPr>
        <p:spPr>
          <a:xfrm>
            <a:off x="6896843" y="4917588"/>
            <a:ext cx="2224535" cy="108924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73" name="Line"/>
          <p:cNvSpPr/>
          <p:nvPr/>
        </p:nvSpPr>
        <p:spPr>
          <a:xfrm>
            <a:off x="6871804" y="6158346"/>
            <a:ext cx="2245358" cy="1320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74" name="Line"/>
          <p:cNvSpPr/>
          <p:nvPr/>
        </p:nvSpPr>
        <p:spPr>
          <a:xfrm flipV="1">
            <a:off x="6896410" y="6375576"/>
            <a:ext cx="2259940" cy="100385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75" name="Line"/>
          <p:cNvSpPr/>
          <p:nvPr/>
        </p:nvSpPr>
        <p:spPr>
          <a:xfrm flipV="1">
            <a:off x="6916895" y="4388088"/>
            <a:ext cx="2174587" cy="54239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76" name="Line"/>
          <p:cNvSpPr/>
          <p:nvPr/>
        </p:nvSpPr>
        <p:spPr>
          <a:xfrm flipV="1">
            <a:off x="6871804" y="4530216"/>
            <a:ext cx="2267203" cy="16451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77" name="Line"/>
          <p:cNvSpPr/>
          <p:nvPr/>
        </p:nvSpPr>
        <p:spPr>
          <a:xfrm flipV="1">
            <a:off x="6920523" y="4700757"/>
            <a:ext cx="2289707" cy="26674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78" name="Line"/>
          <p:cNvSpPr/>
          <p:nvPr/>
        </p:nvSpPr>
        <p:spPr>
          <a:xfrm>
            <a:off x="6902542" y="3625100"/>
            <a:ext cx="2274045" cy="221577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79" name="Line"/>
          <p:cNvSpPr/>
          <p:nvPr/>
        </p:nvSpPr>
        <p:spPr>
          <a:xfrm>
            <a:off x="6908689" y="3596985"/>
            <a:ext cx="2175018" cy="59607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80" name="How many neurons (perceptrons)?"/>
          <p:cNvSpPr txBox="1"/>
          <p:nvPr/>
        </p:nvSpPr>
        <p:spPr>
          <a:xfrm>
            <a:off x="1234440" y="1010180"/>
            <a:ext cx="560832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How many neurons (perceptrons)?</a:t>
            </a:r>
          </a:p>
        </p:txBody>
      </p:sp>
      <p:sp>
        <p:nvSpPr>
          <p:cNvPr id="581" name="How many weights (edges)?"/>
          <p:cNvSpPr txBox="1"/>
          <p:nvPr/>
        </p:nvSpPr>
        <p:spPr>
          <a:xfrm>
            <a:off x="1204772" y="1980233"/>
            <a:ext cx="4638956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How many weights (edges)?</a:t>
            </a:r>
          </a:p>
        </p:txBody>
      </p:sp>
      <p:sp>
        <p:nvSpPr>
          <p:cNvPr id="582" name="How many learnable parameters total?"/>
          <p:cNvSpPr txBox="1"/>
          <p:nvPr/>
        </p:nvSpPr>
        <p:spPr>
          <a:xfrm>
            <a:off x="1239138" y="8400508"/>
            <a:ext cx="624662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How many learnable parameters total?</a:t>
            </a:r>
          </a:p>
        </p:txBody>
      </p:sp>
      <p:sp>
        <p:nvSpPr>
          <p:cNvPr id="583" name="4 + 2 = 6"/>
          <p:cNvSpPr txBox="1"/>
          <p:nvPr/>
        </p:nvSpPr>
        <p:spPr>
          <a:xfrm>
            <a:off x="9019791" y="1010180"/>
            <a:ext cx="157226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4 + 2 = 6</a:t>
            </a:r>
          </a:p>
        </p:txBody>
      </p:sp>
    </p:spTree>
    <p:extLst>
      <p:ext uri="{BB962C8B-B14F-4D97-AF65-F5344CB8AC3E}">
        <p14:creationId xmlns:p14="http://schemas.microsoft.com/office/powerpoint/2010/main" val="1932331326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86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87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88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89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90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91" name="Circle"/>
          <p:cNvSpPr/>
          <p:nvPr/>
        </p:nvSpPr>
        <p:spPr>
          <a:xfrm>
            <a:off x="6136766" y="70257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92" name="Circle"/>
          <p:cNvSpPr/>
          <p:nvPr/>
        </p:nvSpPr>
        <p:spPr>
          <a:xfrm>
            <a:off x="9148188" y="401767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93" name="Circle"/>
          <p:cNvSpPr/>
          <p:nvPr/>
        </p:nvSpPr>
        <p:spPr>
          <a:xfrm>
            <a:off x="9165716" y="57748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94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95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96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97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98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599" name="Line"/>
          <p:cNvSpPr/>
          <p:nvPr/>
        </p:nvSpPr>
        <p:spPr>
          <a:xfrm>
            <a:off x="3886949" y="4195496"/>
            <a:ext cx="2271743" cy="2910105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00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01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02" name="Line"/>
          <p:cNvSpPr/>
          <p:nvPr/>
        </p:nvSpPr>
        <p:spPr>
          <a:xfrm>
            <a:off x="3886863" y="5451508"/>
            <a:ext cx="2219676" cy="1827902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03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04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05" name="Line"/>
          <p:cNvSpPr/>
          <p:nvPr/>
        </p:nvSpPr>
        <p:spPr>
          <a:xfrm>
            <a:off x="3883080" y="6644310"/>
            <a:ext cx="2210839" cy="818024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06" name="Line"/>
          <p:cNvSpPr/>
          <p:nvPr/>
        </p:nvSpPr>
        <p:spPr>
          <a:xfrm>
            <a:off x="6896843" y="4917588"/>
            <a:ext cx="2224535" cy="1089242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07" name="Line"/>
          <p:cNvSpPr/>
          <p:nvPr/>
        </p:nvSpPr>
        <p:spPr>
          <a:xfrm>
            <a:off x="6871804" y="6158346"/>
            <a:ext cx="2245358" cy="13203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08" name="Line"/>
          <p:cNvSpPr/>
          <p:nvPr/>
        </p:nvSpPr>
        <p:spPr>
          <a:xfrm flipV="1">
            <a:off x="6896410" y="6375576"/>
            <a:ext cx="2259940" cy="1003852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09" name="Line"/>
          <p:cNvSpPr/>
          <p:nvPr/>
        </p:nvSpPr>
        <p:spPr>
          <a:xfrm flipV="1">
            <a:off x="6916895" y="4388088"/>
            <a:ext cx="2174587" cy="542399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10" name="Line"/>
          <p:cNvSpPr/>
          <p:nvPr/>
        </p:nvSpPr>
        <p:spPr>
          <a:xfrm flipV="1">
            <a:off x="6871804" y="4530216"/>
            <a:ext cx="2267203" cy="1645193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11" name="Line"/>
          <p:cNvSpPr/>
          <p:nvPr/>
        </p:nvSpPr>
        <p:spPr>
          <a:xfrm flipV="1">
            <a:off x="6920523" y="4700757"/>
            <a:ext cx="2289707" cy="2667454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12" name="Line"/>
          <p:cNvSpPr/>
          <p:nvPr/>
        </p:nvSpPr>
        <p:spPr>
          <a:xfrm>
            <a:off x="6902542" y="3625100"/>
            <a:ext cx="2274045" cy="2215772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13" name="Line"/>
          <p:cNvSpPr/>
          <p:nvPr/>
        </p:nvSpPr>
        <p:spPr>
          <a:xfrm>
            <a:off x="6908689" y="3596985"/>
            <a:ext cx="2175018" cy="596079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14" name="How many neurons (perceptrons)?"/>
          <p:cNvSpPr txBox="1"/>
          <p:nvPr/>
        </p:nvSpPr>
        <p:spPr>
          <a:xfrm>
            <a:off x="1234440" y="1010180"/>
            <a:ext cx="560832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How many neurons (perceptrons)?</a:t>
            </a:r>
          </a:p>
        </p:txBody>
      </p:sp>
      <p:sp>
        <p:nvSpPr>
          <p:cNvPr id="615" name="How many weights (edges)?"/>
          <p:cNvSpPr txBox="1"/>
          <p:nvPr/>
        </p:nvSpPr>
        <p:spPr>
          <a:xfrm>
            <a:off x="1204772" y="1980233"/>
            <a:ext cx="4638956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How many weights (edges)?</a:t>
            </a:r>
          </a:p>
        </p:txBody>
      </p:sp>
      <p:sp>
        <p:nvSpPr>
          <p:cNvPr id="616" name="How many learnable parameters total?"/>
          <p:cNvSpPr txBox="1"/>
          <p:nvPr/>
        </p:nvSpPr>
        <p:spPr>
          <a:xfrm>
            <a:off x="1239138" y="8400508"/>
            <a:ext cx="624662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How many learnable parameters total?</a:t>
            </a:r>
          </a:p>
        </p:txBody>
      </p:sp>
      <p:sp>
        <p:nvSpPr>
          <p:cNvPr id="617" name="4 + 2 = 6"/>
          <p:cNvSpPr txBox="1"/>
          <p:nvPr/>
        </p:nvSpPr>
        <p:spPr>
          <a:xfrm>
            <a:off x="9019791" y="1010180"/>
            <a:ext cx="157226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4 + 2 = 6</a:t>
            </a:r>
          </a:p>
        </p:txBody>
      </p:sp>
      <p:sp>
        <p:nvSpPr>
          <p:cNvPr id="618" name="(3 x 4) + (4 x 2) = 20"/>
          <p:cNvSpPr txBox="1"/>
          <p:nvPr/>
        </p:nvSpPr>
        <p:spPr>
          <a:xfrm>
            <a:off x="8110878" y="1980233"/>
            <a:ext cx="339008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(3 x 4) + (4 x 2) = 20</a:t>
            </a:r>
          </a:p>
        </p:txBody>
      </p:sp>
    </p:spTree>
    <p:extLst>
      <p:ext uri="{BB962C8B-B14F-4D97-AF65-F5344CB8AC3E}">
        <p14:creationId xmlns:p14="http://schemas.microsoft.com/office/powerpoint/2010/main" val="1466951537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21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22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23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762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24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762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25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762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26" name="Circle"/>
          <p:cNvSpPr/>
          <p:nvPr/>
        </p:nvSpPr>
        <p:spPr>
          <a:xfrm>
            <a:off x="6136766" y="7025766"/>
            <a:ext cx="731268" cy="731268"/>
          </a:xfrm>
          <a:prstGeom prst="ellipse">
            <a:avLst/>
          </a:prstGeom>
          <a:solidFill>
            <a:srgbClr val="FFFFFF"/>
          </a:solidFill>
          <a:ln w="762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27" name="Circle"/>
          <p:cNvSpPr/>
          <p:nvPr/>
        </p:nvSpPr>
        <p:spPr>
          <a:xfrm>
            <a:off x="9148188" y="4017676"/>
            <a:ext cx="731268" cy="731268"/>
          </a:xfrm>
          <a:prstGeom prst="ellipse">
            <a:avLst/>
          </a:prstGeom>
          <a:solidFill>
            <a:srgbClr val="FFFFFF"/>
          </a:solidFill>
          <a:ln w="762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28" name="Circle"/>
          <p:cNvSpPr/>
          <p:nvPr/>
        </p:nvSpPr>
        <p:spPr>
          <a:xfrm>
            <a:off x="9165716" y="5774816"/>
            <a:ext cx="731268" cy="731268"/>
          </a:xfrm>
          <a:prstGeom prst="ellipse">
            <a:avLst/>
          </a:prstGeom>
          <a:solidFill>
            <a:srgbClr val="FFFFFF"/>
          </a:solidFill>
          <a:ln w="762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29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30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31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32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33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34" name="Line"/>
          <p:cNvSpPr/>
          <p:nvPr/>
        </p:nvSpPr>
        <p:spPr>
          <a:xfrm>
            <a:off x="3886949" y="4195496"/>
            <a:ext cx="2271743" cy="2910105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35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36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37" name="Line"/>
          <p:cNvSpPr/>
          <p:nvPr/>
        </p:nvSpPr>
        <p:spPr>
          <a:xfrm>
            <a:off x="3886863" y="5451508"/>
            <a:ext cx="2219676" cy="1827902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38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39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40" name="Line"/>
          <p:cNvSpPr/>
          <p:nvPr/>
        </p:nvSpPr>
        <p:spPr>
          <a:xfrm>
            <a:off x="3883080" y="6644310"/>
            <a:ext cx="2210839" cy="818024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41" name="Line"/>
          <p:cNvSpPr/>
          <p:nvPr/>
        </p:nvSpPr>
        <p:spPr>
          <a:xfrm>
            <a:off x="6896843" y="4917588"/>
            <a:ext cx="2224535" cy="1089242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42" name="Line"/>
          <p:cNvSpPr/>
          <p:nvPr/>
        </p:nvSpPr>
        <p:spPr>
          <a:xfrm>
            <a:off x="6871804" y="6158346"/>
            <a:ext cx="2245358" cy="13203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43" name="Line"/>
          <p:cNvSpPr/>
          <p:nvPr/>
        </p:nvSpPr>
        <p:spPr>
          <a:xfrm flipV="1">
            <a:off x="6896410" y="6375576"/>
            <a:ext cx="2259940" cy="1003852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44" name="Line"/>
          <p:cNvSpPr/>
          <p:nvPr/>
        </p:nvSpPr>
        <p:spPr>
          <a:xfrm flipV="1">
            <a:off x="6916895" y="4388088"/>
            <a:ext cx="2174587" cy="542399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45" name="Line"/>
          <p:cNvSpPr/>
          <p:nvPr/>
        </p:nvSpPr>
        <p:spPr>
          <a:xfrm flipV="1">
            <a:off x="6871804" y="4530216"/>
            <a:ext cx="2267203" cy="1645193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46" name="Line"/>
          <p:cNvSpPr/>
          <p:nvPr/>
        </p:nvSpPr>
        <p:spPr>
          <a:xfrm flipV="1">
            <a:off x="6920523" y="4700757"/>
            <a:ext cx="2289707" cy="2667454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47" name="Line"/>
          <p:cNvSpPr/>
          <p:nvPr/>
        </p:nvSpPr>
        <p:spPr>
          <a:xfrm>
            <a:off x="6902542" y="3625100"/>
            <a:ext cx="2274045" cy="2215772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48" name="Line"/>
          <p:cNvSpPr/>
          <p:nvPr/>
        </p:nvSpPr>
        <p:spPr>
          <a:xfrm>
            <a:off x="6908689" y="3596985"/>
            <a:ext cx="2175018" cy="596079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49" name="How many neurons (perceptrons)?"/>
          <p:cNvSpPr txBox="1"/>
          <p:nvPr/>
        </p:nvSpPr>
        <p:spPr>
          <a:xfrm>
            <a:off x="1234440" y="1010180"/>
            <a:ext cx="560832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How many neurons (perceptrons)?</a:t>
            </a:r>
          </a:p>
        </p:txBody>
      </p:sp>
      <p:sp>
        <p:nvSpPr>
          <p:cNvPr id="650" name="How many weights (edges)?"/>
          <p:cNvSpPr txBox="1"/>
          <p:nvPr/>
        </p:nvSpPr>
        <p:spPr>
          <a:xfrm>
            <a:off x="1204772" y="1980233"/>
            <a:ext cx="4638956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How many weights (edges)?</a:t>
            </a:r>
          </a:p>
        </p:txBody>
      </p:sp>
      <p:sp>
        <p:nvSpPr>
          <p:cNvPr id="651" name="How many learnable parameters total?"/>
          <p:cNvSpPr txBox="1"/>
          <p:nvPr/>
        </p:nvSpPr>
        <p:spPr>
          <a:xfrm>
            <a:off x="1239138" y="8400508"/>
            <a:ext cx="624662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How many learnable parameters total?</a:t>
            </a:r>
          </a:p>
        </p:txBody>
      </p:sp>
      <p:sp>
        <p:nvSpPr>
          <p:cNvPr id="652" name="4 + 2 = 6"/>
          <p:cNvSpPr txBox="1"/>
          <p:nvPr/>
        </p:nvSpPr>
        <p:spPr>
          <a:xfrm>
            <a:off x="9019791" y="1010180"/>
            <a:ext cx="157226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4 + 2 = 6</a:t>
            </a:r>
          </a:p>
        </p:txBody>
      </p:sp>
      <p:sp>
        <p:nvSpPr>
          <p:cNvPr id="653" name="(3 x 4) + (4 x 2) = 20"/>
          <p:cNvSpPr txBox="1"/>
          <p:nvPr/>
        </p:nvSpPr>
        <p:spPr>
          <a:xfrm>
            <a:off x="8110878" y="1980233"/>
            <a:ext cx="339008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(3 x 4) + (4 x 2) = 20</a:t>
            </a:r>
          </a:p>
        </p:txBody>
      </p:sp>
      <p:sp>
        <p:nvSpPr>
          <p:cNvPr id="654" name="20 + 4 + 2 = 26"/>
          <p:cNvSpPr txBox="1"/>
          <p:nvPr/>
        </p:nvSpPr>
        <p:spPr>
          <a:xfrm>
            <a:off x="8575344" y="8400508"/>
            <a:ext cx="259781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20 + 4 + 2 = 26</a:t>
            </a:r>
          </a:p>
        </p:txBody>
      </p:sp>
      <p:sp>
        <p:nvSpPr>
          <p:cNvPr id="655" name="bias terms"/>
          <p:cNvSpPr txBox="1"/>
          <p:nvPr/>
        </p:nvSpPr>
        <p:spPr>
          <a:xfrm>
            <a:off x="9460103" y="8863734"/>
            <a:ext cx="82829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bias terms</a:t>
            </a:r>
          </a:p>
        </p:txBody>
      </p:sp>
    </p:spTree>
    <p:extLst>
      <p:ext uri="{BB962C8B-B14F-4D97-AF65-F5344CB8AC3E}">
        <p14:creationId xmlns:p14="http://schemas.microsoft.com/office/powerpoint/2010/main" val="2295749149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Circle"/>
          <p:cNvSpPr/>
          <p:nvPr/>
        </p:nvSpPr>
        <p:spPr>
          <a:xfrm>
            <a:off x="3107816" y="37809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58" name="Circle"/>
          <p:cNvSpPr/>
          <p:nvPr/>
        </p:nvSpPr>
        <p:spPr>
          <a:xfrm>
            <a:off x="3107816" y="50382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59" name="Circle"/>
          <p:cNvSpPr/>
          <p:nvPr/>
        </p:nvSpPr>
        <p:spPr>
          <a:xfrm>
            <a:off x="3107816" y="62955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60" name="Circle"/>
          <p:cNvSpPr/>
          <p:nvPr/>
        </p:nvSpPr>
        <p:spPr>
          <a:xfrm>
            <a:off x="6136766" y="32538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61" name="Circle"/>
          <p:cNvSpPr/>
          <p:nvPr/>
        </p:nvSpPr>
        <p:spPr>
          <a:xfrm>
            <a:off x="6136766" y="45111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62" name="Circle"/>
          <p:cNvSpPr/>
          <p:nvPr/>
        </p:nvSpPr>
        <p:spPr>
          <a:xfrm>
            <a:off x="6136766" y="57684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63" name="Circle"/>
          <p:cNvSpPr/>
          <p:nvPr/>
        </p:nvSpPr>
        <p:spPr>
          <a:xfrm>
            <a:off x="6136766" y="702576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64" name="Circle"/>
          <p:cNvSpPr/>
          <p:nvPr/>
        </p:nvSpPr>
        <p:spPr>
          <a:xfrm>
            <a:off x="9148188" y="401767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65" name="Circle"/>
          <p:cNvSpPr/>
          <p:nvPr/>
        </p:nvSpPr>
        <p:spPr>
          <a:xfrm>
            <a:off x="9165716" y="5774816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66" name="Line"/>
          <p:cNvSpPr/>
          <p:nvPr/>
        </p:nvSpPr>
        <p:spPr>
          <a:xfrm>
            <a:off x="3886944" y="4193688"/>
            <a:ext cx="2264619" cy="5234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67" name="Line"/>
          <p:cNvSpPr/>
          <p:nvPr/>
        </p:nvSpPr>
        <p:spPr>
          <a:xfrm flipV="1">
            <a:off x="3861904" y="4949569"/>
            <a:ext cx="2264209" cy="4848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68" name="Line"/>
          <p:cNvSpPr/>
          <p:nvPr/>
        </p:nvSpPr>
        <p:spPr>
          <a:xfrm flipV="1">
            <a:off x="3886510" y="5134299"/>
            <a:ext cx="2309714" cy="152122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69" name="Line"/>
          <p:cNvSpPr/>
          <p:nvPr/>
        </p:nvSpPr>
        <p:spPr>
          <a:xfrm flipV="1">
            <a:off x="3906995" y="3610511"/>
            <a:ext cx="2174587" cy="59607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70" name="Line"/>
          <p:cNvSpPr/>
          <p:nvPr/>
        </p:nvSpPr>
        <p:spPr>
          <a:xfrm>
            <a:off x="3906994" y="4193688"/>
            <a:ext cx="2269447" cy="17290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71" name="Line"/>
          <p:cNvSpPr/>
          <p:nvPr/>
        </p:nvSpPr>
        <p:spPr>
          <a:xfrm>
            <a:off x="3886949" y="4195496"/>
            <a:ext cx="2271743" cy="291010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72" name="Line"/>
          <p:cNvSpPr/>
          <p:nvPr/>
        </p:nvSpPr>
        <p:spPr>
          <a:xfrm flipV="1">
            <a:off x="3861904" y="3768216"/>
            <a:ext cx="2219677" cy="1683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73" name="Line"/>
          <p:cNvSpPr/>
          <p:nvPr/>
        </p:nvSpPr>
        <p:spPr>
          <a:xfrm>
            <a:off x="3887048" y="5451508"/>
            <a:ext cx="2265129" cy="59124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74" name="Line"/>
          <p:cNvSpPr/>
          <p:nvPr/>
        </p:nvSpPr>
        <p:spPr>
          <a:xfrm>
            <a:off x="3886863" y="5451508"/>
            <a:ext cx="2219676" cy="182790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75" name="Line"/>
          <p:cNvSpPr/>
          <p:nvPr/>
        </p:nvSpPr>
        <p:spPr>
          <a:xfrm flipV="1">
            <a:off x="3910623" y="3907652"/>
            <a:ext cx="2264307" cy="27366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76" name="Line"/>
          <p:cNvSpPr/>
          <p:nvPr/>
        </p:nvSpPr>
        <p:spPr>
          <a:xfrm flipV="1">
            <a:off x="3907823" y="6178184"/>
            <a:ext cx="2172316" cy="4661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77" name="Line"/>
          <p:cNvSpPr/>
          <p:nvPr/>
        </p:nvSpPr>
        <p:spPr>
          <a:xfrm>
            <a:off x="3883080" y="6644310"/>
            <a:ext cx="2210839" cy="8180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78" name="Line"/>
          <p:cNvSpPr/>
          <p:nvPr/>
        </p:nvSpPr>
        <p:spPr>
          <a:xfrm>
            <a:off x="6896843" y="4917588"/>
            <a:ext cx="2224535" cy="108924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79" name="Line"/>
          <p:cNvSpPr/>
          <p:nvPr/>
        </p:nvSpPr>
        <p:spPr>
          <a:xfrm>
            <a:off x="6871804" y="6158346"/>
            <a:ext cx="2245358" cy="1320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80" name="Line"/>
          <p:cNvSpPr/>
          <p:nvPr/>
        </p:nvSpPr>
        <p:spPr>
          <a:xfrm flipV="1">
            <a:off x="6896410" y="6375576"/>
            <a:ext cx="2259940" cy="100385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81" name="Line"/>
          <p:cNvSpPr/>
          <p:nvPr/>
        </p:nvSpPr>
        <p:spPr>
          <a:xfrm flipV="1">
            <a:off x="6916895" y="4388088"/>
            <a:ext cx="2174587" cy="54239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82" name="Line"/>
          <p:cNvSpPr/>
          <p:nvPr/>
        </p:nvSpPr>
        <p:spPr>
          <a:xfrm flipV="1">
            <a:off x="6871804" y="4530216"/>
            <a:ext cx="2267203" cy="16451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83" name="Line"/>
          <p:cNvSpPr/>
          <p:nvPr/>
        </p:nvSpPr>
        <p:spPr>
          <a:xfrm flipV="1">
            <a:off x="6920523" y="4700757"/>
            <a:ext cx="2289707" cy="266745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84" name="Line"/>
          <p:cNvSpPr/>
          <p:nvPr/>
        </p:nvSpPr>
        <p:spPr>
          <a:xfrm>
            <a:off x="6902542" y="3625100"/>
            <a:ext cx="2274045" cy="221577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85" name="Line"/>
          <p:cNvSpPr/>
          <p:nvPr/>
        </p:nvSpPr>
        <p:spPr>
          <a:xfrm>
            <a:off x="6908689" y="3596985"/>
            <a:ext cx="2175018" cy="59607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86" name="performance usually tops out at 2-3 layers,…"/>
          <p:cNvSpPr txBox="1"/>
          <p:nvPr/>
        </p:nvSpPr>
        <p:spPr>
          <a:xfrm>
            <a:off x="2882595" y="1541294"/>
            <a:ext cx="7239610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performance usually tops out at 2-3 layers, </a:t>
            </a:r>
          </a:p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deeper networks don’t really improve performance...</a:t>
            </a:r>
          </a:p>
        </p:txBody>
      </p:sp>
      <p:sp>
        <p:nvSpPr>
          <p:cNvPr id="687" name="...with the exception of convolutional networks for images"/>
          <p:cNvSpPr txBox="1"/>
          <p:nvPr/>
        </p:nvSpPr>
        <p:spPr>
          <a:xfrm>
            <a:off x="2464714" y="8454514"/>
            <a:ext cx="8075372" cy="469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...with the exception of </a:t>
            </a: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rPr>
              <a:t>convolutional</a:t>
            </a: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 networks for images</a:t>
            </a:r>
          </a:p>
        </p:txBody>
      </p:sp>
    </p:spTree>
    <p:extLst>
      <p:ext uri="{BB962C8B-B14F-4D97-AF65-F5344CB8AC3E}">
        <p14:creationId xmlns:p14="http://schemas.microsoft.com/office/powerpoint/2010/main" val="517830277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K-nearest neighb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Training </a:t>
            </a:r>
            <a:r>
              <a:rPr lang="en-US" dirty="0" err="1"/>
              <a:t>perceptrons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3448280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Let’s start easy"/>
          <p:cNvSpPr txBox="1"/>
          <p:nvPr/>
        </p:nvSpPr>
        <p:spPr>
          <a:xfrm>
            <a:off x="4920716" y="4552950"/>
            <a:ext cx="316336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Let’s start easy</a:t>
            </a:r>
          </a:p>
        </p:txBody>
      </p:sp>
    </p:spTree>
    <p:extLst>
      <p:ext uri="{BB962C8B-B14F-4D97-AF65-F5344CB8AC3E}">
        <p14:creationId xmlns:p14="http://schemas.microsoft.com/office/powerpoint/2010/main" val="4095595078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ircle"/>
          <p:cNvSpPr/>
          <p:nvPr/>
        </p:nvSpPr>
        <p:spPr>
          <a:xfrm>
            <a:off x="7624155" y="4653103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28" name="Line"/>
          <p:cNvSpPr/>
          <p:nvPr/>
        </p:nvSpPr>
        <p:spPr>
          <a:xfrm>
            <a:off x="5642602" y="5018737"/>
            <a:ext cx="193574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29" name="Circle"/>
          <p:cNvSpPr/>
          <p:nvPr/>
        </p:nvSpPr>
        <p:spPr>
          <a:xfrm>
            <a:off x="4928777" y="4653103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13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804" y="4866337"/>
            <a:ext cx="2286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world’s smallest perceptron!"/>
          <p:cNvSpPr txBox="1"/>
          <p:nvPr/>
        </p:nvSpPr>
        <p:spPr>
          <a:xfrm>
            <a:off x="1321892" y="1964271"/>
            <a:ext cx="10640416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6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world’s smallest perceptron!</a:t>
            </a:r>
          </a:p>
        </p:txBody>
      </p:sp>
      <p:pic>
        <p:nvPicPr>
          <p:cNvPr id="13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760" y="4910787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(a.k.a. line equation, linear regression)"/>
          <p:cNvSpPr txBox="1"/>
          <p:nvPr/>
        </p:nvSpPr>
        <p:spPr>
          <a:xfrm>
            <a:off x="4972577" y="7376859"/>
            <a:ext cx="3339056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What does this look like?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882B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134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350" y="4604946"/>
            <a:ext cx="317500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900" y="6968304"/>
            <a:ext cx="1422400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9139" y="4802837"/>
            <a:ext cx="241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Line"/>
          <p:cNvSpPr/>
          <p:nvPr/>
        </p:nvSpPr>
        <p:spPr>
          <a:xfrm>
            <a:off x="8401234" y="5018737"/>
            <a:ext cx="75666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5458558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ircle"/>
          <p:cNvSpPr/>
          <p:nvPr/>
        </p:nvSpPr>
        <p:spPr>
          <a:xfrm>
            <a:off x="7624155" y="4653103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28" name="Line"/>
          <p:cNvSpPr/>
          <p:nvPr/>
        </p:nvSpPr>
        <p:spPr>
          <a:xfrm>
            <a:off x="5642602" y="5018737"/>
            <a:ext cx="193574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29" name="Circle"/>
          <p:cNvSpPr/>
          <p:nvPr/>
        </p:nvSpPr>
        <p:spPr>
          <a:xfrm>
            <a:off x="4928777" y="4653103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13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804" y="4866337"/>
            <a:ext cx="2286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world’s smallest perceptron!"/>
          <p:cNvSpPr txBox="1"/>
          <p:nvPr/>
        </p:nvSpPr>
        <p:spPr>
          <a:xfrm>
            <a:off x="1321892" y="1964271"/>
            <a:ext cx="10640416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6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world’s smallest perceptron!</a:t>
            </a:r>
          </a:p>
        </p:txBody>
      </p:sp>
      <p:pic>
        <p:nvPicPr>
          <p:cNvPr id="13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760" y="4910787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(a.k.a. line equation, linear regression)"/>
          <p:cNvSpPr txBox="1"/>
          <p:nvPr/>
        </p:nvSpPr>
        <p:spPr>
          <a:xfrm>
            <a:off x="4415662" y="7409620"/>
            <a:ext cx="445287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(a.k.a. line equation, linear regression)</a:t>
            </a:r>
          </a:p>
        </p:txBody>
      </p:sp>
      <p:pic>
        <p:nvPicPr>
          <p:cNvPr id="134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350" y="4604946"/>
            <a:ext cx="317500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900" y="6968304"/>
            <a:ext cx="1422400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9139" y="4802837"/>
            <a:ext cx="241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Line"/>
          <p:cNvSpPr/>
          <p:nvPr/>
        </p:nvSpPr>
        <p:spPr>
          <a:xfrm>
            <a:off x="8401234" y="5018737"/>
            <a:ext cx="75666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687850260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iven a set of samples and a Perceptron"/>
          <p:cNvSpPr txBox="1"/>
          <p:nvPr/>
        </p:nvSpPr>
        <p:spPr>
          <a:xfrm>
            <a:off x="2273528" y="2808333"/>
            <a:ext cx="845774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Given a set of samples and a Perceptron</a:t>
            </a:r>
          </a:p>
        </p:txBody>
      </p:sp>
      <p:sp>
        <p:nvSpPr>
          <p:cNvPr id="140" name="Estimate the parameters of the Perceptron"/>
          <p:cNvSpPr txBox="1"/>
          <p:nvPr/>
        </p:nvSpPr>
        <p:spPr>
          <a:xfrm>
            <a:off x="2133853" y="6745044"/>
            <a:ext cx="873709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Estimate the parameters of the Perceptron</a:t>
            </a:r>
          </a:p>
        </p:txBody>
      </p:sp>
      <p:sp>
        <p:nvSpPr>
          <p:cNvPr id="141" name="Learning a Perceptron"/>
          <p:cNvSpPr txBox="1"/>
          <p:nvPr/>
        </p:nvSpPr>
        <p:spPr>
          <a:xfrm>
            <a:off x="3614557" y="1217378"/>
            <a:ext cx="5775686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Learning a Perceptron</a:t>
            </a:r>
          </a:p>
        </p:txBody>
      </p:sp>
      <p:pic>
        <p:nvPicPr>
          <p:cNvPr id="14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454" y="3788614"/>
            <a:ext cx="2030352" cy="6829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355" y="4750469"/>
            <a:ext cx="3714090" cy="621817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Image" descr="Image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45182" y="8002852"/>
            <a:ext cx="596400" cy="4055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91919831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What do you think the weight parameter is?"/>
          <p:cNvSpPr txBox="1"/>
          <p:nvPr/>
        </p:nvSpPr>
        <p:spPr>
          <a:xfrm>
            <a:off x="2542284" y="7326496"/>
            <a:ext cx="7920232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1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What do you think the weight parameter is?</a:t>
            </a:r>
          </a:p>
        </p:txBody>
      </p:sp>
      <p:pic>
        <p:nvPicPr>
          <p:cNvPr id="14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756" y="2341666"/>
            <a:ext cx="2413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743" y="2288750"/>
            <a:ext cx="241301" cy="321734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Line"/>
          <p:cNvSpPr/>
          <p:nvPr/>
        </p:nvSpPr>
        <p:spPr>
          <a:xfrm>
            <a:off x="5361491" y="2968086"/>
            <a:ext cx="228181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52" name="Line"/>
          <p:cNvSpPr/>
          <p:nvPr/>
        </p:nvSpPr>
        <p:spPr>
          <a:xfrm flipH="1">
            <a:off x="6502399" y="2071690"/>
            <a:ext cx="1" cy="465031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15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6992" y="8308505"/>
            <a:ext cx="1850815" cy="396604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1"/>
          <p:cNvSpPr txBox="1"/>
          <p:nvPr/>
        </p:nvSpPr>
        <p:spPr>
          <a:xfrm>
            <a:off x="5581553" y="5812907"/>
            <a:ext cx="36850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</a:t>
            </a:r>
          </a:p>
        </p:txBody>
      </p:sp>
      <p:sp>
        <p:nvSpPr>
          <p:cNvPr id="155" name="1.1"/>
          <p:cNvSpPr txBox="1"/>
          <p:nvPr/>
        </p:nvSpPr>
        <p:spPr>
          <a:xfrm>
            <a:off x="6800489" y="5812907"/>
            <a:ext cx="74980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1.1</a:t>
            </a:r>
          </a:p>
        </p:txBody>
      </p:sp>
      <p:sp>
        <p:nvSpPr>
          <p:cNvPr id="156" name="2"/>
          <p:cNvSpPr txBox="1"/>
          <p:nvPr/>
        </p:nvSpPr>
        <p:spPr>
          <a:xfrm>
            <a:off x="5645154" y="4072997"/>
            <a:ext cx="36850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2</a:t>
            </a:r>
          </a:p>
        </p:txBody>
      </p:sp>
      <p:sp>
        <p:nvSpPr>
          <p:cNvPr id="157" name="1.9"/>
          <p:cNvSpPr txBox="1"/>
          <p:nvPr/>
        </p:nvSpPr>
        <p:spPr>
          <a:xfrm>
            <a:off x="6800489" y="4072997"/>
            <a:ext cx="74980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1.9</a:t>
            </a:r>
          </a:p>
        </p:txBody>
      </p:sp>
      <p:sp>
        <p:nvSpPr>
          <p:cNvPr id="158" name="3.5"/>
          <p:cNvSpPr txBox="1"/>
          <p:nvPr/>
        </p:nvSpPr>
        <p:spPr>
          <a:xfrm>
            <a:off x="5454502" y="4942952"/>
            <a:ext cx="74980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3.5</a:t>
            </a:r>
          </a:p>
        </p:txBody>
      </p:sp>
      <p:sp>
        <p:nvSpPr>
          <p:cNvPr id="159" name="3.4"/>
          <p:cNvSpPr txBox="1"/>
          <p:nvPr/>
        </p:nvSpPr>
        <p:spPr>
          <a:xfrm>
            <a:off x="6800489" y="4942952"/>
            <a:ext cx="74980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3.4</a:t>
            </a:r>
          </a:p>
        </p:txBody>
      </p:sp>
      <p:sp>
        <p:nvSpPr>
          <p:cNvPr id="160" name="10"/>
          <p:cNvSpPr txBox="1"/>
          <p:nvPr/>
        </p:nvSpPr>
        <p:spPr>
          <a:xfrm>
            <a:off x="5518052" y="3203042"/>
            <a:ext cx="62270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10</a:t>
            </a:r>
          </a:p>
        </p:txBody>
      </p:sp>
      <p:sp>
        <p:nvSpPr>
          <p:cNvPr id="161" name="10.1"/>
          <p:cNvSpPr txBox="1"/>
          <p:nvPr/>
        </p:nvSpPr>
        <p:spPr>
          <a:xfrm>
            <a:off x="6673388" y="3203042"/>
            <a:ext cx="100401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10.1</a:t>
            </a:r>
          </a:p>
        </p:txBody>
      </p:sp>
      <p:sp>
        <p:nvSpPr>
          <p:cNvPr id="162" name="Given training data:"/>
          <p:cNvSpPr txBox="1"/>
          <p:nvPr/>
        </p:nvSpPr>
        <p:spPr>
          <a:xfrm>
            <a:off x="4437913" y="1048491"/>
            <a:ext cx="412897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Given training data:</a:t>
            </a:r>
          </a:p>
        </p:txBody>
      </p:sp>
    </p:spTree>
    <p:extLst>
      <p:ext uri="{BB962C8B-B14F-4D97-AF65-F5344CB8AC3E}">
        <p14:creationId xmlns:p14="http://schemas.microsoft.com/office/powerpoint/2010/main" val="893809030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What do you think the weight parameter is?"/>
          <p:cNvSpPr txBox="1"/>
          <p:nvPr/>
        </p:nvSpPr>
        <p:spPr>
          <a:xfrm>
            <a:off x="2542284" y="7326496"/>
            <a:ext cx="7920232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1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What do you think the weight parameter is?</a:t>
            </a:r>
          </a:p>
        </p:txBody>
      </p:sp>
      <p:pic>
        <p:nvPicPr>
          <p:cNvPr id="16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756" y="2341666"/>
            <a:ext cx="2413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743" y="2288750"/>
            <a:ext cx="241301" cy="321734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Line"/>
          <p:cNvSpPr/>
          <p:nvPr/>
        </p:nvSpPr>
        <p:spPr>
          <a:xfrm>
            <a:off x="5361491" y="2968086"/>
            <a:ext cx="228181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68" name="Line"/>
          <p:cNvSpPr/>
          <p:nvPr/>
        </p:nvSpPr>
        <p:spPr>
          <a:xfrm flipH="1">
            <a:off x="6502399" y="2071690"/>
            <a:ext cx="1" cy="465031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16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6992" y="8308505"/>
            <a:ext cx="1850815" cy="396604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1"/>
          <p:cNvSpPr txBox="1"/>
          <p:nvPr/>
        </p:nvSpPr>
        <p:spPr>
          <a:xfrm>
            <a:off x="5581553" y="5812907"/>
            <a:ext cx="36850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</a:t>
            </a:r>
          </a:p>
        </p:txBody>
      </p:sp>
      <p:sp>
        <p:nvSpPr>
          <p:cNvPr id="171" name="1.1"/>
          <p:cNvSpPr txBox="1"/>
          <p:nvPr/>
        </p:nvSpPr>
        <p:spPr>
          <a:xfrm>
            <a:off x="6800489" y="5812907"/>
            <a:ext cx="74980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1.1</a:t>
            </a:r>
          </a:p>
        </p:txBody>
      </p:sp>
      <p:sp>
        <p:nvSpPr>
          <p:cNvPr id="172" name="2"/>
          <p:cNvSpPr txBox="1"/>
          <p:nvPr/>
        </p:nvSpPr>
        <p:spPr>
          <a:xfrm>
            <a:off x="5645154" y="4072997"/>
            <a:ext cx="36850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2</a:t>
            </a:r>
          </a:p>
        </p:txBody>
      </p:sp>
      <p:sp>
        <p:nvSpPr>
          <p:cNvPr id="173" name="1.9"/>
          <p:cNvSpPr txBox="1"/>
          <p:nvPr/>
        </p:nvSpPr>
        <p:spPr>
          <a:xfrm>
            <a:off x="6800489" y="4072997"/>
            <a:ext cx="74980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1.9</a:t>
            </a:r>
          </a:p>
        </p:txBody>
      </p:sp>
      <p:sp>
        <p:nvSpPr>
          <p:cNvPr id="174" name="3.5"/>
          <p:cNvSpPr txBox="1"/>
          <p:nvPr/>
        </p:nvSpPr>
        <p:spPr>
          <a:xfrm>
            <a:off x="5454502" y="4942952"/>
            <a:ext cx="74980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3.5</a:t>
            </a:r>
          </a:p>
        </p:txBody>
      </p:sp>
      <p:sp>
        <p:nvSpPr>
          <p:cNvPr id="175" name="3.4"/>
          <p:cNvSpPr txBox="1"/>
          <p:nvPr/>
        </p:nvSpPr>
        <p:spPr>
          <a:xfrm>
            <a:off x="6800489" y="4942952"/>
            <a:ext cx="74980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3.4</a:t>
            </a:r>
          </a:p>
        </p:txBody>
      </p:sp>
      <p:sp>
        <p:nvSpPr>
          <p:cNvPr id="176" name="10"/>
          <p:cNvSpPr txBox="1"/>
          <p:nvPr/>
        </p:nvSpPr>
        <p:spPr>
          <a:xfrm>
            <a:off x="5518052" y="3203042"/>
            <a:ext cx="62270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10</a:t>
            </a:r>
          </a:p>
        </p:txBody>
      </p:sp>
      <p:sp>
        <p:nvSpPr>
          <p:cNvPr id="177" name="10.1"/>
          <p:cNvSpPr txBox="1"/>
          <p:nvPr/>
        </p:nvSpPr>
        <p:spPr>
          <a:xfrm>
            <a:off x="6673388" y="3203042"/>
            <a:ext cx="100401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10.1</a:t>
            </a:r>
          </a:p>
        </p:txBody>
      </p:sp>
      <p:sp>
        <p:nvSpPr>
          <p:cNvPr id="178" name="Given training data:"/>
          <p:cNvSpPr txBox="1"/>
          <p:nvPr/>
        </p:nvSpPr>
        <p:spPr>
          <a:xfrm>
            <a:off x="4437913" y="1048491"/>
            <a:ext cx="412897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Given training data:</a:t>
            </a:r>
          </a:p>
        </p:txBody>
      </p:sp>
      <p:sp>
        <p:nvSpPr>
          <p:cNvPr id="179" name="not so obvious as the network gets more complicated so we use …"/>
          <p:cNvSpPr txBox="1"/>
          <p:nvPr/>
        </p:nvSpPr>
        <p:spPr>
          <a:xfrm>
            <a:off x="3658454" y="9115618"/>
            <a:ext cx="9239404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not so obvious as the network gets more complicated so we use …</a:t>
            </a:r>
          </a:p>
        </p:txBody>
      </p:sp>
    </p:spTree>
    <p:extLst>
      <p:ext uri="{BB962C8B-B14F-4D97-AF65-F5344CB8AC3E}">
        <p14:creationId xmlns:p14="http://schemas.microsoft.com/office/powerpoint/2010/main" val="686149287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iven several examples"/>
          <p:cNvSpPr txBox="1"/>
          <p:nvPr/>
        </p:nvSpPr>
        <p:spPr>
          <a:xfrm>
            <a:off x="4488916" y="2367095"/>
            <a:ext cx="402696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Given several examples </a:t>
            </a:r>
          </a:p>
        </p:txBody>
      </p:sp>
      <p:pic>
        <p:nvPicPr>
          <p:cNvPr id="18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452" y="3097081"/>
            <a:ext cx="7967896" cy="5992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272" y="4848840"/>
            <a:ext cx="2198256" cy="647701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An Incremental Learning Strategy (gradient descent)"/>
          <p:cNvSpPr txBox="1"/>
          <p:nvPr/>
        </p:nvSpPr>
        <p:spPr>
          <a:xfrm>
            <a:off x="1585556" y="569015"/>
            <a:ext cx="9833688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100"/>
            </a:pPr>
            <a:r>
              <a:rPr kumimoji="0" sz="5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An Incremental Learning Strategy</a:t>
            </a:r>
            <a:br>
              <a:rPr kumimoji="0" sz="5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</a:b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(gradient descent)</a:t>
            </a:r>
          </a:p>
        </p:txBody>
      </p:sp>
      <p:sp>
        <p:nvSpPr>
          <p:cNvPr id="185" name="and a perceptron"/>
          <p:cNvSpPr txBox="1"/>
          <p:nvPr/>
        </p:nvSpPr>
        <p:spPr>
          <a:xfrm>
            <a:off x="5068189" y="4247034"/>
            <a:ext cx="286842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and a perceptron</a:t>
            </a:r>
          </a:p>
        </p:txBody>
      </p:sp>
    </p:spTree>
    <p:extLst>
      <p:ext uri="{BB962C8B-B14F-4D97-AF65-F5344CB8AC3E}">
        <p14:creationId xmlns:p14="http://schemas.microsoft.com/office/powerpoint/2010/main" val="3554931248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iven several examples"/>
          <p:cNvSpPr txBox="1"/>
          <p:nvPr/>
        </p:nvSpPr>
        <p:spPr>
          <a:xfrm>
            <a:off x="4488916" y="2367095"/>
            <a:ext cx="402696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Given several examples </a:t>
            </a:r>
          </a:p>
        </p:txBody>
      </p:sp>
      <p:sp>
        <p:nvSpPr>
          <p:cNvPr id="190" name="Modify weight        such that"/>
          <p:cNvSpPr txBox="1"/>
          <p:nvPr/>
        </p:nvSpPr>
        <p:spPr>
          <a:xfrm>
            <a:off x="686800" y="6741103"/>
            <a:ext cx="598429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Modify weight        such that </a:t>
            </a:r>
          </a:p>
        </p:txBody>
      </p:sp>
      <p:pic>
        <p:nvPicPr>
          <p:cNvPr id="19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452" y="3097081"/>
            <a:ext cx="7967896" cy="5992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272" y="4848840"/>
            <a:ext cx="2198256" cy="647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249" y="6766149"/>
            <a:ext cx="367532" cy="6738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58178" y="6819932"/>
            <a:ext cx="367532" cy="490043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gets ‘closer’ to"/>
          <p:cNvSpPr txBox="1"/>
          <p:nvPr/>
        </p:nvSpPr>
        <p:spPr>
          <a:xfrm>
            <a:off x="7792407" y="6741096"/>
            <a:ext cx="3359144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gets </a:t>
            </a:r>
            <a:r>
              <a:rPr kumimoji="0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rPr>
              <a:t>‘closer’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to </a:t>
            </a:r>
          </a:p>
        </p:txBody>
      </p:sp>
      <p:pic>
        <p:nvPicPr>
          <p:cNvPr id="196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765" y="6916912"/>
            <a:ext cx="464185" cy="315646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and a perceptron"/>
          <p:cNvSpPr txBox="1"/>
          <p:nvPr/>
        </p:nvSpPr>
        <p:spPr>
          <a:xfrm>
            <a:off x="5068189" y="4247034"/>
            <a:ext cx="286842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and a perceptron</a:t>
            </a:r>
          </a:p>
        </p:txBody>
      </p:sp>
      <p:sp>
        <p:nvSpPr>
          <p:cNvPr id="198" name="An Incremental Learning Strategy (gradient descent)"/>
          <p:cNvSpPr txBox="1"/>
          <p:nvPr/>
        </p:nvSpPr>
        <p:spPr>
          <a:xfrm>
            <a:off x="1585556" y="569015"/>
            <a:ext cx="9833688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100"/>
            </a:pPr>
            <a:r>
              <a:rPr kumimoji="0" sz="5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An Incremental Learning Strategy</a:t>
            </a:r>
            <a:br>
              <a:rPr kumimoji="0" sz="5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</a:b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(gradient descent)</a:t>
            </a:r>
          </a:p>
        </p:txBody>
      </p:sp>
    </p:spTree>
    <p:extLst>
      <p:ext uri="{BB962C8B-B14F-4D97-AF65-F5344CB8AC3E}">
        <p14:creationId xmlns:p14="http://schemas.microsoft.com/office/powerpoint/2010/main" val="350836130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1813" y="6366453"/>
            <a:ext cx="12121174" cy="1397001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203" name="Given several examples"/>
          <p:cNvSpPr txBox="1"/>
          <p:nvPr/>
        </p:nvSpPr>
        <p:spPr>
          <a:xfrm>
            <a:off x="4488916" y="2367095"/>
            <a:ext cx="402696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Given several examples </a:t>
            </a:r>
          </a:p>
        </p:txBody>
      </p:sp>
      <p:sp>
        <p:nvSpPr>
          <p:cNvPr id="204" name="Modify weight        such that"/>
          <p:cNvSpPr txBox="1"/>
          <p:nvPr/>
        </p:nvSpPr>
        <p:spPr>
          <a:xfrm>
            <a:off x="686800" y="6741103"/>
            <a:ext cx="598429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Modify weight        such that </a:t>
            </a:r>
          </a:p>
        </p:txBody>
      </p:sp>
      <p:pic>
        <p:nvPicPr>
          <p:cNvPr id="20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452" y="3097081"/>
            <a:ext cx="7967896" cy="59921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272" y="4848840"/>
            <a:ext cx="2198256" cy="647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249" y="6766149"/>
            <a:ext cx="367532" cy="67380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8178" y="6819932"/>
            <a:ext cx="367532" cy="490043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gets ‘closer’ to"/>
          <p:cNvSpPr txBox="1"/>
          <p:nvPr/>
        </p:nvSpPr>
        <p:spPr>
          <a:xfrm>
            <a:off x="7792407" y="6741096"/>
            <a:ext cx="3359144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gets </a:t>
            </a:r>
            <a:r>
              <a:rPr kumimoji="0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rPr>
              <a:t>‘closer’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to </a:t>
            </a:r>
          </a:p>
        </p:txBody>
      </p:sp>
      <p:pic>
        <p:nvPicPr>
          <p:cNvPr id="210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9765" y="6916912"/>
            <a:ext cx="464185" cy="315646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and a perceptron"/>
          <p:cNvSpPr txBox="1"/>
          <p:nvPr/>
        </p:nvSpPr>
        <p:spPr>
          <a:xfrm>
            <a:off x="5068189" y="4247034"/>
            <a:ext cx="286842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and a perceptron</a:t>
            </a:r>
          </a:p>
        </p:txBody>
      </p:sp>
      <p:sp>
        <p:nvSpPr>
          <p:cNvPr id="212" name="perceptron output"/>
          <p:cNvSpPr txBox="1"/>
          <p:nvPr/>
        </p:nvSpPr>
        <p:spPr>
          <a:xfrm>
            <a:off x="6729417" y="8468266"/>
            <a:ext cx="174602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perceptron output</a:t>
            </a:r>
          </a:p>
        </p:txBody>
      </p:sp>
      <p:pic>
        <p:nvPicPr>
          <p:cNvPr id="213" name="Line" descr="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15594029">
            <a:off x="6835388" y="7734457"/>
            <a:ext cx="1040427" cy="386778"/>
          </a:xfrm>
          <a:prstGeom prst="rect">
            <a:avLst/>
          </a:prstGeom>
        </p:spPr>
      </p:pic>
      <p:sp>
        <p:nvSpPr>
          <p:cNvPr id="215" name="true label"/>
          <p:cNvSpPr txBox="1"/>
          <p:nvPr/>
        </p:nvSpPr>
        <p:spPr>
          <a:xfrm>
            <a:off x="10390519" y="8468266"/>
            <a:ext cx="107427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true label</a:t>
            </a:r>
          </a:p>
        </p:txBody>
      </p:sp>
      <p:pic>
        <p:nvPicPr>
          <p:cNvPr id="216" name="Line" descr="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17728647">
            <a:off x="10676644" y="7799254"/>
            <a:ext cx="1222284" cy="386778"/>
          </a:xfrm>
          <a:prstGeom prst="rect">
            <a:avLst/>
          </a:prstGeom>
        </p:spPr>
      </p:pic>
      <p:sp>
        <p:nvSpPr>
          <p:cNvPr id="218" name="perceptron parameter"/>
          <p:cNvSpPr txBox="1"/>
          <p:nvPr/>
        </p:nvSpPr>
        <p:spPr>
          <a:xfrm>
            <a:off x="3618274" y="8468266"/>
            <a:ext cx="174602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perceptron parameter</a:t>
            </a:r>
          </a:p>
        </p:txBody>
      </p:sp>
      <p:pic>
        <p:nvPicPr>
          <p:cNvPr id="219" name="Line" descr="Line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 rot="15553314">
            <a:off x="3675350" y="7734775"/>
            <a:ext cx="1174368" cy="386778"/>
          </a:xfrm>
          <a:prstGeom prst="rect">
            <a:avLst/>
          </a:prstGeom>
        </p:spPr>
      </p:pic>
      <p:sp>
        <p:nvSpPr>
          <p:cNvPr id="221" name="An Incremental Learning Strategy (gradient descent)"/>
          <p:cNvSpPr txBox="1"/>
          <p:nvPr/>
        </p:nvSpPr>
        <p:spPr>
          <a:xfrm>
            <a:off x="1585556" y="569015"/>
            <a:ext cx="9833688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100"/>
            </a:pPr>
            <a:r>
              <a:rPr kumimoji="0" sz="5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An Incremental Learning Strategy</a:t>
            </a:r>
            <a:br>
              <a:rPr kumimoji="0" sz="5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</a:b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(gradient descent)</a:t>
            </a:r>
          </a:p>
        </p:txBody>
      </p:sp>
    </p:spTree>
    <p:extLst>
      <p:ext uri="{BB962C8B-B14F-4D97-AF65-F5344CB8AC3E}">
        <p14:creationId xmlns:p14="http://schemas.microsoft.com/office/powerpoint/2010/main" val="894481614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1813" y="6366453"/>
            <a:ext cx="12121174" cy="1397001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226" name="Given several examples"/>
          <p:cNvSpPr txBox="1"/>
          <p:nvPr/>
        </p:nvSpPr>
        <p:spPr>
          <a:xfrm>
            <a:off x="4488916" y="2367095"/>
            <a:ext cx="402696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Given several examples </a:t>
            </a:r>
          </a:p>
        </p:txBody>
      </p:sp>
      <p:sp>
        <p:nvSpPr>
          <p:cNvPr id="227" name="Modify weight        such that"/>
          <p:cNvSpPr txBox="1"/>
          <p:nvPr/>
        </p:nvSpPr>
        <p:spPr>
          <a:xfrm>
            <a:off x="686800" y="6741103"/>
            <a:ext cx="598429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Modify weight        such that </a:t>
            </a:r>
          </a:p>
        </p:txBody>
      </p:sp>
      <p:pic>
        <p:nvPicPr>
          <p:cNvPr id="22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452" y="3097081"/>
            <a:ext cx="7967896" cy="59921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272" y="4848840"/>
            <a:ext cx="2198256" cy="647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249" y="6766149"/>
            <a:ext cx="367532" cy="67380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8178" y="6819932"/>
            <a:ext cx="367532" cy="490043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gets ‘closer’ to"/>
          <p:cNvSpPr txBox="1"/>
          <p:nvPr/>
        </p:nvSpPr>
        <p:spPr>
          <a:xfrm>
            <a:off x="7792407" y="6741096"/>
            <a:ext cx="3359144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gets </a:t>
            </a:r>
            <a:r>
              <a:rPr kumimoji="0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rPr>
              <a:t>‘closer’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to </a:t>
            </a:r>
          </a:p>
        </p:txBody>
      </p:sp>
      <p:pic>
        <p:nvPicPr>
          <p:cNvPr id="233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9765" y="6916912"/>
            <a:ext cx="464185" cy="315646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and a perceptron"/>
          <p:cNvSpPr txBox="1"/>
          <p:nvPr/>
        </p:nvSpPr>
        <p:spPr>
          <a:xfrm>
            <a:off x="5068189" y="4247034"/>
            <a:ext cx="286842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and a perceptron</a:t>
            </a:r>
          </a:p>
        </p:txBody>
      </p:sp>
      <p:sp>
        <p:nvSpPr>
          <p:cNvPr id="235" name="perceptron output"/>
          <p:cNvSpPr txBox="1"/>
          <p:nvPr/>
        </p:nvSpPr>
        <p:spPr>
          <a:xfrm>
            <a:off x="6729417" y="8468266"/>
            <a:ext cx="174602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perceptron output</a:t>
            </a:r>
          </a:p>
        </p:txBody>
      </p:sp>
      <p:pic>
        <p:nvPicPr>
          <p:cNvPr id="236" name="Line" descr="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15594029">
            <a:off x="6835388" y="7734457"/>
            <a:ext cx="1040427" cy="386778"/>
          </a:xfrm>
          <a:prstGeom prst="rect">
            <a:avLst/>
          </a:prstGeom>
        </p:spPr>
      </p:pic>
      <p:sp>
        <p:nvSpPr>
          <p:cNvPr id="238" name="true label"/>
          <p:cNvSpPr txBox="1"/>
          <p:nvPr/>
        </p:nvSpPr>
        <p:spPr>
          <a:xfrm>
            <a:off x="10390519" y="8468266"/>
            <a:ext cx="107427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true label</a:t>
            </a:r>
          </a:p>
        </p:txBody>
      </p:sp>
      <p:pic>
        <p:nvPicPr>
          <p:cNvPr id="239" name="Line" descr="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17728647">
            <a:off x="10676644" y="7799254"/>
            <a:ext cx="1222284" cy="386778"/>
          </a:xfrm>
          <a:prstGeom prst="rect">
            <a:avLst/>
          </a:prstGeom>
        </p:spPr>
      </p:pic>
      <p:sp>
        <p:nvSpPr>
          <p:cNvPr id="241" name="perceptron parameter"/>
          <p:cNvSpPr txBox="1"/>
          <p:nvPr/>
        </p:nvSpPr>
        <p:spPr>
          <a:xfrm>
            <a:off x="3618274" y="8468266"/>
            <a:ext cx="174602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perceptron parameter</a:t>
            </a:r>
          </a:p>
        </p:txBody>
      </p:sp>
      <p:pic>
        <p:nvPicPr>
          <p:cNvPr id="242" name="Line" descr="Line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 rot="15553314">
            <a:off x="3675350" y="7734775"/>
            <a:ext cx="1174368" cy="386778"/>
          </a:xfrm>
          <a:prstGeom prst="rect">
            <a:avLst/>
          </a:prstGeom>
        </p:spPr>
      </p:pic>
      <p:sp>
        <p:nvSpPr>
          <p:cNvPr id="244" name="An Incremental Learning Strategy (gradient descent)"/>
          <p:cNvSpPr txBox="1"/>
          <p:nvPr/>
        </p:nvSpPr>
        <p:spPr>
          <a:xfrm>
            <a:off x="1585556" y="569015"/>
            <a:ext cx="9833688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100"/>
            </a:pPr>
            <a:r>
              <a:rPr kumimoji="0" sz="5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An Incremental Learning Strategy</a:t>
            </a:r>
            <a:br>
              <a:rPr kumimoji="0" sz="5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</a:b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(gradient descent)</a:t>
            </a:r>
          </a:p>
        </p:txBody>
      </p:sp>
      <p:sp>
        <p:nvSpPr>
          <p:cNvPr id="245" name="what does this mean?"/>
          <p:cNvSpPr txBox="1"/>
          <p:nvPr/>
        </p:nvSpPr>
        <p:spPr>
          <a:xfrm>
            <a:off x="8559968" y="8468266"/>
            <a:ext cx="174602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 b="1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what does this mean?</a:t>
            </a:r>
          </a:p>
        </p:txBody>
      </p:sp>
      <p:pic>
        <p:nvPicPr>
          <p:cNvPr id="246" name="Line" descr="Line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 rot="17334972">
            <a:off x="8971623" y="7711582"/>
            <a:ext cx="1128599" cy="386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836086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Loss Function…"/>
          <p:cNvSpPr txBox="1"/>
          <p:nvPr/>
        </p:nvSpPr>
        <p:spPr>
          <a:xfrm>
            <a:off x="1758444" y="2867245"/>
            <a:ext cx="9487912" cy="1739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rPr>
              <a:t>Loss Function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 </a:t>
            </a:r>
          </a:p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defines what is means to be </a:t>
            </a:r>
          </a:p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rPr>
              <a:t>close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 to the true solution</a:t>
            </a:r>
          </a:p>
        </p:txBody>
      </p:sp>
      <p:sp>
        <p:nvSpPr>
          <p:cNvPr id="252" name="YOU get to chose the loss function!…"/>
          <p:cNvSpPr txBox="1"/>
          <p:nvPr/>
        </p:nvSpPr>
        <p:spPr>
          <a:xfrm>
            <a:off x="1758444" y="5616351"/>
            <a:ext cx="9487912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</a:defRPr>
            </a:pPr>
            <a:r>
              <a:rPr kumimoji="0" sz="3600" b="1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rPr>
              <a:t> YOU get to chose the loss function!</a:t>
            </a:r>
          </a:p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(some are better than others depending on what you want to do)</a:t>
            </a:r>
          </a:p>
        </p:txBody>
      </p:sp>
      <p:sp>
        <p:nvSpPr>
          <p:cNvPr id="253" name="Before diving into gradient descent, we need to understand …"/>
          <p:cNvSpPr txBox="1"/>
          <p:nvPr/>
        </p:nvSpPr>
        <p:spPr>
          <a:xfrm>
            <a:off x="231554" y="251834"/>
            <a:ext cx="948791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2400"/>
            </a:lvl1pPr>
          </a:lstStyle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Before diving into gradient descent, we need to understand …</a:t>
            </a:r>
          </a:p>
        </p:txBody>
      </p:sp>
    </p:spTree>
    <p:extLst>
      <p:ext uri="{BB962C8B-B14F-4D97-AF65-F5344CB8AC3E}">
        <p14:creationId xmlns:p14="http://schemas.microsoft.com/office/powerpoint/2010/main" val="4036540998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quared Error (L2)…"/>
          <p:cNvSpPr txBox="1"/>
          <p:nvPr/>
        </p:nvSpPr>
        <p:spPr>
          <a:xfrm>
            <a:off x="3560088" y="987574"/>
            <a:ext cx="5884623" cy="1333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pPr>
            <a:r>
              <a:rPr kumimoji="0" sz="5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Squared Error (L2)</a:t>
            </a:r>
          </a:p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(a popular loss function)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 ((why?))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258" name="l2loss.pdf" descr="l2loss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17" y="3411704"/>
            <a:ext cx="7677646" cy="4954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050" y="3241194"/>
            <a:ext cx="228259" cy="41086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1949" y="8093263"/>
            <a:ext cx="1143760" cy="41086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880" y="5276441"/>
            <a:ext cx="3390901" cy="5207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79836127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L1.pdf" descr="L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710" y="2187450"/>
            <a:ext cx="3406338" cy="219803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L2.pdf" descr="L2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400" y="2187450"/>
            <a:ext cx="3406338" cy="219803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" name="hinge.pdf" descr="hinge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400" y="7104333"/>
            <a:ext cx="3406338" cy="219803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" name="zero-one.pdf" descr="zero-one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710" y="7104333"/>
            <a:ext cx="3406338" cy="2198037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L1 Loss"/>
          <p:cNvSpPr txBox="1"/>
          <p:nvPr/>
        </p:nvSpPr>
        <p:spPr>
          <a:xfrm>
            <a:off x="2227171" y="277385"/>
            <a:ext cx="171541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L1 Loss</a:t>
            </a:r>
          </a:p>
        </p:txBody>
      </p:sp>
      <p:sp>
        <p:nvSpPr>
          <p:cNvPr id="268" name="L2 Loss"/>
          <p:cNvSpPr txBox="1"/>
          <p:nvPr/>
        </p:nvSpPr>
        <p:spPr>
          <a:xfrm>
            <a:off x="9033861" y="277385"/>
            <a:ext cx="171541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L2 Loss</a:t>
            </a:r>
          </a:p>
        </p:txBody>
      </p:sp>
      <p:sp>
        <p:nvSpPr>
          <p:cNvPr id="269" name="Zero-One Loss"/>
          <p:cNvSpPr txBox="1"/>
          <p:nvPr/>
        </p:nvSpPr>
        <p:spPr>
          <a:xfrm>
            <a:off x="1507309" y="5461365"/>
            <a:ext cx="315513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Zero-One Loss</a:t>
            </a:r>
          </a:p>
        </p:txBody>
      </p:sp>
      <p:sp>
        <p:nvSpPr>
          <p:cNvPr id="270" name="Hinge Loss"/>
          <p:cNvSpPr txBox="1"/>
          <p:nvPr/>
        </p:nvSpPr>
        <p:spPr>
          <a:xfrm>
            <a:off x="8678388" y="5461365"/>
            <a:ext cx="242636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Hinge Loss</a:t>
            </a:r>
          </a:p>
        </p:txBody>
      </p:sp>
      <p:pic>
        <p:nvPicPr>
          <p:cNvPr id="271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9567" y="1203227"/>
            <a:ext cx="3073401" cy="469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2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9559" y="1177827"/>
            <a:ext cx="3390901" cy="520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3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0306" y="6343003"/>
            <a:ext cx="3390901" cy="469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6625" y="6281323"/>
            <a:ext cx="5016501" cy="4699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05468616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World’s Smallest Perceptron!"/>
          <p:cNvSpPr txBox="1"/>
          <p:nvPr/>
        </p:nvSpPr>
        <p:spPr>
          <a:xfrm>
            <a:off x="1212926" y="1964271"/>
            <a:ext cx="1085834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6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World’s Smallest Perceptron!</a:t>
            </a:r>
          </a:p>
        </p:txBody>
      </p:sp>
      <p:pic>
        <p:nvPicPr>
          <p:cNvPr id="27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900" y="6968304"/>
            <a:ext cx="1422400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back to the…"/>
          <p:cNvSpPr txBox="1"/>
          <p:nvPr/>
        </p:nvSpPr>
        <p:spPr>
          <a:xfrm>
            <a:off x="5072964" y="897960"/>
            <a:ext cx="285887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back to the…</a:t>
            </a:r>
          </a:p>
        </p:txBody>
      </p:sp>
      <p:sp>
        <p:nvSpPr>
          <p:cNvPr id="281" name="function of ONE parameter!"/>
          <p:cNvSpPr txBox="1"/>
          <p:nvPr/>
        </p:nvSpPr>
        <p:spPr>
          <a:xfrm>
            <a:off x="6924718" y="8610765"/>
            <a:ext cx="5755231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function of </a:t>
            </a:r>
            <a:r>
              <a:rPr kumimoji="0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rPr>
              <a:t>ONE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 parameter!</a:t>
            </a:r>
          </a:p>
        </p:txBody>
      </p:sp>
      <p:sp>
        <p:nvSpPr>
          <p:cNvPr id="282" name="(a.k.a. line equation, linear regression)"/>
          <p:cNvSpPr txBox="1"/>
          <p:nvPr/>
        </p:nvSpPr>
        <p:spPr>
          <a:xfrm>
            <a:off x="4415662" y="7409620"/>
            <a:ext cx="445287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(a.k.a. line equation, linear regression)</a:t>
            </a:r>
          </a:p>
        </p:txBody>
      </p:sp>
      <p:sp>
        <p:nvSpPr>
          <p:cNvPr id="283" name="Circle"/>
          <p:cNvSpPr/>
          <p:nvPr/>
        </p:nvSpPr>
        <p:spPr>
          <a:xfrm>
            <a:off x="7624155" y="4653103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84" name="Line"/>
          <p:cNvSpPr/>
          <p:nvPr/>
        </p:nvSpPr>
        <p:spPr>
          <a:xfrm>
            <a:off x="5642602" y="5018737"/>
            <a:ext cx="193574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285" name="Circle"/>
          <p:cNvSpPr/>
          <p:nvPr/>
        </p:nvSpPr>
        <p:spPr>
          <a:xfrm>
            <a:off x="4928777" y="4653103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28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9804" y="4866337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760" y="4910787"/>
            <a:ext cx="2413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350" y="4604946"/>
            <a:ext cx="317500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9139" y="4802837"/>
            <a:ext cx="241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Line"/>
          <p:cNvSpPr/>
          <p:nvPr/>
        </p:nvSpPr>
        <p:spPr>
          <a:xfrm>
            <a:off x="8401234" y="5018737"/>
            <a:ext cx="75666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031855527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iven a set of samples and a Perceptron"/>
          <p:cNvSpPr txBox="1"/>
          <p:nvPr/>
        </p:nvSpPr>
        <p:spPr>
          <a:xfrm>
            <a:off x="2273528" y="2808333"/>
            <a:ext cx="845774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Given a set of samples and a Perceptron</a:t>
            </a:r>
          </a:p>
        </p:txBody>
      </p:sp>
      <p:sp>
        <p:nvSpPr>
          <p:cNvPr id="293" name="Estimate the parameter of the Perceptron"/>
          <p:cNvSpPr txBox="1"/>
          <p:nvPr/>
        </p:nvSpPr>
        <p:spPr>
          <a:xfrm>
            <a:off x="2248153" y="6745044"/>
            <a:ext cx="850849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Estimate the parameter of the Perceptron</a:t>
            </a:r>
          </a:p>
        </p:txBody>
      </p:sp>
      <p:sp>
        <p:nvSpPr>
          <p:cNvPr id="294" name="Learning a Perceptron"/>
          <p:cNvSpPr txBox="1"/>
          <p:nvPr/>
        </p:nvSpPr>
        <p:spPr>
          <a:xfrm>
            <a:off x="3614557" y="1217378"/>
            <a:ext cx="5775686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Learning a Perceptron</a:t>
            </a:r>
          </a:p>
        </p:txBody>
      </p:sp>
      <p:pic>
        <p:nvPicPr>
          <p:cNvPr id="29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454" y="3788614"/>
            <a:ext cx="2030352" cy="6829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9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355" y="4750469"/>
            <a:ext cx="3714090" cy="621817"/>
          </a:xfrm>
          <a:prstGeom prst="rect">
            <a:avLst/>
          </a:prstGeom>
          <a:ln w="12700">
            <a:miter lim="400000"/>
          </a:ln>
        </p:spPr>
      </p:pic>
      <p:pic>
        <p:nvPicPr>
          <p:cNvPr id="297" name="Image" descr="Image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45182" y="8002852"/>
            <a:ext cx="596400" cy="405552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what is this activation function?"/>
          <p:cNvSpPr txBox="1"/>
          <p:nvPr/>
        </p:nvSpPr>
        <p:spPr>
          <a:xfrm>
            <a:off x="3970437" y="5651203"/>
            <a:ext cx="2835595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what is this activation function?</a:t>
            </a:r>
          </a:p>
        </p:txBody>
      </p:sp>
      <p:pic>
        <p:nvPicPr>
          <p:cNvPr id="300" name="Connection Line" descr="Connection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415049" y="5421911"/>
            <a:ext cx="433284" cy="59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398782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iven a set of samples and a Perceptron"/>
          <p:cNvSpPr txBox="1"/>
          <p:nvPr/>
        </p:nvSpPr>
        <p:spPr>
          <a:xfrm>
            <a:off x="2273528" y="2808333"/>
            <a:ext cx="845774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Given a set of samples and a Perceptron</a:t>
            </a:r>
          </a:p>
        </p:txBody>
      </p:sp>
      <p:sp>
        <p:nvSpPr>
          <p:cNvPr id="306" name="Estimate the parameter of the Perceptron"/>
          <p:cNvSpPr txBox="1"/>
          <p:nvPr/>
        </p:nvSpPr>
        <p:spPr>
          <a:xfrm>
            <a:off x="2248153" y="6745044"/>
            <a:ext cx="850849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Estimate the parameter of the Perceptron</a:t>
            </a:r>
          </a:p>
        </p:txBody>
      </p:sp>
      <p:sp>
        <p:nvSpPr>
          <p:cNvPr id="307" name="Learning a Perceptron"/>
          <p:cNvSpPr txBox="1"/>
          <p:nvPr/>
        </p:nvSpPr>
        <p:spPr>
          <a:xfrm>
            <a:off x="3614557" y="1217378"/>
            <a:ext cx="5775686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Learning a Perceptron</a:t>
            </a:r>
          </a:p>
        </p:txBody>
      </p:sp>
      <p:pic>
        <p:nvPicPr>
          <p:cNvPr id="30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454" y="3788614"/>
            <a:ext cx="2030352" cy="6829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0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355" y="4750469"/>
            <a:ext cx="3714090" cy="621817"/>
          </a:xfrm>
          <a:prstGeom prst="rect">
            <a:avLst/>
          </a:prstGeom>
          <a:ln w="12700">
            <a:miter lim="400000"/>
          </a:ln>
        </p:spPr>
      </p:pic>
      <p:pic>
        <p:nvPicPr>
          <p:cNvPr id="310" name="Image" descr="Image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45182" y="8002852"/>
            <a:ext cx="596400" cy="405552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what is this activation function?"/>
          <p:cNvSpPr txBox="1"/>
          <p:nvPr/>
        </p:nvSpPr>
        <p:spPr>
          <a:xfrm>
            <a:off x="3970437" y="5651203"/>
            <a:ext cx="2835595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1" u="none" strike="noStrike" kern="0" cap="none" spc="0" normalizeH="0" baseline="0" noProof="0">
                <a:ln>
                  <a:noFill/>
                </a:ln>
                <a:solidFill>
                  <a:srgbClr val="0365C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what is this activation function?</a:t>
            </a:r>
          </a:p>
        </p:txBody>
      </p:sp>
      <p:pic>
        <p:nvPicPr>
          <p:cNvPr id="315" name="Connection Line" descr="Connection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415049" y="5421911"/>
            <a:ext cx="433284" cy="594869"/>
          </a:xfrm>
          <a:prstGeom prst="rect">
            <a:avLst/>
          </a:prstGeom>
        </p:spPr>
      </p:pic>
      <p:pic>
        <p:nvPicPr>
          <p:cNvPr id="313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6712" y="5835353"/>
            <a:ext cx="2070101" cy="469901"/>
          </a:xfrm>
          <a:prstGeom prst="rect">
            <a:avLst/>
          </a:prstGeom>
          <a:ln w="12700">
            <a:miter lim="400000"/>
          </a:ln>
        </p:spPr>
      </p:pic>
      <p:sp>
        <p:nvSpPr>
          <p:cNvPr id="314" name="linear function!"/>
          <p:cNvSpPr txBox="1"/>
          <p:nvPr/>
        </p:nvSpPr>
        <p:spPr>
          <a:xfrm>
            <a:off x="7282669" y="5835353"/>
            <a:ext cx="213024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882B"/>
                </a:solidFill>
                <a:effectLst/>
                <a:uLnTx/>
                <a:uFillTx/>
                <a:latin typeface="Helvetica Light"/>
                <a:sym typeface="Helvetica Light"/>
              </a:rPr>
              <a:t>linear function!</a:t>
            </a:r>
          </a:p>
        </p:txBody>
      </p:sp>
    </p:spTree>
    <p:extLst>
      <p:ext uri="{BB962C8B-B14F-4D97-AF65-F5344CB8AC3E}">
        <p14:creationId xmlns:p14="http://schemas.microsoft.com/office/powerpoint/2010/main" val="987541508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Rounded Rectangle" descr="Rounded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1813" y="6366453"/>
            <a:ext cx="12121174" cy="1397001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321" name="Given several examples"/>
          <p:cNvSpPr txBox="1"/>
          <p:nvPr/>
        </p:nvSpPr>
        <p:spPr>
          <a:xfrm>
            <a:off x="4488916" y="2367095"/>
            <a:ext cx="402696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Given several examples </a:t>
            </a:r>
          </a:p>
        </p:txBody>
      </p:sp>
      <p:sp>
        <p:nvSpPr>
          <p:cNvPr id="322" name="Modify weight        such that"/>
          <p:cNvSpPr txBox="1"/>
          <p:nvPr/>
        </p:nvSpPr>
        <p:spPr>
          <a:xfrm>
            <a:off x="686800" y="6741103"/>
            <a:ext cx="598429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Modify weight        such that </a:t>
            </a:r>
          </a:p>
        </p:txBody>
      </p:sp>
      <p:pic>
        <p:nvPicPr>
          <p:cNvPr id="32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452" y="3097081"/>
            <a:ext cx="7967896" cy="599213"/>
          </a:xfrm>
          <a:prstGeom prst="rect">
            <a:avLst/>
          </a:prstGeom>
          <a:ln w="12700">
            <a:miter lim="400000"/>
          </a:ln>
        </p:spPr>
      </p:pic>
      <p:pic>
        <p:nvPicPr>
          <p:cNvPr id="324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272" y="4848840"/>
            <a:ext cx="2198256" cy="647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5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249" y="6766149"/>
            <a:ext cx="367532" cy="673808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8178" y="6819932"/>
            <a:ext cx="367532" cy="490043"/>
          </a:xfrm>
          <a:prstGeom prst="rect">
            <a:avLst/>
          </a:prstGeom>
          <a:ln w="12700">
            <a:miter lim="400000"/>
          </a:ln>
        </p:spPr>
      </p:pic>
      <p:sp>
        <p:nvSpPr>
          <p:cNvPr id="327" name="gets ‘closer’ to"/>
          <p:cNvSpPr txBox="1"/>
          <p:nvPr/>
        </p:nvSpPr>
        <p:spPr>
          <a:xfrm>
            <a:off x="7792407" y="6741096"/>
            <a:ext cx="3359144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gets </a:t>
            </a:r>
            <a:r>
              <a:rPr kumimoji="0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rPr>
              <a:t>‘closer’ 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to </a:t>
            </a:r>
          </a:p>
        </p:txBody>
      </p:sp>
      <p:sp>
        <p:nvSpPr>
          <p:cNvPr id="328" name="Learning Strategy (gradient descent)"/>
          <p:cNvSpPr txBox="1"/>
          <p:nvPr/>
        </p:nvSpPr>
        <p:spPr>
          <a:xfrm>
            <a:off x="3865784" y="569015"/>
            <a:ext cx="5273232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100"/>
            </a:pPr>
            <a:r>
              <a:rPr kumimoji="0" sz="5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Learning Strategy</a:t>
            </a:r>
            <a:br>
              <a:rPr kumimoji="0" sz="5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</a:b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(gradient descent)</a:t>
            </a:r>
          </a:p>
        </p:txBody>
      </p:sp>
      <p:pic>
        <p:nvPicPr>
          <p:cNvPr id="329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9765" y="6916912"/>
            <a:ext cx="464185" cy="315646"/>
          </a:xfrm>
          <a:prstGeom prst="rect">
            <a:avLst/>
          </a:prstGeom>
          <a:ln w="12700">
            <a:miter lim="400000"/>
          </a:ln>
        </p:spPr>
      </p:pic>
      <p:sp>
        <p:nvSpPr>
          <p:cNvPr id="330" name="and a perceptron"/>
          <p:cNvSpPr txBox="1"/>
          <p:nvPr/>
        </p:nvSpPr>
        <p:spPr>
          <a:xfrm>
            <a:off x="5068189" y="4247034"/>
            <a:ext cx="286842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and a perceptron</a:t>
            </a:r>
          </a:p>
        </p:txBody>
      </p:sp>
      <p:sp>
        <p:nvSpPr>
          <p:cNvPr id="331" name="perceptron output"/>
          <p:cNvSpPr txBox="1"/>
          <p:nvPr/>
        </p:nvSpPr>
        <p:spPr>
          <a:xfrm>
            <a:off x="6729417" y="8468266"/>
            <a:ext cx="174602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perceptron output</a:t>
            </a:r>
          </a:p>
        </p:txBody>
      </p:sp>
      <p:pic>
        <p:nvPicPr>
          <p:cNvPr id="332" name="Line" descr="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15594029">
            <a:off x="6835388" y="7734457"/>
            <a:ext cx="1040427" cy="386778"/>
          </a:xfrm>
          <a:prstGeom prst="rect">
            <a:avLst/>
          </a:prstGeom>
        </p:spPr>
      </p:pic>
      <p:sp>
        <p:nvSpPr>
          <p:cNvPr id="334" name="true label"/>
          <p:cNvSpPr txBox="1"/>
          <p:nvPr/>
        </p:nvSpPr>
        <p:spPr>
          <a:xfrm>
            <a:off x="10390519" y="8468266"/>
            <a:ext cx="107427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true label</a:t>
            </a:r>
          </a:p>
        </p:txBody>
      </p:sp>
      <p:pic>
        <p:nvPicPr>
          <p:cNvPr id="335" name="Line" descr="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17728647">
            <a:off x="10676644" y="7799254"/>
            <a:ext cx="1222284" cy="386778"/>
          </a:xfrm>
          <a:prstGeom prst="rect">
            <a:avLst/>
          </a:prstGeom>
        </p:spPr>
      </p:pic>
      <p:sp>
        <p:nvSpPr>
          <p:cNvPr id="337" name="perceptron parameter"/>
          <p:cNvSpPr txBox="1"/>
          <p:nvPr/>
        </p:nvSpPr>
        <p:spPr>
          <a:xfrm>
            <a:off x="3618274" y="8468266"/>
            <a:ext cx="174602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perceptron parameter</a:t>
            </a:r>
          </a:p>
        </p:txBody>
      </p:sp>
      <p:pic>
        <p:nvPicPr>
          <p:cNvPr id="338" name="Line" descr="Line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 rot="15553314">
            <a:off x="3675350" y="7734775"/>
            <a:ext cx="1174368" cy="38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690554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Let’s demystify this process first…"/>
          <p:cNvSpPr txBox="1"/>
          <p:nvPr/>
        </p:nvSpPr>
        <p:spPr>
          <a:xfrm>
            <a:off x="265566" y="306916"/>
            <a:ext cx="474390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Let’s demystify this process first…</a:t>
            </a:r>
          </a:p>
        </p:txBody>
      </p:sp>
      <p:sp>
        <p:nvSpPr>
          <p:cNvPr id="344" name="Code to train your perceptron:"/>
          <p:cNvSpPr txBox="1"/>
          <p:nvPr/>
        </p:nvSpPr>
        <p:spPr>
          <a:xfrm>
            <a:off x="1749761" y="2820581"/>
            <a:ext cx="950527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Code to train your perceptron:</a:t>
            </a:r>
          </a:p>
        </p:txBody>
      </p:sp>
    </p:spTree>
    <p:extLst>
      <p:ext uri="{BB962C8B-B14F-4D97-AF65-F5344CB8AC3E}">
        <p14:creationId xmlns:p14="http://schemas.microsoft.com/office/powerpoint/2010/main" val="3904280656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Let’s demystify this process first…"/>
          <p:cNvSpPr txBox="1"/>
          <p:nvPr/>
        </p:nvSpPr>
        <p:spPr>
          <a:xfrm>
            <a:off x="265566" y="306916"/>
            <a:ext cx="474390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Let’s demystify this process first…</a:t>
            </a:r>
          </a:p>
        </p:txBody>
      </p:sp>
      <p:sp>
        <p:nvSpPr>
          <p:cNvPr id="356" name="Code to train your perceptron:"/>
          <p:cNvSpPr txBox="1"/>
          <p:nvPr/>
        </p:nvSpPr>
        <p:spPr>
          <a:xfrm>
            <a:off x="1749761" y="2820581"/>
            <a:ext cx="950527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Code to train your perceptron:</a:t>
            </a:r>
          </a:p>
        </p:txBody>
      </p:sp>
      <p:sp>
        <p:nvSpPr>
          <p:cNvPr id="357" name="just one line of code!"/>
          <p:cNvSpPr txBox="1"/>
          <p:nvPr/>
        </p:nvSpPr>
        <p:spPr>
          <a:xfrm>
            <a:off x="5022138" y="5586605"/>
            <a:ext cx="2960524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882B">
                    <a:hueOff val="-554920"/>
                    <a:satOff val="-21482"/>
                    <a:lumOff val="-6228"/>
                  </a:srgbClr>
                </a:solidFill>
                <a:effectLst/>
                <a:uLnTx/>
                <a:uFillTx/>
                <a:latin typeface="Helvetica Light"/>
                <a:sym typeface="Helvetica Light"/>
              </a:rPr>
              <a:t>just one line of code!</a:t>
            </a:r>
          </a:p>
        </p:txBody>
      </p:sp>
      <p:sp>
        <p:nvSpPr>
          <p:cNvPr id="358" name="Now where does this come from?"/>
          <p:cNvSpPr txBox="1"/>
          <p:nvPr/>
        </p:nvSpPr>
        <p:spPr>
          <a:xfrm>
            <a:off x="8155513" y="9034146"/>
            <a:ext cx="4642715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Now where does this come from?</a:t>
            </a:r>
          </a:p>
        </p:txBody>
      </p:sp>
      <p:pic>
        <p:nvPicPr>
          <p:cNvPr id="35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450" y="3975100"/>
            <a:ext cx="4533900" cy="1143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41437285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K-nearest neighb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Gradient descent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3244223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(partial) derivatives tell us how much one variable affects another"/>
          <p:cNvSpPr txBox="1"/>
          <p:nvPr/>
        </p:nvSpPr>
        <p:spPr>
          <a:xfrm>
            <a:off x="2623350" y="4279896"/>
            <a:ext cx="7758100" cy="1193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rPr>
              <a:t>(partial) derivatives</a:t>
            </a: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 tell us how much one variable affects another</a:t>
            </a:r>
          </a:p>
        </p:txBody>
      </p:sp>
    </p:spTree>
    <p:extLst>
      <p:ext uri="{BB962C8B-B14F-4D97-AF65-F5344CB8AC3E}">
        <p14:creationId xmlns:p14="http://schemas.microsoft.com/office/powerpoint/2010/main" val="2646681649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lope of a function"/>
          <p:cNvSpPr txBox="1"/>
          <p:nvPr/>
        </p:nvSpPr>
        <p:spPr>
          <a:xfrm>
            <a:off x="1669493" y="6961620"/>
            <a:ext cx="392643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Slope of a function</a:t>
            </a:r>
          </a:p>
        </p:txBody>
      </p:sp>
      <p:sp>
        <p:nvSpPr>
          <p:cNvPr id="126" name="Knobs on a machine"/>
          <p:cNvSpPr txBox="1"/>
          <p:nvPr/>
        </p:nvSpPr>
        <p:spPr>
          <a:xfrm>
            <a:off x="7770738" y="6961620"/>
            <a:ext cx="433288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Knobs on a machine</a:t>
            </a:r>
          </a:p>
        </p:txBody>
      </p:sp>
      <p:pic>
        <p:nvPicPr>
          <p:cNvPr id="12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640" y="2161689"/>
            <a:ext cx="4448075" cy="4641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10" y="2908300"/>
            <a:ext cx="6350001" cy="393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Two ways to think about them:"/>
          <p:cNvSpPr txBox="1"/>
          <p:nvPr/>
        </p:nvSpPr>
        <p:spPr>
          <a:xfrm>
            <a:off x="3506837" y="890883"/>
            <a:ext cx="625083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Two ways to think about them:</a:t>
            </a:r>
          </a:p>
        </p:txBody>
      </p:sp>
    </p:spTree>
    <p:extLst>
      <p:ext uri="{BB962C8B-B14F-4D97-AF65-F5344CB8AC3E}">
        <p14:creationId xmlns:p14="http://schemas.microsoft.com/office/powerpoint/2010/main" val="3953024227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Image" descr="Image"/>
          <p:cNvPicPr>
            <a:picLocks noChangeAspect="1"/>
          </p:cNvPicPr>
          <p:nvPr/>
        </p:nvPicPr>
        <p:blipFill>
          <a:blip r:embed="rId3"/>
          <a:srcRect r="1987" b="2579"/>
          <a:stretch>
            <a:fillRect/>
          </a:stretch>
        </p:blipFill>
        <p:spPr>
          <a:xfrm>
            <a:off x="2062133" y="1370806"/>
            <a:ext cx="8880720" cy="60176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529" y="7956039"/>
            <a:ext cx="5041901" cy="1104901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describes the slope around a point"/>
          <p:cNvSpPr txBox="1"/>
          <p:nvPr/>
        </p:nvSpPr>
        <p:spPr>
          <a:xfrm>
            <a:off x="6486783" y="7911589"/>
            <a:ext cx="5982043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describes the slope around a point</a:t>
            </a:r>
          </a:p>
        </p:txBody>
      </p:sp>
      <p:sp>
        <p:nvSpPr>
          <p:cNvPr id="134" name="Diamond"/>
          <p:cNvSpPr/>
          <p:nvPr/>
        </p:nvSpPr>
        <p:spPr>
          <a:xfrm rot="1071456">
            <a:off x="7730202" y="3501187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gradFill>
            <a:gsLst>
              <a:gs pos="0">
                <a:srgbClr val="FBFBFB">
                  <a:alpha val="92889"/>
                </a:srgbClr>
              </a:gs>
              <a:gs pos="100000">
                <a:srgbClr val="53585F">
                  <a:alpha val="92889"/>
                </a:srgbClr>
              </a:gs>
            </a:gsLst>
            <a:lin ang="17900182"/>
          </a:gradFill>
          <a:ln w="12700">
            <a:miter lim="400000"/>
          </a:ln>
          <a:effectLst>
            <a:outerShdw blurRad="190500" dist="12700" dir="1771350" rotWithShape="0">
              <a:srgbClr val="000000"/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5" name="Circle"/>
          <p:cNvSpPr/>
          <p:nvPr/>
        </p:nvSpPr>
        <p:spPr>
          <a:xfrm>
            <a:off x="8279617" y="4050602"/>
            <a:ext cx="171171" cy="17117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6" name="Line"/>
          <p:cNvSpPr/>
          <p:nvPr/>
        </p:nvSpPr>
        <p:spPr>
          <a:xfrm flipH="1" flipV="1">
            <a:off x="8247347" y="3810813"/>
            <a:ext cx="109593" cy="325647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7" name="Line"/>
          <p:cNvSpPr/>
          <p:nvPr/>
        </p:nvSpPr>
        <p:spPr>
          <a:xfrm flipV="1">
            <a:off x="8362074" y="3966650"/>
            <a:ext cx="306942" cy="169538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38" name="1. Slope of a function:"/>
          <p:cNvSpPr txBox="1"/>
          <p:nvPr/>
        </p:nvSpPr>
        <p:spPr>
          <a:xfrm>
            <a:off x="446451" y="363468"/>
            <a:ext cx="456194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1. Slope of a function:</a:t>
            </a:r>
          </a:p>
        </p:txBody>
      </p:sp>
    </p:spTree>
    <p:extLst>
      <p:ext uri="{BB962C8B-B14F-4D97-AF65-F5344CB8AC3E}">
        <p14:creationId xmlns:p14="http://schemas.microsoft.com/office/powerpoint/2010/main" val="2837652778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474" y="2015313"/>
            <a:ext cx="7983666" cy="3204872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describes how each ‘knob’ affects the output"/>
          <p:cNvSpPr txBox="1"/>
          <p:nvPr/>
        </p:nvSpPr>
        <p:spPr>
          <a:xfrm>
            <a:off x="134700" y="5715473"/>
            <a:ext cx="3899010" cy="139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2800"/>
            </a:lvl1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describes how each ‘knob’ affects the output</a:t>
            </a:r>
          </a:p>
        </p:txBody>
      </p:sp>
      <p:sp>
        <p:nvSpPr>
          <p:cNvPr id="144" name="input"/>
          <p:cNvSpPr txBox="1"/>
          <p:nvPr/>
        </p:nvSpPr>
        <p:spPr>
          <a:xfrm>
            <a:off x="552889" y="2812306"/>
            <a:ext cx="113065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input</a:t>
            </a:r>
          </a:p>
        </p:txBody>
      </p:sp>
      <p:pic>
        <p:nvPicPr>
          <p:cNvPr id="14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66" y="3484425"/>
            <a:ext cx="2667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Arrow"/>
          <p:cNvSpPr/>
          <p:nvPr/>
        </p:nvSpPr>
        <p:spPr>
          <a:xfrm>
            <a:off x="1826957" y="3191368"/>
            <a:ext cx="514496" cy="480871"/>
          </a:xfrm>
          <a:prstGeom prst="rightArrow">
            <a:avLst>
              <a:gd name="adj1" fmla="val 64382"/>
              <a:gd name="adj2" fmla="val 59857"/>
            </a:avLst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47" name="output"/>
          <p:cNvSpPr txBox="1"/>
          <p:nvPr/>
        </p:nvSpPr>
        <p:spPr>
          <a:xfrm>
            <a:off x="11404852" y="2839503"/>
            <a:ext cx="141046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output</a:t>
            </a:r>
          </a:p>
        </p:txBody>
      </p:sp>
      <p:pic>
        <p:nvPicPr>
          <p:cNvPr id="14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3483" y="3554203"/>
            <a:ext cx="1473201" cy="469901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Arrow"/>
          <p:cNvSpPr/>
          <p:nvPr/>
        </p:nvSpPr>
        <p:spPr>
          <a:xfrm>
            <a:off x="10738748" y="3191368"/>
            <a:ext cx="514496" cy="480871"/>
          </a:xfrm>
          <a:prstGeom prst="rightArrow">
            <a:avLst>
              <a:gd name="adj1" fmla="val 64382"/>
              <a:gd name="adj2" fmla="val 59857"/>
            </a:avLst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50" name="2. Knobs on a machine:"/>
          <p:cNvSpPr txBox="1"/>
          <p:nvPr/>
        </p:nvSpPr>
        <p:spPr>
          <a:xfrm>
            <a:off x="332551" y="330097"/>
            <a:ext cx="496839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2. Knobs on a machine:</a:t>
            </a:r>
          </a:p>
        </p:txBody>
      </p:sp>
      <p:pic>
        <p:nvPicPr>
          <p:cNvPr id="151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320" y="5893273"/>
            <a:ext cx="1168401" cy="1041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793" y="5893273"/>
            <a:ext cx="1168401" cy="1041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2068" y="5890857"/>
            <a:ext cx="1168401" cy="1054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" name="Image" descr="Image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698165" y="5022613"/>
            <a:ext cx="795657" cy="7956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Image" descr="Image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345692" y="5022613"/>
            <a:ext cx="795657" cy="7956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Image" descr="Image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993219" y="5022613"/>
            <a:ext cx="795657" cy="7956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6194" y="8160207"/>
            <a:ext cx="850901" cy="419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7868" y="7849057"/>
            <a:ext cx="1168401" cy="1041401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output will change by"/>
          <p:cNvSpPr txBox="1"/>
          <p:nvPr/>
        </p:nvSpPr>
        <p:spPr>
          <a:xfrm>
            <a:off x="6910765" y="8134807"/>
            <a:ext cx="3027885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output will change by</a:t>
            </a:r>
          </a:p>
        </p:txBody>
      </p:sp>
      <p:pic>
        <p:nvPicPr>
          <p:cNvPr id="160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46259" y="8160207"/>
            <a:ext cx="850901" cy="419101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small change in parameter"/>
          <p:cNvSpPr txBox="1"/>
          <p:nvPr/>
        </p:nvSpPr>
        <p:spPr>
          <a:xfrm>
            <a:off x="607640" y="8134807"/>
            <a:ext cx="375605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small change in parameter</a:t>
            </a:r>
          </a:p>
        </p:txBody>
      </p:sp>
      <p:sp>
        <p:nvSpPr>
          <p:cNvPr id="162" name="Arrow"/>
          <p:cNvSpPr/>
          <p:nvPr/>
        </p:nvSpPr>
        <p:spPr>
          <a:xfrm>
            <a:off x="5751102" y="8129323"/>
            <a:ext cx="795657" cy="480870"/>
          </a:xfrm>
          <a:prstGeom prst="rightArrow">
            <a:avLst>
              <a:gd name="adj1" fmla="val 64382"/>
              <a:gd name="adj2" fmla="val 59857"/>
            </a:avLst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800017678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"/>
          <p:cNvGrpSpPr/>
          <p:nvPr/>
        </p:nvGrpSpPr>
        <p:grpSpPr>
          <a:xfrm>
            <a:off x="-1430474" y="259336"/>
            <a:ext cx="12300770" cy="11143589"/>
            <a:chOff x="0" y="0"/>
            <a:chExt cx="12300768" cy="11143588"/>
          </a:xfrm>
        </p:grpSpPr>
        <p:pic>
          <p:nvPicPr>
            <p:cNvPr id="164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3048" y="0"/>
              <a:ext cx="10709368" cy="97579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5" name="Rectangle"/>
            <p:cNvSpPr/>
            <p:nvPr/>
          </p:nvSpPr>
          <p:spPr>
            <a:xfrm>
              <a:off x="765920" y="1199808"/>
              <a:ext cx="1638281" cy="712469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FFFFFF"/>
                  </a:solidFill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166" name="Rectangle"/>
            <p:cNvSpPr/>
            <p:nvPr/>
          </p:nvSpPr>
          <p:spPr>
            <a:xfrm rot="17805386">
              <a:off x="2758046" y="5290689"/>
              <a:ext cx="1538282" cy="712469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FFFFFF"/>
                  </a:solidFill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167" name="Rectangle"/>
            <p:cNvSpPr/>
            <p:nvPr/>
          </p:nvSpPr>
          <p:spPr>
            <a:xfrm rot="14623735">
              <a:off x="7839764" y="4977550"/>
              <a:ext cx="1538283" cy="74749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FFFFFF"/>
                  </a:solidFill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</p:grpSp>
      <p:sp>
        <p:nvSpPr>
          <p:cNvPr id="169" name="Given a…"/>
          <p:cNvSpPr txBox="1"/>
          <p:nvPr/>
        </p:nvSpPr>
        <p:spPr>
          <a:xfrm>
            <a:off x="6907665" y="7250493"/>
            <a:ext cx="5781780" cy="228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Given a </a:t>
            </a:r>
          </a:p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fixed-point on a function, </a:t>
            </a:r>
          </a:p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move in the direction opposite of the gradient</a:t>
            </a:r>
          </a:p>
        </p:txBody>
      </p:sp>
      <p:sp>
        <p:nvSpPr>
          <p:cNvPr id="170" name="Gradient descent:"/>
          <p:cNvSpPr txBox="1"/>
          <p:nvPr/>
        </p:nvSpPr>
        <p:spPr>
          <a:xfrm>
            <a:off x="364394" y="345016"/>
            <a:ext cx="924154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/>
          </a:lstStyle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Gradient descent:</a:t>
            </a:r>
          </a:p>
        </p:txBody>
      </p:sp>
      <p:sp>
        <p:nvSpPr>
          <p:cNvPr id="171" name="Line"/>
          <p:cNvSpPr/>
          <p:nvPr/>
        </p:nvSpPr>
        <p:spPr>
          <a:xfrm flipH="1">
            <a:off x="5530365" y="2116972"/>
            <a:ext cx="371854" cy="721693"/>
          </a:xfrm>
          <a:prstGeom prst="line">
            <a:avLst/>
          </a:prstGeom>
          <a:ln w="63500">
            <a:solidFill>
              <a:srgbClr val="FFFB00"/>
            </a:solidFill>
            <a:miter lim="400000"/>
            <a:tailEnd type="stealth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2" name="Line"/>
          <p:cNvSpPr/>
          <p:nvPr/>
        </p:nvSpPr>
        <p:spPr>
          <a:xfrm flipH="1">
            <a:off x="5493336" y="6941221"/>
            <a:ext cx="376343" cy="153081"/>
          </a:xfrm>
          <a:prstGeom prst="line">
            <a:avLst/>
          </a:prstGeom>
          <a:ln w="63500">
            <a:solidFill>
              <a:srgbClr val="FFFB00"/>
            </a:solidFill>
            <a:miter lim="400000"/>
            <a:tailEnd type="stealth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3" name="Line"/>
          <p:cNvSpPr/>
          <p:nvPr/>
        </p:nvSpPr>
        <p:spPr>
          <a:xfrm flipH="1">
            <a:off x="5144675" y="2957212"/>
            <a:ext cx="319014" cy="887422"/>
          </a:xfrm>
          <a:prstGeom prst="line">
            <a:avLst/>
          </a:prstGeom>
          <a:ln w="63500">
            <a:solidFill>
              <a:srgbClr val="FFFB00"/>
            </a:solidFill>
            <a:miter lim="400000"/>
            <a:tailEnd type="stealth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4" name="Line"/>
          <p:cNvSpPr/>
          <p:nvPr/>
        </p:nvSpPr>
        <p:spPr>
          <a:xfrm flipH="1">
            <a:off x="5054583" y="7112459"/>
            <a:ext cx="380286" cy="53657"/>
          </a:xfrm>
          <a:prstGeom prst="line">
            <a:avLst/>
          </a:prstGeom>
          <a:ln w="63500">
            <a:solidFill>
              <a:srgbClr val="FFFB00"/>
            </a:solidFill>
            <a:miter lim="400000"/>
            <a:tailEnd type="stealth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5" name="Line"/>
          <p:cNvSpPr/>
          <p:nvPr/>
        </p:nvSpPr>
        <p:spPr>
          <a:xfrm flipH="1">
            <a:off x="4665413" y="3987361"/>
            <a:ext cx="420191" cy="761351"/>
          </a:xfrm>
          <a:prstGeom prst="line">
            <a:avLst/>
          </a:prstGeom>
          <a:ln w="63500">
            <a:solidFill>
              <a:srgbClr val="FFFB00"/>
            </a:solidFill>
            <a:miter lim="400000"/>
            <a:tailEnd type="stealth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76" name="Line"/>
          <p:cNvSpPr/>
          <p:nvPr/>
        </p:nvSpPr>
        <p:spPr>
          <a:xfrm flipH="1">
            <a:off x="4615006" y="7150559"/>
            <a:ext cx="380286" cy="18839"/>
          </a:xfrm>
          <a:prstGeom prst="line">
            <a:avLst/>
          </a:prstGeom>
          <a:ln w="63500">
            <a:solidFill>
              <a:srgbClr val="FFFB00"/>
            </a:solidFill>
            <a:miter lim="400000"/>
            <a:tailEnd type="stealth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762061610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"/>
          <p:cNvGrpSpPr/>
          <p:nvPr/>
        </p:nvGrpSpPr>
        <p:grpSpPr>
          <a:xfrm>
            <a:off x="-1430474" y="259336"/>
            <a:ext cx="12300770" cy="11143589"/>
            <a:chOff x="0" y="0"/>
            <a:chExt cx="12300768" cy="11143588"/>
          </a:xfrm>
        </p:grpSpPr>
        <p:pic>
          <p:nvPicPr>
            <p:cNvPr id="178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3048" y="0"/>
              <a:ext cx="10709368" cy="97579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9" name="Rectangle"/>
            <p:cNvSpPr/>
            <p:nvPr/>
          </p:nvSpPr>
          <p:spPr>
            <a:xfrm>
              <a:off x="765920" y="1199808"/>
              <a:ext cx="1638281" cy="712469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FFFFFF"/>
                  </a:solidFill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180" name="Rectangle"/>
            <p:cNvSpPr/>
            <p:nvPr/>
          </p:nvSpPr>
          <p:spPr>
            <a:xfrm rot="17805386">
              <a:off x="2758046" y="5290689"/>
              <a:ext cx="1538282" cy="712469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FFFFFF"/>
                  </a:solidFill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  <p:sp>
          <p:nvSpPr>
            <p:cNvPr id="181" name="Rectangle"/>
            <p:cNvSpPr/>
            <p:nvPr/>
          </p:nvSpPr>
          <p:spPr>
            <a:xfrm rot="14623735">
              <a:off x="7839764" y="4977550"/>
              <a:ext cx="1538283" cy="74749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FFFFFF"/>
                  </a:solidFill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Light"/>
                <a:sym typeface="Helvetica Light"/>
              </a:endParaRPr>
            </a:p>
          </p:txBody>
        </p:sp>
      </p:grpSp>
      <p:sp>
        <p:nvSpPr>
          <p:cNvPr id="183" name="Gradient descent:"/>
          <p:cNvSpPr txBox="1"/>
          <p:nvPr/>
        </p:nvSpPr>
        <p:spPr>
          <a:xfrm>
            <a:off x="364394" y="345016"/>
            <a:ext cx="924154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/>
          </a:lstStyle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Gradient descent:</a:t>
            </a:r>
          </a:p>
        </p:txBody>
      </p:sp>
      <p:sp>
        <p:nvSpPr>
          <p:cNvPr id="184" name="Line"/>
          <p:cNvSpPr/>
          <p:nvPr/>
        </p:nvSpPr>
        <p:spPr>
          <a:xfrm flipH="1">
            <a:off x="5530365" y="2116972"/>
            <a:ext cx="371854" cy="721693"/>
          </a:xfrm>
          <a:prstGeom prst="line">
            <a:avLst/>
          </a:prstGeom>
          <a:ln w="63500">
            <a:solidFill>
              <a:srgbClr val="FFFB00"/>
            </a:solidFill>
            <a:miter lim="400000"/>
            <a:tailEnd type="stealth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5" name="Line"/>
          <p:cNvSpPr/>
          <p:nvPr/>
        </p:nvSpPr>
        <p:spPr>
          <a:xfrm flipH="1">
            <a:off x="5493336" y="6941221"/>
            <a:ext cx="376343" cy="153081"/>
          </a:xfrm>
          <a:prstGeom prst="line">
            <a:avLst/>
          </a:prstGeom>
          <a:ln w="63500">
            <a:solidFill>
              <a:srgbClr val="FFFB00"/>
            </a:solidFill>
            <a:miter lim="400000"/>
            <a:tailEnd type="stealth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6" name="Line"/>
          <p:cNvSpPr/>
          <p:nvPr/>
        </p:nvSpPr>
        <p:spPr>
          <a:xfrm flipH="1">
            <a:off x="5144675" y="2957212"/>
            <a:ext cx="319014" cy="887422"/>
          </a:xfrm>
          <a:prstGeom prst="line">
            <a:avLst/>
          </a:prstGeom>
          <a:ln w="63500">
            <a:solidFill>
              <a:srgbClr val="FFFB00"/>
            </a:solidFill>
            <a:miter lim="400000"/>
            <a:tailEnd type="stealth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7" name="Line"/>
          <p:cNvSpPr/>
          <p:nvPr/>
        </p:nvSpPr>
        <p:spPr>
          <a:xfrm flipH="1">
            <a:off x="5054583" y="7112459"/>
            <a:ext cx="380286" cy="53657"/>
          </a:xfrm>
          <a:prstGeom prst="line">
            <a:avLst/>
          </a:prstGeom>
          <a:ln w="63500">
            <a:solidFill>
              <a:srgbClr val="FFFB00"/>
            </a:solidFill>
            <a:miter lim="400000"/>
            <a:tailEnd type="stealth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8" name="Line"/>
          <p:cNvSpPr/>
          <p:nvPr/>
        </p:nvSpPr>
        <p:spPr>
          <a:xfrm flipH="1">
            <a:off x="4665413" y="3987361"/>
            <a:ext cx="420191" cy="761351"/>
          </a:xfrm>
          <a:prstGeom prst="line">
            <a:avLst/>
          </a:prstGeom>
          <a:ln w="63500">
            <a:solidFill>
              <a:srgbClr val="FFFB00"/>
            </a:solidFill>
            <a:miter lim="400000"/>
            <a:tailEnd type="stealth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89" name="Line"/>
          <p:cNvSpPr/>
          <p:nvPr/>
        </p:nvSpPr>
        <p:spPr>
          <a:xfrm flipH="1">
            <a:off x="4615006" y="7150559"/>
            <a:ext cx="380286" cy="18839"/>
          </a:xfrm>
          <a:prstGeom prst="line">
            <a:avLst/>
          </a:prstGeom>
          <a:ln w="63500">
            <a:solidFill>
              <a:srgbClr val="FFFB00"/>
            </a:solidFill>
            <a:miter lim="400000"/>
            <a:tailEnd type="stealth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190" name="Image" descr="Image"/>
          <p:cNvPicPr>
            <a:picLocks noChangeAspect="1"/>
          </p:cNvPicPr>
          <p:nvPr/>
        </p:nvPicPr>
        <p:blipFill>
          <a:blip r:embed="rId3"/>
          <a:srcRect r="22668" b="62333"/>
          <a:stretch>
            <a:fillRect/>
          </a:stretch>
        </p:blipFill>
        <p:spPr>
          <a:xfrm>
            <a:off x="8443156" y="8270947"/>
            <a:ext cx="3857463" cy="605640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update rule:"/>
          <p:cNvSpPr txBox="1"/>
          <p:nvPr/>
        </p:nvSpPr>
        <p:spPr>
          <a:xfrm>
            <a:off x="9087125" y="7157215"/>
            <a:ext cx="284836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/>
          </a:lstStyle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sym typeface="Helvetica Light"/>
              </a:rPr>
              <a:t>update rule:</a:t>
            </a:r>
          </a:p>
        </p:txBody>
      </p:sp>
      <p:pic>
        <p:nvPicPr>
          <p:cNvPr id="19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484" y="2477339"/>
            <a:ext cx="1625982" cy="812992"/>
          </a:xfrm>
          <a:prstGeom prst="rect">
            <a:avLst/>
          </a:prstGeom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19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934" y="2295114"/>
            <a:ext cx="960947" cy="540534"/>
          </a:xfrm>
          <a:prstGeom prst="rect">
            <a:avLst/>
          </a:prstGeom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194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461" y="2813975"/>
            <a:ext cx="960947" cy="540533"/>
          </a:xfrm>
          <a:prstGeom prst="rect">
            <a:avLst/>
          </a:prstGeom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195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0591" y="3828708"/>
            <a:ext cx="1077742" cy="606230"/>
          </a:xfrm>
          <a:prstGeom prst="rect">
            <a:avLst/>
          </a:prstGeom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196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2231" y="1272569"/>
            <a:ext cx="807510" cy="605632"/>
          </a:xfrm>
          <a:prstGeom prst="rect">
            <a:avLst/>
          </a:prstGeom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197" name="Rectangle"/>
          <p:cNvSpPr/>
          <p:nvPr/>
        </p:nvSpPr>
        <p:spPr>
          <a:xfrm>
            <a:off x="8113208" y="7938762"/>
            <a:ext cx="4355268" cy="1270001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985530966"/>
      </p:ext>
    </p:extLst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K-nearest neighb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Backpropagation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8890885"/>
      </p:ext>
    </p:extLst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World’s Smallest Perceptron!"/>
          <p:cNvSpPr txBox="1"/>
          <p:nvPr/>
        </p:nvSpPr>
        <p:spPr>
          <a:xfrm>
            <a:off x="1212926" y="1964271"/>
            <a:ext cx="1085834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600"/>
            </a:lvl1pPr>
          </a:lstStyle>
          <a:p>
            <a:r>
              <a:t>World’s Smallest Perceptron!</a:t>
            </a:r>
          </a:p>
        </p:txBody>
      </p:sp>
      <p:pic>
        <p:nvPicPr>
          <p:cNvPr id="12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900" y="6968304"/>
            <a:ext cx="1422400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back to the…"/>
          <p:cNvSpPr txBox="1"/>
          <p:nvPr/>
        </p:nvSpPr>
        <p:spPr>
          <a:xfrm>
            <a:off x="5072964" y="897960"/>
            <a:ext cx="285887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back to the…</a:t>
            </a:r>
          </a:p>
        </p:txBody>
      </p:sp>
      <p:sp>
        <p:nvSpPr>
          <p:cNvPr id="126" name="function of ONE parameter!"/>
          <p:cNvSpPr txBox="1"/>
          <p:nvPr/>
        </p:nvSpPr>
        <p:spPr>
          <a:xfrm>
            <a:off x="6924718" y="8610765"/>
            <a:ext cx="5755231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function of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ONE</a:t>
            </a:r>
            <a:r>
              <a:t> parameter!</a:t>
            </a:r>
          </a:p>
        </p:txBody>
      </p:sp>
      <p:sp>
        <p:nvSpPr>
          <p:cNvPr id="127" name="(a.k.a. line equation, linear regression)"/>
          <p:cNvSpPr txBox="1"/>
          <p:nvPr/>
        </p:nvSpPr>
        <p:spPr>
          <a:xfrm>
            <a:off x="4415662" y="7409620"/>
            <a:ext cx="445287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r>
              <a:t>(a.k.a. line equation, linear regression)</a:t>
            </a:r>
          </a:p>
        </p:txBody>
      </p:sp>
      <p:sp>
        <p:nvSpPr>
          <p:cNvPr id="128" name="Circle"/>
          <p:cNvSpPr/>
          <p:nvPr/>
        </p:nvSpPr>
        <p:spPr>
          <a:xfrm>
            <a:off x="7624155" y="4653103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29" name="Line"/>
          <p:cNvSpPr/>
          <p:nvPr/>
        </p:nvSpPr>
        <p:spPr>
          <a:xfrm>
            <a:off x="5642602" y="5018737"/>
            <a:ext cx="193574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30" name="Circle"/>
          <p:cNvSpPr/>
          <p:nvPr/>
        </p:nvSpPr>
        <p:spPr>
          <a:xfrm>
            <a:off x="4928777" y="4653103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3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9804" y="4866337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760" y="4910787"/>
            <a:ext cx="2413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350" y="4604946"/>
            <a:ext cx="317500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9139" y="4802837"/>
            <a:ext cx="241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Line"/>
          <p:cNvSpPr/>
          <p:nvPr/>
        </p:nvSpPr>
        <p:spPr>
          <a:xfrm>
            <a:off x="8401234" y="5018737"/>
            <a:ext cx="75666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664823"/>
      </p:ext>
    </p:extLst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raining the world’s smallest perceptron"/>
          <p:cNvSpPr txBox="1"/>
          <p:nvPr/>
        </p:nvSpPr>
        <p:spPr>
          <a:xfrm>
            <a:off x="1749761" y="2820581"/>
            <a:ext cx="950527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Training the world’s smallest perceptron</a:t>
            </a:r>
          </a:p>
        </p:txBody>
      </p:sp>
      <p:sp>
        <p:nvSpPr>
          <p:cNvPr id="138" name="this should be the gradient of the loss function"/>
          <p:cNvSpPr txBox="1"/>
          <p:nvPr/>
        </p:nvSpPr>
        <p:spPr>
          <a:xfrm>
            <a:off x="8742255" y="6230205"/>
            <a:ext cx="3469231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r>
              <a:t>this should be the gradient of the loss function</a:t>
            </a:r>
          </a:p>
        </p:txBody>
      </p:sp>
      <p:sp>
        <p:nvSpPr>
          <p:cNvPr id="139" name="Now where does this come from?"/>
          <p:cNvSpPr txBox="1"/>
          <p:nvPr/>
        </p:nvSpPr>
        <p:spPr>
          <a:xfrm>
            <a:off x="8155513" y="9034146"/>
            <a:ext cx="4642715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Now where does this come from?</a:t>
            </a:r>
          </a:p>
        </p:txBody>
      </p:sp>
      <p:pic>
        <p:nvPicPr>
          <p:cNvPr id="14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793" y="4028437"/>
            <a:ext cx="5685214" cy="14332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Connection Line" descr="Connection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154592" y="5752170"/>
            <a:ext cx="890881" cy="971932"/>
          </a:xfrm>
          <a:prstGeom prst="rect">
            <a:avLst/>
          </a:prstGeom>
        </p:spPr>
      </p:pic>
      <p:pic>
        <p:nvPicPr>
          <p:cNvPr id="146" name="Connection Line" descr="Connection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752073" y="5592366"/>
            <a:ext cx="2703097" cy="76826"/>
          </a:xfrm>
          <a:prstGeom prst="rect">
            <a:avLst/>
          </a:prstGeom>
        </p:spPr>
      </p:pic>
      <p:sp>
        <p:nvSpPr>
          <p:cNvPr id="143" name="This is just gradient descent, that means…"/>
          <p:cNvSpPr txBox="1"/>
          <p:nvPr/>
        </p:nvSpPr>
        <p:spPr>
          <a:xfrm>
            <a:off x="8742255" y="3794565"/>
            <a:ext cx="3469231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r>
              <a:t>This is just gradient descent, that means…</a:t>
            </a:r>
          </a:p>
        </p:txBody>
      </p:sp>
    </p:spTree>
    <p:extLst>
      <p:ext uri="{BB962C8B-B14F-4D97-AF65-F5344CB8AC3E}">
        <p14:creationId xmlns:p14="http://schemas.microsoft.com/office/powerpoint/2010/main" val="336912865"/>
      </p:ext>
    </p:extLst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04" y="1938977"/>
            <a:ext cx="732198" cy="1193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684" y="3470852"/>
            <a:ext cx="2806701" cy="939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1604" y="7515567"/>
            <a:ext cx="1877752" cy="402376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…is the rate at which this will change…"/>
          <p:cNvSpPr txBox="1"/>
          <p:nvPr/>
        </p:nvSpPr>
        <p:spPr>
          <a:xfrm>
            <a:off x="1812812" y="2229705"/>
            <a:ext cx="8245069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…is the rate at which </a:t>
            </a:r>
            <a:r>
              <a:rPr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rPr>
              <a:t>this</a:t>
            </a:r>
            <a:r>
              <a:t> will change…</a:t>
            </a:r>
          </a:p>
        </p:txBody>
      </p:sp>
      <p:sp>
        <p:nvSpPr>
          <p:cNvPr id="155" name="… per unit change of this"/>
          <p:cNvSpPr txBox="1"/>
          <p:nvPr/>
        </p:nvSpPr>
        <p:spPr>
          <a:xfrm>
            <a:off x="7119846" y="5843803"/>
            <a:ext cx="5374311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… per unit change of </a:t>
            </a:r>
            <a:r>
              <a:rPr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rPr>
              <a:t>this</a:t>
            </a:r>
          </a:p>
        </p:txBody>
      </p:sp>
      <p:pic>
        <p:nvPicPr>
          <p:cNvPr id="162" name="Connection Line" descr="Connection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702765" y="2833828"/>
            <a:ext cx="758166" cy="1336069"/>
          </a:xfrm>
          <a:prstGeom prst="rect">
            <a:avLst/>
          </a:prstGeom>
        </p:spPr>
      </p:pic>
      <p:pic>
        <p:nvPicPr>
          <p:cNvPr id="164" name="Connection Line" descr="Connection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1278403" y="6477870"/>
            <a:ext cx="621939" cy="954514"/>
          </a:xfrm>
          <a:prstGeom prst="rect">
            <a:avLst/>
          </a:prstGeom>
        </p:spPr>
      </p:pic>
      <p:sp>
        <p:nvSpPr>
          <p:cNvPr id="158" name="the loss function"/>
          <p:cNvSpPr txBox="1"/>
          <p:nvPr/>
        </p:nvSpPr>
        <p:spPr>
          <a:xfrm>
            <a:off x="4097070" y="4482096"/>
            <a:ext cx="1963929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r>
              <a:t>the loss function</a:t>
            </a:r>
          </a:p>
        </p:txBody>
      </p:sp>
      <p:sp>
        <p:nvSpPr>
          <p:cNvPr id="159" name="the weight parameter"/>
          <p:cNvSpPr txBox="1"/>
          <p:nvPr/>
        </p:nvSpPr>
        <p:spPr>
          <a:xfrm>
            <a:off x="9913417" y="8070599"/>
            <a:ext cx="25280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r>
              <a:t>the weight parameter</a:t>
            </a:r>
          </a:p>
        </p:txBody>
      </p:sp>
      <p:pic>
        <p:nvPicPr>
          <p:cNvPr id="160" name="Oval" descr="Oval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633633">
            <a:off x="10881812" y="7317096"/>
            <a:ext cx="669582" cy="729505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161" name="Let’s compute the derivative…"/>
          <p:cNvSpPr txBox="1"/>
          <p:nvPr/>
        </p:nvSpPr>
        <p:spPr>
          <a:xfrm>
            <a:off x="8547422" y="9152938"/>
            <a:ext cx="4241903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Let’s compute the derivative…</a:t>
            </a:r>
          </a:p>
        </p:txBody>
      </p:sp>
    </p:spTree>
    <p:extLst>
      <p:ext uri="{BB962C8B-B14F-4D97-AF65-F5344CB8AC3E}">
        <p14:creationId xmlns:p14="http://schemas.microsoft.com/office/powerpoint/2010/main" val="2309453728"/>
      </p:ext>
    </p:extLst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ompute the derivative"/>
          <p:cNvSpPr txBox="1"/>
          <p:nvPr/>
        </p:nvSpPr>
        <p:spPr>
          <a:xfrm>
            <a:off x="469765" y="687159"/>
            <a:ext cx="486552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Compute the derivative</a:t>
            </a:r>
          </a:p>
        </p:txBody>
      </p:sp>
      <p:sp>
        <p:nvSpPr>
          <p:cNvPr id="168" name="That means the weight update for gradient descent is:"/>
          <p:cNvSpPr txBox="1"/>
          <p:nvPr/>
        </p:nvSpPr>
        <p:spPr>
          <a:xfrm>
            <a:off x="481514" y="6225317"/>
            <a:ext cx="11345398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That means the weight update for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gradient descent</a:t>
            </a:r>
            <a:r>
              <a:t> is:</a:t>
            </a:r>
          </a:p>
        </p:txBody>
      </p:sp>
      <p:pic>
        <p:nvPicPr>
          <p:cNvPr id="16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639" y="1824791"/>
            <a:ext cx="5857522" cy="3720098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just shorthand"/>
          <p:cNvSpPr txBox="1"/>
          <p:nvPr/>
        </p:nvSpPr>
        <p:spPr>
          <a:xfrm>
            <a:off x="9704012" y="5036234"/>
            <a:ext cx="172821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r>
              <a:t>just shorthand</a:t>
            </a:r>
          </a:p>
        </p:txBody>
      </p:sp>
      <p:pic>
        <p:nvPicPr>
          <p:cNvPr id="171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591" y="7522343"/>
            <a:ext cx="4161618" cy="1341475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move in direction of negative gradient"/>
          <p:cNvSpPr txBox="1"/>
          <p:nvPr/>
        </p:nvSpPr>
        <p:spPr>
          <a:xfrm>
            <a:off x="7833036" y="7553452"/>
            <a:ext cx="4401059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r>
              <a:t>move in direction of negative gradient</a:t>
            </a:r>
          </a:p>
        </p:txBody>
      </p:sp>
    </p:spTree>
    <p:extLst>
      <p:ext uri="{BB962C8B-B14F-4D97-AF65-F5344CB8AC3E}">
        <p14:creationId xmlns:p14="http://schemas.microsoft.com/office/powerpoint/2010/main" val="201711857"/>
      </p:ext>
    </p:extLst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radient Descent (world’s smallest perceptron)…"/>
          <p:cNvSpPr txBox="1"/>
          <p:nvPr/>
        </p:nvSpPr>
        <p:spPr>
          <a:xfrm>
            <a:off x="350165" y="815018"/>
            <a:ext cx="12304470" cy="798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1100"/>
              </a:spcBef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Gradient Descent </a:t>
            </a:r>
            <a:r>
              <a:rPr sz="3200" b="0"/>
              <a:t>(world’s smallest perceptron)</a:t>
            </a:r>
          </a:p>
          <a:p>
            <a:pPr algn="l">
              <a:lnSpc>
                <a:spcPct val="150000"/>
              </a:lnSpc>
              <a:spcBef>
                <a:spcPts val="11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each sample</a:t>
            </a:r>
          </a:p>
          <a:p>
            <a:pPr marL="1270000" lvl="1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rabi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Predict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Forward pass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Compute Loss</a:t>
            </a:r>
          </a:p>
          <a:p>
            <a:pPr marL="1270000" lvl="1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rabi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Update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Back Propagation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Gradient update</a:t>
            </a:r>
          </a:p>
        </p:txBody>
      </p:sp>
      <p:pic>
        <p:nvPicPr>
          <p:cNvPr id="17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782" y="2489116"/>
            <a:ext cx="1547948" cy="520674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176" y="4357663"/>
            <a:ext cx="1562101" cy="419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3176" y="6890744"/>
            <a:ext cx="4978401" cy="95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3176" y="5028034"/>
            <a:ext cx="3086101" cy="939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3176" y="8049580"/>
            <a:ext cx="2527301" cy="3302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95006716"/>
      </p:ext>
    </p:extLst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raining the world’s smallest perceptron"/>
          <p:cNvSpPr txBox="1"/>
          <p:nvPr/>
        </p:nvSpPr>
        <p:spPr>
          <a:xfrm>
            <a:off x="1749761" y="2820581"/>
            <a:ext cx="950527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Training the world’s smallest perceptron</a:t>
            </a:r>
          </a:p>
        </p:txBody>
      </p:sp>
      <p:pic>
        <p:nvPicPr>
          <p:cNvPr id="18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793" y="4028437"/>
            <a:ext cx="5685214" cy="143324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06528773"/>
      </p:ext>
    </p:extLst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ircle"/>
          <p:cNvSpPr/>
          <p:nvPr/>
        </p:nvSpPr>
        <p:spPr>
          <a:xfrm>
            <a:off x="7396657" y="4653103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89" name="Line"/>
          <p:cNvSpPr/>
          <p:nvPr/>
        </p:nvSpPr>
        <p:spPr>
          <a:xfrm>
            <a:off x="5642602" y="5018737"/>
            <a:ext cx="171959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90" name="Circle"/>
          <p:cNvSpPr/>
          <p:nvPr/>
        </p:nvSpPr>
        <p:spPr>
          <a:xfrm>
            <a:off x="4928777" y="4653103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9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990" y="4866337"/>
            <a:ext cx="2286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world’s (second) smallest perceptron!"/>
          <p:cNvSpPr txBox="1"/>
          <p:nvPr/>
        </p:nvSpPr>
        <p:spPr>
          <a:xfrm>
            <a:off x="1890799" y="1449762"/>
            <a:ext cx="9502601" cy="2133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6600"/>
            </a:pPr>
            <a:r>
              <a:rPr dirty="0"/>
              <a:t>world’s (second) smallest </a:t>
            </a:r>
            <a:endParaRPr lang="en-US" dirty="0"/>
          </a:p>
          <a:p>
            <a:pPr>
              <a:defRPr sz="6600"/>
            </a:pPr>
            <a:r>
              <a:rPr b="1" dirty="0">
                <a:latin typeface="Helvetica"/>
                <a:ea typeface="Helvetica"/>
                <a:cs typeface="Helvetica"/>
                <a:sym typeface="Helvetica"/>
              </a:rPr>
              <a:t>perceptron</a:t>
            </a:r>
            <a:r>
              <a:rPr dirty="0"/>
              <a:t>!</a:t>
            </a:r>
          </a:p>
        </p:txBody>
      </p:sp>
      <p:sp>
        <p:nvSpPr>
          <p:cNvPr id="193" name="Line"/>
          <p:cNvSpPr/>
          <p:nvPr/>
        </p:nvSpPr>
        <p:spPr>
          <a:xfrm flipV="1">
            <a:off x="5665174" y="5235671"/>
            <a:ext cx="1678489" cy="72460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94" name="Circle"/>
          <p:cNvSpPr/>
          <p:nvPr/>
        </p:nvSpPr>
        <p:spPr>
          <a:xfrm>
            <a:off x="4951349" y="5594644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95" name="function of two parameters!"/>
          <p:cNvSpPr txBox="1"/>
          <p:nvPr/>
        </p:nvSpPr>
        <p:spPr>
          <a:xfrm>
            <a:off x="6912216" y="8610765"/>
            <a:ext cx="5780234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function of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two</a:t>
            </a:r>
            <a:r>
              <a:t> parameters!</a:t>
            </a:r>
          </a:p>
        </p:txBody>
      </p:sp>
      <p:pic>
        <p:nvPicPr>
          <p:cNvPr id="19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400" y="4530047"/>
            <a:ext cx="4699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768674"/>
            <a:ext cx="482600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860" y="4879037"/>
            <a:ext cx="4191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1082" y="5820578"/>
            <a:ext cx="431801" cy="2794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17040613"/>
      </p:ext>
    </p:extLst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radient Descent…"/>
          <p:cNvSpPr txBox="1"/>
          <p:nvPr/>
        </p:nvSpPr>
        <p:spPr>
          <a:xfrm>
            <a:off x="350165" y="815018"/>
            <a:ext cx="12304470" cy="798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1100"/>
              </a:spcBef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Gradient Descent</a:t>
            </a:r>
          </a:p>
          <a:p>
            <a:pPr algn="l">
              <a:lnSpc>
                <a:spcPct val="150000"/>
              </a:lnSpc>
              <a:spcBef>
                <a:spcPts val="11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each sample</a:t>
            </a:r>
          </a:p>
          <a:p>
            <a:pPr marL="1270000" lvl="1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rabi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Predict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Forward pass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Compute Loss</a:t>
            </a:r>
          </a:p>
          <a:p>
            <a:pPr marL="1270000" lvl="1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rabi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Update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Back Propagation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Gradient update</a:t>
            </a:r>
          </a:p>
        </p:txBody>
      </p:sp>
      <p:pic>
        <p:nvPicPr>
          <p:cNvPr id="20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782" y="2263488"/>
            <a:ext cx="1547948" cy="520674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we just need to compute partial derivatives for this network"/>
          <p:cNvSpPr txBox="1"/>
          <p:nvPr/>
        </p:nvSpPr>
        <p:spPr>
          <a:xfrm>
            <a:off x="7299761" y="4859502"/>
            <a:ext cx="4568859" cy="1115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r>
              <a:t>we just need to compute partial derivatives for this network</a:t>
            </a:r>
          </a:p>
        </p:txBody>
      </p:sp>
      <p:pic>
        <p:nvPicPr>
          <p:cNvPr id="206" name="Connection Line" descr="Connection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71458" y="5703082"/>
            <a:ext cx="3064586" cy="1044430"/>
          </a:xfrm>
          <a:prstGeom prst="rect">
            <a:avLst/>
          </a:prstGeom>
        </p:spPr>
      </p:pic>
      <p:pic>
        <p:nvPicPr>
          <p:cNvPr id="205" name="Oval" descr="Oval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089">
            <a:off x="454442" y="5789779"/>
            <a:ext cx="5773523" cy="1132331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4369147"/>
      </p:ext>
    </p:extLst>
  </p:cSld>
  <p:clrMapOvr>
    <a:masterClrMapping/>
  </p:clrMapOvr>
  <p:transition spd="med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"/>
          <p:cNvSpPr/>
          <p:nvPr/>
        </p:nvSpPr>
        <p:spPr>
          <a:xfrm>
            <a:off x="7728298" y="6011129"/>
            <a:ext cx="4594987" cy="725771"/>
          </a:xfrm>
          <a:prstGeom prst="rect">
            <a:avLst/>
          </a:prstGeom>
          <a:solidFill>
            <a:schemeClr val="accent3">
              <a:satOff val="18648"/>
              <a:lumOff val="5971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2" name="Rectangle"/>
          <p:cNvSpPr/>
          <p:nvPr/>
        </p:nvSpPr>
        <p:spPr>
          <a:xfrm>
            <a:off x="1484420" y="6011129"/>
            <a:ext cx="4459724" cy="725771"/>
          </a:xfrm>
          <a:prstGeom prst="rect">
            <a:avLst/>
          </a:prstGeom>
          <a:solidFill>
            <a:schemeClr val="accent3">
              <a:satOff val="18648"/>
              <a:lumOff val="5971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3" name="Back-Propagation"/>
          <p:cNvSpPr txBox="1"/>
          <p:nvPr/>
        </p:nvSpPr>
        <p:spPr>
          <a:xfrm>
            <a:off x="3899128" y="185894"/>
            <a:ext cx="5206555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dirty="0"/>
              <a:t>Derivative computation</a:t>
            </a:r>
            <a:endParaRPr dirty="0"/>
          </a:p>
        </p:txBody>
      </p:sp>
      <p:pic>
        <p:nvPicPr>
          <p:cNvPr id="21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15" y="1228074"/>
            <a:ext cx="5219701" cy="538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214" y="1228074"/>
            <a:ext cx="5219701" cy="5384801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Why do we have partial derivatives now?"/>
          <p:cNvSpPr txBox="1"/>
          <p:nvPr/>
        </p:nvSpPr>
        <p:spPr>
          <a:xfrm>
            <a:off x="2600384" y="7510910"/>
            <a:ext cx="843076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Why do we have partial derivatives now?</a:t>
            </a:r>
          </a:p>
        </p:txBody>
      </p:sp>
    </p:spTree>
    <p:extLst>
      <p:ext uri="{BB962C8B-B14F-4D97-AF65-F5344CB8AC3E}">
        <p14:creationId xmlns:p14="http://schemas.microsoft.com/office/powerpoint/2010/main" val="540863420"/>
      </p:ext>
    </p:extLst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"/>
          <p:cNvSpPr/>
          <p:nvPr/>
        </p:nvSpPr>
        <p:spPr>
          <a:xfrm>
            <a:off x="7728298" y="6011129"/>
            <a:ext cx="4594987" cy="725771"/>
          </a:xfrm>
          <a:prstGeom prst="rect">
            <a:avLst/>
          </a:prstGeom>
          <a:solidFill>
            <a:schemeClr val="accent3">
              <a:satOff val="18648"/>
              <a:lumOff val="5971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1" name="Rectangle"/>
          <p:cNvSpPr/>
          <p:nvPr/>
        </p:nvSpPr>
        <p:spPr>
          <a:xfrm>
            <a:off x="1484420" y="6011129"/>
            <a:ext cx="4459724" cy="725771"/>
          </a:xfrm>
          <a:prstGeom prst="rect">
            <a:avLst/>
          </a:prstGeom>
          <a:solidFill>
            <a:schemeClr val="accent3">
              <a:satOff val="18648"/>
              <a:lumOff val="5971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2" name="Back-Propagation"/>
          <p:cNvSpPr txBox="1"/>
          <p:nvPr/>
        </p:nvSpPr>
        <p:spPr>
          <a:xfrm>
            <a:off x="3899128" y="185894"/>
            <a:ext cx="5206555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dirty="0"/>
              <a:t>Derivative computation</a:t>
            </a:r>
            <a:endParaRPr dirty="0"/>
          </a:p>
        </p:txBody>
      </p:sp>
      <p:pic>
        <p:nvPicPr>
          <p:cNvPr id="22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15" y="1228074"/>
            <a:ext cx="5219701" cy="538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214" y="1228074"/>
            <a:ext cx="5219701" cy="5384801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Rectangle"/>
          <p:cNvSpPr/>
          <p:nvPr/>
        </p:nvSpPr>
        <p:spPr>
          <a:xfrm>
            <a:off x="8515018" y="8504664"/>
            <a:ext cx="3873178" cy="647701"/>
          </a:xfrm>
          <a:prstGeom prst="rect">
            <a:avLst/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6" name="Rectangle"/>
          <p:cNvSpPr/>
          <p:nvPr/>
        </p:nvSpPr>
        <p:spPr>
          <a:xfrm>
            <a:off x="2037338" y="8504664"/>
            <a:ext cx="3873178" cy="647701"/>
          </a:xfrm>
          <a:prstGeom prst="rect">
            <a:avLst/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2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492" y="7941019"/>
            <a:ext cx="4267201" cy="111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335" y="7941019"/>
            <a:ext cx="4279901" cy="1117601"/>
          </a:xfrm>
          <a:prstGeom prst="rect">
            <a:avLst/>
          </a:prstGeom>
          <a:ln w="12700">
            <a:miter lim="400000"/>
          </a:ln>
        </p:spPr>
      </p:pic>
      <p:sp>
        <p:nvSpPr>
          <p:cNvPr id="229" name="Gradient Update"/>
          <p:cNvSpPr txBox="1"/>
          <p:nvPr/>
        </p:nvSpPr>
        <p:spPr>
          <a:xfrm>
            <a:off x="4828833" y="7222219"/>
            <a:ext cx="367077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Gradient Update</a:t>
            </a:r>
          </a:p>
        </p:txBody>
      </p:sp>
    </p:spTree>
    <p:extLst>
      <p:ext uri="{BB962C8B-B14F-4D97-AF65-F5344CB8AC3E}">
        <p14:creationId xmlns:p14="http://schemas.microsoft.com/office/powerpoint/2010/main" val="2212390601"/>
      </p:ext>
    </p:extLst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"/>
          <p:cNvSpPr/>
          <p:nvPr/>
        </p:nvSpPr>
        <p:spPr>
          <a:xfrm>
            <a:off x="8420701" y="7730755"/>
            <a:ext cx="3714997" cy="1151380"/>
          </a:xfrm>
          <a:prstGeom prst="rect">
            <a:avLst/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4" name="Rectangle"/>
          <p:cNvSpPr/>
          <p:nvPr/>
        </p:nvSpPr>
        <p:spPr>
          <a:xfrm>
            <a:off x="8420701" y="6581092"/>
            <a:ext cx="3173348" cy="1030552"/>
          </a:xfrm>
          <a:prstGeom prst="rect">
            <a:avLst/>
          </a:prstGeom>
          <a:solidFill>
            <a:schemeClr val="accent3">
              <a:satOff val="18648"/>
              <a:lumOff val="5971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5" name="Gradient Descent…"/>
          <p:cNvSpPr txBox="1"/>
          <p:nvPr/>
        </p:nvSpPr>
        <p:spPr>
          <a:xfrm>
            <a:off x="1409417" y="1196018"/>
            <a:ext cx="10963404" cy="798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1100"/>
              </a:spcBef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Gradient Descent</a:t>
            </a:r>
          </a:p>
          <a:p>
            <a:pPr algn="l">
              <a:lnSpc>
                <a:spcPct val="150000"/>
              </a:lnSpc>
              <a:spcBef>
                <a:spcPts val="11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each sample</a:t>
            </a:r>
          </a:p>
          <a:p>
            <a:pPr marL="1270000" lvl="1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rabi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Predict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Forward pass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Compute Loss</a:t>
            </a:r>
          </a:p>
          <a:p>
            <a:pPr marL="1270000" lvl="1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rabi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Update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Back Propagation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Gradient update</a:t>
            </a:r>
          </a:p>
        </p:txBody>
      </p:sp>
      <p:pic>
        <p:nvPicPr>
          <p:cNvPr id="23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618" y="2656358"/>
            <a:ext cx="1547947" cy="5206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162" y="5301751"/>
            <a:ext cx="2239485" cy="726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905" y="4514298"/>
            <a:ext cx="2408478" cy="385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4461" y="7880194"/>
            <a:ext cx="3447477" cy="852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7349" y="6691930"/>
            <a:ext cx="2853285" cy="808876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(adjustable step size)"/>
          <p:cNvSpPr txBox="1"/>
          <p:nvPr/>
        </p:nvSpPr>
        <p:spPr>
          <a:xfrm>
            <a:off x="5598039" y="8933059"/>
            <a:ext cx="285328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r>
              <a:rPr dirty="0"/>
              <a:t>(adjustable step size)</a:t>
            </a:r>
          </a:p>
        </p:txBody>
      </p:sp>
      <p:pic>
        <p:nvPicPr>
          <p:cNvPr id="246" name="Connection Line" descr="Connection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976843" y="9018654"/>
            <a:ext cx="2114549" cy="664070"/>
          </a:xfrm>
          <a:prstGeom prst="rect">
            <a:avLst/>
          </a:prstGeom>
        </p:spPr>
      </p:pic>
      <p:sp>
        <p:nvSpPr>
          <p:cNvPr id="244" name="two BP lines now"/>
          <p:cNvSpPr txBox="1"/>
          <p:nvPr/>
        </p:nvSpPr>
        <p:spPr>
          <a:xfrm>
            <a:off x="8887632" y="6150582"/>
            <a:ext cx="223948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r>
              <a:rPr dirty="0"/>
              <a:t>two lines now</a:t>
            </a:r>
          </a:p>
        </p:txBody>
      </p:sp>
      <p:sp>
        <p:nvSpPr>
          <p:cNvPr id="245" name="(side computation to track loss. not needed for backprop)"/>
          <p:cNvSpPr txBox="1"/>
          <p:nvPr/>
        </p:nvSpPr>
        <p:spPr>
          <a:xfrm>
            <a:off x="9902341" y="5398476"/>
            <a:ext cx="2853284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4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r>
              <a:t>(side computation to track loss. not needed for backprop)</a:t>
            </a:r>
          </a:p>
        </p:txBody>
      </p:sp>
    </p:spTree>
    <p:extLst>
      <p:ext uri="{BB962C8B-B14F-4D97-AF65-F5344CB8AC3E}">
        <p14:creationId xmlns:p14="http://schemas.microsoft.com/office/powerpoint/2010/main" val="2142153734"/>
      </p:ext>
    </p:extLst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We haven’t seen a lot of ‘propagation’ yet because our perceptrons only had one layer…"/>
          <p:cNvSpPr txBox="1"/>
          <p:nvPr/>
        </p:nvSpPr>
        <p:spPr>
          <a:xfrm>
            <a:off x="1868118" y="4271507"/>
            <a:ext cx="9268563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/>
              <a:t>We haven’t seen a lot of ‘propagation’ yet </a:t>
            </a:r>
            <a:endParaRPr lang="en-US" dirty="0"/>
          </a:p>
          <a:p>
            <a:r>
              <a:rPr dirty="0"/>
              <a:t>because our </a:t>
            </a:r>
            <a:r>
              <a:rPr dirty="0" err="1"/>
              <a:t>perceptrons</a:t>
            </a:r>
            <a:r>
              <a:rPr dirty="0"/>
              <a:t> only had </a:t>
            </a:r>
            <a:r>
              <a:rPr u="sng" dirty="0"/>
              <a:t>one</a:t>
            </a:r>
            <a:r>
              <a:rPr dirty="0"/>
              <a:t> layer…</a:t>
            </a:r>
          </a:p>
        </p:txBody>
      </p:sp>
    </p:spTree>
    <p:extLst>
      <p:ext uri="{BB962C8B-B14F-4D97-AF65-F5344CB8AC3E}">
        <p14:creationId xmlns:p14="http://schemas.microsoft.com/office/powerpoint/2010/main" val="1780314768"/>
      </p:ext>
    </p:extLst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Circle"/>
          <p:cNvSpPr/>
          <p:nvPr/>
        </p:nvSpPr>
        <p:spPr>
          <a:xfrm>
            <a:off x="8796512" y="4670832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54" name="Line"/>
          <p:cNvSpPr/>
          <p:nvPr/>
        </p:nvSpPr>
        <p:spPr>
          <a:xfrm>
            <a:off x="1983778" y="5036466"/>
            <a:ext cx="171959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55" name="Circle"/>
          <p:cNvSpPr/>
          <p:nvPr/>
        </p:nvSpPr>
        <p:spPr>
          <a:xfrm>
            <a:off x="1269953" y="4670832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56" name="multi-layer perceptron"/>
          <p:cNvSpPr txBox="1"/>
          <p:nvPr/>
        </p:nvSpPr>
        <p:spPr>
          <a:xfrm>
            <a:off x="2160047" y="1964271"/>
            <a:ext cx="8964106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 b="0">
                <a:latin typeface="+mn-lt"/>
                <a:ea typeface="+mn-ea"/>
                <a:cs typeface="+mn-cs"/>
                <a:sym typeface="Helvetica Light"/>
              </a:defRPr>
            </a:pPr>
            <a:r>
              <a:rPr b="1">
                <a:latin typeface="Helvetica"/>
                <a:ea typeface="Helvetica"/>
                <a:cs typeface="Helvetica"/>
                <a:sym typeface="Helvetica"/>
              </a:rPr>
              <a:t>multi-layer perceptron</a:t>
            </a:r>
          </a:p>
        </p:txBody>
      </p:sp>
      <p:pic>
        <p:nvPicPr>
          <p:cNvPr id="25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936" y="4928516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Circle"/>
          <p:cNvSpPr/>
          <p:nvPr/>
        </p:nvSpPr>
        <p:spPr>
          <a:xfrm>
            <a:off x="3737833" y="4670832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59" name="function of FOUR parameters and FOUR layers!"/>
          <p:cNvSpPr txBox="1"/>
          <p:nvPr/>
        </p:nvSpPr>
        <p:spPr>
          <a:xfrm>
            <a:off x="392378" y="7285084"/>
            <a:ext cx="12220045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function of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FOUR</a:t>
            </a:r>
            <a:r>
              <a:t> parameters and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FOUR</a:t>
            </a:r>
            <a:r>
              <a:t> layers!</a:t>
            </a:r>
          </a:p>
        </p:txBody>
      </p:sp>
      <p:sp>
        <p:nvSpPr>
          <p:cNvPr id="260" name="Line"/>
          <p:cNvSpPr/>
          <p:nvPr/>
        </p:nvSpPr>
        <p:spPr>
          <a:xfrm>
            <a:off x="4503559" y="5053215"/>
            <a:ext cx="171959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26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473" y="4382696"/>
            <a:ext cx="4699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609" y="4382696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Line"/>
          <p:cNvSpPr/>
          <p:nvPr/>
        </p:nvSpPr>
        <p:spPr>
          <a:xfrm flipV="1">
            <a:off x="2016689" y="5306311"/>
            <a:ext cx="1714533" cy="6287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264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725" y="5808490"/>
            <a:ext cx="177801" cy="330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9386" y="5814840"/>
            <a:ext cx="152401" cy="317501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Circle"/>
          <p:cNvSpPr/>
          <p:nvPr/>
        </p:nvSpPr>
        <p:spPr>
          <a:xfrm>
            <a:off x="6277833" y="4670832"/>
            <a:ext cx="731268" cy="7312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67" name="Line"/>
          <p:cNvSpPr/>
          <p:nvPr/>
        </p:nvSpPr>
        <p:spPr>
          <a:xfrm>
            <a:off x="7043559" y="5053215"/>
            <a:ext cx="171959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268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976" y="4837315"/>
            <a:ext cx="3937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9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3511" y="4837315"/>
            <a:ext cx="4064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0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2057" y="4376346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1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89791" y="4884066"/>
            <a:ext cx="2286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Line"/>
          <p:cNvSpPr/>
          <p:nvPr/>
        </p:nvSpPr>
        <p:spPr>
          <a:xfrm>
            <a:off x="9585504" y="5053215"/>
            <a:ext cx="171959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273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2178" y="4945265"/>
            <a:ext cx="203201" cy="2159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67638150"/>
      </p:ext>
    </p:extLst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Line"/>
          <p:cNvSpPr/>
          <p:nvPr/>
        </p:nvSpPr>
        <p:spPr>
          <a:xfrm>
            <a:off x="1818859" y="2344066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27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17" y="2236116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Circle"/>
          <p:cNvSpPr/>
          <p:nvPr/>
        </p:nvSpPr>
        <p:spPr>
          <a:xfrm>
            <a:off x="3460109" y="17012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78" name="Square"/>
          <p:cNvSpPr/>
          <p:nvPr/>
        </p:nvSpPr>
        <p:spPr>
          <a:xfrm>
            <a:off x="2203963" y="1944016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27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063" y="2204366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Line"/>
          <p:cNvSpPr/>
          <p:nvPr/>
        </p:nvSpPr>
        <p:spPr>
          <a:xfrm flipV="1">
            <a:off x="4102878" y="1919402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281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390" y="2204366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2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0932" y="2116252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Line"/>
          <p:cNvSpPr/>
          <p:nvPr/>
        </p:nvSpPr>
        <p:spPr>
          <a:xfrm>
            <a:off x="4796475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84" name="Square"/>
          <p:cNvSpPr/>
          <p:nvPr/>
        </p:nvSpPr>
        <p:spPr>
          <a:xfrm>
            <a:off x="5214903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28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3653" y="2228192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286" name="Circle"/>
          <p:cNvSpPr/>
          <p:nvPr/>
        </p:nvSpPr>
        <p:spPr>
          <a:xfrm>
            <a:off x="6587341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87" name="Line"/>
          <p:cNvSpPr/>
          <p:nvPr/>
        </p:nvSpPr>
        <p:spPr>
          <a:xfrm flipV="1">
            <a:off x="7230110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88" name="Line"/>
          <p:cNvSpPr/>
          <p:nvPr/>
        </p:nvSpPr>
        <p:spPr>
          <a:xfrm>
            <a:off x="10883354" y="2332152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289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24948" y="2218680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908" y="2114679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hidden…"/>
          <p:cNvSpPr txBox="1"/>
          <p:nvPr/>
        </p:nvSpPr>
        <p:spPr>
          <a:xfrm>
            <a:off x="3639371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2</a:t>
            </a:r>
          </a:p>
        </p:txBody>
      </p:sp>
      <p:sp>
        <p:nvSpPr>
          <p:cNvPr id="292" name="hidden…"/>
          <p:cNvSpPr txBox="1"/>
          <p:nvPr/>
        </p:nvSpPr>
        <p:spPr>
          <a:xfrm>
            <a:off x="6766604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3</a:t>
            </a:r>
          </a:p>
        </p:txBody>
      </p:sp>
      <p:sp>
        <p:nvSpPr>
          <p:cNvPr id="293" name="Line"/>
          <p:cNvSpPr/>
          <p:nvPr/>
        </p:nvSpPr>
        <p:spPr>
          <a:xfrm>
            <a:off x="7871306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94" name="Square"/>
          <p:cNvSpPr/>
          <p:nvPr/>
        </p:nvSpPr>
        <p:spPr>
          <a:xfrm>
            <a:off x="8289734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95" name="Circle"/>
          <p:cNvSpPr/>
          <p:nvPr/>
        </p:nvSpPr>
        <p:spPr>
          <a:xfrm>
            <a:off x="9662172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96" name="Line"/>
          <p:cNvSpPr/>
          <p:nvPr/>
        </p:nvSpPr>
        <p:spPr>
          <a:xfrm flipV="1">
            <a:off x="10304941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97" name="output…"/>
          <p:cNvSpPr txBox="1"/>
          <p:nvPr/>
        </p:nvSpPr>
        <p:spPr>
          <a:xfrm>
            <a:off x="9860633" y="3079750"/>
            <a:ext cx="888617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output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4</a:t>
            </a:r>
          </a:p>
        </p:txBody>
      </p:sp>
      <p:sp>
        <p:nvSpPr>
          <p:cNvPr id="298" name="weight"/>
          <p:cNvSpPr txBox="1"/>
          <p:nvPr/>
        </p:nvSpPr>
        <p:spPr>
          <a:xfrm>
            <a:off x="228505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299" name="input"/>
          <p:cNvSpPr txBox="1"/>
          <p:nvPr/>
        </p:nvSpPr>
        <p:spPr>
          <a:xfrm>
            <a:off x="1186883" y="1562100"/>
            <a:ext cx="509550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input</a:t>
            </a:r>
          </a:p>
        </p:txBody>
      </p:sp>
      <p:sp>
        <p:nvSpPr>
          <p:cNvPr id="300" name="activation"/>
          <p:cNvSpPr txBox="1"/>
          <p:nvPr/>
        </p:nvSpPr>
        <p:spPr>
          <a:xfrm>
            <a:off x="41729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301" name="sum"/>
          <p:cNvSpPr txBox="1"/>
          <p:nvPr/>
        </p:nvSpPr>
        <p:spPr>
          <a:xfrm>
            <a:off x="3567808" y="1371600"/>
            <a:ext cx="450166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sum</a:t>
            </a:r>
          </a:p>
        </p:txBody>
      </p:sp>
      <p:sp>
        <p:nvSpPr>
          <p:cNvPr id="302" name="weight"/>
          <p:cNvSpPr txBox="1"/>
          <p:nvPr/>
        </p:nvSpPr>
        <p:spPr>
          <a:xfrm>
            <a:off x="5282782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303" name="weight"/>
          <p:cNvSpPr txBox="1"/>
          <p:nvPr/>
        </p:nvSpPr>
        <p:spPr>
          <a:xfrm>
            <a:off x="837082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pic>
        <p:nvPicPr>
          <p:cNvPr id="304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947" y="2216279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5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0188" y="2172616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6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8634" y="2225030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6612" y="2102766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308" name="activation"/>
          <p:cNvSpPr txBox="1"/>
          <p:nvPr/>
        </p:nvSpPr>
        <p:spPr>
          <a:xfrm>
            <a:off x="7442049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309" name="activation"/>
          <p:cNvSpPr txBox="1"/>
          <p:nvPr/>
        </p:nvSpPr>
        <p:spPr>
          <a:xfrm>
            <a:off x="103197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310" name="input…"/>
          <p:cNvSpPr txBox="1"/>
          <p:nvPr/>
        </p:nvSpPr>
        <p:spPr>
          <a:xfrm>
            <a:off x="1051251" y="3079750"/>
            <a:ext cx="83883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input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1</a:t>
            </a:r>
          </a:p>
        </p:txBody>
      </p:sp>
      <p:sp>
        <p:nvSpPr>
          <p:cNvPr id="311" name="Line"/>
          <p:cNvSpPr/>
          <p:nvPr/>
        </p:nvSpPr>
        <p:spPr>
          <a:xfrm flipV="1">
            <a:off x="2821361" y="2661170"/>
            <a:ext cx="651421" cy="65142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12" name="Square"/>
          <p:cNvSpPr/>
          <p:nvPr/>
        </p:nvSpPr>
        <p:spPr>
          <a:xfrm>
            <a:off x="2203963" y="3202975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313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3577" y="3399825"/>
            <a:ext cx="342901" cy="4064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3950217"/>
      </p:ext>
    </p:extLst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Line"/>
          <p:cNvSpPr/>
          <p:nvPr/>
        </p:nvSpPr>
        <p:spPr>
          <a:xfrm>
            <a:off x="1818859" y="2344066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31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17" y="2236116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319" name="Circle"/>
          <p:cNvSpPr/>
          <p:nvPr/>
        </p:nvSpPr>
        <p:spPr>
          <a:xfrm>
            <a:off x="3460109" y="17012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20" name="Square"/>
          <p:cNvSpPr/>
          <p:nvPr/>
        </p:nvSpPr>
        <p:spPr>
          <a:xfrm>
            <a:off x="2203963" y="1944016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321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063" y="2204366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22" name="Line"/>
          <p:cNvSpPr/>
          <p:nvPr/>
        </p:nvSpPr>
        <p:spPr>
          <a:xfrm flipV="1">
            <a:off x="4102878" y="1919402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32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390" y="2204366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4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0932" y="2116252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Line"/>
          <p:cNvSpPr/>
          <p:nvPr/>
        </p:nvSpPr>
        <p:spPr>
          <a:xfrm>
            <a:off x="4796475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26" name="Square"/>
          <p:cNvSpPr/>
          <p:nvPr/>
        </p:nvSpPr>
        <p:spPr>
          <a:xfrm>
            <a:off x="5214903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327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3653" y="2228192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28" name="Circle"/>
          <p:cNvSpPr/>
          <p:nvPr/>
        </p:nvSpPr>
        <p:spPr>
          <a:xfrm>
            <a:off x="6587341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29" name="Line"/>
          <p:cNvSpPr/>
          <p:nvPr/>
        </p:nvSpPr>
        <p:spPr>
          <a:xfrm flipV="1">
            <a:off x="7230110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30" name="Line"/>
          <p:cNvSpPr/>
          <p:nvPr/>
        </p:nvSpPr>
        <p:spPr>
          <a:xfrm>
            <a:off x="10883354" y="2332152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331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24948" y="2218680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2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908" y="2114679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hidden…"/>
          <p:cNvSpPr txBox="1"/>
          <p:nvPr/>
        </p:nvSpPr>
        <p:spPr>
          <a:xfrm>
            <a:off x="3639371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2</a:t>
            </a:r>
          </a:p>
        </p:txBody>
      </p:sp>
      <p:sp>
        <p:nvSpPr>
          <p:cNvPr id="334" name="hidden…"/>
          <p:cNvSpPr txBox="1"/>
          <p:nvPr/>
        </p:nvSpPr>
        <p:spPr>
          <a:xfrm>
            <a:off x="6766604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3</a:t>
            </a:r>
          </a:p>
        </p:txBody>
      </p:sp>
      <p:sp>
        <p:nvSpPr>
          <p:cNvPr id="335" name="Line"/>
          <p:cNvSpPr/>
          <p:nvPr/>
        </p:nvSpPr>
        <p:spPr>
          <a:xfrm>
            <a:off x="7871306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36" name="Square"/>
          <p:cNvSpPr/>
          <p:nvPr/>
        </p:nvSpPr>
        <p:spPr>
          <a:xfrm>
            <a:off x="8289734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37" name="Circle"/>
          <p:cNvSpPr/>
          <p:nvPr/>
        </p:nvSpPr>
        <p:spPr>
          <a:xfrm>
            <a:off x="9662172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38" name="Line"/>
          <p:cNvSpPr/>
          <p:nvPr/>
        </p:nvSpPr>
        <p:spPr>
          <a:xfrm flipV="1">
            <a:off x="10304941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39" name="output…"/>
          <p:cNvSpPr txBox="1"/>
          <p:nvPr/>
        </p:nvSpPr>
        <p:spPr>
          <a:xfrm>
            <a:off x="9860633" y="3079750"/>
            <a:ext cx="888617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output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4</a:t>
            </a:r>
          </a:p>
        </p:txBody>
      </p:sp>
      <p:sp>
        <p:nvSpPr>
          <p:cNvPr id="340" name="weight"/>
          <p:cNvSpPr txBox="1"/>
          <p:nvPr/>
        </p:nvSpPr>
        <p:spPr>
          <a:xfrm>
            <a:off x="228505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341" name="input"/>
          <p:cNvSpPr txBox="1"/>
          <p:nvPr/>
        </p:nvSpPr>
        <p:spPr>
          <a:xfrm>
            <a:off x="1186883" y="1562100"/>
            <a:ext cx="509550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input</a:t>
            </a:r>
          </a:p>
        </p:txBody>
      </p:sp>
      <p:sp>
        <p:nvSpPr>
          <p:cNvPr id="342" name="activation"/>
          <p:cNvSpPr txBox="1"/>
          <p:nvPr/>
        </p:nvSpPr>
        <p:spPr>
          <a:xfrm>
            <a:off x="41729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343" name="sum"/>
          <p:cNvSpPr txBox="1"/>
          <p:nvPr/>
        </p:nvSpPr>
        <p:spPr>
          <a:xfrm>
            <a:off x="3567808" y="1371600"/>
            <a:ext cx="450166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sum</a:t>
            </a:r>
          </a:p>
        </p:txBody>
      </p:sp>
      <p:sp>
        <p:nvSpPr>
          <p:cNvPr id="344" name="weight"/>
          <p:cNvSpPr txBox="1"/>
          <p:nvPr/>
        </p:nvSpPr>
        <p:spPr>
          <a:xfrm>
            <a:off x="5282782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345" name="weight"/>
          <p:cNvSpPr txBox="1"/>
          <p:nvPr/>
        </p:nvSpPr>
        <p:spPr>
          <a:xfrm>
            <a:off x="837082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pic>
        <p:nvPicPr>
          <p:cNvPr id="346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947" y="2216279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0188" y="2172616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8634" y="2225030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6612" y="2102766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activation"/>
          <p:cNvSpPr txBox="1"/>
          <p:nvPr/>
        </p:nvSpPr>
        <p:spPr>
          <a:xfrm>
            <a:off x="7442049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351" name="activation"/>
          <p:cNvSpPr txBox="1"/>
          <p:nvPr/>
        </p:nvSpPr>
        <p:spPr>
          <a:xfrm>
            <a:off x="103197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352" name="input…"/>
          <p:cNvSpPr txBox="1"/>
          <p:nvPr/>
        </p:nvSpPr>
        <p:spPr>
          <a:xfrm>
            <a:off x="1051251" y="3079750"/>
            <a:ext cx="83883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input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1</a:t>
            </a:r>
          </a:p>
        </p:txBody>
      </p:sp>
      <p:sp>
        <p:nvSpPr>
          <p:cNvPr id="353" name="Line"/>
          <p:cNvSpPr/>
          <p:nvPr/>
        </p:nvSpPr>
        <p:spPr>
          <a:xfrm flipV="1">
            <a:off x="2821361" y="2661170"/>
            <a:ext cx="651421" cy="65142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54" name="Square"/>
          <p:cNvSpPr/>
          <p:nvPr/>
        </p:nvSpPr>
        <p:spPr>
          <a:xfrm>
            <a:off x="2203963" y="3202975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355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3577" y="3399825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6" name="Rounded Rectangle" descr="Rounded Rectangl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840528" y="1035050"/>
            <a:ext cx="4214713" cy="32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142407"/>
      </p:ext>
    </p:extLst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Line"/>
          <p:cNvSpPr/>
          <p:nvPr/>
        </p:nvSpPr>
        <p:spPr>
          <a:xfrm>
            <a:off x="1818859" y="2344066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36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17" y="2236116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Circle"/>
          <p:cNvSpPr/>
          <p:nvPr/>
        </p:nvSpPr>
        <p:spPr>
          <a:xfrm>
            <a:off x="3460109" y="17012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64" name="Square"/>
          <p:cNvSpPr/>
          <p:nvPr/>
        </p:nvSpPr>
        <p:spPr>
          <a:xfrm>
            <a:off x="2203963" y="1944016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36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063" y="2204366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66" name="Line"/>
          <p:cNvSpPr/>
          <p:nvPr/>
        </p:nvSpPr>
        <p:spPr>
          <a:xfrm flipV="1">
            <a:off x="4102878" y="1919402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36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390" y="2204366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8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0932" y="2116252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369" name="Line"/>
          <p:cNvSpPr/>
          <p:nvPr/>
        </p:nvSpPr>
        <p:spPr>
          <a:xfrm>
            <a:off x="4796475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70" name="Square"/>
          <p:cNvSpPr/>
          <p:nvPr/>
        </p:nvSpPr>
        <p:spPr>
          <a:xfrm>
            <a:off x="5214903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371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3653" y="2228192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72" name="Circle"/>
          <p:cNvSpPr/>
          <p:nvPr/>
        </p:nvSpPr>
        <p:spPr>
          <a:xfrm>
            <a:off x="6587341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73" name="Line"/>
          <p:cNvSpPr/>
          <p:nvPr/>
        </p:nvSpPr>
        <p:spPr>
          <a:xfrm flipV="1">
            <a:off x="7230110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74" name="Line"/>
          <p:cNvSpPr/>
          <p:nvPr/>
        </p:nvSpPr>
        <p:spPr>
          <a:xfrm>
            <a:off x="10883354" y="2332152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375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24948" y="2218680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6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908" y="2114679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377" name="hidden…"/>
          <p:cNvSpPr txBox="1"/>
          <p:nvPr/>
        </p:nvSpPr>
        <p:spPr>
          <a:xfrm>
            <a:off x="3639371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2</a:t>
            </a:r>
          </a:p>
        </p:txBody>
      </p:sp>
      <p:sp>
        <p:nvSpPr>
          <p:cNvPr id="378" name="hidden…"/>
          <p:cNvSpPr txBox="1"/>
          <p:nvPr/>
        </p:nvSpPr>
        <p:spPr>
          <a:xfrm>
            <a:off x="6766604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3</a:t>
            </a:r>
          </a:p>
        </p:txBody>
      </p:sp>
      <p:sp>
        <p:nvSpPr>
          <p:cNvPr id="379" name="Line"/>
          <p:cNvSpPr/>
          <p:nvPr/>
        </p:nvSpPr>
        <p:spPr>
          <a:xfrm>
            <a:off x="7871306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80" name="Square"/>
          <p:cNvSpPr/>
          <p:nvPr/>
        </p:nvSpPr>
        <p:spPr>
          <a:xfrm>
            <a:off x="8289734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81" name="Circle"/>
          <p:cNvSpPr/>
          <p:nvPr/>
        </p:nvSpPr>
        <p:spPr>
          <a:xfrm>
            <a:off x="9662172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82" name="Line"/>
          <p:cNvSpPr/>
          <p:nvPr/>
        </p:nvSpPr>
        <p:spPr>
          <a:xfrm flipV="1">
            <a:off x="10304941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83" name="output…"/>
          <p:cNvSpPr txBox="1"/>
          <p:nvPr/>
        </p:nvSpPr>
        <p:spPr>
          <a:xfrm>
            <a:off x="9860633" y="3079750"/>
            <a:ext cx="888617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output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4</a:t>
            </a:r>
          </a:p>
        </p:txBody>
      </p:sp>
      <p:sp>
        <p:nvSpPr>
          <p:cNvPr id="384" name="weight"/>
          <p:cNvSpPr txBox="1"/>
          <p:nvPr/>
        </p:nvSpPr>
        <p:spPr>
          <a:xfrm>
            <a:off x="228505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385" name="input"/>
          <p:cNvSpPr txBox="1"/>
          <p:nvPr/>
        </p:nvSpPr>
        <p:spPr>
          <a:xfrm>
            <a:off x="1186883" y="1562100"/>
            <a:ext cx="509550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input</a:t>
            </a:r>
          </a:p>
        </p:txBody>
      </p:sp>
      <p:sp>
        <p:nvSpPr>
          <p:cNvPr id="386" name="activation"/>
          <p:cNvSpPr txBox="1"/>
          <p:nvPr/>
        </p:nvSpPr>
        <p:spPr>
          <a:xfrm>
            <a:off x="41729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387" name="sum"/>
          <p:cNvSpPr txBox="1"/>
          <p:nvPr/>
        </p:nvSpPr>
        <p:spPr>
          <a:xfrm>
            <a:off x="3567808" y="1371600"/>
            <a:ext cx="450166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sum</a:t>
            </a:r>
          </a:p>
        </p:txBody>
      </p:sp>
      <p:sp>
        <p:nvSpPr>
          <p:cNvPr id="388" name="weight"/>
          <p:cNvSpPr txBox="1"/>
          <p:nvPr/>
        </p:nvSpPr>
        <p:spPr>
          <a:xfrm>
            <a:off x="5282782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389" name="weight"/>
          <p:cNvSpPr txBox="1"/>
          <p:nvPr/>
        </p:nvSpPr>
        <p:spPr>
          <a:xfrm>
            <a:off x="837082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pic>
        <p:nvPicPr>
          <p:cNvPr id="390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947" y="2216279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1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0188" y="2172616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2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8634" y="2225030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3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6612" y="2102766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394" name="activation"/>
          <p:cNvSpPr txBox="1"/>
          <p:nvPr/>
        </p:nvSpPr>
        <p:spPr>
          <a:xfrm>
            <a:off x="7442049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395" name="activation"/>
          <p:cNvSpPr txBox="1"/>
          <p:nvPr/>
        </p:nvSpPr>
        <p:spPr>
          <a:xfrm>
            <a:off x="103197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396" name="input…"/>
          <p:cNvSpPr txBox="1"/>
          <p:nvPr/>
        </p:nvSpPr>
        <p:spPr>
          <a:xfrm>
            <a:off x="1051251" y="3079750"/>
            <a:ext cx="83883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input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1</a:t>
            </a:r>
          </a:p>
        </p:txBody>
      </p:sp>
      <p:sp>
        <p:nvSpPr>
          <p:cNvPr id="397" name="Line"/>
          <p:cNvSpPr/>
          <p:nvPr/>
        </p:nvSpPr>
        <p:spPr>
          <a:xfrm flipV="1">
            <a:off x="2821361" y="2661170"/>
            <a:ext cx="651421" cy="65142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98" name="Square"/>
          <p:cNvSpPr/>
          <p:nvPr/>
        </p:nvSpPr>
        <p:spPr>
          <a:xfrm>
            <a:off x="2203963" y="3202975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399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3577" y="3399825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0" name="Rounded Rectangle" descr="Rounded Rectangl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840528" y="1035050"/>
            <a:ext cx="4214713" cy="3225563"/>
          </a:xfrm>
          <a:prstGeom prst="rect">
            <a:avLst/>
          </a:prstGeom>
        </p:spPr>
      </p:pic>
      <p:pic>
        <p:nvPicPr>
          <p:cNvPr id="402" name="Image" descr="Image"/>
          <p:cNvPicPr>
            <a:picLocks noChangeAspect="1"/>
          </p:cNvPicPr>
          <p:nvPr/>
        </p:nvPicPr>
        <p:blipFill>
          <a:blip r:embed="rId16"/>
          <a:srcRect b="80618"/>
          <a:stretch>
            <a:fillRect/>
          </a:stretch>
        </p:blipFill>
        <p:spPr>
          <a:xfrm>
            <a:off x="1129413" y="4801025"/>
            <a:ext cx="10745974" cy="72636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92709313"/>
      </p:ext>
    </p:extLst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Line"/>
          <p:cNvSpPr/>
          <p:nvPr/>
        </p:nvSpPr>
        <p:spPr>
          <a:xfrm>
            <a:off x="1818859" y="2344066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40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17" y="2236116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408" name="Circle"/>
          <p:cNvSpPr/>
          <p:nvPr/>
        </p:nvSpPr>
        <p:spPr>
          <a:xfrm>
            <a:off x="3460109" y="17012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09" name="Square"/>
          <p:cNvSpPr/>
          <p:nvPr/>
        </p:nvSpPr>
        <p:spPr>
          <a:xfrm>
            <a:off x="2203963" y="1944016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41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063" y="2204366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411" name="Line"/>
          <p:cNvSpPr/>
          <p:nvPr/>
        </p:nvSpPr>
        <p:spPr>
          <a:xfrm flipV="1">
            <a:off x="4102878" y="1919402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412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390" y="2204366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0932" y="2116252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414" name="Line"/>
          <p:cNvSpPr/>
          <p:nvPr/>
        </p:nvSpPr>
        <p:spPr>
          <a:xfrm>
            <a:off x="4796475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15" name="Square"/>
          <p:cNvSpPr/>
          <p:nvPr/>
        </p:nvSpPr>
        <p:spPr>
          <a:xfrm>
            <a:off x="5214903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416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3653" y="2228192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417" name="Circle"/>
          <p:cNvSpPr/>
          <p:nvPr/>
        </p:nvSpPr>
        <p:spPr>
          <a:xfrm>
            <a:off x="6587341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18" name="Line"/>
          <p:cNvSpPr/>
          <p:nvPr/>
        </p:nvSpPr>
        <p:spPr>
          <a:xfrm flipV="1">
            <a:off x="7230110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19" name="Line"/>
          <p:cNvSpPr/>
          <p:nvPr/>
        </p:nvSpPr>
        <p:spPr>
          <a:xfrm>
            <a:off x="10883354" y="2332152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420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24948" y="2218680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908" y="2114679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422" name="hidden…"/>
          <p:cNvSpPr txBox="1"/>
          <p:nvPr/>
        </p:nvSpPr>
        <p:spPr>
          <a:xfrm>
            <a:off x="3639371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2</a:t>
            </a:r>
          </a:p>
        </p:txBody>
      </p:sp>
      <p:sp>
        <p:nvSpPr>
          <p:cNvPr id="423" name="hidden…"/>
          <p:cNvSpPr txBox="1"/>
          <p:nvPr/>
        </p:nvSpPr>
        <p:spPr>
          <a:xfrm>
            <a:off x="6766604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3</a:t>
            </a:r>
          </a:p>
        </p:txBody>
      </p:sp>
      <p:sp>
        <p:nvSpPr>
          <p:cNvPr id="424" name="Line"/>
          <p:cNvSpPr/>
          <p:nvPr/>
        </p:nvSpPr>
        <p:spPr>
          <a:xfrm>
            <a:off x="7871306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25" name="Square"/>
          <p:cNvSpPr/>
          <p:nvPr/>
        </p:nvSpPr>
        <p:spPr>
          <a:xfrm>
            <a:off x="8289734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26" name="Circle"/>
          <p:cNvSpPr/>
          <p:nvPr/>
        </p:nvSpPr>
        <p:spPr>
          <a:xfrm>
            <a:off x="9662172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27" name="Line"/>
          <p:cNvSpPr/>
          <p:nvPr/>
        </p:nvSpPr>
        <p:spPr>
          <a:xfrm flipV="1">
            <a:off x="10304941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28" name="output…"/>
          <p:cNvSpPr txBox="1"/>
          <p:nvPr/>
        </p:nvSpPr>
        <p:spPr>
          <a:xfrm>
            <a:off x="9860633" y="3079750"/>
            <a:ext cx="888617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output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4</a:t>
            </a:r>
          </a:p>
        </p:txBody>
      </p:sp>
      <p:sp>
        <p:nvSpPr>
          <p:cNvPr id="429" name="weight"/>
          <p:cNvSpPr txBox="1"/>
          <p:nvPr/>
        </p:nvSpPr>
        <p:spPr>
          <a:xfrm>
            <a:off x="228505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430" name="input"/>
          <p:cNvSpPr txBox="1"/>
          <p:nvPr/>
        </p:nvSpPr>
        <p:spPr>
          <a:xfrm>
            <a:off x="1186883" y="1562100"/>
            <a:ext cx="509550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input</a:t>
            </a:r>
          </a:p>
        </p:txBody>
      </p:sp>
      <p:sp>
        <p:nvSpPr>
          <p:cNvPr id="431" name="activation"/>
          <p:cNvSpPr txBox="1"/>
          <p:nvPr/>
        </p:nvSpPr>
        <p:spPr>
          <a:xfrm>
            <a:off x="41729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432" name="sum"/>
          <p:cNvSpPr txBox="1"/>
          <p:nvPr/>
        </p:nvSpPr>
        <p:spPr>
          <a:xfrm>
            <a:off x="3567808" y="1371600"/>
            <a:ext cx="450166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sum</a:t>
            </a:r>
          </a:p>
        </p:txBody>
      </p:sp>
      <p:sp>
        <p:nvSpPr>
          <p:cNvPr id="433" name="weight"/>
          <p:cNvSpPr txBox="1"/>
          <p:nvPr/>
        </p:nvSpPr>
        <p:spPr>
          <a:xfrm>
            <a:off x="5282782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434" name="weight"/>
          <p:cNvSpPr txBox="1"/>
          <p:nvPr/>
        </p:nvSpPr>
        <p:spPr>
          <a:xfrm>
            <a:off x="837082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pic>
        <p:nvPicPr>
          <p:cNvPr id="435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947" y="2216279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6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0188" y="2172616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7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8634" y="2225030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8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6612" y="2102766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439" name="activation"/>
          <p:cNvSpPr txBox="1"/>
          <p:nvPr/>
        </p:nvSpPr>
        <p:spPr>
          <a:xfrm>
            <a:off x="7442049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440" name="activation"/>
          <p:cNvSpPr txBox="1"/>
          <p:nvPr/>
        </p:nvSpPr>
        <p:spPr>
          <a:xfrm>
            <a:off x="103197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441" name="input…"/>
          <p:cNvSpPr txBox="1"/>
          <p:nvPr/>
        </p:nvSpPr>
        <p:spPr>
          <a:xfrm>
            <a:off x="1051251" y="3079750"/>
            <a:ext cx="83883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input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1</a:t>
            </a:r>
          </a:p>
        </p:txBody>
      </p:sp>
      <p:sp>
        <p:nvSpPr>
          <p:cNvPr id="442" name="Line"/>
          <p:cNvSpPr/>
          <p:nvPr/>
        </p:nvSpPr>
        <p:spPr>
          <a:xfrm flipV="1">
            <a:off x="2821361" y="2661170"/>
            <a:ext cx="651421" cy="65142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43" name="Square"/>
          <p:cNvSpPr/>
          <p:nvPr/>
        </p:nvSpPr>
        <p:spPr>
          <a:xfrm>
            <a:off x="2203963" y="3202975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444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3577" y="3399825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5" name="Rounded Rectangle" descr="Rounded Rectangl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3309577" y="1258991"/>
            <a:ext cx="4737146" cy="1924689"/>
          </a:xfrm>
          <a:prstGeom prst="rect">
            <a:avLst/>
          </a:prstGeom>
        </p:spPr>
      </p:pic>
      <p:pic>
        <p:nvPicPr>
          <p:cNvPr id="447" name="Image" descr="Image"/>
          <p:cNvPicPr>
            <a:picLocks noChangeAspect="1"/>
          </p:cNvPicPr>
          <p:nvPr/>
        </p:nvPicPr>
        <p:blipFill>
          <a:blip r:embed="rId16"/>
          <a:srcRect b="80618"/>
          <a:stretch>
            <a:fillRect/>
          </a:stretch>
        </p:blipFill>
        <p:spPr>
          <a:xfrm>
            <a:off x="1129413" y="4801025"/>
            <a:ext cx="10745974" cy="72636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89201203"/>
      </p:ext>
    </p:extLst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Line"/>
          <p:cNvSpPr/>
          <p:nvPr/>
        </p:nvSpPr>
        <p:spPr>
          <a:xfrm>
            <a:off x="1818859" y="2344066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45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17" y="2236116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453" name="Circle"/>
          <p:cNvSpPr/>
          <p:nvPr/>
        </p:nvSpPr>
        <p:spPr>
          <a:xfrm>
            <a:off x="3460109" y="17012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54" name="Square"/>
          <p:cNvSpPr/>
          <p:nvPr/>
        </p:nvSpPr>
        <p:spPr>
          <a:xfrm>
            <a:off x="2203963" y="1944016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45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063" y="2204366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456" name="Line"/>
          <p:cNvSpPr/>
          <p:nvPr/>
        </p:nvSpPr>
        <p:spPr>
          <a:xfrm flipV="1">
            <a:off x="4102878" y="1919402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45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390" y="2204366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0932" y="2116252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459" name="Line"/>
          <p:cNvSpPr/>
          <p:nvPr/>
        </p:nvSpPr>
        <p:spPr>
          <a:xfrm>
            <a:off x="4796475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60" name="Square"/>
          <p:cNvSpPr/>
          <p:nvPr/>
        </p:nvSpPr>
        <p:spPr>
          <a:xfrm>
            <a:off x="5214903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461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3653" y="2228192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462" name="Circle"/>
          <p:cNvSpPr/>
          <p:nvPr/>
        </p:nvSpPr>
        <p:spPr>
          <a:xfrm>
            <a:off x="6587341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63" name="Line"/>
          <p:cNvSpPr/>
          <p:nvPr/>
        </p:nvSpPr>
        <p:spPr>
          <a:xfrm flipV="1">
            <a:off x="7230110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64" name="Line"/>
          <p:cNvSpPr/>
          <p:nvPr/>
        </p:nvSpPr>
        <p:spPr>
          <a:xfrm>
            <a:off x="10883354" y="2332152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465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24948" y="2218680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908" y="2114679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467" name="hidden…"/>
          <p:cNvSpPr txBox="1"/>
          <p:nvPr/>
        </p:nvSpPr>
        <p:spPr>
          <a:xfrm>
            <a:off x="3639371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2</a:t>
            </a:r>
          </a:p>
        </p:txBody>
      </p:sp>
      <p:sp>
        <p:nvSpPr>
          <p:cNvPr id="468" name="hidden…"/>
          <p:cNvSpPr txBox="1"/>
          <p:nvPr/>
        </p:nvSpPr>
        <p:spPr>
          <a:xfrm>
            <a:off x="6766604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3</a:t>
            </a:r>
          </a:p>
        </p:txBody>
      </p:sp>
      <p:sp>
        <p:nvSpPr>
          <p:cNvPr id="469" name="Line"/>
          <p:cNvSpPr/>
          <p:nvPr/>
        </p:nvSpPr>
        <p:spPr>
          <a:xfrm>
            <a:off x="7871306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70" name="Square"/>
          <p:cNvSpPr/>
          <p:nvPr/>
        </p:nvSpPr>
        <p:spPr>
          <a:xfrm>
            <a:off x="8289734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71" name="Circle"/>
          <p:cNvSpPr/>
          <p:nvPr/>
        </p:nvSpPr>
        <p:spPr>
          <a:xfrm>
            <a:off x="9662172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72" name="Line"/>
          <p:cNvSpPr/>
          <p:nvPr/>
        </p:nvSpPr>
        <p:spPr>
          <a:xfrm flipV="1">
            <a:off x="10304941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73" name="output…"/>
          <p:cNvSpPr txBox="1"/>
          <p:nvPr/>
        </p:nvSpPr>
        <p:spPr>
          <a:xfrm>
            <a:off x="9860633" y="3079750"/>
            <a:ext cx="888617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output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4</a:t>
            </a:r>
          </a:p>
        </p:txBody>
      </p:sp>
      <p:sp>
        <p:nvSpPr>
          <p:cNvPr id="474" name="weight"/>
          <p:cNvSpPr txBox="1"/>
          <p:nvPr/>
        </p:nvSpPr>
        <p:spPr>
          <a:xfrm>
            <a:off x="228505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475" name="input"/>
          <p:cNvSpPr txBox="1"/>
          <p:nvPr/>
        </p:nvSpPr>
        <p:spPr>
          <a:xfrm>
            <a:off x="1186883" y="1562100"/>
            <a:ext cx="509550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input</a:t>
            </a:r>
          </a:p>
        </p:txBody>
      </p:sp>
      <p:sp>
        <p:nvSpPr>
          <p:cNvPr id="476" name="activation"/>
          <p:cNvSpPr txBox="1"/>
          <p:nvPr/>
        </p:nvSpPr>
        <p:spPr>
          <a:xfrm>
            <a:off x="41729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477" name="sum"/>
          <p:cNvSpPr txBox="1"/>
          <p:nvPr/>
        </p:nvSpPr>
        <p:spPr>
          <a:xfrm>
            <a:off x="3567808" y="1371600"/>
            <a:ext cx="450166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sum</a:t>
            </a:r>
          </a:p>
        </p:txBody>
      </p:sp>
      <p:sp>
        <p:nvSpPr>
          <p:cNvPr id="478" name="weight"/>
          <p:cNvSpPr txBox="1"/>
          <p:nvPr/>
        </p:nvSpPr>
        <p:spPr>
          <a:xfrm>
            <a:off x="5282782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479" name="weight"/>
          <p:cNvSpPr txBox="1"/>
          <p:nvPr/>
        </p:nvSpPr>
        <p:spPr>
          <a:xfrm>
            <a:off x="837082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pic>
        <p:nvPicPr>
          <p:cNvPr id="480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947" y="2216279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0188" y="2172616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2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8634" y="2225030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3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6612" y="2102766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484" name="activation"/>
          <p:cNvSpPr txBox="1"/>
          <p:nvPr/>
        </p:nvSpPr>
        <p:spPr>
          <a:xfrm>
            <a:off x="7442049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485" name="activation"/>
          <p:cNvSpPr txBox="1"/>
          <p:nvPr/>
        </p:nvSpPr>
        <p:spPr>
          <a:xfrm>
            <a:off x="103197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486" name="input…"/>
          <p:cNvSpPr txBox="1"/>
          <p:nvPr/>
        </p:nvSpPr>
        <p:spPr>
          <a:xfrm>
            <a:off x="1051251" y="3079750"/>
            <a:ext cx="83883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input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1</a:t>
            </a:r>
          </a:p>
        </p:txBody>
      </p:sp>
      <p:sp>
        <p:nvSpPr>
          <p:cNvPr id="487" name="Line"/>
          <p:cNvSpPr/>
          <p:nvPr/>
        </p:nvSpPr>
        <p:spPr>
          <a:xfrm flipV="1">
            <a:off x="2821361" y="2661170"/>
            <a:ext cx="651421" cy="65142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88" name="Square"/>
          <p:cNvSpPr/>
          <p:nvPr/>
        </p:nvSpPr>
        <p:spPr>
          <a:xfrm>
            <a:off x="2203963" y="3202975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489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3577" y="3399825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" name="Rounded Rectangle" descr="Rounded Rectangl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3309577" y="1258991"/>
            <a:ext cx="4737146" cy="1924689"/>
          </a:xfrm>
          <a:prstGeom prst="rect">
            <a:avLst/>
          </a:prstGeom>
        </p:spPr>
      </p:pic>
      <p:pic>
        <p:nvPicPr>
          <p:cNvPr id="492" name="Image" descr="Image"/>
          <p:cNvPicPr>
            <a:picLocks noChangeAspect="1"/>
          </p:cNvPicPr>
          <p:nvPr/>
        </p:nvPicPr>
        <p:blipFill>
          <a:blip r:embed="rId16"/>
          <a:srcRect b="49022"/>
          <a:stretch>
            <a:fillRect/>
          </a:stretch>
        </p:blipFill>
        <p:spPr>
          <a:xfrm>
            <a:off x="1129413" y="4801025"/>
            <a:ext cx="10745974" cy="191047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47942049"/>
      </p:ext>
    </p:extLst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Line"/>
          <p:cNvSpPr/>
          <p:nvPr/>
        </p:nvSpPr>
        <p:spPr>
          <a:xfrm>
            <a:off x="1818859" y="2344066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49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17" y="2236116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498" name="Circle"/>
          <p:cNvSpPr/>
          <p:nvPr/>
        </p:nvSpPr>
        <p:spPr>
          <a:xfrm>
            <a:off x="3460109" y="17012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499" name="Square"/>
          <p:cNvSpPr/>
          <p:nvPr/>
        </p:nvSpPr>
        <p:spPr>
          <a:xfrm>
            <a:off x="2203963" y="1944016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50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063" y="2204366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01" name="Line"/>
          <p:cNvSpPr/>
          <p:nvPr/>
        </p:nvSpPr>
        <p:spPr>
          <a:xfrm flipV="1">
            <a:off x="4102878" y="1919402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502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390" y="2204366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0932" y="2116252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504" name="Line"/>
          <p:cNvSpPr/>
          <p:nvPr/>
        </p:nvSpPr>
        <p:spPr>
          <a:xfrm>
            <a:off x="4796475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05" name="Square"/>
          <p:cNvSpPr/>
          <p:nvPr/>
        </p:nvSpPr>
        <p:spPr>
          <a:xfrm>
            <a:off x="5214903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506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3653" y="2228192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07" name="Circle"/>
          <p:cNvSpPr/>
          <p:nvPr/>
        </p:nvSpPr>
        <p:spPr>
          <a:xfrm>
            <a:off x="6587341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08" name="Line"/>
          <p:cNvSpPr/>
          <p:nvPr/>
        </p:nvSpPr>
        <p:spPr>
          <a:xfrm flipV="1">
            <a:off x="7230110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09" name="Line"/>
          <p:cNvSpPr/>
          <p:nvPr/>
        </p:nvSpPr>
        <p:spPr>
          <a:xfrm>
            <a:off x="10883354" y="2332152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510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24948" y="2218680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908" y="2114679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512" name="hidden…"/>
          <p:cNvSpPr txBox="1"/>
          <p:nvPr/>
        </p:nvSpPr>
        <p:spPr>
          <a:xfrm>
            <a:off x="3639371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2</a:t>
            </a:r>
          </a:p>
        </p:txBody>
      </p:sp>
      <p:sp>
        <p:nvSpPr>
          <p:cNvPr id="513" name="hidden…"/>
          <p:cNvSpPr txBox="1"/>
          <p:nvPr/>
        </p:nvSpPr>
        <p:spPr>
          <a:xfrm>
            <a:off x="6766604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3</a:t>
            </a:r>
          </a:p>
        </p:txBody>
      </p:sp>
      <p:sp>
        <p:nvSpPr>
          <p:cNvPr id="514" name="Line"/>
          <p:cNvSpPr/>
          <p:nvPr/>
        </p:nvSpPr>
        <p:spPr>
          <a:xfrm>
            <a:off x="7871306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15" name="Square"/>
          <p:cNvSpPr/>
          <p:nvPr/>
        </p:nvSpPr>
        <p:spPr>
          <a:xfrm>
            <a:off x="8289734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16" name="Circle"/>
          <p:cNvSpPr/>
          <p:nvPr/>
        </p:nvSpPr>
        <p:spPr>
          <a:xfrm>
            <a:off x="9662172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17" name="Line"/>
          <p:cNvSpPr/>
          <p:nvPr/>
        </p:nvSpPr>
        <p:spPr>
          <a:xfrm flipV="1">
            <a:off x="10304941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18" name="output…"/>
          <p:cNvSpPr txBox="1"/>
          <p:nvPr/>
        </p:nvSpPr>
        <p:spPr>
          <a:xfrm>
            <a:off x="9860633" y="3079750"/>
            <a:ext cx="888617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output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4</a:t>
            </a:r>
          </a:p>
        </p:txBody>
      </p:sp>
      <p:sp>
        <p:nvSpPr>
          <p:cNvPr id="519" name="weight"/>
          <p:cNvSpPr txBox="1"/>
          <p:nvPr/>
        </p:nvSpPr>
        <p:spPr>
          <a:xfrm>
            <a:off x="228505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520" name="input"/>
          <p:cNvSpPr txBox="1"/>
          <p:nvPr/>
        </p:nvSpPr>
        <p:spPr>
          <a:xfrm>
            <a:off x="1186883" y="1562100"/>
            <a:ext cx="509550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input</a:t>
            </a:r>
          </a:p>
        </p:txBody>
      </p:sp>
      <p:sp>
        <p:nvSpPr>
          <p:cNvPr id="521" name="activation"/>
          <p:cNvSpPr txBox="1"/>
          <p:nvPr/>
        </p:nvSpPr>
        <p:spPr>
          <a:xfrm>
            <a:off x="41729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522" name="sum"/>
          <p:cNvSpPr txBox="1"/>
          <p:nvPr/>
        </p:nvSpPr>
        <p:spPr>
          <a:xfrm>
            <a:off x="3567808" y="1371600"/>
            <a:ext cx="450166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sum</a:t>
            </a:r>
          </a:p>
        </p:txBody>
      </p:sp>
      <p:sp>
        <p:nvSpPr>
          <p:cNvPr id="523" name="weight"/>
          <p:cNvSpPr txBox="1"/>
          <p:nvPr/>
        </p:nvSpPr>
        <p:spPr>
          <a:xfrm>
            <a:off x="5282782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524" name="weight"/>
          <p:cNvSpPr txBox="1"/>
          <p:nvPr/>
        </p:nvSpPr>
        <p:spPr>
          <a:xfrm>
            <a:off x="837082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pic>
        <p:nvPicPr>
          <p:cNvPr id="525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947" y="2216279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6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0188" y="2172616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7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8634" y="2225030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8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6612" y="2102766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529" name="activation"/>
          <p:cNvSpPr txBox="1"/>
          <p:nvPr/>
        </p:nvSpPr>
        <p:spPr>
          <a:xfrm>
            <a:off x="7442049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530" name="activation"/>
          <p:cNvSpPr txBox="1"/>
          <p:nvPr/>
        </p:nvSpPr>
        <p:spPr>
          <a:xfrm>
            <a:off x="103197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531" name="input…"/>
          <p:cNvSpPr txBox="1"/>
          <p:nvPr/>
        </p:nvSpPr>
        <p:spPr>
          <a:xfrm>
            <a:off x="1051251" y="3079750"/>
            <a:ext cx="83883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input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1</a:t>
            </a:r>
          </a:p>
        </p:txBody>
      </p:sp>
      <p:sp>
        <p:nvSpPr>
          <p:cNvPr id="532" name="Line"/>
          <p:cNvSpPr/>
          <p:nvPr/>
        </p:nvSpPr>
        <p:spPr>
          <a:xfrm flipV="1">
            <a:off x="2821361" y="2661170"/>
            <a:ext cx="651421" cy="65142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33" name="Square"/>
          <p:cNvSpPr/>
          <p:nvPr/>
        </p:nvSpPr>
        <p:spPr>
          <a:xfrm>
            <a:off x="2203963" y="3202975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534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3577" y="3399825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" name="Rounded Rectangle" descr="Rounded Rectangl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698" y="1356322"/>
            <a:ext cx="4737146" cy="1813092"/>
          </a:xfrm>
          <a:prstGeom prst="rect">
            <a:avLst/>
          </a:prstGeom>
        </p:spPr>
      </p:pic>
      <p:pic>
        <p:nvPicPr>
          <p:cNvPr id="537" name="Image" descr="Image"/>
          <p:cNvPicPr>
            <a:picLocks noChangeAspect="1"/>
          </p:cNvPicPr>
          <p:nvPr/>
        </p:nvPicPr>
        <p:blipFill>
          <a:blip r:embed="rId16"/>
          <a:srcRect b="49022"/>
          <a:stretch>
            <a:fillRect/>
          </a:stretch>
        </p:blipFill>
        <p:spPr>
          <a:xfrm>
            <a:off x="1129413" y="4801025"/>
            <a:ext cx="10745974" cy="191047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6517727"/>
      </p:ext>
    </p:extLst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Line"/>
          <p:cNvSpPr/>
          <p:nvPr/>
        </p:nvSpPr>
        <p:spPr>
          <a:xfrm>
            <a:off x="1818859" y="2344066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54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17" y="2236116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543" name="Circle"/>
          <p:cNvSpPr/>
          <p:nvPr/>
        </p:nvSpPr>
        <p:spPr>
          <a:xfrm>
            <a:off x="3460109" y="17012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44" name="Square"/>
          <p:cNvSpPr/>
          <p:nvPr/>
        </p:nvSpPr>
        <p:spPr>
          <a:xfrm>
            <a:off x="2203963" y="1944016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54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063" y="2204366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46" name="Line"/>
          <p:cNvSpPr/>
          <p:nvPr/>
        </p:nvSpPr>
        <p:spPr>
          <a:xfrm flipV="1">
            <a:off x="4102878" y="1919402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54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390" y="2204366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8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0932" y="2116252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549" name="Line"/>
          <p:cNvSpPr/>
          <p:nvPr/>
        </p:nvSpPr>
        <p:spPr>
          <a:xfrm>
            <a:off x="4796475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50" name="Square"/>
          <p:cNvSpPr/>
          <p:nvPr/>
        </p:nvSpPr>
        <p:spPr>
          <a:xfrm>
            <a:off x="5214903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551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3653" y="2228192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52" name="Circle"/>
          <p:cNvSpPr/>
          <p:nvPr/>
        </p:nvSpPr>
        <p:spPr>
          <a:xfrm>
            <a:off x="6587341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53" name="Line"/>
          <p:cNvSpPr/>
          <p:nvPr/>
        </p:nvSpPr>
        <p:spPr>
          <a:xfrm flipV="1">
            <a:off x="7230110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54" name="Line"/>
          <p:cNvSpPr/>
          <p:nvPr/>
        </p:nvSpPr>
        <p:spPr>
          <a:xfrm>
            <a:off x="10883354" y="2332152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555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24948" y="2218680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908" y="2114679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557" name="hidden…"/>
          <p:cNvSpPr txBox="1"/>
          <p:nvPr/>
        </p:nvSpPr>
        <p:spPr>
          <a:xfrm>
            <a:off x="3639371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2</a:t>
            </a:r>
          </a:p>
        </p:txBody>
      </p:sp>
      <p:sp>
        <p:nvSpPr>
          <p:cNvPr id="558" name="hidden…"/>
          <p:cNvSpPr txBox="1"/>
          <p:nvPr/>
        </p:nvSpPr>
        <p:spPr>
          <a:xfrm>
            <a:off x="6766604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3</a:t>
            </a:r>
          </a:p>
        </p:txBody>
      </p:sp>
      <p:sp>
        <p:nvSpPr>
          <p:cNvPr id="559" name="Line"/>
          <p:cNvSpPr/>
          <p:nvPr/>
        </p:nvSpPr>
        <p:spPr>
          <a:xfrm>
            <a:off x="7871306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60" name="Square"/>
          <p:cNvSpPr/>
          <p:nvPr/>
        </p:nvSpPr>
        <p:spPr>
          <a:xfrm>
            <a:off x="8289734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61" name="Circle"/>
          <p:cNvSpPr/>
          <p:nvPr/>
        </p:nvSpPr>
        <p:spPr>
          <a:xfrm>
            <a:off x="9662172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62" name="Line"/>
          <p:cNvSpPr/>
          <p:nvPr/>
        </p:nvSpPr>
        <p:spPr>
          <a:xfrm flipV="1">
            <a:off x="10304941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63" name="output…"/>
          <p:cNvSpPr txBox="1"/>
          <p:nvPr/>
        </p:nvSpPr>
        <p:spPr>
          <a:xfrm>
            <a:off x="9860633" y="3079750"/>
            <a:ext cx="888617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output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4</a:t>
            </a:r>
          </a:p>
        </p:txBody>
      </p:sp>
      <p:sp>
        <p:nvSpPr>
          <p:cNvPr id="564" name="weight"/>
          <p:cNvSpPr txBox="1"/>
          <p:nvPr/>
        </p:nvSpPr>
        <p:spPr>
          <a:xfrm>
            <a:off x="228505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565" name="input"/>
          <p:cNvSpPr txBox="1"/>
          <p:nvPr/>
        </p:nvSpPr>
        <p:spPr>
          <a:xfrm>
            <a:off x="1186883" y="1562100"/>
            <a:ext cx="509550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input</a:t>
            </a:r>
          </a:p>
        </p:txBody>
      </p:sp>
      <p:sp>
        <p:nvSpPr>
          <p:cNvPr id="566" name="activation"/>
          <p:cNvSpPr txBox="1"/>
          <p:nvPr/>
        </p:nvSpPr>
        <p:spPr>
          <a:xfrm>
            <a:off x="41729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567" name="sum"/>
          <p:cNvSpPr txBox="1"/>
          <p:nvPr/>
        </p:nvSpPr>
        <p:spPr>
          <a:xfrm>
            <a:off x="3567808" y="1371600"/>
            <a:ext cx="450166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sum</a:t>
            </a:r>
          </a:p>
        </p:txBody>
      </p:sp>
      <p:sp>
        <p:nvSpPr>
          <p:cNvPr id="568" name="weight"/>
          <p:cNvSpPr txBox="1"/>
          <p:nvPr/>
        </p:nvSpPr>
        <p:spPr>
          <a:xfrm>
            <a:off x="5282782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569" name="weight"/>
          <p:cNvSpPr txBox="1"/>
          <p:nvPr/>
        </p:nvSpPr>
        <p:spPr>
          <a:xfrm>
            <a:off x="837082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pic>
        <p:nvPicPr>
          <p:cNvPr id="570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947" y="2216279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71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0188" y="2172616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72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8634" y="2225030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73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6612" y="2102766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574" name="activation"/>
          <p:cNvSpPr txBox="1"/>
          <p:nvPr/>
        </p:nvSpPr>
        <p:spPr>
          <a:xfrm>
            <a:off x="7442049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575" name="activation"/>
          <p:cNvSpPr txBox="1"/>
          <p:nvPr/>
        </p:nvSpPr>
        <p:spPr>
          <a:xfrm>
            <a:off x="103197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576" name="input…"/>
          <p:cNvSpPr txBox="1"/>
          <p:nvPr/>
        </p:nvSpPr>
        <p:spPr>
          <a:xfrm>
            <a:off x="1051251" y="3079750"/>
            <a:ext cx="83883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input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1</a:t>
            </a:r>
          </a:p>
        </p:txBody>
      </p:sp>
      <p:sp>
        <p:nvSpPr>
          <p:cNvPr id="577" name="Line"/>
          <p:cNvSpPr/>
          <p:nvPr/>
        </p:nvSpPr>
        <p:spPr>
          <a:xfrm flipV="1">
            <a:off x="2821361" y="2661170"/>
            <a:ext cx="651421" cy="65142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78" name="Square"/>
          <p:cNvSpPr/>
          <p:nvPr/>
        </p:nvSpPr>
        <p:spPr>
          <a:xfrm>
            <a:off x="2203963" y="3202975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579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3577" y="3399825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80" name="Rounded Rectangle" descr="Rounded Rectangl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698" y="1356322"/>
            <a:ext cx="4737146" cy="1813092"/>
          </a:xfrm>
          <a:prstGeom prst="rect">
            <a:avLst/>
          </a:prstGeom>
        </p:spPr>
      </p:pic>
      <p:pic>
        <p:nvPicPr>
          <p:cNvPr id="582" name="Image" descr="Image"/>
          <p:cNvPicPr>
            <a:picLocks noChangeAspect="1"/>
          </p:cNvPicPr>
          <p:nvPr/>
        </p:nvPicPr>
        <p:blipFill>
          <a:blip r:embed="rId16"/>
          <a:srcRect b="21335"/>
          <a:stretch>
            <a:fillRect/>
          </a:stretch>
        </p:blipFill>
        <p:spPr>
          <a:xfrm>
            <a:off x="1129413" y="4801025"/>
            <a:ext cx="10745974" cy="294809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22846170"/>
      </p:ext>
    </p:extLst>
  </p:cSld>
  <p:clrMapOvr>
    <a:masterClrMapping/>
  </p:clrMapOvr>
  <p:transition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Line"/>
          <p:cNvSpPr/>
          <p:nvPr/>
        </p:nvSpPr>
        <p:spPr>
          <a:xfrm>
            <a:off x="1818859" y="2344066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58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17" y="2236116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588" name="Circle"/>
          <p:cNvSpPr/>
          <p:nvPr/>
        </p:nvSpPr>
        <p:spPr>
          <a:xfrm>
            <a:off x="3460109" y="17012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89" name="Square"/>
          <p:cNvSpPr/>
          <p:nvPr/>
        </p:nvSpPr>
        <p:spPr>
          <a:xfrm>
            <a:off x="2203963" y="1944016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59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063" y="2204366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91" name="Line"/>
          <p:cNvSpPr/>
          <p:nvPr/>
        </p:nvSpPr>
        <p:spPr>
          <a:xfrm flipV="1">
            <a:off x="4102878" y="1919402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592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390" y="2204366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9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0932" y="2116252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594" name="Line"/>
          <p:cNvSpPr/>
          <p:nvPr/>
        </p:nvSpPr>
        <p:spPr>
          <a:xfrm>
            <a:off x="4796475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95" name="Square"/>
          <p:cNvSpPr/>
          <p:nvPr/>
        </p:nvSpPr>
        <p:spPr>
          <a:xfrm>
            <a:off x="5214903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596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3653" y="2228192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97" name="Circle"/>
          <p:cNvSpPr/>
          <p:nvPr/>
        </p:nvSpPr>
        <p:spPr>
          <a:xfrm>
            <a:off x="6587341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98" name="Line"/>
          <p:cNvSpPr/>
          <p:nvPr/>
        </p:nvSpPr>
        <p:spPr>
          <a:xfrm flipV="1">
            <a:off x="7230110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599" name="Line"/>
          <p:cNvSpPr/>
          <p:nvPr/>
        </p:nvSpPr>
        <p:spPr>
          <a:xfrm>
            <a:off x="10883354" y="2332152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600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24948" y="2218680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01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908" y="2114679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602" name="hidden…"/>
          <p:cNvSpPr txBox="1"/>
          <p:nvPr/>
        </p:nvSpPr>
        <p:spPr>
          <a:xfrm>
            <a:off x="3639371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2</a:t>
            </a:r>
          </a:p>
        </p:txBody>
      </p:sp>
      <p:sp>
        <p:nvSpPr>
          <p:cNvPr id="603" name="hidden…"/>
          <p:cNvSpPr txBox="1"/>
          <p:nvPr/>
        </p:nvSpPr>
        <p:spPr>
          <a:xfrm>
            <a:off x="6766604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3</a:t>
            </a:r>
          </a:p>
        </p:txBody>
      </p:sp>
      <p:sp>
        <p:nvSpPr>
          <p:cNvPr id="604" name="Line"/>
          <p:cNvSpPr/>
          <p:nvPr/>
        </p:nvSpPr>
        <p:spPr>
          <a:xfrm>
            <a:off x="7871306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05" name="Square"/>
          <p:cNvSpPr/>
          <p:nvPr/>
        </p:nvSpPr>
        <p:spPr>
          <a:xfrm>
            <a:off x="8289734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06" name="Circle"/>
          <p:cNvSpPr/>
          <p:nvPr/>
        </p:nvSpPr>
        <p:spPr>
          <a:xfrm>
            <a:off x="9662172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07" name="Line"/>
          <p:cNvSpPr/>
          <p:nvPr/>
        </p:nvSpPr>
        <p:spPr>
          <a:xfrm flipV="1">
            <a:off x="10304941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08" name="output…"/>
          <p:cNvSpPr txBox="1"/>
          <p:nvPr/>
        </p:nvSpPr>
        <p:spPr>
          <a:xfrm>
            <a:off x="9860633" y="3079750"/>
            <a:ext cx="888617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output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4</a:t>
            </a:r>
          </a:p>
        </p:txBody>
      </p:sp>
      <p:sp>
        <p:nvSpPr>
          <p:cNvPr id="609" name="weight"/>
          <p:cNvSpPr txBox="1"/>
          <p:nvPr/>
        </p:nvSpPr>
        <p:spPr>
          <a:xfrm>
            <a:off x="228505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610" name="input"/>
          <p:cNvSpPr txBox="1"/>
          <p:nvPr/>
        </p:nvSpPr>
        <p:spPr>
          <a:xfrm>
            <a:off x="1186883" y="1562100"/>
            <a:ext cx="509550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input</a:t>
            </a:r>
          </a:p>
        </p:txBody>
      </p:sp>
      <p:sp>
        <p:nvSpPr>
          <p:cNvPr id="611" name="activation"/>
          <p:cNvSpPr txBox="1"/>
          <p:nvPr/>
        </p:nvSpPr>
        <p:spPr>
          <a:xfrm>
            <a:off x="41729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612" name="sum"/>
          <p:cNvSpPr txBox="1"/>
          <p:nvPr/>
        </p:nvSpPr>
        <p:spPr>
          <a:xfrm>
            <a:off x="3567808" y="1371600"/>
            <a:ext cx="450166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sum</a:t>
            </a:r>
          </a:p>
        </p:txBody>
      </p:sp>
      <p:sp>
        <p:nvSpPr>
          <p:cNvPr id="613" name="weight"/>
          <p:cNvSpPr txBox="1"/>
          <p:nvPr/>
        </p:nvSpPr>
        <p:spPr>
          <a:xfrm>
            <a:off x="5282782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614" name="weight"/>
          <p:cNvSpPr txBox="1"/>
          <p:nvPr/>
        </p:nvSpPr>
        <p:spPr>
          <a:xfrm>
            <a:off x="837082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pic>
        <p:nvPicPr>
          <p:cNvPr id="615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947" y="2216279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16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0188" y="2172616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17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8634" y="2225030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18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6612" y="2102766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619" name="activation"/>
          <p:cNvSpPr txBox="1"/>
          <p:nvPr/>
        </p:nvSpPr>
        <p:spPr>
          <a:xfrm>
            <a:off x="7442049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620" name="activation"/>
          <p:cNvSpPr txBox="1"/>
          <p:nvPr/>
        </p:nvSpPr>
        <p:spPr>
          <a:xfrm>
            <a:off x="103197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621" name="input…"/>
          <p:cNvSpPr txBox="1"/>
          <p:nvPr/>
        </p:nvSpPr>
        <p:spPr>
          <a:xfrm>
            <a:off x="1051251" y="3079750"/>
            <a:ext cx="83883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input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1</a:t>
            </a:r>
          </a:p>
        </p:txBody>
      </p:sp>
      <p:sp>
        <p:nvSpPr>
          <p:cNvPr id="622" name="Line"/>
          <p:cNvSpPr/>
          <p:nvPr/>
        </p:nvSpPr>
        <p:spPr>
          <a:xfrm flipV="1">
            <a:off x="2821361" y="2661170"/>
            <a:ext cx="651421" cy="65142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23" name="Square"/>
          <p:cNvSpPr/>
          <p:nvPr/>
        </p:nvSpPr>
        <p:spPr>
          <a:xfrm>
            <a:off x="2203963" y="3202975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624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3577" y="3399825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5" name="Rounded Rectangle" descr="Rounded Rectangl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9500339" y="1356322"/>
            <a:ext cx="2798954" cy="1813092"/>
          </a:xfrm>
          <a:prstGeom prst="rect">
            <a:avLst/>
          </a:prstGeom>
        </p:spPr>
      </p:pic>
      <p:pic>
        <p:nvPicPr>
          <p:cNvPr id="627" name="Image" descr="Image"/>
          <p:cNvPicPr>
            <a:picLocks noChangeAspect="1"/>
          </p:cNvPicPr>
          <p:nvPr/>
        </p:nvPicPr>
        <p:blipFill>
          <a:blip r:embed="rId16"/>
          <a:srcRect b="21335"/>
          <a:stretch>
            <a:fillRect/>
          </a:stretch>
        </p:blipFill>
        <p:spPr>
          <a:xfrm>
            <a:off x="1129413" y="4801025"/>
            <a:ext cx="10745974" cy="294809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66042199"/>
      </p:ext>
    </p:extLst>
  </p:cSld>
  <p:clrMapOvr>
    <a:masterClrMapping/>
  </p:clrMapOvr>
  <p:transition spd="med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Line"/>
          <p:cNvSpPr/>
          <p:nvPr/>
        </p:nvSpPr>
        <p:spPr>
          <a:xfrm>
            <a:off x="1818859" y="2344066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63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17" y="2236116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633" name="Circle"/>
          <p:cNvSpPr/>
          <p:nvPr/>
        </p:nvSpPr>
        <p:spPr>
          <a:xfrm>
            <a:off x="3460109" y="17012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34" name="Square"/>
          <p:cNvSpPr/>
          <p:nvPr/>
        </p:nvSpPr>
        <p:spPr>
          <a:xfrm>
            <a:off x="2203963" y="1944016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63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063" y="2204366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636" name="Line"/>
          <p:cNvSpPr/>
          <p:nvPr/>
        </p:nvSpPr>
        <p:spPr>
          <a:xfrm flipV="1">
            <a:off x="4102878" y="1919402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63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390" y="2204366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8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0932" y="2116252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639" name="Line"/>
          <p:cNvSpPr/>
          <p:nvPr/>
        </p:nvSpPr>
        <p:spPr>
          <a:xfrm>
            <a:off x="4796475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40" name="Square"/>
          <p:cNvSpPr/>
          <p:nvPr/>
        </p:nvSpPr>
        <p:spPr>
          <a:xfrm>
            <a:off x="5214903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641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3653" y="2228192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642" name="Circle"/>
          <p:cNvSpPr/>
          <p:nvPr/>
        </p:nvSpPr>
        <p:spPr>
          <a:xfrm>
            <a:off x="6587341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43" name="Line"/>
          <p:cNvSpPr/>
          <p:nvPr/>
        </p:nvSpPr>
        <p:spPr>
          <a:xfrm flipV="1">
            <a:off x="7230110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44" name="Line"/>
          <p:cNvSpPr/>
          <p:nvPr/>
        </p:nvSpPr>
        <p:spPr>
          <a:xfrm>
            <a:off x="10883354" y="2332152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645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24948" y="2218680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46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908" y="2114679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647" name="hidden…"/>
          <p:cNvSpPr txBox="1"/>
          <p:nvPr/>
        </p:nvSpPr>
        <p:spPr>
          <a:xfrm>
            <a:off x="3639371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2</a:t>
            </a:r>
          </a:p>
        </p:txBody>
      </p:sp>
      <p:sp>
        <p:nvSpPr>
          <p:cNvPr id="648" name="hidden…"/>
          <p:cNvSpPr txBox="1"/>
          <p:nvPr/>
        </p:nvSpPr>
        <p:spPr>
          <a:xfrm>
            <a:off x="6766604" y="3079750"/>
            <a:ext cx="927014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hidden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3</a:t>
            </a:r>
          </a:p>
        </p:txBody>
      </p:sp>
      <p:sp>
        <p:nvSpPr>
          <p:cNvPr id="649" name="Line"/>
          <p:cNvSpPr/>
          <p:nvPr/>
        </p:nvSpPr>
        <p:spPr>
          <a:xfrm>
            <a:off x="7871306" y="2355979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50" name="Square"/>
          <p:cNvSpPr/>
          <p:nvPr/>
        </p:nvSpPr>
        <p:spPr>
          <a:xfrm>
            <a:off x="8289734" y="195592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51" name="Circle"/>
          <p:cNvSpPr/>
          <p:nvPr/>
        </p:nvSpPr>
        <p:spPr>
          <a:xfrm>
            <a:off x="9662172" y="1675897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52" name="Line"/>
          <p:cNvSpPr/>
          <p:nvPr/>
        </p:nvSpPr>
        <p:spPr>
          <a:xfrm flipV="1">
            <a:off x="10304941" y="1905916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53" name="output…"/>
          <p:cNvSpPr txBox="1"/>
          <p:nvPr/>
        </p:nvSpPr>
        <p:spPr>
          <a:xfrm>
            <a:off x="9860633" y="3079750"/>
            <a:ext cx="888617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output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4</a:t>
            </a:r>
          </a:p>
        </p:txBody>
      </p:sp>
      <p:sp>
        <p:nvSpPr>
          <p:cNvPr id="654" name="weight"/>
          <p:cNvSpPr txBox="1"/>
          <p:nvPr/>
        </p:nvSpPr>
        <p:spPr>
          <a:xfrm>
            <a:off x="228505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655" name="input"/>
          <p:cNvSpPr txBox="1"/>
          <p:nvPr/>
        </p:nvSpPr>
        <p:spPr>
          <a:xfrm>
            <a:off x="1186883" y="1562100"/>
            <a:ext cx="509550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input</a:t>
            </a:r>
          </a:p>
        </p:txBody>
      </p:sp>
      <p:sp>
        <p:nvSpPr>
          <p:cNvPr id="656" name="activation"/>
          <p:cNvSpPr txBox="1"/>
          <p:nvPr/>
        </p:nvSpPr>
        <p:spPr>
          <a:xfrm>
            <a:off x="41729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657" name="sum"/>
          <p:cNvSpPr txBox="1"/>
          <p:nvPr/>
        </p:nvSpPr>
        <p:spPr>
          <a:xfrm>
            <a:off x="3567808" y="1371600"/>
            <a:ext cx="450166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sum</a:t>
            </a:r>
          </a:p>
        </p:txBody>
      </p:sp>
      <p:sp>
        <p:nvSpPr>
          <p:cNvPr id="658" name="weight"/>
          <p:cNvSpPr txBox="1"/>
          <p:nvPr/>
        </p:nvSpPr>
        <p:spPr>
          <a:xfrm>
            <a:off x="5282782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sp>
        <p:nvSpPr>
          <p:cNvPr id="659" name="weight"/>
          <p:cNvSpPr txBox="1"/>
          <p:nvPr/>
        </p:nvSpPr>
        <p:spPr>
          <a:xfrm>
            <a:off x="8370823" y="1562100"/>
            <a:ext cx="637922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weight</a:t>
            </a:r>
          </a:p>
        </p:txBody>
      </p:sp>
      <p:pic>
        <p:nvPicPr>
          <p:cNvPr id="660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947" y="2216279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61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0188" y="2172616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62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8634" y="2225030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63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6612" y="2102766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664" name="activation"/>
          <p:cNvSpPr txBox="1"/>
          <p:nvPr/>
        </p:nvSpPr>
        <p:spPr>
          <a:xfrm>
            <a:off x="7442049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665" name="activation"/>
          <p:cNvSpPr txBox="1"/>
          <p:nvPr/>
        </p:nvSpPr>
        <p:spPr>
          <a:xfrm>
            <a:off x="10319771" y="1371600"/>
            <a:ext cx="875285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/>
            </a:lvl1pPr>
          </a:lstStyle>
          <a:p>
            <a:r>
              <a:t>activation</a:t>
            </a:r>
          </a:p>
        </p:txBody>
      </p:sp>
      <p:sp>
        <p:nvSpPr>
          <p:cNvPr id="666" name="input…"/>
          <p:cNvSpPr txBox="1"/>
          <p:nvPr/>
        </p:nvSpPr>
        <p:spPr>
          <a:xfrm>
            <a:off x="1051251" y="3079750"/>
            <a:ext cx="83883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input</a:t>
            </a:r>
          </a:p>
          <a:p>
            <a:pPr>
              <a:defRPr sz="18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layer 1</a:t>
            </a:r>
          </a:p>
        </p:txBody>
      </p:sp>
      <p:pic>
        <p:nvPicPr>
          <p:cNvPr id="667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9413" y="4801025"/>
            <a:ext cx="10745974" cy="3747706"/>
          </a:xfrm>
          <a:prstGeom prst="rect">
            <a:avLst/>
          </a:prstGeom>
          <a:ln w="12700">
            <a:miter lim="400000"/>
          </a:ln>
        </p:spPr>
      </p:pic>
      <p:sp>
        <p:nvSpPr>
          <p:cNvPr id="668" name="Line"/>
          <p:cNvSpPr/>
          <p:nvPr/>
        </p:nvSpPr>
        <p:spPr>
          <a:xfrm flipV="1">
            <a:off x="2821361" y="2661170"/>
            <a:ext cx="651421" cy="65142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69" name="Square"/>
          <p:cNvSpPr/>
          <p:nvPr/>
        </p:nvSpPr>
        <p:spPr>
          <a:xfrm>
            <a:off x="2203963" y="3202975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670" name="Image" descr="Imag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53577" y="3399825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1" name="Rounded Rectangle" descr="Rounded Rectangl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9500339" y="1356322"/>
            <a:ext cx="2798954" cy="181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45213"/>
      </p:ext>
    </p:extLst>
  </p:cSld>
  <p:clrMapOvr>
    <a:masterClrMapping/>
  </p:clrMapOvr>
  <p:transition spd="med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Image" descr="Image"/>
          <p:cNvPicPr>
            <a:picLocks noChangeAspect="1"/>
          </p:cNvPicPr>
          <p:nvPr/>
        </p:nvPicPr>
        <p:blipFill>
          <a:blip r:embed="rId2"/>
          <a:srcRect t="78742"/>
          <a:stretch>
            <a:fillRect/>
          </a:stretch>
        </p:blipFill>
        <p:spPr>
          <a:xfrm>
            <a:off x="1129506" y="2999291"/>
            <a:ext cx="10745974" cy="796682"/>
          </a:xfrm>
          <a:prstGeom prst="rect">
            <a:avLst/>
          </a:prstGeom>
          <a:ln w="12700">
            <a:miter lim="400000"/>
          </a:ln>
        </p:spPr>
      </p:pic>
      <p:sp>
        <p:nvSpPr>
          <p:cNvPr id="677" name="Entire network can be written out as one long equation"/>
          <p:cNvSpPr txBox="1"/>
          <p:nvPr/>
        </p:nvSpPr>
        <p:spPr>
          <a:xfrm>
            <a:off x="896899" y="2011181"/>
            <a:ext cx="1121100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Entire network can be written out as one long equation</a:t>
            </a:r>
          </a:p>
        </p:txBody>
      </p:sp>
      <p:sp>
        <p:nvSpPr>
          <p:cNvPr id="678" name="What is known? What is unknown?"/>
          <p:cNvSpPr txBox="1"/>
          <p:nvPr/>
        </p:nvSpPr>
        <p:spPr>
          <a:xfrm>
            <a:off x="3073193" y="7133210"/>
            <a:ext cx="710214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What is known? What is unknown?</a:t>
            </a:r>
          </a:p>
        </p:txBody>
      </p:sp>
      <p:sp>
        <p:nvSpPr>
          <p:cNvPr id="679" name="We need to train the network:"/>
          <p:cNvSpPr txBox="1"/>
          <p:nvPr/>
        </p:nvSpPr>
        <p:spPr>
          <a:xfrm>
            <a:off x="3585257" y="6420887"/>
            <a:ext cx="60780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We need to train the network:</a:t>
            </a:r>
          </a:p>
        </p:txBody>
      </p:sp>
    </p:spTree>
    <p:extLst>
      <p:ext uri="{BB962C8B-B14F-4D97-AF65-F5344CB8AC3E}">
        <p14:creationId xmlns:p14="http://schemas.microsoft.com/office/powerpoint/2010/main" val="610138218"/>
      </p:ext>
    </p:extLst>
  </p:cSld>
  <p:clrMapOvr>
    <a:masterClrMapping/>
  </p:clrMapOvr>
  <p:transition spd="med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Image" descr="Image"/>
          <p:cNvPicPr>
            <a:picLocks noChangeAspect="1"/>
          </p:cNvPicPr>
          <p:nvPr/>
        </p:nvPicPr>
        <p:blipFill>
          <a:blip r:embed="rId2"/>
          <a:srcRect t="78742"/>
          <a:stretch>
            <a:fillRect/>
          </a:stretch>
        </p:blipFill>
        <p:spPr>
          <a:xfrm>
            <a:off x="1129506" y="2999291"/>
            <a:ext cx="10745974" cy="796682"/>
          </a:xfrm>
          <a:prstGeom prst="rect">
            <a:avLst/>
          </a:prstGeom>
          <a:ln w="12700">
            <a:miter lim="400000"/>
          </a:ln>
        </p:spPr>
      </p:pic>
      <p:sp>
        <p:nvSpPr>
          <p:cNvPr id="682" name="Entire network can be written out as a long equation"/>
          <p:cNvSpPr txBox="1"/>
          <p:nvPr/>
        </p:nvSpPr>
        <p:spPr>
          <a:xfrm>
            <a:off x="1151102" y="2011181"/>
            <a:ext cx="1070259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Entire network can be written out as a long equation</a:t>
            </a:r>
          </a:p>
        </p:txBody>
      </p:sp>
      <p:sp>
        <p:nvSpPr>
          <p:cNvPr id="683" name="What is known? What is unknown?"/>
          <p:cNvSpPr txBox="1"/>
          <p:nvPr/>
        </p:nvSpPr>
        <p:spPr>
          <a:xfrm>
            <a:off x="3073193" y="7133210"/>
            <a:ext cx="710214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What is known? What is unknown?</a:t>
            </a:r>
          </a:p>
        </p:txBody>
      </p:sp>
      <p:sp>
        <p:nvSpPr>
          <p:cNvPr id="684" name="known"/>
          <p:cNvSpPr txBox="1"/>
          <p:nvPr/>
        </p:nvSpPr>
        <p:spPr>
          <a:xfrm>
            <a:off x="4234596" y="5229564"/>
            <a:ext cx="107945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 b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known</a:t>
            </a:r>
          </a:p>
        </p:txBody>
      </p:sp>
      <p:pic>
        <p:nvPicPr>
          <p:cNvPr id="688" name="Connection Line" descr="Connection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399914" y="3821364"/>
            <a:ext cx="4123697" cy="1729123"/>
          </a:xfrm>
          <a:prstGeom prst="rect">
            <a:avLst/>
          </a:prstGeom>
        </p:spPr>
      </p:pic>
      <p:sp>
        <p:nvSpPr>
          <p:cNvPr id="686" name="We need to train the network:"/>
          <p:cNvSpPr txBox="1"/>
          <p:nvPr/>
        </p:nvSpPr>
        <p:spPr>
          <a:xfrm>
            <a:off x="3585257" y="6420887"/>
            <a:ext cx="60780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We need to train the network:</a:t>
            </a:r>
          </a:p>
        </p:txBody>
      </p:sp>
      <p:pic>
        <p:nvPicPr>
          <p:cNvPr id="690" name="Connection Line" descr="Connection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389698" y="3996757"/>
            <a:ext cx="2759032" cy="152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926643"/>
      </p:ext>
    </p:extLst>
  </p:cSld>
  <p:clrMapOvr>
    <a:masterClrMapping/>
  </p:clrMapOvr>
  <p:transition spd="med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Image" descr="Image"/>
          <p:cNvPicPr>
            <a:picLocks noChangeAspect="1"/>
          </p:cNvPicPr>
          <p:nvPr/>
        </p:nvPicPr>
        <p:blipFill>
          <a:blip r:embed="rId2"/>
          <a:srcRect t="78742"/>
          <a:stretch>
            <a:fillRect/>
          </a:stretch>
        </p:blipFill>
        <p:spPr>
          <a:xfrm>
            <a:off x="1129506" y="2999291"/>
            <a:ext cx="10745974" cy="796682"/>
          </a:xfrm>
          <a:prstGeom prst="rect">
            <a:avLst/>
          </a:prstGeom>
          <a:ln w="12700">
            <a:miter lim="400000"/>
          </a:ln>
        </p:spPr>
      </p:pic>
      <p:sp>
        <p:nvSpPr>
          <p:cNvPr id="694" name="Entire network can be written out as a long equation"/>
          <p:cNvSpPr txBox="1"/>
          <p:nvPr/>
        </p:nvSpPr>
        <p:spPr>
          <a:xfrm>
            <a:off x="1151102" y="2011181"/>
            <a:ext cx="1070259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Entire network can be written out as a long equation</a:t>
            </a:r>
          </a:p>
        </p:txBody>
      </p:sp>
      <p:sp>
        <p:nvSpPr>
          <p:cNvPr id="695" name="What is known? What is unknown?"/>
          <p:cNvSpPr txBox="1"/>
          <p:nvPr/>
        </p:nvSpPr>
        <p:spPr>
          <a:xfrm>
            <a:off x="3073193" y="7133210"/>
            <a:ext cx="710214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What is known? What is unknown?</a:t>
            </a:r>
          </a:p>
        </p:txBody>
      </p:sp>
      <p:sp>
        <p:nvSpPr>
          <p:cNvPr id="696" name="unknown"/>
          <p:cNvSpPr txBox="1"/>
          <p:nvPr/>
        </p:nvSpPr>
        <p:spPr>
          <a:xfrm>
            <a:off x="6346449" y="5473296"/>
            <a:ext cx="1451820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unknown</a:t>
            </a:r>
          </a:p>
        </p:txBody>
      </p:sp>
      <p:pic>
        <p:nvPicPr>
          <p:cNvPr id="707" name="Connection Line" descr="Connection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861088" y="3821377"/>
            <a:ext cx="3043646" cy="1978833"/>
          </a:xfrm>
          <a:prstGeom prst="rect">
            <a:avLst/>
          </a:prstGeom>
        </p:spPr>
      </p:pic>
      <p:sp>
        <p:nvSpPr>
          <p:cNvPr id="698" name="We need to train the network:"/>
          <p:cNvSpPr txBox="1"/>
          <p:nvPr/>
        </p:nvSpPr>
        <p:spPr>
          <a:xfrm>
            <a:off x="3585257" y="6420887"/>
            <a:ext cx="60780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We need to train the network:</a:t>
            </a:r>
          </a:p>
        </p:txBody>
      </p:sp>
      <p:pic>
        <p:nvPicPr>
          <p:cNvPr id="709" name="Connection Line" descr="Connection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920286" y="3888353"/>
            <a:ext cx="3276021" cy="1914377"/>
          </a:xfrm>
          <a:prstGeom prst="rect">
            <a:avLst/>
          </a:prstGeom>
        </p:spPr>
      </p:pic>
      <p:pic>
        <p:nvPicPr>
          <p:cNvPr id="711" name="Connection Line" descr="Connection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659022" y="3765870"/>
            <a:ext cx="988095" cy="1812220"/>
          </a:xfrm>
          <a:prstGeom prst="rect">
            <a:avLst/>
          </a:prstGeom>
        </p:spPr>
      </p:pic>
      <p:pic>
        <p:nvPicPr>
          <p:cNvPr id="713" name="Connection Line" descr="Connection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002757" y="3820070"/>
            <a:ext cx="482482" cy="1674722"/>
          </a:xfrm>
          <a:prstGeom prst="rect">
            <a:avLst/>
          </a:prstGeom>
        </p:spPr>
      </p:pic>
      <p:pic>
        <p:nvPicPr>
          <p:cNvPr id="715" name="Connection Line" descr="Connection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872360" y="3820084"/>
            <a:ext cx="839288" cy="1678577"/>
          </a:xfrm>
          <a:prstGeom prst="rect">
            <a:avLst/>
          </a:prstGeom>
        </p:spPr>
      </p:pic>
      <p:pic>
        <p:nvPicPr>
          <p:cNvPr id="717" name="Connection Line" descr="Connection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5061545" y="3885476"/>
            <a:ext cx="1241634" cy="1652754"/>
          </a:xfrm>
          <a:prstGeom prst="rect">
            <a:avLst/>
          </a:prstGeom>
        </p:spPr>
      </p:pic>
      <p:pic>
        <p:nvPicPr>
          <p:cNvPr id="719" name="Connection Line" descr="Connection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3965793" y="3885488"/>
            <a:ext cx="2270443" cy="1781824"/>
          </a:xfrm>
          <a:prstGeom prst="rect">
            <a:avLst/>
          </a:prstGeom>
        </p:spPr>
      </p:pic>
      <p:sp>
        <p:nvSpPr>
          <p:cNvPr id="705" name="activation function sometimes has parameters"/>
          <p:cNvSpPr txBox="1"/>
          <p:nvPr/>
        </p:nvSpPr>
        <p:spPr>
          <a:xfrm>
            <a:off x="763195" y="5149150"/>
            <a:ext cx="3276021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r>
              <a:t>activation function sometimes has parameters</a:t>
            </a:r>
          </a:p>
        </p:txBody>
      </p:sp>
      <p:sp>
        <p:nvSpPr>
          <p:cNvPr id="706" name="Line"/>
          <p:cNvSpPr/>
          <p:nvPr/>
        </p:nvSpPr>
        <p:spPr>
          <a:xfrm flipV="1">
            <a:off x="2838169" y="4623675"/>
            <a:ext cx="400663" cy="400663"/>
          </a:xfrm>
          <a:prstGeom prst="line">
            <a:avLst/>
          </a:prstGeom>
          <a:ln w="254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85619"/>
      </p:ext>
    </p:extLst>
  </p:cSld>
  <p:clrMapOvr>
    <a:masterClrMapping/>
  </p:clrMapOvr>
  <p:transition spd="med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iven a set of samples and a MLP"/>
          <p:cNvSpPr txBox="1"/>
          <p:nvPr/>
        </p:nvSpPr>
        <p:spPr>
          <a:xfrm>
            <a:off x="2796257" y="2803889"/>
            <a:ext cx="7412287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/>
              <a:t>Given a set of samples and a</a:t>
            </a:r>
            <a:r>
              <a:rPr lang="en-US" dirty="0"/>
              <a:t>n</a:t>
            </a:r>
            <a:r>
              <a:rPr dirty="0"/>
              <a:t> MLP</a:t>
            </a:r>
          </a:p>
        </p:txBody>
      </p:sp>
      <p:sp>
        <p:nvSpPr>
          <p:cNvPr id="723" name="Estimate the parameters of the MLP"/>
          <p:cNvSpPr txBox="1"/>
          <p:nvPr/>
        </p:nvSpPr>
        <p:spPr>
          <a:xfrm>
            <a:off x="2799080" y="6745044"/>
            <a:ext cx="740664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Estimate the parameters of the MLP</a:t>
            </a:r>
          </a:p>
        </p:txBody>
      </p:sp>
      <p:sp>
        <p:nvSpPr>
          <p:cNvPr id="724" name="Learning an MLP"/>
          <p:cNvSpPr txBox="1"/>
          <p:nvPr/>
        </p:nvSpPr>
        <p:spPr>
          <a:xfrm>
            <a:off x="4296674" y="1217378"/>
            <a:ext cx="4411452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Learning an MLP</a:t>
            </a:r>
          </a:p>
        </p:txBody>
      </p:sp>
      <p:pic>
        <p:nvPicPr>
          <p:cNvPr id="72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454" y="3734951"/>
            <a:ext cx="2189892" cy="736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221" y="7789826"/>
            <a:ext cx="3822358" cy="736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1631" y="4785501"/>
            <a:ext cx="4141537" cy="6997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36224016"/>
      </p:ext>
    </p:extLst>
  </p:cSld>
  <p:clrMapOvr>
    <a:masterClrMapping/>
  </p:clrMapOvr>
  <p:transition spd="med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Rectangle"/>
          <p:cNvSpPr/>
          <p:nvPr/>
        </p:nvSpPr>
        <p:spPr>
          <a:xfrm>
            <a:off x="8274328" y="8279733"/>
            <a:ext cx="2389271" cy="693686"/>
          </a:xfrm>
          <a:prstGeom prst="rect">
            <a:avLst/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2" name="Rectangle"/>
          <p:cNvSpPr/>
          <p:nvPr/>
        </p:nvSpPr>
        <p:spPr>
          <a:xfrm>
            <a:off x="8247219" y="6854224"/>
            <a:ext cx="897592" cy="1151380"/>
          </a:xfrm>
          <a:prstGeom prst="rect">
            <a:avLst/>
          </a:prstGeom>
          <a:solidFill>
            <a:schemeClr val="accent3">
              <a:satOff val="18648"/>
              <a:lumOff val="5971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3" name="Stochastic Gradient Descent…"/>
          <p:cNvSpPr txBox="1"/>
          <p:nvPr/>
        </p:nvSpPr>
        <p:spPr>
          <a:xfrm>
            <a:off x="1409417" y="1355785"/>
            <a:ext cx="7640730" cy="7668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1100"/>
              </a:spcBef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Gradient Descent</a:t>
            </a:r>
          </a:p>
          <a:p>
            <a:pPr algn="l">
              <a:lnSpc>
                <a:spcPct val="150000"/>
              </a:lnSpc>
              <a:spcBef>
                <a:spcPts val="11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For each </a:t>
            </a:r>
            <a:r>
              <a:rPr b="1" dirty="0"/>
              <a:t>random</a:t>
            </a:r>
            <a:r>
              <a:rPr dirty="0"/>
              <a:t> sample</a:t>
            </a:r>
          </a:p>
          <a:p>
            <a:pPr marL="1270000" lvl="1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rabi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Predict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Forward pass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Compute Loss</a:t>
            </a:r>
          </a:p>
          <a:p>
            <a:pPr marL="1270000" lvl="1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rabi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Update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Back Propagation</a:t>
            </a:r>
          </a:p>
          <a:p>
            <a:pPr marL="1905000" lvl="2" indent="-635000" algn="l">
              <a:lnSpc>
                <a:spcPct val="150000"/>
              </a:lnSpc>
              <a:spcBef>
                <a:spcPts val="1100"/>
              </a:spcBef>
              <a:buSzPct val="100000"/>
              <a:buAutoNum type="alphaLcPeriod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Gradient update</a:t>
            </a:r>
          </a:p>
        </p:txBody>
      </p:sp>
      <p:pic>
        <p:nvPicPr>
          <p:cNvPr id="73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782" y="2656362"/>
            <a:ext cx="1547948" cy="52067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083" y="4472239"/>
            <a:ext cx="2933701" cy="469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36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4305" y="7143873"/>
            <a:ext cx="423419" cy="693687"/>
          </a:xfrm>
          <a:prstGeom prst="rect">
            <a:avLst/>
          </a:prstGeom>
          <a:ln w="12700">
            <a:miter lim="400000"/>
          </a:ln>
        </p:spPr>
      </p:pic>
      <p:sp>
        <p:nvSpPr>
          <p:cNvPr id="737" name="vector of parameter update equations"/>
          <p:cNvSpPr txBox="1"/>
          <p:nvPr/>
        </p:nvSpPr>
        <p:spPr>
          <a:xfrm>
            <a:off x="8214729" y="9021226"/>
            <a:ext cx="311841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vector of parameter update equations</a:t>
            </a:r>
          </a:p>
        </p:txBody>
      </p:sp>
      <p:sp>
        <p:nvSpPr>
          <p:cNvPr id="738" name="vector of parameter partial derivatives"/>
          <p:cNvSpPr txBox="1"/>
          <p:nvPr/>
        </p:nvSpPr>
        <p:spPr>
          <a:xfrm>
            <a:off x="9258113" y="7331966"/>
            <a:ext cx="313103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vector of parameter partial derivatives</a:t>
            </a:r>
          </a:p>
        </p:txBody>
      </p:sp>
      <p:pic>
        <p:nvPicPr>
          <p:cNvPr id="739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33" y="8462520"/>
            <a:ext cx="1930061" cy="32811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04020407"/>
      </p:ext>
    </p:extLst>
  </p:cSld>
  <p:clrMapOvr>
    <a:masterClrMapping/>
  </p:clrMapOvr>
  <p:transition spd="med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So we need to compute the partial derivatives"/>
          <p:cNvSpPr txBox="1"/>
          <p:nvPr/>
        </p:nvSpPr>
        <p:spPr>
          <a:xfrm>
            <a:off x="1765808" y="3160200"/>
            <a:ext cx="947318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So we need to compute the partial derivatives</a:t>
            </a:r>
          </a:p>
        </p:txBody>
      </p:sp>
      <p:pic>
        <p:nvPicPr>
          <p:cNvPr id="74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100" y="4366744"/>
            <a:ext cx="6648600" cy="146067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78447777"/>
      </p:ext>
    </p:extLst>
  </p:cSld>
  <p:clrMapOvr>
    <a:masterClrMapping/>
  </p:clrMapOvr>
  <p:transition spd="med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Connection Line" descr="Connection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28127" y="2909958"/>
            <a:ext cx="9044284" cy="1525723"/>
          </a:xfrm>
          <a:prstGeom prst="rect">
            <a:avLst/>
          </a:prstGeom>
        </p:spPr>
      </p:pic>
      <p:sp>
        <p:nvSpPr>
          <p:cNvPr id="749" name="Line"/>
          <p:cNvSpPr/>
          <p:nvPr/>
        </p:nvSpPr>
        <p:spPr>
          <a:xfrm>
            <a:off x="1669476" y="4666453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75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634" y="4558503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751" name="Circle"/>
          <p:cNvSpPr/>
          <p:nvPr/>
        </p:nvSpPr>
        <p:spPr>
          <a:xfrm>
            <a:off x="3310726" y="4023684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752" name="Square"/>
          <p:cNvSpPr/>
          <p:nvPr/>
        </p:nvSpPr>
        <p:spPr>
          <a:xfrm>
            <a:off x="2054580" y="4266403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75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680" y="4526753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754" name="Line"/>
          <p:cNvSpPr/>
          <p:nvPr/>
        </p:nvSpPr>
        <p:spPr>
          <a:xfrm flipV="1">
            <a:off x="3953495" y="4241790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755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3007" y="4526753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56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1549" y="4438640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757" name="Line"/>
          <p:cNvSpPr/>
          <p:nvPr/>
        </p:nvSpPr>
        <p:spPr>
          <a:xfrm>
            <a:off x="4647092" y="4678366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758" name="Square"/>
          <p:cNvSpPr/>
          <p:nvPr/>
        </p:nvSpPr>
        <p:spPr>
          <a:xfrm>
            <a:off x="5065520" y="4278316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759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4270" y="4550579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760" name="Circle"/>
          <p:cNvSpPr/>
          <p:nvPr/>
        </p:nvSpPr>
        <p:spPr>
          <a:xfrm>
            <a:off x="6437958" y="3998284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761" name="Line"/>
          <p:cNvSpPr/>
          <p:nvPr/>
        </p:nvSpPr>
        <p:spPr>
          <a:xfrm flipV="1">
            <a:off x="7080727" y="4228303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762" name="Line"/>
          <p:cNvSpPr/>
          <p:nvPr/>
        </p:nvSpPr>
        <p:spPr>
          <a:xfrm>
            <a:off x="10733971" y="4654540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763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525" y="4437066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764" name="Line"/>
          <p:cNvSpPr/>
          <p:nvPr/>
        </p:nvSpPr>
        <p:spPr>
          <a:xfrm>
            <a:off x="7721923" y="4678366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765" name="Square"/>
          <p:cNvSpPr/>
          <p:nvPr/>
        </p:nvSpPr>
        <p:spPr>
          <a:xfrm>
            <a:off x="8140351" y="4278316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766" name="Circle"/>
          <p:cNvSpPr/>
          <p:nvPr/>
        </p:nvSpPr>
        <p:spPr>
          <a:xfrm>
            <a:off x="9512789" y="3998284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767" name="Line"/>
          <p:cNvSpPr/>
          <p:nvPr/>
        </p:nvSpPr>
        <p:spPr>
          <a:xfrm flipV="1">
            <a:off x="10155558" y="4228303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768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0564" y="4538666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9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80805" y="4495003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70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9251" y="4547417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71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87229" y="4425153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772" name="Line"/>
          <p:cNvSpPr/>
          <p:nvPr/>
        </p:nvSpPr>
        <p:spPr>
          <a:xfrm flipV="1">
            <a:off x="2671978" y="4983557"/>
            <a:ext cx="651421" cy="65142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773" name="Square"/>
          <p:cNvSpPr/>
          <p:nvPr/>
        </p:nvSpPr>
        <p:spPr>
          <a:xfrm>
            <a:off x="2054580" y="5525362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774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04194" y="5722213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75" name="Image" descr="Imag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75565" y="4541067"/>
            <a:ext cx="2286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776" name="how"/>
          <p:cNvSpPr txBox="1"/>
          <p:nvPr/>
        </p:nvSpPr>
        <p:spPr>
          <a:xfrm rot="20695840">
            <a:off x="3598884" y="3308176"/>
            <a:ext cx="68680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r>
              <a:t>how</a:t>
            </a:r>
          </a:p>
        </p:txBody>
      </p:sp>
      <p:sp>
        <p:nvSpPr>
          <p:cNvPr id="777" name="…this"/>
          <p:cNvSpPr txBox="1"/>
          <p:nvPr/>
        </p:nvSpPr>
        <p:spPr>
          <a:xfrm rot="1309550">
            <a:off x="9877900" y="2920748"/>
            <a:ext cx="119966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r>
              <a:t>…this</a:t>
            </a:r>
          </a:p>
        </p:txBody>
      </p:sp>
      <p:sp>
        <p:nvSpPr>
          <p:cNvPr id="778" name="this"/>
          <p:cNvSpPr txBox="1"/>
          <p:nvPr/>
        </p:nvSpPr>
        <p:spPr>
          <a:xfrm rot="21208017">
            <a:off x="5940996" y="2757214"/>
            <a:ext cx="81797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r>
              <a:t>this</a:t>
            </a:r>
          </a:p>
        </p:txBody>
      </p:sp>
      <p:sp>
        <p:nvSpPr>
          <p:cNvPr id="779" name="does"/>
          <p:cNvSpPr txBox="1"/>
          <p:nvPr/>
        </p:nvSpPr>
        <p:spPr>
          <a:xfrm rot="20886321">
            <a:off x="4790162" y="2996948"/>
            <a:ext cx="67894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r>
              <a:t>does</a:t>
            </a:r>
          </a:p>
        </p:txBody>
      </p:sp>
      <p:sp>
        <p:nvSpPr>
          <p:cNvPr id="780" name="affect…"/>
          <p:cNvSpPr txBox="1"/>
          <p:nvPr/>
        </p:nvSpPr>
        <p:spPr>
          <a:xfrm rot="21486951">
            <a:off x="7437878" y="2552498"/>
            <a:ext cx="116711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r>
              <a:t>affect…</a:t>
            </a:r>
          </a:p>
        </p:txBody>
      </p:sp>
      <p:pic>
        <p:nvPicPr>
          <p:cNvPr id="781" name="Image" descr="Imag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71217" y="1165042"/>
            <a:ext cx="800101" cy="1028701"/>
          </a:xfrm>
          <a:prstGeom prst="rect">
            <a:avLst/>
          </a:prstGeom>
          <a:ln w="12700">
            <a:miter lim="400000"/>
          </a:ln>
        </p:spPr>
      </p:pic>
      <p:sp>
        <p:nvSpPr>
          <p:cNvPr id="782" name="Partial derivative"/>
          <p:cNvSpPr txBox="1"/>
          <p:nvPr/>
        </p:nvSpPr>
        <p:spPr>
          <a:xfrm>
            <a:off x="440775" y="1355542"/>
            <a:ext cx="350123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t>Partial derivative</a:t>
            </a:r>
          </a:p>
        </p:txBody>
      </p:sp>
      <p:sp>
        <p:nvSpPr>
          <p:cNvPr id="783" name="describes…"/>
          <p:cNvSpPr txBox="1"/>
          <p:nvPr/>
        </p:nvSpPr>
        <p:spPr>
          <a:xfrm>
            <a:off x="5200523" y="1355542"/>
            <a:ext cx="260375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t>describes…</a:t>
            </a:r>
          </a:p>
        </p:txBody>
      </p:sp>
      <p:sp>
        <p:nvSpPr>
          <p:cNvPr id="784" name="So, how do you compute it?"/>
          <p:cNvSpPr txBox="1"/>
          <p:nvPr/>
        </p:nvSpPr>
        <p:spPr>
          <a:xfrm>
            <a:off x="5649982" y="6814803"/>
            <a:ext cx="578083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So, how do you compute it?</a:t>
            </a:r>
          </a:p>
        </p:txBody>
      </p:sp>
      <p:sp>
        <p:nvSpPr>
          <p:cNvPr id="785" name="(loss layer)"/>
          <p:cNvSpPr txBox="1"/>
          <p:nvPr/>
        </p:nvSpPr>
        <p:spPr>
          <a:xfrm>
            <a:off x="11716856" y="4045789"/>
            <a:ext cx="1063698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(loss layer)</a:t>
            </a:r>
          </a:p>
        </p:txBody>
      </p:sp>
      <p:sp>
        <p:nvSpPr>
          <p:cNvPr id="786" name="Remember,"/>
          <p:cNvSpPr txBox="1"/>
          <p:nvPr/>
        </p:nvSpPr>
        <p:spPr>
          <a:xfrm>
            <a:off x="439016" y="594664"/>
            <a:ext cx="246019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t>Remember,</a:t>
            </a:r>
          </a:p>
        </p:txBody>
      </p:sp>
    </p:spTree>
    <p:extLst>
      <p:ext uri="{BB962C8B-B14F-4D97-AF65-F5344CB8AC3E}">
        <p14:creationId xmlns:p14="http://schemas.microsoft.com/office/powerpoint/2010/main" val="98075398"/>
      </p:ext>
    </p:extLst>
  </p:cSld>
  <p:clrMapOvr>
    <a:masterClrMapping/>
  </p:clrMapOvr>
  <p:transition spd="med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Image" descr="Image"/>
          <p:cNvPicPr>
            <a:picLocks noChangeAspect="1"/>
          </p:cNvPicPr>
          <p:nvPr/>
        </p:nvPicPr>
        <p:blipFill>
          <a:blip r:embed="rId2"/>
          <a:srcRect t="41436" b="41436"/>
          <a:stretch>
            <a:fillRect/>
          </a:stretch>
        </p:blipFill>
        <p:spPr>
          <a:xfrm>
            <a:off x="-397" y="4093407"/>
            <a:ext cx="13005770" cy="1781945"/>
          </a:xfrm>
          <a:prstGeom prst="rect">
            <a:avLst/>
          </a:prstGeom>
          <a:ln w="12700">
            <a:miter lim="400000"/>
          </a:ln>
        </p:spPr>
      </p:pic>
      <p:sp>
        <p:nvSpPr>
          <p:cNvPr id="793" name="The Chain Rule"/>
          <p:cNvSpPr txBox="1"/>
          <p:nvPr/>
        </p:nvSpPr>
        <p:spPr>
          <a:xfrm>
            <a:off x="2325439" y="2891859"/>
            <a:ext cx="8353922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>
                <a:latin typeface="Copperplate Gothic Light"/>
                <a:ea typeface="Copperplate Gothic Light"/>
                <a:cs typeface="Copperplate Gothic Light"/>
                <a:sym typeface="Copperplate Gothic Light"/>
              </a:defRPr>
            </a:lvl1pPr>
          </a:lstStyle>
          <a:p>
            <a:r>
              <a:t>The Chain Rule</a:t>
            </a:r>
          </a:p>
        </p:txBody>
      </p:sp>
    </p:spTree>
    <p:extLst>
      <p:ext uri="{BB962C8B-B14F-4D97-AF65-F5344CB8AC3E}">
        <p14:creationId xmlns:p14="http://schemas.microsoft.com/office/powerpoint/2010/main" val="1187104561"/>
      </p:ext>
    </p:extLst>
  </p:cSld>
  <p:clrMapOvr>
    <a:masterClrMapping/>
  </p:clrMapOvr>
  <p:transition spd="med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083" y="1934728"/>
            <a:ext cx="3949701" cy="1054101"/>
          </a:xfrm>
          <a:prstGeom prst="rect">
            <a:avLst/>
          </a:prstGeom>
          <a:ln w="12700">
            <a:miter lim="400000"/>
          </a:ln>
        </p:spPr>
      </p:pic>
      <p:sp>
        <p:nvSpPr>
          <p:cNvPr id="796" name="Line"/>
          <p:cNvSpPr/>
          <p:nvPr/>
        </p:nvSpPr>
        <p:spPr>
          <a:xfrm>
            <a:off x="8609155" y="6623010"/>
            <a:ext cx="76616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79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727" y="6405537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798" name="Line"/>
          <p:cNvSpPr/>
          <p:nvPr/>
        </p:nvSpPr>
        <p:spPr>
          <a:xfrm>
            <a:off x="4873125" y="6646836"/>
            <a:ext cx="238115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799" name="Square"/>
          <p:cNvSpPr/>
          <p:nvPr/>
        </p:nvSpPr>
        <p:spPr>
          <a:xfrm>
            <a:off x="5291552" y="6246786"/>
            <a:ext cx="800102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800" name="Circle"/>
          <p:cNvSpPr/>
          <p:nvPr/>
        </p:nvSpPr>
        <p:spPr>
          <a:xfrm>
            <a:off x="7298990" y="5966754"/>
            <a:ext cx="1285540" cy="12855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801" name="Line"/>
          <p:cNvSpPr/>
          <p:nvPr/>
        </p:nvSpPr>
        <p:spPr>
          <a:xfrm flipV="1">
            <a:off x="7941760" y="6196773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802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007" y="6463473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0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0452" y="6515887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04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431" y="6393623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805" name="Line"/>
          <p:cNvSpPr/>
          <p:nvPr/>
        </p:nvSpPr>
        <p:spPr>
          <a:xfrm flipV="1">
            <a:off x="4231929" y="6196773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806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2104" y="6584638"/>
            <a:ext cx="368301" cy="49771"/>
          </a:xfrm>
          <a:prstGeom prst="rect">
            <a:avLst/>
          </a:prstGeom>
          <a:ln w="12700">
            <a:miter lim="400000"/>
          </a:ln>
        </p:spPr>
      </p:pic>
      <p:pic>
        <p:nvPicPr>
          <p:cNvPr id="807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4790" y="4560599"/>
            <a:ext cx="642056" cy="825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23" name="Connection Line" descr="Connection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5710995" y="5571509"/>
            <a:ext cx="6071675" cy="731532"/>
          </a:xfrm>
          <a:prstGeom prst="rect">
            <a:avLst/>
          </a:prstGeom>
        </p:spPr>
      </p:pic>
      <p:pic>
        <p:nvPicPr>
          <p:cNvPr id="809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3233" y="8160865"/>
            <a:ext cx="437616" cy="660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10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72175" y="7816015"/>
            <a:ext cx="473001" cy="660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811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4357" y="8060911"/>
            <a:ext cx="473002" cy="608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25" name="Connection Line" descr="Connection Line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8553793" y="7005558"/>
            <a:ext cx="2765150" cy="767850"/>
          </a:xfrm>
          <a:prstGeom prst="rect">
            <a:avLst/>
          </a:prstGeom>
        </p:spPr>
      </p:pic>
      <p:pic>
        <p:nvPicPr>
          <p:cNvPr id="827" name="Connection Line" descr="Connection Lin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5821486" y="7123427"/>
            <a:ext cx="1577165" cy="521816"/>
          </a:xfrm>
          <a:prstGeom prst="rect">
            <a:avLst/>
          </a:prstGeom>
        </p:spPr>
      </p:pic>
      <p:sp>
        <p:nvSpPr>
          <p:cNvPr id="814" name="rest of the network"/>
          <p:cNvSpPr txBox="1"/>
          <p:nvPr/>
        </p:nvSpPr>
        <p:spPr>
          <a:xfrm>
            <a:off x="2017051" y="6450773"/>
            <a:ext cx="157368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rest of the network</a:t>
            </a:r>
          </a:p>
        </p:txBody>
      </p:sp>
      <p:pic>
        <p:nvPicPr>
          <p:cNvPr id="815" name="Image" descr="Imag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40492" y="6426987"/>
            <a:ext cx="1295401" cy="469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29" name="Connection Line" descr="Connection Line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7571056" y="6897434"/>
            <a:ext cx="675241" cy="551953"/>
          </a:xfrm>
          <a:prstGeom prst="rect">
            <a:avLst/>
          </a:prstGeom>
        </p:spPr>
      </p:pic>
      <p:pic>
        <p:nvPicPr>
          <p:cNvPr id="817" name="Image" descr="Imag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21757" y="6406078"/>
            <a:ext cx="228601" cy="419101"/>
          </a:xfrm>
          <a:prstGeom prst="rect">
            <a:avLst/>
          </a:prstGeom>
          <a:ln w="12700">
            <a:miter lim="400000"/>
          </a:ln>
        </p:spPr>
      </p:pic>
      <p:sp>
        <p:nvSpPr>
          <p:cNvPr id="818" name="Intuitively, the effect of weight on loss function :"/>
          <p:cNvSpPr txBox="1"/>
          <p:nvPr/>
        </p:nvSpPr>
        <p:spPr>
          <a:xfrm>
            <a:off x="697833" y="4552950"/>
            <a:ext cx="998754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Intuitively, the effect of weight on loss function :</a:t>
            </a:r>
          </a:p>
        </p:txBody>
      </p:sp>
      <p:sp>
        <p:nvSpPr>
          <p:cNvPr id="819" name="depends on"/>
          <p:cNvSpPr txBox="1"/>
          <p:nvPr/>
        </p:nvSpPr>
        <p:spPr>
          <a:xfrm>
            <a:off x="9416805" y="7808383"/>
            <a:ext cx="10704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820" name="depends on"/>
          <p:cNvSpPr txBox="1"/>
          <p:nvPr/>
        </p:nvSpPr>
        <p:spPr>
          <a:xfrm>
            <a:off x="7373439" y="7381754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821" name="depends on"/>
          <p:cNvSpPr txBox="1"/>
          <p:nvPr/>
        </p:nvSpPr>
        <p:spPr>
          <a:xfrm>
            <a:off x="6090389" y="7629616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822" name="According to the chain rule…"/>
          <p:cNvSpPr txBox="1"/>
          <p:nvPr/>
        </p:nvSpPr>
        <p:spPr>
          <a:xfrm>
            <a:off x="625828" y="478325"/>
            <a:ext cx="610316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According to the chain rule…</a:t>
            </a:r>
          </a:p>
        </p:txBody>
      </p:sp>
    </p:spTree>
    <p:extLst>
      <p:ext uri="{BB962C8B-B14F-4D97-AF65-F5344CB8AC3E}">
        <p14:creationId xmlns:p14="http://schemas.microsoft.com/office/powerpoint/2010/main" val="2205739451"/>
      </p:ext>
    </p:extLst>
  </p:cSld>
  <p:clrMapOvr>
    <a:masterClrMapping/>
  </p:clrMapOvr>
  <p:transition spd="med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Line"/>
          <p:cNvSpPr/>
          <p:nvPr/>
        </p:nvSpPr>
        <p:spPr>
          <a:xfrm>
            <a:off x="7163084" y="1173877"/>
            <a:ext cx="76616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83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655" y="956404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836" name="Line"/>
          <p:cNvSpPr/>
          <p:nvPr/>
        </p:nvSpPr>
        <p:spPr>
          <a:xfrm>
            <a:off x="3427053" y="1197703"/>
            <a:ext cx="238115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837" name="Square"/>
          <p:cNvSpPr/>
          <p:nvPr/>
        </p:nvSpPr>
        <p:spPr>
          <a:xfrm>
            <a:off x="3845481" y="797653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838" name="Circle"/>
          <p:cNvSpPr/>
          <p:nvPr/>
        </p:nvSpPr>
        <p:spPr>
          <a:xfrm>
            <a:off x="5852919" y="517621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839" name="Line"/>
          <p:cNvSpPr/>
          <p:nvPr/>
        </p:nvSpPr>
        <p:spPr>
          <a:xfrm flipV="1">
            <a:off x="6495688" y="747640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84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935" y="1014340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1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4381" y="1066754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2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359" y="944490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843" name="rest of the network"/>
          <p:cNvSpPr txBox="1"/>
          <p:nvPr/>
        </p:nvSpPr>
        <p:spPr>
          <a:xfrm>
            <a:off x="1224875" y="1001640"/>
            <a:ext cx="157368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rest of the network</a:t>
            </a:r>
          </a:p>
        </p:txBody>
      </p:sp>
      <p:pic>
        <p:nvPicPr>
          <p:cNvPr id="844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4524" y="1047491"/>
            <a:ext cx="1295401" cy="469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5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5686" y="956945"/>
            <a:ext cx="228601" cy="419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6" name="Image" descr="Image"/>
          <p:cNvPicPr>
            <a:picLocks noChangeAspect="1"/>
          </p:cNvPicPr>
          <p:nvPr/>
        </p:nvPicPr>
        <p:blipFill>
          <a:blip r:embed="rId9"/>
          <a:srcRect b="72914"/>
          <a:stretch>
            <a:fillRect/>
          </a:stretch>
        </p:blipFill>
        <p:spPr>
          <a:xfrm>
            <a:off x="1109731" y="2825750"/>
            <a:ext cx="6311901" cy="1111089"/>
          </a:xfrm>
          <a:prstGeom prst="rect">
            <a:avLst/>
          </a:prstGeom>
          <a:ln w="12700">
            <a:miter lim="400000"/>
          </a:ln>
        </p:spPr>
      </p:pic>
      <p:sp>
        <p:nvSpPr>
          <p:cNvPr id="847" name="Chain Rule!"/>
          <p:cNvSpPr txBox="1"/>
          <p:nvPr/>
        </p:nvSpPr>
        <p:spPr>
          <a:xfrm>
            <a:off x="5444134" y="3146424"/>
            <a:ext cx="211653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r>
              <a:t>Chain Rule!</a:t>
            </a:r>
          </a:p>
        </p:txBody>
      </p:sp>
    </p:spTree>
    <p:extLst>
      <p:ext uri="{BB962C8B-B14F-4D97-AF65-F5344CB8AC3E}">
        <p14:creationId xmlns:p14="http://schemas.microsoft.com/office/powerpoint/2010/main" val="3216266540"/>
      </p:ext>
    </p:extLst>
  </p:cSld>
  <p:clrMapOvr>
    <a:masterClrMapping/>
  </p:clrMapOvr>
  <p:transition spd="med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Line"/>
          <p:cNvSpPr/>
          <p:nvPr/>
        </p:nvSpPr>
        <p:spPr>
          <a:xfrm>
            <a:off x="7163084" y="1173877"/>
            <a:ext cx="76616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85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655" y="956404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853" name="Line"/>
          <p:cNvSpPr/>
          <p:nvPr/>
        </p:nvSpPr>
        <p:spPr>
          <a:xfrm>
            <a:off x="3427053" y="1197703"/>
            <a:ext cx="238115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854" name="Square"/>
          <p:cNvSpPr/>
          <p:nvPr/>
        </p:nvSpPr>
        <p:spPr>
          <a:xfrm>
            <a:off x="3845481" y="797653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855" name="Circle"/>
          <p:cNvSpPr/>
          <p:nvPr/>
        </p:nvSpPr>
        <p:spPr>
          <a:xfrm>
            <a:off x="5852919" y="517621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856" name="Line"/>
          <p:cNvSpPr/>
          <p:nvPr/>
        </p:nvSpPr>
        <p:spPr>
          <a:xfrm flipV="1">
            <a:off x="6495688" y="747640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85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935" y="1014340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8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4381" y="1066754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9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359" y="944490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860" name="rest of the network"/>
          <p:cNvSpPr txBox="1"/>
          <p:nvPr/>
        </p:nvSpPr>
        <p:spPr>
          <a:xfrm>
            <a:off x="1224875" y="1001640"/>
            <a:ext cx="157368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rest of the network</a:t>
            </a:r>
          </a:p>
        </p:txBody>
      </p:sp>
      <p:pic>
        <p:nvPicPr>
          <p:cNvPr id="861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4524" y="1047491"/>
            <a:ext cx="1295401" cy="469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2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5686" y="956945"/>
            <a:ext cx="228601" cy="419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3" name="Image" descr="Image"/>
          <p:cNvPicPr>
            <a:picLocks noChangeAspect="1"/>
          </p:cNvPicPr>
          <p:nvPr/>
        </p:nvPicPr>
        <p:blipFill>
          <a:blip r:embed="rId9"/>
          <a:srcRect b="43229"/>
          <a:stretch>
            <a:fillRect/>
          </a:stretch>
        </p:blipFill>
        <p:spPr>
          <a:xfrm>
            <a:off x="1109731" y="2825750"/>
            <a:ext cx="6311901" cy="2328793"/>
          </a:xfrm>
          <a:prstGeom prst="rect">
            <a:avLst/>
          </a:prstGeom>
          <a:ln w="12700">
            <a:miter lim="400000"/>
          </a:ln>
        </p:spPr>
      </p:pic>
      <p:sp>
        <p:nvSpPr>
          <p:cNvPr id="864" name="Just the partial derivative of L2 loss"/>
          <p:cNvSpPr txBox="1"/>
          <p:nvPr/>
        </p:nvSpPr>
        <p:spPr>
          <a:xfrm>
            <a:off x="8456635" y="4964352"/>
            <a:ext cx="2883157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r>
              <a:t>Just the partial derivative of L2 loss</a:t>
            </a:r>
          </a:p>
        </p:txBody>
      </p:sp>
      <p:pic>
        <p:nvPicPr>
          <p:cNvPr id="866" name="Connection Line" descr="Connection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3644350" y="5124054"/>
            <a:ext cx="4874004" cy="122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59818"/>
      </p:ext>
    </p:extLst>
  </p:cSld>
  <p:clrMapOvr>
    <a:masterClrMapping/>
  </p:clrMapOvr>
  <p:transition spd="med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Line"/>
          <p:cNvSpPr/>
          <p:nvPr/>
        </p:nvSpPr>
        <p:spPr>
          <a:xfrm>
            <a:off x="7163084" y="1173877"/>
            <a:ext cx="76616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87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655" y="956404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873" name="Line"/>
          <p:cNvSpPr/>
          <p:nvPr/>
        </p:nvSpPr>
        <p:spPr>
          <a:xfrm>
            <a:off x="3427053" y="1197703"/>
            <a:ext cx="238115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874" name="Square"/>
          <p:cNvSpPr/>
          <p:nvPr/>
        </p:nvSpPr>
        <p:spPr>
          <a:xfrm>
            <a:off x="3845481" y="797653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875" name="Circle"/>
          <p:cNvSpPr/>
          <p:nvPr/>
        </p:nvSpPr>
        <p:spPr>
          <a:xfrm>
            <a:off x="5852919" y="517621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876" name="Line"/>
          <p:cNvSpPr/>
          <p:nvPr/>
        </p:nvSpPr>
        <p:spPr>
          <a:xfrm flipV="1">
            <a:off x="6495688" y="747640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87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935" y="1014340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78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4381" y="1066754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79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359" y="944490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880" name="rest of the network"/>
          <p:cNvSpPr txBox="1"/>
          <p:nvPr/>
        </p:nvSpPr>
        <p:spPr>
          <a:xfrm>
            <a:off x="1224875" y="1001640"/>
            <a:ext cx="157368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rest of the network</a:t>
            </a:r>
          </a:p>
        </p:txBody>
      </p:sp>
      <p:pic>
        <p:nvPicPr>
          <p:cNvPr id="881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4524" y="1047491"/>
            <a:ext cx="1295401" cy="469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2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5686" y="956945"/>
            <a:ext cx="228601" cy="419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3" name="Image" descr="Image"/>
          <p:cNvPicPr>
            <a:picLocks noChangeAspect="1"/>
          </p:cNvPicPr>
          <p:nvPr/>
        </p:nvPicPr>
        <p:blipFill>
          <a:blip r:embed="rId9"/>
          <a:srcRect b="43229"/>
          <a:stretch>
            <a:fillRect/>
          </a:stretch>
        </p:blipFill>
        <p:spPr>
          <a:xfrm>
            <a:off x="1109731" y="2825750"/>
            <a:ext cx="6311901" cy="2328793"/>
          </a:xfrm>
          <a:prstGeom prst="rect">
            <a:avLst/>
          </a:prstGeom>
          <a:ln w="12700">
            <a:miter lim="400000"/>
          </a:ln>
        </p:spPr>
      </p:pic>
      <p:sp>
        <p:nvSpPr>
          <p:cNvPr id="884" name="Let’s use a Sigmoid function"/>
          <p:cNvSpPr txBox="1"/>
          <p:nvPr/>
        </p:nvSpPr>
        <p:spPr>
          <a:xfrm>
            <a:off x="7916945" y="5009227"/>
            <a:ext cx="4483526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r>
              <a:t>Let’s use a Sigmoid function</a:t>
            </a:r>
          </a:p>
        </p:txBody>
      </p:sp>
      <p:pic>
        <p:nvPicPr>
          <p:cNvPr id="885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07053" y="5589725"/>
            <a:ext cx="2703310" cy="5880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87" name="Connection Line" descr="Connection Line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298240" y="3412848"/>
            <a:ext cx="3689887" cy="156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49682"/>
      </p:ext>
    </p:extLst>
  </p:cSld>
  <p:clrMapOvr>
    <a:masterClrMapping/>
  </p:clrMapOvr>
  <p:transition spd="med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Line"/>
          <p:cNvSpPr/>
          <p:nvPr/>
        </p:nvSpPr>
        <p:spPr>
          <a:xfrm>
            <a:off x="7163084" y="1173877"/>
            <a:ext cx="76616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89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655" y="956404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894" name="Line"/>
          <p:cNvSpPr/>
          <p:nvPr/>
        </p:nvSpPr>
        <p:spPr>
          <a:xfrm>
            <a:off x="3427053" y="1197703"/>
            <a:ext cx="238115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895" name="Square"/>
          <p:cNvSpPr/>
          <p:nvPr/>
        </p:nvSpPr>
        <p:spPr>
          <a:xfrm>
            <a:off x="3845481" y="797653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896" name="Circle"/>
          <p:cNvSpPr/>
          <p:nvPr/>
        </p:nvSpPr>
        <p:spPr>
          <a:xfrm>
            <a:off x="5852919" y="517621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897" name="Line"/>
          <p:cNvSpPr/>
          <p:nvPr/>
        </p:nvSpPr>
        <p:spPr>
          <a:xfrm flipV="1">
            <a:off x="6495688" y="747640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89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935" y="1014340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9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4381" y="1066754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00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359" y="944490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901" name="rest of the network"/>
          <p:cNvSpPr txBox="1"/>
          <p:nvPr/>
        </p:nvSpPr>
        <p:spPr>
          <a:xfrm>
            <a:off x="1224875" y="1001640"/>
            <a:ext cx="157368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rest of the network</a:t>
            </a:r>
          </a:p>
        </p:txBody>
      </p:sp>
      <p:pic>
        <p:nvPicPr>
          <p:cNvPr id="902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4524" y="1047491"/>
            <a:ext cx="1295401" cy="469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03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5686" y="956945"/>
            <a:ext cx="228601" cy="419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04" name="Image" descr="Image"/>
          <p:cNvPicPr>
            <a:picLocks noChangeAspect="1"/>
          </p:cNvPicPr>
          <p:nvPr/>
        </p:nvPicPr>
        <p:blipFill>
          <a:blip r:embed="rId9"/>
          <a:srcRect b="13134"/>
          <a:stretch>
            <a:fillRect/>
          </a:stretch>
        </p:blipFill>
        <p:spPr>
          <a:xfrm>
            <a:off x="1109731" y="2825750"/>
            <a:ext cx="6311901" cy="3563294"/>
          </a:xfrm>
          <a:prstGeom prst="rect">
            <a:avLst/>
          </a:prstGeom>
          <a:ln w="12700">
            <a:miter lim="400000"/>
          </a:ln>
        </p:spPr>
      </p:pic>
      <p:sp>
        <p:nvSpPr>
          <p:cNvPr id="905" name="Let’s use a Sigmoid function"/>
          <p:cNvSpPr txBox="1"/>
          <p:nvPr/>
        </p:nvSpPr>
        <p:spPr>
          <a:xfrm>
            <a:off x="7916945" y="5009227"/>
            <a:ext cx="4483526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r>
              <a:t>Let’s use a Sigmoid function</a:t>
            </a:r>
          </a:p>
        </p:txBody>
      </p:sp>
      <p:pic>
        <p:nvPicPr>
          <p:cNvPr id="906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07053" y="5589725"/>
            <a:ext cx="2703310" cy="5880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08" name="Connection Line" descr="Connection Line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298240" y="3412848"/>
            <a:ext cx="3689887" cy="156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55358"/>
      </p:ext>
    </p:extLst>
  </p:cSld>
  <p:clrMapOvr>
    <a:masterClrMapping/>
  </p:clrMapOvr>
  <p:transition spd="med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Line"/>
          <p:cNvSpPr/>
          <p:nvPr/>
        </p:nvSpPr>
        <p:spPr>
          <a:xfrm>
            <a:off x="7163084" y="1173877"/>
            <a:ext cx="76616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1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655" y="956404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915" name="Line"/>
          <p:cNvSpPr/>
          <p:nvPr/>
        </p:nvSpPr>
        <p:spPr>
          <a:xfrm>
            <a:off x="3427053" y="1197703"/>
            <a:ext cx="238115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16" name="Square"/>
          <p:cNvSpPr/>
          <p:nvPr/>
        </p:nvSpPr>
        <p:spPr>
          <a:xfrm>
            <a:off x="3845481" y="797653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17" name="Circle"/>
          <p:cNvSpPr/>
          <p:nvPr/>
        </p:nvSpPr>
        <p:spPr>
          <a:xfrm>
            <a:off x="5852919" y="517621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18" name="Line"/>
          <p:cNvSpPr/>
          <p:nvPr/>
        </p:nvSpPr>
        <p:spPr>
          <a:xfrm flipV="1">
            <a:off x="6495688" y="747640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1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935" y="1014340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20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4381" y="1066754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21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359" y="944490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922" name="rest of the network"/>
          <p:cNvSpPr txBox="1"/>
          <p:nvPr/>
        </p:nvSpPr>
        <p:spPr>
          <a:xfrm>
            <a:off x="1224875" y="1001640"/>
            <a:ext cx="157368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rest of the network</a:t>
            </a:r>
          </a:p>
        </p:txBody>
      </p:sp>
      <p:pic>
        <p:nvPicPr>
          <p:cNvPr id="923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4524" y="1047491"/>
            <a:ext cx="1295401" cy="469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24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5686" y="956945"/>
            <a:ext cx="228601" cy="419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25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9731" y="2825750"/>
            <a:ext cx="6311901" cy="41021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50420033"/>
      </p:ext>
    </p:extLst>
  </p:cSld>
  <p:clrMapOvr>
    <a:masterClrMapping/>
  </p:clrMapOvr>
  <p:transition spd="med"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Line"/>
          <p:cNvSpPr/>
          <p:nvPr/>
        </p:nvSpPr>
        <p:spPr>
          <a:xfrm>
            <a:off x="1768637" y="3054960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3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795" y="2947010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931" name="Circle"/>
          <p:cNvSpPr/>
          <p:nvPr/>
        </p:nvSpPr>
        <p:spPr>
          <a:xfrm>
            <a:off x="3409887" y="2412191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32" name="Square"/>
          <p:cNvSpPr/>
          <p:nvPr/>
        </p:nvSpPr>
        <p:spPr>
          <a:xfrm>
            <a:off x="2153741" y="2654910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3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841" y="2915260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934" name="Line"/>
          <p:cNvSpPr/>
          <p:nvPr/>
        </p:nvSpPr>
        <p:spPr>
          <a:xfrm flipV="1">
            <a:off x="4052656" y="2630296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35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2168" y="2915260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36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710" y="2827147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Line"/>
          <p:cNvSpPr/>
          <p:nvPr/>
        </p:nvSpPr>
        <p:spPr>
          <a:xfrm>
            <a:off x="4746253" y="3066873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38" name="Square"/>
          <p:cNvSpPr/>
          <p:nvPr/>
        </p:nvSpPr>
        <p:spPr>
          <a:xfrm>
            <a:off x="5164681" y="2666823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39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3431" y="2939086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940" name="Circle"/>
          <p:cNvSpPr/>
          <p:nvPr/>
        </p:nvSpPr>
        <p:spPr>
          <a:xfrm>
            <a:off x="6537119" y="2386791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41" name="Line"/>
          <p:cNvSpPr/>
          <p:nvPr/>
        </p:nvSpPr>
        <p:spPr>
          <a:xfrm flipV="1">
            <a:off x="7179888" y="2616810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42" name="Line"/>
          <p:cNvSpPr/>
          <p:nvPr/>
        </p:nvSpPr>
        <p:spPr>
          <a:xfrm>
            <a:off x="10833132" y="3043047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43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74726" y="2929574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44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2687" y="2825573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945" name="Line"/>
          <p:cNvSpPr/>
          <p:nvPr/>
        </p:nvSpPr>
        <p:spPr>
          <a:xfrm>
            <a:off x="7821084" y="3066873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46" name="Square"/>
          <p:cNvSpPr/>
          <p:nvPr/>
        </p:nvSpPr>
        <p:spPr>
          <a:xfrm>
            <a:off x="8239512" y="2666823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47" name="Circle"/>
          <p:cNvSpPr/>
          <p:nvPr/>
        </p:nvSpPr>
        <p:spPr>
          <a:xfrm>
            <a:off x="9611950" y="2386791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48" name="Line"/>
          <p:cNvSpPr/>
          <p:nvPr/>
        </p:nvSpPr>
        <p:spPr>
          <a:xfrm flipV="1">
            <a:off x="10254719" y="2616810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49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9725" y="2927173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50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9966" y="2883510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51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8412" y="2935924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52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86390" y="2813660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953" name="Line"/>
          <p:cNvSpPr/>
          <p:nvPr/>
        </p:nvSpPr>
        <p:spPr>
          <a:xfrm flipV="1">
            <a:off x="2771139" y="3372064"/>
            <a:ext cx="651421" cy="65142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54" name="Square"/>
          <p:cNvSpPr/>
          <p:nvPr/>
        </p:nvSpPr>
        <p:spPr>
          <a:xfrm>
            <a:off x="2153741" y="391386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55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03355" y="4110719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56" name="Rounded Rectangle" descr="Rounded Rectangl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4981080" y="2220445"/>
            <a:ext cx="7092993" cy="1669030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957" name="Image" descr="Imag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29364" y="5469451"/>
            <a:ext cx="6384072" cy="12042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29060139"/>
      </p:ext>
    </p:extLst>
  </p:cSld>
  <p:clrMapOvr>
    <a:masterClrMapping/>
  </p:clrMapOvr>
  <p:transition spd="med"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Line"/>
          <p:cNvSpPr/>
          <p:nvPr/>
        </p:nvSpPr>
        <p:spPr>
          <a:xfrm>
            <a:off x="1768637" y="3054960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6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795" y="2947010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963" name="Circle"/>
          <p:cNvSpPr/>
          <p:nvPr/>
        </p:nvSpPr>
        <p:spPr>
          <a:xfrm>
            <a:off x="3409887" y="2412191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64" name="Square"/>
          <p:cNvSpPr/>
          <p:nvPr/>
        </p:nvSpPr>
        <p:spPr>
          <a:xfrm>
            <a:off x="2153741" y="2654910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6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841" y="2915260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966" name="Line"/>
          <p:cNvSpPr/>
          <p:nvPr/>
        </p:nvSpPr>
        <p:spPr>
          <a:xfrm flipV="1">
            <a:off x="4052656" y="2630296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6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2168" y="2915260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68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710" y="2827147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969" name="Line"/>
          <p:cNvSpPr/>
          <p:nvPr/>
        </p:nvSpPr>
        <p:spPr>
          <a:xfrm>
            <a:off x="4746253" y="3066873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70" name="Square"/>
          <p:cNvSpPr/>
          <p:nvPr/>
        </p:nvSpPr>
        <p:spPr>
          <a:xfrm>
            <a:off x="5164681" y="2666823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71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3431" y="2939086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972" name="Circle"/>
          <p:cNvSpPr/>
          <p:nvPr/>
        </p:nvSpPr>
        <p:spPr>
          <a:xfrm>
            <a:off x="6537119" y="2386791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73" name="Line"/>
          <p:cNvSpPr/>
          <p:nvPr/>
        </p:nvSpPr>
        <p:spPr>
          <a:xfrm flipV="1">
            <a:off x="7179888" y="2616810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74" name="Line"/>
          <p:cNvSpPr/>
          <p:nvPr/>
        </p:nvSpPr>
        <p:spPr>
          <a:xfrm>
            <a:off x="10833132" y="3043047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75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74726" y="2929574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76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2687" y="2825573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977" name="Line"/>
          <p:cNvSpPr/>
          <p:nvPr/>
        </p:nvSpPr>
        <p:spPr>
          <a:xfrm>
            <a:off x="7821084" y="3066873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78" name="Square"/>
          <p:cNvSpPr/>
          <p:nvPr/>
        </p:nvSpPr>
        <p:spPr>
          <a:xfrm>
            <a:off x="8239512" y="2666823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79" name="Circle"/>
          <p:cNvSpPr/>
          <p:nvPr/>
        </p:nvSpPr>
        <p:spPr>
          <a:xfrm>
            <a:off x="9611950" y="2386791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80" name="Line"/>
          <p:cNvSpPr/>
          <p:nvPr/>
        </p:nvSpPr>
        <p:spPr>
          <a:xfrm flipV="1">
            <a:off x="10254719" y="2616810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81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9725" y="2927173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82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9966" y="2883510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83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8412" y="2935924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84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86390" y="2813660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985" name="Line"/>
          <p:cNvSpPr/>
          <p:nvPr/>
        </p:nvSpPr>
        <p:spPr>
          <a:xfrm flipV="1">
            <a:off x="2771139" y="3372064"/>
            <a:ext cx="651421" cy="65142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86" name="Square"/>
          <p:cNvSpPr/>
          <p:nvPr/>
        </p:nvSpPr>
        <p:spPr>
          <a:xfrm>
            <a:off x="2153741" y="3913869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87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03355" y="4110719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88" name="Rounded Rectangle" descr="Rounded Rectangl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4981080" y="2220445"/>
            <a:ext cx="7092993" cy="1669030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989" name="Rounded Rectangle" descr="Rounded Rectangl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4432206" y="5169384"/>
            <a:ext cx="2104172" cy="1794407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990" name="already computed.…"/>
          <p:cNvSpPr txBox="1"/>
          <p:nvPr/>
        </p:nvSpPr>
        <p:spPr>
          <a:xfrm>
            <a:off x="4405407" y="7075458"/>
            <a:ext cx="2318649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1800">
                <a:solidFill>
                  <a:schemeClr val="accent2"/>
                </a:solidFill>
              </a:defRPr>
            </a:pPr>
            <a:r>
              <a:t>already computed.</a:t>
            </a:r>
          </a:p>
          <a:p>
            <a:pPr>
              <a:defRPr sz="1800">
                <a:solidFill>
                  <a:schemeClr val="accent2"/>
                </a:solidFill>
              </a:defRPr>
            </a:pPr>
            <a:r>
              <a:t>re-use (</a:t>
            </a:r>
            <a:r>
              <a:rPr u="sng"/>
              <a:t>propagate</a:t>
            </a:r>
            <a:r>
              <a:t>)!</a:t>
            </a:r>
          </a:p>
        </p:txBody>
      </p:sp>
      <p:pic>
        <p:nvPicPr>
          <p:cNvPr id="991" name="Image" descr="Imag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29364" y="5469451"/>
            <a:ext cx="6384072" cy="12042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26873171"/>
      </p:ext>
    </p:extLst>
  </p:cSld>
  <p:clrMapOvr>
    <a:masterClrMapping/>
  </p:clrMapOvr>
  <p:transition spd="med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" descr="Image">
            <a:extLst>
              <a:ext uri="{FF2B5EF4-FFF2-40B4-BE49-F238E27FC236}">
                <a16:creationId xmlns:a16="http://schemas.microsoft.com/office/drawing/2014/main" id="{203E4E6E-8921-41BF-954D-F6FB8E89F5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436" b="41436"/>
          <a:stretch>
            <a:fillRect/>
          </a:stretch>
        </p:blipFill>
        <p:spPr>
          <a:xfrm>
            <a:off x="-397" y="4093407"/>
            <a:ext cx="13005770" cy="1781945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The Chain Rule">
            <a:extLst>
              <a:ext uri="{FF2B5EF4-FFF2-40B4-BE49-F238E27FC236}">
                <a16:creationId xmlns:a16="http://schemas.microsoft.com/office/drawing/2014/main" id="{BE75A329-C385-4ABF-806C-A9B128E5B88F}"/>
              </a:ext>
            </a:extLst>
          </p:cNvPr>
          <p:cNvSpPr txBox="1"/>
          <p:nvPr/>
        </p:nvSpPr>
        <p:spPr>
          <a:xfrm>
            <a:off x="2325439" y="2891859"/>
            <a:ext cx="8353922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>
                <a:latin typeface="Copperplate Gothic Light"/>
                <a:ea typeface="Copperplate Gothic Light"/>
                <a:cs typeface="Copperplate Gothic Light"/>
                <a:sym typeface="Copperplate Gothic Light"/>
              </a:defRPr>
            </a:lvl1pPr>
          </a:lstStyle>
          <a:p>
            <a:r>
              <a:rPr dirty="0"/>
              <a:t>The Chain Rule</a:t>
            </a:r>
          </a:p>
        </p:txBody>
      </p:sp>
      <p:sp>
        <p:nvSpPr>
          <p:cNvPr id="35" name="The Chain Rule">
            <a:extLst>
              <a:ext uri="{FF2B5EF4-FFF2-40B4-BE49-F238E27FC236}">
                <a16:creationId xmlns:a16="http://schemas.microsoft.com/office/drawing/2014/main" id="{6786D863-9560-4C27-B89A-DBC70854E242}"/>
              </a:ext>
            </a:extLst>
          </p:cNvPr>
          <p:cNvSpPr txBox="1"/>
          <p:nvPr/>
        </p:nvSpPr>
        <p:spPr>
          <a:xfrm>
            <a:off x="136078" y="5818104"/>
            <a:ext cx="12732653" cy="1333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>
                <a:latin typeface="Copperplate Gothic Light"/>
                <a:ea typeface="Copperplate Gothic Light"/>
                <a:cs typeface="Copperplate Gothic Light"/>
                <a:sym typeface="Copperplate Gothic Light"/>
              </a:defRPr>
            </a:lvl1pPr>
          </a:lstStyle>
          <a:p>
            <a:r>
              <a:rPr lang="en-US" dirty="0"/>
              <a:t>a.k.a. backpropagation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7122351"/>
      </p:ext>
    </p:extLst>
  </p:cSld>
  <p:clrMapOvr>
    <a:masterClrMapping/>
  </p:clrMapOvr>
  <p:transition spd="med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Line"/>
          <p:cNvSpPr/>
          <p:nvPr/>
        </p:nvSpPr>
        <p:spPr>
          <a:xfrm>
            <a:off x="1808751" y="3374725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9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909" y="3266775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997" name="Circle"/>
          <p:cNvSpPr/>
          <p:nvPr/>
        </p:nvSpPr>
        <p:spPr>
          <a:xfrm>
            <a:off x="3450001" y="2731955"/>
            <a:ext cx="1285539" cy="12855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998" name="Square"/>
          <p:cNvSpPr/>
          <p:nvPr/>
        </p:nvSpPr>
        <p:spPr>
          <a:xfrm>
            <a:off x="2193855" y="2974675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99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955" y="3235025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1000" name="Line"/>
          <p:cNvSpPr/>
          <p:nvPr/>
        </p:nvSpPr>
        <p:spPr>
          <a:xfrm flipV="1">
            <a:off x="4092769" y="2950061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001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282" y="3235025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2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0824" y="3146911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003" name="Line"/>
          <p:cNvSpPr/>
          <p:nvPr/>
        </p:nvSpPr>
        <p:spPr>
          <a:xfrm>
            <a:off x="4786367" y="3386638"/>
            <a:ext cx="17400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004" name="Square"/>
          <p:cNvSpPr/>
          <p:nvPr/>
        </p:nvSpPr>
        <p:spPr>
          <a:xfrm>
            <a:off x="5204795" y="2986588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00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3545" y="3258851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1006" name="Circle"/>
          <p:cNvSpPr/>
          <p:nvPr/>
        </p:nvSpPr>
        <p:spPr>
          <a:xfrm>
            <a:off x="6577233" y="2706555"/>
            <a:ext cx="1285539" cy="12855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007" name="Line"/>
          <p:cNvSpPr/>
          <p:nvPr/>
        </p:nvSpPr>
        <p:spPr>
          <a:xfrm flipV="1">
            <a:off x="7220002" y="2936574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008" name="Line"/>
          <p:cNvSpPr/>
          <p:nvPr/>
        </p:nvSpPr>
        <p:spPr>
          <a:xfrm>
            <a:off x="10873246" y="3362811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009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2800" y="3145338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010" name="Line"/>
          <p:cNvSpPr/>
          <p:nvPr/>
        </p:nvSpPr>
        <p:spPr>
          <a:xfrm>
            <a:off x="7861198" y="3386638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011" name="Square"/>
          <p:cNvSpPr/>
          <p:nvPr/>
        </p:nvSpPr>
        <p:spPr>
          <a:xfrm>
            <a:off x="8279626" y="2986588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012" name="Circle"/>
          <p:cNvSpPr/>
          <p:nvPr/>
        </p:nvSpPr>
        <p:spPr>
          <a:xfrm>
            <a:off x="9652064" y="2706555"/>
            <a:ext cx="1285539" cy="12855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013" name="Line"/>
          <p:cNvSpPr/>
          <p:nvPr/>
        </p:nvSpPr>
        <p:spPr>
          <a:xfrm flipV="1">
            <a:off x="10294833" y="2936574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014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9839" y="3246938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5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0080" y="3203275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6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8526" y="3255688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7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6504" y="3133425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018" name="Line"/>
          <p:cNvSpPr/>
          <p:nvPr/>
        </p:nvSpPr>
        <p:spPr>
          <a:xfrm flipV="1">
            <a:off x="2811253" y="3691828"/>
            <a:ext cx="651421" cy="65142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019" name="Square"/>
          <p:cNvSpPr/>
          <p:nvPr/>
        </p:nvSpPr>
        <p:spPr>
          <a:xfrm>
            <a:off x="2193855" y="4233634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020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43469" y="4430484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1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14840" y="3249339"/>
            <a:ext cx="2286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022" name="The Chain rule says…"/>
          <p:cNvSpPr txBox="1"/>
          <p:nvPr/>
        </p:nvSpPr>
        <p:spPr>
          <a:xfrm>
            <a:off x="937988" y="1169723"/>
            <a:ext cx="4376198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/>
              <a:t>The </a:t>
            </a:r>
            <a:r>
              <a:rPr lang="en-US" dirty="0"/>
              <a:t>c</a:t>
            </a:r>
            <a:r>
              <a:rPr dirty="0"/>
              <a:t>hain rule says…</a:t>
            </a:r>
          </a:p>
        </p:txBody>
      </p:sp>
      <p:pic>
        <p:nvPicPr>
          <p:cNvPr id="1038" name="Connection Line" descr="Connection Lin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10850065" y="3749088"/>
            <a:ext cx="922208" cy="335591"/>
          </a:xfrm>
          <a:prstGeom prst="rect">
            <a:avLst/>
          </a:prstGeom>
        </p:spPr>
      </p:pic>
      <p:pic>
        <p:nvPicPr>
          <p:cNvPr id="1040" name="Connection Line" descr="Connection Lin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7654748" y="3616486"/>
            <a:ext cx="2265791" cy="500387"/>
          </a:xfrm>
          <a:prstGeom prst="rect">
            <a:avLst/>
          </a:prstGeom>
        </p:spPr>
      </p:pic>
      <p:pic>
        <p:nvPicPr>
          <p:cNvPr id="1042" name="Connection Line" descr="Connection Line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9957213" y="3627415"/>
            <a:ext cx="675241" cy="551953"/>
          </a:xfrm>
          <a:prstGeom prst="rect">
            <a:avLst/>
          </a:prstGeom>
        </p:spPr>
      </p:pic>
      <p:sp>
        <p:nvSpPr>
          <p:cNvPr id="1026" name="depends on"/>
          <p:cNvSpPr txBox="1"/>
          <p:nvPr/>
        </p:nvSpPr>
        <p:spPr>
          <a:xfrm>
            <a:off x="11001057" y="4131571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027" name="depends on"/>
          <p:cNvSpPr txBox="1"/>
          <p:nvPr/>
        </p:nvSpPr>
        <p:spPr>
          <a:xfrm>
            <a:off x="9759596" y="4220934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pic>
        <p:nvPicPr>
          <p:cNvPr id="1044" name="Connection Line" descr="Connection Line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6856182" y="3627415"/>
            <a:ext cx="675240" cy="551953"/>
          </a:xfrm>
          <a:prstGeom prst="rect">
            <a:avLst/>
          </a:prstGeom>
        </p:spPr>
      </p:pic>
      <p:pic>
        <p:nvPicPr>
          <p:cNvPr id="1046" name="Connection Line" descr="Connection Line"/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4454984" y="3629119"/>
            <a:ext cx="2357327" cy="504294"/>
          </a:xfrm>
          <a:prstGeom prst="rect">
            <a:avLst/>
          </a:prstGeom>
        </p:spPr>
      </p:pic>
      <p:pic>
        <p:nvPicPr>
          <p:cNvPr id="1048" name="Connection Line" descr="Connection Line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3747953" y="3648480"/>
            <a:ext cx="675240" cy="551953"/>
          </a:xfrm>
          <a:prstGeom prst="rect">
            <a:avLst/>
          </a:prstGeom>
        </p:spPr>
      </p:pic>
      <p:pic>
        <p:nvPicPr>
          <p:cNvPr id="1050" name="Connection Line" descr="Connection Line"/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2745268" y="2828455"/>
            <a:ext cx="990485" cy="375740"/>
          </a:xfrm>
          <a:prstGeom prst="rect">
            <a:avLst/>
          </a:prstGeom>
        </p:spPr>
      </p:pic>
      <p:sp>
        <p:nvSpPr>
          <p:cNvPr id="1032" name="depends on"/>
          <p:cNvSpPr txBox="1"/>
          <p:nvPr/>
        </p:nvSpPr>
        <p:spPr>
          <a:xfrm>
            <a:off x="6658565" y="4361422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033" name="depends on"/>
          <p:cNvSpPr txBox="1"/>
          <p:nvPr/>
        </p:nvSpPr>
        <p:spPr>
          <a:xfrm>
            <a:off x="4945589" y="4183108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034" name="depends on"/>
          <p:cNvSpPr txBox="1"/>
          <p:nvPr/>
        </p:nvSpPr>
        <p:spPr>
          <a:xfrm>
            <a:off x="3190779" y="4219969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035" name="depends on"/>
          <p:cNvSpPr txBox="1"/>
          <p:nvPr/>
        </p:nvSpPr>
        <p:spPr>
          <a:xfrm>
            <a:off x="2730125" y="2444437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036" name="depends on"/>
          <p:cNvSpPr txBox="1"/>
          <p:nvPr/>
        </p:nvSpPr>
        <p:spPr>
          <a:xfrm>
            <a:off x="8195980" y="4183108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pic>
        <p:nvPicPr>
          <p:cNvPr id="1037" name="Image" descr="Imag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43235" y="6072216"/>
            <a:ext cx="9282579" cy="13540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11776496"/>
      </p:ext>
    </p:extLst>
  </p:cSld>
  <p:clrMapOvr>
    <a:masterClrMapping/>
  </p:clrMapOvr>
  <p:transition spd="med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Line"/>
          <p:cNvSpPr/>
          <p:nvPr/>
        </p:nvSpPr>
        <p:spPr>
          <a:xfrm>
            <a:off x="1808751" y="3374725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05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909" y="3266775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1057" name="Circle"/>
          <p:cNvSpPr/>
          <p:nvPr/>
        </p:nvSpPr>
        <p:spPr>
          <a:xfrm>
            <a:off x="3450001" y="2731955"/>
            <a:ext cx="1285539" cy="12855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058" name="Square"/>
          <p:cNvSpPr/>
          <p:nvPr/>
        </p:nvSpPr>
        <p:spPr>
          <a:xfrm>
            <a:off x="2193855" y="2974675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05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955" y="3235025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1060" name="Line"/>
          <p:cNvSpPr/>
          <p:nvPr/>
        </p:nvSpPr>
        <p:spPr>
          <a:xfrm flipV="1">
            <a:off x="4092769" y="2950061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061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282" y="3235025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2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0824" y="3146911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063" name="Line"/>
          <p:cNvSpPr/>
          <p:nvPr/>
        </p:nvSpPr>
        <p:spPr>
          <a:xfrm>
            <a:off x="4786367" y="3386638"/>
            <a:ext cx="17400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064" name="Square"/>
          <p:cNvSpPr/>
          <p:nvPr/>
        </p:nvSpPr>
        <p:spPr>
          <a:xfrm>
            <a:off x="5204795" y="2986588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06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3545" y="3258851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1066" name="Circle"/>
          <p:cNvSpPr/>
          <p:nvPr/>
        </p:nvSpPr>
        <p:spPr>
          <a:xfrm>
            <a:off x="6577233" y="2706555"/>
            <a:ext cx="1285539" cy="12855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067" name="Line"/>
          <p:cNvSpPr/>
          <p:nvPr/>
        </p:nvSpPr>
        <p:spPr>
          <a:xfrm flipV="1">
            <a:off x="7220002" y="2936574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068" name="Line"/>
          <p:cNvSpPr/>
          <p:nvPr/>
        </p:nvSpPr>
        <p:spPr>
          <a:xfrm>
            <a:off x="10873246" y="3362811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069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2800" y="3145338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070" name="Line"/>
          <p:cNvSpPr/>
          <p:nvPr/>
        </p:nvSpPr>
        <p:spPr>
          <a:xfrm>
            <a:off x="7861198" y="3386638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071" name="Square"/>
          <p:cNvSpPr/>
          <p:nvPr/>
        </p:nvSpPr>
        <p:spPr>
          <a:xfrm>
            <a:off x="8279626" y="2986588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072" name="Circle"/>
          <p:cNvSpPr/>
          <p:nvPr/>
        </p:nvSpPr>
        <p:spPr>
          <a:xfrm>
            <a:off x="9652064" y="2706555"/>
            <a:ext cx="1285539" cy="12855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073" name="Line"/>
          <p:cNvSpPr/>
          <p:nvPr/>
        </p:nvSpPr>
        <p:spPr>
          <a:xfrm flipV="1">
            <a:off x="10294833" y="2936574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074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9839" y="3246938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5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0080" y="3203275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6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8526" y="3255688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7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6504" y="3133425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078" name="Line"/>
          <p:cNvSpPr/>
          <p:nvPr/>
        </p:nvSpPr>
        <p:spPr>
          <a:xfrm flipV="1">
            <a:off x="2811253" y="3691828"/>
            <a:ext cx="651421" cy="65142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079" name="Square"/>
          <p:cNvSpPr/>
          <p:nvPr/>
        </p:nvSpPr>
        <p:spPr>
          <a:xfrm>
            <a:off x="2193855" y="4233634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080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43469" y="4430484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1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14840" y="3249339"/>
            <a:ext cx="2286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082" name="The Chain rule says…"/>
          <p:cNvSpPr txBox="1"/>
          <p:nvPr/>
        </p:nvSpPr>
        <p:spPr>
          <a:xfrm>
            <a:off x="937988" y="1169723"/>
            <a:ext cx="4376198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/>
              <a:t>The </a:t>
            </a:r>
            <a:r>
              <a:rPr lang="en-US" dirty="0"/>
              <a:t>c</a:t>
            </a:r>
            <a:r>
              <a:rPr dirty="0"/>
              <a:t>hain rule says…</a:t>
            </a:r>
          </a:p>
        </p:txBody>
      </p:sp>
      <p:pic>
        <p:nvPicPr>
          <p:cNvPr id="1100" name="Connection Line" descr="Connection Lin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10850065" y="3749088"/>
            <a:ext cx="922208" cy="335591"/>
          </a:xfrm>
          <a:prstGeom prst="rect">
            <a:avLst/>
          </a:prstGeom>
        </p:spPr>
      </p:pic>
      <p:pic>
        <p:nvPicPr>
          <p:cNvPr id="1102" name="Connection Line" descr="Connection Lin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7654748" y="3616486"/>
            <a:ext cx="2265791" cy="500387"/>
          </a:xfrm>
          <a:prstGeom prst="rect">
            <a:avLst/>
          </a:prstGeom>
        </p:spPr>
      </p:pic>
      <p:pic>
        <p:nvPicPr>
          <p:cNvPr id="1104" name="Connection Line" descr="Connection Line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9957213" y="3627415"/>
            <a:ext cx="675241" cy="551953"/>
          </a:xfrm>
          <a:prstGeom prst="rect">
            <a:avLst/>
          </a:prstGeom>
        </p:spPr>
      </p:pic>
      <p:sp>
        <p:nvSpPr>
          <p:cNvPr id="1086" name="depends on"/>
          <p:cNvSpPr txBox="1"/>
          <p:nvPr/>
        </p:nvSpPr>
        <p:spPr>
          <a:xfrm>
            <a:off x="11001057" y="4131571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087" name="depends on"/>
          <p:cNvSpPr txBox="1"/>
          <p:nvPr/>
        </p:nvSpPr>
        <p:spPr>
          <a:xfrm>
            <a:off x="9759596" y="4220934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pic>
        <p:nvPicPr>
          <p:cNvPr id="1106" name="Connection Line" descr="Connection Line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6856182" y="3627415"/>
            <a:ext cx="675240" cy="551953"/>
          </a:xfrm>
          <a:prstGeom prst="rect">
            <a:avLst/>
          </a:prstGeom>
        </p:spPr>
      </p:pic>
      <p:pic>
        <p:nvPicPr>
          <p:cNvPr id="1108" name="Connection Line" descr="Connection Line"/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4454984" y="3629119"/>
            <a:ext cx="2357327" cy="504294"/>
          </a:xfrm>
          <a:prstGeom prst="rect">
            <a:avLst/>
          </a:prstGeom>
        </p:spPr>
      </p:pic>
      <p:pic>
        <p:nvPicPr>
          <p:cNvPr id="1110" name="Connection Line" descr="Connection Line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3747953" y="3648480"/>
            <a:ext cx="675240" cy="551953"/>
          </a:xfrm>
          <a:prstGeom prst="rect">
            <a:avLst/>
          </a:prstGeom>
        </p:spPr>
      </p:pic>
      <p:pic>
        <p:nvPicPr>
          <p:cNvPr id="1112" name="Connection Line" descr="Connection Line"/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2745268" y="2828455"/>
            <a:ext cx="990485" cy="375740"/>
          </a:xfrm>
          <a:prstGeom prst="rect">
            <a:avLst/>
          </a:prstGeom>
        </p:spPr>
      </p:pic>
      <p:sp>
        <p:nvSpPr>
          <p:cNvPr id="1092" name="depends on"/>
          <p:cNvSpPr txBox="1"/>
          <p:nvPr/>
        </p:nvSpPr>
        <p:spPr>
          <a:xfrm>
            <a:off x="6658565" y="4361422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093" name="depends on"/>
          <p:cNvSpPr txBox="1"/>
          <p:nvPr/>
        </p:nvSpPr>
        <p:spPr>
          <a:xfrm>
            <a:off x="4945589" y="4183108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094" name="depends on"/>
          <p:cNvSpPr txBox="1"/>
          <p:nvPr/>
        </p:nvSpPr>
        <p:spPr>
          <a:xfrm>
            <a:off x="3190779" y="4219969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095" name="depends on"/>
          <p:cNvSpPr txBox="1"/>
          <p:nvPr/>
        </p:nvSpPr>
        <p:spPr>
          <a:xfrm>
            <a:off x="2730125" y="2444437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096" name="depends on"/>
          <p:cNvSpPr txBox="1"/>
          <p:nvPr/>
        </p:nvSpPr>
        <p:spPr>
          <a:xfrm>
            <a:off x="8195980" y="4183108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pic>
        <p:nvPicPr>
          <p:cNvPr id="1097" name="Rounded Rectangle" descr="Rounded Rectangle"/>
          <p:cNvPicPr>
            <a:picLocks/>
          </p:cNvPicPr>
          <p:nvPr/>
        </p:nvPicPr>
        <p:blipFill>
          <a:blip r:embed="rId20"/>
          <a:stretch>
            <a:fillRect/>
          </a:stretch>
        </p:blipFill>
        <p:spPr>
          <a:xfrm>
            <a:off x="3892363" y="5819111"/>
            <a:ext cx="4263477" cy="1794407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1098" name="already computed.…"/>
          <p:cNvSpPr txBox="1"/>
          <p:nvPr/>
        </p:nvSpPr>
        <p:spPr>
          <a:xfrm>
            <a:off x="4864777" y="7681538"/>
            <a:ext cx="2318649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1800">
                <a:solidFill>
                  <a:schemeClr val="accent2"/>
                </a:solidFill>
              </a:defRPr>
            </a:pPr>
            <a:r>
              <a:t>already computed.</a:t>
            </a:r>
          </a:p>
          <a:p>
            <a:pPr>
              <a:defRPr sz="1800">
                <a:solidFill>
                  <a:schemeClr val="accent2"/>
                </a:solidFill>
              </a:defRPr>
            </a:pPr>
            <a:r>
              <a:t>re-use (</a:t>
            </a:r>
            <a:r>
              <a:rPr u="sng"/>
              <a:t>propagate</a:t>
            </a:r>
            <a:r>
              <a:t>)!</a:t>
            </a:r>
          </a:p>
        </p:txBody>
      </p:sp>
      <p:pic>
        <p:nvPicPr>
          <p:cNvPr id="1099" name="Image" descr="Image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43235" y="6072216"/>
            <a:ext cx="9282579" cy="13540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15757274"/>
      </p:ext>
    </p:extLst>
  </p:cSld>
  <p:clrMapOvr>
    <a:masterClrMapping/>
  </p:clrMapOvr>
  <p:transition spd="med"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Line"/>
          <p:cNvSpPr/>
          <p:nvPr/>
        </p:nvSpPr>
        <p:spPr>
          <a:xfrm>
            <a:off x="1605431" y="1459694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11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89" y="1351744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1119" name="Circle"/>
          <p:cNvSpPr/>
          <p:nvPr/>
        </p:nvSpPr>
        <p:spPr>
          <a:xfrm>
            <a:off x="3246680" y="816925"/>
            <a:ext cx="1285540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120" name="Square"/>
          <p:cNvSpPr/>
          <p:nvPr/>
        </p:nvSpPr>
        <p:spPr>
          <a:xfrm>
            <a:off x="1990535" y="1059644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121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635" y="1319994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1122" name="Line"/>
          <p:cNvSpPr/>
          <p:nvPr/>
        </p:nvSpPr>
        <p:spPr>
          <a:xfrm flipV="1">
            <a:off x="3889449" y="1035030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12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8962" y="1319994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4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7504" y="1231881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125" name="Line"/>
          <p:cNvSpPr/>
          <p:nvPr/>
        </p:nvSpPr>
        <p:spPr>
          <a:xfrm>
            <a:off x="4583047" y="1471607"/>
            <a:ext cx="17400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126" name="Square"/>
          <p:cNvSpPr/>
          <p:nvPr/>
        </p:nvSpPr>
        <p:spPr>
          <a:xfrm>
            <a:off x="5001475" y="1071557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127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0225" y="1343820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1128" name="Circle"/>
          <p:cNvSpPr/>
          <p:nvPr/>
        </p:nvSpPr>
        <p:spPr>
          <a:xfrm>
            <a:off x="6373913" y="791525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129" name="Line"/>
          <p:cNvSpPr/>
          <p:nvPr/>
        </p:nvSpPr>
        <p:spPr>
          <a:xfrm flipV="1">
            <a:off x="7016682" y="1021544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130" name="Line"/>
          <p:cNvSpPr/>
          <p:nvPr/>
        </p:nvSpPr>
        <p:spPr>
          <a:xfrm>
            <a:off x="10669926" y="1447781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131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9480" y="1230307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132" name="Line"/>
          <p:cNvSpPr/>
          <p:nvPr/>
        </p:nvSpPr>
        <p:spPr>
          <a:xfrm>
            <a:off x="7657878" y="1471607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133" name="Square"/>
          <p:cNvSpPr/>
          <p:nvPr/>
        </p:nvSpPr>
        <p:spPr>
          <a:xfrm>
            <a:off x="8076306" y="1071557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134" name="Circle"/>
          <p:cNvSpPr/>
          <p:nvPr/>
        </p:nvSpPr>
        <p:spPr>
          <a:xfrm>
            <a:off x="9448744" y="791525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135" name="Line"/>
          <p:cNvSpPr/>
          <p:nvPr/>
        </p:nvSpPr>
        <p:spPr>
          <a:xfrm flipV="1">
            <a:off x="10091513" y="1021544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136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6519" y="1331907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7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6760" y="1288244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8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5206" y="1340658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9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23184" y="1218394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140" name="Line"/>
          <p:cNvSpPr/>
          <p:nvPr/>
        </p:nvSpPr>
        <p:spPr>
          <a:xfrm flipV="1">
            <a:off x="2607933" y="1776798"/>
            <a:ext cx="651421" cy="65142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141" name="Square"/>
          <p:cNvSpPr/>
          <p:nvPr/>
        </p:nvSpPr>
        <p:spPr>
          <a:xfrm>
            <a:off x="1990535" y="2318603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142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40149" y="2515453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3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11520" y="1334308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2" name="Connection Line" descr="Connection Lin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10646745" y="1834057"/>
            <a:ext cx="922208" cy="335592"/>
          </a:xfrm>
          <a:prstGeom prst="rect">
            <a:avLst/>
          </a:prstGeom>
        </p:spPr>
      </p:pic>
      <p:pic>
        <p:nvPicPr>
          <p:cNvPr id="1164" name="Connection Line" descr="Connection Lin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7451428" y="1701455"/>
            <a:ext cx="2265790" cy="500387"/>
          </a:xfrm>
          <a:prstGeom prst="rect">
            <a:avLst/>
          </a:prstGeom>
        </p:spPr>
      </p:pic>
      <p:pic>
        <p:nvPicPr>
          <p:cNvPr id="1166" name="Connection Line" descr="Connection Line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9753893" y="1712384"/>
            <a:ext cx="675241" cy="551953"/>
          </a:xfrm>
          <a:prstGeom prst="rect">
            <a:avLst/>
          </a:prstGeom>
        </p:spPr>
      </p:pic>
      <p:sp>
        <p:nvSpPr>
          <p:cNvPr id="1147" name="depends on"/>
          <p:cNvSpPr txBox="1"/>
          <p:nvPr/>
        </p:nvSpPr>
        <p:spPr>
          <a:xfrm>
            <a:off x="10797737" y="2216540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148" name="depends on"/>
          <p:cNvSpPr txBox="1"/>
          <p:nvPr/>
        </p:nvSpPr>
        <p:spPr>
          <a:xfrm>
            <a:off x="9556276" y="2305903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pic>
        <p:nvPicPr>
          <p:cNvPr id="1168" name="Connection Line" descr="Connection Line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6652861" y="1712384"/>
            <a:ext cx="675241" cy="551953"/>
          </a:xfrm>
          <a:prstGeom prst="rect">
            <a:avLst/>
          </a:prstGeom>
        </p:spPr>
      </p:pic>
      <p:pic>
        <p:nvPicPr>
          <p:cNvPr id="1170" name="Connection Line" descr="Connection Line"/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4251664" y="1714088"/>
            <a:ext cx="2357327" cy="504295"/>
          </a:xfrm>
          <a:prstGeom prst="rect">
            <a:avLst/>
          </a:prstGeom>
        </p:spPr>
      </p:pic>
      <p:pic>
        <p:nvPicPr>
          <p:cNvPr id="1172" name="Connection Line" descr="Connection Line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3544633" y="1733449"/>
            <a:ext cx="675240" cy="551953"/>
          </a:xfrm>
          <a:prstGeom prst="rect">
            <a:avLst/>
          </a:prstGeom>
        </p:spPr>
      </p:pic>
      <p:pic>
        <p:nvPicPr>
          <p:cNvPr id="1174" name="Connection Line" descr="Connection Line"/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2541948" y="913424"/>
            <a:ext cx="990484" cy="375740"/>
          </a:xfrm>
          <a:prstGeom prst="rect">
            <a:avLst/>
          </a:prstGeom>
        </p:spPr>
      </p:pic>
      <p:sp>
        <p:nvSpPr>
          <p:cNvPr id="1153" name="depends on"/>
          <p:cNvSpPr txBox="1"/>
          <p:nvPr/>
        </p:nvSpPr>
        <p:spPr>
          <a:xfrm>
            <a:off x="6455245" y="2446392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154" name="depends on"/>
          <p:cNvSpPr txBox="1"/>
          <p:nvPr/>
        </p:nvSpPr>
        <p:spPr>
          <a:xfrm>
            <a:off x="4742269" y="2268077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155" name="depends on"/>
          <p:cNvSpPr txBox="1"/>
          <p:nvPr/>
        </p:nvSpPr>
        <p:spPr>
          <a:xfrm>
            <a:off x="2987458" y="2304938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156" name="depends on"/>
          <p:cNvSpPr txBox="1"/>
          <p:nvPr/>
        </p:nvSpPr>
        <p:spPr>
          <a:xfrm>
            <a:off x="2526805" y="529407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157" name="depends on"/>
          <p:cNvSpPr txBox="1"/>
          <p:nvPr/>
        </p:nvSpPr>
        <p:spPr>
          <a:xfrm>
            <a:off x="7992660" y="2268077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158" name="Rounded Rectangle"/>
          <p:cNvSpPr/>
          <p:nvPr/>
        </p:nvSpPr>
        <p:spPr>
          <a:xfrm>
            <a:off x="4634896" y="3823975"/>
            <a:ext cx="1783885" cy="1217773"/>
          </a:xfrm>
          <a:prstGeom prst="roundRect">
            <a:avLst>
              <a:gd name="adj" fmla="val 9925"/>
            </a:avLst>
          </a:prstGeom>
          <a:ln w="38100">
            <a:solidFill>
              <a:schemeClr val="accent2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59" name="Rounded Rectangle"/>
          <p:cNvSpPr/>
          <p:nvPr/>
        </p:nvSpPr>
        <p:spPr>
          <a:xfrm>
            <a:off x="4634896" y="5117403"/>
            <a:ext cx="1783885" cy="1217773"/>
          </a:xfrm>
          <a:prstGeom prst="roundRect">
            <a:avLst>
              <a:gd name="adj" fmla="val 9925"/>
            </a:avLst>
          </a:prstGeom>
          <a:ln w="38100">
            <a:solidFill>
              <a:schemeClr val="accent2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176" name="Connection Line" descr="Connection Line"/>
          <p:cNvPicPr>
            <a:picLocks/>
          </p:cNvPicPr>
          <p:nvPr/>
        </p:nvPicPr>
        <p:blipFill>
          <a:blip r:embed="rId20"/>
          <a:stretch>
            <a:fillRect/>
          </a:stretch>
        </p:blipFill>
        <p:spPr>
          <a:xfrm>
            <a:off x="4162923" y="4636532"/>
            <a:ext cx="360431" cy="795117"/>
          </a:xfrm>
          <a:prstGeom prst="rect">
            <a:avLst/>
          </a:prstGeom>
        </p:spPr>
      </p:pic>
      <p:pic>
        <p:nvPicPr>
          <p:cNvPr id="1161" name="Image" descr="Image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75319" y="3941454"/>
            <a:ext cx="7354268" cy="475636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18642519"/>
      </p:ext>
    </p:extLst>
  </p:cSld>
  <p:clrMapOvr>
    <a:masterClrMapping/>
  </p:clrMapOvr>
  <p:transition spd="med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Line"/>
          <p:cNvSpPr/>
          <p:nvPr/>
        </p:nvSpPr>
        <p:spPr>
          <a:xfrm>
            <a:off x="1605431" y="1459694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18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89" y="1351744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1183" name="Circle"/>
          <p:cNvSpPr/>
          <p:nvPr/>
        </p:nvSpPr>
        <p:spPr>
          <a:xfrm>
            <a:off x="3246680" y="816925"/>
            <a:ext cx="1285540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184" name="Square"/>
          <p:cNvSpPr/>
          <p:nvPr/>
        </p:nvSpPr>
        <p:spPr>
          <a:xfrm>
            <a:off x="1990535" y="1059644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18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635" y="1319994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1186" name="Line"/>
          <p:cNvSpPr/>
          <p:nvPr/>
        </p:nvSpPr>
        <p:spPr>
          <a:xfrm flipV="1">
            <a:off x="3889449" y="1035030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18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962" y="1319994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8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7504" y="1231881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189" name="Line"/>
          <p:cNvSpPr/>
          <p:nvPr/>
        </p:nvSpPr>
        <p:spPr>
          <a:xfrm>
            <a:off x="4583047" y="1471607"/>
            <a:ext cx="17400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190" name="Square"/>
          <p:cNvSpPr/>
          <p:nvPr/>
        </p:nvSpPr>
        <p:spPr>
          <a:xfrm>
            <a:off x="5001475" y="1071557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191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0225" y="1343820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1192" name="Circle"/>
          <p:cNvSpPr/>
          <p:nvPr/>
        </p:nvSpPr>
        <p:spPr>
          <a:xfrm>
            <a:off x="6373913" y="791525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193" name="Line"/>
          <p:cNvSpPr/>
          <p:nvPr/>
        </p:nvSpPr>
        <p:spPr>
          <a:xfrm flipV="1">
            <a:off x="7016682" y="1021544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194" name="Line"/>
          <p:cNvSpPr/>
          <p:nvPr/>
        </p:nvSpPr>
        <p:spPr>
          <a:xfrm>
            <a:off x="10669926" y="1447781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19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9480" y="1230307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196" name="Line"/>
          <p:cNvSpPr/>
          <p:nvPr/>
        </p:nvSpPr>
        <p:spPr>
          <a:xfrm>
            <a:off x="7657878" y="1471607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197" name="Square"/>
          <p:cNvSpPr/>
          <p:nvPr/>
        </p:nvSpPr>
        <p:spPr>
          <a:xfrm>
            <a:off x="8076306" y="1071557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198" name="Circle"/>
          <p:cNvSpPr/>
          <p:nvPr/>
        </p:nvSpPr>
        <p:spPr>
          <a:xfrm>
            <a:off x="9448744" y="791525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199" name="Line"/>
          <p:cNvSpPr/>
          <p:nvPr/>
        </p:nvSpPr>
        <p:spPr>
          <a:xfrm flipV="1">
            <a:off x="10091513" y="1021544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200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6519" y="1331907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1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6760" y="1288244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2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5206" y="1340658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3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23184" y="1218394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204" name="Line"/>
          <p:cNvSpPr/>
          <p:nvPr/>
        </p:nvSpPr>
        <p:spPr>
          <a:xfrm flipV="1">
            <a:off x="2607933" y="1776798"/>
            <a:ext cx="651421" cy="65142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205" name="Square"/>
          <p:cNvSpPr/>
          <p:nvPr/>
        </p:nvSpPr>
        <p:spPr>
          <a:xfrm>
            <a:off x="1990535" y="2318603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206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40149" y="2515453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7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11520" y="1334308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6" name="Connection Line" descr="Connection Line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10646745" y="1834057"/>
            <a:ext cx="922208" cy="335592"/>
          </a:xfrm>
          <a:prstGeom prst="rect">
            <a:avLst/>
          </a:prstGeom>
        </p:spPr>
      </p:pic>
      <p:pic>
        <p:nvPicPr>
          <p:cNvPr id="1228" name="Connection Line" descr="Connection Lin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451428" y="1701455"/>
            <a:ext cx="2265790" cy="500387"/>
          </a:xfrm>
          <a:prstGeom prst="rect">
            <a:avLst/>
          </a:prstGeom>
        </p:spPr>
      </p:pic>
      <p:pic>
        <p:nvPicPr>
          <p:cNvPr id="1230" name="Connection Line" descr="Connection Lin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9753893" y="1712384"/>
            <a:ext cx="675241" cy="551953"/>
          </a:xfrm>
          <a:prstGeom prst="rect">
            <a:avLst/>
          </a:prstGeom>
        </p:spPr>
      </p:pic>
      <p:sp>
        <p:nvSpPr>
          <p:cNvPr id="1211" name="depends on"/>
          <p:cNvSpPr txBox="1"/>
          <p:nvPr/>
        </p:nvSpPr>
        <p:spPr>
          <a:xfrm>
            <a:off x="10797737" y="2216540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212" name="depends on"/>
          <p:cNvSpPr txBox="1"/>
          <p:nvPr/>
        </p:nvSpPr>
        <p:spPr>
          <a:xfrm>
            <a:off x="9556276" y="2305903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pic>
        <p:nvPicPr>
          <p:cNvPr id="1232" name="Connection Line" descr="Connection Lin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6652861" y="1712384"/>
            <a:ext cx="675241" cy="551953"/>
          </a:xfrm>
          <a:prstGeom prst="rect">
            <a:avLst/>
          </a:prstGeom>
        </p:spPr>
      </p:pic>
      <p:pic>
        <p:nvPicPr>
          <p:cNvPr id="1234" name="Connection Line" descr="Connection Line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4251664" y="1714088"/>
            <a:ext cx="2357327" cy="504295"/>
          </a:xfrm>
          <a:prstGeom prst="rect">
            <a:avLst/>
          </a:prstGeom>
        </p:spPr>
      </p:pic>
      <p:pic>
        <p:nvPicPr>
          <p:cNvPr id="1236" name="Connection Line" descr="Connection Lin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3544633" y="1733449"/>
            <a:ext cx="675240" cy="551953"/>
          </a:xfrm>
          <a:prstGeom prst="rect">
            <a:avLst/>
          </a:prstGeom>
        </p:spPr>
      </p:pic>
      <p:pic>
        <p:nvPicPr>
          <p:cNvPr id="1238" name="Connection Line" descr="Connection Line"/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2541948" y="913424"/>
            <a:ext cx="990484" cy="375740"/>
          </a:xfrm>
          <a:prstGeom prst="rect">
            <a:avLst/>
          </a:prstGeom>
        </p:spPr>
      </p:pic>
      <p:sp>
        <p:nvSpPr>
          <p:cNvPr id="1217" name="depends on"/>
          <p:cNvSpPr txBox="1"/>
          <p:nvPr/>
        </p:nvSpPr>
        <p:spPr>
          <a:xfrm>
            <a:off x="6455245" y="2446392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218" name="depends on"/>
          <p:cNvSpPr txBox="1"/>
          <p:nvPr/>
        </p:nvSpPr>
        <p:spPr>
          <a:xfrm>
            <a:off x="4742269" y="2268077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219" name="depends on"/>
          <p:cNvSpPr txBox="1"/>
          <p:nvPr/>
        </p:nvSpPr>
        <p:spPr>
          <a:xfrm>
            <a:off x="2987458" y="2304938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220" name="depends on"/>
          <p:cNvSpPr txBox="1"/>
          <p:nvPr/>
        </p:nvSpPr>
        <p:spPr>
          <a:xfrm>
            <a:off x="2526805" y="529407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221" name="depends on"/>
          <p:cNvSpPr txBox="1"/>
          <p:nvPr/>
        </p:nvSpPr>
        <p:spPr>
          <a:xfrm>
            <a:off x="7992660" y="2268077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222" name="Rounded Rectangle"/>
          <p:cNvSpPr/>
          <p:nvPr/>
        </p:nvSpPr>
        <p:spPr>
          <a:xfrm>
            <a:off x="4634896" y="5117403"/>
            <a:ext cx="3501633" cy="1217773"/>
          </a:xfrm>
          <a:prstGeom prst="roundRect">
            <a:avLst>
              <a:gd name="adj" fmla="val 9925"/>
            </a:avLst>
          </a:prstGeom>
          <a:ln w="38100">
            <a:solidFill>
              <a:schemeClr val="accent2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23" name="Rounded Rectangle"/>
          <p:cNvSpPr/>
          <p:nvPr/>
        </p:nvSpPr>
        <p:spPr>
          <a:xfrm>
            <a:off x="4634896" y="6376012"/>
            <a:ext cx="3501633" cy="1217773"/>
          </a:xfrm>
          <a:prstGeom prst="roundRect">
            <a:avLst>
              <a:gd name="adj" fmla="val 9925"/>
            </a:avLst>
          </a:prstGeom>
          <a:ln w="38100">
            <a:solidFill>
              <a:schemeClr val="accent2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40" name="Connection Line" descr="Connection Line"/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4162923" y="5922077"/>
            <a:ext cx="360431" cy="795117"/>
          </a:xfrm>
          <a:prstGeom prst="rect">
            <a:avLst/>
          </a:prstGeom>
        </p:spPr>
      </p:pic>
      <p:pic>
        <p:nvPicPr>
          <p:cNvPr id="1225" name="Image" descr="Imag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75319" y="3941454"/>
            <a:ext cx="7354268" cy="475636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02248244"/>
      </p:ext>
    </p:extLst>
  </p:cSld>
  <p:clrMapOvr>
    <a:masterClrMapping/>
  </p:clrMapOvr>
  <p:transition spd="med"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Line"/>
          <p:cNvSpPr/>
          <p:nvPr/>
        </p:nvSpPr>
        <p:spPr>
          <a:xfrm>
            <a:off x="1605431" y="1459694"/>
            <a:ext cx="157031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24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89" y="1351744"/>
            <a:ext cx="241301" cy="215901"/>
          </a:xfrm>
          <a:prstGeom prst="rect">
            <a:avLst/>
          </a:prstGeom>
          <a:ln w="12700">
            <a:miter lim="400000"/>
          </a:ln>
        </p:spPr>
      </p:pic>
      <p:sp>
        <p:nvSpPr>
          <p:cNvPr id="1245" name="Circle"/>
          <p:cNvSpPr/>
          <p:nvPr/>
        </p:nvSpPr>
        <p:spPr>
          <a:xfrm>
            <a:off x="3246680" y="816925"/>
            <a:ext cx="1285540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246" name="Square"/>
          <p:cNvSpPr/>
          <p:nvPr/>
        </p:nvSpPr>
        <p:spPr>
          <a:xfrm>
            <a:off x="1990535" y="1059644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24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635" y="1319994"/>
            <a:ext cx="4699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1248" name="Line"/>
          <p:cNvSpPr/>
          <p:nvPr/>
        </p:nvSpPr>
        <p:spPr>
          <a:xfrm flipV="1">
            <a:off x="3889449" y="1035030"/>
            <a:ext cx="1" cy="82550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24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962" y="1319994"/>
            <a:ext cx="381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0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7504" y="1231881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251" name="Line"/>
          <p:cNvSpPr/>
          <p:nvPr/>
        </p:nvSpPr>
        <p:spPr>
          <a:xfrm>
            <a:off x="4583047" y="1471607"/>
            <a:ext cx="174003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252" name="Square"/>
          <p:cNvSpPr/>
          <p:nvPr/>
        </p:nvSpPr>
        <p:spPr>
          <a:xfrm>
            <a:off x="5001475" y="1071557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25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0225" y="1343820"/>
            <a:ext cx="4826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1254" name="Circle"/>
          <p:cNvSpPr/>
          <p:nvPr/>
        </p:nvSpPr>
        <p:spPr>
          <a:xfrm>
            <a:off x="6373913" y="791525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255" name="Line"/>
          <p:cNvSpPr/>
          <p:nvPr/>
        </p:nvSpPr>
        <p:spPr>
          <a:xfrm flipV="1">
            <a:off x="7016682" y="1021544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256" name="Line"/>
          <p:cNvSpPr/>
          <p:nvPr/>
        </p:nvSpPr>
        <p:spPr>
          <a:xfrm>
            <a:off x="10669926" y="1447781"/>
            <a:ext cx="6379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257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9480" y="1230307"/>
            <a:ext cx="3683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258" name="Line"/>
          <p:cNvSpPr/>
          <p:nvPr/>
        </p:nvSpPr>
        <p:spPr>
          <a:xfrm>
            <a:off x="7657878" y="1471607"/>
            <a:ext cx="17400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259" name="Square"/>
          <p:cNvSpPr/>
          <p:nvPr/>
        </p:nvSpPr>
        <p:spPr>
          <a:xfrm>
            <a:off x="8076306" y="1071557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260" name="Circle"/>
          <p:cNvSpPr/>
          <p:nvPr/>
        </p:nvSpPr>
        <p:spPr>
          <a:xfrm>
            <a:off x="9448744" y="791525"/>
            <a:ext cx="1285539" cy="12855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261" name="Line"/>
          <p:cNvSpPr/>
          <p:nvPr/>
        </p:nvSpPr>
        <p:spPr>
          <a:xfrm flipV="1">
            <a:off x="10091513" y="1021544"/>
            <a:ext cx="1" cy="8255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262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6519" y="1331907"/>
            <a:ext cx="3937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3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6760" y="1288244"/>
            <a:ext cx="3937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4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5206" y="1340658"/>
            <a:ext cx="4826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5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23184" y="1218394"/>
            <a:ext cx="381001" cy="43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266" name="Line"/>
          <p:cNvSpPr/>
          <p:nvPr/>
        </p:nvSpPr>
        <p:spPr>
          <a:xfrm flipV="1">
            <a:off x="2607933" y="1776798"/>
            <a:ext cx="651421" cy="65142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267" name="Square"/>
          <p:cNvSpPr/>
          <p:nvPr/>
        </p:nvSpPr>
        <p:spPr>
          <a:xfrm>
            <a:off x="1990535" y="2318603"/>
            <a:ext cx="800101" cy="8001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pic>
        <p:nvPicPr>
          <p:cNvPr id="1268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40149" y="2515453"/>
            <a:ext cx="3429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9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11520" y="1334308"/>
            <a:ext cx="2286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8" name="Connection Line" descr="Connection Line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10646745" y="1834057"/>
            <a:ext cx="922208" cy="335592"/>
          </a:xfrm>
          <a:prstGeom prst="rect">
            <a:avLst/>
          </a:prstGeom>
        </p:spPr>
      </p:pic>
      <p:pic>
        <p:nvPicPr>
          <p:cNvPr id="1290" name="Connection Line" descr="Connection Lin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451428" y="1701455"/>
            <a:ext cx="2265790" cy="500387"/>
          </a:xfrm>
          <a:prstGeom prst="rect">
            <a:avLst/>
          </a:prstGeom>
        </p:spPr>
      </p:pic>
      <p:pic>
        <p:nvPicPr>
          <p:cNvPr id="1292" name="Connection Line" descr="Connection Lin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9753893" y="1712384"/>
            <a:ext cx="675241" cy="551953"/>
          </a:xfrm>
          <a:prstGeom prst="rect">
            <a:avLst/>
          </a:prstGeom>
        </p:spPr>
      </p:pic>
      <p:sp>
        <p:nvSpPr>
          <p:cNvPr id="1273" name="depends on"/>
          <p:cNvSpPr txBox="1"/>
          <p:nvPr/>
        </p:nvSpPr>
        <p:spPr>
          <a:xfrm>
            <a:off x="10797737" y="2216540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274" name="depends on"/>
          <p:cNvSpPr txBox="1"/>
          <p:nvPr/>
        </p:nvSpPr>
        <p:spPr>
          <a:xfrm>
            <a:off x="9556276" y="2305903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pic>
        <p:nvPicPr>
          <p:cNvPr id="1294" name="Connection Line" descr="Connection Lin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6652861" y="1712384"/>
            <a:ext cx="675241" cy="551953"/>
          </a:xfrm>
          <a:prstGeom prst="rect">
            <a:avLst/>
          </a:prstGeom>
        </p:spPr>
      </p:pic>
      <p:pic>
        <p:nvPicPr>
          <p:cNvPr id="1296" name="Connection Line" descr="Connection Line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4251664" y="1714088"/>
            <a:ext cx="2357327" cy="504295"/>
          </a:xfrm>
          <a:prstGeom prst="rect">
            <a:avLst/>
          </a:prstGeom>
        </p:spPr>
      </p:pic>
      <p:pic>
        <p:nvPicPr>
          <p:cNvPr id="1298" name="Connection Line" descr="Connection Lin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3544633" y="1733449"/>
            <a:ext cx="675240" cy="551953"/>
          </a:xfrm>
          <a:prstGeom prst="rect">
            <a:avLst/>
          </a:prstGeom>
        </p:spPr>
      </p:pic>
      <p:pic>
        <p:nvPicPr>
          <p:cNvPr id="1300" name="Connection Line" descr="Connection Line"/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2541948" y="913424"/>
            <a:ext cx="990484" cy="375740"/>
          </a:xfrm>
          <a:prstGeom prst="rect">
            <a:avLst/>
          </a:prstGeom>
        </p:spPr>
      </p:pic>
      <p:sp>
        <p:nvSpPr>
          <p:cNvPr id="1279" name="depends on"/>
          <p:cNvSpPr txBox="1"/>
          <p:nvPr/>
        </p:nvSpPr>
        <p:spPr>
          <a:xfrm>
            <a:off x="6455245" y="2446392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280" name="depends on"/>
          <p:cNvSpPr txBox="1"/>
          <p:nvPr/>
        </p:nvSpPr>
        <p:spPr>
          <a:xfrm>
            <a:off x="4742269" y="2268077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281" name="depends on"/>
          <p:cNvSpPr txBox="1"/>
          <p:nvPr/>
        </p:nvSpPr>
        <p:spPr>
          <a:xfrm>
            <a:off x="2987458" y="2304938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282" name="depends on"/>
          <p:cNvSpPr txBox="1"/>
          <p:nvPr/>
        </p:nvSpPr>
        <p:spPr>
          <a:xfrm>
            <a:off x="2526805" y="529407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283" name="depends on"/>
          <p:cNvSpPr txBox="1"/>
          <p:nvPr/>
        </p:nvSpPr>
        <p:spPr>
          <a:xfrm>
            <a:off x="7992660" y="2268077"/>
            <a:ext cx="107047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r>
              <a:t>depends on</a:t>
            </a:r>
          </a:p>
        </p:txBody>
      </p:sp>
      <p:sp>
        <p:nvSpPr>
          <p:cNvPr id="1284" name="Rounded Rectangle"/>
          <p:cNvSpPr/>
          <p:nvPr/>
        </p:nvSpPr>
        <p:spPr>
          <a:xfrm>
            <a:off x="4634896" y="6376012"/>
            <a:ext cx="5263176" cy="1217773"/>
          </a:xfrm>
          <a:prstGeom prst="roundRect">
            <a:avLst>
              <a:gd name="adj" fmla="val 9925"/>
            </a:avLst>
          </a:prstGeom>
          <a:ln w="38100">
            <a:solidFill>
              <a:schemeClr val="accent2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85" name="Rounded Rectangle"/>
          <p:cNvSpPr/>
          <p:nvPr/>
        </p:nvSpPr>
        <p:spPr>
          <a:xfrm>
            <a:off x="4634896" y="7634621"/>
            <a:ext cx="5263176" cy="1217773"/>
          </a:xfrm>
          <a:prstGeom prst="roundRect">
            <a:avLst>
              <a:gd name="adj" fmla="val 9925"/>
            </a:avLst>
          </a:prstGeom>
          <a:ln w="38100">
            <a:solidFill>
              <a:schemeClr val="accent2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302" name="Connection Line" descr="Connection Line"/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4180333" y="7230528"/>
            <a:ext cx="360430" cy="795117"/>
          </a:xfrm>
          <a:prstGeom prst="rect">
            <a:avLst/>
          </a:prstGeom>
        </p:spPr>
      </p:pic>
      <p:pic>
        <p:nvPicPr>
          <p:cNvPr id="1287" name="Image" descr="Imag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75319" y="3941454"/>
            <a:ext cx="7354268" cy="475636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35616861"/>
      </p:ext>
    </p:extLst>
  </p:cSld>
  <p:clrMapOvr>
    <a:masterClrMapping/>
  </p:clrMapOvr>
  <p:transition spd="med"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667"/>
          <p:cNvSpPr>
            <a:spLocks noGrp="1"/>
          </p:cNvSpPr>
          <p:nvPr>
            <p:ph type="title"/>
          </p:nvPr>
        </p:nvSpPr>
        <p:spPr>
          <a:xfrm>
            <a:off x="0" y="1219200"/>
            <a:ext cx="13004800" cy="1413934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References</a:t>
            </a:r>
            <a:endParaRPr dirty="0"/>
          </a:p>
        </p:txBody>
      </p:sp>
      <p:sp>
        <p:nvSpPr>
          <p:cNvPr id="7" name="Shape 667"/>
          <p:cNvSpPr txBox="1">
            <a:spLocks/>
          </p:cNvSpPr>
          <p:nvPr/>
        </p:nvSpPr>
        <p:spPr>
          <a:xfrm>
            <a:off x="381001" y="2426789"/>
            <a:ext cx="12242799" cy="5697961"/>
          </a:xfrm>
          <a:prstGeom prst="rect">
            <a:avLst/>
          </a:prstGeom>
        </p:spPr>
        <p:txBody>
          <a:bodyPr vert="horz" lIns="97536" tIns="48768" rIns="97536" bIns="4876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z="213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Helvetica Light"/>
              </a:rPr>
              <a:t>Basic reading: </a:t>
            </a:r>
            <a:r>
              <a:rPr lang="en-US" sz="2130" dirty="0"/>
              <a:t>No standard textbooks yet! Some good resources:</a:t>
            </a:r>
          </a:p>
          <a:p>
            <a:pPr marL="342900" lvl="1" indent="-342900" algn="l">
              <a:buFont typeface="Arial" panose="020B0604020202020204" pitchFamily="34" charset="0"/>
              <a:buChar char="•"/>
            </a:pPr>
            <a:r>
              <a:rPr lang="en-US" sz="2130" dirty="0">
                <a:latin typeface="+mj-lt"/>
                <a:hlinkClick r:id="rId3"/>
              </a:rPr>
              <a:t>https://sites.google.com/site/deeplearningsummerschool/</a:t>
            </a:r>
            <a:endParaRPr lang="en-US" sz="2130" dirty="0">
              <a:latin typeface="+mj-lt"/>
            </a:endParaRPr>
          </a:p>
          <a:p>
            <a:pPr marL="342900" lvl="1" indent="-342900" algn="l">
              <a:buFont typeface="Arial" panose="020B0604020202020204" pitchFamily="34" charset="0"/>
              <a:buChar char="•"/>
            </a:pPr>
            <a:r>
              <a:rPr lang="en-US" sz="2130" dirty="0">
                <a:latin typeface="+mj-lt"/>
                <a:hlinkClick r:id="rId4"/>
              </a:rPr>
              <a:t>http://www.deeplearningbook.org/</a:t>
            </a:r>
            <a:endParaRPr lang="en-US" sz="2130" dirty="0">
              <a:latin typeface="+mj-lt"/>
            </a:endParaRPr>
          </a:p>
          <a:p>
            <a:pPr marL="342900" lvl="1" indent="-342900" algn="l">
              <a:buFont typeface="Arial" panose="020B0604020202020204" pitchFamily="34" charset="0"/>
              <a:buChar char="•"/>
            </a:pPr>
            <a:r>
              <a:rPr lang="en-US" sz="2130" dirty="0">
                <a:latin typeface="+mj-lt"/>
                <a:hlinkClick r:id="rId5"/>
              </a:rPr>
              <a:t>http://www.cs.toronto.edu/~hinton/absps/NatureDeepReview.pdf</a:t>
            </a:r>
            <a:endParaRPr lang="en-US" sz="2130" dirty="0"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86446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ecture1.key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21E8"/>
      </a:accent1>
      <a:accent2>
        <a:srgbClr val="FF9966"/>
      </a:accent2>
      <a:accent3>
        <a:srgbClr val="FFFFFF"/>
      </a:accent3>
      <a:accent4>
        <a:srgbClr val="000000"/>
      </a:accent4>
      <a:accent5>
        <a:srgbClr val="AAABF2"/>
      </a:accent5>
      <a:accent6>
        <a:srgbClr val="E78A5C"/>
      </a:accent6>
      <a:hlink>
        <a:srgbClr val="CC3300"/>
      </a:hlink>
      <a:folHlink>
        <a:srgbClr val="996600"/>
      </a:folHlink>
    </a:clrScheme>
    <a:fontScheme name="lecture1.key">
      <a:majorFont>
        <a:latin typeface="Tahoma"/>
        <a:ea typeface="Osaka"/>
        <a:cs typeface=""/>
      </a:majorFont>
      <a:minorFont>
        <a:latin typeface="Tahoma"/>
        <a:ea typeface="Osak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ecture1.ke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.key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.key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.key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.key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.key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.key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.key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.key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.key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.key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.key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</a:theme>
</file>

<file path=ppt/theme/theme6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ppt/theme/themeOverride2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2864</TotalTime>
  <Words>8237</Words>
  <Application>Microsoft Office PowerPoint</Application>
  <PresentationFormat>Custom</PresentationFormat>
  <Paragraphs>1117</Paragraphs>
  <Slides>125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125</vt:i4>
      </vt:variant>
    </vt:vector>
  </HeadingPairs>
  <TitlesOfParts>
    <vt:vector size="143" baseType="lpstr">
      <vt:lpstr>Arial</vt:lpstr>
      <vt:lpstr>Avenir Roman</vt:lpstr>
      <vt:lpstr>Calibri</vt:lpstr>
      <vt:lpstr>Corbel</vt:lpstr>
      <vt:lpstr>Courier New</vt:lpstr>
      <vt:lpstr>Garamond</vt:lpstr>
      <vt:lpstr>Helvetica</vt:lpstr>
      <vt:lpstr>Helvetica Light</vt:lpstr>
      <vt:lpstr>Tahoma</vt:lpstr>
      <vt:lpstr>Times New Roman</vt:lpstr>
      <vt:lpstr>Wingdings</vt:lpstr>
      <vt:lpstr>Wingdings 2</vt:lpstr>
      <vt:lpstr>Wingdings 3</vt:lpstr>
      <vt:lpstr>White</vt:lpstr>
      <vt:lpstr>1_White</vt:lpstr>
      <vt:lpstr>2_Office Theme</vt:lpstr>
      <vt:lpstr>lecture1.key</vt:lpstr>
      <vt:lpstr>2_Module</vt:lpstr>
      <vt:lpstr>Introduction to neural networks</vt:lpstr>
      <vt:lpstr>PowerPoint Presentation</vt:lpstr>
      <vt:lpstr>The machine learning framework</vt:lpstr>
      <vt:lpstr>PowerPoint Presentation</vt:lpstr>
      <vt:lpstr>PowerPoint Presentation</vt:lpstr>
      <vt:lpstr>PowerPoint Presentation</vt:lpstr>
      <vt:lpstr>Steps</vt:lpstr>
      <vt:lpstr>Perceptron</vt:lpstr>
      <vt:lpstr>PowerPoint Presentation</vt:lpstr>
      <vt:lpstr>PowerPoint Presentation</vt:lpstr>
      <vt:lpstr>PowerPoint Presentation</vt:lpstr>
      <vt:lpstr>Aside: Inspiration from Biology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Neural networks</vt:lpstr>
      <vt:lpstr>PowerPoint Presentation</vt:lpstr>
      <vt:lpstr>Neural Network</vt:lpstr>
      <vt:lpstr>Neural Network</vt:lpstr>
      <vt:lpstr>Neural Network</vt:lpstr>
      <vt:lpstr>Neural Network</vt:lpstr>
      <vt:lpstr>Neural Network</vt:lpstr>
      <vt:lpstr>Neural Network</vt:lpstr>
      <vt:lpstr>Neural Network</vt:lpstr>
      <vt:lpstr>Neural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Training perceptrons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 descent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Backpropagation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Recognition</dc:title>
  <dc:creator>igkiou</dc:creator>
  <cp:lastModifiedBy>Swagatam Das</cp:lastModifiedBy>
  <cp:revision>87</cp:revision>
  <dcterms:modified xsi:type="dcterms:W3CDTF">2025-03-21T18:12:20Z</dcterms:modified>
</cp:coreProperties>
</file>