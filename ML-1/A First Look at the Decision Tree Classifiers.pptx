
<file path=[Content_Types].xml><?xml version="1.0" encoding="utf-8"?>
<Types xmlns="http://schemas.openxmlformats.org/package/2006/content-types">
  <Override PartName="/ppt/slides/slide6.xml" ContentType="application/vnd.openxmlformats-officedocument.presentationml.slide+xml"/>
  <Override PartName="/ppt/slideLayouts/slideLayout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4.xml" ContentType="application/vnd.openxmlformats-officedocument.presentationml.slide+xml"/>
  <Override PartName="/ppt/slides/slide18.xml" ContentType="application/vnd.openxmlformats-officedocument.presentationml.slide+xml"/>
  <Override PartName="/ppt/slideLayouts/slideLayout4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3.xml" ContentType="application/vnd.openxmlformats-officedocument.theme+xml"/>
  <Override PartName="/ppt/slides/slide2.xml" ContentType="application/vnd.openxmlformats-officedocument.presentationml.slide+xml"/>
  <Override PartName="/ppt/slides/slide16.xml" ContentType="application/vnd.openxmlformats-officedocument.presentationml.slide+xml"/>
  <Override PartName="/ppt/slides/slide25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6.xml" ContentType="application/vnd.openxmlformats-officedocument.presentationml.slideLayout+xml"/>
  <Default Extension="wmf" ContentType="image/x-wmf"/>
  <Default Extension="xls" ContentType="application/vnd.ms-excel"/>
  <Default Extension="rels" ContentType="application/vnd.openxmlformats-package.relationships+xml"/>
  <Default Extension="xml" ContentType="application/xml"/>
  <Override PartName="/ppt/slides/slide14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3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s/slide10.xml" ContentType="application/vnd.openxmlformats-officedocument.presentationml.slide+xml"/>
  <Override PartName="/ppt/slides/slide12.xml" ContentType="application/vnd.openxmlformats-officedocument.presentationml.slide+xml"/>
  <Override PartName="/ppt/slides/slide21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10.xml" ContentType="application/vnd.openxmlformats-officedocument.presentationml.slideLayout+xml"/>
  <Default Extension="vml" ContentType="application/vnd.openxmlformats-officedocument.vmlDrawing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  <Override PartName="/ppt/slideMasters/slideMaster2.xml" ContentType="application/vnd.openxmlformats-officedocument.presentationml.slideMaster+xml"/>
  <Override PartName="/ppt/slides/slide5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Default Extension="png" ContentType="image/png"/>
  <Default Extension="bin" ContentType="application/vnd.openxmlformats-officedocument.oleObject"/>
  <Override PartName="/ppt/notesSlides/notesSlide1.xml" ContentType="application/vnd.openxmlformats-officedocument.presentationml.notesSlide+xml"/>
  <Override PartName="/ppt/slides/slide3.xml" ContentType="application/vnd.openxmlformats-officedocument.presentationml.slide+xml"/>
  <Override PartName="/ppt/slides/slide17.xml" ContentType="application/vnd.openxmlformats-officedocument.presentationml.slide+xml"/>
  <Override PartName="/ppt/presProps.xml" ContentType="application/vnd.openxmlformats-officedocument.presentationml.presProps+xml"/>
  <Override PartName="/ppt/slideLayouts/slideLayout5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15.xml" ContentType="application/vnd.openxmlformats-officedocument.presentationml.slide+xml"/>
  <Override PartName="/ppt/slides/slide24.xml" ContentType="application/vnd.openxmlformats-officedocument.presentationml.slide+xml"/>
  <Override PartName="/ppt/slideLayouts/slideLayout3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25.xml" ContentType="application/vnd.openxmlformats-officedocument.presentationml.slideLayout+xml"/>
  <Default Extension="emf" ContentType="image/x-emf"/>
  <Default Extension="jpeg" ContentType="image/jpeg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22.xml" ContentType="application/vnd.openxmlformats-officedocument.presentationml.slide+xml"/>
  <Override PartName="/ppt/slideLayouts/slideLayout1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23.xml" ContentType="application/vnd.openxmlformats-officedocument.presentationml.slideLayout+xml"/>
  <Override PartName="/docProps/app.xml" ContentType="application/vnd.openxmlformats-officedocument.extended-properties+xml"/>
  <Override PartName="/ppt/slides/slide11.xml" ContentType="application/vnd.openxmlformats-officedocument.presentationml.slide+xml"/>
  <Override PartName="/ppt/slides/slide20.xml" ContentType="application/vnd.openxmlformats-officedocument.presentationml.slide+xml"/>
  <Override PartName="/ppt/slideLayouts/slideLayout12.xml" ContentType="application/vnd.openxmlformats-officedocument.presentationml.slideLayout+xml"/>
  <Override PartName="/ppt/slideLayouts/slideLayout21.xml" ContentType="application/vnd.openxmlformats-officedocument.presentationml.slideLayout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  <p:sldMasterId id="2147483660" r:id="rId2"/>
  </p:sldMasterIdLst>
  <p:notesMasterIdLst>
    <p:notesMasterId r:id="rId28"/>
  </p:notesMasterIdLst>
  <p:sldIdLst>
    <p:sldId id="256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  <p:ext uri="{FD5EFAAD-0ECE-453E-9831-46B23BE46B34}">
      <p15:chartTrackingRefBased xmlns:p15="http://schemas.microsoft.com/office/powerpoint/2012/main" xmlns="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 horzBarState="maximized">
    <p:restoredLeft sz="16980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-84" y="-246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6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26" Type="http://schemas.openxmlformats.org/officeDocument/2006/relationships/slide" Target="slides/slide24.xml"/><Relationship Id="rId3" Type="http://schemas.openxmlformats.org/officeDocument/2006/relationships/slide" Target="slides/slide1.xml"/><Relationship Id="rId21" Type="http://schemas.openxmlformats.org/officeDocument/2006/relationships/slide" Target="slides/slide19.xml"/><Relationship Id="rId7" Type="http://schemas.openxmlformats.org/officeDocument/2006/relationships/slide" Target="slides/slide5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0" Type="http://schemas.openxmlformats.org/officeDocument/2006/relationships/slide" Target="slides/slide18.xml"/><Relationship Id="rId29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tableStyles" Target="tableStyles.xml"/><Relationship Id="rId5" Type="http://schemas.openxmlformats.org/officeDocument/2006/relationships/slide" Target="slides/slide3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notesMaster" Target="notesMasters/notesMaster1.xml"/><Relationship Id="rId10" Type="http://schemas.openxmlformats.org/officeDocument/2006/relationships/slide" Target="slides/slide8.xml"/><Relationship Id="rId19" Type="http://schemas.openxmlformats.org/officeDocument/2006/relationships/slide" Target="slides/slide17.xml"/><Relationship Id="rId3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viewProps" Target="viewProps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10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12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drawings/_rels/vmlDrawing4.vml.rels><?xml version="1.0" encoding="UTF-8" standalone="yes"?>
<Relationships xmlns="http://schemas.openxmlformats.org/package/2006/relationships"><Relationship Id="rId3" Type="http://schemas.openxmlformats.org/officeDocument/2006/relationships/image" Target="../media/image17.wmf"/><Relationship Id="rId2" Type="http://schemas.openxmlformats.org/officeDocument/2006/relationships/image" Target="../media/image16.wmf"/><Relationship Id="rId1" Type="http://schemas.openxmlformats.org/officeDocument/2006/relationships/image" Target="../media/image15.emf"/><Relationship Id="rId4" Type="http://schemas.openxmlformats.org/officeDocument/2006/relationships/image" Target="../media/image18.wmf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6450626-A488-44AA-9627-6467DE65A0F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D4BFCAD-EFEE-4784-8788-E80C60147D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02585266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290" name="Rectangle 7"/>
          <p:cNvSpPr>
            <a:spLocks noGrp="1" noChangeArrowheads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A3A39FBE-B646-4D2F-9A6B-2181ED8B08F0}" type="slidenum">
              <a:rPr lang="en-US">
                <a:solidFill>
                  <a:prstClr val="black"/>
                </a:solidFill>
              </a:rPr>
              <a:pPr/>
              <a:t>23</a:t>
            </a:fld>
            <a:endParaRPr 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0666454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3868034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1179306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1081179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1964404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7903647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492357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2824654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88591404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35665643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92183788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300636919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 3"/>
          <p:cNvSpPr>
            <a:spLocks noChangeArrowheads="1"/>
          </p:cNvSpPr>
          <p:nvPr/>
        </p:nvSpPr>
        <p:spPr bwMode="auto">
          <a:xfrm>
            <a:off x="812800" y="1219200"/>
            <a:ext cx="10566400" cy="9144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defTabSz="457200"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5" name="Line 8"/>
          <p:cNvSpPr>
            <a:spLocks noChangeShapeType="1"/>
          </p:cNvSpPr>
          <p:nvPr/>
        </p:nvSpPr>
        <p:spPr bwMode="auto">
          <a:xfrm>
            <a:off x="2641601" y="3962400"/>
            <a:ext cx="8682567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defTabSz="457200">
              <a:buFont typeface="Wingdings" pitchFamily="-110" charset="2"/>
              <a:buChar char="n"/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5427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1219201" y="1524000"/>
            <a:ext cx="10164233" cy="1752600"/>
          </a:xfrm>
        </p:spPr>
        <p:txBody>
          <a:bodyPr/>
          <a:lstStyle>
            <a:lvl1pPr>
              <a:defRPr sz="5000"/>
            </a:lvl1pPr>
          </a:lstStyle>
          <a:p>
            <a:r>
              <a:rPr lang="en-US" altLang="en-US"/>
              <a:t>Click to edit Master title style</a:t>
            </a:r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2641600" y="3962400"/>
            <a:ext cx="8737600" cy="1752600"/>
          </a:xfrm>
        </p:spPr>
        <p:txBody>
          <a:bodyPr/>
          <a:lstStyle>
            <a:lvl1pPr marL="0" indent="0">
              <a:buFont typeface="Wingdings" pitchFamily="-110" charset="2"/>
              <a:buNone/>
              <a:defRPr sz="2800"/>
            </a:lvl1pPr>
          </a:lstStyle>
          <a:p>
            <a:r>
              <a:rPr lang="en-US" altLang="en-US"/>
              <a:t>Click to edit Master subtitle style</a:t>
            </a:r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>
          <a:xfrm>
            <a:off x="914400" y="6243638"/>
            <a:ext cx="7112000" cy="457200"/>
          </a:xfrm>
        </p:spPr>
        <p:txBody>
          <a:bodyPr/>
          <a:lstStyle>
            <a:lvl1pPr algn="ctr"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490C229F-A206-44FE-818F-AC6C394AABE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212021440"/>
      </p:ext>
    </p:extLst>
  </p:cSld>
  <p:clrMapOvr>
    <a:masterClrMapping/>
  </p:clrMapOvr>
  <p:transition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D3AC3A4-A827-4FE8-9ABD-FFBE5D96B8F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902880414"/>
      </p:ext>
    </p:extLst>
  </p:cSld>
  <p:clrMapOvr>
    <a:masterClrMapping/>
  </p:clrMapOvr>
  <p:transition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BB91AB84-5A70-4279-945C-FCCB612BE6B2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09560848"/>
      </p:ext>
    </p:extLst>
  </p:cSld>
  <p:clrMapOvr>
    <a:masterClrMapping/>
  </p:clrMapOvr>
  <p:transition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CAFEF37A-DED4-4A03-B936-6FF9BDB5F9C8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124471313"/>
      </p:ext>
    </p:extLst>
  </p:cSld>
  <p:clrMapOvr>
    <a:masterClrMapping/>
  </p:clrMapOvr>
  <p:transition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2689A43-FB61-48BD-BF45-B1E2C804186E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96760557"/>
      </p:ext>
    </p:extLst>
  </p:cSld>
  <p:clrMapOvr>
    <a:masterClrMapping/>
  </p:clrMapOvr>
  <p:transition/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C2265EB-9187-4253-BA67-40389D30363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336668733"/>
      </p:ext>
    </p:extLst>
  </p:cSld>
  <p:clrMapOvr>
    <a:masterClrMapping/>
  </p:clrMapOvr>
  <p:transition/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CCBAB86-2559-4979-BC5C-6624838BCC6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731479896"/>
      </p:ext>
    </p:extLst>
  </p:cSld>
  <p:clrMapOvr>
    <a:masterClrMapping/>
  </p:clrMapOvr>
  <p:transition/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1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5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1" y="1435101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F66E5244-5893-4231-818B-AEC1CE7CDB0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936621508"/>
      </p:ext>
    </p:extLst>
  </p:cSld>
  <p:clrMapOvr>
    <a:masterClrMapping/>
  </p:clrMapOvr>
  <p:transition/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IN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EAF86C8D-9235-4AB4-92FE-64BECED8BA76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84967982"/>
      </p:ext>
    </p:extLst>
  </p:cSld>
  <p:clrMapOvr>
    <a:masterClrMapping/>
  </p:clrMapOvr>
  <p:transition/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6DF0F3C-951C-4970-9587-52F4CF2E7A7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852985649"/>
      </p:ext>
    </p:extLst>
  </p:cSld>
  <p:clrMapOvr>
    <a:masterClrMapping/>
  </p:clrMapOvr>
  <p:transition/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9200" y="277813"/>
            <a:ext cx="2743200" cy="5853112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600" y="277813"/>
            <a:ext cx="8026400" cy="5853112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7EE85C64-7142-4E8A-A23F-AA9A0778058F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456670603"/>
      </p:ext>
    </p:extLst>
  </p:cSld>
  <p:clrMapOvr>
    <a:masterClrMapping/>
  </p:clrMapOvr>
  <p:transition/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Obj" preserve="1">
  <p:cSld name="Title, Text,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600" y="1600201"/>
            <a:ext cx="53848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6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1143EAE2-7D02-4D03-9FC4-395745BA1E04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1742801887"/>
      </p:ext>
    </p:extLst>
  </p:cSld>
  <p:clrMapOvr>
    <a:masterClrMapping/>
  </p:clrMapOvr>
  <p:transition/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xAndTwoObj" preserve="1">
  <p:cSld name="Title, Text,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ext Placeholder 2"/>
          <p:cNvSpPr>
            <a:spLocks noGrp="1"/>
          </p:cNvSpPr>
          <p:nvPr>
            <p:ph type="body" sz="half" idx="1"/>
          </p:nvPr>
        </p:nvSpPr>
        <p:spPr>
          <a:xfrm>
            <a:off x="609600" y="1600201"/>
            <a:ext cx="5384800" cy="4530725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9014ECF5-190B-4E6C-B633-072DB09CE96A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229658585"/>
      </p:ext>
    </p:extLst>
  </p:cSld>
  <p:clrMapOvr>
    <a:masterClrMapping/>
  </p:clrMapOvr>
  <p:transition/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fourObj" preserve="1">
  <p:cSld name="Title and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 sz="quarter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609600" y="1600201"/>
            <a:ext cx="53848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4" name="Content Placeholder 3"/>
          <p:cNvSpPr>
            <a:spLocks noGrp="1"/>
          </p:cNvSpPr>
          <p:nvPr>
            <p:ph sz="quarter" idx="2"/>
          </p:nvPr>
        </p:nvSpPr>
        <p:spPr>
          <a:xfrm>
            <a:off x="6197600" y="1600201"/>
            <a:ext cx="5384800" cy="218916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5" name="Content Placeholder 4"/>
          <p:cNvSpPr>
            <a:spLocks noGrp="1"/>
          </p:cNvSpPr>
          <p:nvPr>
            <p:ph sz="quarter" idx="3"/>
          </p:nvPr>
        </p:nvSpPr>
        <p:spPr>
          <a:xfrm>
            <a:off x="609600" y="3941763"/>
            <a:ext cx="53848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7600" y="3941763"/>
            <a:ext cx="5384800" cy="218916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IN"/>
          </a:p>
        </p:txBody>
      </p:sp>
      <p:sp>
        <p:nvSpPr>
          <p:cNvPr id="7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8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0043C86C-71F0-47A6-92A2-8C8870A0D251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88610178"/>
      </p:ext>
    </p:extLst>
  </p:cSld>
  <p:clrMapOvr>
    <a:masterClrMapping/>
  </p:clrMapOvr>
  <p:transition/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7814"/>
            <a:ext cx="10972800" cy="11398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IN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609600" y="1600201"/>
            <a:ext cx="10972800" cy="4530725"/>
          </a:xfrm>
        </p:spPr>
        <p:txBody>
          <a:bodyPr/>
          <a:lstStyle/>
          <a:p>
            <a:pPr lvl="0"/>
            <a:endParaRPr lang="en-IN" noProof="0" smtClean="0"/>
          </a:p>
        </p:txBody>
      </p:sp>
      <p:sp>
        <p:nvSpPr>
          <p:cNvPr id="4" name="Rectangle 5"/>
          <p:cNvSpPr>
            <a:spLocks noGrp="1" noChangeArrowheads="1"/>
          </p:cNvSpPr>
          <p:nvPr>
            <p:ph type="ftr" sz="quarter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r>
              <a:rPr lang="en-US" altLang="en-US">
                <a:solidFill>
                  <a:srgbClr val="000000"/>
                </a:solidFill>
              </a:rPr>
              <a:t>CS511, Bing Liu, UIC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1"/>
          </p:nvPr>
        </p:nvSpPr>
        <p:spPr/>
        <p:txBody>
          <a:bodyPr/>
          <a:lstStyle>
            <a:lvl1pPr>
              <a:defRPr smtClean="0"/>
            </a:lvl1pPr>
          </a:lstStyle>
          <a:p>
            <a:pPr>
              <a:defRPr/>
            </a:pPr>
            <a:fld id="{D00D928E-5DB7-4617-AC9D-224027C0779B}" type="slidenum">
              <a:rPr lang="en-US" altLang="en-US">
                <a:solidFill>
                  <a:srgbClr val="000000"/>
                </a:solidFill>
              </a:rPr>
              <a:pPr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611548109"/>
      </p:ext>
    </p:extLst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9.xml"/><Relationship Id="rId13" Type="http://schemas.openxmlformats.org/officeDocument/2006/relationships/slideLayout" Target="../slideLayouts/slideLayout24.xml"/><Relationship Id="rId3" Type="http://schemas.openxmlformats.org/officeDocument/2006/relationships/slideLayout" Target="../slideLayouts/slideLayout14.xml"/><Relationship Id="rId7" Type="http://schemas.openxmlformats.org/officeDocument/2006/relationships/slideLayout" Target="../slideLayouts/slideLayout18.xml"/><Relationship Id="rId12" Type="http://schemas.openxmlformats.org/officeDocument/2006/relationships/slideLayout" Target="../slideLayouts/slideLayout23.xml"/><Relationship Id="rId2" Type="http://schemas.openxmlformats.org/officeDocument/2006/relationships/slideLayout" Target="../slideLayouts/slideLayout13.xml"/><Relationship Id="rId16" Type="http://schemas.openxmlformats.org/officeDocument/2006/relationships/theme" Target="../theme/theme2.xml"/><Relationship Id="rId1" Type="http://schemas.openxmlformats.org/officeDocument/2006/relationships/slideLayout" Target="../slideLayouts/slideLayout12.xml"/><Relationship Id="rId6" Type="http://schemas.openxmlformats.org/officeDocument/2006/relationships/slideLayout" Target="../slideLayouts/slideLayout17.xml"/><Relationship Id="rId11" Type="http://schemas.openxmlformats.org/officeDocument/2006/relationships/slideLayout" Target="../slideLayouts/slideLayout22.xml"/><Relationship Id="rId5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26.xml"/><Relationship Id="rId10" Type="http://schemas.openxmlformats.org/officeDocument/2006/relationships/slideLayout" Target="../slideLayouts/slideLayout21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14" Type="http://schemas.openxmlformats.org/officeDocument/2006/relationships/slideLayout" Target="../slideLayouts/slideLayout25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D4B08BF-28AF-46B5-AE95-C9B1472F54AD}" type="datetimeFigureOut">
              <a:rPr lang="en-US" smtClean="0"/>
              <a:pPr/>
              <a:t>5/7/2021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D3B7A0F-808C-4D4E-A4E4-36987305ED70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xmlns="" val="16026709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09600" y="277814"/>
            <a:ext cx="10972800" cy="11398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title style</a:t>
            </a:r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609600" y="1600201"/>
            <a:ext cx="10972800" cy="453072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 smtClean="0"/>
              <a:t>Click to edit Master text styles</a:t>
            </a:r>
          </a:p>
          <a:p>
            <a:pPr lvl="1"/>
            <a:r>
              <a:rPr lang="en-US" altLang="en-US" smtClean="0"/>
              <a:t>Second level</a:t>
            </a:r>
          </a:p>
          <a:p>
            <a:pPr lvl="2"/>
            <a:r>
              <a:rPr lang="en-US" altLang="en-US" smtClean="0"/>
              <a:t>Third level</a:t>
            </a:r>
          </a:p>
          <a:p>
            <a:pPr lvl="3"/>
            <a:r>
              <a:rPr lang="en-US" altLang="en-US" smtClean="0"/>
              <a:t>Fourth level</a:t>
            </a:r>
          </a:p>
          <a:p>
            <a:pPr lvl="4"/>
            <a:r>
              <a:rPr lang="en-US" altLang="en-US" smtClean="0"/>
              <a:t>Fifth level</a:t>
            </a:r>
          </a:p>
        </p:txBody>
      </p:sp>
      <p:sp>
        <p:nvSpPr>
          <p:cNvPr id="53253" name="Rectangle 5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248400"/>
            <a:ext cx="7416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spcBef>
                <a:spcPct val="0"/>
              </a:spcBef>
              <a:buClrTx/>
              <a:buSzTx/>
              <a:buFontTx/>
              <a:buNone/>
              <a:defRPr sz="1200">
                <a:latin typeface="+mj-lt"/>
              </a:defRPr>
            </a:lvl1pPr>
          </a:lstStyle>
          <a:p>
            <a:pPr defTabSz="457200">
              <a:defRPr/>
            </a:pPr>
            <a:r>
              <a:rPr lang="en-US" altLang="en-US" smtClean="0">
                <a:solidFill>
                  <a:srgbClr val="000000"/>
                </a:solidFill>
              </a:rPr>
              <a:t>CS511, Bing Liu, UIC</a:t>
            </a:r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3254" name="Rectangle 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737600" y="6243638"/>
            <a:ext cx="2844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spcBef>
                <a:spcPct val="0"/>
              </a:spcBef>
              <a:buClrTx/>
              <a:buSzTx/>
              <a:buFontTx/>
              <a:buNone/>
              <a:defRPr sz="1200" smtClean="0">
                <a:latin typeface="Garamond" pitchFamily="18" charset="0"/>
              </a:defRPr>
            </a:lvl1pPr>
          </a:lstStyle>
          <a:p>
            <a:pPr defTabSz="457200">
              <a:defRPr/>
            </a:pPr>
            <a:fld id="{D474AAF1-4BB3-49A9-A968-BAB6D17A1D8C}" type="slidenum">
              <a:rPr lang="en-US" altLang="en-US" smtClean="0">
                <a:solidFill>
                  <a:srgbClr val="000000"/>
                </a:solidFill>
              </a:rPr>
              <a:pPr defTabSz="457200">
                <a:defRPr/>
              </a:pPr>
              <a:t>‹#›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3255" name="Freeform 7"/>
          <p:cNvSpPr>
            <a:spLocks noChangeArrowheads="1"/>
          </p:cNvSpPr>
          <p:nvPr/>
        </p:nvSpPr>
        <p:spPr bwMode="auto">
          <a:xfrm>
            <a:off x="508000" y="228600"/>
            <a:ext cx="10972800" cy="609600"/>
          </a:xfrm>
          <a:custGeom>
            <a:avLst/>
            <a:gdLst/>
            <a:ahLst/>
            <a:cxnLst>
              <a:cxn ang="0">
                <a:pos x="0" y="1000"/>
              </a:cxn>
              <a:cxn ang="0">
                <a:pos x="0" y="0"/>
              </a:cxn>
              <a:cxn ang="0">
                <a:pos x="1000" y="0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</p:spPr>
        <p:txBody>
          <a:bodyPr/>
          <a:lstStyle/>
          <a:p>
            <a:pPr defTabSz="457200"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  <p:sp>
        <p:nvSpPr>
          <p:cNvPr id="53256" name="Line 8"/>
          <p:cNvSpPr>
            <a:spLocks noChangeShapeType="1"/>
          </p:cNvSpPr>
          <p:nvPr/>
        </p:nvSpPr>
        <p:spPr bwMode="auto">
          <a:xfrm>
            <a:off x="609600" y="6172200"/>
            <a:ext cx="109728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</p:spPr>
        <p:txBody>
          <a:bodyPr/>
          <a:lstStyle/>
          <a:p>
            <a:pPr defTabSz="457200">
              <a:buFont typeface="Wingdings" pitchFamily="-110" charset="2"/>
              <a:buChar char="n"/>
              <a:defRPr/>
            </a:pPr>
            <a:endParaRPr lang="en-IN" sz="1800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35879162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</p:sldLayoutIdLst>
  <p:transition/>
  <p:timing>
    <p:tnLst>
      <p:par>
        <p:cTn id="1" dur="indefinite" restart="never" nodeType="tmRoot"/>
      </p:par>
    </p:tnLst>
  </p:timing>
  <p:hf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eaLnBrk="0" fontAlgn="base" hangingPunct="0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-110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3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3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Layout" Target="../slideLayouts/slideLayout23.xml"/><Relationship Id="rId1" Type="http://schemas.openxmlformats.org/officeDocument/2006/relationships/vmlDrawing" Target="../drawings/vmlDrawing1.v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3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2.vml"/><Relationship Id="rId4" Type="http://schemas.openxmlformats.org/officeDocument/2006/relationships/oleObject" Target="../embeddings/oleObject2.bin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Layout" Target="../slideLayouts/slideLayout24.xml"/><Relationship Id="rId1" Type="http://schemas.openxmlformats.org/officeDocument/2006/relationships/vmlDrawing" Target="../drawings/vmlDrawing3.v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oleObject" Target="../embeddings/oleObject6.bin"/><Relationship Id="rId3" Type="http://schemas.openxmlformats.org/officeDocument/2006/relationships/image" Target="../media/image19.png"/><Relationship Id="rId7" Type="http://schemas.openxmlformats.org/officeDocument/2006/relationships/oleObject" Target="../embeddings/oleObject5.bin"/><Relationship Id="rId2" Type="http://schemas.openxmlformats.org/officeDocument/2006/relationships/slideLayout" Target="../slideLayouts/slideLayout25.xml"/><Relationship Id="rId1" Type="http://schemas.openxmlformats.org/officeDocument/2006/relationships/vmlDrawing" Target="../drawings/vmlDrawing4.vml"/><Relationship Id="rId6" Type="http://schemas.openxmlformats.org/officeDocument/2006/relationships/oleObject" Target="../embeddings/oleObject4.bin"/><Relationship Id="rId5" Type="http://schemas.openxmlformats.org/officeDocument/2006/relationships/image" Target="../media/image20.png"/><Relationship Id="rId4" Type="http://schemas.openxmlformats.org/officeDocument/2006/relationships/oleObject" Target="../embeddings/Microsoft_Office_Excel_97-2003_Worksheet1.xls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2.png"/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39903" y="1702808"/>
            <a:ext cx="9144000" cy="2387600"/>
          </a:xfrm>
        </p:spPr>
        <p:txBody>
          <a:bodyPr/>
          <a:lstStyle/>
          <a:p>
            <a:r>
              <a:rPr lang="en-US" b="1" dirty="0" smtClean="0">
                <a:solidFill>
                  <a:srgbClr val="C00000"/>
                </a:solidFill>
              </a:rPr>
              <a:t>A First Look at the Decision Tree Classifiers</a:t>
            </a:r>
            <a:endParaRPr lang="en-US" b="1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50195489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E0613A5-34D9-4D7D-B4E5-5F021132A2BE}" type="slidenum">
              <a:rPr lang="en-US" altLang="en-US">
                <a:solidFill>
                  <a:srgbClr val="000000"/>
                </a:solidFill>
              </a:rPr>
              <a:pPr/>
              <a:t>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939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Introduction</a:t>
            </a:r>
          </a:p>
        </p:txBody>
      </p:sp>
      <p:sp>
        <p:nvSpPr>
          <p:cNvPr id="5939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89150" y="1196975"/>
            <a:ext cx="8002588" cy="5003800"/>
          </a:xfrm>
        </p:spPr>
        <p:txBody>
          <a:bodyPr/>
          <a:lstStyle/>
          <a:p>
            <a:pPr eaLnBrk="1" hangingPunct="1"/>
            <a:r>
              <a:rPr lang="en-US" altLang="ja-JP" smtClean="0">
                <a:ea typeface="ＭＳ Ｐゴシック" pitchFamily="34" charset="-128"/>
              </a:rPr>
              <a:t>Decision tree learning is one of the most widely used techniques for classification. </a:t>
            </a:r>
          </a:p>
          <a:p>
            <a:pPr lvl="1" eaLnBrk="1" hangingPunct="1"/>
            <a:r>
              <a:rPr lang="en-US" altLang="ja-JP" smtClean="0">
                <a:ea typeface="ＭＳ Ｐゴシック" pitchFamily="34" charset="-128"/>
              </a:rPr>
              <a:t>Its classification accuracy is competitive with other methods, and </a:t>
            </a:r>
          </a:p>
          <a:p>
            <a:pPr lvl="1" eaLnBrk="1" hangingPunct="1"/>
            <a:r>
              <a:rPr lang="en-US" altLang="ja-JP" smtClean="0">
                <a:ea typeface="ＭＳ Ｐゴシック" pitchFamily="34" charset="-128"/>
              </a:rPr>
              <a:t>it is very efficient. </a:t>
            </a:r>
          </a:p>
          <a:p>
            <a:pPr eaLnBrk="1" hangingPunct="1"/>
            <a:r>
              <a:rPr lang="en-US" smtClean="0"/>
              <a:t>The classification model is a tree, called </a:t>
            </a:r>
            <a:r>
              <a:rPr lang="en-US" smtClean="0">
                <a:solidFill>
                  <a:srgbClr val="FF0000"/>
                </a:solidFill>
              </a:rPr>
              <a:t>decision tree</a:t>
            </a:r>
            <a:r>
              <a:rPr lang="en-US" smtClean="0"/>
              <a:t>. </a:t>
            </a:r>
          </a:p>
          <a:p>
            <a:pPr eaLnBrk="1" hangingPunct="1"/>
            <a:r>
              <a:rPr lang="en-US" smtClean="0">
                <a:solidFill>
                  <a:srgbClr val="3333CC"/>
                </a:solidFill>
              </a:rPr>
              <a:t>C4.5</a:t>
            </a:r>
            <a:r>
              <a:rPr lang="en-US" smtClean="0"/>
              <a:t> by Ross Quinlan is perhaps the best known system and the codes  are freelly available from internet. </a:t>
            </a:r>
          </a:p>
        </p:txBody>
      </p:sp>
    </p:spTree>
    <p:extLst>
      <p:ext uri="{BB962C8B-B14F-4D97-AF65-F5344CB8AC3E}">
        <p14:creationId xmlns:p14="http://schemas.microsoft.com/office/powerpoint/2010/main" xmlns="" val="275186617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3932575-E63B-4B6A-B2C5-D19EAB0414E4}" type="slidenum">
              <a:rPr lang="en-US" altLang="en-US">
                <a:solidFill>
                  <a:srgbClr val="000000"/>
                </a:solidFill>
              </a:rPr>
              <a:pPr/>
              <a:t>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0419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9" y="225425"/>
            <a:ext cx="8212137" cy="871538"/>
          </a:xfrm>
        </p:spPr>
        <p:txBody>
          <a:bodyPr/>
          <a:lstStyle/>
          <a:p>
            <a:pPr eaLnBrk="1" hangingPunct="1"/>
            <a:r>
              <a:rPr lang="en-US" smtClean="0"/>
              <a:t>The loan data (reproduced)</a:t>
            </a:r>
          </a:p>
        </p:txBody>
      </p:sp>
      <p:sp>
        <p:nvSpPr>
          <p:cNvPr id="60420" name="Text Box 4"/>
          <p:cNvSpPr txBox="1">
            <a:spLocks noChangeArrowheads="1"/>
          </p:cNvSpPr>
          <p:nvPr/>
        </p:nvSpPr>
        <p:spPr bwMode="auto">
          <a:xfrm>
            <a:off x="8328026" y="944563"/>
            <a:ext cx="18716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Approved or not</a:t>
            </a:r>
          </a:p>
        </p:txBody>
      </p:sp>
      <p:pic>
        <p:nvPicPr>
          <p:cNvPr id="60421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11338" y="1338263"/>
            <a:ext cx="8229600" cy="4754562"/>
          </a:xfrm>
        </p:spPr>
      </p:pic>
    </p:spTree>
    <p:extLst>
      <p:ext uri="{BB962C8B-B14F-4D97-AF65-F5344CB8AC3E}">
        <p14:creationId xmlns:p14="http://schemas.microsoft.com/office/powerpoint/2010/main" xmlns="" val="406783701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B755DAE-C991-45B6-B36C-DA7683B6327A}" type="slidenum">
              <a:rPr lang="en-US" altLang="en-US">
                <a:solidFill>
                  <a:srgbClr val="000000"/>
                </a:solidFill>
              </a:rPr>
              <a:pPr/>
              <a:t>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144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 decision tree from the loan data</a:t>
            </a:r>
          </a:p>
        </p:txBody>
      </p:sp>
      <p:sp>
        <p:nvSpPr>
          <p:cNvPr id="61444" name="Text Box 4"/>
          <p:cNvSpPr txBox="1">
            <a:spLocks noChangeArrowheads="1"/>
          </p:cNvSpPr>
          <p:nvPr/>
        </p:nvSpPr>
        <p:spPr bwMode="auto">
          <a:xfrm>
            <a:off x="1882775" y="1233488"/>
            <a:ext cx="802798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Decision nodes </a:t>
            </a:r>
            <a:r>
              <a:rPr lang="en-US">
                <a:solidFill>
                  <a:srgbClr val="000000"/>
                </a:solidFill>
              </a:rPr>
              <a:t>and</a:t>
            </a:r>
            <a:r>
              <a:rPr lang="en-US">
                <a:solidFill>
                  <a:srgbClr val="3333CC"/>
                </a:solidFill>
              </a:rPr>
              <a:t> leaf nodes (classes)</a:t>
            </a:r>
          </a:p>
        </p:txBody>
      </p:sp>
      <p:pic>
        <p:nvPicPr>
          <p:cNvPr id="61445" name="Picture 5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55800" y="2097089"/>
            <a:ext cx="8229600" cy="3709987"/>
          </a:xfrm>
        </p:spPr>
      </p:pic>
    </p:spTree>
    <p:extLst>
      <p:ext uri="{BB962C8B-B14F-4D97-AF65-F5344CB8AC3E}">
        <p14:creationId xmlns:p14="http://schemas.microsoft.com/office/powerpoint/2010/main" xmlns="" val="64451818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7813677-1291-44B5-A0FA-D695A4BE6F9E}" type="slidenum">
              <a:rPr lang="en-US" altLang="en-US">
                <a:solidFill>
                  <a:srgbClr val="000000"/>
                </a:solidFill>
              </a:rPr>
              <a:pPr/>
              <a:t>5</a:t>
            </a:fld>
            <a:endParaRPr lang="en-US" altLang="en-US">
              <a:solidFill>
                <a:srgbClr val="000000"/>
              </a:solidFill>
            </a:endParaRPr>
          </a:p>
        </p:txBody>
      </p:sp>
      <p:pic>
        <p:nvPicPr>
          <p:cNvPr id="62467" name="Picture 11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2027238" y="2673350"/>
            <a:ext cx="8229600" cy="349408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246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Use the decision tree</a:t>
            </a:r>
          </a:p>
        </p:txBody>
      </p:sp>
      <p:pic>
        <p:nvPicPr>
          <p:cNvPr id="6246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027239" y="1414464"/>
            <a:ext cx="8027987" cy="935037"/>
          </a:xfrm>
          <a:noFill/>
        </p:spPr>
      </p:pic>
      <p:sp>
        <p:nvSpPr>
          <p:cNvPr id="62470" name="Line 7"/>
          <p:cNvSpPr>
            <a:spLocks noChangeShapeType="1"/>
          </p:cNvSpPr>
          <p:nvPr/>
        </p:nvSpPr>
        <p:spPr bwMode="auto">
          <a:xfrm flipH="1">
            <a:off x="3432176" y="3249613"/>
            <a:ext cx="1476375" cy="576262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62471" name="Line 9"/>
          <p:cNvSpPr>
            <a:spLocks noChangeShapeType="1"/>
          </p:cNvSpPr>
          <p:nvPr/>
        </p:nvSpPr>
        <p:spPr bwMode="auto">
          <a:xfrm>
            <a:off x="3503614" y="4545013"/>
            <a:ext cx="612775" cy="755650"/>
          </a:xfrm>
          <a:prstGeom prst="line">
            <a:avLst/>
          </a:prstGeom>
          <a:noFill/>
          <a:ln w="57150">
            <a:solidFill>
              <a:srgbClr val="FF0000"/>
            </a:solidFill>
            <a:round/>
            <a:headEnd/>
            <a:tailEnd type="triangle" w="med" len="med"/>
          </a:ln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62472" name="Text Box 10"/>
          <p:cNvSpPr txBox="1">
            <a:spLocks noChangeArrowheads="1"/>
          </p:cNvSpPr>
          <p:nvPr/>
        </p:nvSpPr>
        <p:spPr bwMode="auto">
          <a:xfrm>
            <a:off x="9048750" y="2097088"/>
            <a:ext cx="1189038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No</a:t>
            </a:r>
          </a:p>
        </p:txBody>
      </p:sp>
    </p:spTree>
    <p:extLst>
      <p:ext uri="{BB962C8B-B14F-4D97-AF65-F5344CB8AC3E}">
        <p14:creationId xmlns:p14="http://schemas.microsoft.com/office/powerpoint/2010/main" xmlns="" val="3085694912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E66F9A6-748A-47FC-9BEA-0CDA226CD797}" type="slidenum">
              <a:rPr lang="en-US" altLang="en-US">
                <a:solidFill>
                  <a:srgbClr val="000000"/>
                </a:solidFill>
              </a:rPr>
              <a:pPr/>
              <a:t>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349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Is the decision tree unique?</a:t>
            </a:r>
          </a:p>
        </p:txBody>
      </p:sp>
      <p:pic>
        <p:nvPicPr>
          <p:cNvPr id="63492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6240464" y="2633664"/>
            <a:ext cx="4103687" cy="3495675"/>
          </a:xfrm>
        </p:spPr>
      </p:pic>
      <p:sp>
        <p:nvSpPr>
          <p:cNvPr id="63493" name="Text Box 4"/>
          <p:cNvSpPr txBox="1">
            <a:spLocks noChangeArrowheads="1"/>
          </p:cNvSpPr>
          <p:nvPr/>
        </p:nvSpPr>
        <p:spPr bwMode="auto">
          <a:xfrm>
            <a:off x="1811339" y="1196976"/>
            <a:ext cx="7704137" cy="1015663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FF0000"/>
                </a:solidFill>
              </a:rPr>
              <a:t>No</a:t>
            </a:r>
            <a:r>
              <a:rPr lang="en-US">
                <a:solidFill>
                  <a:srgbClr val="000000"/>
                </a:solidFill>
              </a:rPr>
              <a:t>. Here is a simpler tree. </a:t>
            </a:r>
          </a:p>
          <a:p>
            <a:pPr marL="342900" indent="-342900" defTabSz="457200">
              <a:spcBef>
                <a:spcPct val="0"/>
              </a:spcBef>
            </a:pPr>
            <a:r>
              <a:rPr lang="en-US">
                <a:solidFill>
                  <a:srgbClr val="000000"/>
                </a:solidFill>
              </a:rPr>
              <a:t>We want</a:t>
            </a:r>
            <a:r>
              <a:rPr lang="en-US">
                <a:solidFill>
                  <a:srgbClr val="3333CC"/>
                </a:solidFill>
              </a:rPr>
              <a:t> smaller tree </a:t>
            </a:r>
            <a:r>
              <a:rPr lang="en-US">
                <a:solidFill>
                  <a:srgbClr val="000000"/>
                </a:solidFill>
              </a:rPr>
              <a:t>and</a:t>
            </a:r>
            <a:r>
              <a:rPr lang="en-US">
                <a:solidFill>
                  <a:srgbClr val="3333CC"/>
                </a:solidFill>
              </a:rPr>
              <a:t> accurate tree</a:t>
            </a:r>
            <a:r>
              <a:rPr lang="en-US">
                <a:solidFill>
                  <a:srgbClr val="000000"/>
                </a:solidFill>
              </a:rPr>
              <a:t>.</a:t>
            </a:r>
          </a:p>
          <a:p>
            <a:pPr lvl="1" defTabSz="457200">
              <a:spcBef>
                <a:spcPct val="0"/>
              </a:spcBef>
            </a:pPr>
            <a:r>
              <a:rPr lang="en-US" sz="2000">
                <a:solidFill>
                  <a:srgbClr val="000000"/>
                </a:solidFill>
              </a:rPr>
              <a:t>  </a:t>
            </a:r>
            <a:r>
              <a:rPr lang="en-US" sz="2400">
                <a:solidFill>
                  <a:srgbClr val="000000"/>
                </a:solidFill>
              </a:rPr>
              <a:t>Easy to understand and perform better.</a:t>
            </a:r>
            <a:r>
              <a:rPr lang="en-US" sz="2000">
                <a:solidFill>
                  <a:srgbClr val="000000"/>
                </a:solidFill>
              </a:rPr>
              <a:t> </a:t>
            </a:r>
          </a:p>
        </p:txBody>
      </p:sp>
      <p:sp>
        <p:nvSpPr>
          <p:cNvPr id="63494" name="Text Box 5"/>
          <p:cNvSpPr txBox="1">
            <a:spLocks noChangeArrowheads="1"/>
          </p:cNvSpPr>
          <p:nvPr/>
        </p:nvSpPr>
        <p:spPr bwMode="auto">
          <a:xfrm>
            <a:off x="1811338" y="3321051"/>
            <a:ext cx="4572000" cy="106182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Finding the best tree is NP-hard.</a:t>
            </a:r>
          </a:p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All current tree building algorithms are heuristic algorithms</a:t>
            </a:r>
          </a:p>
        </p:txBody>
      </p:sp>
    </p:spTree>
    <p:extLst>
      <p:ext uri="{BB962C8B-B14F-4D97-AF65-F5344CB8AC3E}">
        <p14:creationId xmlns:p14="http://schemas.microsoft.com/office/powerpoint/2010/main" xmlns="" val="3366281051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E4D049E-7FC6-4273-8DA4-34D0E0F2C820}" type="slidenum">
              <a:rPr lang="en-US" altLang="en-US">
                <a:solidFill>
                  <a:srgbClr val="000000"/>
                </a:solidFill>
              </a:rPr>
              <a:pPr/>
              <a:t>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451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From a decision tree to a set of rules</a:t>
            </a:r>
          </a:p>
        </p:txBody>
      </p:sp>
      <p:pic>
        <p:nvPicPr>
          <p:cNvPr id="64516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027238" y="4833939"/>
            <a:ext cx="8101012" cy="1152525"/>
          </a:xfrm>
          <a:noFill/>
        </p:spPr>
      </p:pic>
      <p:pic>
        <p:nvPicPr>
          <p:cNvPr id="64517" name="Picture 6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5916614" y="1233489"/>
            <a:ext cx="4103687" cy="34956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4518" name="Text Box 7"/>
          <p:cNvSpPr txBox="1">
            <a:spLocks noChangeArrowheads="1"/>
          </p:cNvSpPr>
          <p:nvPr/>
        </p:nvSpPr>
        <p:spPr bwMode="auto">
          <a:xfrm>
            <a:off x="1955801" y="1341438"/>
            <a:ext cx="3959225" cy="133882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A decision tree can be converted to a set of rules</a:t>
            </a:r>
          </a:p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Each path from the root to a leaf is a rule.</a:t>
            </a:r>
          </a:p>
        </p:txBody>
      </p:sp>
    </p:spTree>
    <p:extLst>
      <p:ext uri="{BB962C8B-B14F-4D97-AF65-F5344CB8AC3E}">
        <p14:creationId xmlns:p14="http://schemas.microsoft.com/office/powerpoint/2010/main" xmlns="" val="283852316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53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643C026-503B-4416-BACF-652521B9C67C}" type="slidenum">
              <a:rPr lang="en-US" altLang="en-US">
                <a:solidFill>
                  <a:srgbClr val="000000"/>
                </a:solidFill>
              </a:rPr>
              <a:pPr/>
              <a:t>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5539" name="Rectangle 2"/>
          <p:cNvSpPr>
            <a:spLocks noGrp="1" noChangeArrowheads="1"/>
          </p:cNvSpPr>
          <p:nvPr>
            <p:ph type="title"/>
          </p:nvPr>
        </p:nvSpPr>
        <p:spPr>
          <a:xfrm>
            <a:off x="1811338" y="277814"/>
            <a:ext cx="8399462" cy="1139825"/>
          </a:xfrm>
        </p:spPr>
        <p:txBody>
          <a:bodyPr/>
          <a:lstStyle/>
          <a:p>
            <a:pPr eaLnBrk="1" hangingPunct="1"/>
            <a:r>
              <a:rPr lang="en-US" smtClean="0"/>
              <a:t>Algorithm for decision tree learning</a:t>
            </a:r>
          </a:p>
        </p:txBody>
      </p:sp>
      <p:sp>
        <p:nvSpPr>
          <p:cNvPr id="6554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811338" y="1123951"/>
            <a:ext cx="8458200" cy="5076825"/>
          </a:xfrm>
          <a:solidFill>
            <a:schemeClr val="bg1"/>
          </a:solidFill>
        </p:spPr>
        <p:txBody>
          <a:bodyPr/>
          <a:lstStyle/>
          <a:p>
            <a:pPr eaLnBrk="1" hangingPunct="1">
              <a:lnSpc>
                <a:spcPct val="95000"/>
              </a:lnSpc>
            </a:pPr>
            <a:r>
              <a:rPr lang="en-US" sz="2400"/>
              <a:t>Basic algorithm (a greedy </a:t>
            </a:r>
            <a:r>
              <a:rPr lang="en-US" sz="2500" b="1">
                <a:solidFill>
                  <a:srgbClr val="FF0000"/>
                </a:solidFill>
                <a:latin typeface="Times New Roman" pitchFamily="18" charset="0"/>
              </a:rPr>
              <a:t>divide-and-conquer</a:t>
            </a:r>
            <a:r>
              <a:rPr lang="en-US" sz="2400"/>
              <a:t> algorithm)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Assume attributes are categorical now (continuous attributes can be handled too)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Tree is constructed in a </a:t>
            </a:r>
            <a:r>
              <a:rPr lang="en-US" sz="2100">
                <a:solidFill>
                  <a:srgbClr val="FF0000"/>
                </a:solidFill>
              </a:rPr>
              <a:t>top-down recursive manner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At start, all the training examples are at the root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Examples are partitioned recursively based on selected attributes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Attributes are selected on the basis of an impurity function (e.g., </a:t>
            </a:r>
            <a:r>
              <a:rPr lang="en-US" sz="2100">
                <a:solidFill>
                  <a:srgbClr val="3333CC"/>
                </a:solidFill>
              </a:rPr>
              <a:t>information gain</a:t>
            </a:r>
            <a:r>
              <a:rPr lang="en-US" sz="2100"/>
              <a:t>)</a:t>
            </a:r>
          </a:p>
          <a:p>
            <a:pPr eaLnBrk="1" hangingPunct="1">
              <a:lnSpc>
                <a:spcPct val="95000"/>
              </a:lnSpc>
            </a:pPr>
            <a:r>
              <a:rPr lang="en-US" sz="2400"/>
              <a:t>Conditions for stopping partitioning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All examples for a given node belong to the same class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There are no remaining attributes for further partitioning – majority class is the leaf</a:t>
            </a:r>
          </a:p>
          <a:p>
            <a:pPr marL="742950" lvl="1" indent="-285750" eaLnBrk="1" hangingPunct="1">
              <a:lnSpc>
                <a:spcPct val="95000"/>
              </a:lnSpc>
            </a:pPr>
            <a:r>
              <a:rPr lang="en-US" sz="2100"/>
              <a:t>There are no examples left</a:t>
            </a:r>
          </a:p>
        </p:txBody>
      </p:sp>
    </p:spTree>
    <p:extLst>
      <p:ext uri="{BB962C8B-B14F-4D97-AF65-F5344CB8AC3E}">
        <p14:creationId xmlns:p14="http://schemas.microsoft.com/office/powerpoint/2010/main" xmlns="" val="27887857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80F0404-8D63-4387-9CB7-CC5D6A97D7E4}" type="slidenum">
              <a:rPr lang="en-US" altLang="en-US">
                <a:solidFill>
                  <a:srgbClr val="000000"/>
                </a:solidFill>
              </a:rPr>
              <a:pPr/>
              <a:t>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6563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115889"/>
            <a:ext cx="8229600" cy="1139825"/>
          </a:xfrm>
        </p:spPr>
        <p:txBody>
          <a:bodyPr/>
          <a:lstStyle/>
          <a:p>
            <a:pPr eaLnBrk="1" hangingPunct="1"/>
            <a:r>
              <a:rPr lang="en-US" smtClean="0"/>
              <a:t>Decision tree learning algorithm</a:t>
            </a:r>
          </a:p>
        </p:txBody>
      </p:sp>
      <p:pic>
        <p:nvPicPr>
          <p:cNvPr id="66564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2566989" y="944564"/>
            <a:ext cx="6732587" cy="5437187"/>
          </a:xfrm>
          <a:noFill/>
        </p:spPr>
      </p:pic>
    </p:spTree>
    <p:extLst>
      <p:ext uri="{BB962C8B-B14F-4D97-AF65-F5344CB8AC3E}">
        <p14:creationId xmlns:p14="http://schemas.microsoft.com/office/powerpoint/2010/main" xmlns="" val="256240923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58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45BBE4A9-34A2-4A0C-81A8-128269F51479}" type="slidenum">
              <a:rPr lang="en-US" altLang="en-US">
                <a:solidFill>
                  <a:srgbClr val="000000"/>
                </a:solidFill>
              </a:rPr>
              <a:pPr/>
              <a:t>10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758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GB" smtClean="0"/>
              <a:t>Choose an attribute to partition data </a:t>
            </a:r>
          </a:p>
        </p:txBody>
      </p:sp>
      <p:sp>
        <p:nvSpPr>
          <p:cNvPr id="67588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19288" y="1449388"/>
            <a:ext cx="8418512" cy="4679950"/>
          </a:xfrm>
        </p:spPr>
        <p:txBody>
          <a:bodyPr/>
          <a:lstStyle/>
          <a:p>
            <a:pPr eaLnBrk="1" hangingPunct="1"/>
            <a:r>
              <a:rPr lang="en-GB" smtClean="0"/>
              <a:t>The </a:t>
            </a:r>
            <a:r>
              <a:rPr lang="en-GB" i="1" smtClean="0">
                <a:solidFill>
                  <a:srgbClr val="FF0000"/>
                </a:solidFill>
              </a:rPr>
              <a:t>key</a:t>
            </a:r>
            <a:r>
              <a:rPr lang="en-GB" smtClean="0"/>
              <a:t> to building a decision tree - which attribute to choose in order to branch. </a:t>
            </a:r>
          </a:p>
          <a:p>
            <a:pPr eaLnBrk="1" hangingPunct="1"/>
            <a:r>
              <a:rPr lang="en-GB" smtClean="0"/>
              <a:t>The objective is to reduce impurity or uncertainty in data as much as possible.</a:t>
            </a:r>
          </a:p>
          <a:p>
            <a:pPr marL="742950" lvl="1" indent="-285750" eaLnBrk="1" hangingPunct="1"/>
            <a:r>
              <a:rPr lang="en-GB" smtClean="0">
                <a:solidFill>
                  <a:srgbClr val="3333CC"/>
                </a:solidFill>
              </a:rPr>
              <a:t>A subset of data is </a:t>
            </a:r>
            <a:r>
              <a:rPr lang="en-GB" smtClean="0">
                <a:solidFill>
                  <a:srgbClr val="FF9900"/>
                </a:solidFill>
              </a:rPr>
              <a:t>pure</a:t>
            </a:r>
            <a:r>
              <a:rPr lang="en-GB" smtClean="0">
                <a:solidFill>
                  <a:srgbClr val="3333CC"/>
                </a:solidFill>
              </a:rPr>
              <a:t> if all instances belong to the same class</a:t>
            </a:r>
            <a:r>
              <a:rPr lang="en-GB" smtClean="0"/>
              <a:t>. </a:t>
            </a:r>
          </a:p>
          <a:p>
            <a:pPr eaLnBrk="1" hangingPunct="1"/>
            <a:r>
              <a:rPr lang="en-GB" smtClean="0"/>
              <a:t>The </a:t>
            </a:r>
            <a:r>
              <a:rPr lang="en-GB" i="1" smtClean="0"/>
              <a:t>heuristic</a:t>
            </a:r>
            <a:r>
              <a:rPr lang="en-GB" smtClean="0"/>
              <a:t> in C4.5 is to choose the attribute with the maximum </a:t>
            </a:r>
            <a:r>
              <a:rPr lang="en-GB" smtClean="0">
                <a:solidFill>
                  <a:srgbClr val="FF0000"/>
                </a:solidFill>
              </a:rPr>
              <a:t>Information Gain</a:t>
            </a:r>
            <a:r>
              <a:rPr lang="en-GB" smtClean="0"/>
              <a:t> or </a:t>
            </a:r>
            <a:r>
              <a:rPr lang="en-GB" smtClean="0">
                <a:solidFill>
                  <a:srgbClr val="FF0000"/>
                </a:solidFill>
              </a:rPr>
              <a:t>Gain Ratio</a:t>
            </a:r>
            <a:r>
              <a:rPr lang="en-GB" smtClean="0"/>
              <a:t> based on information theory.</a:t>
            </a:r>
          </a:p>
        </p:txBody>
      </p:sp>
    </p:spTree>
    <p:extLst>
      <p:ext uri="{BB962C8B-B14F-4D97-AF65-F5344CB8AC3E}">
        <p14:creationId xmlns:p14="http://schemas.microsoft.com/office/powerpoint/2010/main" xmlns="" val="338645913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24150EF-A34E-4E1B-9966-7770491819AF}" type="slidenum">
              <a:rPr lang="en-US" altLang="en-US">
                <a:solidFill>
                  <a:srgbClr val="000000"/>
                </a:solidFill>
              </a:rPr>
              <a:pPr/>
              <a:t>11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8611" name="Rectangle 2"/>
          <p:cNvSpPr>
            <a:spLocks noGrp="1" noChangeArrowheads="1"/>
          </p:cNvSpPr>
          <p:nvPr>
            <p:ph type="title"/>
          </p:nvPr>
        </p:nvSpPr>
        <p:spPr>
          <a:xfrm>
            <a:off x="1919289" y="225425"/>
            <a:ext cx="8212137" cy="871538"/>
          </a:xfrm>
        </p:spPr>
        <p:txBody>
          <a:bodyPr/>
          <a:lstStyle/>
          <a:p>
            <a:pPr eaLnBrk="1" hangingPunct="1"/>
            <a:r>
              <a:rPr lang="en-US" smtClean="0"/>
              <a:t>The loan data (reproduced)</a:t>
            </a:r>
          </a:p>
        </p:txBody>
      </p:sp>
      <p:sp>
        <p:nvSpPr>
          <p:cNvPr id="68612" name="Text Box 3"/>
          <p:cNvSpPr txBox="1">
            <a:spLocks noChangeArrowheads="1"/>
          </p:cNvSpPr>
          <p:nvPr/>
        </p:nvSpPr>
        <p:spPr bwMode="auto">
          <a:xfrm>
            <a:off x="8328026" y="944563"/>
            <a:ext cx="1871663" cy="36671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Approved or not</a:t>
            </a:r>
          </a:p>
        </p:txBody>
      </p:sp>
      <p:pic>
        <p:nvPicPr>
          <p:cNvPr id="68613" name="Picture 4"/>
          <p:cNvPicPr>
            <a:picLocks noGrp="1" noChangeAspect="1" noChangeArrowheads="1"/>
          </p:cNvPicPr>
          <p:nvPr>
            <p:ph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811338" y="1338263"/>
            <a:ext cx="8229600" cy="4754562"/>
          </a:xfrm>
        </p:spPr>
      </p:pic>
    </p:spTree>
    <p:extLst>
      <p:ext uri="{BB962C8B-B14F-4D97-AF65-F5344CB8AC3E}">
        <p14:creationId xmlns:p14="http://schemas.microsoft.com/office/powerpoint/2010/main" xmlns="" val="24434785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63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4511D5A-F5E8-4E28-826F-B9799B7BFE06}" type="slidenum">
              <a:rPr lang="en-US" altLang="en-US">
                <a:solidFill>
                  <a:srgbClr val="000000"/>
                </a:solidFill>
              </a:rPr>
              <a:pPr/>
              <a:t>12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6963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Two possible roots, which is better?</a:t>
            </a:r>
          </a:p>
        </p:txBody>
      </p:sp>
      <p:pic>
        <p:nvPicPr>
          <p:cNvPr id="69636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35163" y="1736725"/>
            <a:ext cx="8229600" cy="2916238"/>
          </a:xfrm>
        </p:spPr>
      </p:pic>
      <p:sp>
        <p:nvSpPr>
          <p:cNvPr id="69637" name="Text Box 4"/>
          <p:cNvSpPr txBox="1">
            <a:spLocks noChangeArrowheads="1"/>
          </p:cNvSpPr>
          <p:nvPr/>
        </p:nvSpPr>
        <p:spPr bwMode="auto">
          <a:xfrm>
            <a:off x="2063751" y="4967288"/>
            <a:ext cx="835342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000000"/>
                </a:solidFill>
              </a:rPr>
              <a:t>Fig. (B) seems to be better. </a:t>
            </a:r>
          </a:p>
        </p:txBody>
      </p:sp>
    </p:spTree>
    <p:extLst>
      <p:ext uri="{BB962C8B-B14F-4D97-AF65-F5344CB8AC3E}">
        <p14:creationId xmlns:p14="http://schemas.microsoft.com/office/powerpoint/2010/main" xmlns="" val="189318306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1284AA87-791C-472F-9289-E6591BBA9484}" type="slidenum">
              <a:rPr lang="en-US" altLang="en-US">
                <a:solidFill>
                  <a:srgbClr val="000000"/>
                </a:solidFill>
              </a:rPr>
              <a:pPr/>
              <a:t>13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065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Information theory</a:t>
            </a:r>
          </a:p>
        </p:txBody>
      </p:sp>
      <p:sp>
        <p:nvSpPr>
          <p:cNvPr id="70660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81200" y="1449388"/>
            <a:ext cx="8147050" cy="4722812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>
                <a:solidFill>
                  <a:srgbClr val="FF0000"/>
                </a:solidFill>
              </a:rPr>
              <a:t>Information theory</a:t>
            </a:r>
            <a:r>
              <a:rPr lang="en-US" sz="2800"/>
              <a:t> provides a mathematical basis for measuring the information content. </a:t>
            </a:r>
          </a:p>
          <a:p>
            <a:pPr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2800"/>
              <a:t>To understand the notion of information, think about it as providing the answer to a question, for example, whether a coin will come up heads.</a:t>
            </a:r>
            <a:r>
              <a:rPr lang="en-US" sz="2600"/>
              <a:t>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400"/>
              <a:t>If one already has a good guess about the answer, then the actual answer is less informative. </a:t>
            </a:r>
          </a:p>
          <a:p>
            <a:pPr marL="742950" lvl="1" indent="-285750" eaLnBrk="1" hangingPunct="1">
              <a:lnSpc>
                <a:spcPct val="80000"/>
              </a:lnSpc>
            </a:pPr>
            <a:r>
              <a:rPr lang="en-US" sz="2400"/>
              <a:t>If one already knows that the coin is rigged so that it will come with heads with probability 0.99, then a message (advanced information) about the actual outcome of a flip is worth less than it would be for a honest coin (50-50). </a:t>
            </a:r>
          </a:p>
        </p:txBody>
      </p:sp>
    </p:spTree>
    <p:extLst>
      <p:ext uri="{BB962C8B-B14F-4D97-AF65-F5344CB8AC3E}">
        <p14:creationId xmlns:p14="http://schemas.microsoft.com/office/powerpoint/2010/main" xmlns="" val="385329919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8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74C99054-9A36-4CAD-9FE4-B319E2D55F40}" type="slidenum">
              <a:rPr lang="en-US" altLang="en-US">
                <a:solidFill>
                  <a:srgbClr val="000000"/>
                </a:solidFill>
              </a:rPr>
              <a:pPr/>
              <a:t>14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1683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Information theory (cont …)</a:t>
            </a:r>
          </a:p>
        </p:txBody>
      </p:sp>
      <p:sp>
        <p:nvSpPr>
          <p:cNvPr id="7168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171700" y="1412876"/>
            <a:ext cx="7740650" cy="4645025"/>
          </a:xfrm>
        </p:spPr>
        <p:txBody>
          <a:bodyPr/>
          <a:lstStyle/>
          <a:p>
            <a:pPr eaLnBrk="1" hangingPunct="1">
              <a:lnSpc>
                <a:spcPct val="80000"/>
              </a:lnSpc>
            </a:pPr>
            <a:r>
              <a:rPr lang="en-US" sz="2800"/>
              <a:t>For a fair (honest) coin, you have no information, and you are willing to pay more (say in terms of $) for advanced information - less you know, the more valuable the information.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>
                <a:solidFill>
                  <a:srgbClr val="FF0000"/>
                </a:solidFill>
              </a:rPr>
              <a:t>Information theory</a:t>
            </a:r>
            <a:r>
              <a:rPr lang="en-US" sz="2800"/>
              <a:t> uses this same intuition, but instead of measuring the value for information in dollars, it measures information contents in </a:t>
            </a:r>
            <a:r>
              <a:rPr lang="en-US" sz="2800" b="1"/>
              <a:t>bits</a:t>
            </a:r>
            <a:r>
              <a:rPr lang="en-US" sz="2800"/>
              <a:t>. </a:t>
            </a:r>
          </a:p>
          <a:p>
            <a:pPr eaLnBrk="1" hangingPunct="1">
              <a:lnSpc>
                <a:spcPct val="80000"/>
              </a:lnSpc>
            </a:pPr>
            <a:r>
              <a:rPr lang="en-US" sz="2800"/>
              <a:t>One bit of information is enough to answer a yes/no question about which one has no idea, such as the flip of a fair coin</a:t>
            </a:r>
            <a:r>
              <a:rPr lang="en-US" sz="2600"/>
              <a:t> </a:t>
            </a:r>
          </a:p>
        </p:txBody>
      </p:sp>
    </p:spTree>
    <p:extLst>
      <p:ext uri="{BB962C8B-B14F-4D97-AF65-F5344CB8AC3E}">
        <p14:creationId xmlns:p14="http://schemas.microsoft.com/office/powerpoint/2010/main" xmlns="" val="11970201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1" name="Slide Number Placeholder 5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E77491B3-4666-49CD-8388-6F924DE8B56A}" type="slidenum">
              <a:rPr lang="en-US" altLang="en-US">
                <a:solidFill>
                  <a:srgbClr val="000000"/>
                </a:solidFill>
              </a:rPr>
              <a:pPr/>
              <a:t>15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205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Information theory: Entropy measure</a:t>
            </a:r>
          </a:p>
        </p:txBody>
      </p:sp>
      <p:sp>
        <p:nvSpPr>
          <p:cNvPr id="2053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5"/>
            <a:ext cx="8039100" cy="4718050"/>
          </a:xfrm>
          <a:solidFill>
            <a:schemeClr val="bg1"/>
          </a:solidFill>
        </p:spPr>
        <p:txBody>
          <a:bodyPr/>
          <a:lstStyle/>
          <a:p>
            <a:pPr eaLnBrk="1" hangingPunct="1"/>
            <a:r>
              <a:rPr lang="en-US" sz="2600"/>
              <a:t>The entropy formula,</a:t>
            </a:r>
          </a:p>
          <a:p>
            <a:pPr eaLnBrk="1" hangingPunct="1"/>
            <a:endParaRPr lang="en-US" sz="2600"/>
          </a:p>
          <a:p>
            <a:pPr eaLnBrk="1" hangingPunct="1"/>
            <a:endParaRPr lang="en-US" sz="2600"/>
          </a:p>
          <a:p>
            <a:pPr eaLnBrk="1" hangingPunct="1"/>
            <a:endParaRPr lang="en-US" sz="2600"/>
          </a:p>
          <a:p>
            <a:pPr eaLnBrk="1" hangingPunct="1"/>
            <a:endParaRPr lang="en-US" sz="2600"/>
          </a:p>
          <a:p>
            <a:pPr eaLnBrk="1" hangingPunct="1"/>
            <a:endParaRPr lang="en-US" sz="2600"/>
          </a:p>
          <a:p>
            <a:pPr eaLnBrk="1" hangingPunct="1"/>
            <a:r>
              <a:rPr lang="en-US" altLang="ja-JP" sz="2600">
                <a:ea typeface="ＭＳ Ｐゴシック" pitchFamily="34" charset="-128"/>
              </a:rPr>
              <a:t>Pr(</a:t>
            </a:r>
            <a:r>
              <a:rPr lang="en-US" altLang="ja-JP" sz="2600" i="1">
                <a:ea typeface="ＭＳ Ｐゴシック" pitchFamily="34" charset="-128"/>
              </a:rPr>
              <a:t>c</a:t>
            </a:r>
            <a:r>
              <a:rPr lang="en-US" altLang="ja-JP" sz="2600" i="1" baseline="-25000">
                <a:ea typeface="ＭＳ Ｐゴシック" pitchFamily="34" charset="-128"/>
              </a:rPr>
              <a:t>j</a:t>
            </a:r>
            <a:r>
              <a:rPr lang="en-US" altLang="ja-JP" sz="2600">
                <a:ea typeface="ＭＳ Ｐゴシック" pitchFamily="34" charset="-128"/>
              </a:rPr>
              <a:t>) is the probability of class </a:t>
            </a:r>
            <a:r>
              <a:rPr lang="en-US" altLang="ja-JP" sz="2600" i="1">
                <a:ea typeface="ＭＳ Ｐゴシック" pitchFamily="34" charset="-128"/>
              </a:rPr>
              <a:t>c</a:t>
            </a:r>
            <a:r>
              <a:rPr lang="en-US" altLang="ja-JP" sz="2600" i="1" baseline="-25000">
                <a:ea typeface="ＭＳ Ｐゴシック" pitchFamily="34" charset="-128"/>
              </a:rPr>
              <a:t>j </a:t>
            </a:r>
            <a:r>
              <a:rPr lang="en-US" altLang="ja-JP" sz="2600">
                <a:ea typeface="ＭＳ Ｐゴシック" pitchFamily="34" charset="-128"/>
              </a:rPr>
              <a:t>in data set </a:t>
            </a:r>
            <a:r>
              <a:rPr lang="en-US" altLang="ja-JP" sz="2600" i="1">
                <a:ea typeface="ＭＳ Ｐゴシック" pitchFamily="34" charset="-128"/>
              </a:rPr>
              <a:t>D</a:t>
            </a:r>
            <a:r>
              <a:rPr lang="en-US" altLang="ja-JP" sz="2600">
                <a:ea typeface="ＭＳ Ｐゴシック" pitchFamily="34" charset="-128"/>
              </a:rPr>
              <a:t> </a:t>
            </a:r>
            <a:endParaRPr lang="en-US" sz="2600"/>
          </a:p>
          <a:p>
            <a:pPr eaLnBrk="1" hangingPunct="1"/>
            <a:r>
              <a:rPr lang="en-US" sz="2600"/>
              <a:t>We use entropy as a </a:t>
            </a:r>
            <a:r>
              <a:rPr lang="en-US" sz="2600">
                <a:solidFill>
                  <a:srgbClr val="3333CC"/>
                </a:solidFill>
              </a:rPr>
              <a:t>measure of impurity or disorder</a:t>
            </a:r>
            <a:r>
              <a:rPr lang="en-US" sz="2600"/>
              <a:t> of data set </a:t>
            </a:r>
            <a:r>
              <a:rPr lang="en-US" sz="2600" i="1"/>
              <a:t>D</a:t>
            </a:r>
            <a:r>
              <a:rPr lang="en-US" sz="2600"/>
              <a:t>. (Or, a measure of information in a tree)</a:t>
            </a:r>
          </a:p>
          <a:p>
            <a:pPr eaLnBrk="1" hangingPunct="1"/>
            <a:endParaRPr lang="en-US" sz="2600"/>
          </a:p>
        </p:txBody>
      </p:sp>
      <p:sp>
        <p:nvSpPr>
          <p:cNvPr id="2054" name="Rectangle 4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sp>
        <p:nvSpPr>
          <p:cNvPr id="2055" name="Rectangle 6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sp>
        <p:nvSpPr>
          <p:cNvPr id="2056" name="Rectangle 12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graphicFrame>
        <p:nvGraphicFramePr>
          <p:cNvPr id="2050" name="Object 11"/>
          <p:cNvGraphicFramePr>
            <a:graphicFrameLocks noChangeAspect="1"/>
          </p:cNvGraphicFramePr>
          <p:nvPr/>
        </p:nvGraphicFramePr>
        <p:xfrm>
          <a:off x="3000376" y="1881188"/>
          <a:ext cx="5148263" cy="2298700"/>
        </p:xfrm>
        <a:graphic>
          <a:graphicData uri="http://schemas.openxmlformats.org/presentationml/2006/ole">
            <p:oleObj spid="_x0000_s1026" name="Equation" r:id="rId3" imgW="2044700" imgH="9144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1195564404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70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2CA6F4D1-F6E0-48C5-9DAD-78B321D4557D}" type="slidenum">
              <a:rPr lang="en-US" altLang="en-US">
                <a:solidFill>
                  <a:srgbClr val="000000"/>
                </a:solidFill>
              </a:rPr>
              <a:pPr/>
              <a:t>16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2707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Entropy measure: let us get a feeling</a:t>
            </a:r>
          </a:p>
        </p:txBody>
      </p:sp>
      <p:pic>
        <p:nvPicPr>
          <p:cNvPr id="72708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09763" y="1233489"/>
            <a:ext cx="8399462" cy="4319587"/>
          </a:xfrm>
        </p:spPr>
      </p:pic>
      <p:sp>
        <p:nvSpPr>
          <p:cNvPr id="72709" name="Text Box 4"/>
          <p:cNvSpPr txBox="1">
            <a:spLocks noChangeArrowheads="1"/>
          </p:cNvSpPr>
          <p:nvPr/>
        </p:nvSpPr>
        <p:spPr bwMode="auto">
          <a:xfrm>
            <a:off x="1774825" y="5589589"/>
            <a:ext cx="8642350" cy="830997"/>
          </a:xfrm>
          <a:prstGeom prst="rect">
            <a:avLst/>
          </a:prstGeom>
          <a:solidFill>
            <a:schemeClr val="bg1"/>
          </a:solidFill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 sz="2400">
                <a:solidFill>
                  <a:srgbClr val="FF0000"/>
                </a:solidFill>
              </a:rPr>
              <a:t>As the data become purer and purer, the entropy value becomes smaller and smaller. </a:t>
            </a:r>
            <a:r>
              <a:rPr lang="en-US" sz="2400">
                <a:solidFill>
                  <a:srgbClr val="3333CC"/>
                </a:solidFill>
              </a:rPr>
              <a:t>This is useful to us!</a:t>
            </a:r>
          </a:p>
        </p:txBody>
      </p:sp>
    </p:spTree>
    <p:extLst>
      <p:ext uri="{BB962C8B-B14F-4D97-AF65-F5344CB8AC3E}">
        <p14:creationId xmlns:p14="http://schemas.microsoft.com/office/powerpoint/2010/main" xmlns="" val="5955388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5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57B0C690-53D2-4CD4-B105-7D7C94AB19D2}" type="slidenum">
              <a:rPr lang="en-US" altLang="en-US">
                <a:solidFill>
                  <a:srgbClr val="000000"/>
                </a:solidFill>
              </a:rPr>
              <a:pPr/>
              <a:t>17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3076" name="Rectangle 2"/>
          <p:cNvSpPr>
            <a:spLocks noGrp="1" noChangeArrowheads="1"/>
          </p:cNvSpPr>
          <p:nvPr>
            <p:ph type="title"/>
          </p:nvPr>
        </p:nvSpPr>
        <p:spPr>
          <a:xfrm>
            <a:off x="2089151" y="277814"/>
            <a:ext cx="7751763" cy="1139825"/>
          </a:xfrm>
        </p:spPr>
        <p:txBody>
          <a:bodyPr/>
          <a:lstStyle/>
          <a:p>
            <a:pPr eaLnBrk="1" hangingPunct="1"/>
            <a:r>
              <a:rPr lang="en-US" smtClean="0"/>
              <a:t>Information gain</a:t>
            </a:r>
          </a:p>
        </p:txBody>
      </p:sp>
      <p:sp>
        <p:nvSpPr>
          <p:cNvPr id="3077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0" y="1412875"/>
            <a:ext cx="8255000" cy="4718050"/>
          </a:xfrm>
        </p:spPr>
        <p:txBody>
          <a:bodyPr/>
          <a:lstStyle/>
          <a:p>
            <a:pPr eaLnBrk="1" hangingPunct="1"/>
            <a:r>
              <a:rPr lang="en-US" sz="2600"/>
              <a:t>Given a set of examples </a:t>
            </a:r>
            <a:r>
              <a:rPr lang="en-US" sz="2600" i="1"/>
              <a:t>D</a:t>
            </a:r>
            <a:r>
              <a:rPr lang="en-US" sz="2600"/>
              <a:t>, we first compute its entropy:</a:t>
            </a:r>
          </a:p>
          <a:p>
            <a:pPr eaLnBrk="1" hangingPunct="1"/>
            <a:endParaRPr lang="en-US" sz="2600"/>
          </a:p>
          <a:p>
            <a:pPr eaLnBrk="1" hangingPunct="1"/>
            <a:endParaRPr lang="en-US" sz="2600"/>
          </a:p>
          <a:p>
            <a:pPr eaLnBrk="1" hangingPunct="1"/>
            <a:r>
              <a:rPr lang="en-US" sz="2600"/>
              <a:t>If we make attribute </a:t>
            </a:r>
            <a:r>
              <a:rPr lang="en-US" sz="2600" i="1">
                <a:solidFill>
                  <a:srgbClr val="FF0000"/>
                </a:solidFill>
              </a:rPr>
              <a:t>A</a:t>
            </a:r>
            <a:r>
              <a:rPr lang="en-US" sz="2600" i="1" baseline="-25000">
                <a:solidFill>
                  <a:srgbClr val="FF0000"/>
                </a:solidFill>
              </a:rPr>
              <a:t>i</a:t>
            </a:r>
            <a:r>
              <a:rPr lang="en-US" sz="2600">
                <a:solidFill>
                  <a:schemeClr val="hlink"/>
                </a:solidFill>
              </a:rPr>
              <a:t>, </a:t>
            </a:r>
            <a:r>
              <a:rPr lang="en-US" sz="2600">
                <a:solidFill>
                  <a:srgbClr val="3333CC"/>
                </a:solidFill>
              </a:rPr>
              <a:t>with v values</a:t>
            </a:r>
            <a:r>
              <a:rPr lang="en-US" sz="2600"/>
              <a:t>, the root of the current tree, this will partition </a:t>
            </a:r>
            <a:r>
              <a:rPr lang="en-US" sz="2600" i="1"/>
              <a:t>D</a:t>
            </a:r>
            <a:r>
              <a:rPr lang="en-US" sz="2600"/>
              <a:t> into </a:t>
            </a:r>
            <a:r>
              <a:rPr lang="en-US" sz="2600">
                <a:solidFill>
                  <a:srgbClr val="3333CC"/>
                </a:solidFill>
              </a:rPr>
              <a:t>v</a:t>
            </a:r>
            <a:r>
              <a:rPr lang="en-US" sz="2600"/>
              <a:t> subsets </a:t>
            </a:r>
            <a:r>
              <a:rPr lang="en-US" altLang="ja-JP" sz="2600" i="1">
                <a:ea typeface="ＭＳ Ｐゴシック" pitchFamily="34" charset="-128"/>
              </a:rPr>
              <a:t>D</a:t>
            </a:r>
            <a:r>
              <a:rPr lang="en-US" altLang="ja-JP" sz="2600" baseline="-25000">
                <a:ea typeface="ＭＳ Ｐゴシック" pitchFamily="34" charset="-128"/>
              </a:rPr>
              <a:t>1</a:t>
            </a:r>
            <a:r>
              <a:rPr lang="en-US" altLang="ja-JP" sz="2600" i="1">
                <a:ea typeface="ＭＳ Ｐゴシック" pitchFamily="34" charset="-128"/>
              </a:rPr>
              <a:t>, D</a:t>
            </a:r>
            <a:r>
              <a:rPr lang="en-US" altLang="ja-JP" sz="2600" baseline="-25000">
                <a:ea typeface="ＭＳ Ｐゴシック" pitchFamily="34" charset="-128"/>
              </a:rPr>
              <a:t>2</a:t>
            </a:r>
            <a:r>
              <a:rPr lang="en-US" altLang="ja-JP" sz="2600" i="1">
                <a:ea typeface="ＭＳ Ｐゴシック" pitchFamily="34" charset="-128"/>
              </a:rPr>
              <a:t> …, D</a:t>
            </a:r>
            <a:r>
              <a:rPr lang="en-US" altLang="ja-JP" sz="2600" baseline="-25000">
                <a:ea typeface="ＭＳ Ｐゴシック" pitchFamily="34" charset="-128"/>
              </a:rPr>
              <a:t>v</a:t>
            </a:r>
            <a:r>
              <a:rPr lang="en-US" altLang="ja-JP" sz="2600">
                <a:ea typeface="ＭＳ Ｐゴシック" pitchFamily="34" charset="-128"/>
              </a:rPr>
              <a:t> </a:t>
            </a:r>
            <a:r>
              <a:rPr lang="en-US" sz="2600"/>
              <a:t>. The expected entropy if </a:t>
            </a:r>
            <a:r>
              <a:rPr lang="en-US" sz="2600" i="1">
                <a:solidFill>
                  <a:srgbClr val="FF0000"/>
                </a:solidFill>
              </a:rPr>
              <a:t>A</a:t>
            </a:r>
            <a:r>
              <a:rPr lang="en-US" sz="2600" i="1" baseline="-25000">
                <a:solidFill>
                  <a:srgbClr val="FF0000"/>
                </a:solidFill>
              </a:rPr>
              <a:t>i</a:t>
            </a:r>
            <a:r>
              <a:rPr lang="en-US" sz="2600">
                <a:solidFill>
                  <a:schemeClr val="hlink"/>
                </a:solidFill>
              </a:rPr>
              <a:t> </a:t>
            </a:r>
            <a:r>
              <a:rPr lang="en-US" sz="2600">
                <a:solidFill>
                  <a:srgbClr val="3333CC"/>
                </a:solidFill>
              </a:rPr>
              <a:t>is used</a:t>
            </a:r>
            <a:r>
              <a:rPr lang="en-US" sz="2600"/>
              <a:t> as the current root:</a:t>
            </a:r>
          </a:p>
          <a:p>
            <a:pPr eaLnBrk="1" hangingPunct="1"/>
            <a:endParaRPr lang="en-US" sz="2600"/>
          </a:p>
        </p:txBody>
      </p:sp>
      <p:pic>
        <p:nvPicPr>
          <p:cNvPr id="3078" name="Picture 4"/>
          <p:cNvPicPr>
            <a:picLocks noGrp="1" noChangeAspect="1" noChangeArrowheads="1"/>
          </p:cNvPicPr>
          <p:nvPr>
            <p:ph sz="quarter" idx="2"/>
          </p:nvPr>
        </p:nvPicPr>
        <p:blipFill>
          <a:blip r:embed="rId3"/>
          <a:srcRect/>
          <a:stretch>
            <a:fillRect/>
          </a:stretch>
        </p:blipFill>
        <p:spPr>
          <a:xfrm>
            <a:off x="3759200" y="2041526"/>
            <a:ext cx="5545138" cy="1008063"/>
          </a:xfrm>
          <a:noFill/>
        </p:spPr>
      </p:pic>
      <p:sp>
        <p:nvSpPr>
          <p:cNvPr id="3079" name="Rectangle 13"/>
          <p:cNvSpPr>
            <a:spLocks noChangeArrowheads="1"/>
          </p:cNvSpPr>
          <p:nvPr/>
        </p:nvSpPr>
        <p:spPr bwMode="auto">
          <a:xfrm>
            <a:off x="1524001" y="-184666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graphicFrame>
        <p:nvGraphicFramePr>
          <p:cNvPr id="3074" name="Object 12"/>
          <p:cNvGraphicFramePr>
            <a:graphicFrameLocks noChangeAspect="1"/>
          </p:cNvGraphicFramePr>
          <p:nvPr/>
        </p:nvGraphicFramePr>
        <p:xfrm>
          <a:off x="3598863" y="4792664"/>
          <a:ext cx="5353050" cy="1120775"/>
        </p:xfrm>
        <a:graphic>
          <a:graphicData uri="http://schemas.openxmlformats.org/presentationml/2006/ole">
            <p:oleObj spid="_x0000_s2050" name="Equation" r:id="rId4" imgW="2184400" imgH="4572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3226703947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9" name="Slide Number Placeholder 6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F39BF3C-85A6-423F-BBB4-0AE1C1A62FC7}" type="slidenum">
              <a:rPr lang="en-US" altLang="en-US">
                <a:solidFill>
                  <a:srgbClr val="000000"/>
                </a:solidFill>
              </a:rPr>
              <a:pPr/>
              <a:t>18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4100" name="Rectangle 2"/>
          <p:cNvSpPr>
            <a:spLocks noGrp="1" noChangeArrowheads="1"/>
          </p:cNvSpPr>
          <p:nvPr>
            <p:ph type="title"/>
          </p:nvPr>
        </p:nvSpPr>
        <p:spPr>
          <a:xfrm>
            <a:off x="2100263" y="333376"/>
            <a:ext cx="8229600" cy="1139825"/>
          </a:xfrm>
        </p:spPr>
        <p:txBody>
          <a:bodyPr/>
          <a:lstStyle/>
          <a:p>
            <a:pPr eaLnBrk="1" hangingPunct="1"/>
            <a:r>
              <a:rPr lang="en-US" smtClean="0"/>
              <a:t>Information gain (cont …)</a:t>
            </a:r>
          </a:p>
        </p:txBody>
      </p:sp>
      <p:sp>
        <p:nvSpPr>
          <p:cNvPr id="4101" name="Rectangle 3"/>
          <p:cNvSpPr>
            <a:spLocks noGrp="1" noChangeArrowheads="1"/>
          </p:cNvSpPr>
          <p:nvPr>
            <p:ph type="body" sz="half" idx="1"/>
          </p:nvPr>
        </p:nvSpPr>
        <p:spPr>
          <a:xfrm>
            <a:off x="1981201" y="1600201"/>
            <a:ext cx="7643813" cy="4530725"/>
          </a:xfrm>
        </p:spPr>
        <p:txBody>
          <a:bodyPr/>
          <a:lstStyle/>
          <a:p>
            <a:pPr eaLnBrk="1" hangingPunct="1"/>
            <a:r>
              <a:rPr lang="en-US" sz="2600">
                <a:solidFill>
                  <a:srgbClr val="FF0000"/>
                </a:solidFill>
              </a:rPr>
              <a:t>Information gained</a:t>
            </a:r>
            <a:r>
              <a:rPr lang="en-US" sz="2600"/>
              <a:t> by selecting attribute </a:t>
            </a:r>
            <a:r>
              <a:rPr lang="en-US" sz="2600" i="1">
                <a:solidFill>
                  <a:srgbClr val="FF0000"/>
                </a:solidFill>
              </a:rPr>
              <a:t>A</a:t>
            </a:r>
            <a:r>
              <a:rPr lang="en-US" sz="2600" i="1" baseline="-25000">
                <a:solidFill>
                  <a:srgbClr val="FF0000"/>
                </a:solidFill>
              </a:rPr>
              <a:t>i </a:t>
            </a:r>
            <a:r>
              <a:rPr lang="en-US" sz="2600">
                <a:solidFill>
                  <a:srgbClr val="3333CC"/>
                </a:solidFill>
              </a:rPr>
              <a:t>to branch or to partition the data is </a:t>
            </a:r>
          </a:p>
          <a:p>
            <a:pPr eaLnBrk="1" hangingPunct="1"/>
            <a:endParaRPr lang="en-US" sz="2600"/>
          </a:p>
          <a:p>
            <a:pPr eaLnBrk="1" hangingPunct="1"/>
            <a:endParaRPr lang="en-US" sz="2600"/>
          </a:p>
          <a:p>
            <a:pPr eaLnBrk="1" hangingPunct="1"/>
            <a:r>
              <a:rPr lang="en-US" sz="2600"/>
              <a:t>We choose the attribute with the highest gain to branch/split the current tree. </a:t>
            </a:r>
          </a:p>
        </p:txBody>
      </p:sp>
      <p:sp>
        <p:nvSpPr>
          <p:cNvPr id="4102" name="Rectangle 10"/>
          <p:cNvSpPr>
            <a:spLocks noChangeArrowheads="1"/>
          </p:cNvSpPr>
          <p:nvPr/>
        </p:nvSpPr>
        <p:spPr bwMode="auto">
          <a:xfrm>
            <a:off x="1524001" y="3130034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graphicFrame>
        <p:nvGraphicFramePr>
          <p:cNvPr id="4098" name="Object 9"/>
          <p:cNvGraphicFramePr>
            <a:graphicFrameLocks noChangeAspect="1"/>
          </p:cNvGraphicFramePr>
          <p:nvPr/>
        </p:nvGraphicFramePr>
        <p:xfrm>
          <a:off x="2747964" y="2600325"/>
          <a:ext cx="6192837" cy="609600"/>
        </p:xfrm>
        <a:graphic>
          <a:graphicData uri="http://schemas.openxmlformats.org/presentationml/2006/ole">
            <p:oleObj spid="_x0000_s3074" name="Equation" r:id="rId3" imgW="2324100" imgH="22860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42545822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6" name="Slide Number Placeholder 7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97A1D15C-274B-40F1-8A11-2F1BE42A569B}" type="slidenum">
              <a:rPr lang="en-US" altLang="en-US">
                <a:solidFill>
                  <a:srgbClr val="000000"/>
                </a:solidFill>
              </a:rPr>
              <a:pPr/>
              <a:t>19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5127" name="Rectangle 2"/>
          <p:cNvSpPr>
            <a:spLocks noGrp="1" noChangeArrowheads="1"/>
          </p:cNvSpPr>
          <p:nvPr>
            <p:ph type="title" sz="quarter"/>
          </p:nvPr>
        </p:nvSpPr>
        <p:spPr>
          <a:xfrm>
            <a:off x="175137" y="-58403"/>
            <a:ext cx="8229600" cy="784614"/>
          </a:xfrm>
        </p:spPr>
        <p:txBody>
          <a:bodyPr/>
          <a:lstStyle/>
          <a:p>
            <a:pPr eaLnBrk="1" hangingPunct="1"/>
            <a:r>
              <a:rPr lang="en-US" dirty="0" smtClean="0"/>
              <a:t>An example</a:t>
            </a:r>
          </a:p>
        </p:txBody>
      </p:sp>
      <p:pic>
        <p:nvPicPr>
          <p:cNvPr id="5128" name="Picture 4"/>
          <p:cNvPicPr>
            <a:picLocks noGrp="1" noChangeAspect="1" noChangeArrowheads="1"/>
          </p:cNvPicPr>
          <p:nvPr>
            <p:ph sz="quarter"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6871142" y="156642"/>
            <a:ext cx="5062550" cy="3661730"/>
          </a:xfrm>
          <a:noFill/>
        </p:spPr>
      </p:pic>
      <p:graphicFrame>
        <p:nvGraphicFramePr>
          <p:cNvPr id="5122" name="Object 7"/>
          <p:cNvGraphicFramePr>
            <a:graphicFrameLocks noGrp="1" noChangeAspect="1"/>
          </p:cNvGraphicFramePr>
          <p:nvPr>
            <p:ph sz="quarter" idx="2"/>
            <p:extLst>
              <p:ext uri="{D42A27DB-BD31-4B8C-83A1-F6EECF244321}">
                <p14:modId xmlns:p14="http://schemas.microsoft.com/office/powerpoint/2010/main" xmlns="" val="1624679228"/>
              </p:ext>
            </p:extLst>
          </p:nvPr>
        </p:nvGraphicFramePr>
        <p:xfrm>
          <a:off x="7411638" y="4015586"/>
          <a:ext cx="3095625" cy="1179512"/>
        </p:xfrm>
        <a:graphic>
          <a:graphicData uri="http://schemas.openxmlformats.org/presentationml/2006/ole">
            <p:oleObj spid="_x0000_s4098" name="Worksheet" r:id="rId4" imgW="3619500" imgH="1381049" progId="Excel.Sheet.8">
              <p:embed/>
            </p:oleObj>
          </a:graphicData>
        </a:graphic>
      </p:graphicFrame>
      <p:pic>
        <p:nvPicPr>
          <p:cNvPr id="5129" name="Picture 18"/>
          <p:cNvPicPr>
            <a:picLocks noChangeAspect="1" noChangeArrowheads="1"/>
          </p:cNvPicPr>
          <p:nvPr/>
        </p:nvPicPr>
        <p:blipFill>
          <a:blip r:embed="rId5"/>
          <a:srcRect/>
          <a:stretch>
            <a:fillRect/>
          </a:stretch>
        </p:blipFill>
        <p:spPr bwMode="auto">
          <a:xfrm>
            <a:off x="5918201" y="5392312"/>
            <a:ext cx="4714875" cy="1246188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</p:pic>
      <p:sp>
        <p:nvSpPr>
          <p:cNvPr id="5130" name="Text Box 19"/>
          <p:cNvSpPr txBox="1">
            <a:spLocks noChangeArrowheads="1"/>
          </p:cNvSpPr>
          <p:nvPr/>
        </p:nvSpPr>
        <p:spPr bwMode="auto">
          <a:xfrm>
            <a:off x="296007" y="5412641"/>
            <a:ext cx="5249253" cy="830997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 sz="2400" dirty="0" err="1">
                <a:solidFill>
                  <a:srgbClr val="000000"/>
                </a:solidFill>
              </a:rPr>
              <a:t>Own_house</a:t>
            </a:r>
            <a:r>
              <a:rPr lang="en-US" sz="2400" dirty="0">
                <a:solidFill>
                  <a:srgbClr val="000000"/>
                </a:solidFill>
              </a:rPr>
              <a:t> is the best choice for the root. </a:t>
            </a:r>
          </a:p>
        </p:txBody>
      </p:sp>
      <p:sp>
        <p:nvSpPr>
          <p:cNvPr id="5131" name="Rectangle 22"/>
          <p:cNvSpPr>
            <a:spLocks noChangeArrowheads="1"/>
          </p:cNvSpPr>
          <p:nvPr/>
        </p:nvSpPr>
        <p:spPr bwMode="auto">
          <a:xfrm>
            <a:off x="1524001" y="3058597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graphicFrame>
        <p:nvGraphicFramePr>
          <p:cNvPr id="5123" name="Object 2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102981073"/>
              </p:ext>
            </p:extLst>
          </p:nvPr>
        </p:nvGraphicFramePr>
        <p:xfrm>
          <a:off x="537790" y="912854"/>
          <a:ext cx="5430081" cy="654390"/>
        </p:xfrm>
        <a:graphic>
          <a:graphicData uri="http://schemas.openxmlformats.org/presentationml/2006/ole">
            <p:oleObj spid="_x0000_s4099" name="Equation" r:id="rId6" imgW="2819400" imgH="368300" progId="Equation.3">
              <p:embed/>
            </p:oleObj>
          </a:graphicData>
        </a:graphic>
      </p:graphicFrame>
      <p:sp>
        <p:nvSpPr>
          <p:cNvPr id="5132" name="Rectangle 24"/>
          <p:cNvSpPr>
            <a:spLocks noChangeArrowheads="1"/>
          </p:cNvSpPr>
          <p:nvPr/>
        </p:nvSpPr>
        <p:spPr bwMode="auto">
          <a:xfrm>
            <a:off x="1524001" y="2782372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graphicFrame>
        <p:nvGraphicFramePr>
          <p:cNvPr id="5124" name="Object 2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3924250307"/>
              </p:ext>
            </p:extLst>
          </p:nvPr>
        </p:nvGraphicFramePr>
        <p:xfrm>
          <a:off x="474407" y="1796421"/>
          <a:ext cx="5369801" cy="1401637"/>
        </p:xfrm>
        <a:graphic>
          <a:graphicData uri="http://schemas.openxmlformats.org/presentationml/2006/ole">
            <p:oleObj spid="_x0000_s4100" name="Equation" r:id="rId7" imgW="3403600" imgH="927100" progId="Equation.3">
              <p:embed/>
            </p:oleObj>
          </a:graphicData>
        </a:graphic>
      </p:graphicFrame>
      <p:sp>
        <p:nvSpPr>
          <p:cNvPr id="5133" name="Rectangle 27"/>
          <p:cNvSpPr>
            <a:spLocks noChangeArrowheads="1"/>
          </p:cNvSpPr>
          <p:nvPr/>
        </p:nvSpPr>
        <p:spPr bwMode="auto">
          <a:xfrm>
            <a:off x="1524001" y="2777609"/>
            <a:ext cx="184731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none" anchor="ctr">
            <a:spAutoFit/>
          </a:bodyPr>
          <a:lstStyle/>
          <a:p>
            <a:pPr defTabSz="457200"/>
            <a:endParaRPr lang="en-IN">
              <a:solidFill>
                <a:srgbClr val="000000"/>
              </a:solidFill>
            </a:endParaRPr>
          </a:p>
        </p:txBody>
      </p:sp>
      <p:graphicFrame>
        <p:nvGraphicFramePr>
          <p:cNvPr id="5125" name="Object 26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xmlns="" val="2649637624"/>
              </p:ext>
            </p:extLst>
          </p:nvPr>
        </p:nvGraphicFramePr>
        <p:xfrm>
          <a:off x="296007" y="3330379"/>
          <a:ext cx="6439000" cy="1390501"/>
        </p:xfrm>
        <a:graphic>
          <a:graphicData uri="http://schemas.openxmlformats.org/presentationml/2006/ole">
            <p:oleObj spid="_x0000_s4101" name="Equation" r:id="rId8" imgW="4584600" imgH="1002960" progId="Equation.3">
              <p:embed/>
            </p:oleObj>
          </a:graphicData>
        </a:graphic>
      </p:graphicFrame>
    </p:spTree>
    <p:extLst>
      <p:ext uri="{BB962C8B-B14F-4D97-AF65-F5344CB8AC3E}">
        <p14:creationId xmlns:p14="http://schemas.microsoft.com/office/powerpoint/2010/main" xmlns="" val="225065624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73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A560FC5D-6033-4921-969C-F1F578023831}" type="slidenum">
              <a:rPr lang="en-US" altLang="en-US">
                <a:solidFill>
                  <a:srgbClr val="000000"/>
                </a:solidFill>
              </a:rPr>
              <a:pPr/>
              <a:t>20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373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We build the final tree</a:t>
            </a:r>
          </a:p>
        </p:txBody>
      </p:sp>
      <p:pic>
        <p:nvPicPr>
          <p:cNvPr id="73732" name="Picture 4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3756025" y="1377951"/>
            <a:ext cx="4211638" cy="3311525"/>
          </a:xfrm>
          <a:noFill/>
        </p:spPr>
      </p:pic>
      <p:sp>
        <p:nvSpPr>
          <p:cNvPr id="73733" name="Text Box 5"/>
          <p:cNvSpPr txBox="1">
            <a:spLocks noChangeArrowheads="1"/>
          </p:cNvSpPr>
          <p:nvPr/>
        </p:nvSpPr>
        <p:spPr bwMode="auto">
          <a:xfrm>
            <a:off x="2100263" y="5084763"/>
            <a:ext cx="7848600" cy="83026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 sz="2400">
                <a:solidFill>
                  <a:srgbClr val="000000"/>
                </a:solidFill>
              </a:rPr>
              <a:t>We can use information gain ratio to evaluate the impurity as well</a:t>
            </a:r>
            <a:endParaRPr lang="en-US">
              <a:solidFill>
                <a:srgbClr val="0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xmlns="" val="45649390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29762F7-B5C7-459D-9713-A0E20AA6EB60}" type="slidenum">
              <a:rPr lang="en-US" altLang="en-US">
                <a:solidFill>
                  <a:srgbClr val="000000"/>
                </a:solidFill>
              </a:rPr>
              <a:pPr/>
              <a:t>21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4755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Handling continuous attributes</a:t>
            </a:r>
          </a:p>
        </p:txBody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992313" y="1270000"/>
            <a:ext cx="8229600" cy="4787900"/>
          </a:xfrm>
        </p:spPr>
        <p:txBody>
          <a:bodyPr/>
          <a:lstStyle/>
          <a:p>
            <a:pPr eaLnBrk="1" hangingPunct="1"/>
            <a:r>
              <a:rPr lang="en-US" smtClean="0"/>
              <a:t>Handle continuous attribute by splitting into two intervals (can be more) at each node. </a:t>
            </a:r>
          </a:p>
          <a:p>
            <a:pPr eaLnBrk="1" hangingPunct="1"/>
            <a:r>
              <a:rPr lang="en-US" smtClean="0"/>
              <a:t>How to find the best threshold to divide?</a:t>
            </a:r>
          </a:p>
          <a:p>
            <a:pPr lvl="1" eaLnBrk="1" hangingPunct="1"/>
            <a:r>
              <a:rPr lang="en-US" smtClean="0"/>
              <a:t>Use information gain or gain ratio again</a:t>
            </a:r>
          </a:p>
          <a:p>
            <a:pPr lvl="1" eaLnBrk="1" hangingPunct="1"/>
            <a:r>
              <a:rPr lang="en-US" smtClean="0"/>
              <a:t>Sort all the values of an continuous attribute in increasing order </a:t>
            </a:r>
            <a:r>
              <a:rPr lang="en-US" altLang="ja-JP" smtClean="0">
                <a:ea typeface="ＭＳ Ｐゴシック" pitchFamily="34" charset="-128"/>
              </a:rPr>
              <a:t>{</a:t>
            </a:r>
            <a:r>
              <a:rPr lang="en-US" altLang="ja-JP" i="1" smtClean="0">
                <a:ea typeface="ＭＳ Ｐゴシック" pitchFamily="34" charset="-128"/>
              </a:rPr>
              <a:t>v</a:t>
            </a:r>
            <a:r>
              <a:rPr lang="en-US" altLang="ja-JP" baseline="-25000" smtClean="0">
                <a:ea typeface="ＭＳ Ｐゴシック" pitchFamily="34" charset="-128"/>
              </a:rPr>
              <a:t>1</a:t>
            </a:r>
            <a:r>
              <a:rPr lang="en-US" altLang="ja-JP" smtClean="0">
                <a:ea typeface="ＭＳ Ｐゴシック" pitchFamily="34" charset="-128"/>
              </a:rPr>
              <a:t>, </a:t>
            </a:r>
            <a:r>
              <a:rPr lang="en-US" altLang="ja-JP" i="1" smtClean="0">
                <a:ea typeface="ＭＳ Ｐゴシック" pitchFamily="34" charset="-128"/>
              </a:rPr>
              <a:t>v</a:t>
            </a:r>
            <a:r>
              <a:rPr lang="en-US" altLang="ja-JP" baseline="-25000" smtClean="0">
                <a:ea typeface="ＭＳ Ｐゴシック" pitchFamily="34" charset="-128"/>
              </a:rPr>
              <a:t>2</a:t>
            </a:r>
            <a:r>
              <a:rPr lang="en-US" altLang="ja-JP" smtClean="0">
                <a:ea typeface="ＭＳ Ｐゴシック" pitchFamily="34" charset="-128"/>
              </a:rPr>
              <a:t>, …, </a:t>
            </a:r>
            <a:r>
              <a:rPr lang="en-US" altLang="ja-JP" i="1" smtClean="0">
                <a:ea typeface="ＭＳ Ｐゴシック" pitchFamily="34" charset="-128"/>
              </a:rPr>
              <a:t>v</a:t>
            </a:r>
            <a:r>
              <a:rPr lang="en-US" altLang="ja-JP" baseline="-25000" smtClean="0">
                <a:ea typeface="ＭＳ Ｐゴシック" pitchFamily="34" charset="-128"/>
              </a:rPr>
              <a:t>r</a:t>
            </a:r>
            <a:r>
              <a:rPr lang="en-US" altLang="ja-JP" smtClean="0">
                <a:ea typeface="ＭＳ Ｐゴシック" pitchFamily="34" charset="-128"/>
              </a:rPr>
              <a:t>}, </a:t>
            </a:r>
            <a:endParaRPr lang="en-US" smtClean="0"/>
          </a:p>
          <a:p>
            <a:pPr lvl="1" eaLnBrk="1" hangingPunct="1"/>
            <a:r>
              <a:rPr lang="en-US" smtClean="0"/>
              <a:t>One possible threshold between two adjacent values </a:t>
            </a:r>
            <a:r>
              <a:rPr lang="en-US" altLang="ja-JP" i="1" smtClean="0">
                <a:ea typeface="ＭＳ Ｐゴシック" pitchFamily="34" charset="-128"/>
              </a:rPr>
              <a:t>v</a:t>
            </a:r>
            <a:r>
              <a:rPr lang="en-US" altLang="ja-JP" baseline="-25000" smtClean="0">
                <a:ea typeface="ＭＳ Ｐゴシック" pitchFamily="34" charset="-128"/>
              </a:rPr>
              <a:t>i</a:t>
            </a:r>
            <a:r>
              <a:rPr lang="en-US" altLang="ja-JP" smtClean="0">
                <a:ea typeface="ＭＳ Ｐゴシック" pitchFamily="34" charset="-128"/>
              </a:rPr>
              <a:t> and </a:t>
            </a:r>
            <a:r>
              <a:rPr lang="en-US" altLang="ja-JP" i="1" smtClean="0">
                <a:ea typeface="ＭＳ Ｐゴシック" pitchFamily="34" charset="-128"/>
              </a:rPr>
              <a:t>v</a:t>
            </a:r>
            <a:r>
              <a:rPr lang="en-US" altLang="ja-JP" baseline="-25000" smtClean="0">
                <a:ea typeface="ＭＳ Ｐゴシック" pitchFamily="34" charset="-128"/>
              </a:rPr>
              <a:t>i+1</a:t>
            </a:r>
            <a:r>
              <a:rPr lang="en-US" smtClean="0"/>
              <a:t>. Try all possible thresholds and find the one that maximizes the gain (or gain ratio). </a:t>
            </a:r>
          </a:p>
        </p:txBody>
      </p:sp>
    </p:spTree>
    <p:extLst>
      <p:ext uri="{BB962C8B-B14F-4D97-AF65-F5344CB8AC3E}">
        <p14:creationId xmlns:p14="http://schemas.microsoft.com/office/powerpoint/2010/main" xmlns="" val="240878208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FC739D6A-89F8-4F72-A38D-9FE842714531}" type="slidenum">
              <a:rPr lang="en-US" altLang="en-US">
                <a:solidFill>
                  <a:srgbClr val="000000"/>
                </a:solidFill>
              </a:rPr>
              <a:pPr/>
              <a:t>22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5779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An example in a continuous space</a:t>
            </a:r>
          </a:p>
        </p:txBody>
      </p:sp>
      <p:pic>
        <p:nvPicPr>
          <p:cNvPr id="75780" name="Picture 3"/>
          <p:cNvPicPr>
            <a:picLocks noGrp="1" noChangeAspect="1" noChangeArrowheads="1"/>
          </p:cNvPicPr>
          <p:nvPr>
            <p:ph type="body" idx="1"/>
          </p:nvPr>
        </p:nvPicPr>
        <p:blipFill>
          <a:blip r:embed="rId2"/>
          <a:srcRect/>
          <a:stretch>
            <a:fillRect/>
          </a:stretch>
        </p:blipFill>
        <p:spPr>
          <a:xfrm>
            <a:off x="1955800" y="1628776"/>
            <a:ext cx="8229600" cy="3916363"/>
          </a:xfrm>
        </p:spPr>
      </p:pic>
    </p:spTree>
    <p:extLst>
      <p:ext uri="{BB962C8B-B14F-4D97-AF65-F5344CB8AC3E}">
        <p14:creationId xmlns:p14="http://schemas.microsoft.com/office/powerpoint/2010/main" xmlns="" val="61927190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802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B47F37F4-0A99-4003-B72F-D543268AC0EC}" type="slidenum">
              <a:rPr lang="en-US" altLang="en-US">
                <a:solidFill>
                  <a:srgbClr val="000000"/>
                </a:solidFill>
              </a:rPr>
              <a:pPr/>
              <a:t>23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6803" name="Rectangle 2"/>
          <p:cNvSpPr>
            <a:spLocks noGrp="1" noChangeArrowheads="1"/>
          </p:cNvSpPr>
          <p:nvPr>
            <p:ph type="title"/>
          </p:nvPr>
        </p:nvSpPr>
        <p:spPr>
          <a:xfrm>
            <a:off x="2027238" y="188913"/>
            <a:ext cx="8153400" cy="990600"/>
          </a:xfrm>
          <a:noFill/>
        </p:spPr>
        <p:txBody>
          <a:bodyPr vert="horz" wrap="square" lIns="92075" tIns="46038" rIns="92075" bIns="46038" numCol="1" anchor="ctr" anchorCtr="0" compatLnSpc="1">
            <a:prstTxWarp prst="textNoShape">
              <a:avLst/>
            </a:prstTxWarp>
          </a:bodyPr>
          <a:lstStyle/>
          <a:p>
            <a:pPr eaLnBrk="1" hangingPunct="1"/>
            <a:r>
              <a:rPr lang="en-US" smtClean="0"/>
              <a:t>Avoid overfitting in classification</a:t>
            </a:r>
            <a:endParaRPr lang="en-US" sz="3800"/>
          </a:p>
        </p:txBody>
      </p:sp>
      <p:sp>
        <p:nvSpPr>
          <p:cNvPr id="76804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027238" y="1233489"/>
            <a:ext cx="8382000" cy="4967287"/>
          </a:xfrm>
          <a:noFill/>
        </p:spPr>
        <p:txBody>
          <a:bodyPr vert="horz" wrap="square" lIns="92075" tIns="46038" rIns="92075" bIns="46038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lnSpc>
                <a:spcPct val="90000"/>
              </a:lnSpc>
            </a:pPr>
            <a:r>
              <a:rPr lang="en-US" sz="2800">
                <a:solidFill>
                  <a:srgbClr val="FF0000"/>
                </a:solidFill>
              </a:rPr>
              <a:t>Overfitting</a:t>
            </a:r>
            <a:r>
              <a:rPr lang="en-US" sz="2800"/>
              <a:t>:  A tree may overfit the training data</a:t>
            </a:r>
            <a:r>
              <a:rPr lang="en-US" sz="2100"/>
              <a:t>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400"/>
              <a:t>Good accuracy on training data but poor on test data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400"/>
              <a:t>Symptoms: tree too deep and too many branches, some may reflect anomalies due to noise or outliers</a:t>
            </a:r>
          </a:p>
          <a:p>
            <a:pPr eaLnBrk="1" hangingPunct="1">
              <a:lnSpc>
                <a:spcPct val="90000"/>
              </a:lnSpc>
            </a:pPr>
            <a:r>
              <a:rPr lang="en-US" sz="2800"/>
              <a:t>Two approaches to avoid overfitting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Pre-pruning</a:t>
            </a:r>
            <a:r>
              <a:rPr lang="en-US" sz="2400"/>
              <a:t>: Halt tree construction early</a:t>
            </a:r>
          </a:p>
          <a:p>
            <a:pPr marL="1143000" lvl="2" indent="-228600" eaLnBrk="1" hangingPunct="1">
              <a:lnSpc>
                <a:spcPct val="90000"/>
              </a:lnSpc>
            </a:pPr>
            <a:r>
              <a:rPr lang="en-US" smtClean="0"/>
              <a:t>Difficult to decide because we do not know what may happen subsequently if we keep growing the tree. </a:t>
            </a:r>
          </a:p>
          <a:p>
            <a:pPr marL="742950" lvl="1" indent="-285750" eaLnBrk="1" hangingPunct="1">
              <a:lnSpc>
                <a:spcPct val="90000"/>
              </a:lnSpc>
            </a:pPr>
            <a:r>
              <a:rPr lang="en-US" sz="2400">
                <a:solidFill>
                  <a:srgbClr val="FF0000"/>
                </a:solidFill>
              </a:rPr>
              <a:t>Post-pruning</a:t>
            </a:r>
            <a:r>
              <a:rPr lang="en-US" sz="2400"/>
              <a:t>: Remove branches or sub-trees from a “fully grown” tree.</a:t>
            </a:r>
          </a:p>
          <a:p>
            <a:pPr marL="1143000" lvl="2" indent="-228600" eaLnBrk="1" hangingPunct="1">
              <a:lnSpc>
                <a:spcPct val="90000"/>
              </a:lnSpc>
            </a:pPr>
            <a:r>
              <a:rPr lang="en-US" smtClean="0"/>
              <a:t>This method is commonly used. C4.5 uses a statistical method to estimates the errors at each node for pruning. </a:t>
            </a:r>
          </a:p>
          <a:p>
            <a:pPr marL="1143000" lvl="2" indent="-228600" eaLnBrk="1" hangingPunct="1">
              <a:lnSpc>
                <a:spcPct val="90000"/>
              </a:lnSpc>
            </a:pPr>
            <a:r>
              <a:rPr lang="en-US" smtClean="0"/>
              <a:t>A validation set may be used for pruning as well.</a:t>
            </a:r>
          </a:p>
        </p:txBody>
      </p:sp>
    </p:spTree>
    <p:extLst>
      <p:ext uri="{BB962C8B-B14F-4D97-AF65-F5344CB8AC3E}">
        <p14:creationId xmlns:p14="http://schemas.microsoft.com/office/powerpoint/2010/main" xmlns="" val="780504456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826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0415DCD2-01AD-41A2-B607-6745B33A0682}" type="slidenum">
              <a:rPr lang="en-US" altLang="en-US">
                <a:solidFill>
                  <a:srgbClr val="000000"/>
                </a:solidFill>
              </a:rPr>
              <a:pPr/>
              <a:t>24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7827" name="Rectangle 2"/>
          <p:cNvSpPr>
            <a:spLocks noGrp="1" noChangeArrowheads="1"/>
          </p:cNvSpPr>
          <p:nvPr>
            <p:ph type="title"/>
          </p:nvPr>
        </p:nvSpPr>
        <p:spPr>
          <a:xfrm>
            <a:off x="1981200" y="236539"/>
            <a:ext cx="8229600" cy="1139825"/>
          </a:xfrm>
        </p:spPr>
        <p:txBody>
          <a:bodyPr/>
          <a:lstStyle/>
          <a:p>
            <a:pPr eaLnBrk="1" hangingPunct="1"/>
            <a:r>
              <a:rPr lang="en-US" smtClean="0"/>
              <a:t>An example</a:t>
            </a:r>
          </a:p>
        </p:txBody>
      </p:sp>
      <p:pic>
        <p:nvPicPr>
          <p:cNvPr id="77828" name="Picture 4"/>
          <p:cNvPicPr>
            <a:picLocks noGrp="1" noChangeAspect="1" noChangeArrowheads="1"/>
          </p:cNvPicPr>
          <p:nvPr>
            <p:ph type="body" idx="4294967295"/>
          </p:nvPr>
        </p:nvPicPr>
        <p:blipFill>
          <a:blip r:embed="rId2"/>
          <a:srcRect/>
          <a:stretch>
            <a:fillRect/>
          </a:stretch>
        </p:blipFill>
        <p:spPr>
          <a:xfrm>
            <a:off x="2135189" y="944563"/>
            <a:ext cx="6911975" cy="2628900"/>
          </a:xfrm>
          <a:noFill/>
        </p:spPr>
      </p:pic>
      <p:pic>
        <p:nvPicPr>
          <p:cNvPr id="77829" name="Picture 5"/>
          <p:cNvPicPr>
            <a:picLocks noGrp="1" noChangeAspect="1" noChangeArrowheads="1"/>
          </p:cNvPicPr>
          <p:nvPr>
            <p:ph idx="1"/>
          </p:nvPr>
        </p:nvPicPr>
        <p:blipFill>
          <a:blip r:embed="rId3"/>
          <a:srcRect/>
          <a:stretch>
            <a:fillRect/>
          </a:stretch>
        </p:blipFill>
        <p:spPr>
          <a:xfrm>
            <a:off x="2206625" y="3716339"/>
            <a:ext cx="6408738" cy="2484437"/>
          </a:xfrm>
          <a:noFill/>
        </p:spPr>
      </p:pic>
      <p:sp>
        <p:nvSpPr>
          <p:cNvPr id="77830" name="Line 7"/>
          <p:cNvSpPr>
            <a:spLocks noChangeShapeType="1"/>
          </p:cNvSpPr>
          <p:nvPr/>
        </p:nvSpPr>
        <p:spPr bwMode="auto">
          <a:xfrm flipV="1">
            <a:off x="3108325" y="873126"/>
            <a:ext cx="2374900" cy="1008063"/>
          </a:xfrm>
          <a:prstGeom prst="line">
            <a:avLst/>
          </a:prstGeom>
          <a:noFill/>
          <a:ln w="28575">
            <a:solidFill>
              <a:srgbClr val="FF0000"/>
            </a:solidFill>
            <a:round/>
            <a:headEnd type="triangle" w="med" len="med"/>
            <a:tailEnd/>
          </a:ln>
        </p:spPr>
        <p:txBody>
          <a:bodyPr/>
          <a:lstStyle/>
          <a:p>
            <a:pPr defTabSz="457200"/>
            <a:endParaRPr lang="en-US">
              <a:solidFill>
                <a:srgbClr val="000000"/>
              </a:solidFill>
            </a:endParaRPr>
          </a:p>
        </p:txBody>
      </p:sp>
      <p:sp>
        <p:nvSpPr>
          <p:cNvPr id="77831" name="Text Box 8"/>
          <p:cNvSpPr txBox="1">
            <a:spLocks noChangeArrowheads="1"/>
          </p:cNvSpPr>
          <p:nvPr/>
        </p:nvSpPr>
        <p:spPr bwMode="auto">
          <a:xfrm>
            <a:off x="5267326" y="333375"/>
            <a:ext cx="4321175" cy="369332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>
            <a:spAutoFit/>
          </a:bodyPr>
          <a:lstStyle/>
          <a:p>
            <a:pPr marL="342900" indent="-342900" defTabSz="457200">
              <a:spcBef>
                <a:spcPct val="50000"/>
              </a:spcBef>
            </a:pPr>
            <a:r>
              <a:rPr lang="en-US">
                <a:solidFill>
                  <a:srgbClr val="3333CC"/>
                </a:solidFill>
              </a:rPr>
              <a:t>Likely to overfit the data</a:t>
            </a:r>
          </a:p>
        </p:txBody>
      </p:sp>
    </p:spTree>
    <p:extLst>
      <p:ext uri="{BB962C8B-B14F-4D97-AF65-F5344CB8AC3E}">
        <p14:creationId xmlns:p14="http://schemas.microsoft.com/office/powerpoint/2010/main" xmlns="" val="2706158353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Slide Number Placeholder 4"/>
          <p:cNvSpPr>
            <a:spLocks noGrp="1"/>
          </p:cNvSpPr>
          <p:nvPr>
            <p:ph type="sldNum" sz="quarter" idx="11"/>
          </p:nvPr>
        </p:nvSpPr>
        <p:spPr>
          <a:noFill/>
        </p:spPr>
        <p:txBody>
          <a:bodyPr/>
          <a:lstStyle/>
          <a:p>
            <a:fld id="{CBD64CF4-ECEF-477C-B4A9-A200626F524C}" type="slidenum">
              <a:rPr lang="en-US" altLang="en-US">
                <a:solidFill>
                  <a:srgbClr val="000000"/>
                </a:solidFill>
              </a:rPr>
              <a:pPr/>
              <a:t>25</a:t>
            </a:fld>
            <a:endParaRPr lang="en-US" altLang="en-US">
              <a:solidFill>
                <a:srgbClr val="000000"/>
              </a:solidFill>
            </a:endParaRPr>
          </a:p>
        </p:txBody>
      </p:sp>
      <p:sp>
        <p:nvSpPr>
          <p:cNvPr id="78851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smtClean="0"/>
              <a:t>Other issues in decision tree learning</a:t>
            </a:r>
          </a:p>
        </p:txBody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eaLnBrk="1" hangingPunct="1"/>
            <a:r>
              <a:rPr lang="en-US" smtClean="0"/>
              <a:t>From tree to rules, and rule pruning</a:t>
            </a:r>
          </a:p>
          <a:p>
            <a:pPr eaLnBrk="1" hangingPunct="1"/>
            <a:r>
              <a:rPr lang="en-US" smtClean="0"/>
              <a:t>Handling of miss values</a:t>
            </a:r>
          </a:p>
          <a:p>
            <a:pPr eaLnBrk="1" hangingPunct="1"/>
            <a:r>
              <a:rPr lang="en-US" smtClean="0"/>
              <a:t>Handing skewed distributions</a:t>
            </a:r>
          </a:p>
          <a:p>
            <a:pPr eaLnBrk="1" hangingPunct="1"/>
            <a:r>
              <a:rPr lang="en-US" smtClean="0"/>
              <a:t>Handling attributes and classes with different costs. </a:t>
            </a:r>
          </a:p>
          <a:p>
            <a:pPr eaLnBrk="1" hangingPunct="1"/>
            <a:r>
              <a:rPr lang="en-US" smtClean="0"/>
              <a:t>Attribute construction</a:t>
            </a:r>
          </a:p>
          <a:p>
            <a:pPr eaLnBrk="1" hangingPunct="1"/>
            <a:r>
              <a:rPr lang="en-US" smtClean="0"/>
              <a:t>Etc.</a:t>
            </a:r>
          </a:p>
          <a:p>
            <a:pPr eaLnBrk="1" hangingPunct="1"/>
            <a:endParaRPr lang="en-US" smtClean="0"/>
          </a:p>
        </p:txBody>
      </p:sp>
    </p:spTree>
    <p:extLst>
      <p:ext uri="{BB962C8B-B14F-4D97-AF65-F5344CB8AC3E}">
        <p14:creationId xmlns:p14="http://schemas.microsoft.com/office/powerpoint/2010/main" xmlns="" val="2258710405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Edge">
  <a:themeElements>
    <a:clrScheme name="Edge 7">
      <a:dk1>
        <a:srgbClr val="000000"/>
      </a:dk1>
      <a:lt1>
        <a:srgbClr val="FFFFFF"/>
      </a:lt1>
      <a:dk2>
        <a:srgbClr val="006633"/>
      </a:dk2>
      <a:lt2>
        <a:srgbClr val="5F5F5F"/>
      </a:lt2>
      <a:accent1>
        <a:srgbClr val="CC9900"/>
      </a:accent1>
      <a:accent2>
        <a:srgbClr val="3B812F"/>
      </a:accent2>
      <a:accent3>
        <a:srgbClr val="FFFFFF"/>
      </a:accent3>
      <a:accent4>
        <a:srgbClr val="000000"/>
      </a:accent4>
      <a:accent5>
        <a:srgbClr val="E2CAAA"/>
      </a:accent5>
      <a:accent6>
        <a:srgbClr val="35742A"/>
      </a:accent6>
      <a:hlink>
        <a:srgbClr val="996600"/>
      </a:hlink>
      <a:folHlink>
        <a:srgbClr val="AFBF39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-110" charset="2"/>
          <a:buChar char="n"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342900" marR="0" indent="-342900" algn="l" defTabSz="914400" rtl="0" eaLnBrk="1" fontAlgn="base" latinLnBrk="0" hangingPunct="1">
          <a:lnSpc>
            <a:spcPct val="100000"/>
          </a:lnSpc>
          <a:spcBef>
            <a:spcPct val="20000"/>
          </a:spcBef>
          <a:spcAft>
            <a:spcPct val="0"/>
          </a:spcAft>
          <a:buClr>
            <a:schemeClr val="accent1"/>
          </a:buClr>
          <a:buSzPct val="65000"/>
          <a:buFont typeface="Wingdings" pitchFamily="-110" charset="2"/>
          <a:buChar char="n"/>
          <a:tabLst/>
          <a:defRPr kumimoji="0" lang="en-US" sz="3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xmlns="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125</TotalTime>
  <Words>1056</Words>
  <Application>Microsoft Office PowerPoint</Application>
  <PresentationFormat>Custom</PresentationFormat>
  <Paragraphs>128</Paragraphs>
  <Slides>25</Slides>
  <Notes>1</Notes>
  <HiddenSlides>0</HiddenSlides>
  <MMClips>0</MMClips>
  <ScaleCrop>false</ScaleCrop>
  <HeadingPairs>
    <vt:vector size="6" baseType="variant">
      <vt:variant>
        <vt:lpstr>Theme</vt:lpstr>
      </vt:variant>
      <vt:variant>
        <vt:i4>2</vt:i4>
      </vt:variant>
      <vt:variant>
        <vt:lpstr>Embedded OLE Servers</vt:lpstr>
      </vt:variant>
      <vt:variant>
        <vt:i4>2</vt:i4>
      </vt:variant>
      <vt:variant>
        <vt:lpstr>Slide Titles</vt:lpstr>
      </vt:variant>
      <vt:variant>
        <vt:i4>25</vt:i4>
      </vt:variant>
    </vt:vector>
  </HeadingPairs>
  <TitlesOfParts>
    <vt:vector size="29" baseType="lpstr">
      <vt:lpstr>Office Theme</vt:lpstr>
      <vt:lpstr>Edge</vt:lpstr>
      <vt:lpstr>Equation</vt:lpstr>
      <vt:lpstr>Worksheet</vt:lpstr>
      <vt:lpstr>A First Look at the Decision Tree Classifiers</vt:lpstr>
      <vt:lpstr>Introduction</vt:lpstr>
      <vt:lpstr>The loan data (reproduced)</vt:lpstr>
      <vt:lpstr>A decision tree from the loan data</vt:lpstr>
      <vt:lpstr>Use the decision tree</vt:lpstr>
      <vt:lpstr>Is the decision tree unique?</vt:lpstr>
      <vt:lpstr>From a decision tree to a set of rules</vt:lpstr>
      <vt:lpstr>Algorithm for decision tree learning</vt:lpstr>
      <vt:lpstr>Decision tree learning algorithm</vt:lpstr>
      <vt:lpstr>Choose an attribute to partition data </vt:lpstr>
      <vt:lpstr>The loan data (reproduced)</vt:lpstr>
      <vt:lpstr>Two possible roots, which is better?</vt:lpstr>
      <vt:lpstr>Information theory</vt:lpstr>
      <vt:lpstr>Information theory (cont …)</vt:lpstr>
      <vt:lpstr>Information theory: Entropy measure</vt:lpstr>
      <vt:lpstr>Entropy measure: let us get a feeling</vt:lpstr>
      <vt:lpstr>Information gain</vt:lpstr>
      <vt:lpstr>Information gain (cont …)</vt:lpstr>
      <vt:lpstr>An example</vt:lpstr>
      <vt:lpstr>We build the final tree</vt:lpstr>
      <vt:lpstr>Handling continuous attributes</vt:lpstr>
      <vt:lpstr>An example in a continuous space</vt:lpstr>
      <vt:lpstr>Avoid overfitting in classification</vt:lpstr>
      <vt:lpstr>An example</vt:lpstr>
      <vt:lpstr>Other issues in decision tree learning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First Look at the Decision Tree Classifiers</dc:title>
  <dc:creator>Microsoft account</dc:creator>
  <cp:lastModifiedBy>Swagatam</cp:lastModifiedBy>
  <cp:revision>2</cp:revision>
  <dcterms:created xsi:type="dcterms:W3CDTF">2020-10-12T04:28:27Z</dcterms:created>
  <dcterms:modified xsi:type="dcterms:W3CDTF">2021-05-07T11:12:32Z</dcterms:modified>
</cp:coreProperties>
</file>